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5" r:id="rId1"/>
  </p:sldMasterIdLst>
  <p:notesMasterIdLst>
    <p:notesMasterId r:id="rId16"/>
  </p:notesMasterIdLst>
  <p:sldIdLst>
    <p:sldId id="444" r:id="rId2"/>
    <p:sldId id="427" r:id="rId3"/>
    <p:sldId id="430" r:id="rId4"/>
    <p:sldId id="429" r:id="rId5"/>
    <p:sldId id="428" r:id="rId6"/>
    <p:sldId id="431" r:id="rId7"/>
    <p:sldId id="432" r:id="rId8"/>
    <p:sldId id="433" r:id="rId9"/>
    <p:sldId id="434" r:id="rId10"/>
    <p:sldId id="435" r:id="rId11"/>
    <p:sldId id="440" r:id="rId12"/>
    <p:sldId id="441" r:id="rId13"/>
    <p:sldId id="447" r:id="rId14"/>
    <p:sldId id="448" r:id="rId15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57D"/>
    <a:srgbClr val="BD4F4E"/>
    <a:srgbClr val="17457C"/>
    <a:srgbClr val="3370BA"/>
    <a:srgbClr val="FFFFFF"/>
    <a:srgbClr val="B49759"/>
    <a:srgbClr val="416B9E"/>
    <a:srgbClr val="DEA400"/>
    <a:srgbClr val="610000"/>
    <a:srgbClr val="92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23" autoAdjust="0"/>
    <p:restoredTop sz="80157" autoAdjust="0"/>
  </p:normalViewPr>
  <p:slideViewPr>
    <p:cSldViewPr>
      <p:cViewPr varScale="1">
        <p:scale>
          <a:sx n="86" d="100"/>
          <a:sy n="86" d="100"/>
        </p:scale>
        <p:origin x="131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9/13/24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157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82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064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18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34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425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7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970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1484784"/>
          </a:xfrm>
          <a:prstGeom prst="rect">
            <a:avLst/>
          </a:prstGeom>
          <a:solidFill>
            <a:srgbClr val="1745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9042" y="211614"/>
            <a:ext cx="11089232" cy="1152128"/>
          </a:xfrm>
          <a:ln w="38100">
            <a:noFill/>
          </a:ln>
        </p:spPr>
        <p:txBody>
          <a:bodyPr>
            <a:normAutofit/>
          </a:bodyPr>
          <a:lstStyle>
            <a:lvl1pPr algn="l">
              <a:defRPr sz="4000">
                <a:solidFill>
                  <a:srgbClr val="B497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2017845" y="1484784"/>
            <a:ext cx="8534400" cy="576064"/>
          </a:xfrm>
          <a:prstGeom prst="rect">
            <a:avLst/>
          </a:prstGeom>
        </p:spPr>
        <p:txBody>
          <a:bodyPr vert="horz" lIns="122400" tIns="60949" rIns="121899" bIns="72000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90000"/>
              <a:buFont typeface="Wingdings" panose="05000000000000000000" pitchFamily="2" charset="2"/>
              <a:buNone/>
              <a:defRPr lang="en-US" sz="3200" b="1" kern="1200">
                <a:solidFill>
                  <a:srgbClr val="B49759"/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1pPr>
            <a:lvl2pPr marL="45712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2pPr>
            <a:lvl3pPr marL="91424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3pPr>
            <a:lvl4pPr marL="137136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4pPr>
            <a:lvl5pPr marL="182848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5pPr>
            <a:lvl6pPr marL="228560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72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8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96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400" dirty="0">
              <a:solidFill>
                <a:prstClr val="whit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1384" y="2240795"/>
            <a:ext cx="7488832" cy="4068525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551384" y="1656093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8087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1845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 anchor="t">
            <a:noAutofit/>
          </a:bodyPr>
          <a:lstStyle>
            <a:lvl1pPr algn="l">
              <a:defRPr sz="36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557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8457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5658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362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60648"/>
            <a:ext cx="10972800" cy="792088"/>
          </a:xfrm>
        </p:spPr>
        <p:txBody>
          <a:bodyPr vert="horz" lIns="121899" tIns="60949" rIns="121899" bIns="60949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4744"/>
            <a:ext cx="5384800" cy="525658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24744"/>
            <a:ext cx="5384800" cy="525658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06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Figur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60648"/>
            <a:ext cx="10972800" cy="792088"/>
          </a:xfrm>
        </p:spPr>
        <p:txBody>
          <a:bodyPr vert="horz" lIns="121899" tIns="60949" rIns="121899" bIns="60949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8840"/>
            <a:ext cx="5384800" cy="4392488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8840"/>
            <a:ext cx="5384800" cy="4392488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6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24743"/>
            <a:ext cx="5386917" cy="576065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120" indent="0">
              <a:buNone/>
              <a:defRPr sz="2025" b="1"/>
            </a:lvl2pPr>
            <a:lvl3pPr marL="914240" indent="0">
              <a:buNone/>
              <a:defRPr sz="1800" b="1"/>
            </a:lvl3pPr>
            <a:lvl4pPr marL="1371360" indent="0">
              <a:buNone/>
              <a:defRPr sz="1575" b="1"/>
            </a:lvl4pPr>
            <a:lvl5pPr marL="1828480" indent="0">
              <a:buNone/>
              <a:defRPr sz="1575" b="1"/>
            </a:lvl5pPr>
            <a:lvl6pPr marL="2285600" indent="0">
              <a:buNone/>
              <a:defRPr sz="1575" b="1"/>
            </a:lvl6pPr>
            <a:lvl7pPr marL="2742720" indent="0">
              <a:buNone/>
              <a:defRPr sz="1575" b="1"/>
            </a:lvl7pPr>
            <a:lvl8pPr marL="3199840" indent="0">
              <a:buNone/>
              <a:defRPr sz="1575" b="1"/>
            </a:lvl8pPr>
            <a:lvl9pPr marL="3656960" indent="0">
              <a:buNone/>
              <a:defRPr sz="1575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700809"/>
            <a:ext cx="5386917" cy="442535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124744"/>
            <a:ext cx="5389033" cy="576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0" indent="0">
              <a:buNone/>
              <a:defRPr sz="2025" b="1"/>
            </a:lvl2pPr>
            <a:lvl3pPr marL="914240" indent="0">
              <a:buNone/>
              <a:defRPr sz="1800" b="1"/>
            </a:lvl3pPr>
            <a:lvl4pPr marL="1371360" indent="0">
              <a:buNone/>
              <a:defRPr sz="1575" b="1"/>
            </a:lvl4pPr>
            <a:lvl5pPr marL="1828480" indent="0">
              <a:buNone/>
              <a:defRPr sz="1575" b="1"/>
            </a:lvl5pPr>
            <a:lvl6pPr marL="2285600" indent="0">
              <a:buNone/>
              <a:defRPr sz="1575" b="1"/>
            </a:lvl6pPr>
            <a:lvl7pPr marL="2742720" indent="0">
              <a:buNone/>
              <a:defRPr sz="1575" b="1"/>
            </a:lvl7pPr>
            <a:lvl8pPr marL="3199840" indent="0">
              <a:buNone/>
              <a:defRPr sz="1575" b="1"/>
            </a:lvl8pPr>
            <a:lvl9pPr marL="3656960" indent="0">
              <a:buNone/>
              <a:defRPr sz="1575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1700809"/>
            <a:ext cx="5389033" cy="442535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11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60648"/>
            <a:ext cx="10972800" cy="792088"/>
          </a:xfrm>
        </p:spPr>
        <p:txBody>
          <a:bodyPr vert="horz" lIns="121899" tIns="60949" rIns="121899" bIns="60949" rtlCol="0" anchor="ctr">
            <a:norm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1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79209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24744"/>
            <a:ext cx="10972800" cy="5256582"/>
          </a:xfrm>
          <a:prstGeom prst="rect">
            <a:avLst/>
          </a:prstGeom>
        </p:spPr>
        <p:txBody>
          <a:bodyPr vert="horz" lIns="122400" tIns="60949" rIns="121899" bIns="720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직선 연결선 28">
            <a:extLst>
              <a:ext uri="{FF2B5EF4-FFF2-40B4-BE49-F238E27FC236}">
                <a16:creationId xmlns:a16="http://schemas.microsoft.com/office/drawing/2014/main" id="{322A3F68-7865-9941-98EA-BCC55BD2E7E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1044421"/>
            <a:ext cx="10972800" cy="0"/>
          </a:xfrm>
          <a:prstGeom prst="line">
            <a:avLst/>
          </a:prstGeom>
          <a:noFill/>
          <a:ln w="9525" cap="flat" cmpd="sng" algn="ctr">
            <a:solidFill>
              <a:srgbClr val="B4975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anchor="t" compatLnSpc="1"/>
          <a:lstStyle/>
          <a:p>
            <a:endParaRPr lang="en-US" sz="1013" dirty="0">
              <a:solidFill>
                <a:prstClr val="black"/>
              </a:solidFill>
            </a:endParaRP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612004" y="6453332"/>
            <a:ext cx="1669976" cy="219081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defPPr>
              <a:defRPr lang="en-US"/>
            </a:defPPr>
            <a:lvl1pPr marL="0" algn="r" defTabSz="121898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Digital Logic</a:t>
            </a:r>
          </a:p>
        </p:txBody>
      </p:sp>
    </p:spTree>
    <p:extLst>
      <p:ext uri="{BB962C8B-B14F-4D97-AF65-F5344CB8AC3E}">
        <p14:creationId xmlns:p14="http://schemas.microsoft.com/office/powerpoint/2010/main" val="146583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</p:sldLayoutIdLs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lang="en-US" sz="3600" b="1" kern="1200" dirty="0">
          <a:solidFill>
            <a:srgbClr val="18457D"/>
          </a:solidFill>
          <a:latin typeface="+mj-lt"/>
          <a:ea typeface="Lucida Sans" panose="020B0602030504020204" pitchFamily="34" charset="0"/>
          <a:cs typeface="Lucida Sans" panose="020B0602030504020204" pitchFamily="34" charset="0"/>
        </a:defRPr>
      </a:lvl1pPr>
    </p:titleStyle>
    <p:bodyStyle>
      <a:lvl1pPr marL="571500" indent="-57150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90000"/>
        <a:buFont typeface="Wingdings" panose="05000000000000000000" pitchFamily="2" charset="2"/>
        <a:buChar char=""/>
        <a:defRPr lang="en-US" sz="3200" b="1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1pPr>
      <a:lvl2pPr marL="1123844" indent="-51435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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2pPr>
      <a:lvl3pPr marL="1733336" indent="-51435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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3pPr>
      <a:lvl4pPr marL="2285680" indent="-45720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4pPr>
      <a:lvl5pPr marL="2895173" indent="-45720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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8FFE3-2D9B-0949-A792-BB636A63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Tutorial 1 combinational logic circuit</a:t>
            </a:r>
          </a:p>
        </p:txBody>
      </p:sp>
    </p:spTree>
    <p:extLst>
      <p:ext uri="{BB962C8B-B14F-4D97-AF65-F5344CB8AC3E}">
        <p14:creationId xmlns:p14="http://schemas.microsoft.com/office/powerpoint/2010/main" val="1335892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B1BF-A10D-074E-99DD-C547D31C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3AEB4-753E-6243-9803-B3551F073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will review the following concept in this tutorial:</a:t>
            </a:r>
          </a:p>
          <a:p>
            <a:r>
              <a:rPr lang="en-US" dirty="0"/>
              <a:t>Combinational logic circuit</a:t>
            </a:r>
          </a:p>
          <a:p>
            <a:pPr lvl="1"/>
            <a:r>
              <a:rPr lang="en-US" dirty="0"/>
              <a:t> No memory, output(s) solely determined by input(s)</a:t>
            </a:r>
          </a:p>
          <a:p>
            <a:r>
              <a:rPr lang="en-US" dirty="0"/>
              <a:t>Truth table and logic function</a:t>
            </a:r>
          </a:p>
          <a:p>
            <a:r>
              <a:rPr lang="en-US" dirty="0"/>
              <a:t>Two-level logic and PLA</a:t>
            </a:r>
          </a:p>
          <a:p>
            <a:r>
              <a:rPr lang="en-US" dirty="0"/>
              <a:t>Simplification with Boolean Algebra and K-map</a:t>
            </a:r>
          </a:p>
          <a:p>
            <a:r>
              <a:rPr lang="en-US" dirty="0"/>
              <a:t>Circuit design</a:t>
            </a:r>
          </a:p>
          <a:p>
            <a:endParaRPr lang="en-US" dirty="0"/>
          </a:p>
          <a:p>
            <a:r>
              <a:rPr lang="en-US" dirty="0"/>
              <a:t>Work with two practical examples</a:t>
            </a:r>
          </a:p>
          <a:p>
            <a:pPr lvl="1"/>
            <a:r>
              <a:rPr lang="en-US" dirty="0"/>
              <a:t>Bit comparator</a:t>
            </a:r>
          </a:p>
          <a:p>
            <a:pPr lvl="1"/>
            <a:r>
              <a:rPr lang="en-US" dirty="0"/>
              <a:t>Encoder</a:t>
            </a:r>
          </a:p>
        </p:txBody>
      </p:sp>
    </p:spTree>
    <p:extLst>
      <p:ext uri="{BB962C8B-B14F-4D97-AF65-F5344CB8AC3E}">
        <p14:creationId xmlns:p14="http://schemas.microsoft.com/office/powerpoint/2010/main" val="762783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Logic Circuit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3238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dirty="0">
                <a:ea typeface="MS PGothic" charset="0"/>
              </a:rPr>
              <a:t>Two types of digital logic circuits inside a computer:</a:t>
            </a:r>
          </a:p>
          <a:p>
            <a:pPr marL="790575" lvl="1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b="1" dirty="0">
                <a:solidFill>
                  <a:srgbClr val="990000"/>
                </a:solidFill>
                <a:ea typeface="MS PGothic" charset="0"/>
              </a:rPr>
              <a:t>Combinational logic circuits</a:t>
            </a:r>
            <a:endParaRPr lang="en-GB" b="1" dirty="0">
              <a:ea typeface="MS PGothic" charset="0"/>
            </a:endParaRPr>
          </a:p>
          <a:p>
            <a:pPr marL="1079500" lvl="2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dirty="0">
                <a:ea typeface="MS PGothic" charset="0"/>
              </a:rPr>
              <a:t>Logic circuits that do not have memory</a:t>
            </a:r>
          </a:p>
          <a:p>
            <a:pPr marL="1079500" lvl="2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dirty="0">
                <a:ea typeface="MS PGothic" charset="0"/>
              </a:rPr>
              <a:t>The output depends only on the current inputs and the circuit</a:t>
            </a:r>
          </a:p>
          <a:p>
            <a:pPr marL="1079500" lvl="2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dirty="0">
                <a:ea typeface="MS PGothic" charset="0"/>
              </a:rPr>
              <a:t>They can be specified fully with a truth table or a logic equation</a:t>
            </a:r>
          </a:p>
          <a:p>
            <a:pPr marL="790575" lvl="1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b="1" dirty="0">
                <a:solidFill>
                  <a:srgbClr val="990000"/>
                </a:solidFill>
                <a:ea typeface="MS PGothic" charset="0"/>
              </a:rPr>
              <a:t>Sequential logic circuits</a:t>
            </a:r>
            <a:endParaRPr lang="en-GB" b="1" dirty="0">
              <a:ea typeface="MS PGothic" charset="0"/>
            </a:endParaRPr>
          </a:p>
          <a:p>
            <a:pPr marL="1079500" lvl="2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dirty="0">
                <a:ea typeface="MS PGothic" charset="0"/>
              </a:rPr>
              <a:t>Logic circuits that have memory</a:t>
            </a:r>
          </a:p>
          <a:p>
            <a:pPr marL="1079500" lvl="2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dirty="0">
                <a:ea typeface="MS PGothic" charset="0"/>
              </a:rPr>
              <a:t>The output depends on both the current inputs and the value stored in memory (called </a:t>
            </a:r>
            <a:r>
              <a:rPr lang="en-GB" dirty="0">
                <a:solidFill>
                  <a:srgbClr val="990000"/>
                </a:solidFill>
                <a:ea typeface="MS PGothic" charset="0"/>
              </a:rPr>
              <a:t>state</a:t>
            </a:r>
            <a:r>
              <a:rPr lang="en-GB" dirty="0">
                <a:ea typeface="MS PGothic" charset="0"/>
              </a:rPr>
              <a:t>)</a:t>
            </a:r>
          </a:p>
          <a:p>
            <a:pPr marL="1079500" lvl="2" indent="-431800" defTabSz="719138">
              <a:lnSpc>
                <a:spcPct val="9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dirty="0">
              <a:ea typeface="MS PGothic" charset="0"/>
            </a:endParaRP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53994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4B1CE-A6A6-ED41-A08F-43650E73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Circuit Design Process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2BB9E6-79E6-CF4A-B820-CA623CDE6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56584"/>
          </a:xfrm>
        </p:spPr>
        <p:txBody>
          <a:bodyPr>
            <a:normAutofit/>
          </a:bodyPr>
          <a:lstStyle/>
          <a:p>
            <a:r>
              <a:rPr lang="en-US" sz="2800" dirty="0"/>
              <a:t>A simple logic design process involves</a:t>
            </a:r>
          </a:p>
          <a:p>
            <a:pPr lvl="1"/>
            <a:r>
              <a:rPr lang="en-US" dirty="0"/>
              <a:t>Problem specification</a:t>
            </a:r>
          </a:p>
          <a:p>
            <a:pPr lvl="1"/>
            <a:r>
              <a:rPr lang="en-US" dirty="0"/>
              <a:t>Truth table derivation</a:t>
            </a:r>
          </a:p>
          <a:p>
            <a:pPr lvl="1"/>
            <a:r>
              <a:rPr lang="en-US" dirty="0"/>
              <a:t>Derivation of logical expression</a:t>
            </a:r>
          </a:p>
          <a:p>
            <a:pPr lvl="1"/>
            <a:r>
              <a:rPr lang="en-US" dirty="0"/>
              <a:t>Simplification of logical expression</a:t>
            </a:r>
          </a:p>
          <a:p>
            <a:pPr lvl="1"/>
            <a:r>
              <a:rPr lang="en-US" dirty="0"/>
              <a:t>Implementation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39562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255C7-050F-2141-A16D-3D0967D9E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Review of 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D683C-7169-E847-A163-C9FFD7DF0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Boolean algebra consists of </a:t>
            </a:r>
          </a:p>
          <a:p>
            <a:pPr lvl="1"/>
            <a:r>
              <a:rPr lang="en-US" dirty="0"/>
              <a:t>Boolean variables (with values equal to either ‘0’ or ‘1’ )</a:t>
            </a:r>
          </a:p>
          <a:p>
            <a:pPr lvl="1"/>
            <a:r>
              <a:rPr lang="en-US" dirty="0"/>
              <a:t>Binary operators:  AND (∙), OR (+), NOT ( ‘ )</a:t>
            </a:r>
          </a:p>
          <a:p>
            <a:r>
              <a:rPr lang="en-US" altLang="zh-HK" dirty="0"/>
              <a:t>Any logic function can be expressed as a two-level logic expression, either as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zh-HK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HK" dirty="0"/>
              <a:t>Sum-of-Products (</a:t>
            </a:r>
            <a:r>
              <a:rPr lang="en-US" altLang="zh-HK" dirty="0" err="1"/>
              <a:t>SoP</a:t>
            </a:r>
            <a:r>
              <a:rPr lang="en-US" altLang="zh-HK" dirty="0"/>
              <a:t>) representation, or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zh-HK" dirty="0"/>
              <a:t> Product-of-Sums (</a:t>
            </a:r>
            <a:r>
              <a:rPr lang="en-US" altLang="zh-HK" dirty="0" err="1"/>
              <a:t>PoS</a:t>
            </a:r>
            <a:r>
              <a:rPr lang="en-US" altLang="zh-HK" dirty="0"/>
              <a:t>) representation</a:t>
            </a:r>
            <a:endParaRPr lang="en-US" dirty="0"/>
          </a:p>
          <a:p>
            <a:r>
              <a:rPr lang="en-US" dirty="0"/>
              <a:t>The AND, OR, and NOT operations form a functionally complete set (namely, </a:t>
            </a:r>
            <a:r>
              <a:rPr lang="en-US" dirty="0">
                <a:solidFill>
                  <a:srgbClr val="C00000"/>
                </a:solidFill>
              </a:rPr>
              <a:t>universal gates</a:t>
            </a:r>
            <a:r>
              <a:rPr lang="en-US" dirty="0"/>
              <a:t>), as they can specify any logic function.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257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Laws of Boolean Algebra</a:t>
            </a:r>
          </a:p>
        </p:txBody>
      </p:sp>
      <p:pic>
        <p:nvPicPr>
          <p:cNvPr id="10242" name="Picture 2" descr="http://4.bp.blogspot.com/-uKI0W87tFDA/Up20mDeQjSI/AAAAAAAAABw/TXf5hEE9-fg/s1600/boolean+la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1412776"/>
            <a:ext cx="722529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693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60220-374C-C443-86FE-614DDBADB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0054-C178-D249-9991-E84DF887C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 the direct Boolean expression for the following circuit</a:t>
            </a:r>
          </a:p>
          <a:p>
            <a:r>
              <a:rPr lang="en-US" dirty="0"/>
              <a:t>Simplify the Boolean expression using Boolean algebra</a:t>
            </a:r>
          </a:p>
          <a:p>
            <a:r>
              <a:rPr lang="en-US" dirty="0"/>
              <a:t>Draw the new circuit for the simplified Boolean expression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8917F-21B9-7249-8D31-89B04FA25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3212976"/>
            <a:ext cx="4319587" cy="201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41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9875-B16F-C147-84EA-2EDF5BADC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F5221-9627-8F4D-AE30-E92CBAA0E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Simplify the combinational logic circuit shown below to a minimum 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CCF1B5-C2E7-5E48-8BB0-FDD364A7898E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1271464" y="2636912"/>
            <a:ext cx="501015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32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9875-B16F-C147-84EA-2EDF5BADC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Exercise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F5221-9627-8F4D-AE30-E92CBAA0E9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Simplify the following Boolean expression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altLang="zh-HK" b="0" i="1">
                        <a:latin typeface="Cambria Math" panose="02040503050406030204" pitchFamily="18" charset="0"/>
                        <a:ea typeface="MS PGothic" panose="020B0600070205080204" pitchFamily="34" charset="-128"/>
                      </a:rPr>
                      <m:t>𝐴𝐵</m:t>
                    </m:r>
                    <m:r>
                      <a:rPr lang="en-US" altLang="zh-HK" b="0" i="1">
                        <a:latin typeface="Cambria Math" panose="02040503050406030204" pitchFamily="18" charset="0"/>
                        <a:ea typeface="MS PGothic" panose="020B0600070205080204" pitchFamily="34" charset="-128"/>
                      </a:rPr>
                      <m:t>+ </m:t>
                    </m:r>
                    <m:acc>
                      <m:accPr>
                        <m:chr m:val="̅"/>
                        <m:ctrlPr>
                          <a:rPr lang="en-US" altLang="zh-HK" b="0" i="1">
                            <a:latin typeface="Cambria Math" panose="02040503050406030204" pitchFamily="18" charset="0"/>
                            <a:ea typeface="MS PGothic" panose="020B0600070205080204" pitchFamily="34" charset="-128"/>
                          </a:rPr>
                        </m:ctrlPr>
                      </m:accPr>
                      <m:e>
                        <m:r>
                          <a:rPr lang="en-US" altLang="zh-HK" b="0" i="1">
                            <a:latin typeface="Cambria Math" panose="02040503050406030204" pitchFamily="18" charset="0"/>
                            <a:ea typeface="MS PGothic" panose="020B0600070205080204" pitchFamily="34" charset="-128"/>
                          </a:rPr>
                          <m:t>𝐴𝐵</m:t>
                        </m:r>
                      </m:e>
                    </m:acc>
                    <m:r>
                      <a:rPr lang="en-US" altLang="zh-HK" b="0" i="1">
                        <a:latin typeface="Cambria Math" panose="02040503050406030204" pitchFamily="18" charset="0"/>
                        <a:ea typeface="MS PGothic" panose="020B0600070205080204" pitchFamily="34" charset="-128"/>
                      </a:rPr>
                      <m:t>𝐶𝐷</m:t>
                    </m:r>
                    <m:r>
                      <a:rPr lang="en-US" altLang="zh-HK" b="0" i="1">
                        <a:latin typeface="Cambria Math" panose="02040503050406030204" pitchFamily="18" charset="0"/>
                        <a:ea typeface="MS PGothic" panose="020B0600070205080204" pitchFamily="34" charset="-128"/>
                      </a:rPr>
                      <m:t>+ </m:t>
                    </m:r>
                    <m:acc>
                      <m:accPr>
                        <m:chr m:val="̅"/>
                        <m:ctrlPr>
                          <a:rPr lang="en-US" altLang="zh-HK" b="0" i="1">
                            <a:latin typeface="Cambria Math" panose="02040503050406030204" pitchFamily="18" charset="0"/>
                            <a:ea typeface="MS PGothic" panose="020B0600070205080204" pitchFamily="34" charset="-128"/>
                          </a:rPr>
                        </m:ctrlPr>
                      </m:accPr>
                      <m:e>
                        <m:r>
                          <a:rPr lang="en-US" altLang="zh-HK" b="0" i="1">
                            <a:latin typeface="Cambria Math" panose="02040503050406030204" pitchFamily="18" charset="0"/>
                            <a:ea typeface="MS PGothic" panose="020B0600070205080204" pitchFamily="34" charset="-128"/>
                          </a:rPr>
                          <m:t>𝐶𝐷</m:t>
                        </m:r>
                      </m:e>
                    </m:acc>
                    <m:r>
                      <a:rPr lang="en-US" altLang="zh-HK" b="0" i="1">
                        <a:latin typeface="Cambria Math" panose="02040503050406030204" pitchFamily="18" charset="0"/>
                        <a:ea typeface="MS PGothic" panose="020B0600070205080204" pitchFamily="34" charset="-128"/>
                      </a:rPr>
                      <m:t>𝐸𝐹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DF5221-9627-8F4D-AE30-E92CBAA0E9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0" t="-1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9474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612B7-995B-D643-9983-42CDCA97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2-bit Comparator Exercise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AC441-F7F9-974C-AABD-727110C8B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367240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Here we’ll be designing circuits to compare 2-bit binary numbers.  </a:t>
            </a:r>
          </a:p>
          <a:p>
            <a:r>
              <a:rPr lang="en-US" dirty="0"/>
              <a:t>Suppose we have two 2-bit numbers A &amp; B at the inputs,  and three outputs as A&gt;B, A==B, A&lt;B</a:t>
            </a:r>
          </a:p>
          <a:p>
            <a:r>
              <a:rPr lang="en-US" dirty="0"/>
              <a:t>Only one of the three outputs would be true accordingly if A is greater than or equal to or less than B. </a:t>
            </a:r>
          </a:p>
          <a:p>
            <a:r>
              <a:rPr lang="en-US" dirty="0"/>
              <a:t>We’ll practice the circuit design for f(A==B), try to work on f(A&gt;B) and f(A&lt;B) by yourself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82E8B-8C9C-824C-BCA0-0321356F6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4643751"/>
            <a:ext cx="3860768" cy="170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9405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E46E-F915-9A4C-9F4F-1698A9496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8-to-3 Encoder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32D75-6D3B-2C4C-AD0D-961B5EA76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GB" sz="2700" dirty="0"/>
              <a:t>An encoder (2</a:t>
            </a:r>
            <a:r>
              <a:rPr lang="en-GB" sz="2700" baseline="30000" dirty="0"/>
              <a:t>N</a:t>
            </a:r>
            <a:r>
              <a:rPr lang="en-GB" sz="2700" dirty="0"/>
              <a:t>-to-N encoder) is a logical block with 2</a:t>
            </a:r>
            <a:r>
              <a:rPr lang="en-GB" sz="2700" baseline="30000" dirty="0"/>
              <a:t>N</a:t>
            </a:r>
            <a:r>
              <a:rPr lang="en-GB" sz="2700" dirty="0"/>
              <a:t> 1-bit inputs and a N-bit output, which</a:t>
            </a:r>
            <a:r>
              <a:rPr lang="en-US" sz="2700" dirty="0"/>
              <a:t> performs the inverse function of a decoder</a:t>
            </a:r>
            <a:r>
              <a:rPr lang="en-GB" sz="2700" dirty="0"/>
              <a:t>.</a:t>
            </a:r>
          </a:p>
          <a:p>
            <a:pPr>
              <a:lnSpc>
                <a:spcPct val="8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endParaRPr lang="en-GB" sz="2700" dirty="0"/>
          </a:p>
          <a:p>
            <a:pPr>
              <a:lnSpc>
                <a:spcPct val="8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700" dirty="0"/>
              <a:t>Example (8-to-3 encoder)</a:t>
            </a:r>
          </a:p>
          <a:p>
            <a:pPr marL="1180992" lvl="2" indent="-571500">
              <a:lnSpc>
                <a:spcPct val="80000"/>
              </a:lnSpc>
              <a:buSzPct val="90000"/>
              <a:buFont typeface="Wingdings" panose="05000000000000000000" pitchFamily="2" charset="2"/>
              <a:buChar char="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GB" sz="2300" b="1" dirty="0"/>
              <a:t>8 </a:t>
            </a:r>
            <a:r>
              <a:rPr lang="en-US" altLang="zh-CN" sz="2300" b="1" dirty="0" err="1"/>
              <a:t>i</a:t>
            </a:r>
            <a:r>
              <a:rPr lang="en-GB" sz="2300" b="1" dirty="0" err="1"/>
              <a:t>nputs</a:t>
            </a:r>
            <a:r>
              <a:rPr lang="en-GB" sz="2300" b="1" dirty="0"/>
              <a:t> (D</a:t>
            </a:r>
            <a:r>
              <a:rPr lang="en-GB" sz="2300" b="1" baseline="-25000" dirty="0"/>
              <a:t>0</a:t>
            </a:r>
            <a:r>
              <a:rPr lang="en-GB" sz="2300" b="1" dirty="0"/>
              <a:t>, D</a:t>
            </a:r>
            <a:r>
              <a:rPr lang="en-GB" sz="2300" b="1" baseline="-25000" dirty="0"/>
              <a:t>1</a:t>
            </a:r>
            <a:r>
              <a:rPr lang="en-GB" sz="2300" b="1" dirty="0"/>
              <a:t>, …, D</a:t>
            </a:r>
            <a:r>
              <a:rPr lang="en-GB" sz="2300" b="1" baseline="-25000" dirty="0"/>
              <a:t>7</a:t>
            </a:r>
            <a:r>
              <a:rPr lang="en-GB" sz="2300" b="1" dirty="0"/>
              <a:t>) and 3 outputs (X, Y, Z)</a:t>
            </a:r>
          </a:p>
          <a:p>
            <a:endParaRPr lang="en-US" sz="2700" dirty="0"/>
          </a:p>
          <a:p>
            <a:endParaRPr lang="en-US" sz="2700" dirty="0"/>
          </a:p>
          <a:p>
            <a:endParaRPr lang="en-US" sz="2700" dirty="0"/>
          </a:p>
          <a:p>
            <a:endParaRPr lang="en-US" sz="2700" dirty="0"/>
          </a:p>
          <a:p>
            <a:endParaRPr lang="en-US" sz="2700" dirty="0"/>
          </a:p>
          <a:p>
            <a:r>
              <a:rPr lang="en-US" sz="2700" dirty="0"/>
              <a:t>Let’s design the circuits for X, Y, Z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2A5783-B91C-6F4B-827C-E977D2D471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82781" y="3159637"/>
            <a:ext cx="4026438" cy="259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87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C9ACC-AB17-164F-998A-7E43DAB10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8-to-3 Encoder Truth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923FF9-621F-3847-9D8C-DADD9857EE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946130"/>
              </p:ext>
            </p:extLst>
          </p:nvPr>
        </p:nvGraphicFramePr>
        <p:xfrm>
          <a:off x="2819402" y="1556792"/>
          <a:ext cx="6553195" cy="4114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5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957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4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5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6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>
                          <a:latin typeface="+mn-lt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GB" baseline="-25000" dirty="0">
                          <a:latin typeface="+mn-lt"/>
                          <a:cs typeface="Times New Roman" panose="02020603050405020304" pitchFamily="18" charset="0"/>
                        </a:rPr>
                        <a:t>7</a:t>
                      </a:r>
                      <a:endParaRPr lang="en-US" dirty="0"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37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74151-4FBF-8F4D-A4B3-E484DA181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Exercise: Multiplexor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30FA1-6100-E143-A628-81D044384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 multiplexor is a devices that given the control signal, selects one of the inputs to be forwarded to the output. The following figure shows a 4-input multiplexor.</a:t>
            </a:r>
          </a:p>
          <a:p>
            <a:r>
              <a:rPr lang="en-HK" dirty="0"/>
              <a:t>4-to-1 multiplexor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C07D7B-B72F-6644-A5D6-4A8BA6CD3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688" y="3573016"/>
            <a:ext cx="4785848" cy="2575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119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4111E-737A-AD4E-BBB0-496EC63F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AFFE7-32BC-1F4F-B4C8-8C3408A37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/>
              <a:t>If the inputs A/B are 32-bit in width, what is the data width of the Output O?</a:t>
            </a:r>
          </a:p>
          <a:p>
            <a:r>
              <a:rPr lang="en-US" altLang="zh-HK" dirty="0"/>
              <a:t>What is the maximum number of inputs if the control signal is 10-bit in width?</a:t>
            </a:r>
          </a:p>
          <a:p>
            <a:r>
              <a:rPr lang="en-US" altLang="zh-HK" dirty="0"/>
              <a:t>What is the bit-width of the control signal for the multiplexor if there are 9 inputs?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88786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679</Words>
  <Application>Microsoft Macintosh PowerPoint</Application>
  <PresentationFormat>Widescreen</PresentationFormat>
  <Paragraphs>180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MS PGothic</vt:lpstr>
      <vt:lpstr>Arial</vt:lpstr>
      <vt:lpstr>Calibri</vt:lpstr>
      <vt:lpstr>Cambria Math</vt:lpstr>
      <vt:lpstr>Times New Roman</vt:lpstr>
      <vt:lpstr>Wingdings</vt:lpstr>
      <vt:lpstr>2_Office Theme</vt:lpstr>
      <vt:lpstr>Tutorial 1 combinational logic circuit</vt:lpstr>
      <vt:lpstr>Overview</vt:lpstr>
      <vt:lpstr>Digital Logic Circuit</vt:lpstr>
      <vt:lpstr>Circuit Design Process </vt:lpstr>
      <vt:lpstr>Review of Boolean Algebra</vt:lpstr>
      <vt:lpstr>Basic Laws of Boolean Algebra</vt:lpstr>
      <vt:lpstr>Boolean Algebra Exercise 1</vt:lpstr>
      <vt:lpstr>Boolean Algebra Exercise 2</vt:lpstr>
      <vt:lpstr>Boolean Algebra Exercise 3</vt:lpstr>
      <vt:lpstr>2-bit Comparator Exercise</vt:lpstr>
      <vt:lpstr>8-to-3 Encoder Exercise</vt:lpstr>
      <vt:lpstr>8-to-3 Encoder Truth Table</vt:lpstr>
      <vt:lpstr>Extra Exercise: Multiplexor</vt:lpstr>
      <vt:lpstr>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and Historical Perspective</dc:title>
  <dc:creator/>
  <cp:lastModifiedBy/>
  <cp:revision>10</cp:revision>
  <dcterms:created xsi:type="dcterms:W3CDTF">2014-06-18T18:35:22Z</dcterms:created>
  <dcterms:modified xsi:type="dcterms:W3CDTF">2024-09-13T10:02:55Z</dcterms:modified>
</cp:coreProperties>
</file>