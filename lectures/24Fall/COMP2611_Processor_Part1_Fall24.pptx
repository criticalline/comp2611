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5" r:id="rId1"/>
  </p:sldMasterIdLst>
  <p:notesMasterIdLst>
    <p:notesMasterId r:id="rId41"/>
  </p:notesMasterIdLst>
  <p:sldIdLst>
    <p:sldId id="292" r:id="rId2"/>
    <p:sldId id="352" r:id="rId3"/>
    <p:sldId id="390" r:id="rId4"/>
    <p:sldId id="354" r:id="rId5"/>
    <p:sldId id="355" r:id="rId6"/>
    <p:sldId id="356" r:id="rId7"/>
    <p:sldId id="357" r:id="rId8"/>
    <p:sldId id="358" r:id="rId9"/>
    <p:sldId id="359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91" r:id="rId20"/>
    <p:sldId id="370" r:id="rId21"/>
    <p:sldId id="371" r:id="rId22"/>
    <p:sldId id="372" r:id="rId23"/>
    <p:sldId id="373" r:id="rId24"/>
    <p:sldId id="374" r:id="rId25"/>
    <p:sldId id="375" r:id="rId26"/>
    <p:sldId id="376" r:id="rId27"/>
    <p:sldId id="392" r:id="rId28"/>
    <p:sldId id="393" r:id="rId29"/>
    <p:sldId id="394" r:id="rId30"/>
    <p:sldId id="395" r:id="rId31"/>
    <p:sldId id="396" r:id="rId32"/>
    <p:sldId id="397" r:id="rId33"/>
    <p:sldId id="398" r:id="rId34"/>
    <p:sldId id="399" r:id="rId35"/>
    <p:sldId id="400" r:id="rId36"/>
    <p:sldId id="401" r:id="rId37"/>
    <p:sldId id="402" r:id="rId38"/>
    <p:sldId id="403" r:id="rId39"/>
    <p:sldId id="404" r:id="rId40"/>
  </p:sldIdLst>
  <p:sldSz cx="12192000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457D"/>
    <a:srgbClr val="3370BA"/>
    <a:srgbClr val="BD4F4E"/>
    <a:srgbClr val="17457C"/>
    <a:srgbClr val="FFFFFF"/>
    <a:srgbClr val="B49759"/>
    <a:srgbClr val="416B9E"/>
    <a:srgbClr val="DEA400"/>
    <a:srgbClr val="610000"/>
    <a:srgbClr val="926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61A878-9D45-E64B-B386-2FE77A87E500}" v="1" dt="2021-04-28T06:16:36.3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83"/>
    <p:restoredTop sz="82240" autoAdjust="0"/>
  </p:normalViewPr>
  <p:slideViewPr>
    <p:cSldViewPr>
      <p:cViewPr varScale="1">
        <p:scale>
          <a:sx n="87" d="100"/>
          <a:sy n="87" d="100"/>
        </p:scale>
        <p:origin x="2016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ndy LI" userId="47c6de85-29fb-4de6-b56f-9f02cbd322f7" providerId="ADAL" clId="{EC61A878-9D45-E64B-B386-2FE77A87E500}"/>
    <pc:docChg chg="modSld">
      <pc:chgData name="Cindy LI" userId="47c6de85-29fb-4de6-b56f-9f02cbd322f7" providerId="ADAL" clId="{EC61A878-9D45-E64B-B386-2FE77A87E500}" dt="2021-04-28T06:16:39.732" v="2"/>
      <pc:docMkLst>
        <pc:docMk/>
      </pc:docMkLst>
      <pc:sldChg chg="addSp delSp modSp mod">
        <pc:chgData name="Cindy LI" userId="47c6de85-29fb-4de6-b56f-9f02cbd322f7" providerId="ADAL" clId="{EC61A878-9D45-E64B-B386-2FE77A87E500}" dt="2021-04-28T06:16:39.732" v="2"/>
        <pc:sldMkLst>
          <pc:docMk/>
          <pc:sldMk cId="2500831939" sldId="392"/>
        </pc:sldMkLst>
        <pc:spChg chg="add del mod">
          <ac:chgData name="Cindy LI" userId="47c6de85-29fb-4de6-b56f-9f02cbd322f7" providerId="ADAL" clId="{EC61A878-9D45-E64B-B386-2FE77A87E500}" dt="2021-04-28T06:16:39.732" v="2"/>
          <ac:spMkLst>
            <pc:docMk/>
            <pc:sldMk cId="2500831939" sldId="392"/>
            <ac:spMk id="3" creationId="{137B3EDC-5C1E-5349-99DE-85B8E238B76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11/7/23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17DE6586-58B4-40FF-8602-22C38DCFA5BA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5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39939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39940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9879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AFCF534C-3F92-4263-BBDF-24F12598F5D4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6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41987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41988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470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01A4513E-4287-47F4-872F-695DA81BC503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9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56323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56324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5258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65FBBFFF-C9EF-4159-A58B-3929909F570B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10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58371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58372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3900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967194B3-B77E-4DCF-BAE6-F710C60C56BD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12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60419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60420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811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29FC0522-2440-405B-934D-9C8111FB3E4F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13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62467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62468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477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A3E64308-4E8E-442B-902F-82B865584550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14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64515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64516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47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AAB75F13-6E80-489D-A719-103DB4343B6E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15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66563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66564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1799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ABC2E312-DC36-4A8B-ACAC-1311A34D7CBB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16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68611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68612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319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4D2CFB44-E8CA-48BE-B654-A7CC05DCF659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17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70659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70660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0482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5A0BDEB7-53BA-4A05-9686-A68F8D690331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18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72707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72708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491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10CE75F8-4406-4FFE-A1AF-CF20EC0589BB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20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76803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76804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4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6B3B1202-9420-4AB9-A4E2-A7EBDCE6A2B0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21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78851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78852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6249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6FD820C0-1959-4044-A376-805712F98668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23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80899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80900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065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D218395D-5395-41BC-985B-11F0363568AA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24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82947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82948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574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3BF14157-5845-4BF2-9FED-D0BD644F4303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25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84995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84996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80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fld id="{1345ABF4-E4E8-42BE-BA68-45BE232DFF91}" type="slidenum">
              <a:rPr lang="zh-TW" altLang="en-GB" sz="1200">
                <a:solidFill>
                  <a:srgbClr val="000000"/>
                </a:solidFill>
                <a:ea typeface="新細明體" charset="-120"/>
              </a:rPr>
              <a:pPr/>
              <a:t>26</a:t>
            </a:fld>
            <a:endParaRPr lang="en-GB" altLang="zh-TW" sz="1200">
              <a:solidFill>
                <a:srgbClr val="000000"/>
              </a:solidFill>
              <a:ea typeface="新細明體" charset="-120"/>
            </a:endParaRPr>
          </a:p>
        </p:txBody>
      </p:sp>
      <p:sp>
        <p:nvSpPr>
          <p:cNvPr id="87043" name="Text Box 1"/>
          <p:cNvSpPr txBox="1">
            <a:spLocks noChangeArrowheads="1"/>
          </p:cNvSpPr>
          <p:nvPr/>
        </p:nvSpPr>
        <p:spPr bwMode="auto">
          <a:xfrm>
            <a:off x="992188" y="768350"/>
            <a:ext cx="5116512" cy="38369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endParaRPr lang="en-US"/>
          </a:p>
        </p:txBody>
      </p:sp>
      <p:sp>
        <p:nvSpPr>
          <p:cNvPr id="87044" name="Text Box 2"/>
          <p:cNvSpPr txBox="1">
            <a:spLocks noGrp="1" noChangeArrowheads="1"/>
          </p:cNvSpPr>
          <p:nvPr>
            <p:ph type="body"/>
          </p:nvPr>
        </p:nvSpPr>
        <p:spPr>
          <a:xfrm>
            <a:off x="946150" y="4860925"/>
            <a:ext cx="5207000" cy="460692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980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2D21D1-52E2-420B-B491-CFF6D7BB79FB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12192000" cy="1484784"/>
          </a:xfrm>
          <a:prstGeom prst="rect">
            <a:avLst/>
          </a:prstGeom>
          <a:solidFill>
            <a:srgbClr val="17457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29042" y="211614"/>
            <a:ext cx="11089232" cy="1152128"/>
          </a:xfrm>
          <a:ln w="38100">
            <a:noFill/>
          </a:ln>
        </p:spPr>
        <p:txBody>
          <a:bodyPr>
            <a:normAutofit/>
          </a:bodyPr>
          <a:lstStyle>
            <a:lvl1pPr algn="l">
              <a:defRPr sz="4000">
                <a:solidFill>
                  <a:srgbClr val="B497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2017845" y="1484784"/>
            <a:ext cx="8534400" cy="576064"/>
          </a:xfrm>
          <a:prstGeom prst="rect">
            <a:avLst/>
          </a:prstGeom>
        </p:spPr>
        <p:txBody>
          <a:bodyPr vert="horz" lIns="122400" tIns="60949" rIns="121899" bIns="72000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spcAft>
                <a:spcPts val="200"/>
              </a:spcAft>
              <a:buClr>
                <a:srgbClr val="B49759"/>
              </a:buClr>
              <a:buSzPct val="90000"/>
              <a:buFont typeface="Wingdings" panose="05000000000000000000" pitchFamily="2" charset="2"/>
              <a:buNone/>
              <a:defRPr lang="en-US" sz="3200" b="1" kern="1200">
                <a:solidFill>
                  <a:srgbClr val="B49759"/>
                </a:solidFill>
                <a:latin typeface="Lucida Sans" panose="020B0602030504020204" pitchFamily="34" charset="0"/>
                <a:ea typeface="+mn-ea"/>
                <a:cs typeface="Lucida Sans" panose="020B0602030504020204" pitchFamily="34" charset="0"/>
              </a:defRPr>
            </a:lvl1pPr>
            <a:lvl2pPr marL="457120" indent="0" algn="ctr" defTabSz="1218987" rtl="0" eaLnBrk="1" latinLnBrk="0" hangingPunct="1">
              <a:spcBef>
                <a:spcPct val="20000"/>
              </a:spcBef>
              <a:spcAft>
                <a:spcPts val="200"/>
              </a:spcAft>
              <a:buClr>
                <a:srgbClr val="B49759"/>
              </a:buClr>
              <a:buSzPct val="85000"/>
              <a:buFont typeface="Wingdings" panose="05000000000000000000" pitchFamily="2" charset="2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Lucida Sans" panose="020B0602030504020204" pitchFamily="34" charset="0"/>
                <a:ea typeface="+mn-ea"/>
                <a:cs typeface="Lucida Sans" panose="020B0602030504020204" pitchFamily="34" charset="0"/>
              </a:defRPr>
            </a:lvl2pPr>
            <a:lvl3pPr marL="914240" indent="0" algn="ctr" defTabSz="1218987" rtl="0" eaLnBrk="1" latinLnBrk="0" hangingPunct="1">
              <a:spcBef>
                <a:spcPct val="20000"/>
              </a:spcBef>
              <a:spcAft>
                <a:spcPts val="200"/>
              </a:spcAft>
              <a:buClr>
                <a:srgbClr val="B49759"/>
              </a:buClr>
              <a:buSzPct val="85000"/>
              <a:buFont typeface="Wingdings" panose="05000000000000000000" pitchFamily="2" charset="2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Lucida Sans" panose="020B0602030504020204" pitchFamily="34" charset="0"/>
                <a:ea typeface="+mn-ea"/>
                <a:cs typeface="Lucida Sans" panose="020B0602030504020204" pitchFamily="34" charset="0"/>
              </a:defRPr>
            </a:lvl3pPr>
            <a:lvl4pPr marL="1371360" indent="0" algn="ctr" defTabSz="1218987" rtl="0" eaLnBrk="1" latinLnBrk="0" hangingPunct="1">
              <a:spcBef>
                <a:spcPct val="20000"/>
              </a:spcBef>
              <a:spcAft>
                <a:spcPts val="200"/>
              </a:spcAft>
              <a:buClr>
                <a:srgbClr val="B49759"/>
              </a:buClr>
              <a:buSzPct val="85000"/>
              <a:buFont typeface="Wingdings" panose="05000000000000000000" pitchFamily="2" charset="2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Lucida Sans" panose="020B0602030504020204" pitchFamily="34" charset="0"/>
                <a:ea typeface="+mn-ea"/>
                <a:cs typeface="Lucida Sans" panose="020B0602030504020204" pitchFamily="34" charset="0"/>
              </a:defRPr>
            </a:lvl4pPr>
            <a:lvl5pPr marL="1828480" indent="0" algn="ctr" defTabSz="1218987" rtl="0" eaLnBrk="1" latinLnBrk="0" hangingPunct="1">
              <a:spcBef>
                <a:spcPct val="20000"/>
              </a:spcBef>
              <a:spcAft>
                <a:spcPts val="200"/>
              </a:spcAft>
              <a:buClr>
                <a:srgbClr val="B49759"/>
              </a:buClr>
              <a:buSzPct val="85000"/>
              <a:buFont typeface="Wingdings" panose="05000000000000000000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Lucida Sans" panose="020B0602030504020204" pitchFamily="34" charset="0"/>
                <a:ea typeface="+mn-ea"/>
                <a:cs typeface="Lucida Sans" panose="020B0602030504020204" pitchFamily="34" charset="0"/>
              </a:defRPr>
            </a:lvl5pPr>
            <a:lvl6pPr marL="228560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272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1998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696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sz="2400" dirty="0">
              <a:solidFill>
                <a:prstClr val="white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51384" y="2240795"/>
            <a:ext cx="7488832" cy="4068525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551384" y="1656093"/>
            <a:ext cx="2016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8087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1845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11"/>
            <a:ext cx="10363200" cy="1362075"/>
          </a:xfrm>
        </p:spPr>
        <p:txBody>
          <a:bodyPr anchor="t">
            <a:noAutofit/>
          </a:bodyPr>
          <a:lstStyle>
            <a:lvl1pPr algn="l">
              <a:defRPr sz="36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05577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rgbClr val="18457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24744"/>
            <a:ext cx="10972800" cy="5256584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73626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60648"/>
            <a:ext cx="10972800" cy="792088"/>
          </a:xfrm>
        </p:spPr>
        <p:txBody>
          <a:bodyPr vert="horz" lIns="121899" tIns="60949" rIns="121899" bIns="60949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24744"/>
            <a:ext cx="5384800" cy="5256584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sz="2400"/>
            </a:lvl1pPr>
            <a:lvl2pPr>
              <a:defRPr lang="en-US" sz="2000"/>
            </a:lvl2pPr>
            <a:lvl3pPr>
              <a:defRPr lang="en-US" sz="1800"/>
            </a:lvl3pPr>
            <a:lvl4pPr>
              <a:defRPr lang="en-US" sz="1600"/>
            </a:lvl4pPr>
            <a:lvl5pPr>
              <a:defRPr lang="en-US"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24744"/>
            <a:ext cx="5384800" cy="5256584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sz="2400"/>
            </a:lvl1pPr>
            <a:lvl2pPr>
              <a:defRPr lang="en-US" sz="2000"/>
            </a:lvl2pPr>
            <a:lvl3pPr>
              <a:defRPr lang="en-US" sz="1800"/>
            </a:lvl3pPr>
            <a:lvl4pPr>
              <a:defRPr lang="en-US" sz="1600"/>
            </a:lvl4pPr>
            <a:lvl5pPr>
              <a:defRPr lang="en-US"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07553" y="6525344"/>
            <a:ext cx="1669976" cy="219081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062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Figure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60648"/>
            <a:ext cx="10972800" cy="792088"/>
          </a:xfrm>
        </p:spPr>
        <p:txBody>
          <a:bodyPr vert="horz" lIns="121899" tIns="60949" rIns="121899" bIns="60949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88840"/>
            <a:ext cx="5384800" cy="4392488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sz="2400"/>
            </a:lvl1pPr>
            <a:lvl2pPr>
              <a:defRPr lang="en-US" sz="2000"/>
            </a:lvl2pPr>
            <a:lvl3pPr>
              <a:defRPr lang="en-US" sz="1800"/>
            </a:lvl3pPr>
            <a:lvl4pPr>
              <a:defRPr lang="en-US" sz="1600"/>
            </a:lvl4pPr>
            <a:lvl5pPr>
              <a:defRPr lang="en-US"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8840"/>
            <a:ext cx="5384800" cy="4392488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sz="2400"/>
            </a:lvl1pPr>
            <a:lvl2pPr>
              <a:defRPr lang="en-US" sz="2000"/>
            </a:lvl2pPr>
            <a:lvl3pPr>
              <a:defRPr lang="en-US" sz="1800"/>
            </a:lvl3pPr>
            <a:lvl4pPr>
              <a:defRPr lang="en-US" sz="1600"/>
            </a:lvl4pPr>
            <a:lvl5pPr>
              <a:defRPr lang="en-US"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507553" y="6525344"/>
            <a:ext cx="1669976" cy="219081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763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24743"/>
            <a:ext cx="5386917" cy="576065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120" indent="0">
              <a:buNone/>
              <a:defRPr sz="2025" b="1"/>
            </a:lvl2pPr>
            <a:lvl3pPr marL="914240" indent="0">
              <a:buNone/>
              <a:defRPr sz="1800" b="1"/>
            </a:lvl3pPr>
            <a:lvl4pPr marL="1371360" indent="0">
              <a:buNone/>
              <a:defRPr sz="1575" b="1"/>
            </a:lvl4pPr>
            <a:lvl5pPr marL="1828480" indent="0">
              <a:buNone/>
              <a:defRPr sz="1575" b="1"/>
            </a:lvl5pPr>
            <a:lvl6pPr marL="2285600" indent="0">
              <a:buNone/>
              <a:defRPr sz="1575" b="1"/>
            </a:lvl6pPr>
            <a:lvl7pPr marL="2742720" indent="0">
              <a:buNone/>
              <a:defRPr sz="1575" b="1"/>
            </a:lvl7pPr>
            <a:lvl8pPr marL="3199840" indent="0">
              <a:buNone/>
              <a:defRPr sz="1575" b="1"/>
            </a:lvl8pPr>
            <a:lvl9pPr marL="3656960" indent="0">
              <a:buNone/>
              <a:defRPr sz="1575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700809"/>
            <a:ext cx="5386917" cy="4425354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sz="2400"/>
            </a:lvl1pPr>
            <a:lvl2pPr>
              <a:defRPr lang="en-US" sz="2000"/>
            </a:lvl2pPr>
            <a:lvl3pPr>
              <a:defRPr lang="en-US" sz="1800"/>
            </a:lvl3pPr>
            <a:lvl4pPr>
              <a:defRPr lang="en-US" sz="1600"/>
            </a:lvl4pPr>
            <a:lvl5pPr>
              <a:defRPr lang="en-US"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124744"/>
            <a:ext cx="5389033" cy="57606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20" indent="0">
              <a:buNone/>
              <a:defRPr sz="2025" b="1"/>
            </a:lvl2pPr>
            <a:lvl3pPr marL="914240" indent="0">
              <a:buNone/>
              <a:defRPr sz="1800" b="1"/>
            </a:lvl3pPr>
            <a:lvl4pPr marL="1371360" indent="0">
              <a:buNone/>
              <a:defRPr sz="1575" b="1"/>
            </a:lvl4pPr>
            <a:lvl5pPr marL="1828480" indent="0">
              <a:buNone/>
              <a:defRPr sz="1575" b="1"/>
            </a:lvl5pPr>
            <a:lvl6pPr marL="2285600" indent="0">
              <a:buNone/>
              <a:defRPr sz="1575" b="1"/>
            </a:lvl6pPr>
            <a:lvl7pPr marL="2742720" indent="0">
              <a:buNone/>
              <a:defRPr sz="1575" b="1"/>
            </a:lvl7pPr>
            <a:lvl8pPr marL="3199840" indent="0">
              <a:buNone/>
              <a:defRPr sz="1575" b="1"/>
            </a:lvl8pPr>
            <a:lvl9pPr marL="3656960" indent="0">
              <a:buNone/>
              <a:defRPr sz="1575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1700809"/>
            <a:ext cx="5389033" cy="4425354"/>
          </a:xfrm>
        </p:spPr>
        <p:txBody>
          <a:bodyPr vert="horz" lIns="122400" tIns="60949" rIns="121899" bIns="72000" rtlCol="0">
            <a:normAutofit/>
          </a:bodyPr>
          <a:lstStyle>
            <a:lvl1pPr>
              <a:defRPr lang="en-US" sz="2400"/>
            </a:lvl1pPr>
            <a:lvl2pPr>
              <a:defRPr lang="en-US" sz="2000"/>
            </a:lvl2pPr>
            <a:lvl3pPr>
              <a:defRPr lang="en-US" sz="1800"/>
            </a:lvl3pPr>
            <a:lvl4pPr>
              <a:defRPr lang="en-US" sz="1600"/>
            </a:lvl4pPr>
            <a:lvl5pPr>
              <a:defRPr lang="en-US"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507553" y="6525344"/>
            <a:ext cx="1669976" cy="219081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5211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60648"/>
            <a:ext cx="10972800" cy="792088"/>
          </a:xfrm>
        </p:spPr>
        <p:txBody>
          <a:bodyPr vert="horz" lIns="121899" tIns="60949" rIns="121899" bIns="60949" rtlCol="0" anchor="ctr">
            <a:normAutofit/>
          </a:bodyPr>
          <a:lstStyle>
            <a:lvl1pPr>
              <a:defRPr lang="en-US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507553" y="6525344"/>
            <a:ext cx="1669976" cy="219081"/>
          </a:xfrm>
          <a:prstGeom prst="rect">
            <a:avLst/>
          </a:prstGeom>
        </p:spPr>
        <p:txBody>
          <a:bodyPr/>
          <a:lstStyle/>
          <a:p>
            <a:fld id="{96E69268-9C8B-4EBF-A9EE-DC5DC2D48DC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681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2286001"/>
            <a:ext cx="11478684" cy="220821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11151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792090"/>
          </a:xfrm>
          <a:prstGeom prst="rect">
            <a:avLst/>
          </a:prstGeom>
        </p:spPr>
        <p:txBody>
          <a:bodyPr vert="horz" lIns="121899" tIns="60949" rIns="121899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124744"/>
            <a:ext cx="10972800" cy="5256582"/>
          </a:xfrm>
          <a:prstGeom prst="rect">
            <a:avLst/>
          </a:prstGeom>
        </p:spPr>
        <p:txBody>
          <a:bodyPr vert="horz" lIns="122400" tIns="60949" rIns="121899" bIns="720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직선 연결선 28">
            <a:extLst>
              <a:ext uri="{FF2B5EF4-FFF2-40B4-BE49-F238E27FC236}">
                <a16:creationId xmlns:a16="http://schemas.microsoft.com/office/drawing/2014/main" id="{322A3F68-7865-9941-98EA-BCC55BD2E7E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0" y="1044421"/>
            <a:ext cx="10972800" cy="0"/>
          </a:xfrm>
          <a:prstGeom prst="line">
            <a:avLst/>
          </a:prstGeom>
          <a:noFill/>
          <a:ln w="9525" cap="flat" cmpd="sng" algn="ctr">
            <a:solidFill>
              <a:srgbClr val="B49759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51435" tIns="25718" rIns="51435" bIns="25718" anchor="t" compatLnSpc="1"/>
          <a:lstStyle/>
          <a:p>
            <a:endParaRPr lang="en-US" sz="1013" dirty="0">
              <a:solidFill>
                <a:prstClr val="black"/>
              </a:solidFill>
            </a:endParaRPr>
          </a:p>
        </p:txBody>
      </p:sp>
      <p:sp>
        <p:nvSpPr>
          <p:cNvPr id="8" name="Slide Number Placeholder 5"/>
          <p:cNvSpPr txBox="1">
            <a:spLocks/>
          </p:cNvSpPr>
          <p:nvPr userDrawn="1"/>
        </p:nvSpPr>
        <p:spPr>
          <a:xfrm>
            <a:off x="612004" y="6453332"/>
            <a:ext cx="1669976" cy="219081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defPPr>
              <a:defRPr lang="en-US"/>
            </a:defPPr>
            <a:lvl1pPr marL="0" algn="r" defTabSz="1218987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 err="1">
                <a:solidFill>
                  <a:prstClr val="black">
                    <a:tint val="75000"/>
                  </a:prstClr>
                </a:solidFill>
              </a:rPr>
              <a:t>Datapath</a:t>
            </a:r>
            <a:r>
              <a:rPr lang="en-US" baseline="0" dirty="0">
                <a:solidFill>
                  <a:prstClr val="black">
                    <a:tint val="75000"/>
                  </a:prstClr>
                </a:solidFill>
              </a:rPr>
              <a:t> &amp; Control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5831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</p:sldLayoutIdLst>
  <p:hf sldNum="0" hdr="0" ftr="0" dt="0"/>
  <p:txStyles>
    <p:titleStyle>
      <a:lvl1pPr algn="l" defTabSz="1218987" rtl="0" eaLnBrk="1" latinLnBrk="0" hangingPunct="1">
        <a:spcBef>
          <a:spcPct val="0"/>
        </a:spcBef>
        <a:buNone/>
        <a:defRPr lang="en-US" sz="3600" b="1" kern="1200" dirty="0">
          <a:solidFill>
            <a:srgbClr val="18457D"/>
          </a:solidFill>
          <a:latin typeface="+mj-lt"/>
          <a:ea typeface="Lucida Sans" panose="020B0602030504020204" pitchFamily="34" charset="0"/>
          <a:cs typeface="Lucida Sans" panose="020B0602030504020204" pitchFamily="34" charset="0"/>
        </a:defRPr>
      </a:lvl1pPr>
    </p:titleStyle>
    <p:bodyStyle>
      <a:lvl1pPr marL="571500" indent="-571500" algn="l" defTabSz="1218987" rtl="0" eaLnBrk="1" latinLnBrk="0" hangingPunct="1">
        <a:spcBef>
          <a:spcPct val="20000"/>
        </a:spcBef>
        <a:spcAft>
          <a:spcPts val="200"/>
        </a:spcAft>
        <a:buClr>
          <a:srgbClr val="B49759"/>
        </a:buClr>
        <a:buSzPct val="90000"/>
        <a:buFont typeface="Wingdings" panose="05000000000000000000" pitchFamily="2" charset="2"/>
        <a:buChar char=""/>
        <a:defRPr lang="en-US" sz="3200" b="1" kern="1200" dirty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Lucida Sans" panose="020B0602030504020204" pitchFamily="34" charset="0"/>
        </a:defRPr>
      </a:lvl1pPr>
      <a:lvl2pPr marL="1123844" indent="-514350" algn="l" defTabSz="1218987" rtl="0" eaLnBrk="1" latinLnBrk="0" hangingPunct="1">
        <a:spcBef>
          <a:spcPct val="20000"/>
        </a:spcBef>
        <a:spcAft>
          <a:spcPts val="200"/>
        </a:spcAft>
        <a:buClr>
          <a:srgbClr val="B49759"/>
        </a:buClr>
        <a:buSzPct val="85000"/>
        <a:buFont typeface="Wingdings" panose="05000000000000000000" pitchFamily="2" charset="2"/>
        <a:buChar char="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Lucida Sans" panose="020B0602030504020204" pitchFamily="34" charset="0"/>
        </a:defRPr>
      </a:lvl2pPr>
      <a:lvl3pPr marL="1733336" indent="-514350" algn="l" defTabSz="1218987" rtl="0" eaLnBrk="1" latinLnBrk="0" hangingPunct="1">
        <a:spcBef>
          <a:spcPct val="20000"/>
        </a:spcBef>
        <a:spcAft>
          <a:spcPts val="200"/>
        </a:spcAft>
        <a:buClr>
          <a:srgbClr val="B49759"/>
        </a:buClr>
        <a:buSzPct val="85000"/>
        <a:buFont typeface="Wingdings" panose="05000000000000000000" pitchFamily="2" charset="2"/>
        <a:buChar char="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Lucida Sans" panose="020B0602030504020204" pitchFamily="34" charset="0"/>
        </a:defRPr>
      </a:lvl3pPr>
      <a:lvl4pPr marL="2285680" indent="-457200" algn="l" defTabSz="1218987" rtl="0" eaLnBrk="1" latinLnBrk="0" hangingPunct="1">
        <a:spcBef>
          <a:spcPct val="20000"/>
        </a:spcBef>
        <a:spcAft>
          <a:spcPts val="200"/>
        </a:spcAft>
        <a:buClr>
          <a:srgbClr val="B49759"/>
        </a:buClr>
        <a:buSzPct val="85000"/>
        <a:buFont typeface="Wingdings" panose="05000000000000000000" pitchFamily="2" charset="2"/>
        <a:buChar char="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Lucida Sans" panose="020B0602030504020204" pitchFamily="34" charset="0"/>
        </a:defRPr>
      </a:lvl4pPr>
      <a:lvl5pPr marL="2895173" indent="-457200" algn="l" defTabSz="1218987" rtl="0" eaLnBrk="1" latinLnBrk="0" hangingPunct="1">
        <a:spcBef>
          <a:spcPct val="20000"/>
        </a:spcBef>
        <a:spcAft>
          <a:spcPts val="200"/>
        </a:spcAft>
        <a:buClr>
          <a:srgbClr val="B49759"/>
        </a:buClr>
        <a:buSzPct val="85000"/>
        <a:buFont typeface="Wingdings" panose="05000000000000000000" pitchFamily="2" charset="2"/>
        <a:buChar char="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Lucida Sans" panose="020B0602030504020204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COMP2611 Computer organization</a:t>
            </a:r>
            <a:br>
              <a:rPr lang="en-US" dirty="0"/>
            </a:br>
            <a:r>
              <a:rPr lang="en-US" dirty="0"/>
              <a:t>the processor: </a:t>
            </a:r>
            <a:r>
              <a:rPr lang="en-US" dirty="0" err="1"/>
              <a:t>datapath</a:t>
            </a:r>
            <a:r>
              <a:rPr lang="en-US" dirty="0"/>
              <a:t> and control</a:t>
            </a:r>
          </a:p>
        </p:txBody>
      </p:sp>
    </p:spTree>
    <p:extLst>
      <p:ext uri="{BB962C8B-B14F-4D97-AF65-F5344CB8AC3E}">
        <p14:creationId xmlns:p14="http://schemas.microsoft.com/office/powerpoint/2010/main" val="194148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Major Goals	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新細明體" charset="-120"/>
              </a:rPr>
              <a:t>Present the design of MIPS processor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新細明體" charset="-120"/>
              </a:rPr>
              <a:t>A simplified version: </a:t>
            </a:r>
            <a:r>
              <a:rPr lang="en-GB" altLang="zh-TW" b="1" dirty="0">
                <a:solidFill>
                  <a:srgbClr val="CD3333"/>
                </a:solidFill>
                <a:ea typeface="新細明體" charset="-120"/>
              </a:rPr>
              <a:t>single-cycle implementation</a:t>
            </a:r>
            <a:endParaRPr lang="en-US" altLang="en-US" b="1" dirty="0">
              <a:solidFill>
                <a:srgbClr val="CD3333"/>
              </a:solidFill>
              <a:ea typeface="新細明體" charset="-120"/>
            </a:endParaRP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新細明體" charset="-120"/>
              </a:rPr>
              <a:t>A more realistic pipelined version: </a:t>
            </a:r>
            <a:r>
              <a:rPr lang="en-US" altLang="en-US" b="1" dirty="0">
                <a:solidFill>
                  <a:srgbClr val="CD3333"/>
                </a:solidFill>
                <a:ea typeface="新細明體" charset="-120"/>
              </a:rPr>
              <a:t>pipelined single-cycle implementation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 sz="2400" b="1" dirty="0">
              <a:solidFill>
                <a:srgbClr val="CD3333"/>
              </a:solidFill>
              <a:ea typeface="新細明體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Illustrate the </a:t>
            </a:r>
            <a:r>
              <a:rPr lang="en-US" altLang="en-US" b="1" dirty="0" err="1">
                <a:solidFill>
                  <a:srgbClr val="CD3333"/>
                </a:solidFill>
                <a:ea typeface="新細明體" charset="-120"/>
              </a:rPr>
              <a:t>datapath</a:t>
            </a:r>
            <a:r>
              <a:rPr lang="en-US" altLang="en-US" b="1" dirty="0">
                <a:solidFill>
                  <a:srgbClr val="CD3333"/>
                </a:solidFill>
                <a:ea typeface="新細明體" charset="-120"/>
              </a:rPr>
              <a:t> </a:t>
            </a:r>
            <a:r>
              <a:rPr lang="en-US" altLang="en-US" dirty="0"/>
              <a:t>&amp;</a:t>
            </a:r>
            <a:r>
              <a:rPr lang="en-US" altLang="en-US" b="1" dirty="0">
                <a:solidFill>
                  <a:srgbClr val="CD3333"/>
                </a:solidFill>
                <a:ea typeface="新細明體" charset="-120"/>
              </a:rPr>
              <a:t> control </a:t>
            </a:r>
            <a:r>
              <a:rPr lang="en-US" altLang="en-US" dirty="0"/>
              <a:t>in processor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Study pipeline </a:t>
            </a:r>
            <a:r>
              <a:rPr lang="en-US" altLang="en-US" b="1" dirty="0">
                <a:solidFill>
                  <a:srgbClr val="CD3333"/>
                </a:solidFill>
                <a:ea typeface="新細明體" charset="-120"/>
              </a:rPr>
              <a:t>hazards</a:t>
            </a:r>
            <a:r>
              <a:rPr lang="en-US" altLang="en-US" dirty="0"/>
              <a:t> and solutions</a:t>
            </a:r>
          </a:p>
          <a:p>
            <a:pPr eaLnBrk="1" hangingPunct="1">
              <a:lnSpc>
                <a:spcPct val="90000"/>
              </a:lnSpc>
            </a:pPr>
            <a:endParaRPr lang="en-US" altLang="en-US" dirty="0"/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ea typeface="新細明體" charset="-120"/>
              </a:rPr>
              <a:t>Focus on implementing of a subset of the core MIPS instruction set</a:t>
            </a:r>
          </a:p>
          <a:p>
            <a:pPr lvl="1"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b="1" dirty="0">
                <a:ea typeface="新細明體" charset="-120"/>
              </a:rPr>
              <a:t>Memory-reference instructions</a:t>
            </a:r>
            <a:r>
              <a:rPr lang="en-GB" altLang="zh-TW" dirty="0">
                <a:ea typeface="新細明體" charset="-120"/>
              </a:rPr>
              <a:t>: </a:t>
            </a:r>
            <a:r>
              <a:rPr lang="en-GB" altLang="zh-TW" b="1" dirty="0" err="1">
                <a:solidFill>
                  <a:srgbClr val="0000CC"/>
                </a:solidFill>
                <a:latin typeface="Courier New" charset="0"/>
                <a:ea typeface="新細明體" charset="-120"/>
              </a:rPr>
              <a:t>lw</a:t>
            </a:r>
            <a:r>
              <a:rPr lang="en-GB" altLang="zh-TW" dirty="0">
                <a:ea typeface="新細明體" charset="-120"/>
              </a:rPr>
              <a:t>, </a:t>
            </a:r>
            <a:r>
              <a:rPr lang="en-GB" altLang="zh-TW" b="1" dirty="0" err="1">
                <a:solidFill>
                  <a:srgbClr val="0000CC"/>
                </a:solidFill>
                <a:latin typeface="Courier New" charset="0"/>
                <a:ea typeface="新細明體" charset="-120"/>
              </a:rPr>
              <a:t>sw</a:t>
            </a:r>
            <a:endParaRPr lang="en-GB" altLang="zh-TW" b="1" dirty="0">
              <a:solidFill>
                <a:srgbClr val="0000CC"/>
              </a:solidFill>
              <a:latin typeface="Courier New" charset="0"/>
              <a:ea typeface="新細明體" charset="-120"/>
            </a:endParaRPr>
          </a:p>
          <a:p>
            <a:pPr lvl="1"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b="1" dirty="0">
                <a:ea typeface="新細明體" charset="-120"/>
              </a:rPr>
              <a:t>Arithmetic-logical instructions</a:t>
            </a:r>
            <a:r>
              <a:rPr lang="en-GB" altLang="zh-TW" dirty="0">
                <a:ea typeface="新細明體" charset="-120"/>
              </a:rPr>
              <a:t>: </a:t>
            </a:r>
            <a:r>
              <a:rPr lang="en-GB" altLang="zh-TW" b="1" dirty="0">
                <a:solidFill>
                  <a:srgbClr val="0000CC"/>
                </a:solidFill>
                <a:latin typeface="Courier New" charset="0"/>
                <a:ea typeface="新細明體" charset="-120"/>
              </a:rPr>
              <a:t>add</a:t>
            </a:r>
            <a:r>
              <a:rPr lang="en-GB" altLang="zh-TW" dirty="0">
                <a:ea typeface="新細明體" charset="-120"/>
              </a:rPr>
              <a:t>, </a:t>
            </a:r>
            <a:r>
              <a:rPr lang="en-GB" altLang="zh-TW" b="1" dirty="0">
                <a:solidFill>
                  <a:srgbClr val="0000CC"/>
                </a:solidFill>
                <a:latin typeface="Courier New" charset="0"/>
                <a:ea typeface="新細明體" charset="-120"/>
              </a:rPr>
              <a:t>sub</a:t>
            </a:r>
            <a:r>
              <a:rPr lang="en-GB" altLang="zh-TW" dirty="0">
                <a:ea typeface="新細明體" charset="-120"/>
              </a:rPr>
              <a:t>, </a:t>
            </a:r>
            <a:r>
              <a:rPr lang="en-GB" altLang="zh-TW" b="1" dirty="0">
                <a:solidFill>
                  <a:srgbClr val="0000CC"/>
                </a:solidFill>
                <a:latin typeface="Courier New" charset="0"/>
                <a:ea typeface="新細明體" charset="-120"/>
              </a:rPr>
              <a:t>and</a:t>
            </a:r>
            <a:r>
              <a:rPr lang="en-GB" altLang="zh-TW" dirty="0">
                <a:ea typeface="新細明體" charset="-120"/>
              </a:rPr>
              <a:t>, </a:t>
            </a:r>
            <a:r>
              <a:rPr lang="en-GB" altLang="zh-TW" b="1" dirty="0">
                <a:solidFill>
                  <a:srgbClr val="0000CC"/>
                </a:solidFill>
                <a:latin typeface="Courier New" charset="0"/>
                <a:ea typeface="新細明體" charset="-120"/>
              </a:rPr>
              <a:t>or</a:t>
            </a:r>
            <a:r>
              <a:rPr lang="en-GB" altLang="zh-TW" dirty="0">
                <a:ea typeface="新細明體" charset="-120"/>
              </a:rPr>
              <a:t>, </a:t>
            </a:r>
            <a:r>
              <a:rPr lang="en-GB" altLang="zh-TW" b="1" dirty="0" err="1">
                <a:solidFill>
                  <a:srgbClr val="0000CC"/>
                </a:solidFill>
                <a:latin typeface="Courier New" charset="0"/>
                <a:ea typeface="新細明體" charset="-120"/>
              </a:rPr>
              <a:t>slt</a:t>
            </a:r>
            <a:endParaRPr lang="en-GB" altLang="zh-TW" b="1" dirty="0">
              <a:solidFill>
                <a:srgbClr val="0000CC"/>
              </a:solidFill>
              <a:latin typeface="Courier New" charset="0"/>
              <a:ea typeface="新細明體" charset="-120"/>
            </a:endParaRPr>
          </a:p>
          <a:p>
            <a:pPr lvl="1">
              <a:buFont typeface="Wingdings" panose="05000000000000000000" pitchFamily="2" charset="2"/>
              <a:buChar char="Ø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b="1" dirty="0">
                <a:ea typeface="新細明體" charset="-120"/>
              </a:rPr>
              <a:t>Branch and jump instructions</a:t>
            </a:r>
            <a:r>
              <a:rPr lang="en-GB" altLang="zh-TW" dirty="0">
                <a:ea typeface="新細明體" charset="-120"/>
              </a:rPr>
              <a:t>: </a:t>
            </a:r>
            <a:r>
              <a:rPr lang="en-GB" altLang="zh-TW" b="1" dirty="0" err="1">
                <a:solidFill>
                  <a:srgbClr val="0000CC"/>
                </a:solidFill>
                <a:latin typeface="Courier New" charset="0"/>
                <a:ea typeface="新細明體" charset="-120"/>
              </a:rPr>
              <a:t>beq</a:t>
            </a:r>
            <a:r>
              <a:rPr lang="en-GB" altLang="zh-TW" dirty="0">
                <a:ea typeface="新細明體" charset="-120"/>
              </a:rPr>
              <a:t>, </a:t>
            </a:r>
            <a:r>
              <a:rPr lang="en-GB" altLang="zh-TW" b="1" dirty="0">
                <a:solidFill>
                  <a:srgbClr val="0000CC"/>
                </a:solidFill>
                <a:latin typeface="Courier New" charset="0"/>
                <a:ea typeface="新細明體" charset="-120"/>
              </a:rPr>
              <a:t>j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973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Single-cycle </a:t>
            </a:r>
            <a:r>
              <a:rPr lang="en-US" dirty="0" err="1"/>
              <a:t>Datapath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159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>
                <a:effectLst>
                  <a:outerShdw blurRad="38100" dist="38100" dir="2700000" algn="tl">
                    <a:srgbClr val="C0C0C0"/>
                  </a:outerShdw>
                </a:effectLst>
                <a:ea typeface="PMingLiU" pitchFamily="18" charset="-120"/>
              </a:rPr>
              <a:t>Big Picture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First, understand how an instruction is executed before the design</a:t>
            </a:r>
          </a:p>
          <a:p>
            <a:endParaRPr lang="en-US" dirty="0"/>
          </a:p>
          <a:p>
            <a:r>
              <a:rPr lang="en-US" dirty="0"/>
              <a:t>Then, split the execution of an instruction into multiple steps common to all instructions</a:t>
            </a:r>
          </a:p>
          <a:p>
            <a:endParaRPr lang="en-US" dirty="0"/>
          </a:p>
          <a:p>
            <a:r>
              <a:rPr lang="en-US" dirty="0"/>
              <a:t>Next, implement each part separately</a:t>
            </a:r>
          </a:p>
          <a:p>
            <a:endParaRPr lang="en-US" dirty="0"/>
          </a:p>
          <a:p>
            <a:r>
              <a:rPr lang="en-US" dirty="0"/>
              <a:t>Finally, put all these parts back together</a:t>
            </a:r>
          </a:p>
          <a:p>
            <a:endParaRPr lang="en-US" dirty="0"/>
          </a:p>
        </p:txBody>
      </p:sp>
      <p:sp>
        <p:nvSpPr>
          <p:cNvPr id="19" name="Slide Number Placeholder 5"/>
          <p:cNvSpPr txBox="1">
            <a:spLocks/>
          </p:cNvSpPr>
          <p:nvPr/>
        </p:nvSpPr>
        <p:spPr bwMode="auto">
          <a:xfrm>
            <a:off x="8382001" y="152401"/>
            <a:ext cx="1903413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457200" rtl="0" eaLnBrk="0" fontAlgn="base" hangingPunct="0">
              <a:lnSpc>
                <a:spcPct val="95000"/>
              </a:lnSpc>
              <a:spcBef>
                <a:spcPts val="875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rgbClr val="FFFFFF"/>
              </a:buClr>
              <a:buFont typeface="Tahoma" pitchFamily="34" charset="0"/>
              <a:buNone/>
            </a:pPr>
            <a:fld id="{CBA463BA-BC9A-46FD-A6F1-F87D2FAC3286}" type="slidenum">
              <a:rPr lang="zh-TW" altLang="en-GB" sz="1400">
                <a:solidFill>
                  <a:srgbClr val="FFFFFF"/>
                </a:solidFill>
                <a:latin typeface="Tahoma" pitchFamily="34" charset="0"/>
                <a:ea typeface="PMingLiU" pitchFamily="18" charset="-120"/>
              </a:rPr>
              <a:pPr>
                <a:lnSpc>
                  <a:spcPct val="100000"/>
                </a:lnSpc>
                <a:buClr>
                  <a:srgbClr val="FFFFFF"/>
                </a:buClr>
                <a:buFont typeface="Tahoma" pitchFamily="34" charset="0"/>
                <a:buNone/>
              </a:pPr>
              <a:t>4</a:t>
            </a:fld>
            <a:endParaRPr lang="en-GB" altLang="zh-TW" sz="1400">
              <a:solidFill>
                <a:srgbClr val="FFFFFF"/>
              </a:solidFill>
              <a:latin typeface="Tahoma" pitchFamily="34" charset="0"/>
              <a:ea typeface="PMingLiU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07105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dirty="0">
                <a:ea typeface="新細明體" charset="-120"/>
                <a:cs typeface="新細明體" charset="-120"/>
              </a:rPr>
              <a:t>How is an Instruction Executed?</a:t>
            </a:r>
          </a:p>
        </p:txBody>
      </p:sp>
      <p:sp>
        <p:nvSpPr>
          <p:cNvPr id="9218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81000" indent="-381000">
              <a:lnSpc>
                <a:spcPct val="90000"/>
              </a:lnSpc>
              <a:buFont typeface="Wingdings" charset="2"/>
              <a:buAutoNum type="arabicPeriod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solidFill>
                  <a:srgbClr val="CD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Fetch the instruction</a:t>
            </a:r>
            <a:r>
              <a:rPr lang="en-GB" altLang="zh-TW" dirty="0">
                <a:ea typeface="新細明體" charset="-120"/>
              </a:rPr>
              <a:t> from memory location indicated by </a:t>
            </a:r>
            <a:r>
              <a:rPr lang="en-GB" altLang="zh-TW" u="sng" dirty="0">
                <a:ea typeface="新細明體" charset="-120"/>
              </a:rPr>
              <a:t>program counter</a:t>
            </a:r>
            <a:r>
              <a:rPr lang="en-GB" altLang="zh-TW" dirty="0">
                <a:ea typeface="新細明體" charset="-120"/>
              </a:rPr>
              <a:t> (PC)</a:t>
            </a:r>
          </a:p>
          <a:p>
            <a:pPr marL="381000" indent="-381000">
              <a:lnSpc>
                <a:spcPct val="90000"/>
              </a:lnSpc>
              <a:buFont typeface="Wingdings" charset="2"/>
              <a:buAutoNum type="arabicPeriod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endParaRPr lang="en-GB" altLang="zh-TW" sz="1600" dirty="0">
              <a:ea typeface="新細明體" charset="-120"/>
            </a:endParaRPr>
          </a:p>
          <a:p>
            <a:pPr marL="381000" indent="-381000">
              <a:lnSpc>
                <a:spcPct val="90000"/>
              </a:lnSpc>
              <a:buFont typeface="Tahoma" charset="0"/>
              <a:buAutoNum type="arabicPeriod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solidFill>
                  <a:srgbClr val="CD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Decode the instruction</a:t>
            </a:r>
            <a:r>
              <a:rPr lang="en-GB" altLang="zh-TW" dirty="0">
                <a:ea typeface="新細明體" charset="-120"/>
              </a:rPr>
              <a:t> – to find out what to perform</a:t>
            </a:r>
          </a:p>
          <a:p>
            <a:pPr marL="381000" indent="-381000">
              <a:lnSpc>
                <a:spcPct val="90000"/>
              </a:lnSpc>
              <a:buNone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	Meanwhile, read </a:t>
            </a:r>
            <a:r>
              <a:rPr lang="en-GB" altLang="zh-TW" u="sng" dirty="0">
                <a:ea typeface="新細明體" charset="-120"/>
              </a:rPr>
              <a:t>source registers</a:t>
            </a:r>
            <a:r>
              <a:rPr lang="en-GB" altLang="zh-TW" dirty="0">
                <a:ea typeface="新細明體" charset="-120"/>
              </a:rPr>
              <a:t> specified in the instruction fields</a:t>
            </a:r>
          </a:p>
          <a:p>
            <a:pPr marL="785813" lvl="1" indent="-381000">
              <a:lnSpc>
                <a:spcPct val="90000"/>
              </a:lnSpc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b="1" dirty="0" err="1">
                <a:solidFill>
                  <a:srgbClr val="3333CC"/>
                </a:solidFill>
                <a:latin typeface="Courier New" charset="0"/>
                <a:ea typeface="新細明體" charset="-120"/>
              </a:rPr>
              <a:t>lw</a:t>
            </a:r>
            <a:r>
              <a:rPr lang="en-GB" altLang="zh-TW" dirty="0">
                <a:ea typeface="新細明體" charset="-120"/>
              </a:rPr>
              <a:t> instruction require reading only </a:t>
            </a:r>
            <a:r>
              <a:rPr lang="en-GB" altLang="zh-TW" u="sng" dirty="0">
                <a:ea typeface="新細明體" charset="-120"/>
              </a:rPr>
              <a:t>one</a:t>
            </a:r>
            <a:r>
              <a:rPr lang="en-GB" altLang="zh-TW" dirty="0">
                <a:ea typeface="新細明體" charset="-120"/>
              </a:rPr>
              <a:t> register</a:t>
            </a:r>
          </a:p>
          <a:p>
            <a:pPr marL="785813" lvl="1" indent="-381000">
              <a:lnSpc>
                <a:spcPct val="90000"/>
              </a:lnSpc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most other instructions require reading </a:t>
            </a:r>
            <a:r>
              <a:rPr lang="en-GB" altLang="zh-TW" u="sng" dirty="0">
                <a:solidFill>
                  <a:srgbClr val="CD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two</a:t>
            </a:r>
            <a:r>
              <a:rPr lang="en-GB" altLang="zh-TW" dirty="0">
                <a:solidFill>
                  <a:srgbClr val="FF0000"/>
                </a:solidFill>
                <a:ea typeface="新細明體" charset="-120"/>
              </a:rPr>
              <a:t> </a:t>
            </a:r>
            <a:r>
              <a:rPr lang="en-GB" altLang="zh-TW" dirty="0">
                <a:ea typeface="新細明體" charset="-120"/>
              </a:rPr>
              <a:t>registers</a:t>
            </a:r>
          </a:p>
          <a:p>
            <a:pPr marL="381000" indent="-381000">
              <a:lnSpc>
                <a:spcPct val="90000"/>
              </a:lnSpc>
              <a:buFont typeface="Wingdings" charset="2"/>
              <a:buAutoNum type="arabicPeriod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endParaRPr lang="en-GB" altLang="zh-TW" sz="1600" dirty="0">
              <a:solidFill>
                <a:srgbClr val="CD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新細明體" charset="-120"/>
            </a:endParaRPr>
          </a:p>
          <a:p>
            <a:pPr marL="381000" indent="-381000">
              <a:lnSpc>
                <a:spcPct val="90000"/>
              </a:lnSpc>
              <a:buFont typeface="Wingdings" charset="2"/>
              <a:buAutoNum type="arabicPeriod" startAt="3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solidFill>
                  <a:srgbClr val="CD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Perform the operation</a:t>
            </a:r>
            <a:r>
              <a:rPr lang="en-GB" altLang="zh-TW" dirty="0">
                <a:ea typeface="新細明體" charset="-120"/>
              </a:rPr>
              <a:t> required by the instruction using the ALU</a:t>
            </a:r>
          </a:p>
          <a:p>
            <a:pPr marL="785813" lvl="1" indent="-381000">
              <a:lnSpc>
                <a:spcPct val="90000"/>
              </a:lnSpc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Arithmetic &amp; logical instructions: execute</a:t>
            </a:r>
          </a:p>
          <a:p>
            <a:pPr marL="785813" lvl="1" indent="-381000">
              <a:lnSpc>
                <a:spcPct val="90000"/>
              </a:lnSpc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Memory-reference instructions: use ALU for address calculation</a:t>
            </a:r>
          </a:p>
          <a:p>
            <a:pPr marL="785813" lvl="1" indent="-381000">
              <a:lnSpc>
                <a:spcPct val="90000"/>
              </a:lnSpc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Conditional branch instructions: use ALU for comparison</a:t>
            </a:r>
          </a:p>
          <a:p>
            <a:pPr marL="381000" indent="-381000">
              <a:lnSpc>
                <a:spcPct val="90000"/>
              </a:lnSpc>
              <a:buFont typeface="Wingdings" charset="2"/>
              <a:buAutoNum type="arabicPeriod" startAt="3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endParaRPr lang="en-GB" altLang="zh-TW" sz="1600" dirty="0">
              <a:ea typeface="新細明體" charset="-120"/>
            </a:endParaRPr>
          </a:p>
          <a:p>
            <a:pPr marL="381000" indent="-381000">
              <a:lnSpc>
                <a:spcPct val="90000"/>
              </a:lnSpc>
              <a:buFont typeface="Tahoma" charset="0"/>
              <a:buAutoNum type="arabicPeriod" startAt="4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solidFill>
                  <a:srgbClr val="CD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Memory access</a:t>
            </a:r>
            <a:r>
              <a:rPr lang="en-GB" altLang="zh-TW" dirty="0">
                <a:ea typeface="新細明體" charset="-120"/>
              </a:rPr>
              <a:t>: </a:t>
            </a:r>
            <a:r>
              <a:rPr lang="en-GB" altLang="zh-TW" b="1" dirty="0" err="1">
                <a:solidFill>
                  <a:srgbClr val="3333CC"/>
                </a:solidFill>
                <a:latin typeface="Courier New" charset="0"/>
                <a:ea typeface="新細明體" charset="-120"/>
              </a:rPr>
              <a:t>lw</a:t>
            </a:r>
            <a:r>
              <a:rPr lang="en-GB" altLang="zh-TW" dirty="0">
                <a:ea typeface="新細明體" charset="-120"/>
              </a:rPr>
              <a:t> and </a:t>
            </a:r>
            <a:r>
              <a:rPr lang="en-GB" altLang="zh-TW" b="1" dirty="0" err="1">
                <a:solidFill>
                  <a:srgbClr val="3333CC"/>
                </a:solidFill>
                <a:latin typeface="Courier New" charset="0"/>
                <a:ea typeface="新細明體" charset="-120"/>
              </a:rPr>
              <a:t>sw</a:t>
            </a:r>
            <a:r>
              <a:rPr lang="en-GB" altLang="zh-TW" dirty="0">
                <a:ea typeface="新細明體" charset="-120"/>
              </a:rPr>
              <a:t> instructions </a:t>
            </a:r>
          </a:p>
          <a:p>
            <a:pPr marL="381000" indent="-381000">
              <a:lnSpc>
                <a:spcPct val="90000"/>
              </a:lnSpc>
              <a:buFont typeface="Wingdings" charset="2"/>
              <a:buAutoNum type="arabicPeriod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endParaRPr lang="en-GB" altLang="zh-TW" sz="1600" dirty="0">
              <a:ea typeface="新細明體" charset="-120"/>
            </a:endParaRPr>
          </a:p>
          <a:p>
            <a:pPr marL="381000" indent="-381000">
              <a:lnSpc>
                <a:spcPct val="90000"/>
              </a:lnSpc>
              <a:buFont typeface="Tahoma" charset="0"/>
              <a:buAutoNum type="arabicPeriod" startAt="5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solidFill>
                  <a:srgbClr val="CD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Write back the result</a:t>
            </a:r>
            <a:r>
              <a:rPr lang="en-GB" altLang="zh-TW" dirty="0">
                <a:ea typeface="新細明體" charset="-120"/>
              </a:rPr>
              <a:t> to the destination register</a:t>
            </a:r>
          </a:p>
          <a:p>
            <a:pPr marL="381000" indent="-381000">
              <a:lnSpc>
                <a:spcPct val="90000"/>
              </a:lnSpc>
              <a:buNone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	Increment PC by 4 or change PC to branch target address to find next instruction to be executed</a:t>
            </a:r>
          </a:p>
        </p:txBody>
      </p:sp>
    </p:spTree>
    <p:extLst>
      <p:ext uri="{BB962C8B-B14F-4D97-AF65-F5344CB8AC3E}">
        <p14:creationId xmlns:p14="http://schemas.microsoft.com/office/powerpoint/2010/main" val="21713548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dirty="0">
                <a:ea typeface="新細明體" charset="-120"/>
                <a:cs typeface="新細明體" charset="-120"/>
              </a:rPr>
              <a:t>MIPS Processor Overview</a:t>
            </a:r>
          </a:p>
        </p:txBody>
      </p:sp>
      <p:sp>
        <p:nvSpPr>
          <p:cNvPr id="40966" name="Rectangle 2"/>
          <p:cNvSpPr>
            <a:spLocks noGrp="1" noChangeArrowheads="1"/>
          </p:cNvSpPr>
          <p:nvPr>
            <p:ph idx="1"/>
          </p:nvPr>
        </p:nvSpPr>
        <p:spPr/>
        <p:txBody>
          <a:bodyPr vert="horz" lIns="92160" tIns="46080" rIns="92160" bIns="46080" rtlCol="0">
            <a:normAutofit/>
          </a:bodyPr>
          <a:lstStyle/>
          <a:p>
            <a:pP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TW" altLang="en-GB" dirty="0">
              <a:latin typeface="Arial" charset="0"/>
              <a:ea typeface="新細明體" charset="-120"/>
            </a:endParaRPr>
          </a:p>
          <a:p>
            <a:pP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TW" altLang="en-GB" dirty="0">
              <a:latin typeface="Arial" charset="0"/>
              <a:ea typeface="新細明體" charset="-120"/>
            </a:endParaRPr>
          </a:p>
          <a:p>
            <a:pP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TW" altLang="en-GB" dirty="0">
              <a:latin typeface="Arial" charset="0"/>
              <a:ea typeface="新細明體" charset="-120"/>
            </a:endParaRPr>
          </a:p>
        </p:txBody>
      </p:sp>
      <p:sp>
        <p:nvSpPr>
          <p:cNvPr id="40967" name="Line 4"/>
          <p:cNvSpPr>
            <a:spLocks noChangeShapeType="1"/>
          </p:cNvSpPr>
          <p:nvPr/>
        </p:nvSpPr>
        <p:spPr bwMode="auto">
          <a:xfrm>
            <a:off x="6553200" y="4103898"/>
            <a:ext cx="914400" cy="1587"/>
          </a:xfrm>
          <a:prstGeom prst="line">
            <a:avLst/>
          </a:prstGeom>
          <a:noFill/>
          <a:ln w="12600">
            <a:solidFill>
              <a:srgbClr val="402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68" name="Rectangle 5"/>
          <p:cNvSpPr>
            <a:spLocks noChangeArrowheads="1"/>
          </p:cNvSpPr>
          <p:nvPr/>
        </p:nvSpPr>
        <p:spPr bwMode="auto">
          <a:xfrm rot="-5400000">
            <a:off x="1850231" y="4382503"/>
            <a:ext cx="719138" cy="457200"/>
          </a:xfrm>
          <a:prstGeom prst="rect">
            <a:avLst/>
          </a:prstGeom>
          <a:solidFill>
            <a:srgbClr val="D9D9D9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lIns="90000" tIns="46800" rIns="90000" bIns="46800" anchor="ctr"/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2000">
                <a:solidFill>
                  <a:srgbClr val="402000"/>
                </a:solidFill>
                <a:latin typeface="Helvetica" charset="0"/>
                <a:ea typeface="新細明體" charset="-120"/>
              </a:rPr>
              <a:t>PC</a:t>
            </a:r>
          </a:p>
        </p:txBody>
      </p:sp>
      <p:sp>
        <p:nvSpPr>
          <p:cNvPr id="40969" name="Rectangle 6"/>
          <p:cNvSpPr>
            <a:spLocks noChangeArrowheads="1"/>
          </p:cNvSpPr>
          <p:nvPr/>
        </p:nvSpPr>
        <p:spPr bwMode="auto">
          <a:xfrm>
            <a:off x="2895600" y="4103898"/>
            <a:ext cx="1447800" cy="960437"/>
          </a:xfrm>
          <a:prstGeom prst="rect">
            <a:avLst/>
          </a:prstGeom>
          <a:solidFill>
            <a:srgbClr val="D1FFE8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0" name="Rectangle 9"/>
          <p:cNvSpPr>
            <a:spLocks noChangeArrowheads="1"/>
          </p:cNvSpPr>
          <p:nvPr/>
        </p:nvSpPr>
        <p:spPr bwMode="auto">
          <a:xfrm>
            <a:off x="5029200" y="3683210"/>
            <a:ext cx="1524000" cy="1801813"/>
          </a:xfrm>
          <a:prstGeom prst="rect">
            <a:avLst/>
          </a:prstGeom>
          <a:solidFill>
            <a:srgbClr val="FFFF99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71" name="Text Box 10"/>
          <p:cNvSpPr txBox="1">
            <a:spLocks noChangeArrowheads="1"/>
          </p:cNvSpPr>
          <p:nvPr/>
        </p:nvSpPr>
        <p:spPr bwMode="auto">
          <a:xfrm>
            <a:off x="5030789" y="3718135"/>
            <a:ext cx="71913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buFont typeface="Helvetica" charset="0"/>
              <a:buNone/>
            </a:pPr>
            <a:r>
              <a:rPr lang="en-GB" altLang="zh-TW" sz="2000">
                <a:solidFill>
                  <a:srgbClr val="402000"/>
                </a:solidFill>
                <a:latin typeface="Helvetica" charset="0"/>
                <a:ea typeface="新細明體" charset="-120"/>
              </a:rPr>
              <a:t>Data</a:t>
            </a:r>
          </a:p>
        </p:txBody>
      </p:sp>
      <p:sp>
        <p:nvSpPr>
          <p:cNvPr id="40972" name="Text Box 11"/>
          <p:cNvSpPr txBox="1">
            <a:spLocks noChangeArrowheads="1"/>
          </p:cNvSpPr>
          <p:nvPr/>
        </p:nvSpPr>
        <p:spPr bwMode="auto">
          <a:xfrm>
            <a:off x="5030789" y="4251535"/>
            <a:ext cx="9302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buFont typeface="Helvetica" charset="0"/>
              <a:buNone/>
            </a:pPr>
            <a:r>
              <a:rPr lang="en-GB" altLang="zh-TW" sz="2000">
                <a:solidFill>
                  <a:srgbClr val="402000"/>
                </a:solidFill>
                <a:latin typeface="Helvetica" charset="0"/>
                <a:ea typeface="新細明體" charset="-120"/>
              </a:rPr>
              <a:t>Reg. #</a:t>
            </a:r>
          </a:p>
        </p:txBody>
      </p:sp>
      <p:sp>
        <p:nvSpPr>
          <p:cNvPr id="40973" name="Text Box 12"/>
          <p:cNvSpPr txBox="1">
            <a:spLocks noChangeArrowheads="1"/>
          </p:cNvSpPr>
          <p:nvPr/>
        </p:nvSpPr>
        <p:spPr bwMode="auto">
          <a:xfrm>
            <a:off x="5030789" y="4632535"/>
            <a:ext cx="9302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buFont typeface="Helvetica" charset="0"/>
              <a:buNone/>
            </a:pPr>
            <a:r>
              <a:rPr lang="en-GB" altLang="zh-TW" sz="2000">
                <a:solidFill>
                  <a:srgbClr val="402000"/>
                </a:solidFill>
                <a:latin typeface="Helvetica" charset="0"/>
                <a:ea typeface="新細明體" charset="-120"/>
              </a:rPr>
              <a:t>Reg. #</a:t>
            </a:r>
          </a:p>
        </p:txBody>
      </p:sp>
      <p:sp>
        <p:nvSpPr>
          <p:cNvPr id="40974" name="Text Box 13"/>
          <p:cNvSpPr txBox="1">
            <a:spLocks noChangeArrowheads="1"/>
          </p:cNvSpPr>
          <p:nvPr/>
        </p:nvSpPr>
        <p:spPr bwMode="auto">
          <a:xfrm>
            <a:off x="5030789" y="5013535"/>
            <a:ext cx="93027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buFont typeface="Helvetica" charset="0"/>
              <a:buNone/>
            </a:pPr>
            <a:r>
              <a:rPr lang="en-GB" altLang="zh-TW" sz="2000">
                <a:solidFill>
                  <a:srgbClr val="402000"/>
                </a:solidFill>
                <a:latin typeface="Helvetica" charset="0"/>
                <a:ea typeface="新細明體" charset="-120"/>
              </a:rPr>
              <a:t>Reg. #</a:t>
            </a:r>
          </a:p>
        </p:txBody>
      </p:sp>
      <p:sp>
        <p:nvSpPr>
          <p:cNvPr id="10254" name="Text Box 14"/>
          <p:cNvSpPr txBox="1">
            <a:spLocks noChangeArrowheads="1"/>
          </p:cNvSpPr>
          <p:nvPr/>
        </p:nvSpPr>
        <p:spPr bwMode="auto">
          <a:xfrm>
            <a:off x="5029201" y="5523123"/>
            <a:ext cx="1350347" cy="40229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>
                <a:srgbClr val="3333CC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sz="2000" b="1">
                <a:solidFill>
                  <a:srgbClr val="3333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新細明體" charset="-120"/>
                <a:cs typeface="新細明體" charset="-120"/>
              </a:rPr>
              <a:t>Registers</a:t>
            </a:r>
          </a:p>
        </p:txBody>
      </p:sp>
      <p:sp>
        <p:nvSpPr>
          <p:cNvPr id="10255" name="Text Box 15"/>
          <p:cNvSpPr txBox="1">
            <a:spLocks noChangeArrowheads="1"/>
          </p:cNvSpPr>
          <p:nvPr/>
        </p:nvSpPr>
        <p:spPr bwMode="auto">
          <a:xfrm>
            <a:off x="2861819" y="5102435"/>
            <a:ext cx="1505838" cy="7100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buClr>
                <a:srgbClr val="3333CC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sz="2000" b="1">
                <a:solidFill>
                  <a:srgbClr val="3333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新細明體" charset="-120"/>
                <a:cs typeface="新細明體" charset="-120"/>
              </a:rPr>
              <a:t>Instruction</a:t>
            </a:r>
          </a:p>
          <a:p>
            <a:pPr algn="ctr">
              <a:buClr>
                <a:srgbClr val="3333CC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sz="2000" b="1">
                <a:solidFill>
                  <a:srgbClr val="3333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新細明體" charset="-120"/>
                <a:cs typeface="新細明體" charset="-120"/>
              </a:rPr>
              <a:t>Memory</a:t>
            </a:r>
          </a:p>
        </p:txBody>
      </p:sp>
      <p:sp>
        <p:nvSpPr>
          <p:cNvPr id="40977" name="Text Box 16"/>
          <p:cNvSpPr txBox="1">
            <a:spLocks noChangeArrowheads="1"/>
          </p:cNvSpPr>
          <p:nvPr/>
        </p:nvSpPr>
        <p:spPr bwMode="auto">
          <a:xfrm>
            <a:off x="2895600" y="4403935"/>
            <a:ext cx="788988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buFont typeface="Helvetica" charset="0"/>
              <a:buNone/>
            </a:pPr>
            <a:r>
              <a:rPr lang="en-GB" altLang="zh-TW" sz="2000">
                <a:solidFill>
                  <a:srgbClr val="402000"/>
                </a:solidFill>
                <a:latin typeface="Helvetica" charset="0"/>
                <a:ea typeface="新細明體" charset="-120"/>
              </a:rPr>
              <a:t>Addr.</a:t>
            </a:r>
          </a:p>
        </p:txBody>
      </p:sp>
      <p:sp>
        <p:nvSpPr>
          <p:cNvPr id="40978" name="Text Box 17"/>
          <p:cNvSpPr txBox="1">
            <a:spLocks noChangeArrowheads="1"/>
          </p:cNvSpPr>
          <p:nvPr/>
        </p:nvSpPr>
        <p:spPr bwMode="auto">
          <a:xfrm>
            <a:off x="3657601" y="4403935"/>
            <a:ext cx="735051" cy="4022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buFont typeface="Helvetica" charset="0"/>
              <a:buNone/>
            </a:pPr>
            <a:r>
              <a:rPr lang="en-GB" altLang="zh-TW" sz="2000">
                <a:solidFill>
                  <a:srgbClr val="402000"/>
                </a:solidFill>
                <a:latin typeface="Helvetica" charset="0"/>
                <a:ea typeface="新細明體" charset="-120"/>
              </a:rPr>
              <a:t>Instr.</a:t>
            </a:r>
          </a:p>
        </p:txBody>
      </p:sp>
      <p:sp>
        <p:nvSpPr>
          <p:cNvPr id="10258" name="Text Box 18"/>
          <p:cNvSpPr txBox="1">
            <a:spLocks noChangeArrowheads="1"/>
          </p:cNvSpPr>
          <p:nvPr/>
        </p:nvSpPr>
        <p:spPr bwMode="auto">
          <a:xfrm>
            <a:off x="7392989" y="5165935"/>
            <a:ext cx="710749" cy="40229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>
                <a:srgbClr val="3333CC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sz="2000" b="1">
                <a:solidFill>
                  <a:srgbClr val="3333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新細明體" charset="-120"/>
                <a:cs typeface="新細明體" charset="-120"/>
              </a:rPr>
              <a:t>ALU</a:t>
            </a:r>
          </a:p>
        </p:txBody>
      </p:sp>
      <p:sp>
        <p:nvSpPr>
          <p:cNvPr id="40980" name="Line 19"/>
          <p:cNvSpPr>
            <a:spLocks noChangeShapeType="1"/>
          </p:cNvSpPr>
          <p:nvPr/>
        </p:nvSpPr>
        <p:spPr bwMode="auto">
          <a:xfrm>
            <a:off x="8001000" y="4524584"/>
            <a:ext cx="457200" cy="1588"/>
          </a:xfrm>
          <a:prstGeom prst="line">
            <a:avLst/>
          </a:prstGeom>
          <a:noFill/>
          <a:ln w="12600">
            <a:solidFill>
              <a:srgbClr val="402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0981" name="Rectangle 20"/>
          <p:cNvSpPr>
            <a:spLocks noChangeArrowheads="1"/>
          </p:cNvSpPr>
          <p:nvPr/>
        </p:nvSpPr>
        <p:spPr bwMode="auto">
          <a:xfrm>
            <a:off x="8458200" y="4224548"/>
            <a:ext cx="1447800" cy="960437"/>
          </a:xfrm>
          <a:prstGeom prst="rect">
            <a:avLst/>
          </a:prstGeom>
          <a:solidFill>
            <a:srgbClr val="D1FFE8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8595140" y="5223085"/>
            <a:ext cx="1164399" cy="7100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buClr>
                <a:srgbClr val="3333CC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sz="2000" b="1">
                <a:solidFill>
                  <a:srgbClr val="3333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新細明體" charset="-120"/>
                <a:cs typeface="新細明體" charset="-120"/>
              </a:rPr>
              <a:t>Data</a:t>
            </a:r>
          </a:p>
          <a:p>
            <a:pPr algn="ctr">
              <a:buClr>
                <a:srgbClr val="3333CC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sz="2000" b="1">
                <a:solidFill>
                  <a:srgbClr val="3333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新細明體" charset="-120"/>
                <a:cs typeface="新細明體" charset="-120"/>
              </a:rPr>
              <a:t>Memory</a:t>
            </a:r>
          </a:p>
        </p:txBody>
      </p:sp>
      <p:sp>
        <p:nvSpPr>
          <p:cNvPr id="40983" name="Text Box 22"/>
          <p:cNvSpPr txBox="1">
            <a:spLocks noChangeArrowheads="1"/>
          </p:cNvSpPr>
          <p:nvPr/>
        </p:nvSpPr>
        <p:spPr bwMode="auto">
          <a:xfrm>
            <a:off x="8459789" y="4327735"/>
            <a:ext cx="788987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buFont typeface="Helvetica" charset="0"/>
              <a:buNone/>
            </a:pPr>
            <a:r>
              <a:rPr lang="en-GB" altLang="zh-TW" sz="2000">
                <a:solidFill>
                  <a:srgbClr val="402000"/>
                </a:solidFill>
                <a:latin typeface="Helvetica" charset="0"/>
                <a:ea typeface="新細明體" charset="-120"/>
              </a:rPr>
              <a:t>Addr.</a:t>
            </a:r>
          </a:p>
        </p:txBody>
      </p:sp>
      <p:sp>
        <p:nvSpPr>
          <p:cNvPr id="40984" name="Text Box 23"/>
          <p:cNvSpPr txBox="1">
            <a:spLocks noChangeArrowheads="1"/>
          </p:cNvSpPr>
          <p:nvPr/>
        </p:nvSpPr>
        <p:spPr bwMode="auto">
          <a:xfrm>
            <a:off x="8459789" y="4824622"/>
            <a:ext cx="719137" cy="398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buFont typeface="Helvetica" charset="0"/>
              <a:buNone/>
            </a:pPr>
            <a:r>
              <a:rPr lang="en-GB" altLang="zh-TW" sz="2000">
                <a:solidFill>
                  <a:srgbClr val="402000"/>
                </a:solidFill>
                <a:latin typeface="Helvetica" charset="0"/>
                <a:ea typeface="新細明體" charset="-120"/>
              </a:rPr>
              <a:t>Data</a:t>
            </a:r>
          </a:p>
        </p:txBody>
      </p:sp>
      <p:sp>
        <p:nvSpPr>
          <p:cNvPr id="40985" name="Oval 24"/>
          <p:cNvSpPr>
            <a:spLocks noChangeArrowheads="1"/>
          </p:cNvSpPr>
          <p:nvPr/>
        </p:nvSpPr>
        <p:spPr bwMode="auto">
          <a:xfrm>
            <a:off x="6672263" y="4918285"/>
            <a:ext cx="76200" cy="60325"/>
          </a:xfrm>
          <a:prstGeom prst="ellipse">
            <a:avLst/>
          </a:prstGeom>
          <a:solidFill>
            <a:srgbClr val="402000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86" name="Freeform 25"/>
          <p:cNvSpPr>
            <a:spLocks/>
          </p:cNvSpPr>
          <p:nvPr/>
        </p:nvSpPr>
        <p:spPr bwMode="auto">
          <a:xfrm>
            <a:off x="6705601" y="4943684"/>
            <a:ext cx="1751013" cy="1441450"/>
          </a:xfrm>
          <a:custGeom>
            <a:avLst/>
            <a:gdLst>
              <a:gd name="T0" fmla="*/ 0 w 1104"/>
              <a:gd name="T1" fmla="*/ 0 h 1152"/>
              <a:gd name="T2" fmla="*/ 0 w 1104"/>
              <a:gd name="T3" fmla="*/ 1152 h 1152"/>
              <a:gd name="T4" fmla="*/ 912 w 1104"/>
              <a:gd name="T5" fmla="*/ 1152 h 1152"/>
              <a:gd name="T6" fmla="*/ 912 w 1104"/>
              <a:gd name="T7" fmla="*/ 0 h 1152"/>
              <a:gd name="T8" fmla="*/ 1104 w 1104"/>
              <a:gd name="T9" fmla="*/ 0 h 11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04"/>
              <a:gd name="T16" fmla="*/ 0 h 1152"/>
              <a:gd name="T17" fmla="*/ 1104 w 1104"/>
              <a:gd name="T18" fmla="*/ 1152 h 11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04" h="1152">
                <a:moveTo>
                  <a:pt x="0" y="0"/>
                </a:moveTo>
                <a:lnTo>
                  <a:pt x="0" y="1152"/>
                </a:lnTo>
                <a:lnTo>
                  <a:pt x="912" y="1152"/>
                </a:lnTo>
                <a:lnTo>
                  <a:pt x="912" y="0"/>
                </a:lnTo>
                <a:lnTo>
                  <a:pt x="1104" y="0"/>
                </a:lnTo>
              </a:path>
            </a:pathLst>
          </a:custGeom>
          <a:noFill/>
          <a:ln w="12600">
            <a:solidFill>
              <a:srgbClr val="402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87" name="Freeform 26"/>
          <p:cNvSpPr>
            <a:spLocks/>
          </p:cNvSpPr>
          <p:nvPr/>
        </p:nvSpPr>
        <p:spPr bwMode="auto">
          <a:xfrm>
            <a:off x="4724400" y="3413334"/>
            <a:ext cx="2971800" cy="509588"/>
          </a:xfrm>
          <a:custGeom>
            <a:avLst/>
            <a:gdLst>
              <a:gd name="T0" fmla="*/ 2208 w 2208"/>
              <a:gd name="T1" fmla="*/ 0 h 432"/>
              <a:gd name="T2" fmla="*/ 0 w 2208"/>
              <a:gd name="T3" fmla="*/ 0 h 432"/>
              <a:gd name="T4" fmla="*/ 0 w 2208"/>
              <a:gd name="T5" fmla="*/ 432 h 432"/>
              <a:gd name="T6" fmla="*/ 240 w 2208"/>
              <a:gd name="T7" fmla="*/ 432 h 432"/>
              <a:gd name="T8" fmla="*/ 0 60000 65536"/>
              <a:gd name="T9" fmla="*/ 0 60000 65536"/>
              <a:gd name="T10" fmla="*/ 0 60000 65536"/>
              <a:gd name="T11" fmla="*/ 0 60000 65536"/>
              <a:gd name="T12" fmla="*/ 0 w 2208"/>
              <a:gd name="T13" fmla="*/ 0 h 432"/>
              <a:gd name="T14" fmla="*/ 2208 w 2208"/>
              <a:gd name="T15" fmla="*/ 432 h 4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208" h="432">
                <a:moveTo>
                  <a:pt x="2208" y="0"/>
                </a:moveTo>
                <a:lnTo>
                  <a:pt x="0" y="0"/>
                </a:lnTo>
                <a:lnTo>
                  <a:pt x="0" y="432"/>
                </a:lnTo>
                <a:lnTo>
                  <a:pt x="240" y="432"/>
                </a:lnTo>
              </a:path>
            </a:pathLst>
          </a:custGeom>
          <a:noFill/>
          <a:ln w="12600">
            <a:solidFill>
              <a:srgbClr val="402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88" name="Freeform 27"/>
          <p:cNvSpPr>
            <a:spLocks/>
          </p:cNvSpPr>
          <p:nvPr/>
        </p:nvSpPr>
        <p:spPr bwMode="auto">
          <a:xfrm>
            <a:off x="7848600" y="3260934"/>
            <a:ext cx="2362200" cy="1443038"/>
          </a:xfrm>
          <a:custGeom>
            <a:avLst/>
            <a:gdLst>
              <a:gd name="T0" fmla="*/ 1296 w 1488"/>
              <a:gd name="T1" fmla="*/ 1056 h 1056"/>
              <a:gd name="T2" fmla="*/ 1488 w 1488"/>
              <a:gd name="T3" fmla="*/ 1056 h 1056"/>
              <a:gd name="T4" fmla="*/ 1488 w 1488"/>
              <a:gd name="T5" fmla="*/ 0 h 1056"/>
              <a:gd name="T6" fmla="*/ 0 w 1488"/>
              <a:gd name="T7" fmla="*/ 0 h 1056"/>
              <a:gd name="T8" fmla="*/ 0 60000 65536"/>
              <a:gd name="T9" fmla="*/ 0 60000 65536"/>
              <a:gd name="T10" fmla="*/ 0 60000 65536"/>
              <a:gd name="T11" fmla="*/ 0 60000 65536"/>
              <a:gd name="T12" fmla="*/ 0 w 1488"/>
              <a:gd name="T13" fmla="*/ 0 h 1056"/>
              <a:gd name="T14" fmla="*/ 1488 w 1488"/>
              <a:gd name="T15" fmla="*/ 1056 h 105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88" h="1056">
                <a:moveTo>
                  <a:pt x="1296" y="1056"/>
                </a:moveTo>
                <a:lnTo>
                  <a:pt x="1488" y="1056"/>
                </a:lnTo>
                <a:lnTo>
                  <a:pt x="1488" y="0"/>
                </a:lnTo>
                <a:lnTo>
                  <a:pt x="0" y="0"/>
                </a:lnTo>
              </a:path>
            </a:pathLst>
          </a:custGeom>
          <a:noFill/>
          <a:ln w="12600">
            <a:solidFill>
              <a:srgbClr val="402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89" name="Oval 28"/>
          <p:cNvSpPr>
            <a:spLocks noChangeArrowheads="1"/>
          </p:cNvSpPr>
          <p:nvPr/>
        </p:nvSpPr>
        <p:spPr bwMode="auto">
          <a:xfrm>
            <a:off x="8107363" y="4486485"/>
            <a:ext cx="76200" cy="60325"/>
          </a:xfrm>
          <a:prstGeom prst="ellipse">
            <a:avLst/>
          </a:prstGeom>
          <a:solidFill>
            <a:srgbClr val="402000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90" name="AutoShape 29"/>
          <p:cNvSpPr>
            <a:spLocks noChangeArrowheads="1"/>
          </p:cNvSpPr>
          <p:nvPr/>
        </p:nvSpPr>
        <p:spPr bwMode="auto">
          <a:xfrm rot="-5400000">
            <a:off x="3097213" y="2687847"/>
            <a:ext cx="1358900" cy="523875"/>
          </a:xfrm>
          <a:custGeom>
            <a:avLst/>
            <a:gdLst>
              <a:gd name="T0" fmla="*/ 1189038 w 21600"/>
              <a:gd name="T1" fmla="*/ 261938 h 21600"/>
              <a:gd name="T2" fmla="*/ 679450 w 21600"/>
              <a:gd name="T3" fmla="*/ 523875 h 21600"/>
              <a:gd name="T4" fmla="*/ 169863 w 21600"/>
              <a:gd name="T5" fmla="*/ 261938 h 21600"/>
              <a:gd name="T6" fmla="*/ 67945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ECA07A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91" name="AutoShape 30"/>
          <p:cNvSpPr>
            <a:spLocks noChangeArrowheads="1"/>
          </p:cNvSpPr>
          <p:nvPr/>
        </p:nvSpPr>
        <p:spPr bwMode="auto">
          <a:xfrm rot="16200000" flipV="1">
            <a:off x="3479801" y="2827547"/>
            <a:ext cx="314325" cy="241300"/>
          </a:xfrm>
          <a:prstGeom prst="triangle">
            <a:avLst>
              <a:gd name="adj" fmla="val 50000"/>
            </a:avLst>
          </a:prstGeom>
          <a:solidFill>
            <a:srgbClr val="FBFAE2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92" name="AutoShape 31"/>
          <p:cNvSpPr>
            <a:spLocks noChangeArrowheads="1"/>
          </p:cNvSpPr>
          <p:nvPr/>
        </p:nvSpPr>
        <p:spPr bwMode="auto">
          <a:xfrm rot="16200000" flipV="1">
            <a:off x="3202782" y="2788653"/>
            <a:ext cx="628650" cy="322263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40993" name="AutoShape 32"/>
          <p:cNvCxnSpPr>
            <a:cxnSpLocks noChangeShapeType="1"/>
          </p:cNvCxnSpPr>
          <p:nvPr/>
        </p:nvCxnSpPr>
        <p:spPr bwMode="auto">
          <a:xfrm>
            <a:off x="3048000" y="3351423"/>
            <a:ext cx="458788" cy="1587"/>
          </a:xfrm>
          <a:prstGeom prst="straightConnector1">
            <a:avLst/>
          </a:prstGeom>
          <a:noFill/>
          <a:ln w="12600">
            <a:solidFill>
              <a:srgbClr val="402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  <p:sp>
        <p:nvSpPr>
          <p:cNvPr id="40994" name="Text Box 33"/>
          <p:cNvSpPr txBox="1">
            <a:spLocks noChangeArrowheads="1"/>
          </p:cNvSpPr>
          <p:nvPr/>
        </p:nvSpPr>
        <p:spPr bwMode="auto">
          <a:xfrm>
            <a:off x="2744788" y="3170447"/>
            <a:ext cx="353280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buFont typeface="Helvetica" charset="0"/>
              <a:buNone/>
            </a:pPr>
            <a:r>
              <a:rPr lang="en-GB" altLang="zh-TW">
                <a:solidFill>
                  <a:srgbClr val="402000"/>
                </a:solidFill>
                <a:latin typeface="Helvetica" charset="0"/>
                <a:ea typeface="新細明體" charset="-120"/>
              </a:rPr>
              <a:t>4</a:t>
            </a:r>
          </a:p>
        </p:txBody>
      </p:sp>
      <p:sp>
        <p:nvSpPr>
          <p:cNvPr id="40995" name="Freeform 34"/>
          <p:cNvSpPr>
            <a:spLocks/>
          </p:cNvSpPr>
          <p:nvPr/>
        </p:nvSpPr>
        <p:spPr bwMode="auto">
          <a:xfrm>
            <a:off x="2590800" y="2498934"/>
            <a:ext cx="914400" cy="2133600"/>
          </a:xfrm>
          <a:custGeom>
            <a:avLst/>
            <a:gdLst>
              <a:gd name="T0" fmla="*/ 0 w 576"/>
              <a:gd name="T1" fmla="*/ 1488 h 1488"/>
              <a:gd name="T2" fmla="*/ 0 w 576"/>
              <a:gd name="T3" fmla="*/ 0 h 1488"/>
              <a:gd name="T4" fmla="*/ 576 w 576"/>
              <a:gd name="T5" fmla="*/ 0 h 1488"/>
              <a:gd name="T6" fmla="*/ 0 60000 65536"/>
              <a:gd name="T7" fmla="*/ 0 60000 65536"/>
              <a:gd name="T8" fmla="*/ 0 60000 65536"/>
              <a:gd name="T9" fmla="*/ 0 w 576"/>
              <a:gd name="T10" fmla="*/ 0 h 1488"/>
              <a:gd name="T11" fmla="*/ 576 w 576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1488">
                <a:moveTo>
                  <a:pt x="0" y="1488"/>
                </a:moveTo>
                <a:lnTo>
                  <a:pt x="0" y="0"/>
                </a:lnTo>
                <a:lnTo>
                  <a:pt x="576" y="0"/>
                </a:lnTo>
              </a:path>
            </a:pathLst>
          </a:custGeom>
          <a:noFill/>
          <a:ln w="12600">
            <a:solidFill>
              <a:srgbClr val="402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6" name="Oval 35"/>
          <p:cNvSpPr>
            <a:spLocks noChangeArrowheads="1"/>
          </p:cNvSpPr>
          <p:nvPr/>
        </p:nvSpPr>
        <p:spPr bwMode="auto">
          <a:xfrm flipH="1" flipV="1">
            <a:off x="2590800" y="4556334"/>
            <a:ext cx="76200" cy="76200"/>
          </a:xfrm>
          <a:prstGeom prst="ellipse">
            <a:avLst/>
          </a:prstGeom>
          <a:solidFill>
            <a:srgbClr val="402000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97" name="Freeform 36"/>
          <p:cNvSpPr>
            <a:spLocks/>
          </p:cNvSpPr>
          <p:nvPr/>
        </p:nvSpPr>
        <p:spPr bwMode="auto">
          <a:xfrm>
            <a:off x="6858000" y="2879934"/>
            <a:ext cx="1219200" cy="3200400"/>
          </a:xfrm>
          <a:custGeom>
            <a:avLst/>
            <a:gdLst>
              <a:gd name="T0" fmla="*/ 0 w 576"/>
              <a:gd name="T1" fmla="*/ 1296 h 1296"/>
              <a:gd name="T2" fmla="*/ 0 w 576"/>
              <a:gd name="T3" fmla="*/ 0 h 1296"/>
              <a:gd name="T4" fmla="*/ 576 w 576"/>
              <a:gd name="T5" fmla="*/ 0 h 1296"/>
              <a:gd name="T6" fmla="*/ 0 60000 65536"/>
              <a:gd name="T7" fmla="*/ 0 60000 65536"/>
              <a:gd name="T8" fmla="*/ 0 60000 65536"/>
              <a:gd name="T9" fmla="*/ 0 w 576"/>
              <a:gd name="T10" fmla="*/ 0 h 1296"/>
              <a:gd name="T11" fmla="*/ 576 w 576"/>
              <a:gd name="T12" fmla="*/ 1296 h 12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6" h="1296">
                <a:moveTo>
                  <a:pt x="0" y="1296"/>
                </a:moveTo>
                <a:lnTo>
                  <a:pt x="0" y="0"/>
                </a:lnTo>
                <a:lnTo>
                  <a:pt x="576" y="0"/>
                </a:lnTo>
              </a:path>
            </a:pathLst>
          </a:custGeom>
          <a:noFill/>
          <a:ln w="12600">
            <a:solidFill>
              <a:srgbClr val="402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98" name="Oval 37"/>
          <p:cNvSpPr>
            <a:spLocks noChangeArrowheads="1"/>
          </p:cNvSpPr>
          <p:nvPr/>
        </p:nvSpPr>
        <p:spPr bwMode="auto">
          <a:xfrm>
            <a:off x="7086600" y="2727534"/>
            <a:ext cx="457200" cy="304800"/>
          </a:xfrm>
          <a:prstGeom prst="ellipse">
            <a:avLst/>
          </a:prstGeom>
          <a:solidFill>
            <a:srgbClr val="D9D9D9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0999" name="Line 39"/>
          <p:cNvSpPr>
            <a:spLocks noChangeShapeType="1"/>
          </p:cNvSpPr>
          <p:nvPr/>
        </p:nvSpPr>
        <p:spPr bwMode="auto">
          <a:xfrm flipV="1">
            <a:off x="4724400" y="4402348"/>
            <a:ext cx="1588" cy="739775"/>
          </a:xfrm>
          <a:prstGeom prst="line">
            <a:avLst/>
          </a:prstGeom>
          <a:noFill/>
          <a:ln w="12600">
            <a:solidFill>
              <a:srgbClr val="402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0" name="Line 40"/>
          <p:cNvSpPr>
            <a:spLocks noChangeShapeType="1"/>
          </p:cNvSpPr>
          <p:nvPr/>
        </p:nvSpPr>
        <p:spPr bwMode="auto">
          <a:xfrm>
            <a:off x="4724400" y="4403934"/>
            <a:ext cx="304800" cy="1588"/>
          </a:xfrm>
          <a:prstGeom prst="line">
            <a:avLst/>
          </a:prstGeom>
          <a:noFill/>
          <a:ln w="12600">
            <a:solidFill>
              <a:srgbClr val="402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1" name="Line 41"/>
          <p:cNvSpPr>
            <a:spLocks noChangeShapeType="1"/>
          </p:cNvSpPr>
          <p:nvPr/>
        </p:nvSpPr>
        <p:spPr bwMode="auto">
          <a:xfrm>
            <a:off x="4724400" y="4784934"/>
            <a:ext cx="304800" cy="1588"/>
          </a:xfrm>
          <a:prstGeom prst="line">
            <a:avLst/>
          </a:prstGeom>
          <a:noFill/>
          <a:ln w="12600">
            <a:solidFill>
              <a:srgbClr val="402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2" name="Line 42"/>
          <p:cNvSpPr>
            <a:spLocks noChangeShapeType="1"/>
          </p:cNvSpPr>
          <p:nvPr/>
        </p:nvSpPr>
        <p:spPr bwMode="auto">
          <a:xfrm>
            <a:off x="4724400" y="5165934"/>
            <a:ext cx="304800" cy="1588"/>
          </a:xfrm>
          <a:prstGeom prst="line">
            <a:avLst/>
          </a:prstGeom>
          <a:noFill/>
          <a:ln w="12600">
            <a:solidFill>
              <a:srgbClr val="402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3" name="Line 43"/>
          <p:cNvSpPr>
            <a:spLocks noChangeShapeType="1"/>
          </p:cNvSpPr>
          <p:nvPr/>
        </p:nvSpPr>
        <p:spPr bwMode="auto">
          <a:xfrm flipH="1">
            <a:off x="4341814" y="4632534"/>
            <a:ext cx="384175" cy="1588"/>
          </a:xfrm>
          <a:prstGeom prst="line">
            <a:avLst/>
          </a:prstGeom>
          <a:noFill/>
          <a:ln w="12600">
            <a:solidFill>
              <a:srgbClr val="402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4" name="Freeform 44"/>
          <p:cNvSpPr>
            <a:spLocks noChangeArrowheads="1"/>
          </p:cNvSpPr>
          <p:nvPr/>
        </p:nvSpPr>
        <p:spPr bwMode="auto">
          <a:xfrm>
            <a:off x="4724400" y="4943685"/>
            <a:ext cx="2133600" cy="1141413"/>
          </a:xfrm>
          <a:custGeom>
            <a:avLst/>
            <a:gdLst>
              <a:gd name="T0" fmla="*/ 0 w 1440"/>
              <a:gd name="T1" fmla="*/ 144 h 912"/>
              <a:gd name="T2" fmla="*/ 0 w 1440"/>
              <a:gd name="T3" fmla="*/ 912 h 912"/>
              <a:gd name="T4" fmla="*/ 1440 w 1440"/>
              <a:gd name="T5" fmla="*/ 912 h 912"/>
              <a:gd name="T6" fmla="*/ 1440 w 1440"/>
              <a:gd name="T7" fmla="*/ 0 h 912"/>
              <a:gd name="T8" fmla="*/ 0 60000 65536"/>
              <a:gd name="T9" fmla="*/ 0 60000 65536"/>
              <a:gd name="T10" fmla="*/ 0 60000 65536"/>
              <a:gd name="T11" fmla="*/ 0 60000 65536"/>
              <a:gd name="T12" fmla="*/ 0 w 1440"/>
              <a:gd name="T13" fmla="*/ 0 h 912"/>
              <a:gd name="T14" fmla="*/ 1440 w 1440"/>
              <a:gd name="T15" fmla="*/ 912 h 91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40" h="912">
                <a:moveTo>
                  <a:pt x="0" y="144"/>
                </a:moveTo>
                <a:lnTo>
                  <a:pt x="0" y="912"/>
                </a:lnTo>
                <a:lnTo>
                  <a:pt x="1440" y="912"/>
                </a:lnTo>
                <a:lnTo>
                  <a:pt x="1440" y="0"/>
                </a:lnTo>
              </a:path>
            </a:pathLst>
          </a:custGeom>
          <a:noFill/>
          <a:ln w="12600">
            <a:solidFill>
              <a:srgbClr val="402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5" name="Oval 45"/>
          <p:cNvSpPr>
            <a:spLocks noChangeArrowheads="1"/>
          </p:cNvSpPr>
          <p:nvPr/>
        </p:nvSpPr>
        <p:spPr bwMode="auto">
          <a:xfrm>
            <a:off x="5486400" y="5927934"/>
            <a:ext cx="457200" cy="304800"/>
          </a:xfrm>
          <a:prstGeom prst="ellipse">
            <a:avLst/>
          </a:prstGeom>
          <a:solidFill>
            <a:srgbClr val="C0C0C0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06" name="Line 46"/>
          <p:cNvSpPr>
            <a:spLocks noChangeShapeType="1"/>
          </p:cNvSpPr>
          <p:nvPr/>
        </p:nvSpPr>
        <p:spPr bwMode="auto">
          <a:xfrm>
            <a:off x="8610600" y="2422734"/>
            <a:ext cx="381000" cy="1588"/>
          </a:xfrm>
          <a:prstGeom prst="line">
            <a:avLst/>
          </a:prstGeom>
          <a:noFill/>
          <a:ln w="12600">
            <a:solidFill>
              <a:srgbClr val="402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07" name="Freeform 47"/>
          <p:cNvSpPr>
            <a:spLocks/>
          </p:cNvSpPr>
          <p:nvPr/>
        </p:nvSpPr>
        <p:spPr bwMode="auto">
          <a:xfrm>
            <a:off x="6934200" y="1660734"/>
            <a:ext cx="2057400" cy="304800"/>
          </a:xfrm>
          <a:custGeom>
            <a:avLst/>
            <a:gdLst>
              <a:gd name="T0" fmla="*/ 0 w 2832"/>
              <a:gd name="T1" fmla="*/ 288 h 288"/>
              <a:gd name="T2" fmla="*/ 0 w 2832"/>
              <a:gd name="T3" fmla="*/ 0 h 288"/>
              <a:gd name="T4" fmla="*/ 2832 w 2832"/>
              <a:gd name="T5" fmla="*/ 0 h 288"/>
              <a:gd name="T6" fmla="*/ 0 60000 65536"/>
              <a:gd name="T7" fmla="*/ 0 60000 65536"/>
              <a:gd name="T8" fmla="*/ 0 60000 65536"/>
              <a:gd name="T9" fmla="*/ 0 w 2832"/>
              <a:gd name="T10" fmla="*/ 0 h 288"/>
              <a:gd name="T11" fmla="*/ 2832 w 2832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32" h="288">
                <a:moveTo>
                  <a:pt x="0" y="288"/>
                </a:moveTo>
                <a:lnTo>
                  <a:pt x="0" y="0"/>
                </a:lnTo>
                <a:lnTo>
                  <a:pt x="2832" y="0"/>
                </a:lnTo>
              </a:path>
            </a:pathLst>
          </a:custGeom>
          <a:noFill/>
          <a:ln w="12600">
            <a:solidFill>
              <a:srgbClr val="402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08" name="Oval 48"/>
          <p:cNvSpPr>
            <a:spLocks noChangeArrowheads="1"/>
          </p:cNvSpPr>
          <p:nvPr/>
        </p:nvSpPr>
        <p:spPr bwMode="auto">
          <a:xfrm>
            <a:off x="6899275" y="1924260"/>
            <a:ext cx="76200" cy="60325"/>
          </a:xfrm>
          <a:prstGeom prst="ellipse">
            <a:avLst/>
          </a:prstGeom>
          <a:solidFill>
            <a:srgbClr val="402000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09" name="Freeform 49"/>
          <p:cNvSpPr>
            <a:spLocks/>
          </p:cNvSpPr>
          <p:nvPr/>
        </p:nvSpPr>
        <p:spPr bwMode="auto">
          <a:xfrm>
            <a:off x="2209800" y="1203534"/>
            <a:ext cx="7467600" cy="3048000"/>
          </a:xfrm>
          <a:custGeom>
            <a:avLst/>
            <a:gdLst>
              <a:gd name="T0" fmla="*/ 4608 w 4800"/>
              <a:gd name="T1" fmla="*/ 528 h 1920"/>
              <a:gd name="T2" fmla="*/ 4800 w 4800"/>
              <a:gd name="T3" fmla="*/ 528 h 1920"/>
              <a:gd name="T4" fmla="*/ 4800 w 4800"/>
              <a:gd name="T5" fmla="*/ 0 h 1920"/>
              <a:gd name="T6" fmla="*/ 0 w 4800"/>
              <a:gd name="T7" fmla="*/ 0 h 1920"/>
              <a:gd name="T8" fmla="*/ 0 w 4800"/>
              <a:gd name="T9" fmla="*/ 1920 h 192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800"/>
              <a:gd name="T16" fmla="*/ 0 h 1920"/>
              <a:gd name="T17" fmla="*/ 4800 w 4800"/>
              <a:gd name="T18" fmla="*/ 1920 h 192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800" h="1920">
                <a:moveTo>
                  <a:pt x="4608" y="528"/>
                </a:moveTo>
                <a:lnTo>
                  <a:pt x="4800" y="528"/>
                </a:lnTo>
                <a:lnTo>
                  <a:pt x="4800" y="0"/>
                </a:lnTo>
                <a:lnTo>
                  <a:pt x="0" y="0"/>
                </a:lnTo>
                <a:lnTo>
                  <a:pt x="0" y="1920"/>
                </a:lnTo>
              </a:path>
            </a:pathLst>
          </a:custGeom>
          <a:noFill/>
          <a:ln w="12600">
            <a:solidFill>
              <a:srgbClr val="402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0" name="Line 52"/>
          <p:cNvSpPr>
            <a:spLocks noChangeShapeType="1"/>
          </p:cNvSpPr>
          <p:nvPr/>
        </p:nvSpPr>
        <p:spPr bwMode="auto">
          <a:xfrm flipV="1">
            <a:off x="4295775" y="1963948"/>
            <a:ext cx="1588" cy="993775"/>
          </a:xfrm>
          <a:prstGeom prst="line">
            <a:avLst/>
          </a:prstGeom>
          <a:noFill/>
          <a:ln w="12600">
            <a:solidFill>
              <a:srgbClr val="402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11" name="Line 53"/>
          <p:cNvSpPr>
            <a:spLocks noChangeShapeType="1"/>
          </p:cNvSpPr>
          <p:nvPr/>
        </p:nvSpPr>
        <p:spPr bwMode="auto">
          <a:xfrm>
            <a:off x="4295775" y="1965534"/>
            <a:ext cx="3779838" cy="1588"/>
          </a:xfrm>
          <a:prstGeom prst="line">
            <a:avLst/>
          </a:prstGeom>
          <a:noFill/>
          <a:ln w="12600">
            <a:solidFill>
              <a:srgbClr val="402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12" name="Line 54"/>
          <p:cNvSpPr>
            <a:spLocks noChangeShapeType="1"/>
          </p:cNvSpPr>
          <p:nvPr/>
        </p:nvSpPr>
        <p:spPr bwMode="auto">
          <a:xfrm>
            <a:off x="4038601" y="2956134"/>
            <a:ext cx="257175" cy="1588"/>
          </a:xfrm>
          <a:prstGeom prst="line">
            <a:avLst/>
          </a:prstGeom>
          <a:noFill/>
          <a:ln w="12600">
            <a:solidFill>
              <a:srgbClr val="402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13" name="Oval 55"/>
          <p:cNvSpPr>
            <a:spLocks noChangeArrowheads="1"/>
          </p:cNvSpPr>
          <p:nvPr/>
        </p:nvSpPr>
        <p:spPr bwMode="auto">
          <a:xfrm rot="-5340000">
            <a:off x="8534400" y="1814722"/>
            <a:ext cx="1219200" cy="457200"/>
          </a:xfrm>
          <a:prstGeom prst="ellipse">
            <a:avLst/>
          </a:prstGeom>
          <a:solidFill>
            <a:srgbClr val="D9D9D9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14" name="AutoShape 56"/>
          <p:cNvSpPr>
            <a:spLocks noChangeArrowheads="1"/>
          </p:cNvSpPr>
          <p:nvPr/>
        </p:nvSpPr>
        <p:spPr bwMode="auto">
          <a:xfrm rot="-5400000">
            <a:off x="7059613" y="4288047"/>
            <a:ext cx="1358900" cy="523875"/>
          </a:xfrm>
          <a:custGeom>
            <a:avLst/>
            <a:gdLst>
              <a:gd name="T0" fmla="*/ 1189038 w 21600"/>
              <a:gd name="T1" fmla="*/ 261938 h 21600"/>
              <a:gd name="T2" fmla="*/ 679450 w 21600"/>
              <a:gd name="T3" fmla="*/ 523875 h 21600"/>
              <a:gd name="T4" fmla="*/ 169863 w 21600"/>
              <a:gd name="T5" fmla="*/ 261938 h 21600"/>
              <a:gd name="T6" fmla="*/ 67945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ECA07A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15" name="AutoShape 57"/>
          <p:cNvSpPr>
            <a:spLocks noChangeArrowheads="1"/>
          </p:cNvSpPr>
          <p:nvPr/>
        </p:nvSpPr>
        <p:spPr bwMode="auto">
          <a:xfrm rot="16200000" flipV="1">
            <a:off x="7442201" y="4427747"/>
            <a:ext cx="314325" cy="241300"/>
          </a:xfrm>
          <a:prstGeom prst="triangle">
            <a:avLst>
              <a:gd name="adj" fmla="val 50000"/>
            </a:avLst>
          </a:prstGeom>
          <a:solidFill>
            <a:srgbClr val="FBFAE2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16" name="AutoShape 58"/>
          <p:cNvSpPr>
            <a:spLocks noChangeArrowheads="1"/>
          </p:cNvSpPr>
          <p:nvPr/>
        </p:nvSpPr>
        <p:spPr bwMode="auto">
          <a:xfrm rot="16200000" flipV="1">
            <a:off x="7165182" y="4388853"/>
            <a:ext cx="628650" cy="322263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17" name="Oval 59"/>
          <p:cNvSpPr>
            <a:spLocks noChangeArrowheads="1"/>
          </p:cNvSpPr>
          <p:nvPr/>
        </p:nvSpPr>
        <p:spPr bwMode="auto">
          <a:xfrm rot="-5340000">
            <a:off x="6821488" y="5048459"/>
            <a:ext cx="685800" cy="152400"/>
          </a:xfrm>
          <a:prstGeom prst="ellipse">
            <a:avLst/>
          </a:prstGeom>
          <a:solidFill>
            <a:srgbClr val="D9D9D9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18" name="Oval 60"/>
          <p:cNvSpPr>
            <a:spLocks noChangeArrowheads="1"/>
          </p:cNvSpPr>
          <p:nvPr/>
        </p:nvSpPr>
        <p:spPr bwMode="auto">
          <a:xfrm>
            <a:off x="6819900" y="5281823"/>
            <a:ext cx="76200" cy="60325"/>
          </a:xfrm>
          <a:prstGeom prst="ellipse">
            <a:avLst/>
          </a:prstGeom>
          <a:solidFill>
            <a:srgbClr val="402000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19" name="Line 61"/>
          <p:cNvSpPr>
            <a:spLocks noChangeShapeType="1"/>
          </p:cNvSpPr>
          <p:nvPr/>
        </p:nvSpPr>
        <p:spPr bwMode="auto">
          <a:xfrm>
            <a:off x="7239000" y="5089734"/>
            <a:ext cx="228600" cy="1588"/>
          </a:xfrm>
          <a:prstGeom prst="line">
            <a:avLst/>
          </a:prstGeom>
          <a:noFill/>
          <a:ln w="12600">
            <a:solidFill>
              <a:srgbClr val="402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0" name="Line 62"/>
          <p:cNvSpPr>
            <a:spLocks noChangeShapeType="1"/>
          </p:cNvSpPr>
          <p:nvPr/>
        </p:nvSpPr>
        <p:spPr bwMode="auto">
          <a:xfrm>
            <a:off x="6553200" y="4937334"/>
            <a:ext cx="609600" cy="1588"/>
          </a:xfrm>
          <a:prstGeom prst="line">
            <a:avLst/>
          </a:prstGeom>
          <a:noFill/>
          <a:ln w="12600">
            <a:solidFill>
              <a:srgbClr val="402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1" name="Line 63"/>
          <p:cNvSpPr>
            <a:spLocks noChangeShapeType="1"/>
          </p:cNvSpPr>
          <p:nvPr/>
        </p:nvSpPr>
        <p:spPr bwMode="auto">
          <a:xfrm>
            <a:off x="6858000" y="5318334"/>
            <a:ext cx="304800" cy="1588"/>
          </a:xfrm>
          <a:prstGeom prst="line">
            <a:avLst/>
          </a:prstGeom>
          <a:noFill/>
          <a:ln w="12600">
            <a:solidFill>
              <a:srgbClr val="402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2" name="Oval 64"/>
          <p:cNvSpPr>
            <a:spLocks noChangeArrowheads="1"/>
          </p:cNvSpPr>
          <p:nvPr/>
        </p:nvSpPr>
        <p:spPr bwMode="auto">
          <a:xfrm rot="-5340000">
            <a:off x="7431088" y="3375234"/>
            <a:ext cx="685800" cy="152400"/>
          </a:xfrm>
          <a:prstGeom prst="ellipse">
            <a:avLst/>
          </a:prstGeom>
          <a:solidFill>
            <a:srgbClr val="D9D9D9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23" name="AutoShape 65"/>
          <p:cNvSpPr>
            <a:spLocks noChangeArrowheads="1"/>
          </p:cNvSpPr>
          <p:nvPr/>
        </p:nvSpPr>
        <p:spPr bwMode="auto">
          <a:xfrm rot="-5400000">
            <a:off x="7669213" y="2154447"/>
            <a:ext cx="1358900" cy="523875"/>
          </a:xfrm>
          <a:custGeom>
            <a:avLst/>
            <a:gdLst>
              <a:gd name="T0" fmla="*/ 1189038 w 21600"/>
              <a:gd name="T1" fmla="*/ 261938 h 21600"/>
              <a:gd name="T2" fmla="*/ 679450 w 21600"/>
              <a:gd name="T3" fmla="*/ 523875 h 21600"/>
              <a:gd name="T4" fmla="*/ 169863 w 21600"/>
              <a:gd name="T5" fmla="*/ 261938 h 21600"/>
              <a:gd name="T6" fmla="*/ 67945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4500 w 21600"/>
              <a:gd name="T13" fmla="*/ 4500 h 21600"/>
              <a:gd name="T14" fmla="*/ 17100 w 21600"/>
              <a:gd name="T15" fmla="*/ 171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ECA07A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24" name="AutoShape 66"/>
          <p:cNvSpPr>
            <a:spLocks noChangeArrowheads="1"/>
          </p:cNvSpPr>
          <p:nvPr/>
        </p:nvSpPr>
        <p:spPr bwMode="auto">
          <a:xfrm rot="16200000" flipV="1">
            <a:off x="8051801" y="2295735"/>
            <a:ext cx="314325" cy="241300"/>
          </a:xfrm>
          <a:prstGeom prst="triangle">
            <a:avLst>
              <a:gd name="adj" fmla="val 50000"/>
            </a:avLst>
          </a:prstGeom>
          <a:solidFill>
            <a:srgbClr val="FBFAE2"/>
          </a:solidFill>
          <a:ln w="12600">
            <a:solidFill>
              <a:srgbClr val="402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1025" name="AutoShape 67"/>
          <p:cNvSpPr>
            <a:spLocks noChangeArrowheads="1"/>
          </p:cNvSpPr>
          <p:nvPr/>
        </p:nvSpPr>
        <p:spPr bwMode="auto">
          <a:xfrm rot="16200000" flipV="1">
            <a:off x="7774782" y="2255253"/>
            <a:ext cx="628650" cy="322263"/>
          </a:xfrm>
          <a:prstGeom prst="triangle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6" name="Freeform 68"/>
          <p:cNvSpPr>
            <a:spLocks/>
          </p:cNvSpPr>
          <p:nvPr/>
        </p:nvSpPr>
        <p:spPr bwMode="auto">
          <a:xfrm>
            <a:off x="7848600" y="3641934"/>
            <a:ext cx="304800" cy="914400"/>
          </a:xfrm>
          <a:custGeom>
            <a:avLst/>
            <a:gdLst>
              <a:gd name="T0" fmla="*/ 192 w 192"/>
              <a:gd name="T1" fmla="*/ 576 h 576"/>
              <a:gd name="T2" fmla="*/ 192 w 192"/>
              <a:gd name="T3" fmla="*/ 0 h 576"/>
              <a:gd name="T4" fmla="*/ 0 w 192"/>
              <a:gd name="T5" fmla="*/ 0 h 576"/>
              <a:gd name="T6" fmla="*/ 0 60000 65536"/>
              <a:gd name="T7" fmla="*/ 0 60000 65536"/>
              <a:gd name="T8" fmla="*/ 0 60000 65536"/>
              <a:gd name="T9" fmla="*/ 0 w 192"/>
              <a:gd name="T10" fmla="*/ 0 h 576"/>
              <a:gd name="T11" fmla="*/ 192 w 19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92" h="576">
                <a:moveTo>
                  <a:pt x="192" y="576"/>
                </a:moveTo>
                <a:lnTo>
                  <a:pt x="192" y="0"/>
                </a:lnTo>
                <a:lnTo>
                  <a:pt x="0" y="0"/>
                </a:lnTo>
              </a:path>
            </a:pathLst>
          </a:custGeom>
          <a:noFill/>
          <a:ln w="12600">
            <a:solidFill>
              <a:srgbClr val="402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27" name="Text Box 69"/>
          <p:cNvSpPr txBox="1">
            <a:spLocks noChangeArrowheads="1"/>
          </p:cNvSpPr>
          <p:nvPr/>
        </p:nvSpPr>
        <p:spPr bwMode="auto">
          <a:xfrm>
            <a:off x="3506789" y="2956135"/>
            <a:ext cx="60642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buFont typeface="Helvetica" charset="0"/>
              <a:buNone/>
            </a:pPr>
            <a:r>
              <a:rPr lang="en-GB" altLang="zh-TW" sz="2000">
                <a:solidFill>
                  <a:srgbClr val="402000"/>
                </a:solidFill>
                <a:latin typeface="Helvetica" charset="0"/>
                <a:ea typeface="新細明體" charset="-120"/>
              </a:rPr>
              <a:t>add</a:t>
            </a:r>
          </a:p>
        </p:txBody>
      </p:sp>
      <p:sp>
        <p:nvSpPr>
          <p:cNvPr id="41028" name="Text Box 70"/>
          <p:cNvSpPr txBox="1">
            <a:spLocks noChangeArrowheads="1"/>
          </p:cNvSpPr>
          <p:nvPr/>
        </p:nvSpPr>
        <p:spPr bwMode="auto">
          <a:xfrm>
            <a:off x="8078789" y="2422735"/>
            <a:ext cx="606425" cy="39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buFont typeface="Helvetica" charset="0"/>
              <a:buNone/>
            </a:pPr>
            <a:r>
              <a:rPr lang="en-GB" altLang="zh-TW" sz="2000">
                <a:solidFill>
                  <a:srgbClr val="402000"/>
                </a:solidFill>
                <a:latin typeface="Helvetica" charset="0"/>
                <a:ea typeface="新細明體" charset="-120"/>
              </a:rPr>
              <a:t>add</a:t>
            </a:r>
          </a:p>
        </p:txBody>
      </p:sp>
      <p:sp>
        <p:nvSpPr>
          <p:cNvPr id="10311" name="Text Box 71"/>
          <p:cNvSpPr txBox="1">
            <a:spLocks noChangeArrowheads="1"/>
          </p:cNvSpPr>
          <p:nvPr/>
        </p:nvSpPr>
        <p:spPr bwMode="auto">
          <a:xfrm>
            <a:off x="2592388" y="5470735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j</a:t>
            </a:r>
            <a:endParaRPr lang="zh-TW" altLang="en-GB" sz="2800" dirty="0">
              <a:solidFill>
                <a:srgbClr val="CD3333"/>
              </a:solidFill>
              <a:latin typeface="Wingdings 2" charset="2"/>
              <a:ea typeface="新細明體" charset="-120"/>
              <a:cs typeface="Wingdings 2" charset="2"/>
            </a:endParaRPr>
          </a:p>
        </p:txBody>
      </p:sp>
      <p:sp>
        <p:nvSpPr>
          <p:cNvPr id="10312" name="Text Box 72"/>
          <p:cNvSpPr txBox="1">
            <a:spLocks noChangeArrowheads="1"/>
          </p:cNvSpPr>
          <p:nvPr/>
        </p:nvSpPr>
        <p:spPr bwMode="auto">
          <a:xfrm>
            <a:off x="4725988" y="5715001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k</a:t>
            </a:r>
            <a:endParaRPr lang="zh-TW" altLang="en-GB" sz="2800" dirty="0">
              <a:solidFill>
                <a:srgbClr val="CD33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10313" name="Text Box 73"/>
          <p:cNvSpPr txBox="1">
            <a:spLocks noChangeArrowheads="1"/>
          </p:cNvSpPr>
          <p:nvPr/>
        </p:nvSpPr>
        <p:spPr bwMode="auto">
          <a:xfrm>
            <a:off x="7392988" y="5623135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l</a:t>
            </a:r>
            <a:endParaRPr lang="zh-TW" altLang="en-GB" sz="2800" dirty="0">
              <a:solidFill>
                <a:srgbClr val="CD33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10314" name="Text Box 74"/>
          <p:cNvSpPr txBox="1">
            <a:spLocks noChangeArrowheads="1"/>
          </p:cNvSpPr>
          <p:nvPr/>
        </p:nvSpPr>
        <p:spPr bwMode="auto">
          <a:xfrm>
            <a:off x="8993188" y="5927935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m</a:t>
            </a:r>
            <a:endParaRPr lang="zh-TW" altLang="en-GB" sz="2800" dirty="0">
              <a:solidFill>
                <a:srgbClr val="CD33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10315" name="Text Box 75"/>
          <p:cNvSpPr txBox="1">
            <a:spLocks noChangeArrowheads="1"/>
          </p:cNvSpPr>
          <p:nvPr/>
        </p:nvSpPr>
        <p:spPr bwMode="auto">
          <a:xfrm>
            <a:off x="4878388" y="2879935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n</a:t>
            </a:r>
            <a:endParaRPr lang="zh-TW" altLang="en-GB" sz="2800" dirty="0">
              <a:solidFill>
                <a:srgbClr val="CD3333"/>
              </a:solidFill>
              <a:latin typeface="Wingdings" charset="2"/>
              <a:ea typeface="新細明體" charset="-120"/>
            </a:endParaRPr>
          </a:p>
        </p:txBody>
      </p:sp>
      <p:cxnSp>
        <p:nvCxnSpPr>
          <p:cNvPr id="41034" name="AutoShape 77"/>
          <p:cNvCxnSpPr>
            <a:cxnSpLocks noChangeShapeType="1"/>
          </p:cNvCxnSpPr>
          <p:nvPr/>
        </p:nvCxnSpPr>
        <p:spPr bwMode="auto">
          <a:xfrm>
            <a:off x="2436814" y="4630948"/>
            <a:ext cx="458787" cy="1587"/>
          </a:xfrm>
          <a:prstGeom prst="straightConnector1">
            <a:avLst/>
          </a:prstGeom>
          <a:noFill/>
          <a:ln w="12600">
            <a:solidFill>
              <a:srgbClr val="402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39362603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03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3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3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</a:rPr>
              <a:t>Anatomy of a Computer: Inside the Processor</a:t>
            </a:r>
            <a:endParaRPr lang="en-AU" altLang="en-US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609600" y="1124744"/>
            <a:ext cx="10972800" cy="720080"/>
          </a:xfrm>
        </p:spPr>
        <p:txBody>
          <a:bodyPr/>
          <a:lstStyle/>
          <a:p>
            <a:r>
              <a:rPr lang="pt-BR" dirty="0"/>
              <a:t>AMD Barcelona: 4 processor cores</a:t>
            </a:r>
            <a:endParaRPr lang="en-US" dirty="0"/>
          </a:p>
        </p:txBody>
      </p:sp>
      <p:pic>
        <p:nvPicPr>
          <p:cNvPr id="9" name="Picture 20" descr="f01-09-P37449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700" y="1995388"/>
            <a:ext cx="8229600" cy="402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lide Number Placeholder 5"/>
          <p:cNvSpPr txBox="1">
            <a:spLocks/>
          </p:cNvSpPr>
          <p:nvPr/>
        </p:nvSpPr>
        <p:spPr bwMode="auto">
          <a:xfrm>
            <a:off x="8369301" y="150813"/>
            <a:ext cx="1903413" cy="3079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r" defTabSz="457200" rtl="0" eaLnBrk="0" fontAlgn="base" hangingPunct="0">
              <a:lnSpc>
                <a:spcPct val="95000"/>
              </a:lnSpc>
              <a:spcBef>
                <a:spcPts val="875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buNone/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1pPr>
            <a:lvl2pPr marL="742950" indent="-285750" algn="l" defTabSz="45720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2pPr>
            <a:lvl3pPr marL="1143000" indent="-228600" algn="l" defTabSz="45720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3pPr>
            <a:lvl4pPr marL="1600200" indent="-228600" algn="l" defTabSz="45720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4pPr>
            <a:lvl5pPr marL="2057400" indent="-228600" algn="l" defTabSz="457200" rtl="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5pPr>
            <a:lvl6pPr marL="2514600" indent="-228600" algn="l" defTabSz="4572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6pPr>
            <a:lvl7pPr marL="2971800" indent="-228600" algn="l" defTabSz="4572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7pPr>
            <a:lvl8pPr marL="3429000" indent="-228600" algn="l" defTabSz="4572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8pPr>
            <a:lvl9pPr marL="3886200" indent="-228600" algn="l" defTabSz="45720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402000"/>
              </a:buClr>
              <a:buSzPct val="100000"/>
              <a:buFont typeface="Times New Roman" pitchFamily="18" charset="0"/>
              <a:defRPr sz="2400" kern="1200">
                <a:solidFill>
                  <a:schemeClr val="bg1"/>
                </a:solidFill>
                <a:latin typeface="Times New Roman" pitchFamily="18" charset="0"/>
                <a:ea typeface="SimSun" pitchFamily="2" charset="-122"/>
                <a:cs typeface="+mn-cs"/>
              </a:defRPr>
            </a:lvl9pPr>
          </a:lstStyle>
          <a:p>
            <a:pPr>
              <a:lnSpc>
                <a:spcPct val="100000"/>
              </a:lnSpc>
              <a:buClr>
                <a:srgbClr val="FFFFFF"/>
              </a:buClr>
              <a:buFont typeface="Tahoma" pitchFamily="34" charset="0"/>
              <a:buNone/>
            </a:pPr>
            <a:fld id="{BCACA2B5-5CA6-4A51-AB2A-73163BF2EAFE}" type="slidenum">
              <a:rPr lang="zh-TW" altLang="en-GB" sz="1400">
                <a:solidFill>
                  <a:srgbClr val="FFFFFF"/>
                </a:solidFill>
                <a:latin typeface="Tahoma" pitchFamily="34" charset="0"/>
              </a:rPr>
              <a:pPr>
                <a:lnSpc>
                  <a:spcPct val="100000"/>
                </a:lnSpc>
                <a:buClr>
                  <a:srgbClr val="FFFFFF"/>
                </a:buClr>
                <a:buFont typeface="Tahoma" pitchFamily="34" charset="0"/>
                <a:buNone/>
              </a:pPr>
              <a:t>7</a:t>
            </a:fld>
            <a:endParaRPr lang="en-GB" altLang="zh-TW" sz="1400">
              <a:solidFill>
                <a:srgbClr val="FFFFFF"/>
              </a:solidFill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3412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</a:t>
            </a:r>
            <a:r>
              <a:rPr lang="en-US" dirty="0" err="1"/>
              <a:t>Datapath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 err="1">
                <a:solidFill>
                  <a:srgbClr val="CD3333"/>
                </a:solidFill>
                <a:ea typeface="新細明體" charset="-120"/>
              </a:rPr>
              <a:t>Datapath</a:t>
            </a:r>
            <a:endParaRPr lang="en-US" altLang="en-US" b="1" dirty="0">
              <a:solidFill>
                <a:srgbClr val="CD3333"/>
              </a:solidFill>
              <a:ea typeface="新細明體" charset="-120"/>
            </a:endParaRPr>
          </a:p>
          <a:p>
            <a:pPr lvl="1" eaLnBrk="1" hangingPunct="1"/>
            <a:r>
              <a:rPr lang="en-US" altLang="en-US" dirty="0"/>
              <a:t>Elements that process data and addresses in the CPU</a:t>
            </a:r>
          </a:p>
          <a:p>
            <a:pPr lvl="1" eaLnBrk="1" hangingPunct="1"/>
            <a:r>
              <a:rPr lang="en-US" altLang="en-US" dirty="0"/>
              <a:t>E.g. Registers, ALUs, multiplexors, memories, …</a:t>
            </a:r>
          </a:p>
          <a:p>
            <a:pPr lvl="1"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We will build a MIPS </a:t>
            </a:r>
            <a:r>
              <a:rPr lang="en-US" altLang="en-US" dirty="0" err="1"/>
              <a:t>datapath</a:t>
            </a:r>
            <a:r>
              <a:rPr lang="en-US" altLang="en-US" dirty="0"/>
              <a:t> incrementally</a:t>
            </a:r>
          </a:p>
          <a:p>
            <a:pPr lvl="1" eaLnBrk="1" hangingPunct="1"/>
            <a:r>
              <a:rPr lang="en-US" altLang="en-US" dirty="0"/>
              <a:t>Refining the overview design</a:t>
            </a:r>
            <a:endParaRPr lang="en-AU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365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>
                <a:ea typeface="新細明體" charset="-120"/>
                <a:cs typeface="新細明體" charset="-120"/>
              </a:rPr>
              <a:t>Basic Building Blocks</a:t>
            </a:r>
          </a:p>
        </p:txBody>
      </p:sp>
      <p:sp>
        <p:nvSpPr>
          <p:cNvPr id="55302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124743"/>
            <a:ext cx="10972800" cy="2721569"/>
          </a:xfrm>
        </p:spPr>
        <p:txBody>
          <a:bodyPr>
            <a:normAutofit fontScale="77500" lnSpcReduction="20000"/>
          </a:bodyPr>
          <a:lstStyle/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b="1" dirty="0">
                <a:solidFill>
                  <a:srgbClr val="CD3333"/>
                </a:solidFill>
                <a:ea typeface="新細明體" charset="-120"/>
              </a:rPr>
              <a:t>Instruction memory</a:t>
            </a:r>
            <a:r>
              <a:rPr lang="en-GB" altLang="zh-TW" dirty="0">
                <a:ea typeface="新細明體" charset="-120"/>
              </a:rPr>
              <a:t>: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ea typeface="新細明體" charset="-120"/>
              </a:rPr>
              <a:t>A memory unit that stores the instructions of a program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ea typeface="新細明體" charset="-120"/>
              </a:rPr>
              <a:t>Supplies an instruction given its address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b="1" dirty="0">
                <a:solidFill>
                  <a:srgbClr val="CD3333"/>
                </a:solidFill>
                <a:ea typeface="新細明體" charset="-120"/>
              </a:rPr>
              <a:t>Program counter</a:t>
            </a:r>
            <a:r>
              <a:rPr lang="en-GB" altLang="zh-TW" dirty="0">
                <a:ea typeface="新細明體" charset="-120"/>
              </a:rPr>
              <a:t>: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ea typeface="新細明體" charset="-120"/>
              </a:rPr>
              <a:t>A register storing the address of the instruction being executed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b="1" dirty="0">
                <a:solidFill>
                  <a:srgbClr val="CD3333"/>
                </a:solidFill>
                <a:ea typeface="新細明體" charset="-120"/>
              </a:rPr>
              <a:t>Adder</a:t>
            </a:r>
            <a:r>
              <a:rPr lang="en-GB" altLang="zh-TW" dirty="0">
                <a:ea typeface="新細明體" charset="-120"/>
              </a:rPr>
              <a:t>:</a:t>
            </a:r>
          </a:p>
          <a:p>
            <a:pPr lvl="1"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ea typeface="新細明體" charset="-120"/>
              </a:rPr>
              <a:t>A unit that increments PC to form the address of next instruction</a:t>
            </a:r>
          </a:p>
          <a:p>
            <a:pP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zh-TW" dirty="0">
              <a:ea typeface="新細明體" charset="-120"/>
            </a:endParaRPr>
          </a:p>
          <a:p>
            <a:pP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zh-TW" dirty="0">
              <a:ea typeface="新細明體" charset="-120"/>
            </a:endParaRPr>
          </a:p>
        </p:txBody>
      </p:sp>
      <p:grpSp>
        <p:nvGrpSpPr>
          <p:cNvPr id="55303" name="Group 3"/>
          <p:cNvGrpSpPr>
            <a:grpSpLocks/>
          </p:cNvGrpSpPr>
          <p:nvPr/>
        </p:nvGrpSpPr>
        <p:grpSpPr bwMode="auto">
          <a:xfrm>
            <a:off x="3048001" y="4005064"/>
            <a:ext cx="6305551" cy="2138364"/>
            <a:chOff x="960" y="2400"/>
            <a:chExt cx="3972" cy="1347"/>
          </a:xfrm>
        </p:grpSpPr>
        <p:sp>
          <p:nvSpPr>
            <p:cNvPr id="55304" name="Freeform 4"/>
            <p:cNvSpPr>
              <a:spLocks noChangeArrowheads="1"/>
            </p:cNvSpPr>
            <p:nvPr/>
          </p:nvSpPr>
          <p:spPr bwMode="auto">
            <a:xfrm>
              <a:off x="3096" y="2598"/>
              <a:ext cx="178" cy="496"/>
            </a:xfrm>
            <a:custGeom>
              <a:avLst/>
              <a:gdLst>
                <a:gd name="T0" fmla="*/ 175 w 178"/>
                <a:gd name="T1" fmla="*/ 496 h 496"/>
                <a:gd name="T2" fmla="*/ 178 w 178"/>
                <a:gd name="T3" fmla="*/ 0 h 496"/>
                <a:gd name="T4" fmla="*/ 0 w 178"/>
                <a:gd name="T5" fmla="*/ 0 h 496"/>
                <a:gd name="T6" fmla="*/ 0 w 178"/>
                <a:gd name="T7" fmla="*/ 496 h 496"/>
                <a:gd name="T8" fmla="*/ 178 w 178"/>
                <a:gd name="T9" fmla="*/ 496 h 496"/>
                <a:gd name="T10" fmla="*/ 178 w 178"/>
                <a:gd name="T11" fmla="*/ 496 h 496"/>
                <a:gd name="T12" fmla="*/ 175 w 178"/>
                <a:gd name="T13" fmla="*/ 496 h 4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78"/>
                <a:gd name="T22" fmla="*/ 0 h 496"/>
                <a:gd name="T23" fmla="*/ 178 w 178"/>
                <a:gd name="T24" fmla="*/ 496 h 49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78" h="496">
                  <a:moveTo>
                    <a:pt x="175" y="496"/>
                  </a:moveTo>
                  <a:lnTo>
                    <a:pt x="178" y="0"/>
                  </a:lnTo>
                  <a:lnTo>
                    <a:pt x="0" y="0"/>
                  </a:lnTo>
                  <a:lnTo>
                    <a:pt x="0" y="496"/>
                  </a:lnTo>
                  <a:lnTo>
                    <a:pt x="178" y="496"/>
                  </a:lnTo>
                  <a:lnTo>
                    <a:pt x="175" y="4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05" name="Freeform 5"/>
            <p:cNvSpPr>
              <a:spLocks noChangeArrowheads="1"/>
            </p:cNvSpPr>
            <p:nvPr/>
          </p:nvSpPr>
          <p:spPr bwMode="auto">
            <a:xfrm>
              <a:off x="3096" y="2598"/>
              <a:ext cx="178" cy="496"/>
            </a:xfrm>
            <a:custGeom>
              <a:avLst/>
              <a:gdLst>
                <a:gd name="T0" fmla="*/ 175 w 178"/>
                <a:gd name="T1" fmla="*/ 496 h 496"/>
                <a:gd name="T2" fmla="*/ 178 w 178"/>
                <a:gd name="T3" fmla="*/ 0 h 496"/>
                <a:gd name="T4" fmla="*/ 0 w 178"/>
                <a:gd name="T5" fmla="*/ 0 h 496"/>
                <a:gd name="T6" fmla="*/ 0 w 178"/>
                <a:gd name="T7" fmla="*/ 496 h 496"/>
                <a:gd name="T8" fmla="*/ 178 w 178"/>
                <a:gd name="T9" fmla="*/ 496 h 496"/>
                <a:gd name="T10" fmla="*/ 178 w 178"/>
                <a:gd name="T11" fmla="*/ 496 h 49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78"/>
                <a:gd name="T19" fmla="*/ 0 h 496"/>
                <a:gd name="T20" fmla="*/ 178 w 178"/>
                <a:gd name="T21" fmla="*/ 496 h 49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78" h="496">
                  <a:moveTo>
                    <a:pt x="175" y="496"/>
                  </a:moveTo>
                  <a:lnTo>
                    <a:pt x="178" y="0"/>
                  </a:lnTo>
                  <a:lnTo>
                    <a:pt x="0" y="0"/>
                  </a:lnTo>
                  <a:lnTo>
                    <a:pt x="0" y="496"/>
                  </a:lnTo>
                  <a:lnTo>
                    <a:pt x="178" y="496"/>
                  </a:lnTo>
                </a:path>
              </a:pathLst>
            </a:custGeom>
            <a:noFill/>
            <a:ln w="176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06" name="Rectangle 6"/>
            <p:cNvSpPr>
              <a:spLocks noChangeArrowheads="1"/>
            </p:cNvSpPr>
            <p:nvPr/>
          </p:nvSpPr>
          <p:spPr bwMode="auto">
            <a:xfrm>
              <a:off x="3124" y="2790"/>
              <a:ext cx="6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55307" name="Rectangle 7"/>
            <p:cNvSpPr>
              <a:spLocks noChangeArrowheads="1"/>
            </p:cNvSpPr>
            <p:nvPr/>
          </p:nvSpPr>
          <p:spPr bwMode="auto">
            <a:xfrm>
              <a:off x="3186" y="2790"/>
              <a:ext cx="7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55308" name="Line 8"/>
            <p:cNvSpPr>
              <a:spLocks noChangeShapeType="1"/>
            </p:cNvSpPr>
            <p:nvPr/>
          </p:nvSpPr>
          <p:spPr bwMode="auto">
            <a:xfrm>
              <a:off x="3271" y="2845"/>
              <a:ext cx="184" cy="2"/>
            </a:xfrm>
            <a:prstGeom prst="line">
              <a:avLst/>
            </a:prstGeom>
            <a:noFill/>
            <a:ln w="316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09" name="Freeform 9"/>
            <p:cNvSpPr>
              <a:spLocks noChangeArrowheads="1"/>
            </p:cNvSpPr>
            <p:nvPr/>
          </p:nvSpPr>
          <p:spPr bwMode="auto">
            <a:xfrm>
              <a:off x="3438" y="2822"/>
              <a:ext cx="48" cy="48"/>
            </a:xfrm>
            <a:custGeom>
              <a:avLst/>
              <a:gdLst>
                <a:gd name="T0" fmla="*/ 0 w 48"/>
                <a:gd name="T1" fmla="*/ 0 h 48"/>
                <a:gd name="T2" fmla="*/ 0 w 48"/>
                <a:gd name="T3" fmla="*/ 48 h 48"/>
                <a:gd name="T4" fmla="*/ 48 w 48"/>
                <a:gd name="T5" fmla="*/ 25 h 48"/>
                <a:gd name="T6" fmla="*/ 0 w 48"/>
                <a:gd name="T7" fmla="*/ 3 h 48"/>
                <a:gd name="T8" fmla="*/ 0 w 48"/>
                <a:gd name="T9" fmla="*/ 3 h 48"/>
                <a:gd name="T10" fmla="*/ 0 w 48"/>
                <a:gd name="T11" fmla="*/ 0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8"/>
                <a:gd name="T19" fmla="*/ 0 h 48"/>
                <a:gd name="T20" fmla="*/ 48 w 48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8" h="48">
                  <a:moveTo>
                    <a:pt x="0" y="0"/>
                  </a:moveTo>
                  <a:lnTo>
                    <a:pt x="0" y="48"/>
                  </a:lnTo>
                  <a:lnTo>
                    <a:pt x="48" y="25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0" name="Line 10"/>
            <p:cNvSpPr>
              <a:spLocks noChangeShapeType="1"/>
            </p:cNvSpPr>
            <p:nvPr/>
          </p:nvSpPr>
          <p:spPr bwMode="auto">
            <a:xfrm flipH="1">
              <a:off x="2877" y="2845"/>
              <a:ext cx="183" cy="2"/>
            </a:xfrm>
            <a:prstGeom prst="line">
              <a:avLst/>
            </a:prstGeom>
            <a:noFill/>
            <a:ln w="316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11" name="Freeform 11"/>
            <p:cNvSpPr>
              <a:spLocks noChangeArrowheads="1"/>
            </p:cNvSpPr>
            <p:nvPr/>
          </p:nvSpPr>
          <p:spPr bwMode="auto">
            <a:xfrm>
              <a:off x="3042" y="2822"/>
              <a:ext cx="48" cy="48"/>
            </a:xfrm>
            <a:custGeom>
              <a:avLst/>
              <a:gdLst>
                <a:gd name="T0" fmla="*/ 0 w 48"/>
                <a:gd name="T1" fmla="*/ 0 h 48"/>
                <a:gd name="T2" fmla="*/ 0 w 48"/>
                <a:gd name="T3" fmla="*/ 48 h 48"/>
                <a:gd name="T4" fmla="*/ 48 w 48"/>
                <a:gd name="T5" fmla="*/ 25 h 48"/>
                <a:gd name="T6" fmla="*/ 0 w 48"/>
                <a:gd name="T7" fmla="*/ 3 h 48"/>
                <a:gd name="T8" fmla="*/ 0 w 48"/>
                <a:gd name="T9" fmla="*/ 3 h 48"/>
                <a:gd name="T10" fmla="*/ 0 w 48"/>
                <a:gd name="T11" fmla="*/ 0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8"/>
                <a:gd name="T19" fmla="*/ 0 h 48"/>
                <a:gd name="T20" fmla="*/ 48 w 48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8" h="48">
                  <a:moveTo>
                    <a:pt x="0" y="0"/>
                  </a:moveTo>
                  <a:lnTo>
                    <a:pt x="0" y="48"/>
                  </a:lnTo>
                  <a:lnTo>
                    <a:pt x="48" y="25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2" name="Freeform 12"/>
            <p:cNvSpPr>
              <a:spLocks noChangeArrowheads="1"/>
            </p:cNvSpPr>
            <p:nvPr/>
          </p:nvSpPr>
          <p:spPr bwMode="auto">
            <a:xfrm>
              <a:off x="1181" y="2400"/>
              <a:ext cx="1061" cy="1107"/>
            </a:xfrm>
            <a:custGeom>
              <a:avLst/>
              <a:gdLst>
                <a:gd name="T0" fmla="*/ 1058 w 1061"/>
                <a:gd name="T1" fmla="*/ 1107 h 1107"/>
                <a:gd name="T2" fmla="*/ 1061 w 1061"/>
                <a:gd name="T3" fmla="*/ 0 h 1107"/>
                <a:gd name="T4" fmla="*/ 0 w 1061"/>
                <a:gd name="T5" fmla="*/ 0 h 1107"/>
                <a:gd name="T6" fmla="*/ 0 w 1061"/>
                <a:gd name="T7" fmla="*/ 1107 h 1107"/>
                <a:gd name="T8" fmla="*/ 1061 w 1061"/>
                <a:gd name="T9" fmla="*/ 1107 h 1107"/>
                <a:gd name="T10" fmla="*/ 1061 w 1061"/>
                <a:gd name="T11" fmla="*/ 1107 h 1107"/>
                <a:gd name="T12" fmla="*/ 1058 w 1061"/>
                <a:gd name="T13" fmla="*/ 1107 h 1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061"/>
                <a:gd name="T22" fmla="*/ 0 h 1107"/>
                <a:gd name="T23" fmla="*/ 1061 w 1061"/>
                <a:gd name="T24" fmla="*/ 1107 h 110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061" h="1107">
                  <a:moveTo>
                    <a:pt x="1058" y="1107"/>
                  </a:moveTo>
                  <a:lnTo>
                    <a:pt x="1061" y="0"/>
                  </a:lnTo>
                  <a:lnTo>
                    <a:pt x="0" y="0"/>
                  </a:lnTo>
                  <a:lnTo>
                    <a:pt x="0" y="1107"/>
                  </a:lnTo>
                  <a:lnTo>
                    <a:pt x="1061" y="1107"/>
                  </a:lnTo>
                  <a:lnTo>
                    <a:pt x="1058" y="110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3" name="Freeform 13"/>
            <p:cNvSpPr>
              <a:spLocks noChangeArrowheads="1"/>
            </p:cNvSpPr>
            <p:nvPr/>
          </p:nvSpPr>
          <p:spPr bwMode="auto">
            <a:xfrm>
              <a:off x="1181" y="2400"/>
              <a:ext cx="1061" cy="1107"/>
            </a:xfrm>
            <a:custGeom>
              <a:avLst/>
              <a:gdLst>
                <a:gd name="T0" fmla="*/ 1058 w 1061"/>
                <a:gd name="T1" fmla="*/ 1107 h 1107"/>
                <a:gd name="T2" fmla="*/ 1061 w 1061"/>
                <a:gd name="T3" fmla="*/ 0 h 1107"/>
                <a:gd name="T4" fmla="*/ 0 w 1061"/>
                <a:gd name="T5" fmla="*/ 0 h 1107"/>
                <a:gd name="T6" fmla="*/ 0 w 1061"/>
                <a:gd name="T7" fmla="*/ 1107 h 1107"/>
                <a:gd name="T8" fmla="*/ 1061 w 1061"/>
                <a:gd name="T9" fmla="*/ 1107 h 1107"/>
                <a:gd name="T10" fmla="*/ 1061 w 1061"/>
                <a:gd name="T11" fmla="*/ 1107 h 1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61"/>
                <a:gd name="T19" fmla="*/ 0 h 1107"/>
                <a:gd name="T20" fmla="*/ 1061 w 1061"/>
                <a:gd name="T21" fmla="*/ 1107 h 110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61" h="1107">
                  <a:moveTo>
                    <a:pt x="1058" y="1107"/>
                  </a:moveTo>
                  <a:lnTo>
                    <a:pt x="1061" y="0"/>
                  </a:lnTo>
                  <a:lnTo>
                    <a:pt x="0" y="0"/>
                  </a:lnTo>
                  <a:lnTo>
                    <a:pt x="0" y="1107"/>
                  </a:lnTo>
                  <a:lnTo>
                    <a:pt x="1061" y="1107"/>
                  </a:lnTo>
                </a:path>
              </a:pathLst>
            </a:custGeom>
            <a:noFill/>
            <a:ln w="176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14" name="Rectangle 14"/>
            <p:cNvSpPr>
              <a:spLocks noChangeArrowheads="1"/>
            </p:cNvSpPr>
            <p:nvPr/>
          </p:nvSpPr>
          <p:spPr bwMode="auto">
            <a:xfrm>
              <a:off x="1243" y="3085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55315" name="Rectangle 15"/>
            <p:cNvSpPr>
              <a:spLocks noChangeArrowheads="1"/>
            </p:cNvSpPr>
            <p:nvPr/>
          </p:nvSpPr>
          <p:spPr bwMode="auto">
            <a:xfrm>
              <a:off x="1268" y="3085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55316" name="Rectangle 16"/>
            <p:cNvSpPr>
              <a:spLocks noChangeArrowheads="1"/>
            </p:cNvSpPr>
            <p:nvPr/>
          </p:nvSpPr>
          <p:spPr bwMode="auto">
            <a:xfrm>
              <a:off x="1321" y="308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55317" name="Rectangle 17"/>
            <p:cNvSpPr>
              <a:spLocks noChangeArrowheads="1"/>
            </p:cNvSpPr>
            <p:nvPr/>
          </p:nvSpPr>
          <p:spPr bwMode="auto">
            <a:xfrm>
              <a:off x="1367" y="3085"/>
              <a:ext cx="3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5318" name="Rectangle 18"/>
            <p:cNvSpPr>
              <a:spLocks noChangeArrowheads="1"/>
            </p:cNvSpPr>
            <p:nvPr/>
          </p:nvSpPr>
          <p:spPr bwMode="auto">
            <a:xfrm>
              <a:off x="1396" y="3085"/>
              <a:ext cx="3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5319" name="Rectangle 19"/>
            <p:cNvSpPr>
              <a:spLocks noChangeArrowheads="1"/>
            </p:cNvSpPr>
            <p:nvPr/>
          </p:nvSpPr>
          <p:spPr bwMode="auto">
            <a:xfrm>
              <a:off x="1427" y="3085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55320" name="Rectangle 20"/>
            <p:cNvSpPr>
              <a:spLocks noChangeArrowheads="1"/>
            </p:cNvSpPr>
            <p:nvPr/>
          </p:nvSpPr>
          <p:spPr bwMode="auto">
            <a:xfrm>
              <a:off x="1477" y="308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55321" name="Rectangle 21"/>
            <p:cNvSpPr>
              <a:spLocks noChangeArrowheads="1"/>
            </p:cNvSpPr>
            <p:nvPr/>
          </p:nvSpPr>
          <p:spPr bwMode="auto">
            <a:xfrm>
              <a:off x="1526" y="3085"/>
              <a:ext cx="3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5322" name="Rectangle 22"/>
            <p:cNvSpPr>
              <a:spLocks noChangeArrowheads="1"/>
            </p:cNvSpPr>
            <p:nvPr/>
          </p:nvSpPr>
          <p:spPr bwMode="auto">
            <a:xfrm>
              <a:off x="1551" y="3085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55323" name="Rectangle 23"/>
            <p:cNvSpPr>
              <a:spLocks noChangeArrowheads="1"/>
            </p:cNvSpPr>
            <p:nvPr/>
          </p:nvSpPr>
          <p:spPr bwMode="auto">
            <a:xfrm>
              <a:off x="1574" y="3085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55324" name="Rectangle 24"/>
            <p:cNvSpPr>
              <a:spLocks noChangeArrowheads="1"/>
            </p:cNvSpPr>
            <p:nvPr/>
          </p:nvSpPr>
          <p:spPr bwMode="auto">
            <a:xfrm>
              <a:off x="1625" y="3085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55325" name="Rectangle 25"/>
            <p:cNvSpPr>
              <a:spLocks noChangeArrowheads="1"/>
            </p:cNvSpPr>
            <p:nvPr/>
          </p:nvSpPr>
          <p:spPr bwMode="auto">
            <a:xfrm>
              <a:off x="1305" y="3195"/>
              <a:ext cx="86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55326" name="Rectangle 26"/>
            <p:cNvSpPr>
              <a:spLocks noChangeArrowheads="1"/>
            </p:cNvSpPr>
            <p:nvPr/>
          </p:nvSpPr>
          <p:spPr bwMode="auto">
            <a:xfrm>
              <a:off x="1384" y="319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55327" name="Rectangle 27"/>
            <p:cNvSpPr>
              <a:spLocks noChangeArrowheads="1"/>
            </p:cNvSpPr>
            <p:nvPr/>
          </p:nvSpPr>
          <p:spPr bwMode="auto">
            <a:xfrm>
              <a:off x="1435" y="3195"/>
              <a:ext cx="86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55328" name="Rectangle 28"/>
            <p:cNvSpPr>
              <a:spLocks noChangeArrowheads="1"/>
            </p:cNvSpPr>
            <p:nvPr/>
          </p:nvSpPr>
          <p:spPr bwMode="auto">
            <a:xfrm>
              <a:off x="1514" y="3195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55329" name="Rectangle 29"/>
            <p:cNvSpPr>
              <a:spLocks noChangeArrowheads="1"/>
            </p:cNvSpPr>
            <p:nvPr/>
          </p:nvSpPr>
          <p:spPr bwMode="auto">
            <a:xfrm>
              <a:off x="1564" y="3195"/>
              <a:ext cx="3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5330" name="Rectangle 30"/>
            <p:cNvSpPr>
              <a:spLocks noChangeArrowheads="1"/>
            </p:cNvSpPr>
            <p:nvPr/>
          </p:nvSpPr>
          <p:spPr bwMode="auto">
            <a:xfrm>
              <a:off x="1600" y="319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55331" name="Rectangle 31"/>
            <p:cNvSpPr>
              <a:spLocks noChangeArrowheads="1"/>
            </p:cNvSpPr>
            <p:nvPr/>
          </p:nvSpPr>
          <p:spPr bwMode="auto">
            <a:xfrm>
              <a:off x="1220" y="2496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55332" name="Rectangle 32"/>
            <p:cNvSpPr>
              <a:spLocks noChangeArrowheads="1"/>
            </p:cNvSpPr>
            <p:nvPr/>
          </p:nvSpPr>
          <p:spPr bwMode="auto">
            <a:xfrm>
              <a:off x="1246" y="2496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55333" name="Rectangle 33"/>
            <p:cNvSpPr>
              <a:spLocks noChangeArrowheads="1"/>
            </p:cNvSpPr>
            <p:nvPr/>
          </p:nvSpPr>
          <p:spPr bwMode="auto">
            <a:xfrm>
              <a:off x="1298" y="2496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55334" name="Rectangle 34"/>
            <p:cNvSpPr>
              <a:spLocks noChangeArrowheads="1"/>
            </p:cNvSpPr>
            <p:nvPr/>
          </p:nvSpPr>
          <p:spPr bwMode="auto">
            <a:xfrm>
              <a:off x="1345" y="2496"/>
              <a:ext cx="3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5335" name="Rectangle 35"/>
            <p:cNvSpPr>
              <a:spLocks noChangeArrowheads="1"/>
            </p:cNvSpPr>
            <p:nvPr/>
          </p:nvSpPr>
          <p:spPr bwMode="auto">
            <a:xfrm>
              <a:off x="1369" y="2496"/>
              <a:ext cx="3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5336" name="Rectangle 36"/>
            <p:cNvSpPr>
              <a:spLocks noChangeArrowheads="1"/>
            </p:cNvSpPr>
            <p:nvPr/>
          </p:nvSpPr>
          <p:spPr bwMode="auto">
            <a:xfrm>
              <a:off x="1404" y="2496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55337" name="Rectangle 37"/>
            <p:cNvSpPr>
              <a:spLocks noChangeArrowheads="1"/>
            </p:cNvSpPr>
            <p:nvPr/>
          </p:nvSpPr>
          <p:spPr bwMode="auto">
            <a:xfrm>
              <a:off x="1455" y="2496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55338" name="Rectangle 38"/>
            <p:cNvSpPr>
              <a:spLocks noChangeArrowheads="1"/>
            </p:cNvSpPr>
            <p:nvPr/>
          </p:nvSpPr>
          <p:spPr bwMode="auto">
            <a:xfrm>
              <a:off x="1503" y="2496"/>
              <a:ext cx="3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5339" name="Rectangle 39"/>
            <p:cNvSpPr>
              <a:spLocks noChangeArrowheads="1"/>
            </p:cNvSpPr>
            <p:nvPr/>
          </p:nvSpPr>
          <p:spPr bwMode="auto">
            <a:xfrm>
              <a:off x="1529" y="2496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55340" name="Rectangle 40"/>
            <p:cNvSpPr>
              <a:spLocks noChangeArrowheads="1"/>
            </p:cNvSpPr>
            <p:nvPr/>
          </p:nvSpPr>
          <p:spPr bwMode="auto">
            <a:xfrm>
              <a:off x="1548" y="2496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55341" name="Rectangle 41"/>
            <p:cNvSpPr>
              <a:spLocks noChangeArrowheads="1"/>
            </p:cNvSpPr>
            <p:nvPr/>
          </p:nvSpPr>
          <p:spPr bwMode="auto">
            <a:xfrm>
              <a:off x="1602" y="2496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55342" name="Rectangle 42"/>
            <p:cNvSpPr>
              <a:spLocks noChangeArrowheads="1"/>
            </p:cNvSpPr>
            <p:nvPr/>
          </p:nvSpPr>
          <p:spPr bwMode="auto">
            <a:xfrm>
              <a:off x="1220" y="2590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55343" name="Rectangle 43"/>
            <p:cNvSpPr>
              <a:spLocks noChangeArrowheads="1"/>
            </p:cNvSpPr>
            <p:nvPr/>
          </p:nvSpPr>
          <p:spPr bwMode="auto">
            <a:xfrm>
              <a:off x="1271" y="2590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55344" name="Rectangle 44"/>
            <p:cNvSpPr>
              <a:spLocks noChangeArrowheads="1"/>
            </p:cNvSpPr>
            <p:nvPr/>
          </p:nvSpPr>
          <p:spPr bwMode="auto">
            <a:xfrm>
              <a:off x="1325" y="2590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55345" name="Rectangle 45"/>
            <p:cNvSpPr>
              <a:spLocks noChangeArrowheads="1"/>
            </p:cNvSpPr>
            <p:nvPr/>
          </p:nvSpPr>
          <p:spPr bwMode="auto">
            <a:xfrm>
              <a:off x="1376" y="2590"/>
              <a:ext cx="3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5346" name="Rectangle 46"/>
            <p:cNvSpPr>
              <a:spLocks noChangeArrowheads="1"/>
            </p:cNvSpPr>
            <p:nvPr/>
          </p:nvSpPr>
          <p:spPr bwMode="auto">
            <a:xfrm>
              <a:off x="1409" y="2590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55347" name="Rectangle 47"/>
            <p:cNvSpPr>
              <a:spLocks noChangeArrowheads="1"/>
            </p:cNvSpPr>
            <p:nvPr/>
          </p:nvSpPr>
          <p:spPr bwMode="auto">
            <a:xfrm>
              <a:off x="1460" y="2590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55348" name="Rectangle 48"/>
            <p:cNvSpPr>
              <a:spLocks noChangeArrowheads="1"/>
            </p:cNvSpPr>
            <p:nvPr/>
          </p:nvSpPr>
          <p:spPr bwMode="auto">
            <a:xfrm>
              <a:off x="1508" y="2590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55349" name="Rectangle 49"/>
            <p:cNvSpPr>
              <a:spLocks noChangeArrowheads="1"/>
            </p:cNvSpPr>
            <p:nvPr/>
          </p:nvSpPr>
          <p:spPr bwMode="auto">
            <a:xfrm>
              <a:off x="1763" y="2895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55350" name="Rectangle 50"/>
            <p:cNvSpPr>
              <a:spLocks noChangeArrowheads="1"/>
            </p:cNvSpPr>
            <p:nvPr/>
          </p:nvSpPr>
          <p:spPr bwMode="auto">
            <a:xfrm>
              <a:off x="1789" y="2895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55351" name="Rectangle 51"/>
            <p:cNvSpPr>
              <a:spLocks noChangeArrowheads="1"/>
            </p:cNvSpPr>
            <p:nvPr/>
          </p:nvSpPr>
          <p:spPr bwMode="auto">
            <a:xfrm>
              <a:off x="1840" y="289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55352" name="Rectangle 52"/>
            <p:cNvSpPr>
              <a:spLocks noChangeArrowheads="1"/>
            </p:cNvSpPr>
            <p:nvPr/>
          </p:nvSpPr>
          <p:spPr bwMode="auto">
            <a:xfrm>
              <a:off x="1888" y="2895"/>
              <a:ext cx="3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5353" name="Rectangle 53"/>
            <p:cNvSpPr>
              <a:spLocks noChangeArrowheads="1"/>
            </p:cNvSpPr>
            <p:nvPr/>
          </p:nvSpPr>
          <p:spPr bwMode="auto">
            <a:xfrm>
              <a:off x="1913" y="2895"/>
              <a:ext cx="3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5354" name="Rectangle 54"/>
            <p:cNvSpPr>
              <a:spLocks noChangeArrowheads="1"/>
            </p:cNvSpPr>
            <p:nvPr/>
          </p:nvSpPr>
          <p:spPr bwMode="auto">
            <a:xfrm>
              <a:off x="1944" y="2895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55355" name="Rectangle 55"/>
            <p:cNvSpPr>
              <a:spLocks noChangeArrowheads="1"/>
            </p:cNvSpPr>
            <p:nvPr/>
          </p:nvSpPr>
          <p:spPr bwMode="auto">
            <a:xfrm>
              <a:off x="1997" y="289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55356" name="Rectangle 56"/>
            <p:cNvSpPr>
              <a:spLocks noChangeArrowheads="1"/>
            </p:cNvSpPr>
            <p:nvPr/>
          </p:nvSpPr>
          <p:spPr bwMode="auto">
            <a:xfrm>
              <a:off x="2046" y="2895"/>
              <a:ext cx="3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5357" name="Rectangle 57"/>
            <p:cNvSpPr>
              <a:spLocks noChangeArrowheads="1"/>
            </p:cNvSpPr>
            <p:nvPr/>
          </p:nvSpPr>
          <p:spPr bwMode="auto">
            <a:xfrm>
              <a:off x="2072" y="2895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55358" name="Rectangle 58"/>
            <p:cNvSpPr>
              <a:spLocks noChangeArrowheads="1"/>
            </p:cNvSpPr>
            <p:nvPr/>
          </p:nvSpPr>
          <p:spPr bwMode="auto">
            <a:xfrm>
              <a:off x="2092" y="2895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55359" name="Rectangle 59"/>
            <p:cNvSpPr>
              <a:spLocks noChangeArrowheads="1"/>
            </p:cNvSpPr>
            <p:nvPr/>
          </p:nvSpPr>
          <p:spPr bwMode="auto">
            <a:xfrm>
              <a:off x="2145" y="2895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55360" name="Line 60"/>
            <p:cNvSpPr>
              <a:spLocks noChangeShapeType="1"/>
            </p:cNvSpPr>
            <p:nvPr/>
          </p:nvSpPr>
          <p:spPr bwMode="auto">
            <a:xfrm>
              <a:off x="960" y="2598"/>
              <a:ext cx="184" cy="1"/>
            </a:xfrm>
            <a:prstGeom prst="line">
              <a:avLst/>
            </a:prstGeom>
            <a:noFill/>
            <a:ln w="316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61" name="Freeform 61"/>
            <p:cNvSpPr>
              <a:spLocks noChangeArrowheads="1"/>
            </p:cNvSpPr>
            <p:nvPr/>
          </p:nvSpPr>
          <p:spPr bwMode="auto">
            <a:xfrm>
              <a:off x="1124" y="2576"/>
              <a:ext cx="48" cy="48"/>
            </a:xfrm>
            <a:custGeom>
              <a:avLst/>
              <a:gdLst>
                <a:gd name="T0" fmla="*/ 0 w 48"/>
                <a:gd name="T1" fmla="*/ 0 h 48"/>
                <a:gd name="T2" fmla="*/ 3 w 48"/>
                <a:gd name="T3" fmla="*/ 48 h 48"/>
                <a:gd name="T4" fmla="*/ 48 w 48"/>
                <a:gd name="T5" fmla="*/ 22 h 48"/>
                <a:gd name="T6" fmla="*/ 3 w 48"/>
                <a:gd name="T7" fmla="*/ 0 h 48"/>
                <a:gd name="T8" fmla="*/ 3 w 48"/>
                <a:gd name="T9" fmla="*/ 0 h 48"/>
                <a:gd name="T10" fmla="*/ 0 w 48"/>
                <a:gd name="T11" fmla="*/ 0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8"/>
                <a:gd name="T19" fmla="*/ 0 h 48"/>
                <a:gd name="T20" fmla="*/ 48 w 48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8" h="48">
                  <a:moveTo>
                    <a:pt x="0" y="0"/>
                  </a:moveTo>
                  <a:lnTo>
                    <a:pt x="3" y="48"/>
                  </a:lnTo>
                  <a:lnTo>
                    <a:pt x="48" y="22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62" name="Freeform 62"/>
            <p:cNvSpPr>
              <a:spLocks noChangeArrowheads="1"/>
            </p:cNvSpPr>
            <p:nvPr/>
          </p:nvSpPr>
          <p:spPr bwMode="auto">
            <a:xfrm>
              <a:off x="2403" y="2929"/>
              <a:ext cx="48" cy="49"/>
            </a:xfrm>
            <a:custGeom>
              <a:avLst/>
              <a:gdLst>
                <a:gd name="T0" fmla="*/ 0 w 48"/>
                <a:gd name="T1" fmla="*/ 0 h 49"/>
                <a:gd name="T2" fmla="*/ 3 w 48"/>
                <a:gd name="T3" fmla="*/ 49 h 49"/>
                <a:gd name="T4" fmla="*/ 48 w 48"/>
                <a:gd name="T5" fmla="*/ 23 h 49"/>
                <a:gd name="T6" fmla="*/ 3 w 48"/>
                <a:gd name="T7" fmla="*/ 0 h 49"/>
                <a:gd name="T8" fmla="*/ 3 w 48"/>
                <a:gd name="T9" fmla="*/ 0 h 49"/>
                <a:gd name="T10" fmla="*/ 0 w 48"/>
                <a:gd name="T11" fmla="*/ 0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8"/>
                <a:gd name="T19" fmla="*/ 0 h 49"/>
                <a:gd name="T20" fmla="*/ 48 w 48"/>
                <a:gd name="T21" fmla="*/ 49 h 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8" h="49">
                  <a:moveTo>
                    <a:pt x="0" y="0"/>
                  </a:moveTo>
                  <a:lnTo>
                    <a:pt x="3" y="49"/>
                  </a:lnTo>
                  <a:lnTo>
                    <a:pt x="48" y="23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63" name="Line 63"/>
            <p:cNvSpPr>
              <a:spLocks noChangeShapeType="1"/>
            </p:cNvSpPr>
            <p:nvPr/>
          </p:nvSpPr>
          <p:spPr bwMode="auto">
            <a:xfrm>
              <a:off x="2239" y="2952"/>
              <a:ext cx="175" cy="1"/>
            </a:xfrm>
            <a:prstGeom prst="line">
              <a:avLst/>
            </a:prstGeom>
            <a:noFill/>
            <a:ln w="316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364" name="Rectangle 64"/>
            <p:cNvSpPr>
              <a:spLocks noChangeArrowheads="1"/>
            </p:cNvSpPr>
            <p:nvPr/>
          </p:nvSpPr>
          <p:spPr bwMode="auto">
            <a:xfrm>
              <a:off x="1259" y="3631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55365" name="Rectangle 65"/>
            <p:cNvSpPr>
              <a:spLocks noChangeArrowheads="1"/>
            </p:cNvSpPr>
            <p:nvPr/>
          </p:nvSpPr>
          <p:spPr bwMode="auto">
            <a:xfrm>
              <a:off x="1314" y="3631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.</a:t>
              </a:r>
            </a:p>
          </p:txBody>
        </p:sp>
        <p:sp>
          <p:nvSpPr>
            <p:cNvPr id="55366" name="Rectangle 66"/>
            <p:cNvSpPr>
              <a:spLocks noChangeArrowheads="1"/>
            </p:cNvSpPr>
            <p:nvPr/>
          </p:nvSpPr>
          <p:spPr bwMode="auto">
            <a:xfrm>
              <a:off x="1339" y="3631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55367" name="Rectangle 67"/>
            <p:cNvSpPr>
              <a:spLocks noChangeArrowheads="1"/>
            </p:cNvSpPr>
            <p:nvPr/>
          </p:nvSpPr>
          <p:spPr bwMode="auto">
            <a:xfrm>
              <a:off x="1365" y="3631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55368" name="Rectangle 68"/>
            <p:cNvSpPr>
              <a:spLocks noChangeArrowheads="1"/>
            </p:cNvSpPr>
            <p:nvPr/>
          </p:nvSpPr>
          <p:spPr bwMode="auto">
            <a:xfrm>
              <a:off x="1390" y="3631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55369" name="Rectangle 69"/>
            <p:cNvSpPr>
              <a:spLocks noChangeArrowheads="1"/>
            </p:cNvSpPr>
            <p:nvPr/>
          </p:nvSpPr>
          <p:spPr bwMode="auto">
            <a:xfrm>
              <a:off x="1443" y="3631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55370" name="Rectangle 70"/>
            <p:cNvSpPr>
              <a:spLocks noChangeArrowheads="1"/>
            </p:cNvSpPr>
            <p:nvPr/>
          </p:nvSpPr>
          <p:spPr bwMode="auto">
            <a:xfrm>
              <a:off x="1489" y="3631"/>
              <a:ext cx="3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5371" name="Rectangle 71"/>
            <p:cNvSpPr>
              <a:spLocks noChangeArrowheads="1"/>
            </p:cNvSpPr>
            <p:nvPr/>
          </p:nvSpPr>
          <p:spPr bwMode="auto">
            <a:xfrm>
              <a:off x="1517" y="3631"/>
              <a:ext cx="3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5372" name="Rectangle 72"/>
            <p:cNvSpPr>
              <a:spLocks noChangeArrowheads="1"/>
            </p:cNvSpPr>
            <p:nvPr/>
          </p:nvSpPr>
          <p:spPr bwMode="auto">
            <a:xfrm>
              <a:off x="1548" y="3631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55373" name="Rectangle 73"/>
            <p:cNvSpPr>
              <a:spLocks noChangeArrowheads="1"/>
            </p:cNvSpPr>
            <p:nvPr/>
          </p:nvSpPr>
          <p:spPr bwMode="auto">
            <a:xfrm>
              <a:off x="1599" y="3631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55374" name="Rectangle 74"/>
            <p:cNvSpPr>
              <a:spLocks noChangeArrowheads="1"/>
            </p:cNvSpPr>
            <p:nvPr/>
          </p:nvSpPr>
          <p:spPr bwMode="auto">
            <a:xfrm>
              <a:off x="1647" y="3631"/>
              <a:ext cx="3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5375" name="Rectangle 75"/>
            <p:cNvSpPr>
              <a:spLocks noChangeArrowheads="1"/>
            </p:cNvSpPr>
            <p:nvPr/>
          </p:nvSpPr>
          <p:spPr bwMode="auto">
            <a:xfrm>
              <a:off x="1673" y="3631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55376" name="Rectangle 76"/>
            <p:cNvSpPr>
              <a:spLocks noChangeArrowheads="1"/>
            </p:cNvSpPr>
            <p:nvPr/>
          </p:nvSpPr>
          <p:spPr bwMode="auto">
            <a:xfrm>
              <a:off x="1696" y="3631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55377" name="Rectangle 77"/>
            <p:cNvSpPr>
              <a:spLocks noChangeArrowheads="1"/>
            </p:cNvSpPr>
            <p:nvPr/>
          </p:nvSpPr>
          <p:spPr bwMode="auto">
            <a:xfrm>
              <a:off x="1746" y="3631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55378" name="Rectangle 78"/>
            <p:cNvSpPr>
              <a:spLocks noChangeArrowheads="1"/>
            </p:cNvSpPr>
            <p:nvPr/>
          </p:nvSpPr>
          <p:spPr bwMode="auto">
            <a:xfrm>
              <a:off x="1800" y="3631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55379" name="Rectangle 79"/>
            <p:cNvSpPr>
              <a:spLocks noChangeArrowheads="1"/>
            </p:cNvSpPr>
            <p:nvPr/>
          </p:nvSpPr>
          <p:spPr bwMode="auto">
            <a:xfrm>
              <a:off x="1826" y="3631"/>
              <a:ext cx="86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55380" name="Rectangle 80"/>
            <p:cNvSpPr>
              <a:spLocks noChangeArrowheads="1"/>
            </p:cNvSpPr>
            <p:nvPr/>
          </p:nvSpPr>
          <p:spPr bwMode="auto">
            <a:xfrm>
              <a:off x="1904" y="3631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55381" name="Rectangle 81"/>
            <p:cNvSpPr>
              <a:spLocks noChangeArrowheads="1"/>
            </p:cNvSpPr>
            <p:nvPr/>
          </p:nvSpPr>
          <p:spPr bwMode="auto">
            <a:xfrm>
              <a:off x="1955" y="3631"/>
              <a:ext cx="86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55382" name="Rectangle 82"/>
            <p:cNvSpPr>
              <a:spLocks noChangeArrowheads="1"/>
            </p:cNvSpPr>
            <p:nvPr/>
          </p:nvSpPr>
          <p:spPr bwMode="auto">
            <a:xfrm>
              <a:off x="2035" y="3631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55383" name="Rectangle 83"/>
            <p:cNvSpPr>
              <a:spLocks noChangeArrowheads="1"/>
            </p:cNvSpPr>
            <p:nvPr/>
          </p:nvSpPr>
          <p:spPr bwMode="auto">
            <a:xfrm>
              <a:off x="2086" y="3631"/>
              <a:ext cx="3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5384" name="Rectangle 84"/>
            <p:cNvSpPr>
              <a:spLocks noChangeArrowheads="1"/>
            </p:cNvSpPr>
            <p:nvPr/>
          </p:nvSpPr>
          <p:spPr bwMode="auto">
            <a:xfrm>
              <a:off x="2121" y="3631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55385" name="Rectangle 85"/>
            <p:cNvSpPr>
              <a:spLocks noChangeArrowheads="1"/>
            </p:cNvSpPr>
            <p:nvPr/>
          </p:nvSpPr>
          <p:spPr bwMode="auto">
            <a:xfrm>
              <a:off x="2790" y="3631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b</a:t>
              </a:r>
            </a:p>
          </p:txBody>
        </p:sp>
        <p:sp>
          <p:nvSpPr>
            <p:cNvPr id="55386" name="Rectangle 86"/>
            <p:cNvSpPr>
              <a:spLocks noChangeArrowheads="1"/>
            </p:cNvSpPr>
            <p:nvPr/>
          </p:nvSpPr>
          <p:spPr bwMode="auto">
            <a:xfrm>
              <a:off x="2844" y="3631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.</a:t>
              </a:r>
            </a:p>
          </p:txBody>
        </p:sp>
        <p:sp>
          <p:nvSpPr>
            <p:cNvPr id="55387" name="Rectangle 87"/>
            <p:cNvSpPr>
              <a:spLocks noChangeArrowheads="1"/>
            </p:cNvSpPr>
            <p:nvPr/>
          </p:nvSpPr>
          <p:spPr bwMode="auto">
            <a:xfrm>
              <a:off x="2870" y="3631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55388" name="Rectangle 88"/>
            <p:cNvSpPr>
              <a:spLocks noChangeArrowheads="1"/>
            </p:cNvSpPr>
            <p:nvPr/>
          </p:nvSpPr>
          <p:spPr bwMode="auto">
            <a:xfrm>
              <a:off x="2895" y="3631"/>
              <a:ext cx="6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55389" name="Rectangle 89"/>
            <p:cNvSpPr>
              <a:spLocks noChangeArrowheads="1"/>
            </p:cNvSpPr>
            <p:nvPr/>
          </p:nvSpPr>
          <p:spPr bwMode="auto">
            <a:xfrm>
              <a:off x="2960" y="3631"/>
              <a:ext cx="3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5390" name="Rectangle 90"/>
            <p:cNvSpPr>
              <a:spLocks noChangeArrowheads="1"/>
            </p:cNvSpPr>
            <p:nvPr/>
          </p:nvSpPr>
          <p:spPr bwMode="auto">
            <a:xfrm>
              <a:off x="2991" y="3631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55391" name="Rectangle 91"/>
            <p:cNvSpPr>
              <a:spLocks noChangeArrowheads="1"/>
            </p:cNvSpPr>
            <p:nvPr/>
          </p:nvSpPr>
          <p:spPr bwMode="auto">
            <a:xfrm>
              <a:off x="3042" y="3631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55392" name="Rectangle 92"/>
            <p:cNvSpPr>
              <a:spLocks noChangeArrowheads="1"/>
            </p:cNvSpPr>
            <p:nvPr/>
          </p:nvSpPr>
          <p:spPr bwMode="auto">
            <a:xfrm>
              <a:off x="3096" y="3631"/>
              <a:ext cx="3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5393" name="Rectangle 93"/>
            <p:cNvSpPr>
              <a:spLocks noChangeArrowheads="1"/>
            </p:cNvSpPr>
            <p:nvPr/>
          </p:nvSpPr>
          <p:spPr bwMode="auto">
            <a:xfrm>
              <a:off x="3127" y="3631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55394" name="Rectangle 94"/>
            <p:cNvSpPr>
              <a:spLocks noChangeArrowheads="1"/>
            </p:cNvSpPr>
            <p:nvPr/>
          </p:nvSpPr>
          <p:spPr bwMode="auto">
            <a:xfrm>
              <a:off x="3178" y="3631"/>
              <a:ext cx="86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55395" name="Rectangle 95"/>
            <p:cNvSpPr>
              <a:spLocks noChangeArrowheads="1"/>
            </p:cNvSpPr>
            <p:nvPr/>
          </p:nvSpPr>
          <p:spPr bwMode="auto">
            <a:xfrm>
              <a:off x="3257" y="3631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55396" name="Rectangle 96"/>
            <p:cNvSpPr>
              <a:spLocks noChangeArrowheads="1"/>
            </p:cNvSpPr>
            <p:nvPr/>
          </p:nvSpPr>
          <p:spPr bwMode="auto">
            <a:xfrm>
              <a:off x="3283" y="3631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55397" name="Rectangle 97"/>
            <p:cNvSpPr>
              <a:spLocks noChangeArrowheads="1"/>
            </p:cNvSpPr>
            <p:nvPr/>
          </p:nvSpPr>
          <p:spPr bwMode="auto">
            <a:xfrm>
              <a:off x="3331" y="3631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55398" name="Rectangle 98"/>
            <p:cNvSpPr>
              <a:spLocks noChangeArrowheads="1"/>
            </p:cNvSpPr>
            <p:nvPr/>
          </p:nvSpPr>
          <p:spPr bwMode="auto">
            <a:xfrm>
              <a:off x="3384" y="3631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55399" name="Rectangle 99"/>
            <p:cNvSpPr>
              <a:spLocks noChangeArrowheads="1"/>
            </p:cNvSpPr>
            <p:nvPr/>
          </p:nvSpPr>
          <p:spPr bwMode="auto">
            <a:xfrm>
              <a:off x="3435" y="3631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55400" name="Rectangle 100"/>
            <p:cNvSpPr>
              <a:spLocks noChangeArrowheads="1"/>
            </p:cNvSpPr>
            <p:nvPr/>
          </p:nvSpPr>
          <p:spPr bwMode="auto">
            <a:xfrm>
              <a:off x="3489" y="3631"/>
              <a:ext cx="3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5401" name="Rectangle 101"/>
            <p:cNvSpPr>
              <a:spLocks noChangeArrowheads="1"/>
            </p:cNvSpPr>
            <p:nvPr/>
          </p:nvSpPr>
          <p:spPr bwMode="auto">
            <a:xfrm>
              <a:off x="3515" y="3631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55402" name="Rectangle 102"/>
            <p:cNvSpPr>
              <a:spLocks noChangeArrowheads="1"/>
            </p:cNvSpPr>
            <p:nvPr/>
          </p:nvSpPr>
          <p:spPr bwMode="auto">
            <a:xfrm>
              <a:off x="3565" y="3631"/>
              <a:ext cx="3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5403" name="Freeform 103"/>
            <p:cNvSpPr>
              <a:spLocks noChangeArrowheads="1"/>
            </p:cNvSpPr>
            <p:nvPr/>
          </p:nvSpPr>
          <p:spPr bwMode="auto">
            <a:xfrm>
              <a:off x="4131" y="2477"/>
              <a:ext cx="589" cy="950"/>
            </a:xfrm>
            <a:custGeom>
              <a:avLst/>
              <a:gdLst>
                <a:gd name="T0" fmla="*/ 0 w 589"/>
                <a:gd name="T1" fmla="*/ 0 h 950"/>
                <a:gd name="T2" fmla="*/ 0 w 589"/>
                <a:gd name="T3" fmla="*/ 385 h 950"/>
                <a:gd name="T4" fmla="*/ 99 w 589"/>
                <a:gd name="T5" fmla="*/ 475 h 950"/>
                <a:gd name="T6" fmla="*/ 0 w 589"/>
                <a:gd name="T7" fmla="*/ 568 h 950"/>
                <a:gd name="T8" fmla="*/ 0 w 589"/>
                <a:gd name="T9" fmla="*/ 950 h 950"/>
                <a:gd name="T10" fmla="*/ 589 w 589"/>
                <a:gd name="T11" fmla="*/ 659 h 950"/>
                <a:gd name="T12" fmla="*/ 589 w 589"/>
                <a:gd name="T13" fmla="*/ 291 h 950"/>
                <a:gd name="T14" fmla="*/ 0 w 589"/>
                <a:gd name="T15" fmla="*/ 3 h 950"/>
                <a:gd name="T16" fmla="*/ 0 w 589"/>
                <a:gd name="T17" fmla="*/ 3 h 950"/>
                <a:gd name="T18" fmla="*/ 0 w 589"/>
                <a:gd name="T19" fmla="*/ 0 h 95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589"/>
                <a:gd name="T31" fmla="*/ 0 h 950"/>
                <a:gd name="T32" fmla="*/ 589 w 589"/>
                <a:gd name="T33" fmla="*/ 950 h 95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589" h="950">
                  <a:moveTo>
                    <a:pt x="0" y="0"/>
                  </a:moveTo>
                  <a:lnTo>
                    <a:pt x="0" y="385"/>
                  </a:lnTo>
                  <a:lnTo>
                    <a:pt x="99" y="475"/>
                  </a:lnTo>
                  <a:lnTo>
                    <a:pt x="0" y="568"/>
                  </a:lnTo>
                  <a:lnTo>
                    <a:pt x="0" y="950"/>
                  </a:lnTo>
                  <a:lnTo>
                    <a:pt x="589" y="659"/>
                  </a:lnTo>
                  <a:lnTo>
                    <a:pt x="589" y="291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404" name="Freeform 104"/>
            <p:cNvSpPr>
              <a:spLocks noChangeArrowheads="1"/>
            </p:cNvSpPr>
            <p:nvPr/>
          </p:nvSpPr>
          <p:spPr bwMode="auto">
            <a:xfrm>
              <a:off x="4131" y="2477"/>
              <a:ext cx="589" cy="950"/>
            </a:xfrm>
            <a:custGeom>
              <a:avLst/>
              <a:gdLst>
                <a:gd name="T0" fmla="*/ 0 w 589"/>
                <a:gd name="T1" fmla="*/ 0 h 950"/>
                <a:gd name="T2" fmla="*/ 0 w 589"/>
                <a:gd name="T3" fmla="*/ 385 h 950"/>
                <a:gd name="T4" fmla="*/ 99 w 589"/>
                <a:gd name="T5" fmla="*/ 475 h 950"/>
                <a:gd name="T6" fmla="*/ 0 w 589"/>
                <a:gd name="T7" fmla="*/ 568 h 950"/>
                <a:gd name="T8" fmla="*/ 0 w 589"/>
                <a:gd name="T9" fmla="*/ 950 h 950"/>
                <a:gd name="T10" fmla="*/ 589 w 589"/>
                <a:gd name="T11" fmla="*/ 659 h 950"/>
                <a:gd name="T12" fmla="*/ 589 w 589"/>
                <a:gd name="T13" fmla="*/ 291 h 950"/>
                <a:gd name="T14" fmla="*/ 0 w 589"/>
                <a:gd name="T15" fmla="*/ 3 h 950"/>
                <a:gd name="T16" fmla="*/ 0 w 589"/>
                <a:gd name="T17" fmla="*/ 3 h 95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589"/>
                <a:gd name="T28" fmla="*/ 0 h 950"/>
                <a:gd name="T29" fmla="*/ 589 w 589"/>
                <a:gd name="T30" fmla="*/ 950 h 95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589" h="950">
                  <a:moveTo>
                    <a:pt x="0" y="0"/>
                  </a:moveTo>
                  <a:lnTo>
                    <a:pt x="0" y="385"/>
                  </a:lnTo>
                  <a:lnTo>
                    <a:pt x="99" y="475"/>
                  </a:lnTo>
                  <a:lnTo>
                    <a:pt x="0" y="568"/>
                  </a:lnTo>
                  <a:lnTo>
                    <a:pt x="0" y="950"/>
                  </a:lnTo>
                  <a:lnTo>
                    <a:pt x="589" y="659"/>
                  </a:lnTo>
                  <a:lnTo>
                    <a:pt x="589" y="291"/>
                  </a:lnTo>
                  <a:lnTo>
                    <a:pt x="0" y="3"/>
                  </a:lnTo>
                </a:path>
              </a:pathLst>
            </a:custGeom>
            <a:noFill/>
            <a:ln w="176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405" name="Freeform 105"/>
            <p:cNvSpPr>
              <a:spLocks noChangeArrowheads="1"/>
            </p:cNvSpPr>
            <p:nvPr/>
          </p:nvSpPr>
          <p:spPr bwMode="auto">
            <a:xfrm>
              <a:off x="4078" y="2644"/>
              <a:ext cx="48" cy="48"/>
            </a:xfrm>
            <a:custGeom>
              <a:avLst/>
              <a:gdLst>
                <a:gd name="T0" fmla="*/ 0 w 48"/>
                <a:gd name="T1" fmla="*/ 0 h 48"/>
                <a:gd name="T2" fmla="*/ 2 w 48"/>
                <a:gd name="T3" fmla="*/ 48 h 48"/>
                <a:gd name="T4" fmla="*/ 48 w 48"/>
                <a:gd name="T5" fmla="*/ 25 h 48"/>
                <a:gd name="T6" fmla="*/ 2 w 48"/>
                <a:gd name="T7" fmla="*/ 2 h 48"/>
                <a:gd name="T8" fmla="*/ 2 w 48"/>
                <a:gd name="T9" fmla="*/ 2 h 48"/>
                <a:gd name="T10" fmla="*/ 0 w 48"/>
                <a:gd name="T11" fmla="*/ 0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8"/>
                <a:gd name="T19" fmla="*/ 0 h 48"/>
                <a:gd name="T20" fmla="*/ 48 w 48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8" h="48">
                  <a:moveTo>
                    <a:pt x="0" y="0"/>
                  </a:moveTo>
                  <a:lnTo>
                    <a:pt x="2" y="48"/>
                  </a:lnTo>
                  <a:lnTo>
                    <a:pt x="48" y="25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406" name="Freeform 106"/>
            <p:cNvSpPr>
              <a:spLocks noChangeArrowheads="1"/>
            </p:cNvSpPr>
            <p:nvPr/>
          </p:nvSpPr>
          <p:spPr bwMode="auto">
            <a:xfrm>
              <a:off x="4078" y="3212"/>
              <a:ext cx="48" cy="48"/>
            </a:xfrm>
            <a:custGeom>
              <a:avLst/>
              <a:gdLst>
                <a:gd name="T0" fmla="*/ 0 w 48"/>
                <a:gd name="T1" fmla="*/ 0 h 48"/>
                <a:gd name="T2" fmla="*/ 2 w 48"/>
                <a:gd name="T3" fmla="*/ 48 h 48"/>
                <a:gd name="T4" fmla="*/ 48 w 48"/>
                <a:gd name="T5" fmla="*/ 23 h 48"/>
                <a:gd name="T6" fmla="*/ 2 w 48"/>
                <a:gd name="T7" fmla="*/ 0 h 48"/>
                <a:gd name="T8" fmla="*/ 2 w 48"/>
                <a:gd name="T9" fmla="*/ 0 h 48"/>
                <a:gd name="T10" fmla="*/ 0 w 48"/>
                <a:gd name="T11" fmla="*/ 0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8"/>
                <a:gd name="T19" fmla="*/ 0 h 48"/>
                <a:gd name="T20" fmla="*/ 48 w 48"/>
                <a:gd name="T21" fmla="*/ 48 h 4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8" h="48">
                  <a:moveTo>
                    <a:pt x="0" y="0"/>
                  </a:moveTo>
                  <a:lnTo>
                    <a:pt x="2" y="48"/>
                  </a:lnTo>
                  <a:lnTo>
                    <a:pt x="48" y="23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407" name="Rectangle 107"/>
            <p:cNvSpPr>
              <a:spLocks noChangeArrowheads="1"/>
            </p:cNvSpPr>
            <p:nvPr/>
          </p:nvSpPr>
          <p:spPr bwMode="auto">
            <a:xfrm>
              <a:off x="4254" y="2898"/>
              <a:ext cx="7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55408" name="Rectangle 108"/>
            <p:cNvSpPr>
              <a:spLocks noChangeArrowheads="1"/>
            </p:cNvSpPr>
            <p:nvPr/>
          </p:nvSpPr>
          <p:spPr bwMode="auto">
            <a:xfrm>
              <a:off x="4315" y="2898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55409" name="Rectangle 109"/>
            <p:cNvSpPr>
              <a:spLocks noChangeArrowheads="1"/>
            </p:cNvSpPr>
            <p:nvPr/>
          </p:nvSpPr>
          <p:spPr bwMode="auto">
            <a:xfrm>
              <a:off x="4366" y="2898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55410" name="Rectangle 110"/>
            <p:cNvSpPr>
              <a:spLocks noChangeArrowheads="1"/>
            </p:cNvSpPr>
            <p:nvPr/>
          </p:nvSpPr>
          <p:spPr bwMode="auto">
            <a:xfrm>
              <a:off x="4496" y="2898"/>
              <a:ext cx="6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55411" name="Rectangle 111"/>
            <p:cNvSpPr>
              <a:spLocks noChangeArrowheads="1"/>
            </p:cNvSpPr>
            <p:nvPr/>
          </p:nvSpPr>
          <p:spPr bwMode="auto">
            <a:xfrm>
              <a:off x="4561" y="2898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55412" name="Rectangle 112"/>
            <p:cNvSpPr>
              <a:spLocks noChangeArrowheads="1"/>
            </p:cNvSpPr>
            <p:nvPr/>
          </p:nvSpPr>
          <p:spPr bwMode="auto">
            <a:xfrm>
              <a:off x="4612" y="2898"/>
              <a:ext cx="86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55413" name="Line 113"/>
            <p:cNvSpPr>
              <a:spLocks noChangeShapeType="1"/>
            </p:cNvSpPr>
            <p:nvPr/>
          </p:nvSpPr>
          <p:spPr bwMode="auto">
            <a:xfrm flipH="1">
              <a:off x="3912" y="2669"/>
              <a:ext cx="181" cy="1"/>
            </a:xfrm>
            <a:prstGeom prst="line">
              <a:avLst/>
            </a:prstGeom>
            <a:noFill/>
            <a:ln w="316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414" name="Line 114"/>
            <p:cNvSpPr>
              <a:spLocks noChangeShapeType="1"/>
            </p:cNvSpPr>
            <p:nvPr/>
          </p:nvSpPr>
          <p:spPr bwMode="auto">
            <a:xfrm>
              <a:off x="3913" y="3235"/>
              <a:ext cx="179" cy="1"/>
            </a:xfrm>
            <a:prstGeom prst="line">
              <a:avLst/>
            </a:prstGeom>
            <a:noFill/>
            <a:ln w="316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415" name="Line 115"/>
            <p:cNvSpPr>
              <a:spLocks noChangeShapeType="1"/>
            </p:cNvSpPr>
            <p:nvPr/>
          </p:nvSpPr>
          <p:spPr bwMode="auto">
            <a:xfrm>
              <a:off x="4720" y="2952"/>
              <a:ext cx="181" cy="1"/>
            </a:xfrm>
            <a:prstGeom prst="line">
              <a:avLst/>
            </a:prstGeom>
            <a:noFill/>
            <a:ln w="316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416" name="Freeform 116"/>
            <p:cNvSpPr>
              <a:spLocks noChangeArrowheads="1"/>
            </p:cNvSpPr>
            <p:nvPr/>
          </p:nvSpPr>
          <p:spPr bwMode="auto">
            <a:xfrm>
              <a:off x="4884" y="2929"/>
              <a:ext cx="48" cy="49"/>
            </a:xfrm>
            <a:custGeom>
              <a:avLst/>
              <a:gdLst>
                <a:gd name="T0" fmla="*/ 0 w 48"/>
                <a:gd name="T1" fmla="*/ 0 h 49"/>
                <a:gd name="T2" fmla="*/ 3 w 48"/>
                <a:gd name="T3" fmla="*/ 49 h 49"/>
                <a:gd name="T4" fmla="*/ 48 w 48"/>
                <a:gd name="T5" fmla="*/ 23 h 49"/>
                <a:gd name="T6" fmla="*/ 3 w 48"/>
                <a:gd name="T7" fmla="*/ 0 h 49"/>
                <a:gd name="T8" fmla="*/ 3 w 48"/>
                <a:gd name="T9" fmla="*/ 0 h 49"/>
                <a:gd name="T10" fmla="*/ 0 w 48"/>
                <a:gd name="T11" fmla="*/ 0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8"/>
                <a:gd name="T19" fmla="*/ 0 h 49"/>
                <a:gd name="T20" fmla="*/ 48 w 48"/>
                <a:gd name="T21" fmla="*/ 49 h 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8" h="49">
                  <a:moveTo>
                    <a:pt x="0" y="0"/>
                  </a:moveTo>
                  <a:lnTo>
                    <a:pt x="3" y="49"/>
                  </a:lnTo>
                  <a:lnTo>
                    <a:pt x="48" y="23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417" name="Rectangle 117"/>
            <p:cNvSpPr>
              <a:spLocks noChangeArrowheads="1"/>
            </p:cNvSpPr>
            <p:nvPr/>
          </p:nvSpPr>
          <p:spPr bwMode="auto">
            <a:xfrm>
              <a:off x="4255" y="3631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55418" name="Rectangle 118"/>
            <p:cNvSpPr>
              <a:spLocks noChangeArrowheads="1"/>
            </p:cNvSpPr>
            <p:nvPr/>
          </p:nvSpPr>
          <p:spPr bwMode="auto">
            <a:xfrm>
              <a:off x="4304" y="3631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.</a:t>
              </a:r>
            </a:p>
          </p:txBody>
        </p:sp>
        <p:sp>
          <p:nvSpPr>
            <p:cNvPr id="55419" name="Rectangle 119"/>
            <p:cNvSpPr>
              <a:spLocks noChangeArrowheads="1"/>
            </p:cNvSpPr>
            <p:nvPr/>
          </p:nvSpPr>
          <p:spPr bwMode="auto">
            <a:xfrm>
              <a:off x="4329" y="3631"/>
              <a:ext cx="2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55420" name="Rectangle 120"/>
            <p:cNvSpPr>
              <a:spLocks noChangeArrowheads="1"/>
            </p:cNvSpPr>
            <p:nvPr/>
          </p:nvSpPr>
          <p:spPr bwMode="auto">
            <a:xfrm>
              <a:off x="4356" y="3631"/>
              <a:ext cx="7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55421" name="Rectangle 121"/>
            <p:cNvSpPr>
              <a:spLocks noChangeArrowheads="1"/>
            </p:cNvSpPr>
            <p:nvPr/>
          </p:nvSpPr>
          <p:spPr bwMode="auto">
            <a:xfrm>
              <a:off x="4417" y="3631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55422" name="Rectangle 122"/>
            <p:cNvSpPr>
              <a:spLocks noChangeArrowheads="1"/>
            </p:cNvSpPr>
            <p:nvPr/>
          </p:nvSpPr>
          <p:spPr bwMode="auto">
            <a:xfrm>
              <a:off x="4471" y="3631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55423" name="Rectangle 123"/>
            <p:cNvSpPr>
              <a:spLocks noChangeArrowheads="1"/>
            </p:cNvSpPr>
            <p:nvPr/>
          </p:nvSpPr>
          <p:spPr bwMode="auto">
            <a:xfrm>
              <a:off x="4521" y="3631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55424" name="Rectangle 124"/>
            <p:cNvSpPr>
              <a:spLocks noChangeArrowheads="1"/>
            </p:cNvSpPr>
            <p:nvPr/>
          </p:nvSpPr>
          <p:spPr bwMode="auto">
            <a:xfrm>
              <a:off x="4575" y="3631"/>
              <a:ext cx="3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27088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dirty="0">
                <a:ea typeface="新細明體" charset="-120"/>
                <a:cs typeface="新細明體" charset="-120"/>
              </a:rPr>
              <a:t>Instruction Fetch</a:t>
            </a:r>
          </a:p>
        </p:txBody>
      </p:sp>
      <p:sp>
        <p:nvSpPr>
          <p:cNvPr id="57350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124744"/>
            <a:ext cx="10972800" cy="1998910"/>
          </a:xfrm>
        </p:spPr>
        <p:txBody>
          <a:bodyPr>
            <a:normAutofit fontScale="92500" lnSpcReduction="10000"/>
          </a:bodyPr>
          <a:lstStyle/>
          <a:p>
            <a:pPr marL="379413" indent="-379413">
              <a:buSzPct val="100000"/>
              <a:buFont typeface="Wingdings" charset="2"/>
              <a:buAutoNum type="arabicPeriod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Fetch the current instruction from memory using PC</a:t>
            </a:r>
          </a:p>
          <a:p>
            <a:pPr marL="379413" indent="-379413">
              <a:buSzPct val="100000"/>
              <a:buFont typeface="Wingdings" charset="2"/>
              <a:buAutoNum type="arabicPeriod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Prepare for the next instruction</a:t>
            </a:r>
          </a:p>
          <a:p>
            <a:pPr marL="785813" lvl="1" indent="-381000">
              <a:buSzPct val="100000"/>
              <a:buFont typeface="Wingdings" charset="2"/>
              <a:buChar char="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By incrementing PC by </a:t>
            </a:r>
            <a:r>
              <a:rPr lang="en-GB" altLang="zh-TW" dirty="0">
                <a:solidFill>
                  <a:srgbClr val="CD3333"/>
                </a:solidFill>
                <a:ea typeface="新細明體" charset="-120"/>
              </a:rPr>
              <a:t>4 </a:t>
            </a:r>
            <a:r>
              <a:rPr lang="en-GB" altLang="zh-TW" dirty="0">
                <a:ea typeface="新細明體" charset="-120"/>
              </a:rPr>
              <a:t>to point to next instruction (base case)</a:t>
            </a:r>
          </a:p>
          <a:p>
            <a:pPr marL="785813" lvl="1" indent="-381000">
              <a:buSzPct val="100000"/>
              <a:buFont typeface="Wingdings" charset="2"/>
              <a:buChar char="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Will worry about the branches later</a:t>
            </a:r>
          </a:p>
        </p:txBody>
      </p:sp>
      <p:grpSp>
        <p:nvGrpSpPr>
          <p:cNvPr id="57351" name="Group 90"/>
          <p:cNvGrpSpPr>
            <a:grpSpLocks/>
          </p:cNvGrpSpPr>
          <p:nvPr/>
        </p:nvGrpSpPr>
        <p:grpSpPr bwMode="auto">
          <a:xfrm>
            <a:off x="4191001" y="3354983"/>
            <a:ext cx="3395663" cy="2954337"/>
            <a:chOff x="2060" y="2023"/>
            <a:chExt cx="2139" cy="1861"/>
          </a:xfrm>
        </p:grpSpPr>
        <p:sp>
          <p:nvSpPr>
            <p:cNvPr id="57352" name="Freeform 91"/>
            <p:cNvSpPr>
              <a:spLocks/>
            </p:cNvSpPr>
            <p:nvPr/>
          </p:nvSpPr>
          <p:spPr bwMode="auto">
            <a:xfrm>
              <a:off x="2185" y="2866"/>
              <a:ext cx="157" cy="437"/>
            </a:xfrm>
            <a:custGeom>
              <a:avLst/>
              <a:gdLst>
                <a:gd name="T0" fmla="*/ 154 w 157"/>
                <a:gd name="T1" fmla="*/ 437 h 437"/>
                <a:gd name="T2" fmla="*/ 157 w 157"/>
                <a:gd name="T3" fmla="*/ 0 h 437"/>
                <a:gd name="T4" fmla="*/ 0 w 157"/>
                <a:gd name="T5" fmla="*/ 0 h 437"/>
                <a:gd name="T6" fmla="*/ 0 w 157"/>
                <a:gd name="T7" fmla="*/ 437 h 437"/>
                <a:gd name="T8" fmla="*/ 157 w 157"/>
                <a:gd name="T9" fmla="*/ 437 h 437"/>
                <a:gd name="T10" fmla="*/ 157 w 157"/>
                <a:gd name="T11" fmla="*/ 437 h 437"/>
                <a:gd name="T12" fmla="*/ 154 w 157"/>
                <a:gd name="T13" fmla="*/ 437 h 4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7"/>
                <a:gd name="T22" fmla="*/ 0 h 437"/>
                <a:gd name="T23" fmla="*/ 157 w 157"/>
                <a:gd name="T24" fmla="*/ 437 h 4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7" h="437">
                  <a:moveTo>
                    <a:pt x="154" y="437"/>
                  </a:moveTo>
                  <a:lnTo>
                    <a:pt x="157" y="0"/>
                  </a:lnTo>
                  <a:lnTo>
                    <a:pt x="0" y="0"/>
                  </a:lnTo>
                  <a:lnTo>
                    <a:pt x="0" y="437"/>
                  </a:lnTo>
                  <a:lnTo>
                    <a:pt x="157" y="437"/>
                  </a:lnTo>
                  <a:lnTo>
                    <a:pt x="154" y="4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53" name="Freeform 92"/>
            <p:cNvSpPr>
              <a:spLocks/>
            </p:cNvSpPr>
            <p:nvPr/>
          </p:nvSpPr>
          <p:spPr bwMode="auto">
            <a:xfrm>
              <a:off x="2185" y="2866"/>
              <a:ext cx="157" cy="437"/>
            </a:xfrm>
            <a:custGeom>
              <a:avLst/>
              <a:gdLst>
                <a:gd name="T0" fmla="*/ 154 w 157"/>
                <a:gd name="T1" fmla="*/ 437 h 437"/>
                <a:gd name="T2" fmla="*/ 157 w 157"/>
                <a:gd name="T3" fmla="*/ 0 h 437"/>
                <a:gd name="T4" fmla="*/ 0 w 157"/>
                <a:gd name="T5" fmla="*/ 0 h 437"/>
                <a:gd name="T6" fmla="*/ 0 w 157"/>
                <a:gd name="T7" fmla="*/ 437 h 437"/>
                <a:gd name="T8" fmla="*/ 157 w 157"/>
                <a:gd name="T9" fmla="*/ 437 h 437"/>
                <a:gd name="T10" fmla="*/ 157 w 157"/>
                <a:gd name="T11" fmla="*/ 437 h 4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7"/>
                <a:gd name="T19" fmla="*/ 0 h 437"/>
                <a:gd name="T20" fmla="*/ 157 w 157"/>
                <a:gd name="T21" fmla="*/ 437 h 43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7" h="437">
                  <a:moveTo>
                    <a:pt x="154" y="437"/>
                  </a:moveTo>
                  <a:lnTo>
                    <a:pt x="157" y="0"/>
                  </a:lnTo>
                  <a:lnTo>
                    <a:pt x="0" y="0"/>
                  </a:lnTo>
                  <a:lnTo>
                    <a:pt x="0" y="437"/>
                  </a:lnTo>
                  <a:lnTo>
                    <a:pt x="157" y="437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54" name="Rectangle 93"/>
            <p:cNvSpPr>
              <a:spLocks noChangeArrowheads="1"/>
            </p:cNvSpPr>
            <p:nvPr/>
          </p:nvSpPr>
          <p:spPr bwMode="auto">
            <a:xfrm>
              <a:off x="2209" y="3036"/>
              <a:ext cx="53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P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55" name="Rectangle 94"/>
            <p:cNvSpPr>
              <a:spLocks noChangeArrowheads="1"/>
            </p:cNvSpPr>
            <p:nvPr/>
          </p:nvSpPr>
          <p:spPr bwMode="auto">
            <a:xfrm>
              <a:off x="2264" y="3036"/>
              <a:ext cx="5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56" name="Freeform 95"/>
            <p:cNvSpPr>
              <a:spLocks/>
            </p:cNvSpPr>
            <p:nvPr/>
          </p:nvSpPr>
          <p:spPr bwMode="auto">
            <a:xfrm>
              <a:off x="2621" y="2909"/>
              <a:ext cx="934" cy="975"/>
            </a:xfrm>
            <a:custGeom>
              <a:avLst/>
              <a:gdLst>
                <a:gd name="T0" fmla="*/ 934 w 934"/>
                <a:gd name="T1" fmla="*/ 975 h 975"/>
                <a:gd name="T2" fmla="*/ 934 w 934"/>
                <a:gd name="T3" fmla="*/ 0 h 975"/>
                <a:gd name="T4" fmla="*/ 0 w 934"/>
                <a:gd name="T5" fmla="*/ 0 h 975"/>
                <a:gd name="T6" fmla="*/ 0 w 934"/>
                <a:gd name="T7" fmla="*/ 975 h 975"/>
                <a:gd name="T8" fmla="*/ 934 w 934"/>
                <a:gd name="T9" fmla="*/ 975 h 975"/>
                <a:gd name="T10" fmla="*/ 934 w 934"/>
                <a:gd name="T11" fmla="*/ 975 h 9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4"/>
                <a:gd name="T19" fmla="*/ 0 h 975"/>
                <a:gd name="T20" fmla="*/ 934 w 934"/>
                <a:gd name="T21" fmla="*/ 975 h 9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4" h="975">
                  <a:moveTo>
                    <a:pt x="934" y="975"/>
                  </a:moveTo>
                  <a:lnTo>
                    <a:pt x="934" y="0"/>
                  </a:lnTo>
                  <a:lnTo>
                    <a:pt x="0" y="0"/>
                  </a:lnTo>
                  <a:lnTo>
                    <a:pt x="0" y="975"/>
                  </a:lnTo>
                  <a:lnTo>
                    <a:pt x="934" y="9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57" name="Freeform 96"/>
            <p:cNvSpPr>
              <a:spLocks/>
            </p:cNvSpPr>
            <p:nvPr/>
          </p:nvSpPr>
          <p:spPr bwMode="auto">
            <a:xfrm>
              <a:off x="2621" y="2909"/>
              <a:ext cx="934" cy="975"/>
            </a:xfrm>
            <a:custGeom>
              <a:avLst/>
              <a:gdLst>
                <a:gd name="T0" fmla="*/ 934 w 934"/>
                <a:gd name="T1" fmla="*/ 975 h 975"/>
                <a:gd name="T2" fmla="*/ 934 w 934"/>
                <a:gd name="T3" fmla="*/ 0 h 975"/>
                <a:gd name="T4" fmla="*/ 0 w 934"/>
                <a:gd name="T5" fmla="*/ 0 h 975"/>
                <a:gd name="T6" fmla="*/ 0 w 934"/>
                <a:gd name="T7" fmla="*/ 975 h 975"/>
                <a:gd name="T8" fmla="*/ 934 w 934"/>
                <a:gd name="T9" fmla="*/ 975 h 975"/>
                <a:gd name="T10" fmla="*/ 934 w 934"/>
                <a:gd name="T11" fmla="*/ 975 h 9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4"/>
                <a:gd name="T19" fmla="*/ 0 h 975"/>
                <a:gd name="T20" fmla="*/ 934 w 934"/>
                <a:gd name="T21" fmla="*/ 975 h 9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4" h="975">
                  <a:moveTo>
                    <a:pt x="934" y="975"/>
                  </a:moveTo>
                  <a:lnTo>
                    <a:pt x="934" y="0"/>
                  </a:lnTo>
                  <a:lnTo>
                    <a:pt x="0" y="0"/>
                  </a:lnTo>
                  <a:lnTo>
                    <a:pt x="0" y="975"/>
                  </a:lnTo>
                  <a:lnTo>
                    <a:pt x="934" y="975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58" name="Rectangle 97"/>
            <p:cNvSpPr>
              <a:spLocks noChangeArrowheads="1"/>
            </p:cNvSpPr>
            <p:nvPr/>
          </p:nvSpPr>
          <p:spPr bwMode="auto">
            <a:xfrm>
              <a:off x="2678" y="3512"/>
              <a:ext cx="2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59" name="Rectangle 98"/>
            <p:cNvSpPr>
              <a:spLocks noChangeArrowheads="1"/>
            </p:cNvSpPr>
            <p:nvPr/>
          </p:nvSpPr>
          <p:spPr bwMode="auto">
            <a:xfrm>
              <a:off x="2701" y="3512"/>
              <a:ext cx="4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60" name="Rectangle 99"/>
            <p:cNvSpPr>
              <a:spLocks noChangeArrowheads="1"/>
            </p:cNvSpPr>
            <p:nvPr/>
          </p:nvSpPr>
          <p:spPr bwMode="auto">
            <a:xfrm>
              <a:off x="2745" y="3512"/>
              <a:ext cx="4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61" name="Rectangle 100"/>
            <p:cNvSpPr>
              <a:spLocks noChangeArrowheads="1"/>
            </p:cNvSpPr>
            <p:nvPr/>
          </p:nvSpPr>
          <p:spPr bwMode="auto">
            <a:xfrm>
              <a:off x="2788" y="3512"/>
              <a:ext cx="27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62" name="Rectangle 101"/>
            <p:cNvSpPr>
              <a:spLocks noChangeArrowheads="1"/>
            </p:cNvSpPr>
            <p:nvPr/>
          </p:nvSpPr>
          <p:spPr bwMode="auto">
            <a:xfrm>
              <a:off x="2810" y="3512"/>
              <a:ext cx="31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63" name="Rectangle 102"/>
            <p:cNvSpPr>
              <a:spLocks noChangeArrowheads="1"/>
            </p:cNvSpPr>
            <p:nvPr/>
          </p:nvSpPr>
          <p:spPr bwMode="auto">
            <a:xfrm>
              <a:off x="2838" y="3512"/>
              <a:ext cx="4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64" name="Rectangle 103"/>
            <p:cNvSpPr>
              <a:spLocks noChangeArrowheads="1"/>
            </p:cNvSpPr>
            <p:nvPr/>
          </p:nvSpPr>
          <p:spPr bwMode="auto">
            <a:xfrm>
              <a:off x="2885" y="3512"/>
              <a:ext cx="4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65" name="Rectangle 104"/>
            <p:cNvSpPr>
              <a:spLocks noChangeArrowheads="1"/>
            </p:cNvSpPr>
            <p:nvPr/>
          </p:nvSpPr>
          <p:spPr bwMode="auto">
            <a:xfrm>
              <a:off x="2927" y="3512"/>
              <a:ext cx="27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66" name="Rectangle 105"/>
            <p:cNvSpPr>
              <a:spLocks noChangeArrowheads="1"/>
            </p:cNvSpPr>
            <p:nvPr/>
          </p:nvSpPr>
          <p:spPr bwMode="auto">
            <a:xfrm>
              <a:off x="2950" y="3512"/>
              <a:ext cx="2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67" name="Rectangle 106"/>
            <p:cNvSpPr>
              <a:spLocks noChangeArrowheads="1"/>
            </p:cNvSpPr>
            <p:nvPr/>
          </p:nvSpPr>
          <p:spPr bwMode="auto">
            <a:xfrm>
              <a:off x="2967" y="3512"/>
              <a:ext cx="4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o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68" name="Rectangle 107"/>
            <p:cNvSpPr>
              <a:spLocks noChangeArrowheads="1"/>
            </p:cNvSpPr>
            <p:nvPr/>
          </p:nvSpPr>
          <p:spPr bwMode="auto">
            <a:xfrm>
              <a:off x="3015" y="3512"/>
              <a:ext cx="4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69" name="Rectangle 108"/>
            <p:cNvSpPr>
              <a:spLocks noChangeArrowheads="1"/>
            </p:cNvSpPr>
            <p:nvPr/>
          </p:nvSpPr>
          <p:spPr bwMode="auto">
            <a:xfrm>
              <a:off x="2733" y="3610"/>
              <a:ext cx="71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70" name="Rectangle 109"/>
            <p:cNvSpPr>
              <a:spLocks noChangeArrowheads="1"/>
            </p:cNvSpPr>
            <p:nvPr/>
          </p:nvSpPr>
          <p:spPr bwMode="auto">
            <a:xfrm>
              <a:off x="2800" y="3610"/>
              <a:ext cx="4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71" name="Rectangle 110"/>
            <p:cNvSpPr>
              <a:spLocks noChangeArrowheads="1"/>
            </p:cNvSpPr>
            <p:nvPr/>
          </p:nvSpPr>
          <p:spPr bwMode="auto">
            <a:xfrm>
              <a:off x="2848" y="3610"/>
              <a:ext cx="71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72" name="Rectangle 111"/>
            <p:cNvSpPr>
              <a:spLocks noChangeArrowheads="1"/>
            </p:cNvSpPr>
            <p:nvPr/>
          </p:nvSpPr>
          <p:spPr bwMode="auto">
            <a:xfrm>
              <a:off x="2917" y="3610"/>
              <a:ext cx="4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o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73" name="Rectangle 112"/>
            <p:cNvSpPr>
              <a:spLocks noChangeArrowheads="1"/>
            </p:cNvSpPr>
            <p:nvPr/>
          </p:nvSpPr>
          <p:spPr bwMode="auto">
            <a:xfrm>
              <a:off x="2962" y="3610"/>
              <a:ext cx="31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74" name="Rectangle 113"/>
            <p:cNvSpPr>
              <a:spLocks noChangeArrowheads="1"/>
            </p:cNvSpPr>
            <p:nvPr/>
          </p:nvSpPr>
          <p:spPr bwMode="auto">
            <a:xfrm>
              <a:off x="2990" y="3610"/>
              <a:ext cx="4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y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75" name="Rectangle 114"/>
            <p:cNvSpPr>
              <a:spLocks noChangeArrowheads="1"/>
            </p:cNvSpPr>
            <p:nvPr/>
          </p:nvSpPr>
          <p:spPr bwMode="auto">
            <a:xfrm>
              <a:off x="2658" y="2994"/>
              <a:ext cx="5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76" name="Rectangle 115"/>
            <p:cNvSpPr>
              <a:spLocks noChangeArrowheads="1"/>
            </p:cNvSpPr>
            <p:nvPr/>
          </p:nvSpPr>
          <p:spPr bwMode="auto">
            <a:xfrm>
              <a:off x="2718" y="2994"/>
              <a:ext cx="4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77" name="Rectangle 116"/>
            <p:cNvSpPr>
              <a:spLocks noChangeArrowheads="1"/>
            </p:cNvSpPr>
            <p:nvPr/>
          </p:nvSpPr>
          <p:spPr bwMode="auto">
            <a:xfrm>
              <a:off x="2763" y="2994"/>
              <a:ext cx="4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78" name="Rectangle 117"/>
            <p:cNvSpPr>
              <a:spLocks noChangeArrowheads="1"/>
            </p:cNvSpPr>
            <p:nvPr/>
          </p:nvSpPr>
          <p:spPr bwMode="auto">
            <a:xfrm>
              <a:off x="2810" y="2994"/>
              <a:ext cx="4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79" name="Rectangle 118"/>
            <p:cNvSpPr>
              <a:spLocks noChangeArrowheads="1"/>
            </p:cNvSpPr>
            <p:nvPr/>
          </p:nvSpPr>
          <p:spPr bwMode="auto">
            <a:xfrm>
              <a:off x="2658" y="3076"/>
              <a:ext cx="4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80" name="Rectangle 119"/>
            <p:cNvSpPr>
              <a:spLocks noChangeArrowheads="1"/>
            </p:cNvSpPr>
            <p:nvPr/>
          </p:nvSpPr>
          <p:spPr bwMode="auto">
            <a:xfrm>
              <a:off x="2703" y="3076"/>
              <a:ext cx="4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81" name="Rectangle 120"/>
            <p:cNvSpPr>
              <a:spLocks noChangeArrowheads="1"/>
            </p:cNvSpPr>
            <p:nvPr/>
          </p:nvSpPr>
          <p:spPr bwMode="auto">
            <a:xfrm>
              <a:off x="2750" y="3076"/>
              <a:ext cx="4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82" name="Rectangle 121"/>
            <p:cNvSpPr>
              <a:spLocks noChangeArrowheads="1"/>
            </p:cNvSpPr>
            <p:nvPr/>
          </p:nvSpPr>
          <p:spPr bwMode="auto">
            <a:xfrm>
              <a:off x="2795" y="3076"/>
              <a:ext cx="31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83" name="Rectangle 122"/>
            <p:cNvSpPr>
              <a:spLocks noChangeArrowheads="1"/>
            </p:cNvSpPr>
            <p:nvPr/>
          </p:nvSpPr>
          <p:spPr bwMode="auto">
            <a:xfrm>
              <a:off x="2823" y="3076"/>
              <a:ext cx="4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84" name="Rectangle 123"/>
            <p:cNvSpPr>
              <a:spLocks noChangeArrowheads="1"/>
            </p:cNvSpPr>
            <p:nvPr/>
          </p:nvSpPr>
          <p:spPr bwMode="auto">
            <a:xfrm>
              <a:off x="2870" y="3076"/>
              <a:ext cx="4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85" name="Rectangle 124"/>
            <p:cNvSpPr>
              <a:spLocks noChangeArrowheads="1"/>
            </p:cNvSpPr>
            <p:nvPr/>
          </p:nvSpPr>
          <p:spPr bwMode="auto">
            <a:xfrm>
              <a:off x="2910" y="3076"/>
              <a:ext cx="4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86" name="Rectangle 125"/>
            <p:cNvSpPr>
              <a:spLocks noChangeArrowheads="1"/>
            </p:cNvSpPr>
            <p:nvPr/>
          </p:nvSpPr>
          <p:spPr bwMode="auto">
            <a:xfrm>
              <a:off x="3134" y="3348"/>
              <a:ext cx="2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87" name="Rectangle 126"/>
            <p:cNvSpPr>
              <a:spLocks noChangeArrowheads="1"/>
            </p:cNvSpPr>
            <p:nvPr/>
          </p:nvSpPr>
          <p:spPr bwMode="auto">
            <a:xfrm>
              <a:off x="3159" y="3348"/>
              <a:ext cx="4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88" name="Rectangle 127"/>
            <p:cNvSpPr>
              <a:spLocks noChangeArrowheads="1"/>
            </p:cNvSpPr>
            <p:nvPr/>
          </p:nvSpPr>
          <p:spPr bwMode="auto">
            <a:xfrm>
              <a:off x="3204" y="3348"/>
              <a:ext cx="4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89" name="Rectangle 128"/>
            <p:cNvSpPr>
              <a:spLocks noChangeArrowheads="1"/>
            </p:cNvSpPr>
            <p:nvPr/>
          </p:nvSpPr>
          <p:spPr bwMode="auto">
            <a:xfrm>
              <a:off x="3246" y="3348"/>
              <a:ext cx="27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90" name="Rectangle 129"/>
            <p:cNvSpPr>
              <a:spLocks noChangeArrowheads="1"/>
            </p:cNvSpPr>
            <p:nvPr/>
          </p:nvSpPr>
          <p:spPr bwMode="auto">
            <a:xfrm>
              <a:off x="3269" y="3348"/>
              <a:ext cx="31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91" name="Rectangle 130"/>
            <p:cNvSpPr>
              <a:spLocks noChangeArrowheads="1"/>
            </p:cNvSpPr>
            <p:nvPr/>
          </p:nvSpPr>
          <p:spPr bwMode="auto">
            <a:xfrm>
              <a:off x="3296" y="3348"/>
              <a:ext cx="4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92" name="Rectangle 131"/>
            <p:cNvSpPr>
              <a:spLocks noChangeArrowheads="1"/>
            </p:cNvSpPr>
            <p:nvPr/>
          </p:nvSpPr>
          <p:spPr bwMode="auto">
            <a:xfrm>
              <a:off x="3344" y="3348"/>
              <a:ext cx="4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93" name="Rectangle 132"/>
            <p:cNvSpPr>
              <a:spLocks noChangeArrowheads="1"/>
            </p:cNvSpPr>
            <p:nvPr/>
          </p:nvSpPr>
          <p:spPr bwMode="auto">
            <a:xfrm>
              <a:off x="3383" y="3348"/>
              <a:ext cx="27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94" name="Rectangle 133"/>
            <p:cNvSpPr>
              <a:spLocks noChangeArrowheads="1"/>
            </p:cNvSpPr>
            <p:nvPr/>
          </p:nvSpPr>
          <p:spPr bwMode="auto">
            <a:xfrm>
              <a:off x="3408" y="3348"/>
              <a:ext cx="22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95" name="Rectangle 134"/>
            <p:cNvSpPr>
              <a:spLocks noChangeArrowheads="1"/>
            </p:cNvSpPr>
            <p:nvPr/>
          </p:nvSpPr>
          <p:spPr bwMode="auto">
            <a:xfrm>
              <a:off x="3426" y="3348"/>
              <a:ext cx="4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o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96" name="Rectangle 135"/>
            <p:cNvSpPr>
              <a:spLocks noChangeArrowheads="1"/>
            </p:cNvSpPr>
            <p:nvPr/>
          </p:nvSpPr>
          <p:spPr bwMode="auto">
            <a:xfrm>
              <a:off x="3473" y="3348"/>
              <a:ext cx="4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397" name="Freeform 136"/>
            <p:cNvSpPr>
              <a:spLocks/>
            </p:cNvSpPr>
            <p:nvPr/>
          </p:nvSpPr>
          <p:spPr bwMode="auto">
            <a:xfrm>
              <a:off x="2434" y="2283"/>
              <a:ext cx="1276" cy="800"/>
            </a:xfrm>
            <a:custGeom>
              <a:avLst/>
              <a:gdLst>
                <a:gd name="T0" fmla="*/ 1276 w 1276"/>
                <a:gd name="T1" fmla="*/ 0 h 800"/>
                <a:gd name="T2" fmla="*/ 0 w 1276"/>
                <a:gd name="T3" fmla="*/ 2 h 800"/>
                <a:gd name="T4" fmla="*/ 0 w 1276"/>
                <a:gd name="T5" fmla="*/ 800 h 800"/>
                <a:gd name="T6" fmla="*/ 0 60000 65536"/>
                <a:gd name="T7" fmla="*/ 0 60000 65536"/>
                <a:gd name="T8" fmla="*/ 0 60000 65536"/>
                <a:gd name="T9" fmla="*/ 0 w 1276"/>
                <a:gd name="T10" fmla="*/ 0 h 800"/>
                <a:gd name="T11" fmla="*/ 1276 w 1276"/>
                <a:gd name="T12" fmla="*/ 800 h 8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76" h="800">
                  <a:moveTo>
                    <a:pt x="1276" y="0"/>
                  </a:moveTo>
                  <a:lnTo>
                    <a:pt x="0" y="2"/>
                  </a:lnTo>
                  <a:lnTo>
                    <a:pt x="0" y="80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98" name="Line 137"/>
            <p:cNvSpPr>
              <a:spLocks noChangeShapeType="1"/>
            </p:cNvSpPr>
            <p:nvPr/>
          </p:nvSpPr>
          <p:spPr bwMode="auto">
            <a:xfrm flipH="1">
              <a:off x="3555" y="2781"/>
              <a:ext cx="155" cy="3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399" name="Freeform 138"/>
            <p:cNvSpPr>
              <a:spLocks/>
            </p:cNvSpPr>
            <p:nvPr/>
          </p:nvSpPr>
          <p:spPr bwMode="auto">
            <a:xfrm>
              <a:off x="3695" y="2263"/>
              <a:ext cx="42" cy="42"/>
            </a:xfrm>
            <a:custGeom>
              <a:avLst/>
              <a:gdLst>
                <a:gd name="T0" fmla="*/ 0 w 42"/>
                <a:gd name="T1" fmla="*/ 0 h 42"/>
                <a:gd name="T2" fmla="*/ 0 w 42"/>
                <a:gd name="T3" fmla="*/ 42 h 42"/>
                <a:gd name="T4" fmla="*/ 42 w 42"/>
                <a:gd name="T5" fmla="*/ 22 h 42"/>
                <a:gd name="T6" fmla="*/ 0 w 42"/>
                <a:gd name="T7" fmla="*/ 0 h 42"/>
                <a:gd name="T8" fmla="*/ 0 w 42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"/>
                <a:gd name="T16" fmla="*/ 0 h 42"/>
                <a:gd name="T17" fmla="*/ 42 w 42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" h="42">
                  <a:moveTo>
                    <a:pt x="0" y="0"/>
                  </a:moveTo>
                  <a:lnTo>
                    <a:pt x="0" y="42"/>
                  </a:lnTo>
                  <a:lnTo>
                    <a:pt x="42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00" name="Freeform 139"/>
            <p:cNvSpPr>
              <a:spLocks/>
            </p:cNvSpPr>
            <p:nvPr/>
          </p:nvSpPr>
          <p:spPr bwMode="auto">
            <a:xfrm>
              <a:off x="3695" y="2762"/>
              <a:ext cx="42" cy="42"/>
            </a:xfrm>
            <a:custGeom>
              <a:avLst/>
              <a:gdLst>
                <a:gd name="T0" fmla="*/ 0 w 42"/>
                <a:gd name="T1" fmla="*/ 0 h 42"/>
                <a:gd name="T2" fmla="*/ 0 w 42"/>
                <a:gd name="T3" fmla="*/ 42 h 42"/>
                <a:gd name="T4" fmla="*/ 42 w 42"/>
                <a:gd name="T5" fmla="*/ 22 h 42"/>
                <a:gd name="T6" fmla="*/ 0 w 42"/>
                <a:gd name="T7" fmla="*/ 0 h 42"/>
                <a:gd name="T8" fmla="*/ 0 w 42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"/>
                <a:gd name="T16" fmla="*/ 0 h 42"/>
                <a:gd name="T17" fmla="*/ 42 w 42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" h="42">
                  <a:moveTo>
                    <a:pt x="0" y="0"/>
                  </a:moveTo>
                  <a:lnTo>
                    <a:pt x="0" y="42"/>
                  </a:lnTo>
                  <a:lnTo>
                    <a:pt x="42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01" name="Line 140"/>
            <p:cNvSpPr>
              <a:spLocks noChangeShapeType="1"/>
            </p:cNvSpPr>
            <p:nvPr/>
          </p:nvSpPr>
          <p:spPr bwMode="auto">
            <a:xfrm>
              <a:off x="2339" y="3083"/>
              <a:ext cx="249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02" name="Freeform 141"/>
            <p:cNvSpPr>
              <a:spLocks/>
            </p:cNvSpPr>
            <p:nvPr/>
          </p:nvSpPr>
          <p:spPr bwMode="auto">
            <a:xfrm>
              <a:off x="2573" y="3063"/>
              <a:ext cx="43" cy="43"/>
            </a:xfrm>
            <a:custGeom>
              <a:avLst/>
              <a:gdLst>
                <a:gd name="T0" fmla="*/ 0 w 43"/>
                <a:gd name="T1" fmla="*/ 0 h 43"/>
                <a:gd name="T2" fmla="*/ 3 w 43"/>
                <a:gd name="T3" fmla="*/ 43 h 43"/>
                <a:gd name="T4" fmla="*/ 43 w 43"/>
                <a:gd name="T5" fmla="*/ 23 h 43"/>
                <a:gd name="T6" fmla="*/ 3 w 43"/>
                <a:gd name="T7" fmla="*/ 0 h 43"/>
                <a:gd name="T8" fmla="*/ 3 w 43"/>
                <a:gd name="T9" fmla="*/ 0 h 43"/>
                <a:gd name="T10" fmla="*/ 0 w 43"/>
                <a:gd name="T11" fmla="*/ 0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"/>
                <a:gd name="T19" fmla="*/ 0 h 43"/>
                <a:gd name="T20" fmla="*/ 43 w 43"/>
                <a:gd name="T21" fmla="*/ 43 h 4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" h="43">
                  <a:moveTo>
                    <a:pt x="0" y="0"/>
                  </a:moveTo>
                  <a:lnTo>
                    <a:pt x="3" y="43"/>
                  </a:lnTo>
                  <a:lnTo>
                    <a:pt x="43" y="23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03" name="Freeform 142"/>
            <p:cNvSpPr>
              <a:spLocks/>
            </p:cNvSpPr>
            <p:nvPr/>
          </p:nvSpPr>
          <p:spPr bwMode="auto">
            <a:xfrm>
              <a:off x="2060" y="2023"/>
              <a:ext cx="2139" cy="1060"/>
            </a:xfrm>
            <a:custGeom>
              <a:avLst/>
              <a:gdLst>
                <a:gd name="T0" fmla="*/ 92 w 2139"/>
                <a:gd name="T1" fmla="*/ 1060 h 1060"/>
                <a:gd name="T2" fmla="*/ 0 w 2139"/>
                <a:gd name="T3" fmla="*/ 1060 h 1060"/>
                <a:gd name="T4" fmla="*/ 0 w 2139"/>
                <a:gd name="T5" fmla="*/ 0 h 1060"/>
                <a:gd name="T6" fmla="*/ 2139 w 2139"/>
                <a:gd name="T7" fmla="*/ 0 h 1060"/>
                <a:gd name="T8" fmla="*/ 2139 w 2139"/>
                <a:gd name="T9" fmla="*/ 509 h 1060"/>
                <a:gd name="T10" fmla="*/ 1954 w 2139"/>
                <a:gd name="T11" fmla="*/ 509 h 10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39"/>
                <a:gd name="T19" fmla="*/ 0 h 1060"/>
                <a:gd name="T20" fmla="*/ 2139 w 2139"/>
                <a:gd name="T21" fmla="*/ 1060 h 10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39" h="1060">
                  <a:moveTo>
                    <a:pt x="92" y="1060"/>
                  </a:moveTo>
                  <a:lnTo>
                    <a:pt x="0" y="1060"/>
                  </a:lnTo>
                  <a:lnTo>
                    <a:pt x="0" y="0"/>
                  </a:lnTo>
                  <a:lnTo>
                    <a:pt x="2139" y="0"/>
                  </a:lnTo>
                  <a:lnTo>
                    <a:pt x="2139" y="509"/>
                  </a:lnTo>
                  <a:lnTo>
                    <a:pt x="1954" y="509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04" name="Freeform 143"/>
            <p:cNvSpPr>
              <a:spLocks/>
            </p:cNvSpPr>
            <p:nvPr/>
          </p:nvSpPr>
          <p:spPr bwMode="auto">
            <a:xfrm>
              <a:off x="2137" y="3063"/>
              <a:ext cx="43" cy="43"/>
            </a:xfrm>
            <a:custGeom>
              <a:avLst/>
              <a:gdLst>
                <a:gd name="T0" fmla="*/ 0 w 43"/>
                <a:gd name="T1" fmla="*/ 0 h 43"/>
                <a:gd name="T2" fmla="*/ 3 w 43"/>
                <a:gd name="T3" fmla="*/ 43 h 43"/>
                <a:gd name="T4" fmla="*/ 43 w 43"/>
                <a:gd name="T5" fmla="*/ 23 h 43"/>
                <a:gd name="T6" fmla="*/ 3 w 43"/>
                <a:gd name="T7" fmla="*/ 0 h 43"/>
                <a:gd name="T8" fmla="*/ 3 w 43"/>
                <a:gd name="T9" fmla="*/ 0 h 43"/>
                <a:gd name="T10" fmla="*/ 0 w 43"/>
                <a:gd name="T11" fmla="*/ 0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"/>
                <a:gd name="T19" fmla="*/ 0 h 43"/>
                <a:gd name="T20" fmla="*/ 43 w 43"/>
                <a:gd name="T21" fmla="*/ 43 h 4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" h="43">
                  <a:moveTo>
                    <a:pt x="0" y="0"/>
                  </a:moveTo>
                  <a:lnTo>
                    <a:pt x="3" y="43"/>
                  </a:lnTo>
                  <a:lnTo>
                    <a:pt x="43" y="23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05" name="Rectangle 144"/>
            <p:cNvSpPr>
              <a:spLocks noChangeArrowheads="1"/>
            </p:cNvSpPr>
            <p:nvPr/>
          </p:nvSpPr>
          <p:spPr bwMode="auto">
            <a:xfrm>
              <a:off x="3473" y="2734"/>
              <a:ext cx="44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406" name="Freeform 145"/>
            <p:cNvSpPr>
              <a:spLocks/>
            </p:cNvSpPr>
            <p:nvPr/>
          </p:nvSpPr>
          <p:spPr bwMode="auto">
            <a:xfrm>
              <a:off x="3742" y="2113"/>
              <a:ext cx="272" cy="838"/>
            </a:xfrm>
            <a:custGeom>
              <a:avLst/>
              <a:gdLst>
                <a:gd name="T0" fmla="*/ 0 w 272"/>
                <a:gd name="T1" fmla="*/ 0 h 838"/>
                <a:gd name="T2" fmla="*/ 0 w 272"/>
                <a:gd name="T3" fmla="*/ 339 h 838"/>
                <a:gd name="T4" fmla="*/ 88 w 272"/>
                <a:gd name="T5" fmla="*/ 422 h 838"/>
                <a:gd name="T6" fmla="*/ 0 w 272"/>
                <a:gd name="T7" fmla="*/ 501 h 838"/>
                <a:gd name="T8" fmla="*/ 0 w 272"/>
                <a:gd name="T9" fmla="*/ 838 h 838"/>
                <a:gd name="T10" fmla="*/ 272 w 272"/>
                <a:gd name="T11" fmla="*/ 584 h 838"/>
                <a:gd name="T12" fmla="*/ 272 w 272"/>
                <a:gd name="T13" fmla="*/ 260 h 838"/>
                <a:gd name="T14" fmla="*/ 0 w 272"/>
                <a:gd name="T15" fmla="*/ 3 h 838"/>
                <a:gd name="T16" fmla="*/ 0 w 272"/>
                <a:gd name="T17" fmla="*/ 3 h 8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2"/>
                <a:gd name="T28" fmla="*/ 0 h 838"/>
                <a:gd name="T29" fmla="*/ 272 w 272"/>
                <a:gd name="T30" fmla="*/ 838 h 83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2" h="838">
                  <a:moveTo>
                    <a:pt x="0" y="0"/>
                  </a:moveTo>
                  <a:lnTo>
                    <a:pt x="0" y="339"/>
                  </a:lnTo>
                  <a:lnTo>
                    <a:pt x="88" y="422"/>
                  </a:lnTo>
                  <a:lnTo>
                    <a:pt x="0" y="501"/>
                  </a:lnTo>
                  <a:lnTo>
                    <a:pt x="0" y="838"/>
                  </a:lnTo>
                  <a:lnTo>
                    <a:pt x="272" y="584"/>
                  </a:lnTo>
                  <a:lnTo>
                    <a:pt x="272" y="260"/>
                  </a:lnTo>
                  <a:lnTo>
                    <a:pt x="0" y="3"/>
                  </a:lnTo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407" name="Rectangle 146"/>
            <p:cNvSpPr>
              <a:spLocks noChangeArrowheads="1"/>
            </p:cNvSpPr>
            <p:nvPr/>
          </p:nvSpPr>
          <p:spPr bwMode="auto">
            <a:xfrm>
              <a:off x="3850" y="2485"/>
              <a:ext cx="58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408" name="Rectangle 147"/>
            <p:cNvSpPr>
              <a:spLocks noChangeArrowheads="1"/>
            </p:cNvSpPr>
            <p:nvPr/>
          </p:nvSpPr>
          <p:spPr bwMode="auto">
            <a:xfrm>
              <a:off x="3904" y="2485"/>
              <a:ext cx="4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409" name="Rectangle 148"/>
            <p:cNvSpPr>
              <a:spLocks noChangeArrowheads="1"/>
            </p:cNvSpPr>
            <p:nvPr/>
          </p:nvSpPr>
          <p:spPr bwMode="auto">
            <a:xfrm>
              <a:off x="3949" y="2485"/>
              <a:ext cx="4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1000" b="1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1500" b="1">
                <a:latin typeface="Courier New" charset="0"/>
              </a:endParaRPr>
            </a:p>
          </p:txBody>
        </p:sp>
        <p:sp>
          <p:nvSpPr>
            <p:cNvPr id="57410" name="Freeform 149"/>
            <p:cNvSpPr>
              <a:spLocks/>
            </p:cNvSpPr>
            <p:nvPr/>
          </p:nvSpPr>
          <p:spPr bwMode="auto">
            <a:xfrm>
              <a:off x="2414" y="3063"/>
              <a:ext cx="40" cy="43"/>
            </a:xfrm>
            <a:custGeom>
              <a:avLst/>
              <a:gdLst>
                <a:gd name="T0" fmla="*/ 20 w 40"/>
                <a:gd name="T1" fmla="*/ 40 h 43"/>
                <a:gd name="T2" fmla="*/ 22 w 40"/>
                <a:gd name="T3" fmla="*/ 43 h 43"/>
                <a:gd name="T4" fmla="*/ 27 w 40"/>
                <a:gd name="T5" fmla="*/ 40 h 43"/>
                <a:gd name="T6" fmla="*/ 30 w 40"/>
                <a:gd name="T7" fmla="*/ 40 h 43"/>
                <a:gd name="T8" fmla="*/ 32 w 40"/>
                <a:gd name="T9" fmla="*/ 38 h 43"/>
                <a:gd name="T10" fmla="*/ 35 w 40"/>
                <a:gd name="T11" fmla="*/ 35 h 43"/>
                <a:gd name="T12" fmla="*/ 37 w 40"/>
                <a:gd name="T13" fmla="*/ 33 h 43"/>
                <a:gd name="T14" fmla="*/ 37 w 40"/>
                <a:gd name="T15" fmla="*/ 30 h 43"/>
                <a:gd name="T16" fmla="*/ 40 w 40"/>
                <a:gd name="T17" fmla="*/ 28 h 43"/>
                <a:gd name="T18" fmla="*/ 40 w 40"/>
                <a:gd name="T19" fmla="*/ 25 h 43"/>
                <a:gd name="T20" fmla="*/ 40 w 40"/>
                <a:gd name="T21" fmla="*/ 20 h 43"/>
                <a:gd name="T22" fmla="*/ 40 w 40"/>
                <a:gd name="T23" fmla="*/ 18 h 43"/>
                <a:gd name="T24" fmla="*/ 40 w 40"/>
                <a:gd name="T25" fmla="*/ 15 h 43"/>
                <a:gd name="T26" fmla="*/ 37 w 40"/>
                <a:gd name="T27" fmla="*/ 13 h 43"/>
                <a:gd name="T28" fmla="*/ 37 w 40"/>
                <a:gd name="T29" fmla="*/ 10 h 43"/>
                <a:gd name="T30" fmla="*/ 35 w 40"/>
                <a:gd name="T31" fmla="*/ 8 h 43"/>
                <a:gd name="T32" fmla="*/ 32 w 40"/>
                <a:gd name="T33" fmla="*/ 5 h 43"/>
                <a:gd name="T34" fmla="*/ 30 w 40"/>
                <a:gd name="T35" fmla="*/ 3 h 43"/>
                <a:gd name="T36" fmla="*/ 27 w 40"/>
                <a:gd name="T37" fmla="*/ 3 h 43"/>
                <a:gd name="T38" fmla="*/ 22 w 40"/>
                <a:gd name="T39" fmla="*/ 0 h 43"/>
                <a:gd name="T40" fmla="*/ 20 w 40"/>
                <a:gd name="T41" fmla="*/ 0 h 43"/>
                <a:gd name="T42" fmla="*/ 17 w 40"/>
                <a:gd name="T43" fmla="*/ 0 h 43"/>
                <a:gd name="T44" fmla="*/ 12 w 40"/>
                <a:gd name="T45" fmla="*/ 3 h 43"/>
                <a:gd name="T46" fmla="*/ 10 w 40"/>
                <a:gd name="T47" fmla="*/ 3 h 43"/>
                <a:gd name="T48" fmla="*/ 7 w 40"/>
                <a:gd name="T49" fmla="*/ 5 h 43"/>
                <a:gd name="T50" fmla="*/ 5 w 40"/>
                <a:gd name="T51" fmla="*/ 8 h 43"/>
                <a:gd name="T52" fmla="*/ 2 w 40"/>
                <a:gd name="T53" fmla="*/ 10 h 43"/>
                <a:gd name="T54" fmla="*/ 2 w 40"/>
                <a:gd name="T55" fmla="*/ 13 h 43"/>
                <a:gd name="T56" fmla="*/ 0 w 40"/>
                <a:gd name="T57" fmla="*/ 15 h 43"/>
                <a:gd name="T58" fmla="*/ 0 w 40"/>
                <a:gd name="T59" fmla="*/ 18 h 43"/>
                <a:gd name="T60" fmla="*/ 0 w 40"/>
                <a:gd name="T61" fmla="*/ 20 h 43"/>
                <a:gd name="T62" fmla="*/ 0 w 40"/>
                <a:gd name="T63" fmla="*/ 25 h 43"/>
                <a:gd name="T64" fmla="*/ 0 w 40"/>
                <a:gd name="T65" fmla="*/ 28 h 43"/>
                <a:gd name="T66" fmla="*/ 2 w 40"/>
                <a:gd name="T67" fmla="*/ 30 h 43"/>
                <a:gd name="T68" fmla="*/ 2 w 40"/>
                <a:gd name="T69" fmla="*/ 33 h 43"/>
                <a:gd name="T70" fmla="*/ 5 w 40"/>
                <a:gd name="T71" fmla="*/ 35 h 43"/>
                <a:gd name="T72" fmla="*/ 7 w 40"/>
                <a:gd name="T73" fmla="*/ 38 h 43"/>
                <a:gd name="T74" fmla="*/ 10 w 40"/>
                <a:gd name="T75" fmla="*/ 40 h 43"/>
                <a:gd name="T76" fmla="*/ 12 w 40"/>
                <a:gd name="T77" fmla="*/ 40 h 43"/>
                <a:gd name="T78" fmla="*/ 17 w 40"/>
                <a:gd name="T79" fmla="*/ 43 h 43"/>
                <a:gd name="T80" fmla="*/ 20 w 40"/>
                <a:gd name="T81" fmla="*/ 43 h 43"/>
                <a:gd name="T82" fmla="*/ 20 w 40"/>
                <a:gd name="T83" fmla="*/ 43 h 43"/>
                <a:gd name="T84" fmla="*/ 20 w 40"/>
                <a:gd name="T85" fmla="*/ 40 h 4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0"/>
                <a:gd name="T130" fmla="*/ 0 h 43"/>
                <a:gd name="T131" fmla="*/ 40 w 40"/>
                <a:gd name="T132" fmla="*/ 43 h 43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0" h="43">
                  <a:moveTo>
                    <a:pt x="20" y="40"/>
                  </a:moveTo>
                  <a:lnTo>
                    <a:pt x="22" y="43"/>
                  </a:lnTo>
                  <a:lnTo>
                    <a:pt x="27" y="40"/>
                  </a:lnTo>
                  <a:lnTo>
                    <a:pt x="30" y="40"/>
                  </a:lnTo>
                  <a:lnTo>
                    <a:pt x="32" y="38"/>
                  </a:lnTo>
                  <a:lnTo>
                    <a:pt x="35" y="35"/>
                  </a:lnTo>
                  <a:lnTo>
                    <a:pt x="37" y="33"/>
                  </a:lnTo>
                  <a:lnTo>
                    <a:pt x="37" y="30"/>
                  </a:lnTo>
                  <a:lnTo>
                    <a:pt x="40" y="28"/>
                  </a:lnTo>
                  <a:lnTo>
                    <a:pt x="40" y="25"/>
                  </a:lnTo>
                  <a:lnTo>
                    <a:pt x="40" y="20"/>
                  </a:lnTo>
                  <a:lnTo>
                    <a:pt x="40" y="18"/>
                  </a:lnTo>
                  <a:lnTo>
                    <a:pt x="40" y="15"/>
                  </a:lnTo>
                  <a:lnTo>
                    <a:pt x="37" y="13"/>
                  </a:lnTo>
                  <a:lnTo>
                    <a:pt x="37" y="10"/>
                  </a:lnTo>
                  <a:lnTo>
                    <a:pt x="35" y="8"/>
                  </a:lnTo>
                  <a:lnTo>
                    <a:pt x="32" y="5"/>
                  </a:lnTo>
                  <a:lnTo>
                    <a:pt x="30" y="3"/>
                  </a:lnTo>
                  <a:lnTo>
                    <a:pt x="27" y="3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2" y="3"/>
                  </a:lnTo>
                  <a:lnTo>
                    <a:pt x="10" y="3"/>
                  </a:lnTo>
                  <a:lnTo>
                    <a:pt x="7" y="5"/>
                  </a:lnTo>
                  <a:lnTo>
                    <a:pt x="5" y="8"/>
                  </a:lnTo>
                  <a:lnTo>
                    <a:pt x="2" y="10"/>
                  </a:lnTo>
                  <a:lnTo>
                    <a:pt x="2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2" y="30"/>
                  </a:lnTo>
                  <a:lnTo>
                    <a:pt x="2" y="33"/>
                  </a:lnTo>
                  <a:lnTo>
                    <a:pt x="5" y="35"/>
                  </a:lnTo>
                  <a:lnTo>
                    <a:pt x="7" y="38"/>
                  </a:lnTo>
                  <a:lnTo>
                    <a:pt x="10" y="40"/>
                  </a:lnTo>
                  <a:lnTo>
                    <a:pt x="12" y="40"/>
                  </a:lnTo>
                  <a:lnTo>
                    <a:pt x="17" y="43"/>
                  </a:lnTo>
                  <a:lnTo>
                    <a:pt x="20" y="43"/>
                  </a:lnTo>
                  <a:lnTo>
                    <a:pt x="20" y="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11" name="Freeform 150"/>
            <p:cNvSpPr>
              <a:spLocks/>
            </p:cNvSpPr>
            <p:nvPr/>
          </p:nvSpPr>
          <p:spPr bwMode="auto">
            <a:xfrm>
              <a:off x="3969" y="3375"/>
              <a:ext cx="43" cy="42"/>
            </a:xfrm>
            <a:custGeom>
              <a:avLst/>
              <a:gdLst>
                <a:gd name="T0" fmla="*/ 0 w 43"/>
                <a:gd name="T1" fmla="*/ 0 h 42"/>
                <a:gd name="T2" fmla="*/ 3 w 43"/>
                <a:gd name="T3" fmla="*/ 42 h 42"/>
                <a:gd name="T4" fmla="*/ 43 w 43"/>
                <a:gd name="T5" fmla="*/ 20 h 42"/>
                <a:gd name="T6" fmla="*/ 3 w 43"/>
                <a:gd name="T7" fmla="*/ 0 h 42"/>
                <a:gd name="T8" fmla="*/ 3 w 43"/>
                <a:gd name="T9" fmla="*/ 0 h 42"/>
                <a:gd name="T10" fmla="*/ 0 w 43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"/>
                <a:gd name="T19" fmla="*/ 0 h 42"/>
                <a:gd name="T20" fmla="*/ 43 w 43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" h="42">
                  <a:moveTo>
                    <a:pt x="0" y="0"/>
                  </a:moveTo>
                  <a:lnTo>
                    <a:pt x="3" y="42"/>
                  </a:lnTo>
                  <a:lnTo>
                    <a:pt x="43" y="20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412" name="Line 151"/>
            <p:cNvSpPr>
              <a:spLocks noChangeShapeType="1"/>
            </p:cNvSpPr>
            <p:nvPr/>
          </p:nvSpPr>
          <p:spPr bwMode="auto">
            <a:xfrm>
              <a:off x="3555" y="3395"/>
              <a:ext cx="424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0" name="AutoShape 5"/>
          <p:cNvSpPr>
            <a:spLocks/>
          </p:cNvSpPr>
          <p:nvPr/>
        </p:nvSpPr>
        <p:spPr bwMode="auto">
          <a:xfrm>
            <a:off x="8086727" y="4931369"/>
            <a:ext cx="1439863" cy="863600"/>
          </a:xfrm>
          <a:prstGeom prst="borderCallout1">
            <a:avLst>
              <a:gd name="adj1" fmla="val 13236"/>
              <a:gd name="adj2" fmla="val -5292"/>
              <a:gd name="adj3" fmla="val -41912"/>
              <a:gd name="adj4" fmla="val -55458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defRPr/>
            </a:pPr>
            <a:r>
              <a:rPr lang="en-US" altLang="en-US" kern="0" dirty="0">
                <a:solidFill>
                  <a:srgbClr val="000000"/>
                </a:solidFill>
                <a:latin typeface="+mn-lt"/>
              </a:rPr>
              <a:t>Increment by 4 for next instruction</a:t>
            </a:r>
            <a:endParaRPr lang="en-AU" altLang="en-US" kern="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71" name="AutoShape 4"/>
          <p:cNvSpPr>
            <a:spLocks/>
          </p:cNvSpPr>
          <p:nvPr/>
        </p:nvSpPr>
        <p:spPr bwMode="auto">
          <a:xfrm>
            <a:off x="2704306" y="5417144"/>
            <a:ext cx="914400" cy="609600"/>
          </a:xfrm>
          <a:prstGeom prst="borderCallout1">
            <a:avLst>
              <a:gd name="adj1" fmla="val 18750"/>
              <a:gd name="adj2" fmla="val 108333"/>
              <a:gd name="adj3" fmla="val -16667"/>
              <a:gd name="adj4" fmla="val 171356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pPr algn="ctr" defTabSz="914400"/>
            <a:r>
              <a:rPr lang="en-US" altLang="en-US" sz="1600" kern="0" dirty="0">
                <a:solidFill>
                  <a:srgbClr val="000000"/>
                </a:solidFill>
              </a:rPr>
              <a:t>32-bit register</a:t>
            </a:r>
            <a:endParaRPr lang="en-AU" altLang="en-US" sz="1600" kern="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33849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for Different Types of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solidFill>
                  <a:srgbClr val="C00000"/>
                </a:solidFill>
                <a:latin typeface="+mj-lt"/>
                <a:ea typeface="新細明體" charset="-120"/>
              </a:rPr>
              <a:t>R-format arithmetic/logic instructions</a:t>
            </a:r>
          </a:p>
          <a:p>
            <a:pPr lvl="1" eaLnBrk="1" hangingPunct="1"/>
            <a:r>
              <a:rPr lang="en-US" altLang="en-US" dirty="0"/>
              <a:t>Read two register operands</a:t>
            </a:r>
          </a:p>
          <a:p>
            <a:pPr lvl="1" eaLnBrk="1" hangingPunct="1"/>
            <a:r>
              <a:rPr lang="en-US" altLang="en-US" dirty="0"/>
              <a:t>ALU performs arithmetic/logical operation</a:t>
            </a:r>
          </a:p>
          <a:p>
            <a:pPr lvl="1" eaLnBrk="1" hangingPunct="1"/>
            <a:r>
              <a:rPr lang="en-US" altLang="en-US" dirty="0"/>
              <a:t>Write register result</a:t>
            </a:r>
          </a:p>
          <a:p>
            <a:r>
              <a:rPr lang="en-US" altLang="en-US" dirty="0">
                <a:solidFill>
                  <a:srgbClr val="C00000"/>
                </a:solidFill>
                <a:latin typeface="+mj-lt"/>
                <a:ea typeface="新細明體" charset="-120"/>
              </a:rPr>
              <a:t>I-format load/store instructions</a:t>
            </a:r>
          </a:p>
          <a:p>
            <a:pPr lvl="1" eaLnBrk="1" hangingPunct="1"/>
            <a:r>
              <a:rPr lang="en-US" altLang="en-US" dirty="0"/>
              <a:t>Read base register operand</a:t>
            </a:r>
          </a:p>
          <a:p>
            <a:pPr lvl="1" eaLnBrk="1" hangingPunct="1"/>
            <a:r>
              <a:rPr lang="en-US" altLang="en-US" dirty="0"/>
              <a:t>ALU adds base address with 16-bit sign-extend offset</a:t>
            </a:r>
          </a:p>
          <a:p>
            <a:pPr lvl="1" eaLnBrk="1" hangingPunct="1"/>
            <a:r>
              <a:rPr lang="en-US" altLang="en-US" dirty="0"/>
              <a:t>Load: Read memory and update register</a:t>
            </a:r>
          </a:p>
          <a:p>
            <a:pPr lvl="1" eaLnBrk="1" hangingPunct="1"/>
            <a:r>
              <a:rPr lang="en-US" altLang="en-US" dirty="0"/>
              <a:t>Store: Write register value to memory</a:t>
            </a:r>
          </a:p>
          <a:p>
            <a:pPr eaLnBrk="1" hangingPunct="1"/>
            <a:r>
              <a:rPr lang="en-US" altLang="en-US" b="1" dirty="0">
                <a:solidFill>
                  <a:srgbClr val="C00000"/>
                </a:solidFill>
                <a:latin typeface="+mj-lt"/>
                <a:ea typeface="新細明體" charset="-120"/>
              </a:rPr>
              <a:t>I-format branch instructions</a:t>
            </a:r>
          </a:p>
          <a:p>
            <a:pPr lvl="1" eaLnBrk="1" hangingPunct="1"/>
            <a:r>
              <a:rPr lang="en-US" altLang="en-US" dirty="0"/>
              <a:t>Read register operands</a:t>
            </a:r>
          </a:p>
          <a:p>
            <a:pPr lvl="1" eaLnBrk="1" hangingPunct="1"/>
            <a:r>
              <a:rPr lang="en-US" altLang="en-US" dirty="0"/>
              <a:t>ALU compares operands by subtracting and checking Zero output</a:t>
            </a:r>
          </a:p>
          <a:p>
            <a:pPr lvl="1" eaLnBrk="1" hangingPunct="1"/>
            <a:r>
              <a:rPr lang="en-US" altLang="en-US" dirty="0"/>
              <a:t>Use ALU, subtract and check Zero output</a:t>
            </a:r>
          </a:p>
          <a:p>
            <a:pPr lvl="1" eaLnBrk="1" hangingPunct="1"/>
            <a:r>
              <a:rPr lang="en-US" altLang="en-US" dirty="0"/>
              <a:t>Calculate branch target address with PC-relative addressing</a:t>
            </a:r>
            <a:endParaRPr lang="en-AU" altLang="en-US" dirty="0"/>
          </a:p>
          <a:p>
            <a:pPr eaLnBrk="1" hangingPunct="1"/>
            <a:endParaRPr lang="en-AU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238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4" name="Rectangle 13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dirty="0" err="1">
                <a:ea typeface="新細明體" charset="-120"/>
                <a:cs typeface="新細明體" charset="-120"/>
              </a:rPr>
              <a:t>Datapath</a:t>
            </a:r>
            <a:r>
              <a:rPr lang="en-GB" altLang="zh-TW" dirty="0">
                <a:ea typeface="新細明體" charset="-120"/>
                <a:cs typeface="新細明體" charset="-120"/>
              </a:rPr>
              <a:t> for Arithmetic/Logical (R-Type) Instr.</a:t>
            </a:r>
          </a:p>
        </p:txBody>
      </p:sp>
      <p:sp>
        <p:nvSpPr>
          <p:cNvPr id="59503" name="Rectangle 139"/>
          <p:cNvSpPr>
            <a:spLocks noGrp="1" noChangeArrowheads="1"/>
          </p:cNvSpPr>
          <p:nvPr>
            <p:ph idx="1"/>
          </p:nvPr>
        </p:nvSpPr>
        <p:spPr>
          <a:xfrm>
            <a:off x="609600" y="1124744"/>
            <a:ext cx="10972800" cy="400038"/>
          </a:xfrm>
        </p:spPr>
        <p:txBody>
          <a:bodyPr>
            <a:normAutofit fontScale="62500" lnSpcReduction="20000"/>
          </a:bodyPr>
          <a:lstStyle/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b="1" dirty="0">
                <a:ea typeface="新細明體" charset="-120"/>
              </a:rPr>
              <a:t>E.g.:</a:t>
            </a:r>
            <a:r>
              <a:rPr lang="en-GB" altLang="zh-TW" b="1" dirty="0">
                <a:solidFill>
                  <a:srgbClr val="0000CC"/>
                </a:solidFill>
                <a:ea typeface="新細明體" charset="-120"/>
              </a:rPr>
              <a:t>  </a:t>
            </a:r>
            <a:r>
              <a:rPr lang="en-GB" altLang="zh-TW" b="1" dirty="0">
                <a:solidFill>
                  <a:srgbClr val="0000CC"/>
                </a:solidFill>
                <a:latin typeface="Courier New" charset="0"/>
                <a:ea typeface="新細明體" charset="-120"/>
              </a:rPr>
              <a:t>add $t0, $s1, $s2</a:t>
            </a:r>
          </a:p>
        </p:txBody>
      </p:sp>
      <p:sp>
        <p:nvSpPr>
          <p:cNvPr id="59397" name="Line 212"/>
          <p:cNvSpPr>
            <a:spLocks noChangeShapeType="1"/>
          </p:cNvSpPr>
          <p:nvPr/>
        </p:nvSpPr>
        <p:spPr bwMode="auto">
          <a:xfrm>
            <a:off x="3200401" y="4750581"/>
            <a:ext cx="2238375" cy="0"/>
          </a:xfrm>
          <a:prstGeom prst="line">
            <a:avLst/>
          </a:prstGeom>
          <a:noFill/>
          <a:ln w="38227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8" name="Line 1"/>
          <p:cNvSpPr>
            <a:spLocks noChangeShapeType="1"/>
          </p:cNvSpPr>
          <p:nvPr/>
        </p:nvSpPr>
        <p:spPr bwMode="auto">
          <a:xfrm>
            <a:off x="8229600" y="5390342"/>
            <a:ext cx="609600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399" name="Line 2"/>
          <p:cNvSpPr>
            <a:spLocks noChangeShapeType="1"/>
          </p:cNvSpPr>
          <p:nvPr/>
        </p:nvSpPr>
        <p:spPr bwMode="auto">
          <a:xfrm>
            <a:off x="8229600" y="4094942"/>
            <a:ext cx="609600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459" name="Freeform 3"/>
          <p:cNvSpPr>
            <a:spLocks noChangeArrowheads="1"/>
          </p:cNvSpPr>
          <p:nvPr/>
        </p:nvSpPr>
        <p:spPr bwMode="auto">
          <a:xfrm>
            <a:off x="5486400" y="5025218"/>
            <a:ext cx="4597400" cy="1484313"/>
          </a:xfrm>
          <a:custGeom>
            <a:avLst/>
            <a:gdLst>
              <a:gd name="T0" fmla="*/ 3212 w 3510"/>
              <a:gd name="T1" fmla="*/ 0 h 935"/>
              <a:gd name="T2" fmla="*/ 3510 w 3510"/>
              <a:gd name="T3" fmla="*/ 4 h 935"/>
              <a:gd name="T4" fmla="*/ 3510 w 3510"/>
              <a:gd name="T5" fmla="*/ 935 h 935"/>
              <a:gd name="T6" fmla="*/ 0 w 3510"/>
              <a:gd name="T7" fmla="*/ 935 h 935"/>
              <a:gd name="T8" fmla="*/ 0 w 3510"/>
              <a:gd name="T9" fmla="*/ 426 h 935"/>
              <a:gd name="T10" fmla="*/ 247 w 3510"/>
              <a:gd name="T11" fmla="*/ 426 h 93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510"/>
              <a:gd name="T19" fmla="*/ 0 h 935"/>
              <a:gd name="T20" fmla="*/ 3510 w 3510"/>
              <a:gd name="T21" fmla="*/ 935 h 93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510" h="935">
                <a:moveTo>
                  <a:pt x="3212" y="0"/>
                </a:moveTo>
                <a:lnTo>
                  <a:pt x="3510" y="4"/>
                </a:lnTo>
                <a:lnTo>
                  <a:pt x="3510" y="935"/>
                </a:lnTo>
                <a:lnTo>
                  <a:pt x="0" y="935"/>
                </a:lnTo>
                <a:lnTo>
                  <a:pt x="0" y="426"/>
                </a:lnTo>
                <a:lnTo>
                  <a:pt x="247" y="426"/>
                </a:lnTo>
              </a:path>
            </a:pathLst>
          </a:custGeom>
          <a:noFill/>
          <a:ln w="442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460" name="Freeform 4"/>
          <p:cNvSpPr>
            <a:spLocks noChangeArrowheads="1"/>
          </p:cNvSpPr>
          <p:nvPr/>
        </p:nvSpPr>
        <p:spPr bwMode="auto">
          <a:xfrm>
            <a:off x="8864600" y="3806017"/>
            <a:ext cx="838200" cy="1828800"/>
          </a:xfrm>
          <a:custGeom>
            <a:avLst/>
            <a:gdLst>
              <a:gd name="T0" fmla="*/ 0 w 432"/>
              <a:gd name="T1" fmla="*/ 0 h 1152"/>
              <a:gd name="T2" fmla="*/ 432 w 432"/>
              <a:gd name="T3" fmla="*/ 288 h 1152"/>
              <a:gd name="T4" fmla="*/ 432 w 432"/>
              <a:gd name="T5" fmla="*/ 864 h 1152"/>
              <a:gd name="T6" fmla="*/ 0 w 432"/>
              <a:gd name="T7" fmla="*/ 1152 h 1152"/>
              <a:gd name="T8" fmla="*/ 0 w 432"/>
              <a:gd name="T9" fmla="*/ 720 h 1152"/>
              <a:gd name="T10" fmla="*/ 192 w 432"/>
              <a:gd name="T11" fmla="*/ 576 h 1152"/>
              <a:gd name="T12" fmla="*/ 0 w 432"/>
              <a:gd name="T13" fmla="*/ 432 h 1152"/>
              <a:gd name="T14" fmla="*/ 0 w 432"/>
              <a:gd name="T15" fmla="*/ 0 h 115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432"/>
              <a:gd name="T25" fmla="*/ 0 h 1152"/>
              <a:gd name="T26" fmla="*/ 432 w 432"/>
              <a:gd name="T27" fmla="*/ 1152 h 1152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432" h="1152">
                <a:moveTo>
                  <a:pt x="0" y="0"/>
                </a:moveTo>
                <a:lnTo>
                  <a:pt x="432" y="288"/>
                </a:lnTo>
                <a:lnTo>
                  <a:pt x="432" y="864"/>
                </a:lnTo>
                <a:lnTo>
                  <a:pt x="0" y="1152"/>
                </a:lnTo>
                <a:lnTo>
                  <a:pt x="0" y="720"/>
                </a:lnTo>
                <a:lnTo>
                  <a:pt x="192" y="576"/>
                </a:lnTo>
                <a:lnTo>
                  <a:pt x="0" y="43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2844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402" name="Freeform 5"/>
          <p:cNvSpPr>
            <a:spLocks noChangeArrowheads="1"/>
          </p:cNvSpPr>
          <p:nvPr/>
        </p:nvSpPr>
        <p:spPr bwMode="auto">
          <a:xfrm>
            <a:off x="5789613" y="5012517"/>
            <a:ext cx="106362" cy="107950"/>
          </a:xfrm>
          <a:custGeom>
            <a:avLst/>
            <a:gdLst>
              <a:gd name="T0" fmla="*/ 0 w 67"/>
              <a:gd name="T1" fmla="*/ 0 h 68"/>
              <a:gd name="T2" fmla="*/ 0 w 67"/>
              <a:gd name="T3" fmla="*/ 68 h 68"/>
              <a:gd name="T4" fmla="*/ 67 w 67"/>
              <a:gd name="T5" fmla="*/ 36 h 68"/>
              <a:gd name="T6" fmla="*/ 0 w 67"/>
              <a:gd name="T7" fmla="*/ 4 h 68"/>
              <a:gd name="T8" fmla="*/ 0 w 67"/>
              <a:gd name="T9" fmla="*/ 4 h 68"/>
              <a:gd name="T10" fmla="*/ 0 w 67"/>
              <a:gd name="T11" fmla="*/ 0 h 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8"/>
              <a:gd name="T20" fmla="*/ 67 w 67"/>
              <a:gd name="T21" fmla="*/ 68 h 6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8">
                <a:moveTo>
                  <a:pt x="0" y="0"/>
                </a:moveTo>
                <a:lnTo>
                  <a:pt x="0" y="68"/>
                </a:lnTo>
                <a:lnTo>
                  <a:pt x="67" y="36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3" name="Freeform 6"/>
          <p:cNvSpPr>
            <a:spLocks noChangeArrowheads="1"/>
          </p:cNvSpPr>
          <p:nvPr/>
        </p:nvSpPr>
        <p:spPr bwMode="auto">
          <a:xfrm>
            <a:off x="5789613" y="3750455"/>
            <a:ext cx="106362" cy="107950"/>
          </a:xfrm>
          <a:custGeom>
            <a:avLst/>
            <a:gdLst>
              <a:gd name="T0" fmla="*/ 0 w 67"/>
              <a:gd name="T1" fmla="*/ 0 h 68"/>
              <a:gd name="T2" fmla="*/ 0 w 67"/>
              <a:gd name="T3" fmla="*/ 68 h 68"/>
              <a:gd name="T4" fmla="*/ 67 w 67"/>
              <a:gd name="T5" fmla="*/ 36 h 68"/>
              <a:gd name="T6" fmla="*/ 0 w 67"/>
              <a:gd name="T7" fmla="*/ 4 h 68"/>
              <a:gd name="T8" fmla="*/ 0 w 67"/>
              <a:gd name="T9" fmla="*/ 4 h 68"/>
              <a:gd name="T10" fmla="*/ 0 w 67"/>
              <a:gd name="T11" fmla="*/ 0 h 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8"/>
              <a:gd name="T20" fmla="*/ 67 w 67"/>
              <a:gd name="T21" fmla="*/ 68 h 6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8">
                <a:moveTo>
                  <a:pt x="0" y="0"/>
                </a:moveTo>
                <a:lnTo>
                  <a:pt x="0" y="68"/>
                </a:lnTo>
                <a:lnTo>
                  <a:pt x="67" y="36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4" name="Freeform 7"/>
          <p:cNvSpPr>
            <a:spLocks noChangeArrowheads="1"/>
          </p:cNvSpPr>
          <p:nvPr/>
        </p:nvSpPr>
        <p:spPr bwMode="auto">
          <a:xfrm>
            <a:off x="5789613" y="5644342"/>
            <a:ext cx="106362" cy="107950"/>
          </a:xfrm>
          <a:custGeom>
            <a:avLst/>
            <a:gdLst>
              <a:gd name="T0" fmla="*/ 0 w 67"/>
              <a:gd name="T1" fmla="*/ 0 h 68"/>
              <a:gd name="T2" fmla="*/ 0 w 67"/>
              <a:gd name="T3" fmla="*/ 68 h 68"/>
              <a:gd name="T4" fmla="*/ 67 w 67"/>
              <a:gd name="T5" fmla="*/ 36 h 68"/>
              <a:gd name="T6" fmla="*/ 0 w 67"/>
              <a:gd name="T7" fmla="*/ 4 h 68"/>
              <a:gd name="T8" fmla="*/ 0 w 67"/>
              <a:gd name="T9" fmla="*/ 4 h 68"/>
              <a:gd name="T10" fmla="*/ 0 w 67"/>
              <a:gd name="T11" fmla="*/ 0 h 6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8"/>
              <a:gd name="T20" fmla="*/ 67 w 67"/>
              <a:gd name="T21" fmla="*/ 68 h 6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8">
                <a:moveTo>
                  <a:pt x="0" y="0"/>
                </a:moveTo>
                <a:lnTo>
                  <a:pt x="0" y="68"/>
                </a:lnTo>
                <a:lnTo>
                  <a:pt x="67" y="36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5" name="Freeform 8"/>
          <p:cNvSpPr>
            <a:spLocks noChangeArrowheads="1"/>
          </p:cNvSpPr>
          <p:nvPr/>
        </p:nvSpPr>
        <p:spPr bwMode="auto">
          <a:xfrm>
            <a:off x="5789613" y="4382280"/>
            <a:ext cx="106362" cy="106362"/>
          </a:xfrm>
          <a:custGeom>
            <a:avLst/>
            <a:gdLst>
              <a:gd name="T0" fmla="*/ 0 w 67"/>
              <a:gd name="T1" fmla="*/ 0 h 67"/>
              <a:gd name="T2" fmla="*/ 0 w 67"/>
              <a:gd name="T3" fmla="*/ 67 h 67"/>
              <a:gd name="T4" fmla="*/ 67 w 67"/>
              <a:gd name="T5" fmla="*/ 35 h 67"/>
              <a:gd name="T6" fmla="*/ 0 w 67"/>
              <a:gd name="T7" fmla="*/ 4 h 67"/>
              <a:gd name="T8" fmla="*/ 0 w 67"/>
              <a:gd name="T9" fmla="*/ 4 h 67"/>
              <a:gd name="T10" fmla="*/ 0 w 67"/>
              <a:gd name="T11" fmla="*/ 0 h 6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67"/>
              <a:gd name="T19" fmla="*/ 0 h 67"/>
              <a:gd name="T20" fmla="*/ 67 w 67"/>
              <a:gd name="T21" fmla="*/ 67 h 6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67" h="67">
                <a:moveTo>
                  <a:pt x="0" y="0"/>
                </a:moveTo>
                <a:lnTo>
                  <a:pt x="0" y="67"/>
                </a:lnTo>
                <a:lnTo>
                  <a:pt x="67" y="35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6" name="Freeform 9"/>
          <p:cNvSpPr>
            <a:spLocks noChangeArrowheads="1"/>
          </p:cNvSpPr>
          <p:nvPr/>
        </p:nvSpPr>
        <p:spPr bwMode="auto">
          <a:xfrm>
            <a:off x="5908676" y="3517093"/>
            <a:ext cx="2366963" cy="2474913"/>
          </a:xfrm>
          <a:custGeom>
            <a:avLst/>
            <a:gdLst>
              <a:gd name="T0" fmla="*/ 1491 w 1491"/>
              <a:gd name="T1" fmla="*/ 1559 h 1559"/>
              <a:gd name="T2" fmla="*/ 1491 w 1491"/>
              <a:gd name="T3" fmla="*/ 0 h 1559"/>
              <a:gd name="T4" fmla="*/ 0 w 1491"/>
              <a:gd name="T5" fmla="*/ 0 h 1559"/>
              <a:gd name="T6" fmla="*/ 0 w 1491"/>
              <a:gd name="T7" fmla="*/ 1559 h 1559"/>
              <a:gd name="T8" fmla="*/ 1491 w 1491"/>
              <a:gd name="T9" fmla="*/ 1559 h 1559"/>
              <a:gd name="T10" fmla="*/ 1491 w 1491"/>
              <a:gd name="T11" fmla="*/ 1559 h 155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91"/>
              <a:gd name="T19" fmla="*/ 0 h 1559"/>
              <a:gd name="T20" fmla="*/ 1491 w 1491"/>
              <a:gd name="T21" fmla="*/ 1559 h 155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91" h="1559">
                <a:moveTo>
                  <a:pt x="1491" y="1559"/>
                </a:moveTo>
                <a:lnTo>
                  <a:pt x="1491" y="0"/>
                </a:lnTo>
                <a:lnTo>
                  <a:pt x="0" y="0"/>
                </a:lnTo>
                <a:lnTo>
                  <a:pt x="0" y="1559"/>
                </a:lnTo>
                <a:lnTo>
                  <a:pt x="1491" y="155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07" name="Freeform 10"/>
          <p:cNvSpPr>
            <a:spLocks noChangeArrowheads="1"/>
          </p:cNvSpPr>
          <p:nvPr/>
        </p:nvSpPr>
        <p:spPr bwMode="auto">
          <a:xfrm>
            <a:off x="5908676" y="3517093"/>
            <a:ext cx="2366963" cy="2474913"/>
          </a:xfrm>
          <a:custGeom>
            <a:avLst/>
            <a:gdLst>
              <a:gd name="T0" fmla="*/ 1491 w 1491"/>
              <a:gd name="T1" fmla="*/ 1559 h 1559"/>
              <a:gd name="T2" fmla="*/ 1491 w 1491"/>
              <a:gd name="T3" fmla="*/ 0 h 1559"/>
              <a:gd name="T4" fmla="*/ 0 w 1491"/>
              <a:gd name="T5" fmla="*/ 0 h 1559"/>
              <a:gd name="T6" fmla="*/ 0 w 1491"/>
              <a:gd name="T7" fmla="*/ 1559 h 1559"/>
              <a:gd name="T8" fmla="*/ 1491 w 1491"/>
              <a:gd name="T9" fmla="*/ 1559 h 1559"/>
              <a:gd name="T10" fmla="*/ 1491 w 1491"/>
              <a:gd name="T11" fmla="*/ 1559 h 155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491"/>
              <a:gd name="T19" fmla="*/ 0 h 1559"/>
              <a:gd name="T20" fmla="*/ 1491 w 1491"/>
              <a:gd name="T21" fmla="*/ 1559 h 155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491" h="1559">
                <a:moveTo>
                  <a:pt x="1491" y="1559"/>
                </a:moveTo>
                <a:lnTo>
                  <a:pt x="1491" y="0"/>
                </a:lnTo>
                <a:lnTo>
                  <a:pt x="0" y="0"/>
                </a:lnTo>
                <a:lnTo>
                  <a:pt x="0" y="1559"/>
                </a:lnTo>
                <a:lnTo>
                  <a:pt x="1491" y="1559"/>
                </a:lnTo>
              </a:path>
            </a:pathLst>
          </a:custGeom>
          <a:solidFill>
            <a:srgbClr val="D1FFE8"/>
          </a:solidFill>
          <a:ln w="255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9408" name="Rectangle 11"/>
          <p:cNvSpPr>
            <a:spLocks noChangeArrowheads="1"/>
          </p:cNvSpPr>
          <p:nvPr/>
        </p:nvSpPr>
        <p:spPr bwMode="auto">
          <a:xfrm>
            <a:off x="5997576" y="4836306"/>
            <a:ext cx="1936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59409" name="Rectangle 12"/>
          <p:cNvSpPr>
            <a:spLocks noChangeArrowheads="1"/>
          </p:cNvSpPr>
          <p:nvPr/>
        </p:nvSpPr>
        <p:spPr bwMode="auto">
          <a:xfrm>
            <a:off x="6199188" y="4836306"/>
            <a:ext cx="689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9410" name="Rectangle 13"/>
          <p:cNvSpPr>
            <a:spLocks noChangeArrowheads="1"/>
          </p:cNvSpPr>
          <p:nvPr/>
        </p:nvSpPr>
        <p:spPr bwMode="auto">
          <a:xfrm>
            <a:off x="6267450" y="4836306"/>
            <a:ext cx="46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59411" name="Rectangle 14"/>
          <p:cNvSpPr>
            <a:spLocks noChangeArrowheads="1"/>
          </p:cNvSpPr>
          <p:nvPr/>
        </p:nvSpPr>
        <p:spPr bwMode="auto">
          <a:xfrm>
            <a:off x="6313488" y="4836306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59412" name="Rectangle 15"/>
          <p:cNvSpPr>
            <a:spLocks noChangeArrowheads="1"/>
          </p:cNvSpPr>
          <p:nvPr/>
        </p:nvSpPr>
        <p:spPr bwMode="auto">
          <a:xfrm>
            <a:off x="6369050" y="4836306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59413" name="Rectangle 16"/>
          <p:cNvSpPr>
            <a:spLocks noChangeArrowheads="1"/>
          </p:cNvSpPr>
          <p:nvPr/>
        </p:nvSpPr>
        <p:spPr bwMode="auto">
          <a:xfrm>
            <a:off x="6489700" y="4836305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14" name="Rectangle 17"/>
          <p:cNvSpPr>
            <a:spLocks noChangeArrowheads="1"/>
          </p:cNvSpPr>
          <p:nvPr/>
        </p:nvSpPr>
        <p:spPr bwMode="auto">
          <a:xfrm>
            <a:off x="5997576" y="5052206"/>
            <a:ext cx="682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9415" name="Rectangle 18"/>
          <p:cNvSpPr>
            <a:spLocks noChangeArrowheads="1"/>
          </p:cNvSpPr>
          <p:nvPr/>
        </p:nvSpPr>
        <p:spPr bwMode="auto">
          <a:xfrm>
            <a:off x="6067425" y="5052206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59416" name="Rectangle 19"/>
          <p:cNvSpPr>
            <a:spLocks noChangeArrowheads="1"/>
          </p:cNvSpPr>
          <p:nvPr/>
        </p:nvSpPr>
        <p:spPr bwMode="auto">
          <a:xfrm>
            <a:off x="6186488" y="5052206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59417" name="Rectangle 20"/>
          <p:cNvSpPr>
            <a:spLocks noChangeArrowheads="1"/>
          </p:cNvSpPr>
          <p:nvPr/>
        </p:nvSpPr>
        <p:spPr bwMode="auto">
          <a:xfrm>
            <a:off x="6299200" y="5052206"/>
            <a:ext cx="46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59418" name="Rectangle 21"/>
          <p:cNvSpPr>
            <a:spLocks noChangeArrowheads="1"/>
          </p:cNvSpPr>
          <p:nvPr/>
        </p:nvSpPr>
        <p:spPr bwMode="auto">
          <a:xfrm>
            <a:off x="6351589" y="5052206"/>
            <a:ext cx="1031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59419" name="Rectangle 22"/>
          <p:cNvSpPr>
            <a:spLocks noChangeArrowheads="1"/>
          </p:cNvSpPr>
          <p:nvPr/>
        </p:nvSpPr>
        <p:spPr bwMode="auto">
          <a:xfrm>
            <a:off x="6457950" y="5052206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59420" name="Rectangle 23"/>
          <p:cNvSpPr>
            <a:spLocks noChangeArrowheads="1"/>
          </p:cNvSpPr>
          <p:nvPr/>
        </p:nvSpPr>
        <p:spPr bwMode="auto">
          <a:xfrm>
            <a:off x="6515100" y="5052206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59421" name="Rectangle 24"/>
          <p:cNvSpPr>
            <a:spLocks noChangeArrowheads="1"/>
          </p:cNvSpPr>
          <p:nvPr/>
        </p:nvSpPr>
        <p:spPr bwMode="auto">
          <a:xfrm>
            <a:off x="6627813" y="5052206"/>
            <a:ext cx="689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9422" name="Rectangle 25"/>
          <p:cNvSpPr>
            <a:spLocks noChangeArrowheads="1"/>
          </p:cNvSpPr>
          <p:nvPr/>
        </p:nvSpPr>
        <p:spPr bwMode="auto">
          <a:xfrm>
            <a:off x="7707314" y="3890156"/>
            <a:ext cx="1476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9423" name="Rectangle 26"/>
          <p:cNvSpPr>
            <a:spLocks noChangeArrowheads="1"/>
          </p:cNvSpPr>
          <p:nvPr/>
        </p:nvSpPr>
        <p:spPr bwMode="auto">
          <a:xfrm>
            <a:off x="7866063" y="3890156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59424" name="Rectangle 27"/>
          <p:cNvSpPr>
            <a:spLocks noChangeArrowheads="1"/>
          </p:cNvSpPr>
          <p:nvPr/>
        </p:nvSpPr>
        <p:spPr bwMode="auto">
          <a:xfrm>
            <a:off x="7978775" y="3890156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59425" name="Rectangle 28"/>
          <p:cNvSpPr>
            <a:spLocks noChangeArrowheads="1"/>
          </p:cNvSpPr>
          <p:nvPr/>
        </p:nvSpPr>
        <p:spPr bwMode="auto">
          <a:xfrm>
            <a:off x="8099425" y="3890156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59426" name="Rectangle 29"/>
          <p:cNvSpPr>
            <a:spLocks noChangeArrowheads="1"/>
          </p:cNvSpPr>
          <p:nvPr/>
        </p:nvSpPr>
        <p:spPr bwMode="auto">
          <a:xfrm>
            <a:off x="8212139" y="3890155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27" name="Rectangle 30"/>
          <p:cNvSpPr>
            <a:spLocks noChangeArrowheads="1"/>
          </p:cNvSpPr>
          <p:nvPr/>
        </p:nvSpPr>
        <p:spPr bwMode="auto">
          <a:xfrm>
            <a:off x="7588250" y="4104468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59428" name="Rectangle 31"/>
          <p:cNvSpPr>
            <a:spLocks noChangeArrowheads="1"/>
          </p:cNvSpPr>
          <p:nvPr/>
        </p:nvSpPr>
        <p:spPr bwMode="auto">
          <a:xfrm>
            <a:off x="7700963" y="4104468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59429" name="Rectangle 32"/>
          <p:cNvSpPr>
            <a:spLocks noChangeArrowheads="1"/>
          </p:cNvSpPr>
          <p:nvPr/>
        </p:nvSpPr>
        <p:spPr bwMode="auto">
          <a:xfrm>
            <a:off x="7821613" y="4104468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59430" name="Rectangle 33"/>
          <p:cNvSpPr>
            <a:spLocks noChangeArrowheads="1"/>
          </p:cNvSpPr>
          <p:nvPr/>
        </p:nvSpPr>
        <p:spPr bwMode="auto">
          <a:xfrm>
            <a:off x="7877175" y="4104468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59431" name="Rectangle 34"/>
          <p:cNvSpPr>
            <a:spLocks noChangeArrowheads="1"/>
          </p:cNvSpPr>
          <p:nvPr/>
        </p:nvSpPr>
        <p:spPr bwMode="auto">
          <a:xfrm>
            <a:off x="7991475" y="4104468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6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59432" name="Rectangle 35"/>
          <p:cNvSpPr>
            <a:spLocks noChangeArrowheads="1"/>
          </p:cNvSpPr>
          <p:nvPr/>
        </p:nvSpPr>
        <p:spPr bwMode="auto">
          <a:xfrm>
            <a:off x="8054975" y="4104468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59433" name="Rectangle 36"/>
          <p:cNvSpPr>
            <a:spLocks noChangeArrowheads="1"/>
          </p:cNvSpPr>
          <p:nvPr/>
        </p:nvSpPr>
        <p:spPr bwMode="auto">
          <a:xfrm>
            <a:off x="7707314" y="5158568"/>
            <a:ext cx="14763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9434" name="Rectangle 37"/>
          <p:cNvSpPr>
            <a:spLocks noChangeArrowheads="1"/>
          </p:cNvSpPr>
          <p:nvPr/>
        </p:nvSpPr>
        <p:spPr bwMode="auto">
          <a:xfrm>
            <a:off x="7866063" y="5158568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59435" name="Rectangle 38"/>
          <p:cNvSpPr>
            <a:spLocks noChangeArrowheads="1"/>
          </p:cNvSpPr>
          <p:nvPr/>
        </p:nvSpPr>
        <p:spPr bwMode="auto">
          <a:xfrm>
            <a:off x="7978775" y="5158568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59436" name="Rectangle 39"/>
          <p:cNvSpPr>
            <a:spLocks noChangeArrowheads="1"/>
          </p:cNvSpPr>
          <p:nvPr/>
        </p:nvSpPr>
        <p:spPr bwMode="auto">
          <a:xfrm>
            <a:off x="8099425" y="5158568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59437" name="Rectangle 40"/>
          <p:cNvSpPr>
            <a:spLocks noChangeArrowheads="1"/>
          </p:cNvSpPr>
          <p:nvPr/>
        </p:nvSpPr>
        <p:spPr bwMode="auto">
          <a:xfrm>
            <a:off x="8212139" y="5158567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38" name="Rectangle 41"/>
          <p:cNvSpPr>
            <a:spLocks noChangeArrowheads="1"/>
          </p:cNvSpPr>
          <p:nvPr/>
        </p:nvSpPr>
        <p:spPr bwMode="auto">
          <a:xfrm>
            <a:off x="7588250" y="5366531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59439" name="Rectangle 42"/>
          <p:cNvSpPr>
            <a:spLocks noChangeArrowheads="1"/>
          </p:cNvSpPr>
          <p:nvPr/>
        </p:nvSpPr>
        <p:spPr bwMode="auto">
          <a:xfrm>
            <a:off x="7700963" y="5366531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59440" name="Rectangle 43"/>
          <p:cNvSpPr>
            <a:spLocks noChangeArrowheads="1"/>
          </p:cNvSpPr>
          <p:nvPr/>
        </p:nvSpPr>
        <p:spPr bwMode="auto">
          <a:xfrm>
            <a:off x="7821613" y="5366531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59441" name="Rectangle 44"/>
          <p:cNvSpPr>
            <a:spLocks noChangeArrowheads="1"/>
          </p:cNvSpPr>
          <p:nvPr/>
        </p:nvSpPr>
        <p:spPr bwMode="auto">
          <a:xfrm>
            <a:off x="7877175" y="5366531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59442" name="Rectangle 45"/>
          <p:cNvSpPr>
            <a:spLocks noChangeArrowheads="1"/>
          </p:cNvSpPr>
          <p:nvPr/>
        </p:nvSpPr>
        <p:spPr bwMode="auto">
          <a:xfrm>
            <a:off x="7991475" y="5366531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6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59443" name="Rectangle 46"/>
          <p:cNvSpPr>
            <a:spLocks noChangeArrowheads="1"/>
          </p:cNvSpPr>
          <p:nvPr/>
        </p:nvSpPr>
        <p:spPr bwMode="auto">
          <a:xfrm>
            <a:off x="8054975" y="5366531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59444" name="Rectangle 47"/>
          <p:cNvSpPr>
            <a:spLocks noChangeArrowheads="1"/>
          </p:cNvSpPr>
          <p:nvPr/>
        </p:nvSpPr>
        <p:spPr bwMode="auto">
          <a:xfrm>
            <a:off x="5997575" y="3574243"/>
            <a:ext cx="1476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9445" name="Rectangle 48"/>
          <p:cNvSpPr>
            <a:spLocks noChangeArrowheads="1"/>
          </p:cNvSpPr>
          <p:nvPr/>
        </p:nvSpPr>
        <p:spPr bwMode="auto">
          <a:xfrm>
            <a:off x="6148388" y="3574243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59446" name="Rectangle 49"/>
          <p:cNvSpPr>
            <a:spLocks noChangeArrowheads="1"/>
          </p:cNvSpPr>
          <p:nvPr/>
        </p:nvSpPr>
        <p:spPr bwMode="auto">
          <a:xfrm>
            <a:off x="6269038" y="3574243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59447" name="Rectangle 50"/>
          <p:cNvSpPr>
            <a:spLocks noChangeArrowheads="1"/>
          </p:cNvSpPr>
          <p:nvPr/>
        </p:nvSpPr>
        <p:spPr bwMode="auto">
          <a:xfrm>
            <a:off x="6381750" y="3574243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59448" name="Rectangle 51"/>
          <p:cNvSpPr>
            <a:spLocks noChangeArrowheads="1"/>
          </p:cNvSpPr>
          <p:nvPr/>
        </p:nvSpPr>
        <p:spPr bwMode="auto">
          <a:xfrm>
            <a:off x="6502400" y="3574242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49" name="Rectangle 52"/>
          <p:cNvSpPr>
            <a:spLocks noChangeArrowheads="1"/>
          </p:cNvSpPr>
          <p:nvPr/>
        </p:nvSpPr>
        <p:spPr bwMode="auto">
          <a:xfrm>
            <a:off x="5997576" y="3788556"/>
            <a:ext cx="682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9450" name="Rectangle 53"/>
          <p:cNvSpPr>
            <a:spLocks noChangeArrowheads="1"/>
          </p:cNvSpPr>
          <p:nvPr/>
        </p:nvSpPr>
        <p:spPr bwMode="auto">
          <a:xfrm>
            <a:off x="6067425" y="3788556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59451" name="Rectangle 54"/>
          <p:cNvSpPr>
            <a:spLocks noChangeArrowheads="1"/>
          </p:cNvSpPr>
          <p:nvPr/>
        </p:nvSpPr>
        <p:spPr bwMode="auto">
          <a:xfrm>
            <a:off x="6186488" y="3788556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59452" name="Rectangle 55"/>
          <p:cNvSpPr>
            <a:spLocks noChangeArrowheads="1"/>
          </p:cNvSpPr>
          <p:nvPr/>
        </p:nvSpPr>
        <p:spPr bwMode="auto">
          <a:xfrm>
            <a:off x="6299200" y="3788556"/>
            <a:ext cx="46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59453" name="Rectangle 56"/>
          <p:cNvSpPr>
            <a:spLocks noChangeArrowheads="1"/>
          </p:cNvSpPr>
          <p:nvPr/>
        </p:nvSpPr>
        <p:spPr bwMode="auto">
          <a:xfrm>
            <a:off x="6351589" y="3788556"/>
            <a:ext cx="1031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59454" name="Rectangle 57"/>
          <p:cNvSpPr>
            <a:spLocks noChangeArrowheads="1"/>
          </p:cNvSpPr>
          <p:nvPr/>
        </p:nvSpPr>
        <p:spPr bwMode="auto">
          <a:xfrm>
            <a:off x="6457950" y="3788556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59455" name="Rectangle 58"/>
          <p:cNvSpPr>
            <a:spLocks noChangeArrowheads="1"/>
          </p:cNvSpPr>
          <p:nvPr/>
        </p:nvSpPr>
        <p:spPr bwMode="auto">
          <a:xfrm>
            <a:off x="6515100" y="3788556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59456" name="Rectangle 59"/>
          <p:cNvSpPr>
            <a:spLocks noChangeArrowheads="1"/>
          </p:cNvSpPr>
          <p:nvPr/>
        </p:nvSpPr>
        <p:spPr bwMode="auto">
          <a:xfrm>
            <a:off x="6627813" y="3788556"/>
            <a:ext cx="689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9457" name="Rectangle 60"/>
          <p:cNvSpPr>
            <a:spLocks noChangeArrowheads="1"/>
          </p:cNvSpPr>
          <p:nvPr/>
        </p:nvSpPr>
        <p:spPr bwMode="auto">
          <a:xfrm>
            <a:off x="6697663" y="3788556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6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59458" name="Rectangle 61"/>
          <p:cNvSpPr>
            <a:spLocks noChangeArrowheads="1"/>
          </p:cNvSpPr>
          <p:nvPr/>
        </p:nvSpPr>
        <p:spPr bwMode="auto">
          <a:xfrm>
            <a:off x="6761163" y="3788556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59459" name="Rectangle 62"/>
          <p:cNvSpPr>
            <a:spLocks noChangeArrowheads="1"/>
          </p:cNvSpPr>
          <p:nvPr/>
        </p:nvSpPr>
        <p:spPr bwMode="auto">
          <a:xfrm>
            <a:off x="5997575" y="4206068"/>
            <a:ext cx="1476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9460" name="Rectangle 63"/>
          <p:cNvSpPr>
            <a:spLocks noChangeArrowheads="1"/>
          </p:cNvSpPr>
          <p:nvPr/>
        </p:nvSpPr>
        <p:spPr bwMode="auto">
          <a:xfrm>
            <a:off x="6148388" y="4206068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59461" name="Rectangle 64"/>
          <p:cNvSpPr>
            <a:spLocks noChangeArrowheads="1"/>
          </p:cNvSpPr>
          <p:nvPr/>
        </p:nvSpPr>
        <p:spPr bwMode="auto">
          <a:xfrm>
            <a:off x="6269038" y="4206068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59462" name="Rectangle 65"/>
          <p:cNvSpPr>
            <a:spLocks noChangeArrowheads="1"/>
          </p:cNvSpPr>
          <p:nvPr/>
        </p:nvSpPr>
        <p:spPr bwMode="auto">
          <a:xfrm>
            <a:off x="6381750" y="4206068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59463" name="Rectangle 66"/>
          <p:cNvSpPr>
            <a:spLocks noChangeArrowheads="1"/>
          </p:cNvSpPr>
          <p:nvPr/>
        </p:nvSpPr>
        <p:spPr bwMode="auto">
          <a:xfrm>
            <a:off x="6502400" y="4206067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64" name="Rectangle 67"/>
          <p:cNvSpPr>
            <a:spLocks noChangeArrowheads="1"/>
          </p:cNvSpPr>
          <p:nvPr/>
        </p:nvSpPr>
        <p:spPr bwMode="auto">
          <a:xfrm>
            <a:off x="5997576" y="4420381"/>
            <a:ext cx="6826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9465" name="Rectangle 68"/>
          <p:cNvSpPr>
            <a:spLocks noChangeArrowheads="1"/>
          </p:cNvSpPr>
          <p:nvPr/>
        </p:nvSpPr>
        <p:spPr bwMode="auto">
          <a:xfrm>
            <a:off x="6067425" y="4420381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59466" name="Rectangle 69"/>
          <p:cNvSpPr>
            <a:spLocks noChangeArrowheads="1"/>
          </p:cNvSpPr>
          <p:nvPr/>
        </p:nvSpPr>
        <p:spPr bwMode="auto">
          <a:xfrm>
            <a:off x="6186488" y="4420381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59467" name="Rectangle 70"/>
          <p:cNvSpPr>
            <a:spLocks noChangeArrowheads="1"/>
          </p:cNvSpPr>
          <p:nvPr/>
        </p:nvSpPr>
        <p:spPr bwMode="auto">
          <a:xfrm>
            <a:off x="6299200" y="4420381"/>
            <a:ext cx="46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59468" name="Rectangle 71"/>
          <p:cNvSpPr>
            <a:spLocks noChangeArrowheads="1"/>
          </p:cNvSpPr>
          <p:nvPr/>
        </p:nvSpPr>
        <p:spPr bwMode="auto">
          <a:xfrm>
            <a:off x="6351589" y="4420381"/>
            <a:ext cx="103187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59469" name="Rectangle 72"/>
          <p:cNvSpPr>
            <a:spLocks noChangeArrowheads="1"/>
          </p:cNvSpPr>
          <p:nvPr/>
        </p:nvSpPr>
        <p:spPr bwMode="auto">
          <a:xfrm>
            <a:off x="6457950" y="4420381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59470" name="Rectangle 73"/>
          <p:cNvSpPr>
            <a:spLocks noChangeArrowheads="1"/>
          </p:cNvSpPr>
          <p:nvPr/>
        </p:nvSpPr>
        <p:spPr bwMode="auto">
          <a:xfrm>
            <a:off x="6515100" y="4420381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59471" name="Rectangle 74"/>
          <p:cNvSpPr>
            <a:spLocks noChangeArrowheads="1"/>
          </p:cNvSpPr>
          <p:nvPr/>
        </p:nvSpPr>
        <p:spPr bwMode="auto">
          <a:xfrm>
            <a:off x="6627813" y="4420381"/>
            <a:ext cx="689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9472" name="Rectangle 75"/>
          <p:cNvSpPr>
            <a:spLocks noChangeArrowheads="1"/>
          </p:cNvSpPr>
          <p:nvPr/>
        </p:nvSpPr>
        <p:spPr bwMode="auto">
          <a:xfrm>
            <a:off x="6697663" y="4420381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6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59473" name="Rectangle 76"/>
          <p:cNvSpPr>
            <a:spLocks noChangeArrowheads="1"/>
          </p:cNvSpPr>
          <p:nvPr/>
        </p:nvSpPr>
        <p:spPr bwMode="auto">
          <a:xfrm>
            <a:off x="6761163" y="4420381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59474" name="Freeform 77"/>
          <p:cNvSpPr>
            <a:spLocks noChangeArrowheads="1"/>
          </p:cNvSpPr>
          <p:nvPr/>
        </p:nvSpPr>
        <p:spPr bwMode="auto">
          <a:xfrm>
            <a:off x="5435601" y="3807605"/>
            <a:ext cx="392113" cy="1262062"/>
          </a:xfrm>
          <a:custGeom>
            <a:avLst/>
            <a:gdLst>
              <a:gd name="T0" fmla="*/ 247 w 247"/>
              <a:gd name="T1" fmla="*/ 795 h 795"/>
              <a:gd name="T2" fmla="*/ 0 w 247"/>
              <a:gd name="T3" fmla="*/ 795 h 795"/>
              <a:gd name="T4" fmla="*/ 0 w 247"/>
              <a:gd name="T5" fmla="*/ 0 h 795"/>
              <a:gd name="T6" fmla="*/ 239 w 247"/>
              <a:gd name="T7" fmla="*/ 0 h 795"/>
              <a:gd name="T8" fmla="*/ 0 60000 65536"/>
              <a:gd name="T9" fmla="*/ 0 60000 65536"/>
              <a:gd name="T10" fmla="*/ 0 60000 65536"/>
              <a:gd name="T11" fmla="*/ 0 60000 65536"/>
              <a:gd name="T12" fmla="*/ 0 w 247"/>
              <a:gd name="T13" fmla="*/ 0 h 795"/>
              <a:gd name="T14" fmla="*/ 247 w 247"/>
              <a:gd name="T15" fmla="*/ 795 h 79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" h="795">
                <a:moveTo>
                  <a:pt x="247" y="795"/>
                </a:moveTo>
                <a:lnTo>
                  <a:pt x="0" y="795"/>
                </a:lnTo>
                <a:lnTo>
                  <a:pt x="0" y="0"/>
                </a:lnTo>
                <a:lnTo>
                  <a:pt x="239" y="0"/>
                </a:lnTo>
              </a:path>
            </a:pathLst>
          </a:custGeom>
          <a:noFill/>
          <a:ln w="442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75" name="Line 78"/>
          <p:cNvSpPr>
            <a:spLocks noChangeShapeType="1"/>
          </p:cNvSpPr>
          <p:nvPr/>
        </p:nvSpPr>
        <p:spPr bwMode="auto">
          <a:xfrm>
            <a:off x="5435601" y="4437842"/>
            <a:ext cx="392113" cy="1588"/>
          </a:xfrm>
          <a:prstGeom prst="line">
            <a:avLst/>
          </a:prstGeom>
          <a:noFill/>
          <a:ln w="442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76" name="Rectangle 79"/>
          <p:cNvSpPr>
            <a:spLocks noChangeArrowheads="1"/>
          </p:cNvSpPr>
          <p:nvPr/>
        </p:nvSpPr>
        <p:spPr bwMode="auto">
          <a:xfrm>
            <a:off x="5997576" y="5468131"/>
            <a:ext cx="19367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59477" name="Rectangle 80"/>
          <p:cNvSpPr>
            <a:spLocks noChangeArrowheads="1"/>
          </p:cNvSpPr>
          <p:nvPr/>
        </p:nvSpPr>
        <p:spPr bwMode="auto">
          <a:xfrm>
            <a:off x="6199188" y="5468131"/>
            <a:ext cx="689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9478" name="Rectangle 81"/>
          <p:cNvSpPr>
            <a:spLocks noChangeArrowheads="1"/>
          </p:cNvSpPr>
          <p:nvPr/>
        </p:nvSpPr>
        <p:spPr bwMode="auto">
          <a:xfrm>
            <a:off x="6267450" y="5468131"/>
            <a:ext cx="4603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59479" name="Rectangle 82"/>
          <p:cNvSpPr>
            <a:spLocks noChangeArrowheads="1"/>
          </p:cNvSpPr>
          <p:nvPr/>
        </p:nvSpPr>
        <p:spPr bwMode="auto">
          <a:xfrm>
            <a:off x="6313488" y="5468131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59480" name="Rectangle 83"/>
          <p:cNvSpPr>
            <a:spLocks noChangeArrowheads="1"/>
          </p:cNvSpPr>
          <p:nvPr/>
        </p:nvSpPr>
        <p:spPr bwMode="auto">
          <a:xfrm>
            <a:off x="6369050" y="5468131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59481" name="Rectangle 84"/>
          <p:cNvSpPr>
            <a:spLocks noChangeArrowheads="1"/>
          </p:cNvSpPr>
          <p:nvPr/>
        </p:nvSpPr>
        <p:spPr bwMode="auto">
          <a:xfrm>
            <a:off x="6489700" y="5468130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82" name="Rectangle 85"/>
          <p:cNvSpPr>
            <a:spLocks noChangeArrowheads="1"/>
          </p:cNvSpPr>
          <p:nvPr/>
        </p:nvSpPr>
        <p:spPr bwMode="auto">
          <a:xfrm>
            <a:off x="5997575" y="5682443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59483" name="Rectangle 86"/>
          <p:cNvSpPr>
            <a:spLocks noChangeArrowheads="1"/>
          </p:cNvSpPr>
          <p:nvPr/>
        </p:nvSpPr>
        <p:spPr bwMode="auto">
          <a:xfrm>
            <a:off x="6116638" y="5682443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59484" name="Rectangle 87"/>
          <p:cNvSpPr>
            <a:spLocks noChangeArrowheads="1"/>
          </p:cNvSpPr>
          <p:nvPr/>
        </p:nvSpPr>
        <p:spPr bwMode="auto">
          <a:xfrm>
            <a:off x="6230938" y="5682443"/>
            <a:ext cx="5715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59485" name="Rectangle 88"/>
          <p:cNvSpPr>
            <a:spLocks noChangeArrowheads="1"/>
          </p:cNvSpPr>
          <p:nvPr/>
        </p:nvSpPr>
        <p:spPr bwMode="auto">
          <a:xfrm>
            <a:off x="6294438" y="5682443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grpSp>
        <p:nvGrpSpPr>
          <p:cNvPr id="59486" name="Group 89"/>
          <p:cNvGrpSpPr>
            <a:grpSpLocks/>
          </p:cNvGrpSpPr>
          <p:nvPr/>
        </p:nvGrpSpPr>
        <p:grpSpPr bwMode="auto">
          <a:xfrm>
            <a:off x="9093200" y="4720417"/>
            <a:ext cx="573088" cy="450850"/>
            <a:chOff x="4768" y="2842"/>
            <a:chExt cx="361" cy="284"/>
          </a:xfrm>
        </p:grpSpPr>
        <p:sp>
          <p:nvSpPr>
            <p:cNvPr id="59661" name="Rectangle 90"/>
            <p:cNvSpPr>
              <a:spLocks noChangeArrowheads="1"/>
            </p:cNvSpPr>
            <p:nvPr/>
          </p:nvSpPr>
          <p:spPr bwMode="auto">
            <a:xfrm>
              <a:off x="4872" y="2842"/>
              <a:ext cx="8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59662" name="Rectangle 91"/>
            <p:cNvSpPr>
              <a:spLocks noChangeArrowheads="1"/>
            </p:cNvSpPr>
            <p:nvPr/>
          </p:nvSpPr>
          <p:spPr bwMode="auto">
            <a:xfrm>
              <a:off x="4959" y="2842"/>
              <a:ext cx="7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59663" name="Rectangle 92"/>
            <p:cNvSpPr>
              <a:spLocks noChangeArrowheads="1"/>
            </p:cNvSpPr>
            <p:nvPr/>
          </p:nvSpPr>
          <p:spPr bwMode="auto">
            <a:xfrm>
              <a:off x="5035" y="2842"/>
              <a:ext cx="9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59664" name="Rectangle 93"/>
            <p:cNvSpPr>
              <a:spLocks noChangeArrowheads="1"/>
            </p:cNvSpPr>
            <p:nvPr/>
          </p:nvSpPr>
          <p:spPr bwMode="auto">
            <a:xfrm>
              <a:off x="5130" y="2842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665" name="Rectangle 94"/>
            <p:cNvSpPr>
              <a:spLocks noChangeArrowheads="1"/>
            </p:cNvSpPr>
            <p:nvPr/>
          </p:nvSpPr>
          <p:spPr bwMode="auto">
            <a:xfrm>
              <a:off x="4768" y="2973"/>
              <a:ext cx="4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9666" name="Rectangle 95"/>
            <p:cNvSpPr>
              <a:spLocks noChangeArrowheads="1"/>
            </p:cNvSpPr>
            <p:nvPr/>
          </p:nvSpPr>
          <p:spPr bwMode="auto">
            <a:xfrm>
              <a:off x="4812" y="2973"/>
              <a:ext cx="7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59667" name="Rectangle 96"/>
            <p:cNvSpPr>
              <a:spLocks noChangeArrowheads="1"/>
            </p:cNvSpPr>
            <p:nvPr/>
          </p:nvSpPr>
          <p:spPr bwMode="auto">
            <a:xfrm>
              <a:off x="4884" y="2973"/>
              <a:ext cx="65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59668" name="Rectangle 97"/>
            <p:cNvSpPr>
              <a:spLocks noChangeArrowheads="1"/>
            </p:cNvSpPr>
            <p:nvPr/>
          </p:nvSpPr>
          <p:spPr bwMode="auto">
            <a:xfrm>
              <a:off x="4951" y="2973"/>
              <a:ext cx="7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59669" name="Rectangle 98"/>
            <p:cNvSpPr>
              <a:spLocks noChangeArrowheads="1"/>
            </p:cNvSpPr>
            <p:nvPr/>
          </p:nvSpPr>
          <p:spPr bwMode="auto">
            <a:xfrm>
              <a:off x="5026" y="2973"/>
              <a:ext cx="29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59670" name="Rectangle 99"/>
            <p:cNvSpPr>
              <a:spLocks noChangeArrowheads="1"/>
            </p:cNvSpPr>
            <p:nvPr/>
          </p:nvSpPr>
          <p:spPr bwMode="auto">
            <a:xfrm>
              <a:off x="5055" y="2973"/>
              <a:ext cx="36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</p:grpSp>
      <p:sp>
        <p:nvSpPr>
          <p:cNvPr id="59487" name="Freeform 100"/>
          <p:cNvSpPr>
            <a:spLocks noChangeArrowheads="1"/>
          </p:cNvSpPr>
          <p:nvPr/>
        </p:nvSpPr>
        <p:spPr bwMode="auto">
          <a:xfrm>
            <a:off x="5384800" y="4388630"/>
            <a:ext cx="107950" cy="100012"/>
          </a:xfrm>
          <a:custGeom>
            <a:avLst/>
            <a:gdLst>
              <a:gd name="T0" fmla="*/ 32 w 68"/>
              <a:gd name="T1" fmla="*/ 63 h 63"/>
              <a:gd name="T2" fmla="*/ 40 w 68"/>
              <a:gd name="T3" fmla="*/ 63 h 63"/>
              <a:gd name="T4" fmla="*/ 44 w 68"/>
              <a:gd name="T5" fmla="*/ 63 h 63"/>
              <a:gd name="T6" fmla="*/ 48 w 68"/>
              <a:gd name="T7" fmla="*/ 63 h 63"/>
              <a:gd name="T8" fmla="*/ 52 w 68"/>
              <a:gd name="T9" fmla="*/ 59 h 63"/>
              <a:gd name="T10" fmla="*/ 56 w 68"/>
              <a:gd name="T11" fmla="*/ 55 h 63"/>
              <a:gd name="T12" fmla="*/ 60 w 68"/>
              <a:gd name="T13" fmla="*/ 51 h 63"/>
              <a:gd name="T14" fmla="*/ 64 w 68"/>
              <a:gd name="T15" fmla="*/ 47 h 63"/>
              <a:gd name="T16" fmla="*/ 64 w 68"/>
              <a:gd name="T17" fmla="*/ 43 h 63"/>
              <a:gd name="T18" fmla="*/ 68 w 68"/>
              <a:gd name="T19" fmla="*/ 35 h 63"/>
              <a:gd name="T20" fmla="*/ 68 w 68"/>
              <a:gd name="T21" fmla="*/ 31 h 63"/>
              <a:gd name="T22" fmla="*/ 68 w 68"/>
              <a:gd name="T23" fmla="*/ 27 h 63"/>
              <a:gd name="T24" fmla="*/ 64 w 68"/>
              <a:gd name="T25" fmla="*/ 20 h 63"/>
              <a:gd name="T26" fmla="*/ 64 w 68"/>
              <a:gd name="T27" fmla="*/ 16 h 63"/>
              <a:gd name="T28" fmla="*/ 60 w 68"/>
              <a:gd name="T29" fmla="*/ 12 h 63"/>
              <a:gd name="T30" fmla="*/ 56 w 68"/>
              <a:gd name="T31" fmla="*/ 8 h 63"/>
              <a:gd name="T32" fmla="*/ 52 w 68"/>
              <a:gd name="T33" fmla="*/ 4 h 63"/>
              <a:gd name="T34" fmla="*/ 48 w 68"/>
              <a:gd name="T35" fmla="*/ 4 h 63"/>
              <a:gd name="T36" fmla="*/ 44 w 68"/>
              <a:gd name="T37" fmla="*/ 0 h 63"/>
              <a:gd name="T38" fmla="*/ 40 w 68"/>
              <a:gd name="T39" fmla="*/ 0 h 63"/>
              <a:gd name="T40" fmla="*/ 32 w 68"/>
              <a:gd name="T41" fmla="*/ 0 h 63"/>
              <a:gd name="T42" fmla="*/ 28 w 68"/>
              <a:gd name="T43" fmla="*/ 0 h 63"/>
              <a:gd name="T44" fmla="*/ 24 w 68"/>
              <a:gd name="T45" fmla="*/ 0 h 63"/>
              <a:gd name="T46" fmla="*/ 20 w 68"/>
              <a:gd name="T47" fmla="*/ 4 h 63"/>
              <a:gd name="T48" fmla="*/ 12 w 68"/>
              <a:gd name="T49" fmla="*/ 4 h 63"/>
              <a:gd name="T50" fmla="*/ 8 w 68"/>
              <a:gd name="T51" fmla="*/ 8 h 63"/>
              <a:gd name="T52" fmla="*/ 8 w 68"/>
              <a:gd name="T53" fmla="*/ 12 h 63"/>
              <a:gd name="T54" fmla="*/ 4 w 68"/>
              <a:gd name="T55" fmla="*/ 16 h 63"/>
              <a:gd name="T56" fmla="*/ 0 w 68"/>
              <a:gd name="T57" fmla="*/ 20 h 63"/>
              <a:gd name="T58" fmla="*/ 0 w 68"/>
              <a:gd name="T59" fmla="*/ 27 h 63"/>
              <a:gd name="T60" fmla="*/ 0 w 68"/>
              <a:gd name="T61" fmla="*/ 31 h 63"/>
              <a:gd name="T62" fmla="*/ 0 w 68"/>
              <a:gd name="T63" fmla="*/ 35 h 63"/>
              <a:gd name="T64" fmla="*/ 0 w 68"/>
              <a:gd name="T65" fmla="*/ 43 h 63"/>
              <a:gd name="T66" fmla="*/ 4 w 68"/>
              <a:gd name="T67" fmla="*/ 47 h 63"/>
              <a:gd name="T68" fmla="*/ 8 w 68"/>
              <a:gd name="T69" fmla="*/ 51 h 63"/>
              <a:gd name="T70" fmla="*/ 8 w 68"/>
              <a:gd name="T71" fmla="*/ 55 h 63"/>
              <a:gd name="T72" fmla="*/ 12 w 68"/>
              <a:gd name="T73" fmla="*/ 59 h 63"/>
              <a:gd name="T74" fmla="*/ 20 w 68"/>
              <a:gd name="T75" fmla="*/ 63 h 63"/>
              <a:gd name="T76" fmla="*/ 24 w 68"/>
              <a:gd name="T77" fmla="*/ 63 h 63"/>
              <a:gd name="T78" fmla="*/ 28 w 68"/>
              <a:gd name="T79" fmla="*/ 63 h 63"/>
              <a:gd name="T80" fmla="*/ 32 w 68"/>
              <a:gd name="T81" fmla="*/ 63 h 63"/>
              <a:gd name="T82" fmla="*/ 32 w 68"/>
              <a:gd name="T83" fmla="*/ 63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8"/>
              <a:gd name="T127" fmla="*/ 0 h 63"/>
              <a:gd name="T128" fmla="*/ 68 w 68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8" h="63">
                <a:moveTo>
                  <a:pt x="32" y="63"/>
                </a:moveTo>
                <a:lnTo>
                  <a:pt x="40" y="63"/>
                </a:lnTo>
                <a:lnTo>
                  <a:pt x="44" y="63"/>
                </a:lnTo>
                <a:lnTo>
                  <a:pt x="48" y="63"/>
                </a:lnTo>
                <a:lnTo>
                  <a:pt x="52" y="59"/>
                </a:lnTo>
                <a:lnTo>
                  <a:pt x="56" y="55"/>
                </a:lnTo>
                <a:lnTo>
                  <a:pt x="60" y="51"/>
                </a:lnTo>
                <a:lnTo>
                  <a:pt x="64" y="47"/>
                </a:lnTo>
                <a:lnTo>
                  <a:pt x="64" y="43"/>
                </a:lnTo>
                <a:lnTo>
                  <a:pt x="68" y="35"/>
                </a:lnTo>
                <a:lnTo>
                  <a:pt x="68" y="31"/>
                </a:lnTo>
                <a:lnTo>
                  <a:pt x="68" y="27"/>
                </a:lnTo>
                <a:lnTo>
                  <a:pt x="64" y="20"/>
                </a:lnTo>
                <a:lnTo>
                  <a:pt x="64" y="16"/>
                </a:lnTo>
                <a:lnTo>
                  <a:pt x="60" y="12"/>
                </a:lnTo>
                <a:lnTo>
                  <a:pt x="56" y="8"/>
                </a:lnTo>
                <a:lnTo>
                  <a:pt x="52" y="4"/>
                </a:lnTo>
                <a:lnTo>
                  <a:pt x="48" y="4"/>
                </a:lnTo>
                <a:lnTo>
                  <a:pt x="44" y="0"/>
                </a:lnTo>
                <a:lnTo>
                  <a:pt x="40" y="0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4"/>
                </a:lnTo>
                <a:lnTo>
                  <a:pt x="12" y="4"/>
                </a:lnTo>
                <a:lnTo>
                  <a:pt x="8" y="8"/>
                </a:lnTo>
                <a:lnTo>
                  <a:pt x="8" y="12"/>
                </a:lnTo>
                <a:lnTo>
                  <a:pt x="4" y="16"/>
                </a:lnTo>
                <a:lnTo>
                  <a:pt x="0" y="20"/>
                </a:lnTo>
                <a:lnTo>
                  <a:pt x="0" y="27"/>
                </a:lnTo>
                <a:lnTo>
                  <a:pt x="0" y="31"/>
                </a:lnTo>
                <a:lnTo>
                  <a:pt x="0" y="35"/>
                </a:lnTo>
                <a:lnTo>
                  <a:pt x="0" y="43"/>
                </a:lnTo>
                <a:lnTo>
                  <a:pt x="4" y="47"/>
                </a:lnTo>
                <a:lnTo>
                  <a:pt x="8" y="51"/>
                </a:lnTo>
                <a:lnTo>
                  <a:pt x="8" y="55"/>
                </a:lnTo>
                <a:lnTo>
                  <a:pt x="12" y="59"/>
                </a:lnTo>
                <a:lnTo>
                  <a:pt x="20" y="63"/>
                </a:lnTo>
                <a:lnTo>
                  <a:pt x="24" y="63"/>
                </a:lnTo>
                <a:lnTo>
                  <a:pt x="28" y="63"/>
                </a:lnTo>
                <a:lnTo>
                  <a:pt x="32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488" name="Freeform 101"/>
          <p:cNvSpPr>
            <a:spLocks noChangeArrowheads="1"/>
          </p:cNvSpPr>
          <p:nvPr/>
        </p:nvSpPr>
        <p:spPr bwMode="auto">
          <a:xfrm>
            <a:off x="5384800" y="4704543"/>
            <a:ext cx="107950" cy="100013"/>
          </a:xfrm>
          <a:custGeom>
            <a:avLst/>
            <a:gdLst>
              <a:gd name="T0" fmla="*/ 32 w 68"/>
              <a:gd name="T1" fmla="*/ 63 h 63"/>
              <a:gd name="T2" fmla="*/ 40 w 68"/>
              <a:gd name="T3" fmla="*/ 63 h 63"/>
              <a:gd name="T4" fmla="*/ 44 w 68"/>
              <a:gd name="T5" fmla="*/ 63 h 63"/>
              <a:gd name="T6" fmla="*/ 48 w 68"/>
              <a:gd name="T7" fmla="*/ 63 h 63"/>
              <a:gd name="T8" fmla="*/ 52 w 68"/>
              <a:gd name="T9" fmla="*/ 59 h 63"/>
              <a:gd name="T10" fmla="*/ 56 w 68"/>
              <a:gd name="T11" fmla="*/ 55 h 63"/>
              <a:gd name="T12" fmla="*/ 60 w 68"/>
              <a:gd name="T13" fmla="*/ 51 h 63"/>
              <a:gd name="T14" fmla="*/ 64 w 68"/>
              <a:gd name="T15" fmla="*/ 47 h 63"/>
              <a:gd name="T16" fmla="*/ 64 w 68"/>
              <a:gd name="T17" fmla="*/ 43 h 63"/>
              <a:gd name="T18" fmla="*/ 68 w 68"/>
              <a:gd name="T19" fmla="*/ 35 h 63"/>
              <a:gd name="T20" fmla="*/ 68 w 68"/>
              <a:gd name="T21" fmla="*/ 31 h 63"/>
              <a:gd name="T22" fmla="*/ 68 w 68"/>
              <a:gd name="T23" fmla="*/ 27 h 63"/>
              <a:gd name="T24" fmla="*/ 64 w 68"/>
              <a:gd name="T25" fmla="*/ 19 h 63"/>
              <a:gd name="T26" fmla="*/ 64 w 68"/>
              <a:gd name="T27" fmla="*/ 15 h 63"/>
              <a:gd name="T28" fmla="*/ 60 w 68"/>
              <a:gd name="T29" fmla="*/ 11 h 63"/>
              <a:gd name="T30" fmla="*/ 56 w 68"/>
              <a:gd name="T31" fmla="*/ 7 h 63"/>
              <a:gd name="T32" fmla="*/ 52 w 68"/>
              <a:gd name="T33" fmla="*/ 4 h 63"/>
              <a:gd name="T34" fmla="*/ 48 w 68"/>
              <a:gd name="T35" fmla="*/ 4 h 63"/>
              <a:gd name="T36" fmla="*/ 44 w 68"/>
              <a:gd name="T37" fmla="*/ 0 h 63"/>
              <a:gd name="T38" fmla="*/ 40 w 68"/>
              <a:gd name="T39" fmla="*/ 0 h 63"/>
              <a:gd name="T40" fmla="*/ 32 w 68"/>
              <a:gd name="T41" fmla="*/ 0 h 63"/>
              <a:gd name="T42" fmla="*/ 28 w 68"/>
              <a:gd name="T43" fmla="*/ 0 h 63"/>
              <a:gd name="T44" fmla="*/ 24 w 68"/>
              <a:gd name="T45" fmla="*/ 0 h 63"/>
              <a:gd name="T46" fmla="*/ 20 w 68"/>
              <a:gd name="T47" fmla="*/ 4 h 63"/>
              <a:gd name="T48" fmla="*/ 12 w 68"/>
              <a:gd name="T49" fmla="*/ 4 h 63"/>
              <a:gd name="T50" fmla="*/ 8 w 68"/>
              <a:gd name="T51" fmla="*/ 7 h 63"/>
              <a:gd name="T52" fmla="*/ 8 w 68"/>
              <a:gd name="T53" fmla="*/ 11 h 63"/>
              <a:gd name="T54" fmla="*/ 4 w 68"/>
              <a:gd name="T55" fmla="*/ 15 h 63"/>
              <a:gd name="T56" fmla="*/ 0 w 68"/>
              <a:gd name="T57" fmla="*/ 19 h 63"/>
              <a:gd name="T58" fmla="*/ 0 w 68"/>
              <a:gd name="T59" fmla="*/ 27 h 63"/>
              <a:gd name="T60" fmla="*/ 0 w 68"/>
              <a:gd name="T61" fmla="*/ 31 h 63"/>
              <a:gd name="T62" fmla="*/ 0 w 68"/>
              <a:gd name="T63" fmla="*/ 35 h 63"/>
              <a:gd name="T64" fmla="*/ 0 w 68"/>
              <a:gd name="T65" fmla="*/ 43 h 63"/>
              <a:gd name="T66" fmla="*/ 4 w 68"/>
              <a:gd name="T67" fmla="*/ 47 h 63"/>
              <a:gd name="T68" fmla="*/ 8 w 68"/>
              <a:gd name="T69" fmla="*/ 51 h 63"/>
              <a:gd name="T70" fmla="*/ 8 w 68"/>
              <a:gd name="T71" fmla="*/ 55 h 63"/>
              <a:gd name="T72" fmla="*/ 12 w 68"/>
              <a:gd name="T73" fmla="*/ 59 h 63"/>
              <a:gd name="T74" fmla="*/ 20 w 68"/>
              <a:gd name="T75" fmla="*/ 63 h 63"/>
              <a:gd name="T76" fmla="*/ 24 w 68"/>
              <a:gd name="T77" fmla="*/ 63 h 63"/>
              <a:gd name="T78" fmla="*/ 28 w 68"/>
              <a:gd name="T79" fmla="*/ 63 h 63"/>
              <a:gd name="T80" fmla="*/ 32 w 68"/>
              <a:gd name="T81" fmla="*/ 63 h 63"/>
              <a:gd name="T82" fmla="*/ 32 w 68"/>
              <a:gd name="T83" fmla="*/ 63 h 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68"/>
              <a:gd name="T127" fmla="*/ 0 h 63"/>
              <a:gd name="T128" fmla="*/ 68 w 68"/>
              <a:gd name="T129" fmla="*/ 63 h 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68" h="63">
                <a:moveTo>
                  <a:pt x="32" y="63"/>
                </a:moveTo>
                <a:lnTo>
                  <a:pt x="40" y="63"/>
                </a:lnTo>
                <a:lnTo>
                  <a:pt x="44" y="63"/>
                </a:lnTo>
                <a:lnTo>
                  <a:pt x="48" y="63"/>
                </a:lnTo>
                <a:lnTo>
                  <a:pt x="52" y="59"/>
                </a:lnTo>
                <a:lnTo>
                  <a:pt x="56" y="55"/>
                </a:lnTo>
                <a:lnTo>
                  <a:pt x="60" y="51"/>
                </a:lnTo>
                <a:lnTo>
                  <a:pt x="64" y="47"/>
                </a:lnTo>
                <a:lnTo>
                  <a:pt x="64" y="43"/>
                </a:lnTo>
                <a:lnTo>
                  <a:pt x="68" y="35"/>
                </a:lnTo>
                <a:lnTo>
                  <a:pt x="68" y="31"/>
                </a:lnTo>
                <a:lnTo>
                  <a:pt x="68" y="27"/>
                </a:lnTo>
                <a:lnTo>
                  <a:pt x="64" y="19"/>
                </a:lnTo>
                <a:lnTo>
                  <a:pt x="64" y="15"/>
                </a:lnTo>
                <a:lnTo>
                  <a:pt x="60" y="11"/>
                </a:lnTo>
                <a:lnTo>
                  <a:pt x="56" y="7"/>
                </a:lnTo>
                <a:lnTo>
                  <a:pt x="52" y="4"/>
                </a:lnTo>
                <a:lnTo>
                  <a:pt x="48" y="4"/>
                </a:lnTo>
                <a:lnTo>
                  <a:pt x="44" y="0"/>
                </a:lnTo>
                <a:lnTo>
                  <a:pt x="40" y="0"/>
                </a:lnTo>
                <a:lnTo>
                  <a:pt x="32" y="0"/>
                </a:lnTo>
                <a:lnTo>
                  <a:pt x="28" y="0"/>
                </a:lnTo>
                <a:lnTo>
                  <a:pt x="24" y="0"/>
                </a:lnTo>
                <a:lnTo>
                  <a:pt x="20" y="4"/>
                </a:lnTo>
                <a:lnTo>
                  <a:pt x="12" y="4"/>
                </a:lnTo>
                <a:lnTo>
                  <a:pt x="8" y="7"/>
                </a:lnTo>
                <a:lnTo>
                  <a:pt x="8" y="11"/>
                </a:lnTo>
                <a:lnTo>
                  <a:pt x="4" y="15"/>
                </a:lnTo>
                <a:lnTo>
                  <a:pt x="0" y="19"/>
                </a:lnTo>
                <a:lnTo>
                  <a:pt x="0" y="27"/>
                </a:lnTo>
                <a:lnTo>
                  <a:pt x="0" y="31"/>
                </a:lnTo>
                <a:lnTo>
                  <a:pt x="0" y="35"/>
                </a:lnTo>
                <a:lnTo>
                  <a:pt x="0" y="43"/>
                </a:lnTo>
                <a:lnTo>
                  <a:pt x="4" y="47"/>
                </a:lnTo>
                <a:lnTo>
                  <a:pt x="8" y="51"/>
                </a:lnTo>
                <a:lnTo>
                  <a:pt x="8" y="55"/>
                </a:lnTo>
                <a:lnTo>
                  <a:pt x="12" y="59"/>
                </a:lnTo>
                <a:lnTo>
                  <a:pt x="20" y="63"/>
                </a:lnTo>
                <a:lnTo>
                  <a:pt x="24" y="63"/>
                </a:lnTo>
                <a:lnTo>
                  <a:pt x="28" y="63"/>
                </a:lnTo>
                <a:lnTo>
                  <a:pt x="32" y="6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59489" name="Group 102"/>
          <p:cNvGrpSpPr>
            <a:grpSpLocks/>
          </p:cNvGrpSpPr>
          <p:nvPr/>
        </p:nvGrpSpPr>
        <p:grpSpPr bwMode="auto">
          <a:xfrm>
            <a:off x="9245600" y="4339417"/>
            <a:ext cx="427038" cy="242888"/>
            <a:chOff x="4864" y="2602"/>
            <a:chExt cx="269" cy="153"/>
          </a:xfrm>
        </p:grpSpPr>
        <p:sp>
          <p:nvSpPr>
            <p:cNvPr id="59657" name="Rectangle 103"/>
            <p:cNvSpPr>
              <a:spLocks noChangeArrowheads="1"/>
            </p:cNvSpPr>
            <p:nvPr/>
          </p:nvSpPr>
          <p:spPr bwMode="auto">
            <a:xfrm>
              <a:off x="4864" y="2602"/>
              <a:ext cx="78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A083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A08366"/>
                  </a:solidFill>
                  <a:latin typeface="Arial" charset="0"/>
                  <a:ea typeface="新細明體" charset="-120"/>
                </a:rPr>
                <a:t>Z</a:t>
              </a:r>
            </a:p>
          </p:txBody>
        </p:sp>
        <p:sp>
          <p:nvSpPr>
            <p:cNvPr id="59658" name="Rectangle 104"/>
            <p:cNvSpPr>
              <a:spLocks noChangeArrowheads="1"/>
            </p:cNvSpPr>
            <p:nvPr/>
          </p:nvSpPr>
          <p:spPr bwMode="auto">
            <a:xfrm>
              <a:off x="4943" y="2602"/>
              <a:ext cx="7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A083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A083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59659" name="Rectangle 105"/>
            <p:cNvSpPr>
              <a:spLocks noChangeArrowheads="1"/>
            </p:cNvSpPr>
            <p:nvPr/>
          </p:nvSpPr>
          <p:spPr bwMode="auto">
            <a:xfrm>
              <a:off x="5019" y="2602"/>
              <a:ext cx="43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A083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A083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9660" name="Rectangle 106"/>
            <p:cNvSpPr>
              <a:spLocks noChangeArrowheads="1"/>
            </p:cNvSpPr>
            <p:nvPr/>
          </p:nvSpPr>
          <p:spPr bwMode="auto">
            <a:xfrm>
              <a:off x="5063" y="2602"/>
              <a:ext cx="72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A083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A08366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</p:grpSp>
      <p:sp>
        <p:nvSpPr>
          <p:cNvPr id="59490" name="Line 107"/>
          <p:cNvSpPr>
            <a:spLocks noChangeShapeType="1"/>
          </p:cNvSpPr>
          <p:nvPr/>
        </p:nvSpPr>
        <p:spPr bwMode="auto">
          <a:xfrm flipV="1">
            <a:off x="6956425" y="6009467"/>
            <a:ext cx="6350" cy="300038"/>
          </a:xfrm>
          <a:prstGeom prst="line">
            <a:avLst/>
          </a:prstGeom>
          <a:noFill/>
          <a:ln w="38160">
            <a:solidFill>
              <a:srgbClr val="ECA07A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491" name="Line 108"/>
          <p:cNvSpPr>
            <a:spLocks noChangeShapeType="1"/>
          </p:cNvSpPr>
          <p:nvPr/>
        </p:nvSpPr>
        <p:spPr bwMode="auto">
          <a:xfrm flipV="1">
            <a:off x="9334500" y="3571067"/>
            <a:ext cx="6350" cy="476250"/>
          </a:xfrm>
          <a:prstGeom prst="line">
            <a:avLst/>
          </a:prstGeom>
          <a:noFill/>
          <a:ln w="38160">
            <a:solidFill>
              <a:srgbClr val="ECA07A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9492" name="Group 109"/>
          <p:cNvGrpSpPr>
            <a:grpSpLocks/>
          </p:cNvGrpSpPr>
          <p:nvPr/>
        </p:nvGrpSpPr>
        <p:grpSpPr bwMode="auto">
          <a:xfrm>
            <a:off x="9474201" y="3348817"/>
            <a:ext cx="879475" cy="471488"/>
            <a:chOff x="5008" y="1978"/>
            <a:chExt cx="554" cy="297"/>
          </a:xfrm>
        </p:grpSpPr>
        <p:grpSp>
          <p:nvGrpSpPr>
            <p:cNvPr id="59642" name="Group 110"/>
            <p:cNvGrpSpPr>
              <a:grpSpLocks/>
            </p:cNvGrpSpPr>
            <p:nvPr/>
          </p:nvGrpSpPr>
          <p:grpSpPr bwMode="auto">
            <a:xfrm>
              <a:off x="5010" y="1978"/>
              <a:ext cx="289" cy="155"/>
              <a:chOff x="5010" y="1978"/>
              <a:chExt cx="289" cy="155"/>
            </a:xfrm>
          </p:grpSpPr>
          <p:sp>
            <p:nvSpPr>
              <p:cNvPr id="59653" name="Rectangle 111"/>
              <p:cNvSpPr>
                <a:spLocks noChangeArrowheads="1"/>
              </p:cNvSpPr>
              <p:nvPr/>
            </p:nvSpPr>
            <p:spPr bwMode="auto">
              <a:xfrm>
                <a:off x="5010" y="1978"/>
                <a:ext cx="93" cy="1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CA07A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600" b="1">
                    <a:solidFill>
                      <a:srgbClr val="ECA07A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59654" name="Rectangle 112"/>
              <p:cNvSpPr>
                <a:spLocks noChangeArrowheads="1"/>
              </p:cNvSpPr>
              <p:nvPr/>
            </p:nvSpPr>
            <p:spPr bwMode="auto">
              <a:xfrm>
                <a:off x="5096" y="1978"/>
                <a:ext cx="7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CA07A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600" b="1">
                    <a:solidFill>
                      <a:srgbClr val="ECA07A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59655" name="Rectangle 113"/>
              <p:cNvSpPr>
                <a:spLocks noChangeArrowheads="1"/>
              </p:cNvSpPr>
              <p:nvPr/>
            </p:nvSpPr>
            <p:spPr bwMode="auto">
              <a:xfrm>
                <a:off x="5167" y="1978"/>
                <a:ext cx="9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CA07A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600" b="1">
                    <a:solidFill>
                      <a:srgbClr val="ECA07A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59656" name="Rectangle 114"/>
              <p:cNvSpPr>
                <a:spLocks noChangeArrowheads="1"/>
              </p:cNvSpPr>
              <p:nvPr/>
            </p:nvSpPr>
            <p:spPr bwMode="auto">
              <a:xfrm>
                <a:off x="5263" y="1978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CA07A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1600" b="1">
                    <a:solidFill>
                      <a:srgbClr val="ECA07A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</p:grpSp>
        <p:grpSp>
          <p:nvGrpSpPr>
            <p:cNvPr id="59643" name="Group 115"/>
            <p:cNvGrpSpPr>
              <a:grpSpLocks/>
            </p:cNvGrpSpPr>
            <p:nvPr/>
          </p:nvGrpSpPr>
          <p:grpSpPr bwMode="auto">
            <a:xfrm>
              <a:off x="5008" y="2122"/>
              <a:ext cx="554" cy="153"/>
              <a:chOff x="5008" y="2122"/>
              <a:chExt cx="554" cy="153"/>
            </a:xfrm>
          </p:grpSpPr>
          <p:sp>
            <p:nvSpPr>
              <p:cNvPr id="59644" name="Rectangle 116"/>
              <p:cNvSpPr>
                <a:spLocks noChangeArrowheads="1"/>
              </p:cNvSpPr>
              <p:nvPr/>
            </p:nvSpPr>
            <p:spPr bwMode="auto">
              <a:xfrm>
                <a:off x="5008" y="2122"/>
                <a:ext cx="7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CA07A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600" b="1">
                    <a:solidFill>
                      <a:srgbClr val="ECA07A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59645" name="Rectangle 117"/>
              <p:cNvSpPr>
                <a:spLocks noChangeArrowheads="1"/>
              </p:cNvSpPr>
              <p:nvPr/>
            </p:nvSpPr>
            <p:spPr bwMode="auto">
              <a:xfrm>
                <a:off x="5080" y="2122"/>
                <a:ext cx="7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CA07A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600" b="1">
                    <a:solidFill>
                      <a:srgbClr val="ECA07A"/>
                    </a:solidFill>
                    <a:latin typeface="Arial" charset="0"/>
                    <a:ea typeface="新細明體" charset="-120"/>
                  </a:rPr>
                  <a:t>p</a:t>
                </a:r>
              </a:p>
            </p:txBody>
          </p:sp>
          <p:sp>
            <p:nvSpPr>
              <p:cNvPr id="59646" name="Rectangle 118"/>
              <p:cNvSpPr>
                <a:spLocks noChangeArrowheads="1"/>
              </p:cNvSpPr>
              <p:nvPr/>
            </p:nvSpPr>
            <p:spPr bwMode="auto">
              <a:xfrm>
                <a:off x="5155" y="2122"/>
                <a:ext cx="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CA07A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600" b="1">
                    <a:solidFill>
                      <a:srgbClr val="ECA07A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59647" name="Rectangle 119"/>
              <p:cNvSpPr>
                <a:spLocks noChangeArrowheads="1"/>
              </p:cNvSpPr>
              <p:nvPr/>
            </p:nvSpPr>
            <p:spPr bwMode="auto">
              <a:xfrm>
                <a:off x="5227" y="2122"/>
                <a:ext cx="5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CA07A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600" b="1">
                    <a:solidFill>
                      <a:srgbClr val="ECA07A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59648" name="Rectangle 120"/>
              <p:cNvSpPr>
                <a:spLocks noChangeArrowheads="1"/>
              </p:cNvSpPr>
              <p:nvPr/>
            </p:nvSpPr>
            <p:spPr bwMode="auto">
              <a:xfrm>
                <a:off x="5271" y="2122"/>
                <a:ext cx="72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CA07A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600" b="1">
                    <a:solidFill>
                      <a:srgbClr val="ECA07A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59649" name="Rectangle 121"/>
              <p:cNvSpPr>
                <a:spLocks noChangeArrowheads="1"/>
              </p:cNvSpPr>
              <p:nvPr/>
            </p:nvSpPr>
            <p:spPr bwMode="auto">
              <a:xfrm>
                <a:off x="5346" y="2122"/>
                <a:ext cx="43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CA07A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600" b="1">
                    <a:solidFill>
                      <a:srgbClr val="ECA07A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59650" name="Rectangle 122"/>
              <p:cNvSpPr>
                <a:spLocks noChangeArrowheads="1"/>
              </p:cNvSpPr>
              <p:nvPr/>
            </p:nvSpPr>
            <p:spPr bwMode="auto">
              <a:xfrm>
                <a:off x="5382" y="2122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CA07A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600" b="1">
                    <a:solidFill>
                      <a:srgbClr val="ECA07A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59651" name="Rectangle 123"/>
              <p:cNvSpPr>
                <a:spLocks noChangeArrowheads="1"/>
              </p:cNvSpPr>
              <p:nvPr/>
            </p:nvSpPr>
            <p:spPr bwMode="auto">
              <a:xfrm>
                <a:off x="5414" y="2122"/>
                <a:ext cx="7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CA07A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600" b="1">
                    <a:solidFill>
                      <a:srgbClr val="ECA07A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59652" name="Rectangle 124"/>
              <p:cNvSpPr>
                <a:spLocks noChangeArrowheads="1"/>
              </p:cNvSpPr>
              <p:nvPr/>
            </p:nvSpPr>
            <p:spPr bwMode="auto">
              <a:xfrm>
                <a:off x="5485" y="2122"/>
                <a:ext cx="78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CA07A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600" b="1">
                    <a:solidFill>
                      <a:srgbClr val="ECA07A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</p:grpSp>
      </p:grpSp>
      <p:sp>
        <p:nvSpPr>
          <p:cNvPr id="59493" name="Rectangle 125"/>
          <p:cNvSpPr>
            <a:spLocks noChangeArrowheads="1"/>
          </p:cNvSpPr>
          <p:nvPr/>
        </p:nvSpPr>
        <p:spPr bwMode="auto">
          <a:xfrm>
            <a:off x="9031288" y="3623456"/>
            <a:ext cx="1143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CA07A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 b="1">
                <a:solidFill>
                  <a:srgbClr val="ECA07A"/>
                </a:solidFill>
                <a:latin typeface="Arial" charset="0"/>
                <a:ea typeface="新細明體" charset="-120"/>
              </a:rPr>
              <a:t>3</a:t>
            </a:r>
          </a:p>
        </p:txBody>
      </p:sp>
      <p:sp>
        <p:nvSpPr>
          <p:cNvPr id="59494" name="Line 126"/>
          <p:cNvSpPr>
            <a:spLocks noChangeShapeType="1"/>
          </p:cNvSpPr>
          <p:nvPr/>
        </p:nvSpPr>
        <p:spPr bwMode="auto">
          <a:xfrm>
            <a:off x="9245601" y="3729817"/>
            <a:ext cx="169863" cy="177800"/>
          </a:xfrm>
          <a:prstGeom prst="line">
            <a:avLst/>
          </a:prstGeom>
          <a:noFill/>
          <a:ln w="25560">
            <a:solidFill>
              <a:srgbClr val="ECA07A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7" name="Group 127"/>
          <p:cNvGrpSpPr>
            <a:grpSpLocks/>
          </p:cNvGrpSpPr>
          <p:nvPr/>
        </p:nvGrpSpPr>
        <p:grpSpPr bwMode="auto">
          <a:xfrm>
            <a:off x="5416551" y="3520267"/>
            <a:ext cx="423863" cy="971550"/>
            <a:chOff x="2452" y="2086"/>
            <a:chExt cx="267" cy="612"/>
          </a:xfrm>
        </p:grpSpPr>
        <p:sp>
          <p:nvSpPr>
            <p:cNvPr id="19584" name="Text Box 128"/>
            <p:cNvSpPr txBox="1">
              <a:spLocks noChangeArrowheads="1"/>
            </p:cNvSpPr>
            <p:nvPr/>
          </p:nvSpPr>
          <p:spPr bwMode="auto">
            <a:xfrm>
              <a:off x="2452" y="2086"/>
              <a:ext cx="268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buClr>
                  <a:srgbClr val="0000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altLang="zh-TW" sz="16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ea typeface="新細明體" charset="-120"/>
                  <a:cs typeface="新細明體" charset="-120"/>
                </a:rPr>
                <a:t>17</a:t>
              </a:r>
            </a:p>
          </p:txBody>
        </p:sp>
        <p:sp>
          <p:nvSpPr>
            <p:cNvPr id="19585" name="Text Box 129"/>
            <p:cNvSpPr txBox="1">
              <a:spLocks noChangeArrowheads="1"/>
            </p:cNvSpPr>
            <p:nvPr/>
          </p:nvSpPr>
          <p:spPr bwMode="auto">
            <a:xfrm>
              <a:off x="2452" y="2486"/>
              <a:ext cx="268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buClr>
                  <a:srgbClr val="0000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altLang="zh-TW" sz="1600" b="1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ea typeface="新細明體" charset="-120"/>
                  <a:cs typeface="新細明體" charset="-120"/>
                </a:rPr>
                <a:t>18</a:t>
              </a:r>
            </a:p>
          </p:txBody>
        </p:sp>
      </p:grpSp>
      <p:sp>
        <p:nvSpPr>
          <p:cNvPr id="19586" name="Text Box 130"/>
          <p:cNvSpPr txBox="1">
            <a:spLocks noChangeArrowheads="1"/>
          </p:cNvSpPr>
          <p:nvPr/>
        </p:nvSpPr>
        <p:spPr bwMode="auto">
          <a:xfrm>
            <a:off x="5403851" y="4777567"/>
            <a:ext cx="417513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>
                <a:srgbClr val="0000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zh-TW" altLang="en-GB" sz="1500" b="1" dirty="0">
                <a:solidFill>
                  <a:srgbClr val="0000FF"/>
                </a:solidFill>
                <a:latin typeface="Courier New" charset="0"/>
                <a:ea typeface="新細明體" charset="-120"/>
                <a:cs typeface="新細明體" charset="-120"/>
              </a:rPr>
              <a:t> </a:t>
            </a:r>
            <a:r>
              <a:rPr lang="en-GB" altLang="zh-TW" sz="1600" b="1" dirty="0">
                <a:solidFill>
                  <a:srgbClr val="0000FF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ea typeface="新細明體" charset="-120"/>
                <a:cs typeface="新細明體" charset="-120"/>
              </a:rPr>
              <a:t>8</a:t>
            </a:r>
          </a:p>
        </p:txBody>
      </p:sp>
      <p:grpSp>
        <p:nvGrpSpPr>
          <p:cNvPr id="8" name="Group 131"/>
          <p:cNvGrpSpPr>
            <a:grpSpLocks/>
          </p:cNvGrpSpPr>
          <p:nvPr/>
        </p:nvGrpSpPr>
        <p:grpSpPr bwMode="auto">
          <a:xfrm>
            <a:off x="8307389" y="3713943"/>
            <a:ext cx="568325" cy="1597025"/>
            <a:chOff x="4273" y="2208"/>
            <a:chExt cx="358" cy="1006"/>
          </a:xfrm>
        </p:grpSpPr>
        <p:sp>
          <p:nvSpPr>
            <p:cNvPr id="59638" name="Text Box 132"/>
            <p:cNvSpPr txBox="1">
              <a:spLocks noChangeArrowheads="1"/>
            </p:cNvSpPr>
            <p:nvPr/>
          </p:nvSpPr>
          <p:spPr bwMode="auto">
            <a:xfrm>
              <a:off x="4302" y="2208"/>
              <a:ext cx="330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CD3333"/>
                </a:buClr>
                <a:buFont typeface="Courier New" charset="0"/>
                <a:buNone/>
              </a:pPr>
              <a:r>
                <a:rPr lang="en-GB" altLang="zh-TW" sz="1500" b="1" dirty="0">
                  <a:solidFill>
                    <a:srgbClr val="CD3333"/>
                  </a:solidFill>
                  <a:latin typeface="Courier New" charset="0"/>
                  <a:ea typeface="新細明體" charset="-120"/>
                </a:rPr>
                <a:t>100</a:t>
              </a:r>
            </a:p>
          </p:txBody>
        </p:sp>
        <p:sp>
          <p:nvSpPr>
            <p:cNvPr id="59639" name="Text Box 133"/>
            <p:cNvSpPr txBox="1">
              <a:spLocks noChangeArrowheads="1"/>
            </p:cNvSpPr>
            <p:nvPr/>
          </p:nvSpPr>
          <p:spPr bwMode="auto">
            <a:xfrm>
              <a:off x="4273" y="3012"/>
              <a:ext cx="330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CD3333"/>
                </a:buClr>
                <a:buFont typeface="Courier New" charset="0"/>
                <a:buNone/>
              </a:pPr>
              <a:r>
                <a:rPr lang="en-GB" altLang="zh-TW" sz="1500" b="1">
                  <a:solidFill>
                    <a:srgbClr val="CD3333"/>
                  </a:solidFill>
                  <a:latin typeface="Courier New" charset="0"/>
                  <a:ea typeface="新細明體" charset="-120"/>
                </a:rPr>
                <a:t>200</a:t>
              </a:r>
            </a:p>
          </p:txBody>
        </p:sp>
      </p:grpSp>
      <p:sp>
        <p:nvSpPr>
          <p:cNvPr id="19590" name="Text Box 134"/>
          <p:cNvSpPr txBox="1">
            <a:spLocks noChangeArrowheads="1"/>
          </p:cNvSpPr>
          <p:nvPr/>
        </p:nvSpPr>
        <p:spPr bwMode="auto">
          <a:xfrm>
            <a:off x="9780589" y="4720418"/>
            <a:ext cx="523875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buClr>
                <a:srgbClr val="CD3333"/>
              </a:buClr>
              <a:buFont typeface="Courier New" charset="0"/>
              <a:buNone/>
            </a:pPr>
            <a:r>
              <a:rPr lang="en-GB" altLang="zh-TW" sz="1500" b="1">
                <a:solidFill>
                  <a:srgbClr val="CD3333"/>
                </a:solidFill>
                <a:latin typeface="Courier New" charset="0"/>
                <a:ea typeface="新細明體" charset="-120"/>
              </a:rPr>
              <a:t>300</a:t>
            </a:r>
          </a:p>
        </p:txBody>
      </p:sp>
      <p:sp>
        <p:nvSpPr>
          <p:cNvPr id="59499" name="Line 135"/>
          <p:cNvSpPr>
            <a:spLocks noChangeShapeType="1"/>
          </p:cNvSpPr>
          <p:nvPr/>
        </p:nvSpPr>
        <p:spPr bwMode="auto">
          <a:xfrm>
            <a:off x="9702800" y="4491817"/>
            <a:ext cx="457200" cy="1588"/>
          </a:xfrm>
          <a:prstGeom prst="line">
            <a:avLst/>
          </a:prstGeom>
          <a:noFill/>
          <a:ln w="9360">
            <a:solidFill>
              <a:srgbClr val="A08366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500" name="Text Box 136"/>
          <p:cNvSpPr txBox="1">
            <a:spLocks noChangeArrowheads="1"/>
          </p:cNvSpPr>
          <p:nvPr/>
        </p:nvSpPr>
        <p:spPr bwMode="auto">
          <a:xfrm>
            <a:off x="4041775" y="4780742"/>
            <a:ext cx="630238" cy="3381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400"/>
              </a:spcBef>
              <a:buClr>
                <a:srgbClr val="000000"/>
              </a:buClr>
            </a:pPr>
            <a:r>
              <a:rPr lang="en-GB" altLang="zh-TW" sz="1600">
                <a:solidFill>
                  <a:srgbClr val="402000"/>
                </a:solidFill>
                <a:latin typeface="Tahoma" charset="0"/>
                <a:ea typeface="新細明體" charset="-120"/>
              </a:rPr>
              <a:t>instr.</a:t>
            </a:r>
          </a:p>
        </p:txBody>
      </p:sp>
      <p:sp>
        <p:nvSpPr>
          <p:cNvPr id="19593" name="Text Box 137"/>
          <p:cNvSpPr txBox="1">
            <a:spLocks noChangeArrowheads="1"/>
          </p:cNvSpPr>
          <p:nvPr/>
        </p:nvSpPr>
        <p:spPr bwMode="auto">
          <a:xfrm>
            <a:off x="7151298" y="4448956"/>
            <a:ext cx="1002495" cy="58695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buClr>
                <a:srgbClr val="3333CC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sz="1600" b="1">
                <a:solidFill>
                  <a:srgbClr val="3333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新細明體" charset="-120"/>
                <a:cs typeface="新細明體" charset="-120"/>
              </a:rPr>
              <a:t>Register</a:t>
            </a:r>
          </a:p>
          <a:p>
            <a:pPr algn="ctr">
              <a:buClr>
                <a:srgbClr val="3333CC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sz="1600" b="1">
                <a:solidFill>
                  <a:srgbClr val="3333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新細明體" charset="-120"/>
                <a:cs typeface="新細明體" charset="-120"/>
              </a:rPr>
              <a:t>File</a:t>
            </a:r>
          </a:p>
        </p:txBody>
      </p:sp>
      <p:sp>
        <p:nvSpPr>
          <p:cNvPr id="59504" name="Rectangle 140"/>
          <p:cNvSpPr>
            <a:spLocks noChangeArrowheads="1"/>
          </p:cNvSpPr>
          <p:nvPr/>
        </p:nvSpPr>
        <p:spPr bwMode="auto">
          <a:xfrm>
            <a:off x="7175500" y="2220105"/>
            <a:ext cx="97790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 anchorCtr="1"/>
          <a:lstStyle/>
          <a:p>
            <a:pPr>
              <a:spcBef>
                <a:spcPts val="400"/>
              </a:spcBef>
              <a:buClr>
                <a:srgbClr val="000000"/>
              </a:buClr>
              <a:buSzPct val="9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Tahoma" charset="0"/>
                <a:ea typeface="新細明體" charset="-120"/>
              </a:rPr>
              <a:t>6 bits</a:t>
            </a:r>
          </a:p>
        </p:txBody>
      </p:sp>
      <p:sp>
        <p:nvSpPr>
          <p:cNvPr id="59505" name="Rectangle 141"/>
          <p:cNvSpPr>
            <a:spLocks noChangeArrowheads="1"/>
          </p:cNvSpPr>
          <p:nvPr/>
        </p:nvSpPr>
        <p:spPr bwMode="auto">
          <a:xfrm>
            <a:off x="6197600" y="2220105"/>
            <a:ext cx="97790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 anchorCtr="1"/>
          <a:lstStyle/>
          <a:p>
            <a:pPr>
              <a:spcBef>
                <a:spcPts val="400"/>
              </a:spcBef>
              <a:buClr>
                <a:srgbClr val="000000"/>
              </a:buClr>
              <a:buSzPct val="9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Tahoma" charset="0"/>
                <a:ea typeface="新細明體" charset="-120"/>
              </a:rPr>
              <a:t>5 bits</a:t>
            </a:r>
          </a:p>
        </p:txBody>
      </p:sp>
      <p:sp>
        <p:nvSpPr>
          <p:cNvPr id="59506" name="Rectangle 142"/>
          <p:cNvSpPr>
            <a:spLocks noChangeArrowheads="1"/>
          </p:cNvSpPr>
          <p:nvPr/>
        </p:nvSpPr>
        <p:spPr bwMode="auto">
          <a:xfrm>
            <a:off x="5219700" y="2220105"/>
            <a:ext cx="97790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 anchorCtr="1"/>
          <a:lstStyle/>
          <a:p>
            <a:pPr>
              <a:spcBef>
                <a:spcPts val="400"/>
              </a:spcBef>
              <a:buClr>
                <a:srgbClr val="000000"/>
              </a:buClr>
              <a:buSzPct val="9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Tahoma" charset="0"/>
                <a:ea typeface="新細明體" charset="-120"/>
              </a:rPr>
              <a:t>5 bits</a:t>
            </a:r>
          </a:p>
        </p:txBody>
      </p:sp>
      <p:sp>
        <p:nvSpPr>
          <p:cNvPr id="59507" name="Rectangle 143"/>
          <p:cNvSpPr>
            <a:spLocks noChangeArrowheads="1"/>
          </p:cNvSpPr>
          <p:nvPr/>
        </p:nvSpPr>
        <p:spPr bwMode="auto">
          <a:xfrm>
            <a:off x="4241800" y="2220105"/>
            <a:ext cx="97790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 anchorCtr="1"/>
          <a:lstStyle/>
          <a:p>
            <a:pPr>
              <a:spcBef>
                <a:spcPts val="400"/>
              </a:spcBef>
              <a:buClr>
                <a:srgbClr val="000000"/>
              </a:buClr>
              <a:buSzPct val="9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Tahoma" charset="0"/>
                <a:ea typeface="新細明體" charset="-120"/>
              </a:rPr>
              <a:t>5 bits</a:t>
            </a:r>
          </a:p>
        </p:txBody>
      </p:sp>
      <p:sp>
        <p:nvSpPr>
          <p:cNvPr id="59508" name="Rectangle 144"/>
          <p:cNvSpPr>
            <a:spLocks noChangeArrowheads="1"/>
          </p:cNvSpPr>
          <p:nvPr/>
        </p:nvSpPr>
        <p:spPr bwMode="auto">
          <a:xfrm>
            <a:off x="3276600" y="2220105"/>
            <a:ext cx="97790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 anchorCtr="1"/>
          <a:lstStyle/>
          <a:p>
            <a:pPr>
              <a:spcBef>
                <a:spcPts val="400"/>
              </a:spcBef>
              <a:buClr>
                <a:srgbClr val="000000"/>
              </a:buClr>
              <a:buSzPct val="9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Tahoma" charset="0"/>
                <a:ea typeface="新細明體" charset="-120"/>
              </a:rPr>
              <a:t>5 bits</a:t>
            </a:r>
          </a:p>
        </p:txBody>
      </p:sp>
      <p:sp>
        <p:nvSpPr>
          <p:cNvPr id="59509" name="Rectangle 145"/>
          <p:cNvSpPr>
            <a:spLocks noChangeArrowheads="1"/>
          </p:cNvSpPr>
          <p:nvPr/>
        </p:nvSpPr>
        <p:spPr bwMode="auto">
          <a:xfrm>
            <a:off x="2298700" y="2220105"/>
            <a:ext cx="977900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 anchor="ctr" anchorCtr="1"/>
          <a:lstStyle/>
          <a:p>
            <a:pPr>
              <a:spcBef>
                <a:spcPts val="400"/>
              </a:spcBef>
              <a:buClr>
                <a:srgbClr val="000000"/>
              </a:buClr>
              <a:buSzPct val="90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Tahoma" charset="0"/>
                <a:ea typeface="新細明體" charset="-120"/>
              </a:rPr>
              <a:t>6 bits</a:t>
            </a:r>
          </a:p>
        </p:txBody>
      </p:sp>
      <p:sp>
        <p:nvSpPr>
          <p:cNvPr id="59510" name="Line 146"/>
          <p:cNvSpPr>
            <a:spLocks noChangeShapeType="1"/>
          </p:cNvSpPr>
          <p:nvPr/>
        </p:nvSpPr>
        <p:spPr bwMode="auto">
          <a:xfrm>
            <a:off x="2298700" y="2555067"/>
            <a:ext cx="977900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9511" name="Group 147"/>
          <p:cNvGrpSpPr>
            <a:grpSpLocks/>
          </p:cNvGrpSpPr>
          <p:nvPr/>
        </p:nvGrpSpPr>
        <p:grpSpPr bwMode="auto">
          <a:xfrm>
            <a:off x="2286001" y="1551767"/>
            <a:ext cx="5865813" cy="666750"/>
            <a:chOff x="480" y="846"/>
            <a:chExt cx="3695" cy="420"/>
          </a:xfrm>
        </p:grpSpPr>
        <p:sp>
          <p:nvSpPr>
            <p:cNvPr id="59608" name="Rectangle 148"/>
            <p:cNvSpPr>
              <a:spLocks noChangeArrowheads="1"/>
            </p:cNvSpPr>
            <p:nvPr/>
          </p:nvSpPr>
          <p:spPr bwMode="auto">
            <a:xfrm>
              <a:off x="3560" y="84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32</a:t>
              </a:r>
            </a:p>
          </p:txBody>
        </p:sp>
        <p:sp>
          <p:nvSpPr>
            <p:cNvPr id="59609" name="Rectangle 149"/>
            <p:cNvSpPr>
              <a:spLocks noChangeArrowheads="1"/>
            </p:cNvSpPr>
            <p:nvPr/>
          </p:nvSpPr>
          <p:spPr bwMode="auto">
            <a:xfrm>
              <a:off x="2944" y="84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9606" name="Rectangle 150"/>
            <p:cNvSpPr>
              <a:spLocks noChangeArrowheads="1"/>
            </p:cNvSpPr>
            <p:nvPr/>
          </p:nvSpPr>
          <p:spPr bwMode="auto">
            <a:xfrm>
              <a:off x="2328" y="84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33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charset="0"/>
                  <a:ea typeface="新細明體" charset="-120"/>
                </a:rPr>
                <a:t>8</a:t>
              </a:r>
            </a:p>
          </p:txBody>
        </p:sp>
        <p:sp>
          <p:nvSpPr>
            <p:cNvPr id="19607" name="Rectangle 151"/>
            <p:cNvSpPr>
              <a:spLocks noChangeArrowheads="1"/>
            </p:cNvSpPr>
            <p:nvPr/>
          </p:nvSpPr>
          <p:spPr bwMode="auto">
            <a:xfrm>
              <a:off x="1712" y="84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33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charset="0"/>
                  <a:ea typeface="新細明體" charset="-120"/>
                </a:rPr>
                <a:t>18</a:t>
              </a:r>
            </a:p>
          </p:txBody>
        </p:sp>
        <p:sp>
          <p:nvSpPr>
            <p:cNvPr id="19608" name="Rectangle 152"/>
            <p:cNvSpPr>
              <a:spLocks noChangeArrowheads="1"/>
            </p:cNvSpPr>
            <p:nvPr/>
          </p:nvSpPr>
          <p:spPr bwMode="auto">
            <a:xfrm>
              <a:off x="1096" y="84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33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charset="0"/>
                  <a:ea typeface="新細明體" charset="-120"/>
                </a:rPr>
                <a:t>17</a:t>
              </a:r>
            </a:p>
          </p:txBody>
        </p:sp>
        <p:sp>
          <p:nvSpPr>
            <p:cNvPr id="59613" name="Rectangle 153"/>
            <p:cNvSpPr>
              <a:spLocks noChangeArrowheads="1"/>
            </p:cNvSpPr>
            <p:nvPr/>
          </p:nvSpPr>
          <p:spPr bwMode="auto">
            <a:xfrm>
              <a:off x="480" y="84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59614" name="Line 154"/>
            <p:cNvSpPr>
              <a:spLocks noChangeShapeType="1"/>
            </p:cNvSpPr>
            <p:nvPr/>
          </p:nvSpPr>
          <p:spPr bwMode="auto">
            <a:xfrm>
              <a:off x="480" y="846"/>
              <a:ext cx="3696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15" name="Line 155"/>
            <p:cNvSpPr>
              <a:spLocks noChangeShapeType="1"/>
            </p:cNvSpPr>
            <p:nvPr/>
          </p:nvSpPr>
          <p:spPr bwMode="auto">
            <a:xfrm>
              <a:off x="480" y="1057"/>
              <a:ext cx="3696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16" name="Line 156"/>
            <p:cNvSpPr>
              <a:spLocks noChangeShapeType="1"/>
            </p:cNvSpPr>
            <p:nvPr/>
          </p:nvSpPr>
          <p:spPr bwMode="auto">
            <a:xfrm>
              <a:off x="480" y="846"/>
              <a:ext cx="1" cy="21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17" name="Line 157"/>
            <p:cNvSpPr>
              <a:spLocks noChangeShapeType="1"/>
            </p:cNvSpPr>
            <p:nvPr/>
          </p:nvSpPr>
          <p:spPr bwMode="auto">
            <a:xfrm>
              <a:off x="1096" y="84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18" name="Line 158"/>
            <p:cNvSpPr>
              <a:spLocks noChangeShapeType="1"/>
            </p:cNvSpPr>
            <p:nvPr/>
          </p:nvSpPr>
          <p:spPr bwMode="auto">
            <a:xfrm>
              <a:off x="1712" y="84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19" name="Line 159"/>
            <p:cNvSpPr>
              <a:spLocks noChangeShapeType="1"/>
            </p:cNvSpPr>
            <p:nvPr/>
          </p:nvSpPr>
          <p:spPr bwMode="auto">
            <a:xfrm>
              <a:off x="2328" y="84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20" name="Line 160"/>
            <p:cNvSpPr>
              <a:spLocks noChangeShapeType="1"/>
            </p:cNvSpPr>
            <p:nvPr/>
          </p:nvSpPr>
          <p:spPr bwMode="auto">
            <a:xfrm>
              <a:off x="2944" y="84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21" name="Line 161"/>
            <p:cNvSpPr>
              <a:spLocks noChangeShapeType="1"/>
            </p:cNvSpPr>
            <p:nvPr/>
          </p:nvSpPr>
          <p:spPr bwMode="auto">
            <a:xfrm>
              <a:off x="3560" y="84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22" name="Line 162"/>
            <p:cNvSpPr>
              <a:spLocks noChangeShapeType="1"/>
            </p:cNvSpPr>
            <p:nvPr/>
          </p:nvSpPr>
          <p:spPr bwMode="auto">
            <a:xfrm>
              <a:off x="4176" y="846"/>
              <a:ext cx="1" cy="21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23" name="Rectangle 163"/>
            <p:cNvSpPr>
              <a:spLocks noChangeArrowheads="1"/>
            </p:cNvSpPr>
            <p:nvPr/>
          </p:nvSpPr>
          <p:spPr bwMode="auto">
            <a:xfrm>
              <a:off x="3560" y="105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100000</a:t>
              </a:r>
            </a:p>
          </p:txBody>
        </p:sp>
        <p:sp>
          <p:nvSpPr>
            <p:cNvPr id="59624" name="Rectangle 164"/>
            <p:cNvSpPr>
              <a:spLocks noChangeArrowheads="1"/>
            </p:cNvSpPr>
            <p:nvPr/>
          </p:nvSpPr>
          <p:spPr bwMode="auto">
            <a:xfrm>
              <a:off x="2944" y="105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00000</a:t>
              </a:r>
            </a:p>
          </p:txBody>
        </p:sp>
        <p:sp>
          <p:nvSpPr>
            <p:cNvPr id="59625" name="Rectangle 165"/>
            <p:cNvSpPr>
              <a:spLocks noChangeArrowheads="1"/>
            </p:cNvSpPr>
            <p:nvPr/>
          </p:nvSpPr>
          <p:spPr bwMode="auto">
            <a:xfrm>
              <a:off x="2328" y="105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01000</a:t>
              </a:r>
            </a:p>
          </p:txBody>
        </p:sp>
        <p:sp>
          <p:nvSpPr>
            <p:cNvPr id="59626" name="Rectangle 166"/>
            <p:cNvSpPr>
              <a:spLocks noChangeArrowheads="1"/>
            </p:cNvSpPr>
            <p:nvPr/>
          </p:nvSpPr>
          <p:spPr bwMode="auto">
            <a:xfrm>
              <a:off x="1712" y="105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10010</a:t>
              </a:r>
            </a:p>
          </p:txBody>
        </p:sp>
        <p:sp>
          <p:nvSpPr>
            <p:cNvPr id="59627" name="Rectangle 167"/>
            <p:cNvSpPr>
              <a:spLocks noChangeArrowheads="1"/>
            </p:cNvSpPr>
            <p:nvPr/>
          </p:nvSpPr>
          <p:spPr bwMode="auto">
            <a:xfrm>
              <a:off x="1096" y="105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10001</a:t>
              </a:r>
            </a:p>
          </p:txBody>
        </p:sp>
        <p:sp>
          <p:nvSpPr>
            <p:cNvPr id="59628" name="Rectangle 168"/>
            <p:cNvSpPr>
              <a:spLocks noChangeArrowheads="1"/>
            </p:cNvSpPr>
            <p:nvPr/>
          </p:nvSpPr>
          <p:spPr bwMode="auto">
            <a:xfrm>
              <a:off x="480" y="105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000000</a:t>
              </a:r>
            </a:p>
          </p:txBody>
        </p:sp>
        <p:sp>
          <p:nvSpPr>
            <p:cNvPr id="59629" name="Line 169"/>
            <p:cNvSpPr>
              <a:spLocks noChangeShapeType="1"/>
            </p:cNvSpPr>
            <p:nvPr/>
          </p:nvSpPr>
          <p:spPr bwMode="auto">
            <a:xfrm>
              <a:off x="480" y="1056"/>
              <a:ext cx="3696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30" name="Line 170"/>
            <p:cNvSpPr>
              <a:spLocks noChangeShapeType="1"/>
            </p:cNvSpPr>
            <p:nvPr/>
          </p:nvSpPr>
          <p:spPr bwMode="auto">
            <a:xfrm>
              <a:off x="480" y="1267"/>
              <a:ext cx="369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31" name="Line 171"/>
            <p:cNvSpPr>
              <a:spLocks noChangeShapeType="1"/>
            </p:cNvSpPr>
            <p:nvPr/>
          </p:nvSpPr>
          <p:spPr bwMode="auto">
            <a:xfrm>
              <a:off x="480" y="1056"/>
              <a:ext cx="1" cy="21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32" name="Line 172"/>
            <p:cNvSpPr>
              <a:spLocks noChangeShapeType="1"/>
            </p:cNvSpPr>
            <p:nvPr/>
          </p:nvSpPr>
          <p:spPr bwMode="auto">
            <a:xfrm>
              <a:off x="1096" y="105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33" name="Line 173"/>
            <p:cNvSpPr>
              <a:spLocks noChangeShapeType="1"/>
            </p:cNvSpPr>
            <p:nvPr/>
          </p:nvSpPr>
          <p:spPr bwMode="auto">
            <a:xfrm>
              <a:off x="1712" y="105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34" name="Line 174"/>
            <p:cNvSpPr>
              <a:spLocks noChangeShapeType="1"/>
            </p:cNvSpPr>
            <p:nvPr/>
          </p:nvSpPr>
          <p:spPr bwMode="auto">
            <a:xfrm>
              <a:off x="2328" y="105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35" name="Line 175"/>
            <p:cNvSpPr>
              <a:spLocks noChangeShapeType="1"/>
            </p:cNvSpPr>
            <p:nvPr/>
          </p:nvSpPr>
          <p:spPr bwMode="auto">
            <a:xfrm>
              <a:off x="2944" y="105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36" name="Line 176"/>
            <p:cNvSpPr>
              <a:spLocks noChangeShapeType="1"/>
            </p:cNvSpPr>
            <p:nvPr/>
          </p:nvSpPr>
          <p:spPr bwMode="auto">
            <a:xfrm>
              <a:off x="3560" y="105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37" name="Line 177"/>
            <p:cNvSpPr>
              <a:spLocks noChangeShapeType="1"/>
            </p:cNvSpPr>
            <p:nvPr/>
          </p:nvSpPr>
          <p:spPr bwMode="auto">
            <a:xfrm>
              <a:off x="4176" y="1056"/>
              <a:ext cx="1" cy="21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9512" name="Line 178"/>
          <p:cNvSpPr>
            <a:spLocks noChangeShapeType="1"/>
          </p:cNvSpPr>
          <p:nvPr/>
        </p:nvSpPr>
        <p:spPr bwMode="auto">
          <a:xfrm>
            <a:off x="3276600" y="2555067"/>
            <a:ext cx="977900" cy="158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513" name="Line 179"/>
          <p:cNvSpPr>
            <a:spLocks noChangeShapeType="1"/>
          </p:cNvSpPr>
          <p:nvPr/>
        </p:nvSpPr>
        <p:spPr bwMode="auto">
          <a:xfrm>
            <a:off x="2298700" y="2220105"/>
            <a:ext cx="1588" cy="33496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9514" name="Line 180"/>
          <p:cNvSpPr>
            <a:spLocks noChangeShapeType="1"/>
          </p:cNvSpPr>
          <p:nvPr/>
        </p:nvSpPr>
        <p:spPr bwMode="auto">
          <a:xfrm>
            <a:off x="8153400" y="2220105"/>
            <a:ext cx="1588" cy="33496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9515" name="Group 181"/>
          <p:cNvGrpSpPr>
            <a:grpSpLocks/>
          </p:cNvGrpSpPr>
          <p:nvPr/>
        </p:nvGrpSpPr>
        <p:grpSpPr bwMode="auto">
          <a:xfrm>
            <a:off x="8305801" y="1351742"/>
            <a:ext cx="1649413" cy="908050"/>
            <a:chOff x="4272" y="720"/>
            <a:chExt cx="1039" cy="572"/>
          </a:xfrm>
        </p:grpSpPr>
        <p:sp>
          <p:nvSpPr>
            <p:cNvPr id="59595" name="Rectangle 182"/>
            <p:cNvSpPr>
              <a:spLocks noChangeArrowheads="1"/>
            </p:cNvSpPr>
            <p:nvPr/>
          </p:nvSpPr>
          <p:spPr bwMode="auto">
            <a:xfrm>
              <a:off x="4806" y="1102"/>
              <a:ext cx="50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CD3333"/>
                  </a:solidFill>
                  <a:latin typeface="Tahoma" charset="0"/>
                  <a:ea typeface="新細明體" charset="-120"/>
                </a:rPr>
                <a:t>200</a:t>
              </a:r>
            </a:p>
          </p:txBody>
        </p:sp>
        <p:sp>
          <p:nvSpPr>
            <p:cNvPr id="59596" name="Rectangle 183"/>
            <p:cNvSpPr>
              <a:spLocks noChangeArrowheads="1"/>
            </p:cNvSpPr>
            <p:nvPr/>
          </p:nvSpPr>
          <p:spPr bwMode="auto">
            <a:xfrm>
              <a:off x="4272" y="1102"/>
              <a:ext cx="53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s2</a:t>
              </a:r>
            </a:p>
          </p:txBody>
        </p:sp>
        <p:sp>
          <p:nvSpPr>
            <p:cNvPr id="59597" name="Rectangle 184"/>
            <p:cNvSpPr>
              <a:spLocks noChangeArrowheads="1"/>
            </p:cNvSpPr>
            <p:nvPr/>
          </p:nvSpPr>
          <p:spPr bwMode="auto">
            <a:xfrm>
              <a:off x="4806" y="911"/>
              <a:ext cx="50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CD3333"/>
                  </a:solidFill>
                  <a:latin typeface="Tahoma" charset="0"/>
                  <a:ea typeface="新細明體" charset="-120"/>
                </a:rPr>
                <a:t>100</a:t>
              </a:r>
            </a:p>
          </p:txBody>
        </p:sp>
        <p:sp>
          <p:nvSpPr>
            <p:cNvPr id="59598" name="Rectangle 185"/>
            <p:cNvSpPr>
              <a:spLocks noChangeArrowheads="1"/>
            </p:cNvSpPr>
            <p:nvPr/>
          </p:nvSpPr>
          <p:spPr bwMode="auto">
            <a:xfrm>
              <a:off x="4272" y="911"/>
              <a:ext cx="53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s1</a:t>
              </a:r>
            </a:p>
          </p:txBody>
        </p:sp>
        <p:sp>
          <p:nvSpPr>
            <p:cNvPr id="59599" name="Rectangle 186"/>
            <p:cNvSpPr>
              <a:spLocks noChangeArrowheads="1"/>
            </p:cNvSpPr>
            <p:nvPr/>
          </p:nvSpPr>
          <p:spPr bwMode="auto">
            <a:xfrm>
              <a:off x="4806" y="720"/>
              <a:ext cx="50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Value</a:t>
              </a:r>
            </a:p>
          </p:txBody>
        </p:sp>
        <p:sp>
          <p:nvSpPr>
            <p:cNvPr id="59600" name="Rectangle 187"/>
            <p:cNvSpPr>
              <a:spLocks noChangeArrowheads="1"/>
            </p:cNvSpPr>
            <p:nvPr/>
          </p:nvSpPr>
          <p:spPr bwMode="auto">
            <a:xfrm>
              <a:off x="4272" y="720"/>
              <a:ext cx="53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Register</a:t>
              </a:r>
            </a:p>
          </p:txBody>
        </p:sp>
        <p:sp>
          <p:nvSpPr>
            <p:cNvPr id="59601" name="Line 188"/>
            <p:cNvSpPr>
              <a:spLocks noChangeShapeType="1"/>
            </p:cNvSpPr>
            <p:nvPr/>
          </p:nvSpPr>
          <p:spPr bwMode="auto">
            <a:xfrm>
              <a:off x="4272" y="720"/>
              <a:ext cx="1040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02" name="Line 189"/>
            <p:cNvSpPr>
              <a:spLocks noChangeShapeType="1"/>
            </p:cNvSpPr>
            <p:nvPr/>
          </p:nvSpPr>
          <p:spPr bwMode="auto">
            <a:xfrm>
              <a:off x="4272" y="911"/>
              <a:ext cx="104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03" name="Line 190"/>
            <p:cNvSpPr>
              <a:spLocks noChangeShapeType="1"/>
            </p:cNvSpPr>
            <p:nvPr/>
          </p:nvSpPr>
          <p:spPr bwMode="auto">
            <a:xfrm>
              <a:off x="4272" y="1102"/>
              <a:ext cx="104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04" name="Line 191"/>
            <p:cNvSpPr>
              <a:spLocks noChangeShapeType="1"/>
            </p:cNvSpPr>
            <p:nvPr/>
          </p:nvSpPr>
          <p:spPr bwMode="auto">
            <a:xfrm>
              <a:off x="4272" y="1293"/>
              <a:ext cx="1040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05" name="Line 192"/>
            <p:cNvSpPr>
              <a:spLocks noChangeShapeType="1"/>
            </p:cNvSpPr>
            <p:nvPr/>
          </p:nvSpPr>
          <p:spPr bwMode="auto">
            <a:xfrm>
              <a:off x="4272" y="720"/>
              <a:ext cx="1" cy="573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06" name="Line 193"/>
            <p:cNvSpPr>
              <a:spLocks noChangeShapeType="1"/>
            </p:cNvSpPr>
            <p:nvPr/>
          </p:nvSpPr>
          <p:spPr bwMode="auto">
            <a:xfrm>
              <a:off x="4806" y="720"/>
              <a:ext cx="1" cy="573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607" name="Line 194"/>
            <p:cNvSpPr>
              <a:spLocks noChangeShapeType="1"/>
            </p:cNvSpPr>
            <p:nvPr/>
          </p:nvSpPr>
          <p:spPr bwMode="auto">
            <a:xfrm>
              <a:off x="5312" y="720"/>
              <a:ext cx="1" cy="573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666" name="Text Box 210"/>
          <p:cNvSpPr txBox="1">
            <a:spLocks noChangeArrowheads="1"/>
          </p:cNvSpPr>
          <p:nvPr/>
        </p:nvSpPr>
        <p:spPr bwMode="auto">
          <a:xfrm>
            <a:off x="7011989" y="6076143"/>
            <a:ext cx="1081087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375"/>
              </a:spcBef>
              <a:buClr>
                <a:srgbClr val="000000"/>
              </a:buClr>
            </a:pPr>
            <a:r>
              <a:rPr lang="en-GB" altLang="zh-TW" sz="1500" b="1">
                <a:solidFill>
                  <a:srgbClr val="ECA07A"/>
                </a:solidFill>
                <a:latin typeface="Tahoma" charset="0"/>
                <a:ea typeface="新細明體" charset="-120"/>
              </a:rPr>
              <a:t>RegWrite</a:t>
            </a:r>
          </a:p>
        </p:txBody>
      </p:sp>
      <p:sp>
        <p:nvSpPr>
          <p:cNvPr id="19667" name="Text Box 211"/>
          <p:cNvSpPr txBox="1">
            <a:spLocks noChangeArrowheads="1"/>
          </p:cNvSpPr>
          <p:nvPr/>
        </p:nvSpPr>
        <p:spPr bwMode="auto">
          <a:xfrm>
            <a:off x="4340226" y="3485343"/>
            <a:ext cx="1076325" cy="307975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350"/>
              </a:spcBef>
              <a:buClr>
                <a:srgbClr val="000000"/>
              </a:buClr>
            </a:pPr>
            <a:r>
              <a:rPr lang="en-GB" altLang="zh-TW" sz="1400">
                <a:solidFill>
                  <a:srgbClr val="FFFFFF"/>
                </a:solidFill>
                <a:latin typeface="Arial" charset="0"/>
                <a:ea typeface="新細明體" charset="-120"/>
              </a:rPr>
              <a:t>instr[25-21]</a:t>
            </a:r>
          </a:p>
        </p:txBody>
      </p:sp>
      <p:sp>
        <p:nvSpPr>
          <p:cNvPr id="19669" name="Text Box 213"/>
          <p:cNvSpPr txBox="1">
            <a:spLocks noChangeArrowheads="1"/>
          </p:cNvSpPr>
          <p:nvPr/>
        </p:nvSpPr>
        <p:spPr bwMode="auto">
          <a:xfrm>
            <a:off x="4340226" y="4094943"/>
            <a:ext cx="1076325" cy="307975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350"/>
              </a:spcBef>
              <a:buClr>
                <a:srgbClr val="000000"/>
              </a:buClr>
            </a:pPr>
            <a:r>
              <a:rPr lang="en-GB" altLang="zh-TW" sz="1400">
                <a:solidFill>
                  <a:srgbClr val="FFFFFF"/>
                </a:solidFill>
                <a:latin typeface="Arial" charset="0"/>
                <a:ea typeface="新細明體" charset="-120"/>
              </a:rPr>
              <a:t>instr[20-16]</a:t>
            </a:r>
          </a:p>
        </p:txBody>
      </p:sp>
      <p:sp>
        <p:nvSpPr>
          <p:cNvPr id="19670" name="Text Box 214"/>
          <p:cNvSpPr txBox="1">
            <a:spLocks noChangeArrowheads="1"/>
          </p:cNvSpPr>
          <p:nvPr/>
        </p:nvSpPr>
        <p:spPr bwMode="auto">
          <a:xfrm>
            <a:off x="4568826" y="5161743"/>
            <a:ext cx="1076325" cy="307975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350"/>
              </a:spcBef>
              <a:buClr>
                <a:srgbClr val="000000"/>
              </a:buClr>
            </a:pPr>
            <a:r>
              <a:rPr lang="en-GB" altLang="zh-TW" sz="1400">
                <a:solidFill>
                  <a:srgbClr val="FFFFFF"/>
                </a:solidFill>
                <a:latin typeface="Arial" charset="0"/>
                <a:ea typeface="新細明體" charset="-120"/>
              </a:rPr>
              <a:t>instr[15-11]</a:t>
            </a:r>
          </a:p>
        </p:txBody>
      </p:sp>
      <p:grpSp>
        <p:nvGrpSpPr>
          <p:cNvPr id="11" name="Group 215"/>
          <p:cNvGrpSpPr>
            <a:grpSpLocks/>
          </p:cNvGrpSpPr>
          <p:nvPr/>
        </p:nvGrpSpPr>
        <p:grpSpPr bwMode="auto">
          <a:xfrm>
            <a:off x="3276601" y="1427943"/>
            <a:ext cx="1293813" cy="1979613"/>
            <a:chOff x="1104" y="768"/>
            <a:chExt cx="815" cy="1247"/>
          </a:xfrm>
        </p:grpSpPr>
        <p:sp>
          <p:nvSpPr>
            <p:cNvPr id="59593" name="Freeform 216"/>
            <p:cNvSpPr>
              <a:spLocks noChangeArrowheads="1"/>
            </p:cNvSpPr>
            <p:nvPr/>
          </p:nvSpPr>
          <p:spPr bwMode="auto">
            <a:xfrm>
              <a:off x="1104" y="768"/>
              <a:ext cx="520" cy="696"/>
            </a:xfrm>
            <a:custGeom>
              <a:avLst/>
              <a:gdLst>
                <a:gd name="T0" fmla="*/ 120 w 520"/>
                <a:gd name="T1" fmla="*/ 552 h 696"/>
                <a:gd name="T2" fmla="*/ 24 w 520"/>
                <a:gd name="T3" fmla="*/ 360 h 696"/>
                <a:gd name="T4" fmla="*/ 24 w 520"/>
                <a:gd name="T5" fmla="*/ 168 h 696"/>
                <a:gd name="T6" fmla="*/ 168 w 520"/>
                <a:gd name="T7" fmla="*/ 24 h 696"/>
                <a:gd name="T8" fmla="*/ 408 w 520"/>
                <a:gd name="T9" fmla="*/ 24 h 696"/>
                <a:gd name="T10" fmla="*/ 504 w 520"/>
                <a:gd name="T11" fmla="*/ 120 h 696"/>
                <a:gd name="T12" fmla="*/ 504 w 520"/>
                <a:gd name="T13" fmla="*/ 216 h 696"/>
                <a:gd name="T14" fmla="*/ 504 w 520"/>
                <a:gd name="T15" fmla="*/ 408 h 696"/>
                <a:gd name="T16" fmla="*/ 408 w 520"/>
                <a:gd name="T17" fmla="*/ 552 h 696"/>
                <a:gd name="T18" fmla="*/ 264 w 520"/>
                <a:gd name="T19" fmla="*/ 648 h 696"/>
                <a:gd name="T20" fmla="*/ 216 w 520"/>
                <a:gd name="T21" fmla="*/ 696 h 6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20"/>
                <a:gd name="T34" fmla="*/ 0 h 696"/>
                <a:gd name="T35" fmla="*/ 520 w 520"/>
                <a:gd name="T36" fmla="*/ 696 h 6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20" h="696">
                  <a:moveTo>
                    <a:pt x="120" y="552"/>
                  </a:moveTo>
                  <a:cubicBezTo>
                    <a:pt x="80" y="488"/>
                    <a:pt x="40" y="424"/>
                    <a:pt x="24" y="360"/>
                  </a:cubicBezTo>
                  <a:cubicBezTo>
                    <a:pt x="8" y="296"/>
                    <a:pt x="0" y="224"/>
                    <a:pt x="24" y="168"/>
                  </a:cubicBezTo>
                  <a:cubicBezTo>
                    <a:pt x="48" y="112"/>
                    <a:pt x="104" y="48"/>
                    <a:pt x="168" y="24"/>
                  </a:cubicBezTo>
                  <a:cubicBezTo>
                    <a:pt x="232" y="0"/>
                    <a:pt x="352" y="8"/>
                    <a:pt x="408" y="24"/>
                  </a:cubicBezTo>
                  <a:cubicBezTo>
                    <a:pt x="464" y="40"/>
                    <a:pt x="488" y="88"/>
                    <a:pt x="504" y="120"/>
                  </a:cubicBezTo>
                  <a:cubicBezTo>
                    <a:pt x="520" y="152"/>
                    <a:pt x="504" y="168"/>
                    <a:pt x="504" y="216"/>
                  </a:cubicBezTo>
                  <a:cubicBezTo>
                    <a:pt x="504" y="264"/>
                    <a:pt x="520" y="352"/>
                    <a:pt x="504" y="408"/>
                  </a:cubicBezTo>
                  <a:cubicBezTo>
                    <a:pt x="488" y="464"/>
                    <a:pt x="448" y="512"/>
                    <a:pt x="408" y="552"/>
                  </a:cubicBezTo>
                  <a:cubicBezTo>
                    <a:pt x="368" y="592"/>
                    <a:pt x="296" y="624"/>
                    <a:pt x="264" y="648"/>
                  </a:cubicBezTo>
                  <a:cubicBezTo>
                    <a:pt x="232" y="672"/>
                    <a:pt x="224" y="688"/>
                    <a:pt x="216" y="696"/>
                  </a:cubicBezTo>
                </a:path>
              </a:pathLst>
            </a:custGeom>
            <a:noFill/>
            <a:ln w="3816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94" name="Line 217"/>
            <p:cNvSpPr>
              <a:spLocks noChangeShapeType="1"/>
            </p:cNvSpPr>
            <p:nvPr/>
          </p:nvSpPr>
          <p:spPr bwMode="auto">
            <a:xfrm>
              <a:off x="1584" y="1344"/>
              <a:ext cx="336" cy="672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218"/>
          <p:cNvGrpSpPr>
            <a:grpSpLocks/>
          </p:cNvGrpSpPr>
          <p:nvPr/>
        </p:nvGrpSpPr>
        <p:grpSpPr bwMode="auto">
          <a:xfrm>
            <a:off x="4267201" y="1427943"/>
            <a:ext cx="823913" cy="2665413"/>
            <a:chOff x="1728" y="768"/>
            <a:chExt cx="519" cy="1679"/>
          </a:xfrm>
        </p:grpSpPr>
        <p:sp>
          <p:nvSpPr>
            <p:cNvPr id="59591" name="Freeform 219"/>
            <p:cNvSpPr>
              <a:spLocks noChangeArrowheads="1"/>
            </p:cNvSpPr>
            <p:nvPr/>
          </p:nvSpPr>
          <p:spPr bwMode="auto">
            <a:xfrm>
              <a:off x="1728" y="768"/>
              <a:ext cx="520" cy="696"/>
            </a:xfrm>
            <a:custGeom>
              <a:avLst/>
              <a:gdLst>
                <a:gd name="T0" fmla="*/ 120 w 520"/>
                <a:gd name="T1" fmla="*/ 552 h 696"/>
                <a:gd name="T2" fmla="*/ 24 w 520"/>
                <a:gd name="T3" fmla="*/ 360 h 696"/>
                <a:gd name="T4" fmla="*/ 24 w 520"/>
                <a:gd name="T5" fmla="*/ 168 h 696"/>
                <a:gd name="T6" fmla="*/ 168 w 520"/>
                <a:gd name="T7" fmla="*/ 24 h 696"/>
                <a:gd name="T8" fmla="*/ 408 w 520"/>
                <a:gd name="T9" fmla="*/ 24 h 696"/>
                <a:gd name="T10" fmla="*/ 504 w 520"/>
                <a:gd name="T11" fmla="*/ 120 h 696"/>
                <a:gd name="T12" fmla="*/ 504 w 520"/>
                <a:gd name="T13" fmla="*/ 216 h 696"/>
                <a:gd name="T14" fmla="*/ 504 w 520"/>
                <a:gd name="T15" fmla="*/ 408 h 696"/>
                <a:gd name="T16" fmla="*/ 408 w 520"/>
                <a:gd name="T17" fmla="*/ 552 h 696"/>
                <a:gd name="T18" fmla="*/ 264 w 520"/>
                <a:gd name="T19" fmla="*/ 648 h 696"/>
                <a:gd name="T20" fmla="*/ 216 w 520"/>
                <a:gd name="T21" fmla="*/ 696 h 6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20"/>
                <a:gd name="T34" fmla="*/ 0 h 696"/>
                <a:gd name="T35" fmla="*/ 520 w 520"/>
                <a:gd name="T36" fmla="*/ 696 h 6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20" h="696">
                  <a:moveTo>
                    <a:pt x="120" y="552"/>
                  </a:moveTo>
                  <a:cubicBezTo>
                    <a:pt x="80" y="488"/>
                    <a:pt x="40" y="424"/>
                    <a:pt x="24" y="360"/>
                  </a:cubicBezTo>
                  <a:cubicBezTo>
                    <a:pt x="8" y="296"/>
                    <a:pt x="0" y="224"/>
                    <a:pt x="24" y="168"/>
                  </a:cubicBezTo>
                  <a:cubicBezTo>
                    <a:pt x="48" y="112"/>
                    <a:pt x="104" y="48"/>
                    <a:pt x="168" y="24"/>
                  </a:cubicBezTo>
                  <a:cubicBezTo>
                    <a:pt x="232" y="0"/>
                    <a:pt x="352" y="8"/>
                    <a:pt x="408" y="24"/>
                  </a:cubicBezTo>
                  <a:cubicBezTo>
                    <a:pt x="464" y="40"/>
                    <a:pt x="488" y="88"/>
                    <a:pt x="504" y="120"/>
                  </a:cubicBezTo>
                  <a:cubicBezTo>
                    <a:pt x="520" y="152"/>
                    <a:pt x="504" y="168"/>
                    <a:pt x="504" y="216"/>
                  </a:cubicBezTo>
                  <a:cubicBezTo>
                    <a:pt x="504" y="264"/>
                    <a:pt x="520" y="352"/>
                    <a:pt x="504" y="408"/>
                  </a:cubicBezTo>
                  <a:cubicBezTo>
                    <a:pt x="488" y="464"/>
                    <a:pt x="448" y="512"/>
                    <a:pt x="408" y="552"/>
                  </a:cubicBezTo>
                  <a:cubicBezTo>
                    <a:pt x="368" y="592"/>
                    <a:pt x="296" y="624"/>
                    <a:pt x="264" y="648"/>
                  </a:cubicBezTo>
                  <a:cubicBezTo>
                    <a:pt x="232" y="672"/>
                    <a:pt x="224" y="688"/>
                    <a:pt x="216" y="696"/>
                  </a:cubicBezTo>
                </a:path>
              </a:pathLst>
            </a:custGeom>
            <a:noFill/>
            <a:ln w="3816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92" name="Line 220"/>
            <p:cNvSpPr>
              <a:spLocks noChangeShapeType="1"/>
            </p:cNvSpPr>
            <p:nvPr/>
          </p:nvSpPr>
          <p:spPr bwMode="auto">
            <a:xfrm>
              <a:off x="2016" y="1440"/>
              <a:ext cx="96" cy="1008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221"/>
          <p:cNvGrpSpPr>
            <a:grpSpLocks/>
          </p:cNvGrpSpPr>
          <p:nvPr/>
        </p:nvGrpSpPr>
        <p:grpSpPr bwMode="auto">
          <a:xfrm>
            <a:off x="4953000" y="1427943"/>
            <a:ext cx="1130300" cy="3656013"/>
            <a:chOff x="2160" y="768"/>
            <a:chExt cx="712" cy="2303"/>
          </a:xfrm>
        </p:grpSpPr>
        <p:sp>
          <p:nvSpPr>
            <p:cNvPr id="59589" name="Freeform 222"/>
            <p:cNvSpPr>
              <a:spLocks noChangeArrowheads="1"/>
            </p:cNvSpPr>
            <p:nvPr/>
          </p:nvSpPr>
          <p:spPr bwMode="auto">
            <a:xfrm>
              <a:off x="2352" y="768"/>
              <a:ext cx="520" cy="696"/>
            </a:xfrm>
            <a:custGeom>
              <a:avLst/>
              <a:gdLst>
                <a:gd name="T0" fmla="*/ 120 w 520"/>
                <a:gd name="T1" fmla="*/ 552 h 696"/>
                <a:gd name="T2" fmla="*/ 24 w 520"/>
                <a:gd name="T3" fmla="*/ 360 h 696"/>
                <a:gd name="T4" fmla="*/ 24 w 520"/>
                <a:gd name="T5" fmla="*/ 168 h 696"/>
                <a:gd name="T6" fmla="*/ 168 w 520"/>
                <a:gd name="T7" fmla="*/ 24 h 696"/>
                <a:gd name="T8" fmla="*/ 408 w 520"/>
                <a:gd name="T9" fmla="*/ 24 h 696"/>
                <a:gd name="T10" fmla="*/ 504 w 520"/>
                <a:gd name="T11" fmla="*/ 120 h 696"/>
                <a:gd name="T12" fmla="*/ 504 w 520"/>
                <a:gd name="T13" fmla="*/ 216 h 696"/>
                <a:gd name="T14" fmla="*/ 504 w 520"/>
                <a:gd name="T15" fmla="*/ 408 h 696"/>
                <a:gd name="T16" fmla="*/ 408 w 520"/>
                <a:gd name="T17" fmla="*/ 552 h 696"/>
                <a:gd name="T18" fmla="*/ 264 w 520"/>
                <a:gd name="T19" fmla="*/ 648 h 696"/>
                <a:gd name="T20" fmla="*/ 216 w 520"/>
                <a:gd name="T21" fmla="*/ 696 h 69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520"/>
                <a:gd name="T34" fmla="*/ 0 h 696"/>
                <a:gd name="T35" fmla="*/ 520 w 520"/>
                <a:gd name="T36" fmla="*/ 696 h 69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520" h="696">
                  <a:moveTo>
                    <a:pt x="120" y="552"/>
                  </a:moveTo>
                  <a:cubicBezTo>
                    <a:pt x="80" y="488"/>
                    <a:pt x="40" y="424"/>
                    <a:pt x="24" y="360"/>
                  </a:cubicBezTo>
                  <a:cubicBezTo>
                    <a:pt x="8" y="296"/>
                    <a:pt x="0" y="224"/>
                    <a:pt x="24" y="168"/>
                  </a:cubicBezTo>
                  <a:cubicBezTo>
                    <a:pt x="48" y="112"/>
                    <a:pt x="104" y="48"/>
                    <a:pt x="168" y="24"/>
                  </a:cubicBezTo>
                  <a:cubicBezTo>
                    <a:pt x="232" y="0"/>
                    <a:pt x="352" y="8"/>
                    <a:pt x="408" y="24"/>
                  </a:cubicBezTo>
                  <a:cubicBezTo>
                    <a:pt x="464" y="40"/>
                    <a:pt x="488" y="88"/>
                    <a:pt x="504" y="120"/>
                  </a:cubicBezTo>
                  <a:cubicBezTo>
                    <a:pt x="520" y="152"/>
                    <a:pt x="504" y="168"/>
                    <a:pt x="504" y="216"/>
                  </a:cubicBezTo>
                  <a:cubicBezTo>
                    <a:pt x="504" y="264"/>
                    <a:pt x="520" y="352"/>
                    <a:pt x="504" y="408"/>
                  </a:cubicBezTo>
                  <a:cubicBezTo>
                    <a:pt x="488" y="464"/>
                    <a:pt x="448" y="512"/>
                    <a:pt x="408" y="552"/>
                  </a:cubicBezTo>
                  <a:cubicBezTo>
                    <a:pt x="368" y="592"/>
                    <a:pt x="296" y="624"/>
                    <a:pt x="264" y="648"/>
                  </a:cubicBezTo>
                  <a:cubicBezTo>
                    <a:pt x="232" y="672"/>
                    <a:pt x="224" y="688"/>
                    <a:pt x="216" y="696"/>
                  </a:cubicBezTo>
                </a:path>
              </a:pathLst>
            </a:custGeom>
            <a:noFill/>
            <a:ln w="38160">
              <a:solidFill>
                <a:srgbClr val="8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90" name="Line 223"/>
            <p:cNvSpPr>
              <a:spLocks noChangeShapeType="1"/>
            </p:cNvSpPr>
            <p:nvPr/>
          </p:nvSpPr>
          <p:spPr bwMode="auto">
            <a:xfrm flipH="1">
              <a:off x="2159" y="1488"/>
              <a:ext cx="386" cy="1584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680" name="Text Box 224"/>
          <p:cNvSpPr txBox="1">
            <a:spLocks noChangeArrowheads="1"/>
          </p:cNvSpPr>
          <p:nvPr/>
        </p:nvSpPr>
        <p:spPr bwMode="auto">
          <a:xfrm>
            <a:off x="3049588" y="5923743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j</a:t>
            </a:r>
            <a:endParaRPr lang="zh-TW" altLang="en-GB" sz="2800" dirty="0">
              <a:solidFill>
                <a:srgbClr val="CD33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19681" name="Text Box 225"/>
          <p:cNvSpPr txBox="1">
            <a:spLocks noChangeArrowheads="1"/>
          </p:cNvSpPr>
          <p:nvPr/>
        </p:nvSpPr>
        <p:spPr bwMode="auto">
          <a:xfrm>
            <a:off x="5868988" y="2951943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k</a:t>
            </a:r>
            <a:endParaRPr lang="zh-TW" altLang="en-GB" sz="2800" dirty="0">
              <a:solidFill>
                <a:srgbClr val="CD33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19682" name="Text Box 226"/>
          <p:cNvSpPr txBox="1">
            <a:spLocks noChangeArrowheads="1"/>
          </p:cNvSpPr>
          <p:nvPr/>
        </p:nvSpPr>
        <p:spPr bwMode="auto">
          <a:xfrm>
            <a:off x="9069388" y="2951943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l</a:t>
            </a:r>
            <a:endParaRPr lang="zh-TW" altLang="en-GB" sz="2800" dirty="0">
              <a:solidFill>
                <a:srgbClr val="CD33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19683" name="Text Box 227"/>
          <p:cNvSpPr txBox="1">
            <a:spLocks noChangeArrowheads="1"/>
          </p:cNvSpPr>
          <p:nvPr/>
        </p:nvSpPr>
        <p:spPr bwMode="auto">
          <a:xfrm>
            <a:off x="5487988" y="5999943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n</a:t>
            </a:r>
            <a:endParaRPr lang="zh-TW" altLang="en-GB" sz="2800" dirty="0">
              <a:solidFill>
                <a:srgbClr val="CD3333"/>
              </a:solidFill>
              <a:latin typeface="Wingdings" charset="2"/>
              <a:ea typeface="新細明體" charset="-120"/>
            </a:endParaRPr>
          </a:p>
        </p:txBody>
      </p:sp>
      <p:grpSp>
        <p:nvGrpSpPr>
          <p:cNvPr id="59527" name="Group 291"/>
          <p:cNvGrpSpPr>
            <a:grpSpLocks/>
          </p:cNvGrpSpPr>
          <p:nvPr/>
        </p:nvGrpSpPr>
        <p:grpSpPr bwMode="auto">
          <a:xfrm>
            <a:off x="1600200" y="3180542"/>
            <a:ext cx="2667000" cy="2133600"/>
            <a:chOff x="48" y="1872"/>
            <a:chExt cx="1680" cy="1344"/>
          </a:xfrm>
        </p:grpSpPr>
        <p:sp>
          <p:nvSpPr>
            <p:cNvPr id="59528" name="Freeform 230"/>
            <p:cNvSpPr>
              <a:spLocks/>
            </p:cNvSpPr>
            <p:nvPr/>
          </p:nvSpPr>
          <p:spPr bwMode="auto">
            <a:xfrm>
              <a:off x="146" y="2481"/>
              <a:ext cx="123" cy="315"/>
            </a:xfrm>
            <a:custGeom>
              <a:avLst/>
              <a:gdLst>
                <a:gd name="T0" fmla="*/ 154 w 157"/>
                <a:gd name="T1" fmla="*/ 437 h 437"/>
                <a:gd name="T2" fmla="*/ 157 w 157"/>
                <a:gd name="T3" fmla="*/ 0 h 437"/>
                <a:gd name="T4" fmla="*/ 0 w 157"/>
                <a:gd name="T5" fmla="*/ 0 h 437"/>
                <a:gd name="T6" fmla="*/ 0 w 157"/>
                <a:gd name="T7" fmla="*/ 437 h 437"/>
                <a:gd name="T8" fmla="*/ 157 w 157"/>
                <a:gd name="T9" fmla="*/ 437 h 437"/>
                <a:gd name="T10" fmla="*/ 157 w 157"/>
                <a:gd name="T11" fmla="*/ 437 h 437"/>
                <a:gd name="T12" fmla="*/ 154 w 157"/>
                <a:gd name="T13" fmla="*/ 437 h 4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57"/>
                <a:gd name="T22" fmla="*/ 0 h 437"/>
                <a:gd name="T23" fmla="*/ 157 w 157"/>
                <a:gd name="T24" fmla="*/ 437 h 43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57" h="437">
                  <a:moveTo>
                    <a:pt x="154" y="437"/>
                  </a:moveTo>
                  <a:lnTo>
                    <a:pt x="157" y="0"/>
                  </a:lnTo>
                  <a:lnTo>
                    <a:pt x="0" y="0"/>
                  </a:lnTo>
                  <a:lnTo>
                    <a:pt x="0" y="437"/>
                  </a:lnTo>
                  <a:lnTo>
                    <a:pt x="157" y="437"/>
                  </a:lnTo>
                  <a:lnTo>
                    <a:pt x="154" y="4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529" name="Freeform 231"/>
            <p:cNvSpPr>
              <a:spLocks/>
            </p:cNvSpPr>
            <p:nvPr/>
          </p:nvSpPr>
          <p:spPr bwMode="auto">
            <a:xfrm>
              <a:off x="146" y="2481"/>
              <a:ext cx="123" cy="315"/>
            </a:xfrm>
            <a:custGeom>
              <a:avLst/>
              <a:gdLst>
                <a:gd name="T0" fmla="*/ 154 w 157"/>
                <a:gd name="T1" fmla="*/ 437 h 437"/>
                <a:gd name="T2" fmla="*/ 157 w 157"/>
                <a:gd name="T3" fmla="*/ 0 h 437"/>
                <a:gd name="T4" fmla="*/ 0 w 157"/>
                <a:gd name="T5" fmla="*/ 0 h 437"/>
                <a:gd name="T6" fmla="*/ 0 w 157"/>
                <a:gd name="T7" fmla="*/ 437 h 437"/>
                <a:gd name="T8" fmla="*/ 157 w 157"/>
                <a:gd name="T9" fmla="*/ 437 h 437"/>
                <a:gd name="T10" fmla="*/ 157 w 157"/>
                <a:gd name="T11" fmla="*/ 437 h 4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57"/>
                <a:gd name="T19" fmla="*/ 0 h 437"/>
                <a:gd name="T20" fmla="*/ 157 w 157"/>
                <a:gd name="T21" fmla="*/ 437 h 43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57" h="437">
                  <a:moveTo>
                    <a:pt x="154" y="437"/>
                  </a:moveTo>
                  <a:lnTo>
                    <a:pt x="157" y="0"/>
                  </a:lnTo>
                  <a:lnTo>
                    <a:pt x="0" y="0"/>
                  </a:lnTo>
                  <a:lnTo>
                    <a:pt x="0" y="437"/>
                  </a:lnTo>
                  <a:lnTo>
                    <a:pt x="157" y="437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530" name="Rectangle 232"/>
            <p:cNvSpPr>
              <a:spLocks noChangeArrowheads="1"/>
            </p:cNvSpPr>
            <p:nvPr/>
          </p:nvSpPr>
          <p:spPr bwMode="auto">
            <a:xfrm>
              <a:off x="165" y="2604"/>
              <a:ext cx="48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P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31" name="Rectangle 233"/>
            <p:cNvSpPr>
              <a:spLocks noChangeArrowheads="1"/>
            </p:cNvSpPr>
            <p:nvPr/>
          </p:nvSpPr>
          <p:spPr bwMode="auto">
            <a:xfrm>
              <a:off x="207" y="2604"/>
              <a:ext cx="53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32" name="Freeform 234"/>
            <p:cNvSpPr>
              <a:spLocks/>
            </p:cNvSpPr>
            <p:nvPr/>
          </p:nvSpPr>
          <p:spPr bwMode="auto">
            <a:xfrm>
              <a:off x="489" y="2512"/>
              <a:ext cx="733" cy="704"/>
            </a:xfrm>
            <a:custGeom>
              <a:avLst/>
              <a:gdLst>
                <a:gd name="T0" fmla="*/ 934 w 934"/>
                <a:gd name="T1" fmla="*/ 975 h 975"/>
                <a:gd name="T2" fmla="*/ 934 w 934"/>
                <a:gd name="T3" fmla="*/ 0 h 975"/>
                <a:gd name="T4" fmla="*/ 0 w 934"/>
                <a:gd name="T5" fmla="*/ 0 h 975"/>
                <a:gd name="T6" fmla="*/ 0 w 934"/>
                <a:gd name="T7" fmla="*/ 975 h 975"/>
                <a:gd name="T8" fmla="*/ 934 w 934"/>
                <a:gd name="T9" fmla="*/ 975 h 975"/>
                <a:gd name="T10" fmla="*/ 934 w 934"/>
                <a:gd name="T11" fmla="*/ 975 h 9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4"/>
                <a:gd name="T19" fmla="*/ 0 h 975"/>
                <a:gd name="T20" fmla="*/ 934 w 934"/>
                <a:gd name="T21" fmla="*/ 975 h 9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4" h="975">
                  <a:moveTo>
                    <a:pt x="934" y="975"/>
                  </a:moveTo>
                  <a:lnTo>
                    <a:pt x="934" y="0"/>
                  </a:lnTo>
                  <a:lnTo>
                    <a:pt x="0" y="0"/>
                  </a:lnTo>
                  <a:lnTo>
                    <a:pt x="0" y="975"/>
                  </a:lnTo>
                  <a:lnTo>
                    <a:pt x="934" y="9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533" name="Freeform 235"/>
            <p:cNvSpPr>
              <a:spLocks/>
            </p:cNvSpPr>
            <p:nvPr/>
          </p:nvSpPr>
          <p:spPr bwMode="auto">
            <a:xfrm>
              <a:off x="489" y="2512"/>
              <a:ext cx="733" cy="704"/>
            </a:xfrm>
            <a:custGeom>
              <a:avLst/>
              <a:gdLst>
                <a:gd name="T0" fmla="*/ 934 w 934"/>
                <a:gd name="T1" fmla="*/ 975 h 975"/>
                <a:gd name="T2" fmla="*/ 934 w 934"/>
                <a:gd name="T3" fmla="*/ 0 h 975"/>
                <a:gd name="T4" fmla="*/ 0 w 934"/>
                <a:gd name="T5" fmla="*/ 0 h 975"/>
                <a:gd name="T6" fmla="*/ 0 w 934"/>
                <a:gd name="T7" fmla="*/ 975 h 975"/>
                <a:gd name="T8" fmla="*/ 934 w 934"/>
                <a:gd name="T9" fmla="*/ 975 h 975"/>
                <a:gd name="T10" fmla="*/ 934 w 934"/>
                <a:gd name="T11" fmla="*/ 975 h 97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34"/>
                <a:gd name="T19" fmla="*/ 0 h 975"/>
                <a:gd name="T20" fmla="*/ 934 w 934"/>
                <a:gd name="T21" fmla="*/ 975 h 97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34" h="975">
                  <a:moveTo>
                    <a:pt x="934" y="975"/>
                  </a:moveTo>
                  <a:lnTo>
                    <a:pt x="934" y="0"/>
                  </a:lnTo>
                  <a:lnTo>
                    <a:pt x="0" y="0"/>
                  </a:lnTo>
                  <a:lnTo>
                    <a:pt x="0" y="975"/>
                  </a:lnTo>
                  <a:lnTo>
                    <a:pt x="934" y="975"/>
                  </a:lnTo>
                </a:path>
              </a:pathLst>
            </a:custGeom>
            <a:noFill/>
            <a:ln w="158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534" name="Rectangle 236"/>
            <p:cNvSpPr>
              <a:spLocks noChangeArrowheads="1"/>
            </p:cNvSpPr>
            <p:nvPr/>
          </p:nvSpPr>
          <p:spPr bwMode="auto">
            <a:xfrm>
              <a:off x="533" y="2949"/>
              <a:ext cx="2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35" name="Rectangle 237"/>
            <p:cNvSpPr>
              <a:spLocks noChangeArrowheads="1"/>
            </p:cNvSpPr>
            <p:nvPr/>
          </p:nvSpPr>
          <p:spPr bwMode="auto">
            <a:xfrm>
              <a:off x="551" y="2949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36" name="Rectangle 238"/>
            <p:cNvSpPr>
              <a:spLocks noChangeArrowheads="1"/>
            </p:cNvSpPr>
            <p:nvPr/>
          </p:nvSpPr>
          <p:spPr bwMode="auto">
            <a:xfrm>
              <a:off x="586" y="2949"/>
              <a:ext cx="36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37" name="Rectangle 239"/>
            <p:cNvSpPr>
              <a:spLocks noChangeArrowheads="1"/>
            </p:cNvSpPr>
            <p:nvPr/>
          </p:nvSpPr>
          <p:spPr bwMode="auto">
            <a:xfrm>
              <a:off x="619" y="2949"/>
              <a:ext cx="2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38" name="Rectangle 240"/>
            <p:cNvSpPr>
              <a:spLocks noChangeArrowheads="1"/>
            </p:cNvSpPr>
            <p:nvPr/>
          </p:nvSpPr>
          <p:spPr bwMode="auto">
            <a:xfrm>
              <a:off x="638" y="2949"/>
              <a:ext cx="24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39" name="Rectangle 241"/>
            <p:cNvSpPr>
              <a:spLocks noChangeArrowheads="1"/>
            </p:cNvSpPr>
            <p:nvPr/>
          </p:nvSpPr>
          <p:spPr bwMode="auto">
            <a:xfrm>
              <a:off x="660" y="2949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40" name="Rectangle 242"/>
            <p:cNvSpPr>
              <a:spLocks noChangeArrowheads="1"/>
            </p:cNvSpPr>
            <p:nvPr/>
          </p:nvSpPr>
          <p:spPr bwMode="auto">
            <a:xfrm>
              <a:off x="695" y="2949"/>
              <a:ext cx="36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41" name="Rectangle 243"/>
            <p:cNvSpPr>
              <a:spLocks noChangeArrowheads="1"/>
            </p:cNvSpPr>
            <p:nvPr/>
          </p:nvSpPr>
          <p:spPr bwMode="auto">
            <a:xfrm>
              <a:off x="730" y="2949"/>
              <a:ext cx="2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42" name="Rectangle 244"/>
            <p:cNvSpPr>
              <a:spLocks noChangeArrowheads="1"/>
            </p:cNvSpPr>
            <p:nvPr/>
          </p:nvSpPr>
          <p:spPr bwMode="auto">
            <a:xfrm>
              <a:off x="747" y="2949"/>
              <a:ext cx="16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43" name="Rectangle 245"/>
            <p:cNvSpPr>
              <a:spLocks noChangeArrowheads="1"/>
            </p:cNvSpPr>
            <p:nvPr/>
          </p:nvSpPr>
          <p:spPr bwMode="auto">
            <a:xfrm>
              <a:off x="763" y="2949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o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44" name="Rectangle 246"/>
            <p:cNvSpPr>
              <a:spLocks noChangeArrowheads="1"/>
            </p:cNvSpPr>
            <p:nvPr/>
          </p:nvSpPr>
          <p:spPr bwMode="auto">
            <a:xfrm>
              <a:off x="798" y="2949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45" name="Rectangle 247"/>
            <p:cNvSpPr>
              <a:spLocks noChangeArrowheads="1"/>
            </p:cNvSpPr>
            <p:nvPr/>
          </p:nvSpPr>
          <p:spPr bwMode="auto">
            <a:xfrm>
              <a:off x="576" y="3017"/>
              <a:ext cx="61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46" name="Rectangle 248"/>
            <p:cNvSpPr>
              <a:spLocks noChangeArrowheads="1"/>
            </p:cNvSpPr>
            <p:nvPr/>
          </p:nvSpPr>
          <p:spPr bwMode="auto">
            <a:xfrm>
              <a:off x="628" y="3017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47" name="Rectangle 249"/>
            <p:cNvSpPr>
              <a:spLocks noChangeArrowheads="1"/>
            </p:cNvSpPr>
            <p:nvPr/>
          </p:nvSpPr>
          <p:spPr bwMode="auto">
            <a:xfrm>
              <a:off x="668" y="3017"/>
              <a:ext cx="61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m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48" name="Rectangle 250"/>
            <p:cNvSpPr>
              <a:spLocks noChangeArrowheads="1"/>
            </p:cNvSpPr>
            <p:nvPr/>
          </p:nvSpPr>
          <p:spPr bwMode="auto">
            <a:xfrm>
              <a:off x="721" y="3017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o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49" name="Rectangle 251"/>
            <p:cNvSpPr>
              <a:spLocks noChangeArrowheads="1"/>
            </p:cNvSpPr>
            <p:nvPr/>
          </p:nvSpPr>
          <p:spPr bwMode="auto">
            <a:xfrm>
              <a:off x="756" y="3017"/>
              <a:ext cx="24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50" name="Rectangle 252"/>
            <p:cNvSpPr>
              <a:spLocks noChangeArrowheads="1"/>
            </p:cNvSpPr>
            <p:nvPr/>
          </p:nvSpPr>
          <p:spPr bwMode="auto">
            <a:xfrm>
              <a:off x="778" y="3017"/>
              <a:ext cx="36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y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51" name="Rectangle 253"/>
            <p:cNvSpPr>
              <a:spLocks noChangeArrowheads="1"/>
            </p:cNvSpPr>
            <p:nvPr/>
          </p:nvSpPr>
          <p:spPr bwMode="auto">
            <a:xfrm>
              <a:off x="516" y="2575"/>
              <a:ext cx="53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52" name="Rectangle 254"/>
            <p:cNvSpPr>
              <a:spLocks noChangeArrowheads="1"/>
            </p:cNvSpPr>
            <p:nvPr/>
          </p:nvSpPr>
          <p:spPr bwMode="auto">
            <a:xfrm>
              <a:off x="566" y="2575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53" name="Rectangle 255"/>
            <p:cNvSpPr>
              <a:spLocks noChangeArrowheads="1"/>
            </p:cNvSpPr>
            <p:nvPr/>
          </p:nvSpPr>
          <p:spPr bwMode="auto">
            <a:xfrm>
              <a:off x="603" y="2575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54" name="Rectangle 256"/>
            <p:cNvSpPr>
              <a:spLocks noChangeArrowheads="1"/>
            </p:cNvSpPr>
            <p:nvPr/>
          </p:nvSpPr>
          <p:spPr bwMode="auto">
            <a:xfrm>
              <a:off x="638" y="2575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55" name="Rectangle 257"/>
            <p:cNvSpPr>
              <a:spLocks noChangeArrowheads="1"/>
            </p:cNvSpPr>
            <p:nvPr/>
          </p:nvSpPr>
          <p:spPr bwMode="auto">
            <a:xfrm>
              <a:off x="516" y="2632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56" name="Rectangle 258"/>
            <p:cNvSpPr>
              <a:spLocks noChangeArrowheads="1"/>
            </p:cNvSpPr>
            <p:nvPr/>
          </p:nvSpPr>
          <p:spPr bwMode="auto">
            <a:xfrm>
              <a:off x="554" y="2632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57" name="Rectangle 259"/>
            <p:cNvSpPr>
              <a:spLocks noChangeArrowheads="1"/>
            </p:cNvSpPr>
            <p:nvPr/>
          </p:nvSpPr>
          <p:spPr bwMode="auto">
            <a:xfrm>
              <a:off x="589" y="2632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58" name="Rectangle 260"/>
            <p:cNvSpPr>
              <a:spLocks noChangeArrowheads="1"/>
            </p:cNvSpPr>
            <p:nvPr/>
          </p:nvSpPr>
          <p:spPr bwMode="auto">
            <a:xfrm>
              <a:off x="627" y="2632"/>
              <a:ext cx="24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59" name="Rectangle 261"/>
            <p:cNvSpPr>
              <a:spLocks noChangeArrowheads="1"/>
            </p:cNvSpPr>
            <p:nvPr/>
          </p:nvSpPr>
          <p:spPr bwMode="auto">
            <a:xfrm>
              <a:off x="647" y="2632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e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60" name="Rectangle 262"/>
            <p:cNvSpPr>
              <a:spLocks noChangeArrowheads="1"/>
            </p:cNvSpPr>
            <p:nvPr/>
          </p:nvSpPr>
          <p:spPr bwMode="auto">
            <a:xfrm>
              <a:off x="684" y="2632"/>
              <a:ext cx="36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61" name="Rectangle 263"/>
            <p:cNvSpPr>
              <a:spLocks noChangeArrowheads="1"/>
            </p:cNvSpPr>
            <p:nvPr/>
          </p:nvSpPr>
          <p:spPr bwMode="auto">
            <a:xfrm>
              <a:off x="715" y="2632"/>
              <a:ext cx="36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62" name="Rectangle 264"/>
            <p:cNvSpPr>
              <a:spLocks noChangeArrowheads="1"/>
            </p:cNvSpPr>
            <p:nvPr/>
          </p:nvSpPr>
          <p:spPr bwMode="auto">
            <a:xfrm>
              <a:off x="892" y="2829"/>
              <a:ext cx="2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63" name="Rectangle 265"/>
            <p:cNvSpPr>
              <a:spLocks noChangeArrowheads="1"/>
            </p:cNvSpPr>
            <p:nvPr/>
          </p:nvSpPr>
          <p:spPr bwMode="auto">
            <a:xfrm>
              <a:off x="913" y="2829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64" name="Rectangle 266"/>
            <p:cNvSpPr>
              <a:spLocks noChangeArrowheads="1"/>
            </p:cNvSpPr>
            <p:nvPr/>
          </p:nvSpPr>
          <p:spPr bwMode="auto">
            <a:xfrm>
              <a:off x="945" y="2829"/>
              <a:ext cx="36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s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65" name="Rectangle 267"/>
            <p:cNvSpPr>
              <a:spLocks noChangeArrowheads="1"/>
            </p:cNvSpPr>
            <p:nvPr/>
          </p:nvSpPr>
          <p:spPr bwMode="auto">
            <a:xfrm>
              <a:off x="980" y="2829"/>
              <a:ext cx="2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66" name="Rectangle 268"/>
            <p:cNvSpPr>
              <a:spLocks noChangeArrowheads="1"/>
            </p:cNvSpPr>
            <p:nvPr/>
          </p:nvSpPr>
          <p:spPr bwMode="auto">
            <a:xfrm>
              <a:off x="998" y="2829"/>
              <a:ext cx="24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r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67" name="Rectangle 269"/>
            <p:cNvSpPr>
              <a:spLocks noChangeArrowheads="1"/>
            </p:cNvSpPr>
            <p:nvPr/>
          </p:nvSpPr>
          <p:spPr bwMode="auto">
            <a:xfrm>
              <a:off x="1020" y="2829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u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68" name="Rectangle 270"/>
            <p:cNvSpPr>
              <a:spLocks noChangeArrowheads="1"/>
            </p:cNvSpPr>
            <p:nvPr/>
          </p:nvSpPr>
          <p:spPr bwMode="auto">
            <a:xfrm>
              <a:off x="1056" y="2829"/>
              <a:ext cx="36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c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69" name="Rectangle 271"/>
            <p:cNvSpPr>
              <a:spLocks noChangeArrowheads="1"/>
            </p:cNvSpPr>
            <p:nvPr/>
          </p:nvSpPr>
          <p:spPr bwMode="auto">
            <a:xfrm>
              <a:off x="1086" y="2829"/>
              <a:ext cx="2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t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70" name="Rectangle 272"/>
            <p:cNvSpPr>
              <a:spLocks noChangeArrowheads="1"/>
            </p:cNvSpPr>
            <p:nvPr/>
          </p:nvSpPr>
          <p:spPr bwMode="auto">
            <a:xfrm>
              <a:off x="1108" y="2829"/>
              <a:ext cx="16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i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71" name="Rectangle 273"/>
            <p:cNvSpPr>
              <a:spLocks noChangeArrowheads="1"/>
            </p:cNvSpPr>
            <p:nvPr/>
          </p:nvSpPr>
          <p:spPr bwMode="auto">
            <a:xfrm>
              <a:off x="1119" y="2829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o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72" name="Rectangle 274"/>
            <p:cNvSpPr>
              <a:spLocks noChangeArrowheads="1"/>
            </p:cNvSpPr>
            <p:nvPr/>
          </p:nvSpPr>
          <p:spPr bwMode="auto">
            <a:xfrm>
              <a:off x="1157" y="2829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n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73" name="Freeform 275"/>
            <p:cNvSpPr>
              <a:spLocks/>
            </p:cNvSpPr>
            <p:nvPr/>
          </p:nvSpPr>
          <p:spPr bwMode="auto">
            <a:xfrm>
              <a:off x="342" y="2060"/>
              <a:ext cx="1002" cy="578"/>
            </a:xfrm>
            <a:custGeom>
              <a:avLst/>
              <a:gdLst>
                <a:gd name="T0" fmla="*/ 1276 w 1276"/>
                <a:gd name="T1" fmla="*/ 0 h 800"/>
                <a:gd name="T2" fmla="*/ 0 w 1276"/>
                <a:gd name="T3" fmla="*/ 2 h 800"/>
                <a:gd name="T4" fmla="*/ 0 w 1276"/>
                <a:gd name="T5" fmla="*/ 800 h 800"/>
                <a:gd name="T6" fmla="*/ 0 60000 65536"/>
                <a:gd name="T7" fmla="*/ 0 60000 65536"/>
                <a:gd name="T8" fmla="*/ 0 60000 65536"/>
                <a:gd name="T9" fmla="*/ 0 w 1276"/>
                <a:gd name="T10" fmla="*/ 0 h 800"/>
                <a:gd name="T11" fmla="*/ 1276 w 1276"/>
                <a:gd name="T12" fmla="*/ 800 h 8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76" h="800">
                  <a:moveTo>
                    <a:pt x="1276" y="0"/>
                  </a:moveTo>
                  <a:lnTo>
                    <a:pt x="0" y="2"/>
                  </a:lnTo>
                  <a:lnTo>
                    <a:pt x="0" y="800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574" name="Line 276"/>
            <p:cNvSpPr>
              <a:spLocks noChangeShapeType="1"/>
            </p:cNvSpPr>
            <p:nvPr/>
          </p:nvSpPr>
          <p:spPr bwMode="auto">
            <a:xfrm flipH="1">
              <a:off x="1222" y="2419"/>
              <a:ext cx="122" cy="3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575" name="Freeform 277"/>
            <p:cNvSpPr>
              <a:spLocks/>
            </p:cNvSpPr>
            <p:nvPr/>
          </p:nvSpPr>
          <p:spPr bwMode="auto">
            <a:xfrm>
              <a:off x="1332" y="2045"/>
              <a:ext cx="33" cy="31"/>
            </a:xfrm>
            <a:custGeom>
              <a:avLst/>
              <a:gdLst>
                <a:gd name="T0" fmla="*/ 0 w 42"/>
                <a:gd name="T1" fmla="*/ 0 h 42"/>
                <a:gd name="T2" fmla="*/ 0 w 42"/>
                <a:gd name="T3" fmla="*/ 42 h 42"/>
                <a:gd name="T4" fmla="*/ 42 w 42"/>
                <a:gd name="T5" fmla="*/ 22 h 42"/>
                <a:gd name="T6" fmla="*/ 0 w 42"/>
                <a:gd name="T7" fmla="*/ 0 h 42"/>
                <a:gd name="T8" fmla="*/ 0 w 42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"/>
                <a:gd name="T16" fmla="*/ 0 h 42"/>
                <a:gd name="T17" fmla="*/ 42 w 42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" h="42">
                  <a:moveTo>
                    <a:pt x="0" y="0"/>
                  </a:moveTo>
                  <a:lnTo>
                    <a:pt x="0" y="42"/>
                  </a:lnTo>
                  <a:lnTo>
                    <a:pt x="42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576" name="Freeform 278"/>
            <p:cNvSpPr>
              <a:spLocks/>
            </p:cNvSpPr>
            <p:nvPr/>
          </p:nvSpPr>
          <p:spPr bwMode="auto">
            <a:xfrm>
              <a:off x="1332" y="2406"/>
              <a:ext cx="33" cy="30"/>
            </a:xfrm>
            <a:custGeom>
              <a:avLst/>
              <a:gdLst>
                <a:gd name="T0" fmla="*/ 0 w 42"/>
                <a:gd name="T1" fmla="*/ 0 h 42"/>
                <a:gd name="T2" fmla="*/ 0 w 42"/>
                <a:gd name="T3" fmla="*/ 42 h 42"/>
                <a:gd name="T4" fmla="*/ 42 w 42"/>
                <a:gd name="T5" fmla="*/ 22 h 42"/>
                <a:gd name="T6" fmla="*/ 0 w 42"/>
                <a:gd name="T7" fmla="*/ 0 h 42"/>
                <a:gd name="T8" fmla="*/ 0 w 42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2"/>
                <a:gd name="T16" fmla="*/ 0 h 42"/>
                <a:gd name="T17" fmla="*/ 42 w 42"/>
                <a:gd name="T18" fmla="*/ 42 h 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2" h="42">
                  <a:moveTo>
                    <a:pt x="0" y="0"/>
                  </a:moveTo>
                  <a:lnTo>
                    <a:pt x="0" y="42"/>
                  </a:lnTo>
                  <a:lnTo>
                    <a:pt x="42" y="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577" name="Line 279"/>
            <p:cNvSpPr>
              <a:spLocks noChangeShapeType="1"/>
            </p:cNvSpPr>
            <p:nvPr/>
          </p:nvSpPr>
          <p:spPr bwMode="auto">
            <a:xfrm>
              <a:off x="267" y="2638"/>
              <a:ext cx="196" cy="0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578" name="Freeform 280"/>
            <p:cNvSpPr>
              <a:spLocks/>
            </p:cNvSpPr>
            <p:nvPr/>
          </p:nvSpPr>
          <p:spPr bwMode="auto">
            <a:xfrm>
              <a:off x="451" y="2623"/>
              <a:ext cx="34" cy="31"/>
            </a:xfrm>
            <a:custGeom>
              <a:avLst/>
              <a:gdLst>
                <a:gd name="T0" fmla="*/ 0 w 43"/>
                <a:gd name="T1" fmla="*/ 0 h 43"/>
                <a:gd name="T2" fmla="*/ 3 w 43"/>
                <a:gd name="T3" fmla="*/ 43 h 43"/>
                <a:gd name="T4" fmla="*/ 43 w 43"/>
                <a:gd name="T5" fmla="*/ 23 h 43"/>
                <a:gd name="T6" fmla="*/ 3 w 43"/>
                <a:gd name="T7" fmla="*/ 0 h 43"/>
                <a:gd name="T8" fmla="*/ 3 w 43"/>
                <a:gd name="T9" fmla="*/ 0 h 43"/>
                <a:gd name="T10" fmla="*/ 0 w 43"/>
                <a:gd name="T11" fmla="*/ 0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"/>
                <a:gd name="T19" fmla="*/ 0 h 43"/>
                <a:gd name="T20" fmla="*/ 43 w 43"/>
                <a:gd name="T21" fmla="*/ 43 h 4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" h="43">
                  <a:moveTo>
                    <a:pt x="0" y="0"/>
                  </a:moveTo>
                  <a:lnTo>
                    <a:pt x="3" y="43"/>
                  </a:lnTo>
                  <a:lnTo>
                    <a:pt x="43" y="23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579" name="Freeform 281"/>
            <p:cNvSpPr>
              <a:spLocks/>
            </p:cNvSpPr>
            <p:nvPr/>
          </p:nvSpPr>
          <p:spPr bwMode="auto">
            <a:xfrm>
              <a:off x="48" y="1872"/>
              <a:ext cx="1680" cy="766"/>
            </a:xfrm>
            <a:custGeom>
              <a:avLst/>
              <a:gdLst>
                <a:gd name="T0" fmla="*/ 92 w 2139"/>
                <a:gd name="T1" fmla="*/ 1060 h 1060"/>
                <a:gd name="T2" fmla="*/ 0 w 2139"/>
                <a:gd name="T3" fmla="*/ 1060 h 1060"/>
                <a:gd name="T4" fmla="*/ 0 w 2139"/>
                <a:gd name="T5" fmla="*/ 0 h 1060"/>
                <a:gd name="T6" fmla="*/ 2139 w 2139"/>
                <a:gd name="T7" fmla="*/ 0 h 1060"/>
                <a:gd name="T8" fmla="*/ 2139 w 2139"/>
                <a:gd name="T9" fmla="*/ 509 h 1060"/>
                <a:gd name="T10" fmla="*/ 1954 w 2139"/>
                <a:gd name="T11" fmla="*/ 509 h 10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139"/>
                <a:gd name="T19" fmla="*/ 0 h 1060"/>
                <a:gd name="T20" fmla="*/ 2139 w 2139"/>
                <a:gd name="T21" fmla="*/ 1060 h 106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39" h="1060">
                  <a:moveTo>
                    <a:pt x="92" y="1060"/>
                  </a:moveTo>
                  <a:lnTo>
                    <a:pt x="0" y="1060"/>
                  </a:lnTo>
                  <a:lnTo>
                    <a:pt x="0" y="0"/>
                  </a:lnTo>
                  <a:lnTo>
                    <a:pt x="2139" y="0"/>
                  </a:lnTo>
                  <a:lnTo>
                    <a:pt x="2139" y="509"/>
                  </a:lnTo>
                  <a:lnTo>
                    <a:pt x="1954" y="509"/>
                  </a:lnTo>
                </a:path>
              </a:pathLst>
            </a:cu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580" name="Freeform 282"/>
            <p:cNvSpPr>
              <a:spLocks/>
            </p:cNvSpPr>
            <p:nvPr/>
          </p:nvSpPr>
          <p:spPr bwMode="auto">
            <a:xfrm>
              <a:off x="108" y="2623"/>
              <a:ext cx="34" cy="31"/>
            </a:xfrm>
            <a:custGeom>
              <a:avLst/>
              <a:gdLst>
                <a:gd name="T0" fmla="*/ 0 w 43"/>
                <a:gd name="T1" fmla="*/ 0 h 43"/>
                <a:gd name="T2" fmla="*/ 3 w 43"/>
                <a:gd name="T3" fmla="*/ 43 h 43"/>
                <a:gd name="T4" fmla="*/ 43 w 43"/>
                <a:gd name="T5" fmla="*/ 23 h 43"/>
                <a:gd name="T6" fmla="*/ 3 w 43"/>
                <a:gd name="T7" fmla="*/ 0 h 43"/>
                <a:gd name="T8" fmla="*/ 3 w 43"/>
                <a:gd name="T9" fmla="*/ 0 h 43"/>
                <a:gd name="T10" fmla="*/ 0 w 43"/>
                <a:gd name="T11" fmla="*/ 0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"/>
                <a:gd name="T19" fmla="*/ 0 h 43"/>
                <a:gd name="T20" fmla="*/ 43 w 43"/>
                <a:gd name="T21" fmla="*/ 43 h 4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" h="43">
                  <a:moveTo>
                    <a:pt x="0" y="0"/>
                  </a:moveTo>
                  <a:lnTo>
                    <a:pt x="3" y="43"/>
                  </a:lnTo>
                  <a:lnTo>
                    <a:pt x="43" y="23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581" name="Rectangle 283"/>
            <p:cNvSpPr>
              <a:spLocks noChangeArrowheads="1"/>
            </p:cNvSpPr>
            <p:nvPr/>
          </p:nvSpPr>
          <p:spPr bwMode="auto">
            <a:xfrm>
              <a:off x="1157" y="2383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4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82" name="Freeform 284"/>
            <p:cNvSpPr>
              <a:spLocks/>
            </p:cNvSpPr>
            <p:nvPr/>
          </p:nvSpPr>
          <p:spPr bwMode="auto">
            <a:xfrm>
              <a:off x="1369" y="1937"/>
              <a:ext cx="214" cy="605"/>
            </a:xfrm>
            <a:custGeom>
              <a:avLst/>
              <a:gdLst>
                <a:gd name="T0" fmla="*/ 0 w 272"/>
                <a:gd name="T1" fmla="*/ 0 h 838"/>
                <a:gd name="T2" fmla="*/ 0 w 272"/>
                <a:gd name="T3" fmla="*/ 339 h 838"/>
                <a:gd name="T4" fmla="*/ 88 w 272"/>
                <a:gd name="T5" fmla="*/ 422 h 838"/>
                <a:gd name="T6" fmla="*/ 0 w 272"/>
                <a:gd name="T7" fmla="*/ 501 h 838"/>
                <a:gd name="T8" fmla="*/ 0 w 272"/>
                <a:gd name="T9" fmla="*/ 838 h 838"/>
                <a:gd name="T10" fmla="*/ 272 w 272"/>
                <a:gd name="T11" fmla="*/ 584 h 838"/>
                <a:gd name="T12" fmla="*/ 272 w 272"/>
                <a:gd name="T13" fmla="*/ 260 h 838"/>
                <a:gd name="T14" fmla="*/ 0 w 272"/>
                <a:gd name="T15" fmla="*/ 3 h 838"/>
                <a:gd name="T16" fmla="*/ 0 w 272"/>
                <a:gd name="T17" fmla="*/ 3 h 83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72"/>
                <a:gd name="T28" fmla="*/ 0 h 838"/>
                <a:gd name="T29" fmla="*/ 272 w 272"/>
                <a:gd name="T30" fmla="*/ 838 h 83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72" h="838">
                  <a:moveTo>
                    <a:pt x="0" y="0"/>
                  </a:moveTo>
                  <a:lnTo>
                    <a:pt x="0" y="339"/>
                  </a:lnTo>
                  <a:lnTo>
                    <a:pt x="88" y="422"/>
                  </a:lnTo>
                  <a:lnTo>
                    <a:pt x="0" y="501"/>
                  </a:lnTo>
                  <a:lnTo>
                    <a:pt x="0" y="838"/>
                  </a:lnTo>
                  <a:lnTo>
                    <a:pt x="272" y="584"/>
                  </a:lnTo>
                  <a:lnTo>
                    <a:pt x="272" y="260"/>
                  </a:lnTo>
                  <a:lnTo>
                    <a:pt x="0" y="3"/>
                  </a:lnTo>
                </a:path>
              </a:pathLst>
            </a:custGeom>
            <a:solidFill>
              <a:srgbClr val="FFFFFF"/>
            </a:solidFill>
            <a:ln w="1587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583" name="Rectangle 285"/>
            <p:cNvSpPr>
              <a:spLocks noChangeArrowheads="1"/>
            </p:cNvSpPr>
            <p:nvPr/>
          </p:nvSpPr>
          <p:spPr bwMode="auto">
            <a:xfrm>
              <a:off x="1453" y="2206"/>
              <a:ext cx="48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A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84" name="Rectangle 286"/>
            <p:cNvSpPr>
              <a:spLocks noChangeArrowheads="1"/>
            </p:cNvSpPr>
            <p:nvPr/>
          </p:nvSpPr>
          <p:spPr bwMode="auto">
            <a:xfrm>
              <a:off x="1497" y="2206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85" name="Rectangle 287"/>
            <p:cNvSpPr>
              <a:spLocks noChangeArrowheads="1"/>
            </p:cNvSpPr>
            <p:nvPr/>
          </p:nvSpPr>
          <p:spPr bwMode="auto">
            <a:xfrm>
              <a:off x="1529" y="2206"/>
              <a:ext cx="40" cy="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 defTabSz="914400"/>
              <a:r>
                <a:rPr lang="en-US" sz="900">
                  <a:solidFill>
                    <a:srgbClr val="000000"/>
                  </a:solidFill>
                  <a:latin typeface="Arial" charset="0"/>
                </a:rPr>
                <a:t>d</a:t>
              </a:r>
              <a:endParaRPr lang="en-US" sz="900">
                <a:latin typeface="Courier New" charset="0"/>
              </a:endParaRPr>
            </a:p>
          </p:txBody>
        </p:sp>
        <p:sp>
          <p:nvSpPr>
            <p:cNvPr id="59586" name="Freeform 288"/>
            <p:cNvSpPr>
              <a:spLocks/>
            </p:cNvSpPr>
            <p:nvPr/>
          </p:nvSpPr>
          <p:spPr bwMode="auto">
            <a:xfrm>
              <a:off x="326" y="2623"/>
              <a:ext cx="31" cy="31"/>
            </a:xfrm>
            <a:custGeom>
              <a:avLst/>
              <a:gdLst>
                <a:gd name="T0" fmla="*/ 20 w 40"/>
                <a:gd name="T1" fmla="*/ 40 h 43"/>
                <a:gd name="T2" fmla="*/ 22 w 40"/>
                <a:gd name="T3" fmla="*/ 43 h 43"/>
                <a:gd name="T4" fmla="*/ 27 w 40"/>
                <a:gd name="T5" fmla="*/ 40 h 43"/>
                <a:gd name="T6" fmla="*/ 30 w 40"/>
                <a:gd name="T7" fmla="*/ 40 h 43"/>
                <a:gd name="T8" fmla="*/ 32 w 40"/>
                <a:gd name="T9" fmla="*/ 38 h 43"/>
                <a:gd name="T10" fmla="*/ 35 w 40"/>
                <a:gd name="T11" fmla="*/ 35 h 43"/>
                <a:gd name="T12" fmla="*/ 37 w 40"/>
                <a:gd name="T13" fmla="*/ 33 h 43"/>
                <a:gd name="T14" fmla="*/ 37 w 40"/>
                <a:gd name="T15" fmla="*/ 30 h 43"/>
                <a:gd name="T16" fmla="*/ 40 w 40"/>
                <a:gd name="T17" fmla="*/ 28 h 43"/>
                <a:gd name="T18" fmla="*/ 40 w 40"/>
                <a:gd name="T19" fmla="*/ 25 h 43"/>
                <a:gd name="T20" fmla="*/ 40 w 40"/>
                <a:gd name="T21" fmla="*/ 20 h 43"/>
                <a:gd name="T22" fmla="*/ 40 w 40"/>
                <a:gd name="T23" fmla="*/ 18 h 43"/>
                <a:gd name="T24" fmla="*/ 40 w 40"/>
                <a:gd name="T25" fmla="*/ 15 h 43"/>
                <a:gd name="T26" fmla="*/ 37 w 40"/>
                <a:gd name="T27" fmla="*/ 13 h 43"/>
                <a:gd name="T28" fmla="*/ 37 w 40"/>
                <a:gd name="T29" fmla="*/ 10 h 43"/>
                <a:gd name="T30" fmla="*/ 35 w 40"/>
                <a:gd name="T31" fmla="*/ 8 h 43"/>
                <a:gd name="T32" fmla="*/ 32 w 40"/>
                <a:gd name="T33" fmla="*/ 5 h 43"/>
                <a:gd name="T34" fmla="*/ 30 w 40"/>
                <a:gd name="T35" fmla="*/ 3 h 43"/>
                <a:gd name="T36" fmla="*/ 27 w 40"/>
                <a:gd name="T37" fmla="*/ 3 h 43"/>
                <a:gd name="T38" fmla="*/ 22 w 40"/>
                <a:gd name="T39" fmla="*/ 0 h 43"/>
                <a:gd name="T40" fmla="*/ 20 w 40"/>
                <a:gd name="T41" fmla="*/ 0 h 43"/>
                <a:gd name="T42" fmla="*/ 17 w 40"/>
                <a:gd name="T43" fmla="*/ 0 h 43"/>
                <a:gd name="T44" fmla="*/ 12 w 40"/>
                <a:gd name="T45" fmla="*/ 3 h 43"/>
                <a:gd name="T46" fmla="*/ 10 w 40"/>
                <a:gd name="T47" fmla="*/ 3 h 43"/>
                <a:gd name="T48" fmla="*/ 7 w 40"/>
                <a:gd name="T49" fmla="*/ 5 h 43"/>
                <a:gd name="T50" fmla="*/ 5 w 40"/>
                <a:gd name="T51" fmla="*/ 8 h 43"/>
                <a:gd name="T52" fmla="*/ 2 w 40"/>
                <a:gd name="T53" fmla="*/ 10 h 43"/>
                <a:gd name="T54" fmla="*/ 2 w 40"/>
                <a:gd name="T55" fmla="*/ 13 h 43"/>
                <a:gd name="T56" fmla="*/ 0 w 40"/>
                <a:gd name="T57" fmla="*/ 15 h 43"/>
                <a:gd name="T58" fmla="*/ 0 w 40"/>
                <a:gd name="T59" fmla="*/ 18 h 43"/>
                <a:gd name="T60" fmla="*/ 0 w 40"/>
                <a:gd name="T61" fmla="*/ 20 h 43"/>
                <a:gd name="T62" fmla="*/ 0 w 40"/>
                <a:gd name="T63" fmla="*/ 25 h 43"/>
                <a:gd name="T64" fmla="*/ 0 w 40"/>
                <a:gd name="T65" fmla="*/ 28 h 43"/>
                <a:gd name="T66" fmla="*/ 2 w 40"/>
                <a:gd name="T67" fmla="*/ 30 h 43"/>
                <a:gd name="T68" fmla="*/ 2 w 40"/>
                <a:gd name="T69" fmla="*/ 33 h 43"/>
                <a:gd name="T70" fmla="*/ 5 w 40"/>
                <a:gd name="T71" fmla="*/ 35 h 43"/>
                <a:gd name="T72" fmla="*/ 7 w 40"/>
                <a:gd name="T73" fmla="*/ 38 h 43"/>
                <a:gd name="T74" fmla="*/ 10 w 40"/>
                <a:gd name="T75" fmla="*/ 40 h 43"/>
                <a:gd name="T76" fmla="*/ 12 w 40"/>
                <a:gd name="T77" fmla="*/ 40 h 43"/>
                <a:gd name="T78" fmla="*/ 17 w 40"/>
                <a:gd name="T79" fmla="*/ 43 h 43"/>
                <a:gd name="T80" fmla="*/ 20 w 40"/>
                <a:gd name="T81" fmla="*/ 43 h 43"/>
                <a:gd name="T82" fmla="*/ 20 w 40"/>
                <a:gd name="T83" fmla="*/ 43 h 43"/>
                <a:gd name="T84" fmla="*/ 20 w 40"/>
                <a:gd name="T85" fmla="*/ 40 h 4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0"/>
                <a:gd name="T130" fmla="*/ 0 h 43"/>
                <a:gd name="T131" fmla="*/ 40 w 40"/>
                <a:gd name="T132" fmla="*/ 43 h 43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0" h="43">
                  <a:moveTo>
                    <a:pt x="20" y="40"/>
                  </a:moveTo>
                  <a:lnTo>
                    <a:pt x="22" y="43"/>
                  </a:lnTo>
                  <a:lnTo>
                    <a:pt x="27" y="40"/>
                  </a:lnTo>
                  <a:lnTo>
                    <a:pt x="30" y="40"/>
                  </a:lnTo>
                  <a:lnTo>
                    <a:pt x="32" y="38"/>
                  </a:lnTo>
                  <a:lnTo>
                    <a:pt x="35" y="35"/>
                  </a:lnTo>
                  <a:lnTo>
                    <a:pt x="37" y="33"/>
                  </a:lnTo>
                  <a:lnTo>
                    <a:pt x="37" y="30"/>
                  </a:lnTo>
                  <a:lnTo>
                    <a:pt x="40" y="28"/>
                  </a:lnTo>
                  <a:lnTo>
                    <a:pt x="40" y="25"/>
                  </a:lnTo>
                  <a:lnTo>
                    <a:pt x="40" y="20"/>
                  </a:lnTo>
                  <a:lnTo>
                    <a:pt x="40" y="18"/>
                  </a:lnTo>
                  <a:lnTo>
                    <a:pt x="40" y="15"/>
                  </a:lnTo>
                  <a:lnTo>
                    <a:pt x="37" y="13"/>
                  </a:lnTo>
                  <a:lnTo>
                    <a:pt x="37" y="10"/>
                  </a:lnTo>
                  <a:lnTo>
                    <a:pt x="35" y="8"/>
                  </a:lnTo>
                  <a:lnTo>
                    <a:pt x="32" y="5"/>
                  </a:lnTo>
                  <a:lnTo>
                    <a:pt x="30" y="3"/>
                  </a:lnTo>
                  <a:lnTo>
                    <a:pt x="27" y="3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2" y="3"/>
                  </a:lnTo>
                  <a:lnTo>
                    <a:pt x="10" y="3"/>
                  </a:lnTo>
                  <a:lnTo>
                    <a:pt x="7" y="5"/>
                  </a:lnTo>
                  <a:lnTo>
                    <a:pt x="5" y="8"/>
                  </a:lnTo>
                  <a:lnTo>
                    <a:pt x="2" y="10"/>
                  </a:lnTo>
                  <a:lnTo>
                    <a:pt x="2" y="13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5"/>
                  </a:lnTo>
                  <a:lnTo>
                    <a:pt x="0" y="28"/>
                  </a:lnTo>
                  <a:lnTo>
                    <a:pt x="2" y="30"/>
                  </a:lnTo>
                  <a:lnTo>
                    <a:pt x="2" y="33"/>
                  </a:lnTo>
                  <a:lnTo>
                    <a:pt x="5" y="35"/>
                  </a:lnTo>
                  <a:lnTo>
                    <a:pt x="7" y="38"/>
                  </a:lnTo>
                  <a:lnTo>
                    <a:pt x="10" y="40"/>
                  </a:lnTo>
                  <a:lnTo>
                    <a:pt x="12" y="40"/>
                  </a:lnTo>
                  <a:lnTo>
                    <a:pt x="17" y="43"/>
                  </a:lnTo>
                  <a:lnTo>
                    <a:pt x="20" y="43"/>
                  </a:lnTo>
                  <a:lnTo>
                    <a:pt x="20" y="4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587" name="Freeform 289"/>
            <p:cNvSpPr>
              <a:spLocks/>
            </p:cNvSpPr>
            <p:nvPr/>
          </p:nvSpPr>
          <p:spPr bwMode="auto">
            <a:xfrm>
              <a:off x="1547" y="2848"/>
              <a:ext cx="34" cy="31"/>
            </a:xfrm>
            <a:custGeom>
              <a:avLst/>
              <a:gdLst>
                <a:gd name="T0" fmla="*/ 0 w 43"/>
                <a:gd name="T1" fmla="*/ 0 h 42"/>
                <a:gd name="T2" fmla="*/ 3 w 43"/>
                <a:gd name="T3" fmla="*/ 42 h 42"/>
                <a:gd name="T4" fmla="*/ 43 w 43"/>
                <a:gd name="T5" fmla="*/ 20 h 42"/>
                <a:gd name="T6" fmla="*/ 3 w 43"/>
                <a:gd name="T7" fmla="*/ 0 h 42"/>
                <a:gd name="T8" fmla="*/ 3 w 43"/>
                <a:gd name="T9" fmla="*/ 0 h 42"/>
                <a:gd name="T10" fmla="*/ 0 w 43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"/>
                <a:gd name="T19" fmla="*/ 0 h 42"/>
                <a:gd name="T20" fmla="*/ 43 w 43"/>
                <a:gd name="T21" fmla="*/ 42 h 4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" h="42">
                  <a:moveTo>
                    <a:pt x="0" y="0"/>
                  </a:moveTo>
                  <a:lnTo>
                    <a:pt x="3" y="42"/>
                  </a:lnTo>
                  <a:lnTo>
                    <a:pt x="43" y="20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588" name="Line 290"/>
            <p:cNvSpPr>
              <a:spLocks noChangeShapeType="1"/>
            </p:cNvSpPr>
            <p:nvPr/>
          </p:nvSpPr>
          <p:spPr bwMode="auto">
            <a:xfrm>
              <a:off x="1222" y="2863"/>
              <a:ext cx="333" cy="1"/>
            </a:xfrm>
            <a:prstGeom prst="line">
              <a:avLst/>
            </a:prstGeom>
            <a:noFill/>
            <a:ln w="2698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831824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mph" presetSubtype="2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8" dur="1000" fill="hold" masterRel="sameClick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3333"/>
                                      </p:to>
                                    </p:animClr>
                                    <p:set>
                                      <p:cBhvr>
                                        <p:cTn id="39" dur="1000" fill="hold"/>
                                        <p:tgtEl>
                                          <p:spTgt spid="1946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9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mph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9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250" autoRev="1" fill="hold"/>
                                        <p:tgtEl>
                                          <p:spTgt spid="19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mph" presetSubtype="2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>
                                        <p:cTn id="54" dur="2000" fill="hold" masterRel="sameClick"/>
                                        <p:tgtEl>
                                          <p:spTgt spid="19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57" dur="2000" fill="hold" masterRel="sameClick"/>
                                        <p:tgtEl>
                                          <p:spTgt spid="1966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0" dur="2000" fill="hold" masterRel="sameClick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003333"/>
                                      </p:to>
                                    </p:animClr>
                                    <p:set>
                                      <p:cBhvr>
                                        <p:cTn id="61" dur="2000" fill="hold"/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9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96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9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9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96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9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>
                <a:ea typeface="新細明體" charset="-120"/>
                <a:cs typeface="新細明體" charset="-120"/>
              </a:rPr>
              <a:t>Datapath for Load/Store (I-Format) Instr.</a:t>
            </a:r>
          </a:p>
        </p:txBody>
      </p:sp>
      <p:sp>
        <p:nvSpPr>
          <p:cNvPr id="61447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080417"/>
            <a:ext cx="10972800" cy="476375"/>
          </a:xfrm>
        </p:spPr>
        <p:txBody>
          <a:bodyPr>
            <a:normAutofit fontScale="77500" lnSpcReduction="20000"/>
          </a:bodyPr>
          <a:lstStyle/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b="1" dirty="0">
                <a:ea typeface="新細明體" charset="-120"/>
              </a:rPr>
              <a:t>E.g.:</a:t>
            </a:r>
            <a:r>
              <a:rPr lang="en-GB" altLang="zh-TW" b="1" dirty="0">
                <a:solidFill>
                  <a:srgbClr val="0000CC"/>
                </a:solidFill>
                <a:ea typeface="新細明體" charset="-120"/>
              </a:rPr>
              <a:t>  </a:t>
            </a:r>
            <a:r>
              <a:rPr lang="en-GB" altLang="zh-TW" b="1" dirty="0" err="1">
                <a:solidFill>
                  <a:srgbClr val="0000FF"/>
                </a:solidFill>
                <a:latin typeface="Courier New" charset="0"/>
                <a:ea typeface="新細明體" charset="-120"/>
              </a:rPr>
              <a:t>lw</a:t>
            </a:r>
            <a:r>
              <a:rPr lang="en-GB" altLang="zh-TW" b="1" dirty="0">
                <a:solidFill>
                  <a:srgbClr val="0000FF"/>
                </a:solidFill>
                <a:latin typeface="Courier New" charset="0"/>
                <a:ea typeface="新細明體" charset="-120"/>
              </a:rPr>
              <a:t> $t0, 1000($s1)</a:t>
            </a:r>
          </a:p>
          <a:p>
            <a:pPr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zh-TW" altLang="en-GB" b="1" dirty="0">
              <a:solidFill>
                <a:srgbClr val="0000FF"/>
              </a:solidFill>
              <a:latin typeface="Courier New" charset="0"/>
              <a:ea typeface="新細明體" charset="-120"/>
            </a:endParaRPr>
          </a:p>
        </p:txBody>
      </p:sp>
      <p:sp>
        <p:nvSpPr>
          <p:cNvPr id="61445" name="Text Box 1"/>
          <p:cNvSpPr txBox="1">
            <a:spLocks noChangeArrowheads="1"/>
          </p:cNvSpPr>
          <p:nvPr/>
        </p:nvSpPr>
        <p:spPr bwMode="auto">
          <a:xfrm>
            <a:off x="2055814" y="2854326"/>
            <a:ext cx="1076325" cy="307975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350"/>
              </a:spcBef>
              <a:buClr>
                <a:srgbClr val="000000"/>
              </a:buClr>
            </a:pPr>
            <a:r>
              <a:rPr lang="en-GB" altLang="zh-TW" sz="1400">
                <a:solidFill>
                  <a:srgbClr val="FFFFFF"/>
                </a:solidFill>
                <a:latin typeface="Arial" charset="0"/>
                <a:ea typeface="新細明體" charset="-120"/>
              </a:rPr>
              <a:t>instr[20-16]</a:t>
            </a:r>
          </a:p>
        </p:txBody>
      </p:sp>
      <p:grpSp>
        <p:nvGrpSpPr>
          <p:cNvPr id="61448" name="Group 4"/>
          <p:cNvGrpSpPr>
            <a:grpSpLocks/>
          </p:cNvGrpSpPr>
          <p:nvPr/>
        </p:nvGrpSpPr>
        <p:grpSpPr bwMode="auto">
          <a:xfrm>
            <a:off x="3038499" y="1491183"/>
            <a:ext cx="5865813" cy="1001713"/>
            <a:chOff x="480" y="846"/>
            <a:chExt cx="3695" cy="631"/>
          </a:xfrm>
        </p:grpSpPr>
        <p:sp>
          <p:nvSpPr>
            <p:cNvPr id="61729" name="Rectangle 5"/>
            <p:cNvSpPr>
              <a:spLocks noChangeArrowheads="1"/>
            </p:cNvSpPr>
            <p:nvPr/>
          </p:nvSpPr>
          <p:spPr bwMode="auto">
            <a:xfrm>
              <a:off x="2944" y="1267"/>
              <a:ext cx="61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000000"/>
                  </a:solidFill>
                  <a:latin typeface="Tahoma" charset="0"/>
                  <a:ea typeface="新細明體" charset="-120"/>
                </a:rPr>
                <a:t>16 bits</a:t>
              </a:r>
            </a:p>
          </p:txBody>
        </p:sp>
        <p:sp>
          <p:nvSpPr>
            <p:cNvPr id="61730" name="Rectangle 6"/>
            <p:cNvSpPr>
              <a:spLocks noChangeArrowheads="1"/>
            </p:cNvSpPr>
            <p:nvPr/>
          </p:nvSpPr>
          <p:spPr bwMode="auto">
            <a:xfrm>
              <a:off x="1712" y="1267"/>
              <a:ext cx="61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000000"/>
                  </a:solidFill>
                  <a:latin typeface="Tahoma" charset="0"/>
                  <a:ea typeface="新細明體" charset="-120"/>
                </a:rPr>
                <a:t>5 bits</a:t>
              </a:r>
            </a:p>
          </p:txBody>
        </p:sp>
        <p:sp>
          <p:nvSpPr>
            <p:cNvPr id="61731" name="Rectangle 7"/>
            <p:cNvSpPr>
              <a:spLocks noChangeArrowheads="1"/>
            </p:cNvSpPr>
            <p:nvPr/>
          </p:nvSpPr>
          <p:spPr bwMode="auto">
            <a:xfrm>
              <a:off x="1104" y="1267"/>
              <a:ext cx="61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000000"/>
                  </a:solidFill>
                  <a:latin typeface="Tahoma" charset="0"/>
                  <a:ea typeface="新細明體" charset="-120"/>
                </a:rPr>
                <a:t>5 bits</a:t>
              </a:r>
            </a:p>
          </p:txBody>
        </p:sp>
        <p:sp>
          <p:nvSpPr>
            <p:cNvPr id="61732" name="Rectangle 8"/>
            <p:cNvSpPr>
              <a:spLocks noChangeArrowheads="1"/>
            </p:cNvSpPr>
            <p:nvPr/>
          </p:nvSpPr>
          <p:spPr bwMode="auto">
            <a:xfrm>
              <a:off x="488" y="1267"/>
              <a:ext cx="616" cy="2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000000"/>
                  </a:solidFill>
                  <a:latin typeface="Tahoma" charset="0"/>
                  <a:ea typeface="新細明體" charset="-120"/>
                </a:rPr>
                <a:t>6 bits</a:t>
              </a:r>
            </a:p>
          </p:txBody>
        </p:sp>
        <p:sp>
          <p:nvSpPr>
            <p:cNvPr id="61733" name="Line 9"/>
            <p:cNvSpPr>
              <a:spLocks noChangeShapeType="1"/>
            </p:cNvSpPr>
            <p:nvPr/>
          </p:nvSpPr>
          <p:spPr bwMode="auto">
            <a:xfrm>
              <a:off x="488" y="1478"/>
              <a:ext cx="616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0" name="Rectangle 10"/>
            <p:cNvSpPr>
              <a:spLocks noChangeArrowheads="1"/>
            </p:cNvSpPr>
            <p:nvPr/>
          </p:nvSpPr>
          <p:spPr bwMode="auto">
            <a:xfrm>
              <a:off x="2304" y="846"/>
              <a:ext cx="1872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33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charset="0"/>
                  <a:ea typeface="新細明體" charset="-120"/>
                </a:rPr>
                <a:t>1000 (immediate)</a:t>
              </a:r>
            </a:p>
          </p:txBody>
        </p:sp>
        <p:sp>
          <p:nvSpPr>
            <p:cNvPr id="20491" name="Rectangle 11"/>
            <p:cNvSpPr>
              <a:spLocks noChangeArrowheads="1"/>
            </p:cNvSpPr>
            <p:nvPr/>
          </p:nvSpPr>
          <p:spPr bwMode="auto">
            <a:xfrm>
              <a:off x="1712" y="84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33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charset="0"/>
                  <a:ea typeface="新細明體" charset="-120"/>
                </a:rPr>
                <a:t>8 (t0)</a:t>
              </a:r>
            </a:p>
          </p:txBody>
        </p:sp>
        <p:sp>
          <p:nvSpPr>
            <p:cNvPr id="20492" name="Rectangle 12"/>
            <p:cNvSpPr>
              <a:spLocks noChangeArrowheads="1"/>
            </p:cNvSpPr>
            <p:nvPr/>
          </p:nvSpPr>
          <p:spPr bwMode="auto">
            <a:xfrm>
              <a:off x="1096" y="84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3333CC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charset="0"/>
                  <a:ea typeface="新細明體" charset="-120"/>
                </a:rPr>
                <a:t>17 (s1)</a:t>
              </a:r>
            </a:p>
          </p:txBody>
        </p:sp>
        <p:sp>
          <p:nvSpPr>
            <p:cNvPr id="61737" name="Rectangle 13"/>
            <p:cNvSpPr>
              <a:spLocks noChangeArrowheads="1"/>
            </p:cNvSpPr>
            <p:nvPr/>
          </p:nvSpPr>
          <p:spPr bwMode="auto">
            <a:xfrm>
              <a:off x="480" y="84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35</a:t>
              </a:r>
            </a:p>
          </p:txBody>
        </p:sp>
        <p:sp>
          <p:nvSpPr>
            <p:cNvPr id="61738" name="Line 14"/>
            <p:cNvSpPr>
              <a:spLocks noChangeShapeType="1"/>
            </p:cNvSpPr>
            <p:nvPr/>
          </p:nvSpPr>
          <p:spPr bwMode="auto">
            <a:xfrm>
              <a:off x="480" y="846"/>
              <a:ext cx="3696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39" name="Line 15"/>
            <p:cNvSpPr>
              <a:spLocks noChangeShapeType="1"/>
            </p:cNvSpPr>
            <p:nvPr/>
          </p:nvSpPr>
          <p:spPr bwMode="auto">
            <a:xfrm>
              <a:off x="480" y="1057"/>
              <a:ext cx="3696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40" name="Line 16"/>
            <p:cNvSpPr>
              <a:spLocks noChangeShapeType="1"/>
            </p:cNvSpPr>
            <p:nvPr/>
          </p:nvSpPr>
          <p:spPr bwMode="auto">
            <a:xfrm>
              <a:off x="480" y="846"/>
              <a:ext cx="1" cy="21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41" name="Line 17"/>
            <p:cNvSpPr>
              <a:spLocks noChangeShapeType="1"/>
            </p:cNvSpPr>
            <p:nvPr/>
          </p:nvSpPr>
          <p:spPr bwMode="auto">
            <a:xfrm>
              <a:off x="1096" y="84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42" name="Line 18"/>
            <p:cNvSpPr>
              <a:spLocks noChangeShapeType="1"/>
            </p:cNvSpPr>
            <p:nvPr/>
          </p:nvSpPr>
          <p:spPr bwMode="auto">
            <a:xfrm>
              <a:off x="1712" y="84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43" name="Line 19"/>
            <p:cNvSpPr>
              <a:spLocks noChangeShapeType="1"/>
            </p:cNvSpPr>
            <p:nvPr/>
          </p:nvSpPr>
          <p:spPr bwMode="auto">
            <a:xfrm>
              <a:off x="2328" y="84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44" name="Line 20"/>
            <p:cNvSpPr>
              <a:spLocks noChangeShapeType="1"/>
            </p:cNvSpPr>
            <p:nvPr/>
          </p:nvSpPr>
          <p:spPr bwMode="auto">
            <a:xfrm>
              <a:off x="4176" y="846"/>
              <a:ext cx="1" cy="21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45" name="Rectangle 21"/>
            <p:cNvSpPr>
              <a:spLocks noChangeArrowheads="1"/>
            </p:cNvSpPr>
            <p:nvPr/>
          </p:nvSpPr>
          <p:spPr bwMode="auto">
            <a:xfrm>
              <a:off x="2304" y="1056"/>
              <a:ext cx="1872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ts val="4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8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0000 0011 1110 1000</a:t>
              </a:r>
            </a:p>
          </p:txBody>
        </p:sp>
        <p:sp>
          <p:nvSpPr>
            <p:cNvPr id="61746" name="Rectangle 22"/>
            <p:cNvSpPr>
              <a:spLocks noChangeArrowheads="1"/>
            </p:cNvSpPr>
            <p:nvPr/>
          </p:nvSpPr>
          <p:spPr bwMode="auto">
            <a:xfrm>
              <a:off x="1712" y="105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01000</a:t>
              </a:r>
            </a:p>
          </p:txBody>
        </p:sp>
        <p:sp>
          <p:nvSpPr>
            <p:cNvPr id="61747" name="Rectangle 23"/>
            <p:cNvSpPr>
              <a:spLocks noChangeArrowheads="1"/>
            </p:cNvSpPr>
            <p:nvPr/>
          </p:nvSpPr>
          <p:spPr bwMode="auto">
            <a:xfrm>
              <a:off x="1096" y="105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10001</a:t>
              </a:r>
            </a:p>
          </p:txBody>
        </p:sp>
        <p:sp>
          <p:nvSpPr>
            <p:cNvPr id="61748" name="Rectangle 24"/>
            <p:cNvSpPr>
              <a:spLocks noChangeArrowheads="1"/>
            </p:cNvSpPr>
            <p:nvPr/>
          </p:nvSpPr>
          <p:spPr bwMode="auto">
            <a:xfrm>
              <a:off x="480" y="1056"/>
              <a:ext cx="616" cy="211"/>
            </a:xfrm>
            <a:prstGeom prst="rect">
              <a:avLst/>
            </a:prstGeom>
            <a:solidFill>
              <a:srgbClr val="FBFAE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100011</a:t>
              </a:r>
            </a:p>
          </p:txBody>
        </p:sp>
        <p:sp>
          <p:nvSpPr>
            <p:cNvPr id="61749" name="Line 25"/>
            <p:cNvSpPr>
              <a:spLocks noChangeShapeType="1"/>
            </p:cNvSpPr>
            <p:nvPr/>
          </p:nvSpPr>
          <p:spPr bwMode="auto">
            <a:xfrm>
              <a:off x="480" y="1056"/>
              <a:ext cx="3696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50" name="Line 26"/>
            <p:cNvSpPr>
              <a:spLocks noChangeShapeType="1"/>
            </p:cNvSpPr>
            <p:nvPr/>
          </p:nvSpPr>
          <p:spPr bwMode="auto">
            <a:xfrm>
              <a:off x="480" y="1267"/>
              <a:ext cx="369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51" name="Line 27"/>
            <p:cNvSpPr>
              <a:spLocks noChangeShapeType="1"/>
            </p:cNvSpPr>
            <p:nvPr/>
          </p:nvSpPr>
          <p:spPr bwMode="auto">
            <a:xfrm>
              <a:off x="480" y="1056"/>
              <a:ext cx="1" cy="21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52" name="Line 28"/>
            <p:cNvSpPr>
              <a:spLocks noChangeShapeType="1"/>
            </p:cNvSpPr>
            <p:nvPr/>
          </p:nvSpPr>
          <p:spPr bwMode="auto">
            <a:xfrm>
              <a:off x="1096" y="105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53" name="Line 29"/>
            <p:cNvSpPr>
              <a:spLocks noChangeShapeType="1"/>
            </p:cNvSpPr>
            <p:nvPr/>
          </p:nvSpPr>
          <p:spPr bwMode="auto">
            <a:xfrm>
              <a:off x="1712" y="105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54" name="Line 30"/>
            <p:cNvSpPr>
              <a:spLocks noChangeShapeType="1"/>
            </p:cNvSpPr>
            <p:nvPr/>
          </p:nvSpPr>
          <p:spPr bwMode="auto">
            <a:xfrm>
              <a:off x="2328" y="1056"/>
              <a:ext cx="1" cy="21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55" name="Line 31"/>
            <p:cNvSpPr>
              <a:spLocks noChangeShapeType="1"/>
            </p:cNvSpPr>
            <p:nvPr/>
          </p:nvSpPr>
          <p:spPr bwMode="auto">
            <a:xfrm>
              <a:off x="4176" y="1056"/>
              <a:ext cx="1" cy="21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56" name="Line 32"/>
            <p:cNvSpPr>
              <a:spLocks noChangeShapeType="1"/>
            </p:cNvSpPr>
            <p:nvPr/>
          </p:nvSpPr>
          <p:spPr bwMode="auto">
            <a:xfrm>
              <a:off x="1104" y="1478"/>
              <a:ext cx="616" cy="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57" name="Line 33"/>
            <p:cNvSpPr>
              <a:spLocks noChangeShapeType="1"/>
            </p:cNvSpPr>
            <p:nvPr/>
          </p:nvSpPr>
          <p:spPr bwMode="auto">
            <a:xfrm>
              <a:off x="488" y="1267"/>
              <a:ext cx="1" cy="211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449" name="Group 34"/>
          <p:cNvGrpSpPr>
            <a:grpSpLocks/>
          </p:cNvGrpSpPr>
          <p:nvPr/>
        </p:nvGrpSpPr>
        <p:grpSpPr bwMode="auto">
          <a:xfrm>
            <a:off x="9631163" y="1257498"/>
            <a:ext cx="1649413" cy="908050"/>
            <a:chOff x="4272" y="480"/>
            <a:chExt cx="1039" cy="572"/>
          </a:xfrm>
        </p:grpSpPr>
        <p:sp>
          <p:nvSpPr>
            <p:cNvPr id="61716" name="Rectangle 35"/>
            <p:cNvSpPr>
              <a:spLocks noChangeArrowheads="1"/>
            </p:cNvSpPr>
            <p:nvPr/>
          </p:nvSpPr>
          <p:spPr bwMode="auto">
            <a:xfrm>
              <a:off x="4806" y="862"/>
              <a:ext cx="50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3333CC"/>
                  </a:solidFill>
                  <a:latin typeface="Tahoma" charset="0"/>
                  <a:ea typeface="新細明體" charset="-120"/>
                </a:rPr>
                <a:t>100</a:t>
              </a:r>
            </a:p>
          </p:txBody>
        </p:sp>
        <p:sp>
          <p:nvSpPr>
            <p:cNvPr id="61717" name="Rectangle 36"/>
            <p:cNvSpPr>
              <a:spLocks noChangeArrowheads="1"/>
            </p:cNvSpPr>
            <p:nvPr/>
          </p:nvSpPr>
          <p:spPr bwMode="auto">
            <a:xfrm>
              <a:off x="4272" y="862"/>
              <a:ext cx="53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s1</a:t>
              </a:r>
            </a:p>
          </p:txBody>
        </p:sp>
        <p:sp>
          <p:nvSpPr>
            <p:cNvPr id="61718" name="Rectangle 37"/>
            <p:cNvSpPr>
              <a:spLocks noChangeArrowheads="1"/>
            </p:cNvSpPr>
            <p:nvPr/>
          </p:nvSpPr>
          <p:spPr bwMode="auto">
            <a:xfrm>
              <a:off x="4806" y="671"/>
              <a:ext cx="50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006600"/>
                  </a:solidFill>
                  <a:latin typeface="Tahoma" charset="0"/>
                  <a:ea typeface="新細明體" charset="-120"/>
                </a:rPr>
                <a:t>200</a:t>
              </a:r>
            </a:p>
          </p:txBody>
        </p:sp>
        <p:sp>
          <p:nvSpPr>
            <p:cNvPr id="61719" name="Rectangle 38"/>
            <p:cNvSpPr>
              <a:spLocks noChangeArrowheads="1"/>
            </p:cNvSpPr>
            <p:nvPr/>
          </p:nvSpPr>
          <p:spPr bwMode="auto">
            <a:xfrm>
              <a:off x="4272" y="671"/>
              <a:ext cx="53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t0</a:t>
              </a:r>
            </a:p>
          </p:txBody>
        </p:sp>
        <p:sp>
          <p:nvSpPr>
            <p:cNvPr id="61720" name="Rectangle 39"/>
            <p:cNvSpPr>
              <a:spLocks noChangeArrowheads="1"/>
            </p:cNvSpPr>
            <p:nvPr/>
          </p:nvSpPr>
          <p:spPr bwMode="auto">
            <a:xfrm>
              <a:off x="4806" y="480"/>
              <a:ext cx="50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Value</a:t>
              </a:r>
            </a:p>
          </p:txBody>
        </p:sp>
        <p:sp>
          <p:nvSpPr>
            <p:cNvPr id="61721" name="Rectangle 40"/>
            <p:cNvSpPr>
              <a:spLocks noChangeArrowheads="1"/>
            </p:cNvSpPr>
            <p:nvPr/>
          </p:nvSpPr>
          <p:spPr bwMode="auto">
            <a:xfrm>
              <a:off x="4272" y="480"/>
              <a:ext cx="53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Register</a:t>
              </a:r>
            </a:p>
          </p:txBody>
        </p:sp>
        <p:sp>
          <p:nvSpPr>
            <p:cNvPr id="61722" name="Line 41"/>
            <p:cNvSpPr>
              <a:spLocks noChangeShapeType="1"/>
            </p:cNvSpPr>
            <p:nvPr/>
          </p:nvSpPr>
          <p:spPr bwMode="auto">
            <a:xfrm>
              <a:off x="4272" y="480"/>
              <a:ext cx="1040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23" name="Line 42"/>
            <p:cNvSpPr>
              <a:spLocks noChangeShapeType="1"/>
            </p:cNvSpPr>
            <p:nvPr/>
          </p:nvSpPr>
          <p:spPr bwMode="auto">
            <a:xfrm>
              <a:off x="4272" y="671"/>
              <a:ext cx="104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24" name="Line 43"/>
            <p:cNvSpPr>
              <a:spLocks noChangeShapeType="1"/>
            </p:cNvSpPr>
            <p:nvPr/>
          </p:nvSpPr>
          <p:spPr bwMode="auto">
            <a:xfrm>
              <a:off x="4272" y="862"/>
              <a:ext cx="104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25" name="Line 44"/>
            <p:cNvSpPr>
              <a:spLocks noChangeShapeType="1"/>
            </p:cNvSpPr>
            <p:nvPr/>
          </p:nvSpPr>
          <p:spPr bwMode="auto">
            <a:xfrm>
              <a:off x="4272" y="1053"/>
              <a:ext cx="1040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26" name="Line 45"/>
            <p:cNvSpPr>
              <a:spLocks noChangeShapeType="1"/>
            </p:cNvSpPr>
            <p:nvPr/>
          </p:nvSpPr>
          <p:spPr bwMode="auto">
            <a:xfrm>
              <a:off x="4272" y="480"/>
              <a:ext cx="1" cy="573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27" name="Line 46"/>
            <p:cNvSpPr>
              <a:spLocks noChangeShapeType="1"/>
            </p:cNvSpPr>
            <p:nvPr/>
          </p:nvSpPr>
          <p:spPr bwMode="auto">
            <a:xfrm>
              <a:off x="4806" y="480"/>
              <a:ext cx="1" cy="573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28" name="Line 47"/>
            <p:cNvSpPr>
              <a:spLocks noChangeShapeType="1"/>
            </p:cNvSpPr>
            <p:nvPr/>
          </p:nvSpPr>
          <p:spPr bwMode="auto">
            <a:xfrm>
              <a:off x="5312" y="480"/>
              <a:ext cx="1" cy="573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450" name="Group 48"/>
          <p:cNvGrpSpPr>
            <a:grpSpLocks/>
          </p:cNvGrpSpPr>
          <p:nvPr/>
        </p:nvGrpSpPr>
        <p:grpSpPr bwMode="auto">
          <a:xfrm>
            <a:off x="9631163" y="2248098"/>
            <a:ext cx="1649413" cy="604838"/>
            <a:chOff x="4272" y="1104"/>
            <a:chExt cx="1039" cy="381"/>
          </a:xfrm>
        </p:grpSpPr>
        <p:sp>
          <p:nvSpPr>
            <p:cNvPr id="61709" name="Rectangle 49"/>
            <p:cNvSpPr>
              <a:spLocks noChangeArrowheads="1"/>
            </p:cNvSpPr>
            <p:nvPr/>
          </p:nvSpPr>
          <p:spPr bwMode="auto">
            <a:xfrm>
              <a:off x="4272" y="1295"/>
              <a:ext cx="104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CD3333"/>
                  </a:solidFill>
                  <a:latin typeface="Tahoma" charset="0"/>
                  <a:ea typeface="新細明體" charset="-120"/>
                </a:rPr>
                <a:t>50</a:t>
              </a:r>
            </a:p>
          </p:txBody>
        </p:sp>
        <p:sp>
          <p:nvSpPr>
            <p:cNvPr id="61710" name="Rectangle 50"/>
            <p:cNvSpPr>
              <a:spLocks noChangeArrowheads="1"/>
            </p:cNvSpPr>
            <p:nvPr/>
          </p:nvSpPr>
          <p:spPr bwMode="auto">
            <a:xfrm>
              <a:off x="4272" y="1104"/>
              <a:ext cx="1040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Memory[1100]</a:t>
              </a:r>
            </a:p>
          </p:txBody>
        </p:sp>
        <p:sp>
          <p:nvSpPr>
            <p:cNvPr id="61711" name="Line 51"/>
            <p:cNvSpPr>
              <a:spLocks noChangeShapeType="1"/>
            </p:cNvSpPr>
            <p:nvPr/>
          </p:nvSpPr>
          <p:spPr bwMode="auto">
            <a:xfrm>
              <a:off x="4272" y="1104"/>
              <a:ext cx="1040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12" name="Line 52"/>
            <p:cNvSpPr>
              <a:spLocks noChangeShapeType="1"/>
            </p:cNvSpPr>
            <p:nvPr/>
          </p:nvSpPr>
          <p:spPr bwMode="auto">
            <a:xfrm>
              <a:off x="4272" y="1295"/>
              <a:ext cx="104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13" name="Line 53"/>
            <p:cNvSpPr>
              <a:spLocks noChangeShapeType="1"/>
            </p:cNvSpPr>
            <p:nvPr/>
          </p:nvSpPr>
          <p:spPr bwMode="auto">
            <a:xfrm>
              <a:off x="4272" y="1486"/>
              <a:ext cx="1040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14" name="Line 54"/>
            <p:cNvSpPr>
              <a:spLocks noChangeShapeType="1"/>
            </p:cNvSpPr>
            <p:nvPr/>
          </p:nvSpPr>
          <p:spPr bwMode="auto">
            <a:xfrm>
              <a:off x="4272" y="1104"/>
              <a:ext cx="1" cy="382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715" name="Line 55"/>
            <p:cNvSpPr>
              <a:spLocks noChangeShapeType="1"/>
            </p:cNvSpPr>
            <p:nvPr/>
          </p:nvSpPr>
          <p:spPr bwMode="auto">
            <a:xfrm>
              <a:off x="5312" y="1104"/>
              <a:ext cx="1" cy="382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451" name="Line 56"/>
          <p:cNvSpPr>
            <a:spLocks noChangeShapeType="1"/>
          </p:cNvSpPr>
          <p:nvPr/>
        </p:nvSpPr>
        <p:spPr bwMode="auto">
          <a:xfrm flipV="1">
            <a:off x="6546850" y="2547939"/>
            <a:ext cx="1588" cy="339725"/>
          </a:xfrm>
          <a:prstGeom prst="line">
            <a:avLst/>
          </a:prstGeom>
          <a:noFill/>
          <a:ln w="36360">
            <a:solidFill>
              <a:srgbClr val="EB75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2" name="Freeform 57"/>
          <p:cNvSpPr>
            <a:spLocks noChangeArrowheads="1"/>
          </p:cNvSpPr>
          <p:nvPr/>
        </p:nvSpPr>
        <p:spPr bwMode="auto">
          <a:xfrm>
            <a:off x="5400676" y="3917951"/>
            <a:ext cx="2428875" cy="593725"/>
          </a:xfrm>
          <a:custGeom>
            <a:avLst/>
            <a:gdLst>
              <a:gd name="T0" fmla="*/ 1530 w 1530"/>
              <a:gd name="T1" fmla="*/ 374 h 374"/>
              <a:gd name="T2" fmla="*/ 147 w 1530"/>
              <a:gd name="T3" fmla="*/ 374 h 374"/>
              <a:gd name="T4" fmla="*/ 147 w 1530"/>
              <a:gd name="T5" fmla="*/ 0 h 374"/>
              <a:gd name="T6" fmla="*/ 0 w 1530"/>
              <a:gd name="T7" fmla="*/ 0 h 374"/>
              <a:gd name="T8" fmla="*/ 0 60000 65536"/>
              <a:gd name="T9" fmla="*/ 0 60000 65536"/>
              <a:gd name="T10" fmla="*/ 0 60000 65536"/>
              <a:gd name="T11" fmla="*/ 0 60000 65536"/>
              <a:gd name="T12" fmla="*/ 0 w 1530"/>
              <a:gd name="T13" fmla="*/ 0 h 374"/>
              <a:gd name="T14" fmla="*/ 1530 w 1530"/>
              <a:gd name="T15" fmla="*/ 374 h 37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30" h="374">
                <a:moveTo>
                  <a:pt x="1530" y="374"/>
                </a:moveTo>
                <a:lnTo>
                  <a:pt x="147" y="374"/>
                </a:lnTo>
                <a:lnTo>
                  <a:pt x="147" y="0"/>
                </a:lnTo>
                <a:lnTo>
                  <a:pt x="0" y="0"/>
                </a:lnTo>
              </a:path>
            </a:pathLst>
          </a:custGeom>
          <a:noFill/>
          <a:ln w="316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3" name="Freeform 58"/>
          <p:cNvSpPr>
            <a:spLocks noChangeArrowheads="1"/>
          </p:cNvSpPr>
          <p:nvPr/>
        </p:nvSpPr>
        <p:spPr bwMode="auto">
          <a:xfrm>
            <a:off x="3176589" y="2773364"/>
            <a:ext cx="1584325" cy="2300287"/>
          </a:xfrm>
          <a:custGeom>
            <a:avLst/>
            <a:gdLst>
              <a:gd name="T0" fmla="*/ 279 w 998"/>
              <a:gd name="T1" fmla="*/ 0 h 1449"/>
              <a:gd name="T2" fmla="*/ 0 w 998"/>
              <a:gd name="T3" fmla="*/ 2 h 1449"/>
              <a:gd name="T4" fmla="*/ 0 w 998"/>
              <a:gd name="T5" fmla="*/ 1449 h 1449"/>
              <a:gd name="T6" fmla="*/ 998 w 998"/>
              <a:gd name="T7" fmla="*/ 1449 h 1449"/>
              <a:gd name="T8" fmla="*/ 0 60000 65536"/>
              <a:gd name="T9" fmla="*/ 0 60000 65536"/>
              <a:gd name="T10" fmla="*/ 0 60000 65536"/>
              <a:gd name="T11" fmla="*/ 0 60000 65536"/>
              <a:gd name="T12" fmla="*/ 0 w 998"/>
              <a:gd name="T13" fmla="*/ 0 h 1449"/>
              <a:gd name="T14" fmla="*/ 998 w 998"/>
              <a:gd name="T15" fmla="*/ 1449 h 144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98" h="1449">
                <a:moveTo>
                  <a:pt x="279" y="0"/>
                </a:moveTo>
                <a:lnTo>
                  <a:pt x="0" y="2"/>
                </a:lnTo>
                <a:lnTo>
                  <a:pt x="0" y="1449"/>
                </a:lnTo>
                <a:lnTo>
                  <a:pt x="998" y="1449"/>
                </a:lnTo>
              </a:path>
            </a:pathLst>
          </a:custGeom>
          <a:noFill/>
          <a:ln w="316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4" name="Line 59"/>
          <p:cNvSpPr>
            <a:spLocks noChangeShapeType="1"/>
          </p:cNvSpPr>
          <p:nvPr/>
        </p:nvSpPr>
        <p:spPr bwMode="auto">
          <a:xfrm flipH="1">
            <a:off x="5403851" y="3000376"/>
            <a:ext cx="677863" cy="4763"/>
          </a:xfrm>
          <a:prstGeom prst="line">
            <a:avLst/>
          </a:prstGeom>
          <a:noFill/>
          <a:ln w="316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5" name="Freeform 60"/>
          <p:cNvSpPr>
            <a:spLocks noChangeArrowheads="1"/>
          </p:cNvSpPr>
          <p:nvPr/>
        </p:nvSpPr>
        <p:spPr bwMode="auto">
          <a:xfrm>
            <a:off x="3602039" y="3649663"/>
            <a:ext cx="77787" cy="76200"/>
          </a:xfrm>
          <a:custGeom>
            <a:avLst/>
            <a:gdLst>
              <a:gd name="T0" fmla="*/ 0 w 49"/>
              <a:gd name="T1" fmla="*/ 0 h 48"/>
              <a:gd name="T2" fmla="*/ 3 w 49"/>
              <a:gd name="T3" fmla="*/ 48 h 48"/>
              <a:gd name="T4" fmla="*/ 49 w 49"/>
              <a:gd name="T5" fmla="*/ 25 h 48"/>
              <a:gd name="T6" fmla="*/ 3 w 49"/>
              <a:gd name="T7" fmla="*/ 0 h 48"/>
              <a:gd name="T8" fmla="*/ 3 w 49"/>
              <a:gd name="T9" fmla="*/ 0 h 48"/>
              <a:gd name="T10" fmla="*/ 0 w 49"/>
              <a:gd name="T11" fmla="*/ 0 h 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8"/>
              <a:gd name="T20" fmla="*/ 49 w 49"/>
              <a:gd name="T21" fmla="*/ 48 h 4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8">
                <a:moveTo>
                  <a:pt x="0" y="0"/>
                </a:moveTo>
                <a:lnTo>
                  <a:pt x="3" y="48"/>
                </a:lnTo>
                <a:lnTo>
                  <a:pt x="49" y="25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56" name="Line 61"/>
          <p:cNvSpPr>
            <a:spLocks noChangeShapeType="1"/>
          </p:cNvSpPr>
          <p:nvPr/>
        </p:nvSpPr>
        <p:spPr bwMode="auto">
          <a:xfrm flipH="1" flipV="1">
            <a:off x="4518026" y="4970464"/>
            <a:ext cx="112713" cy="200025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57" name="Rectangle 62"/>
          <p:cNvSpPr>
            <a:spLocks noChangeArrowheads="1"/>
          </p:cNvSpPr>
          <p:nvPr/>
        </p:nvSpPr>
        <p:spPr bwMode="auto">
          <a:xfrm>
            <a:off x="2360613" y="3243263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1458" name="Rectangle 63"/>
          <p:cNvSpPr>
            <a:spLocks noChangeArrowheads="1"/>
          </p:cNvSpPr>
          <p:nvPr/>
        </p:nvSpPr>
        <p:spPr bwMode="auto">
          <a:xfrm>
            <a:off x="2400300" y="32432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61459" name="Rectangle 64"/>
          <p:cNvSpPr>
            <a:spLocks noChangeArrowheads="1"/>
          </p:cNvSpPr>
          <p:nvPr/>
        </p:nvSpPr>
        <p:spPr bwMode="auto">
          <a:xfrm>
            <a:off x="2487613" y="3243263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1460" name="Rectangle 65"/>
          <p:cNvSpPr>
            <a:spLocks noChangeArrowheads="1"/>
          </p:cNvSpPr>
          <p:nvPr/>
        </p:nvSpPr>
        <p:spPr bwMode="auto">
          <a:xfrm>
            <a:off x="2565400" y="3243263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461" name="Rectangle 66"/>
          <p:cNvSpPr>
            <a:spLocks noChangeArrowheads="1"/>
          </p:cNvSpPr>
          <p:nvPr/>
        </p:nvSpPr>
        <p:spPr bwMode="auto">
          <a:xfrm>
            <a:off x="2606675" y="3243263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462" name="Rectangle 67"/>
          <p:cNvSpPr>
            <a:spLocks noChangeArrowheads="1"/>
          </p:cNvSpPr>
          <p:nvPr/>
        </p:nvSpPr>
        <p:spPr bwMode="auto">
          <a:xfrm>
            <a:off x="2655888" y="32432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1463" name="Rectangle 68"/>
          <p:cNvSpPr>
            <a:spLocks noChangeArrowheads="1"/>
          </p:cNvSpPr>
          <p:nvPr/>
        </p:nvSpPr>
        <p:spPr bwMode="auto">
          <a:xfrm>
            <a:off x="2738438" y="3243263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61464" name="Rectangle 69"/>
          <p:cNvSpPr>
            <a:spLocks noChangeArrowheads="1"/>
          </p:cNvSpPr>
          <p:nvPr/>
        </p:nvSpPr>
        <p:spPr bwMode="auto">
          <a:xfrm>
            <a:off x="2816225" y="3243263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465" name="Rectangle 70"/>
          <p:cNvSpPr>
            <a:spLocks noChangeArrowheads="1"/>
          </p:cNvSpPr>
          <p:nvPr/>
        </p:nvSpPr>
        <p:spPr bwMode="auto">
          <a:xfrm>
            <a:off x="2857500" y="3243263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1466" name="Rectangle 71"/>
          <p:cNvSpPr>
            <a:spLocks noChangeArrowheads="1"/>
          </p:cNvSpPr>
          <p:nvPr/>
        </p:nvSpPr>
        <p:spPr bwMode="auto">
          <a:xfrm>
            <a:off x="2892425" y="32432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61467" name="Rectangle 72"/>
          <p:cNvSpPr>
            <a:spLocks noChangeArrowheads="1"/>
          </p:cNvSpPr>
          <p:nvPr/>
        </p:nvSpPr>
        <p:spPr bwMode="auto">
          <a:xfrm>
            <a:off x="2976563" y="32432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61468" name="Freeform 73"/>
          <p:cNvSpPr>
            <a:spLocks noChangeArrowheads="1"/>
          </p:cNvSpPr>
          <p:nvPr/>
        </p:nvSpPr>
        <p:spPr bwMode="auto">
          <a:xfrm>
            <a:off x="7893051" y="3051175"/>
            <a:ext cx="1711325" cy="1784350"/>
          </a:xfrm>
          <a:custGeom>
            <a:avLst/>
            <a:gdLst>
              <a:gd name="T0" fmla="*/ 1078 w 1078"/>
              <a:gd name="T1" fmla="*/ 1124 h 1124"/>
              <a:gd name="T2" fmla="*/ 1078 w 1078"/>
              <a:gd name="T3" fmla="*/ 0 h 1124"/>
              <a:gd name="T4" fmla="*/ 0 w 1078"/>
              <a:gd name="T5" fmla="*/ 0 h 1124"/>
              <a:gd name="T6" fmla="*/ 0 w 1078"/>
              <a:gd name="T7" fmla="*/ 1124 h 1124"/>
              <a:gd name="T8" fmla="*/ 1078 w 1078"/>
              <a:gd name="T9" fmla="*/ 1124 h 1124"/>
              <a:gd name="T10" fmla="*/ 1078 w 1078"/>
              <a:gd name="T11" fmla="*/ 1124 h 11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8"/>
              <a:gd name="T19" fmla="*/ 0 h 1124"/>
              <a:gd name="T20" fmla="*/ 1078 w 1078"/>
              <a:gd name="T21" fmla="*/ 1124 h 11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8" h="1124">
                <a:moveTo>
                  <a:pt x="1078" y="1124"/>
                </a:moveTo>
                <a:lnTo>
                  <a:pt x="1078" y="0"/>
                </a:lnTo>
                <a:lnTo>
                  <a:pt x="0" y="0"/>
                </a:lnTo>
                <a:lnTo>
                  <a:pt x="0" y="1124"/>
                </a:lnTo>
                <a:lnTo>
                  <a:pt x="1078" y="11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69" name="Freeform 74"/>
          <p:cNvSpPr>
            <a:spLocks noChangeArrowheads="1"/>
          </p:cNvSpPr>
          <p:nvPr/>
        </p:nvSpPr>
        <p:spPr bwMode="auto">
          <a:xfrm>
            <a:off x="7893051" y="3051175"/>
            <a:ext cx="1711325" cy="1784350"/>
          </a:xfrm>
          <a:custGeom>
            <a:avLst/>
            <a:gdLst>
              <a:gd name="T0" fmla="*/ 1078 w 1078"/>
              <a:gd name="T1" fmla="*/ 1124 h 1124"/>
              <a:gd name="T2" fmla="*/ 1078 w 1078"/>
              <a:gd name="T3" fmla="*/ 0 h 1124"/>
              <a:gd name="T4" fmla="*/ 0 w 1078"/>
              <a:gd name="T5" fmla="*/ 0 h 1124"/>
              <a:gd name="T6" fmla="*/ 0 w 1078"/>
              <a:gd name="T7" fmla="*/ 1124 h 1124"/>
              <a:gd name="T8" fmla="*/ 1078 w 1078"/>
              <a:gd name="T9" fmla="*/ 1124 h 1124"/>
              <a:gd name="T10" fmla="*/ 1078 w 1078"/>
              <a:gd name="T11" fmla="*/ 1124 h 112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8"/>
              <a:gd name="T19" fmla="*/ 0 h 1124"/>
              <a:gd name="T20" fmla="*/ 1078 w 1078"/>
              <a:gd name="T21" fmla="*/ 1124 h 112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8" h="1124">
                <a:moveTo>
                  <a:pt x="1078" y="1124"/>
                </a:moveTo>
                <a:lnTo>
                  <a:pt x="1078" y="0"/>
                </a:lnTo>
                <a:lnTo>
                  <a:pt x="0" y="0"/>
                </a:lnTo>
                <a:lnTo>
                  <a:pt x="0" y="1124"/>
                </a:lnTo>
                <a:lnTo>
                  <a:pt x="1078" y="1124"/>
                </a:lnTo>
              </a:path>
            </a:pathLst>
          </a:custGeom>
          <a:noFill/>
          <a:ln w="19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0" name="Freeform 75"/>
          <p:cNvSpPr>
            <a:spLocks noChangeArrowheads="1"/>
          </p:cNvSpPr>
          <p:nvPr/>
        </p:nvSpPr>
        <p:spPr bwMode="auto">
          <a:xfrm>
            <a:off x="3602039" y="2736850"/>
            <a:ext cx="77787" cy="76200"/>
          </a:xfrm>
          <a:custGeom>
            <a:avLst/>
            <a:gdLst>
              <a:gd name="T0" fmla="*/ 0 w 49"/>
              <a:gd name="T1" fmla="*/ 0 h 48"/>
              <a:gd name="T2" fmla="*/ 3 w 49"/>
              <a:gd name="T3" fmla="*/ 48 h 48"/>
              <a:gd name="T4" fmla="*/ 49 w 49"/>
              <a:gd name="T5" fmla="*/ 25 h 48"/>
              <a:gd name="T6" fmla="*/ 3 w 49"/>
              <a:gd name="T7" fmla="*/ 0 h 48"/>
              <a:gd name="T8" fmla="*/ 3 w 49"/>
              <a:gd name="T9" fmla="*/ 0 h 48"/>
              <a:gd name="T10" fmla="*/ 0 w 49"/>
              <a:gd name="T11" fmla="*/ 0 h 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8"/>
              <a:gd name="T20" fmla="*/ 49 w 49"/>
              <a:gd name="T21" fmla="*/ 48 h 4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8">
                <a:moveTo>
                  <a:pt x="0" y="0"/>
                </a:moveTo>
                <a:lnTo>
                  <a:pt x="3" y="48"/>
                </a:lnTo>
                <a:lnTo>
                  <a:pt x="49" y="25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1" name="Freeform 76"/>
          <p:cNvSpPr>
            <a:spLocks noChangeArrowheads="1"/>
          </p:cNvSpPr>
          <p:nvPr/>
        </p:nvSpPr>
        <p:spPr bwMode="auto">
          <a:xfrm>
            <a:off x="3602039" y="4105275"/>
            <a:ext cx="77787" cy="77788"/>
          </a:xfrm>
          <a:custGeom>
            <a:avLst/>
            <a:gdLst>
              <a:gd name="T0" fmla="*/ 0 w 49"/>
              <a:gd name="T1" fmla="*/ 0 h 49"/>
              <a:gd name="T2" fmla="*/ 3 w 49"/>
              <a:gd name="T3" fmla="*/ 49 h 49"/>
              <a:gd name="T4" fmla="*/ 49 w 49"/>
              <a:gd name="T5" fmla="*/ 26 h 49"/>
              <a:gd name="T6" fmla="*/ 3 w 49"/>
              <a:gd name="T7" fmla="*/ 0 h 49"/>
              <a:gd name="T8" fmla="*/ 3 w 49"/>
              <a:gd name="T9" fmla="*/ 0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3" y="49"/>
                </a:lnTo>
                <a:lnTo>
                  <a:pt x="49" y="26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2" name="Freeform 77"/>
          <p:cNvSpPr>
            <a:spLocks noChangeArrowheads="1"/>
          </p:cNvSpPr>
          <p:nvPr/>
        </p:nvSpPr>
        <p:spPr bwMode="auto">
          <a:xfrm>
            <a:off x="6057900" y="3876675"/>
            <a:ext cx="77788" cy="77788"/>
          </a:xfrm>
          <a:custGeom>
            <a:avLst/>
            <a:gdLst>
              <a:gd name="T0" fmla="*/ 0 w 49"/>
              <a:gd name="T1" fmla="*/ 0 h 49"/>
              <a:gd name="T2" fmla="*/ 0 w 49"/>
              <a:gd name="T3" fmla="*/ 49 h 49"/>
              <a:gd name="T4" fmla="*/ 49 w 49"/>
              <a:gd name="T5" fmla="*/ 26 h 49"/>
              <a:gd name="T6" fmla="*/ 0 w 49"/>
              <a:gd name="T7" fmla="*/ 0 h 49"/>
              <a:gd name="T8" fmla="*/ 0 w 49"/>
              <a:gd name="T9" fmla="*/ 0 h 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9"/>
              <a:gd name="T16" fmla="*/ 0 h 49"/>
              <a:gd name="T17" fmla="*/ 49 w 49"/>
              <a:gd name="T18" fmla="*/ 49 h 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9" h="49">
                <a:moveTo>
                  <a:pt x="0" y="0"/>
                </a:moveTo>
                <a:lnTo>
                  <a:pt x="0" y="49"/>
                </a:lnTo>
                <a:lnTo>
                  <a:pt x="49" y="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3" name="Freeform 78"/>
          <p:cNvSpPr>
            <a:spLocks noChangeArrowheads="1"/>
          </p:cNvSpPr>
          <p:nvPr/>
        </p:nvSpPr>
        <p:spPr bwMode="auto">
          <a:xfrm>
            <a:off x="6057900" y="2963864"/>
            <a:ext cx="77788" cy="77787"/>
          </a:xfrm>
          <a:custGeom>
            <a:avLst/>
            <a:gdLst>
              <a:gd name="T0" fmla="*/ 0 w 49"/>
              <a:gd name="T1" fmla="*/ 0 h 49"/>
              <a:gd name="T2" fmla="*/ 0 w 49"/>
              <a:gd name="T3" fmla="*/ 49 h 49"/>
              <a:gd name="T4" fmla="*/ 49 w 49"/>
              <a:gd name="T5" fmla="*/ 26 h 49"/>
              <a:gd name="T6" fmla="*/ 0 w 49"/>
              <a:gd name="T7" fmla="*/ 3 h 49"/>
              <a:gd name="T8" fmla="*/ 0 w 49"/>
              <a:gd name="T9" fmla="*/ 3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0" y="49"/>
                </a:lnTo>
                <a:lnTo>
                  <a:pt x="49" y="26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4" name="Freeform 79"/>
          <p:cNvSpPr>
            <a:spLocks noChangeArrowheads="1"/>
          </p:cNvSpPr>
          <p:nvPr/>
        </p:nvSpPr>
        <p:spPr bwMode="auto">
          <a:xfrm>
            <a:off x="7805739" y="4475164"/>
            <a:ext cx="77787" cy="77787"/>
          </a:xfrm>
          <a:custGeom>
            <a:avLst/>
            <a:gdLst>
              <a:gd name="T0" fmla="*/ 0 w 49"/>
              <a:gd name="T1" fmla="*/ 0 h 49"/>
              <a:gd name="T2" fmla="*/ 0 w 49"/>
              <a:gd name="T3" fmla="*/ 49 h 49"/>
              <a:gd name="T4" fmla="*/ 49 w 49"/>
              <a:gd name="T5" fmla="*/ 23 h 49"/>
              <a:gd name="T6" fmla="*/ 0 w 49"/>
              <a:gd name="T7" fmla="*/ 0 h 49"/>
              <a:gd name="T8" fmla="*/ 0 w 49"/>
              <a:gd name="T9" fmla="*/ 0 h 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9"/>
              <a:gd name="T16" fmla="*/ 0 h 49"/>
              <a:gd name="T17" fmla="*/ 49 w 49"/>
              <a:gd name="T18" fmla="*/ 49 h 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9" h="49">
                <a:moveTo>
                  <a:pt x="0" y="0"/>
                </a:moveTo>
                <a:lnTo>
                  <a:pt x="0" y="49"/>
                </a:lnTo>
                <a:lnTo>
                  <a:pt x="49" y="2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5" name="Freeform 80"/>
          <p:cNvSpPr>
            <a:spLocks noChangeArrowheads="1"/>
          </p:cNvSpPr>
          <p:nvPr/>
        </p:nvSpPr>
        <p:spPr bwMode="auto">
          <a:xfrm>
            <a:off x="4743450" y="5032375"/>
            <a:ext cx="82550" cy="77788"/>
          </a:xfrm>
          <a:custGeom>
            <a:avLst/>
            <a:gdLst>
              <a:gd name="T0" fmla="*/ 0 w 52"/>
              <a:gd name="T1" fmla="*/ 0 h 49"/>
              <a:gd name="T2" fmla="*/ 3 w 52"/>
              <a:gd name="T3" fmla="*/ 49 h 49"/>
              <a:gd name="T4" fmla="*/ 52 w 52"/>
              <a:gd name="T5" fmla="*/ 26 h 49"/>
              <a:gd name="T6" fmla="*/ 3 w 52"/>
              <a:gd name="T7" fmla="*/ 3 h 49"/>
              <a:gd name="T8" fmla="*/ 3 w 52"/>
              <a:gd name="T9" fmla="*/ 3 h 49"/>
              <a:gd name="T10" fmla="*/ 0 w 52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2"/>
              <a:gd name="T19" fmla="*/ 0 h 49"/>
              <a:gd name="T20" fmla="*/ 52 w 52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2" h="49">
                <a:moveTo>
                  <a:pt x="0" y="0"/>
                </a:moveTo>
                <a:lnTo>
                  <a:pt x="3" y="49"/>
                </a:lnTo>
                <a:lnTo>
                  <a:pt x="52" y="26"/>
                </a:lnTo>
                <a:lnTo>
                  <a:pt x="3" y="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76" name="Rectangle 81"/>
          <p:cNvSpPr>
            <a:spLocks noChangeArrowheads="1"/>
          </p:cNvSpPr>
          <p:nvPr/>
        </p:nvSpPr>
        <p:spPr bwMode="auto">
          <a:xfrm>
            <a:off x="4481513" y="477202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61477" name="Rectangle 82"/>
          <p:cNvSpPr>
            <a:spLocks noChangeArrowheads="1"/>
          </p:cNvSpPr>
          <p:nvPr/>
        </p:nvSpPr>
        <p:spPr bwMode="auto">
          <a:xfrm>
            <a:off x="4565650" y="477202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6</a:t>
            </a:r>
          </a:p>
        </p:txBody>
      </p:sp>
      <p:sp>
        <p:nvSpPr>
          <p:cNvPr id="61478" name="Line 83"/>
          <p:cNvSpPr>
            <a:spLocks noChangeShapeType="1"/>
          </p:cNvSpPr>
          <p:nvPr/>
        </p:nvSpPr>
        <p:spPr bwMode="auto">
          <a:xfrm flipH="1" flipV="1">
            <a:off x="5513389" y="4970464"/>
            <a:ext cx="117475" cy="200025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79" name="Line 84"/>
          <p:cNvSpPr>
            <a:spLocks noChangeShapeType="1"/>
          </p:cNvSpPr>
          <p:nvPr/>
        </p:nvSpPr>
        <p:spPr bwMode="auto">
          <a:xfrm flipH="1" flipV="1">
            <a:off x="6477000" y="2628901"/>
            <a:ext cx="139700" cy="182563"/>
          </a:xfrm>
          <a:prstGeom prst="line">
            <a:avLst/>
          </a:prstGeom>
          <a:noFill/>
          <a:ln w="19080">
            <a:solidFill>
              <a:srgbClr val="EB75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480" name="Rectangle 85"/>
          <p:cNvSpPr>
            <a:spLocks noChangeArrowheads="1"/>
          </p:cNvSpPr>
          <p:nvPr/>
        </p:nvSpPr>
        <p:spPr bwMode="auto">
          <a:xfrm>
            <a:off x="5483225" y="477202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3</a:t>
            </a:r>
          </a:p>
        </p:txBody>
      </p:sp>
      <p:sp>
        <p:nvSpPr>
          <p:cNvPr id="61481" name="Rectangle 86"/>
          <p:cNvSpPr>
            <a:spLocks noChangeArrowheads="1"/>
          </p:cNvSpPr>
          <p:nvPr/>
        </p:nvSpPr>
        <p:spPr bwMode="auto">
          <a:xfrm>
            <a:off x="5562600" y="477202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61482" name="Freeform 87"/>
          <p:cNvSpPr>
            <a:spLocks noChangeArrowheads="1"/>
          </p:cNvSpPr>
          <p:nvPr/>
        </p:nvSpPr>
        <p:spPr bwMode="auto">
          <a:xfrm>
            <a:off x="3602039" y="3192464"/>
            <a:ext cx="77787" cy="77787"/>
          </a:xfrm>
          <a:custGeom>
            <a:avLst/>
            <a:gdLst>
              <a:gd name="T0" fmla="*/ 0 w 49"/>
              <a:gd name="T1" fmla="*/ 0 h 49"/>
              <a:gd name="T2" fmla="*/ 3 w 49"/>
              <a:gd name="T3" fmla="*/ 49 h 49"/>
              <a:gd name="T4" fmla="*/ 49 w 49"/>
              <a:gd name="T5" fmla="*/ 26 h 49"/>
              <a:gd name="T6" fmla="*/ 3 w 49"/>
              <a:gd name="T7" fmla="*/ 0 h 49"/>
              <a:gd name="T8" fmla="*/ 3 w 49"/>
              <a:gd name="T9" fmla="*/ 0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3" y="49"/>
                </a:lnTo>
                <a:lnTo>
                  <a:pt x="49" y="26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83" name="Freeform 88"/>
          <p:cNvSpPr>
            <a:spLocks noChangeArrowheads="1"/>
          </p:cNvSpPr>
          <p:nvPr/>
        </p:nvSpPr>
        <p:spPr bwMode="auto">
          <a:xfrm>
            <a:off x="3692526" y="2566988"/>
            <a:ext cx="1712913" cy="1789112"/>
          </a:xfrm>
          <a:custGeom>
            <a:avLst/>
            <a:gdLst>
              <a:gd name="T0" fmla="*/ 1076 w 1079"/>
              <a:gd name="T1" fmla="*/ 1124 h 1127"/>
              <a:gd name="T2" fmla="*/ 1079 w 1079"/>
              <a:gd name="T3" fmla="*/ 0 h 1127"/>
              <a:gd name="T4" fmla="*/ 0 w 1079"/>
              <a:gd name="T5" fmla="*/ 0 h 1127"/>
              <a:gd name="T6" fmla="*/ 0 w 1079"/>
              <a:gd name="T7" fmla="*/ 1127 h 1127"/>
              <a:gd name="T8" fmla="*/ 1079 w 1079"/>
              <a:gd name="T9" fmla="*/ 1127 h 1127"/>
              <a:gd name="T10" fmla="*/ 1079 w 1079"/>
              <a:gd name="T11" fmla="*/ 1127 h 1127"/>
              <a:gd name="T12" fmla="*/ 1076 w 1079"/>
              <a:gd name="T13" fmla="*/ 1124 h 112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79"/>
              <a:gd name="T22" fmla="*/ 0 h 1127"/>
              <a:gd name="T23" fmla="*/ 1079 w 1079"/>
              <a:gd name="T24" fmla="*/ 1127 h 112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79" h="1127">
                <a:moveTo>
                  <a:pt x="1076" y="1124"/>
                </a:moveTo>
                <a:lnTo>
                  <a:pt x="1079" y="0"/>
                </a:lnTo>
                <a:lnTo>
                  <a:pt x="0" y="0"/>
                </a:lnTo>
                <a:lnTo>
                  <a:pt x="0" y="1127"/>
                </a:lnTo>
                <a:lnTo>
                  <a:pt x="1079" y="1127"/>
                </a:lnTo>
                <a:lnTo>
                  <a:pt x="1076" y="112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84" name="Freeform 89"/>
          <p:cNvSpPr>
            <a:spLocks noChangeArrowheads="1"/>
          </p:cNvSpPr>
          <p:nvPr/>
        </p:nvSpPr>
        <p:spPr bwMode="auto">
          <a:xfrm>
            <a:off x="3692526" y="2566988"/>
            <a:ext cx="1712913" cy="1789112"/>
          </a:xfrm>
          <a:custGeom>
            <a:avLst/>
            <a:gdLst>
              <a:gd name="T0" fmla="*/ 1076 w 1079"/>
              <a:gd name="T1" fmla="*/ 1124 h 1127"/>
              <a:gd name="T2" fmla="*/ 1079 w 1079"/>
              <a:gd name="T3" fmla="*/ 0 h 1127"/>
              <a:gd name="T4" fmla="*/ 0 w 1079"/>
              <a:gd name="T5" fmla="*/ 0 h 1127"/>
              <a:gd name="T6" fmla="*/ 0 w 1079"/>
              <a:gd name="T7" fmla="*/ 1127 h 1127"/>
              <a:gd name="T8" fmla="*/ 1079 w 1079"/>
              <a:gd name="T9" fmla="*/ 1127 h 1127"/>
              <a:gd name="T10" fmla="*/ 1079 w 1079"/>
              <a:gd name="T11" fmla="*/ 1127 h 112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79"/>
              <a:gd name="T19" fmla="*/ 0 h 1127"/>
              <a:gd name="T20" fmla="*/ 1079 w 1079"/>
              <a:gd name="T21" fmla="*/ 1127 h 112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79" h="1127">
                <a:moveTo>
                  <a:pt x="1076" y="1124"/>
                </a:moveTo>
                <a:lnTo>
                  <a:pt x="1079" y="0"/>
                </a:lnTo>
                <a:lnTo>
                  <a:pt x="0" y="0"/>
                </a:lnTo>
                <a:lnTo>
                  <a:pt x="0" y="1127"/>
                </a:lnTo>
                <a:lnTo>
                  <a:pt x="1079" y="1127"/>
                </a:lnTo>
              </a:path>
            </a:pathLst>
          </a:custGeom>
          <a:noFill/>
          <a:ln w="19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485" name="Rectangle 90"/>
          <p:cNvSpPr>
            <a:spLocks noChangeArrowheads="1"/>
          </p:cNvSpPr>
          <p:nvPr/>
        </p:nvSpPr>
        <p:spPr bwMode="auto">
          <a:xfrm>
            <a:off x="4217988" y="3406775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486" name="Rectangle 91"/>
          <p:cNvSpPr>
            <a:spLocks noChangeArrowheads="1"/>
          </p:cNvSpPr>
          <p:nvPr/>
        </p:nvSpPr>
        <p:spPr bwMode="auto">
          <a:xfrm>
            <a:off x="4332288" y="34067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487" name="Rectangle 92"/>
          <p:cNvSpPr>
            <a:spLocks noChangeArrowheads="1"/>
          </p:cNvSpPr>
          <p:nvPr/>
        </p:nvSpPr>
        <p:spPr bwMode="auto">
          <a:xfrm>
            <a:off x="4414838" y="34067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61488" name="Rectangle 93"/>
          <p:cNvSpPr>
            <a:spLocks noChangeArrowheads="1"/>
          </p:cNvSpPr>
          <p:nvPr/>
        </p:nvSpPr>
        <p:spPr bwMode="auto">
          <a:xfrm>
            <a:off x="4500563" y="3406775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1489" name="Rectangle 94"/>
          <p:cNvSpPr>
            <a:spLocks noChangeArrowheads="1"/>
          </p:cNvSpPr>
          <p:nvPr/>
        </p:nvSpPr>
        <p:spPr bwMode="auto">
          <a:xfrm>
            <a:off x="4533900" y="3406775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1490" name="Rectangle 95"/>
          <p:cNvSpPr>
            <a:spLocks noChangeArrowheads="1"/>
          </p:cNvSpPr>
          <p:nvPr/>
        </p:nvSpPr>
        <p:spPr bwMode="auto">
          <a:xfrm>
            <a:off x="4610100" y="3406775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491" name="Rectangle 96"/>
          <p:cNvSpPr>
            <a:spLocks noChangeArrowheads="1"/>
          </p:cNvSpPr>
          <p:nvPr/>
        </p:nvSpPr>
        <p:spPr bwMode="auto">
          <a:xfrm>
            <a:off x="4651375" y="34067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492" name="Rectangle 97"/>
          <p:cNvSpPr>
            <a:spLocks noChangeArrowheads="1"/>
          </p:cNvSpPr>
          <p:nvPr/>
        </p:nvSpPr>
        <p:spPr bwMode="auto">
          <a:xfrm>
            <a:off x="4733925" y="3406775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493" name="Rectangle 98"/>
          <p:cNvSpPr>
            <a:spLocks noChangeArrowheads="1"/>
          </p:cNvSpPr>
          <p:nvPr/>
        </p:nvSpPr>
        <p:spPr bwMode="auto">
          <a:xfrm>
            <a:off x="4789488" y="3406775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1494" name="Rectangle 99"/>
          <p:cNvSpPr>
            <a:spLocks noChangeArrowheads="1"/>
          </p:cNvSpPr>
          <p:nvPr/>
        </p:nvSpPr>
        <p:spPr bwMode="auto">
          <a:xfrm>
            <a:off x="3754438" y="3521075"/>
            <a:ext cx="14587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61495" name="Rectangle 100"/>
          <p:cNvSpPr>
            <a:spLocks noChangeArrowheads="1"/>
          </p:cNvSpPr>
          <p:nvPr/>
        </p:nvSpPr>
        <p:spPr bwMode="auto">
          <a:xfrm>
            <a:off x="3898900" y="3521075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496" name="Rectangle 101"/>
          <p:cNvSpPr>
            <a:spLocks noChangeArrowheads="1"/>
          </p:cNvSpPr>
          <p:nvPr/>
        </p:nvSpPr>
        <p:spPr bwMode="auto">
          <a:xfrm>
            <a:off x="3948113" y="3521075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1497" name="Rectangle 102"/>
          <p:cNvSpPr>
            <a:spLocks noChangeArrowheads="1"/>
          </p:cNvSpPr>
          <p:nvPr/>
        </p:nvSpPr>
        <p:spPr bwMode="auto">
          <a:xfrm>
            <a:off x="3984625" y="3521075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498" name="Rectangle 103"/>
          <p:cNvSpPr>
            <a:spLocks noChangeArrowheads="1"/>
          </p:cNvSpPr>
          <p:nvPr/>
        </p:nvSpPr>
        <p:spPr bwMode="auto">
          <a:xfrm>
            <a:off x="4024313" y="35210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499" name="Rectangle 104"/>
          <p:cNvSpPr>
            <a:spLocks noChangeArrowheads="1"/>
          </p:cNvSpPr>
          <p:nvPr/>
        </p:nvSpPr>
        <p:spPr bwMode="auto">
          <a:xfrm>
            <a:off x="4113214" y="3521075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00" name="Rectangle 105"/>
          <p:cNvSpPr>
            <a:spLocks noChangeArrowheads="1"/>
          </p:cNvSpPr>
          <p:nvPr/>
        </p:nvSpPr>
        <p:spPr bwMode="auto">
          <a:xfrm>
            <a:off x="3757613" y="3671888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501" name="Rectangle 106"/>
          <p:cNvSpPr>
            <a:spLocks noChangeArrowheads="1"/>
          </p:cNvSpPr>
          <p:nvPr/>
        </p:nvSpPr>
        <p:spPr bwMode="auto">
          <a:xfrm>
            <a:off x="3806825" y="367188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502" name="Rectangle 107"/>
          <p:cNvSpPr>
            <a:spLocks noChangeArrowheads="1"/>
          </p:cNvSpPr>
          <p:nvPr/>
        </p:nvSpPr>
        <p:spPr bwMode="auto">
          <a:xfrm>
            <a:off x="3889375" y="367188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61503" name="Rectangle 108"/>
          <p:cNvSpPr>
            <a:spLocks noChangeArrowheads="1"/>
          </p:cNvSpPr>
          <p:nvPr/>
        </p:nvSpPr>
        <p:spPr bwMode="auto">
          <a:xfrm>
            <a:off x="3976688" y="3671888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1504" name="Rectangle 109"/>
          <p:cNvSpPr>
            <a:spLocks noChangeArrowheads="1"/>
          </p:cNvSpPr>
          <p:nvPr/>
        </p:nvSpPr>
        <p:spPr bwMode="auto">
          <a:xfrm>
            <a:off x="4008438" y="3671888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1505" name="Rectangle 110"/>
          <p:cNvSpPr>
            <a:spLocks noChangeArrowheads="1"/>
          </p:cNvSpPr>
          <p:nvPr/>
        </p:nvSpPr>
        <p:spPr bwMode="auto">
          <a:xfrm>
            <a:off x="4086225" y="3671888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506" name="Rectangle 111"/>
          <p:cNvSpPr>
            <a:spLocks noChangeArrowheads="1"/>
          </p:cNvSpPr>
          <p:nvPr/>
        </p:nvSpPr>
        <p:spPr bwMode="auto">
          <a:xfrm>
            <a:off x="4127500" y="367188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507" name="Rectangle 112"/>
          <p:cNvSpPr>
            <a:spLocks noChangeArrowheads="1"/>
          </p:cNvSpPr>
          <p:nvPr/>
        </p:nvSpPr>
        <p:spPr bwMode="auto">
          <a:xfrm>
            <a:off x="4213225" y="3671888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508" name="Rectangle 113"/>
          <p:cNvSpPr>
            <a:spLocks noChangeArrowheads="1"/>
          </p:cNvSpPr>
          <p:nvPr/>
        </p:nvSpPr>
        <p:spPr bwMode="auto">
          <a:xfrm>
            <a:off x="4994275" y="2836863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509" name="Rectangle 114"/>
          <p:cNvSpPr>
            <a:spLocks noChangeArrowheads="1"/>
          </p:cNvSpPr>
          <p:nvPr/>
        </p:nvSpPr>
        <p:spPr bwMode="auto">
          <a:xfrm>
            <a:off x="5103813" y="28368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510" name="Rectangle 115"/>
          <p:cNvSpPr>
            <a:spLocks noChangeArrowheads="1"/>
          </p:cNvSpPr>
          <p:nvPr/>
        </p:nvSpPr>
        <p:spPr bwMode="auto">
          <a:xfrm>
            <a:off x="5189538" y="28368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511" name="Rectangle 116"/>
          <p:cNvSpPr>
            <a:spLocks noChangeArrowheads="1"/>
          </p:cNvSpPr>
          <p:nvPr/>
        </p:nvSpPr>
        <p:spPr bwMode="auto">
          <a:xfrm>
            <a:off x="5270500" y="28368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1512" name="Rectangle 117"/>
          <p:cNvSpPr>
            <a:spLocks noChangeArrowheads="1"/>
          </p:cNvSpPr>
          <p:nvPr/>
        </p:nvSpPr>
        <p:spPr bwMode="auto">
          <a:xfrm>
            <a:off x="5359400" y="2836863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13" name="Rectangle 118"/>
          <p:cNvSpPr>
            <a:spLocks noChangeArrowheads="1"/>
          </p:cNvSpPr>
          <p:nvPr/>
        </p:nvSpPr>
        <p:spPr bwMode="auto">
          <a:xfrm>
            <a:off x="4902200" y="29876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1514" name="Rectangle 119"/>
          <p:cNvSpPr>
            <a:spLocks noChangeArrowheads="1"/>
          </p:cNvSpPr>
          <p:nvPr/>
        </p:nvSpPr>
        <p:spPr bwMode="auto">
          <a:xfrm>
            <a:off x="4987925" y="29876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515" name="Rectangle 120"/>
          <p:cNvSpPr>
            <a:spLocks noChangeArrowheads="1"/>
          </p:cNvSpPr>
          <p:nvPr/>
        </p:nvSpPr>
        <p:spPr bwMode="auto">
          <a:xfrm>
            <a:off x="5072063" y="2987675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516" name="Rectangle 121"/>
          <p:cNvSpPr>
            <a:spLocks noChangeArrowheads="1"/>
          </p:cNvSpPr>
          <p:nvPr/>
        </p:nvSpPr>
        <p:spPr bwMode="auto">
          <a:xfrm>
            <a:off x="5111750" y="29876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517" name="Rectangle 122"/>
          <p:cNvSpPr>
            <a:spLocks noChangeArrowheads="1"/>
          </p:cNvSpPr>
          <p:nvPr/>
        </p:nvSpPr>
        <p:spPr bwMode="auto">
          <a:xfrm>
            <a:off x="5199063" y="2987675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2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1518" name="Rectangle 123"/>
          <p:cNvSpPr>
            <a:spLocks noChangeArrowheads="1"/>
          </p:cNvSpPr>
          <p:nvPr/>
        </p:nvSpPr>
        <p:spPr bwMode="auto">
          <a:xfrm>
            <a:off x="5240338" y="29876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61519" name="Rectangle 124"/>
          <p:cNvSpPr>
            <a:spLocks noChangeArrowheads="1"/>
          </p:cNvSpPr>
          <p:nvPr/>
        </p:nvSpPr>
        <p:spPr bwMode="auto">
          <a:xfrm>
            <a:off x="4994275" y="3749675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520" name="Rectangle 125"/>
          <p:cNvSpPr>
            <a:spLocks noChangeArrowheads="1"/>
          </p:cNvSpPr>
          <p:nvPr/>
        </p:nvSpPr>
        <p:spPr bwMode="auto">
          <a:xfrm>
            <a:off x="5103813" y="37496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521" name="Rectangle 126"/>
          <p:cNvSpPr>
            <a:spLocks noChangeArrowheads="1"/>
          </p:cNvSpPr>
          <p:nvPr/>
        </p:nvSpPr>
        <p:spPr bwMode="auto">
          <a:xfrm>
            <a:off x="5189538" y="37496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522" name="Rectangle 127"/>
          <p:cNvSpPr>
            <a:spLocks noChangeArrowheads="1"/>
          </p:cNvSpPr>
          <p:nvPr/>
        </p:nvSpPr>
        <p:spPr bwMode="auto">
          <a:xfrm>
            <a:off x="5270500" y="37496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1523" name="Rectangle 128"/>
          <p:cNvSpPr>
            <a:spLocks noChangeArrowheads="1"/>
          </p:cNvSpPr>
          <p:nvPr/>
        </p:nvSpPr>
        <p:spPr bwMode="auto">
          <a:xfrm>
            <a:off x="5359400" y="3749675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24" name="Rectangle 129"/>
          <p:cNvSpPr>
            <a:spLocks noChangeArrowheads="1"/>
          </p:cNvSpPr>
          <p:nvPr/>
        </p:nvSpPr>
        <p:spPr bwMode="auto">
          <a:xfrm>
            <a:off x="4902200" y="390525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1525" name="Rectangle 130"/>
          <p:cNvSpPr>
            <a:spLocks noChangeArrowheads="1"/>
          </p:cNvSpPr>
          <p:nvPr/>
        </p:nvSpPr>
        <p:spPr bwMode="auto">
          <a:xfrm>
            <a:off x="4987925" y="390525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526" name="Rectangle 131"/>
          <p:cNvSpPr>
            <a:spLocks noChangeArrowheads="1"/>
          </p:cNvSpPr>
          <p:nvPr/>
        </p:nvSpPr>
        <p:spPr bwMode="auto">
          <a:xfrm>
            <a:off x="5072063" y="3905250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527" name="Rectangle 132"/>
          <p:cNvSpPr>
            <a:spLocks noChangeArrowheads="1"/>
          </p:cNvSpPr>
          <p:nvPr/>
        </p:nvSpPr>
        <p:spPr bwMode="auto">
          <a:xfrm>
            <a:off x="5111750" y="390525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528" name="Rectangle 133"/>
          <p:cNvSpPr>
            <a:spLocks noChangeArrowheads="1"/>
          </p:cNvSpPr>
          <p:nvPr/>
        </p:nvSpPr>
        <p:spPr bwMode="auto">
          <a:xfrm>
            <a:off x="5199063" y="3905250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2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1529" name="Rectangle 134"/>
          <p:cNvSpPr>
            <a:spLocks noChangeArrowheads="1"/>
          </p:cNvSpPr>
          <p:nvPr/>
        </p:nvSpPr>
        <p:spPr bwMode="auto">
          <a:xfrm>
            <a:off x="5240338" y="390525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61530" name="Rectangle 135"/>
          <p:cNvSpPr>
            <a:spLocks noChangeArrowheads="1"/>
          </p:cNvSpPr>
          <p:nvPr/>
        </p:nvSpPr>
        <p:spPr bwMode="auto">
          <a:xfrm>
            <a:off x="3757613" y="2608263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531" name="Rectangle 136"/>
          <p:cNvSpPr>
            <a:spLocks noChangeArrowheads="1"/>
          </p:cNvSpPr>
          <p:nvPr/>
        </p:nvSpPr>
        <p:spPr bwMode="auto">
          <a:xfrm>
            <a:off x="3865563" y="26082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532" name="Rectangle 137"/>
          <p:cNvSpPr>
            <a:spLocks noChangeArrowheads="1"/>
          </p:cNvSpPr>
          <p:nvPr/>
        </p:nvSpPr>
        <p:spPr bwMode="auto">
          <a:xfrm>
            <a:off x="3946525" y="26082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533" name="Rectangle 138"/>
          <p:cNvSpPr>
            <a:spLocks noChangeArrowheads="1"/>
          </p:cNvSpPr>
          <p:nvPr/>
        </p:nvSpPr>
        <p:spPr bwMode="auto">
          <a:xfrm>
            <a:off x="4035425" y="26082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1534" name="Rectangle 139"/>
          <p:cNvSpPr>
            <a:spLocks noChangeArrowheads="1"/>
          </p:cNvSpPr>
          <p:nvPr/>
        </p:nvSpPr>
        <p:spPr bwMode="auto">
          <a:xfrm>
            <a:off x="4122739" y="2608263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35" name="Rectangle 140"/>
          <p:cNvSpPr>
            <a:spLocks noChangeArrowheads="1"/>
          </p:cNvSpPr>
          <p:nvPr/>
        </p:nvSpPr>
        <p:spPr bwMode="auto">
          <a:xfrm>
            <a:off x="3757613" y="2759075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536" name="Rectangle 141"/>
          <p:cNvSpPr>
            <a:spLocks noChangeArrowheads="1"/>
          </p:cNvSpPr>
          <p:nvPr/>
        </p:nvSpPr>
        <p:spPr bwMode="auto">
          <a:xfrm>
            <a:off x="3806825" y="27590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537" name="Rectangle 142"/>
          <p:cNvSpPr>
            <a:spLocks noChangeArrowheads="1"/>
          </p:cNvSpPr>
          <p:nvPr/>
        </p:nvSpPr>
        <p:spPr bwMode="auto">
          <a:xfrm>
            <a:off x="3889375" y="27590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61538" name="Rectangle 143"/>
          <p:cNvSpPr>
            <a:spLocks noChangeArrowheads="1"/>
          </p:cNvSpPr>
          <p:nvPr/>
        </p:nvSpPr>
        <p:spPr bwMode="auto">
          <a:xfrm>
            <a:off x="3976688" y="2759075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1539" name="Rectangle 144"/>
          <p:cNvSpPr>
            <a:spLocks noChangeArrowheads="1"/>
          </p:cNvSpPr>
          <p:nvPr/>
        </p:nvSpPr>
        <p:spPr bwMode="auto">
          <a:xfrm>
            <a:off x="4008438" y="2759075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1540" name="Rectangle 145"/>
          <p:cNvSpPr>
            <a:spLocks noChangeArrowheads="1"/>
          </p:cNvSpPr>
          <p:nvPr/>
        </p:nvSpPr>
        <p:spPr bwMode="auto">
          <a:xfrm>
            <a:off x="4086225" y="2759075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541" name="Rectangle 146"/>
          <p:cNvSpPr>
            <a:spLocks noChangeArrowheads="1"/>
          </p:cNvSpPr>
          <p:nvPr/>
        </p:nvSpPr>
        <p:spPr bwMode="auto">
          <a:xfrm>
            <a:off x="4127500" y="27590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542" name="Rectangle 147"/>
          <p:cNvSpPr>
            <a:spLocks noChangeArrowheads="1"/>
          </p:cNvSpPr>
          <p:nvPr/>
        </p:nvSpPr>
        <p:spPr bwMode="auto">
          <a:xfrm>
            <a:off x="4213225" y="2759075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543" name="Rectangle 148"/>
          <p:cNvSpPr>
            <a:spLocks noChangeArrowheads="1"/>
          </p:cNvSpPr>
          <p:nvPr/>
        </p:nvSpPr>
        <p:spPr bwMode="auto">
          <a:xfrm>
            <a:off x="4264025" y="2759075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2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1544" name="Rectangle 149"/>
          <p:cNvSpPr>
            <a:spLocks noChangeArrowheads="1"/>
          </p:cNvSpPr>
          <p:nvPr/>
        </p:nvSpPr>
        <p:spPr bwMode="auto">
          <a:xfrm>
            <a:off x="4305300" y="27590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61545" name="Rectangle 150"/>
          <p:cNvSpPr>
            <a:spLocks noChangeArrowheads="1"/>
          </p:cNvSpPr>
          <p:nvPr/>
        </p:nvSpPr>
        <p:spPr bwMode="auto">
          <a:xfrm>
            <a:off x="3757613" y="3065463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546" name="Rectangle 151"/>
          <p:cNvSpPr>
            <a:spLocks noChangeArrowheads="1"/>
          </p:cNvSpPr>
          <p:nvPr/>
        </p:nvSpPr>
        <p:spPr bwMode="auto">
          <a:xfrm>
            <a:off x="3865563" y="30654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547" name="Rectangle 152"/>
          <p:cNvSpPr>
            <a:spLocks noChangeArrowheads="1"/>
          </p:cNvSpPr>
          <p:nvPr/>
        </p:nvSpPr>
        <p:spPr bwMode="auto">
          <a:xfrm>
            <a:off x="3946525" y="30654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548" name="Rectangle 153"/>
          <p:cNvSpPr>
            <a:spLocks noChangeArrowheads="1"/>
          </p:cNvSpPr>
          <p:nvPr/>
        </p:nvSpPr>
        <p:spPr bwMode="auto">
          <a:xfrm>
            <a:off x="4035425" y="30654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1549" name="Rectangle 154"/>
          <p:cNvSpPr>
            <a:spLocks noChangeArrowheads="1"/>
          </p:cNvSpPr>
          <p:nvPr/>
        </p:nvSpPr>
        <p:spPr bwMode="auto">
          <a:xfrm>
            <a:off x="4122739" y="3065463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50" name="Rectangle 155"/>
          <p:cNvSpPr>
            <a:spLocks noChangeArrowheads="1"/>
          </p:cNvSpPr>
          <p:nvPr/>
        </p:nvSpPr>
        <p:spPr bwMode="auto">
          <a:xfrm>
            <a:off x="3757613" y="3216275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551" name="Rectangle 156"/>
          <p:cNvSpPr>
            <a:spLocks noChangeArrowheads="1"/>
          </p:cNvSpPr>
          <p:nvPr/>
        </p:nvSpPr>
        <p:spPr bwMode="auto">
          <a:xfrm>
            <a:off x="3806825" y="32162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552" name="Rectangle 157"/>
          <p:cNvSpPr>
            <a:spLocks noChangeArrowheads="1"/>
          </p:cNvSpPr>
          <p:nvPr/>
        </p:nvSpPr>
        <p:spPr bwMode="auto">
          <a:xfrm>
            <a:off x="3889375" y="32162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61553" name="Rectangle 158"/>
          <p:cNvSpPr>
            <a:spLocks noChangeArrowheads="1"/>
          </p:cNvSpPr>
          <p:nvPr/>
        </p:nvSpPr>
        <p:spPr bwMode="auto">
          <a:xfrm>
            <a:off x="3976688" y="3216275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1554" name="Rectangle 159"/>
          <p:cNvSpPr>
            <a:spLocks noChangeArrowheads="1"/>
          </p:cNvSpPr>
          <p:nvPr/>
        </p:nvSpPr>
        <p:spPr bwMode="auto">
          <a:xfrm>
            <a:off x="4008438" y="3216275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1555" name="Rectangle 160"/>
          <p:cNvSpPr>
            <a:spLocks noChangeArrowheads="1"/>
          </p:cNvSpPr>
          <p:nvPr/>
        </p:nvSpPr>
        <p:spPr bwMode="auto">
          <a:xfrm>
            <a:off x="4086225" y="3216275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556" name="Rectangle 161"/>
          <p:cNvSpPr>
            <a:spLocks noChangeArrowheads="1"/>
          </p:cNvSpPr>
          <p:nvPr/>
        </p:nvSpPr>
        <p:spPr bwMode="auto">
          <a:xfrm>
            <a:off x="4127500" y="32162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557" name="Rectangle 162"/>
          <p:cNvSpPr>
            <a:spLocks noChangeArrowheads="1"/>
          </p:cNvSpPr>
          <p:nvPr/>
        </p:nvSpPr>
        <p:spPr bwMode="auto">
          <a:xfrm>
            <a:off x="4213225" y="3216275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558" name="Rectangle 163"/>
          <p:cNvSpPr>
            <a:spLocks noChangeArrowheads="1"/>
          </p:cNvSpPr>
          <p:nvPr/>
        </p:nvSpPr>
        <p:spPr bwMode="auto">
          <a:xfrm>
            <a:off x="4264025" y="3216275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2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1559" name="Rectangle 164"/>
          <p:cNvSpPr>
            <a:spLocks noChangeArrowheads="1"/>
          </p:cNvSpPr>
          <p:nvPr/>
        </p:nvSpPr>
        <p:spPr bwMode="auto">
          <a:xfrm>
            <a:off x="4305300" y="32162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61560" name="Line 165"/>
          <p:cNvSpPr>
            <a:spLocks noChangeShapeType="1"/>
          </p:cNvSpPr>
          <p:nvPr/>
        </p:nvSpPr>
        <p:spPr bwMode="auto">
          <a:xfrm flipH="1">
            <a:off x="3179763" y="3686176"/>
            <a:ext cx="450850" cy="3175"/>
          </a:xfrm>
          <a:prstGeom prst="line">
            <a:avLst/>
          </a:prstGeom>
          <a:noFill/>
          <a:ln w="316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61" name="Rectangle 166"/>
          <p:cNvSpPr>
            <a:spLocks noChangeArrowheads="1"/>
          </p:cNvSpPr>
          <p:nvPr/>
        </p:nvSpPr>
        <p:spPr bwMode="auto">
          <a:xfrm>
            <a:off x="8847138" y="4051300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1562" name="Rectangle 167"/>
          <p:cNvSpPr>
            <a:spLocks noChangeArrowheads="1"/>
          </p:cNvSpPr>
          <p:nvPr/>
        </p:nvSpPr>
        <p:spPr bwMode="auto">
          <a:xfrm>
            <a:off x="8955088" y="40513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563" name="Rectangle 168"/>
          <p:cNvSpPr>
            <a:spLocks noChangeArrowheads="1"/>
          </p:cNvSpPr>
          <p:nvPr/>
        </p:nvSpPr>
        <p:spPr bwMode="auto">
          <a:xfrm>
            <a:off x="9043988" y="4051300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564" name="Rectangle 169"/>
          <p:cNvSpPr>
            <a:spLocks noChangeArrowheads="1"/>
          </p:cNvSpPr>
          <p:nvPr/>
        </p:nvSpPr>
        <p:spPr bwMode="auto">
          <a:xfrm>
            <a:off x="9083675" y="40513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565" name="Rectangle 170"/>
          <p:cNvSpPr>
            <a:spLocks noChangeArrowheads="1"/>
          </p:cNvSpPr>
          <p:nvPr/>
        </p:nvSpPr>
        <p:spPr bwMode="auto">
          <a:xfrm>
            <a:off x="9166225" y="4051300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66" name="Rectangle 171"/>
          <p:cNvSpPr>
            <a:spLocks noChangeArrowheads="1"/>
          </p:cNvSpPr>
          <p:nvPr/>
        </p:nvSpPr>
        <p:spPr bwMode="auto">
          <a:xfrm>
            <a:off x="8737600" y="4233863"/>
            <a:ext cx="1282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61567" name="Rectangle 172"/>
          <p:cNvSpPr>
            <a:spLocks noChangeArrowheads="1"/>
          </p:cNvSpPr>
          <p:nvPr/>
        </p:nvSpPr>
        <p:spPr bwMode="auto">
          <a:xfrm>
            <a:off x="8863013" y="42338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568" name="Rectangle 173"/>
          <p:cNvSpPr>
            <a:spLocks noChangeArrowheads="1"/>
          </p:cNvSpPr>
          <p:nvPr/>
        </p:nvSpPr>
        <p:spPr bwMode="auto">
          <a:xfrm>
            <a:off x="8951913" y="4233863"/>
            <a:ext cx="1282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61569" name="Rectangle 174"/>
          <p:cNvSpPr>
            <a:spLocks noChangeArrowheads="1"/>
          </p:cNvSpPr>
          <p:nvPr/>
        </p:nvSpPr>
        <p:spPr bwMode="auto">
          <a:xfrm>
            <a:off x="9078913" y="42338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61570" name="Rectangle 175"/>
          <p:cNvSpPr>
            <a:spLocks noChangeArrowheads="1"/>
          </p:cNvSpPr>
          <p:nvPr/>
        </p:nvSpPr>
        <p:spPr bwMode="auto">
          <a:xfrm>
            <a:off x="9161463" y="4233863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571" name="Rectangle 176"/>
          <p:cNvSpPr>
            <a:spLocks noChangeArrowheads="1"/>
          </p:cNvSpPr>
          <p:nvPr/>
        </p:nvSpPr>
        <p:spPr bwMode="auto">
          <a:xfrm>
            <a:off x="9212263" y="4233863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y</a:t>
            </a:r>
          </a:p>
        </p:txBody>
      </p:sp>
      <p:sp>
        <p:nvSpPr>
          <p:cNvPr id="61572" name="Rectangle 177"/>
          <p:cNvSpPr>
            <a:spLocks noChangeArrowheads="1"/>
          </p:cNvSpPr>
          <p:nvPr/>
        </p:nvSpPr>
        <p:spPr bwMode="auto">
          <a:xfrm>
            <a:off x="7958138" y="4348163"/>
            <a:ext cx="14587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61573" name="Rectangle 178"/>
          <p:cNvSpPr>
            <a:spLocks noChangeArrowheads="1"/>
          </p:cNvSpPr>
          <p:nvPr/>
        </p:nvSpPr>
        <p:spPr bwMode="auto">
          <a:xfrm>
            <a:off x="8102600" y="4348163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574" name="Rectangle 179"/>
          <p:cNvSpPr>
            <a:spLocks noChangeArrowheads="1"/>
          </p:cNvSpPr>
          <p:nvPr/>
        </p:nvSpPr>
        <p:spPr bwMode="auto">
          <a:xfrm>
            <a:off x="8153400" y="4348163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1575" name="Rectangle 180"/>
          <p:cNvSpPr>
            <a:spLocks noChangeArrowheads="1"/>
          </p:cNvSpPr>
          <p:nvPr/>
        </p:nvSpPr>
        <p:spPr bwMode="auto">
          <a:xfrm>
            <a:off x="8189913" y="4348163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576" name="Rectangle 181"/>
          <p:cNvSpPr>
            <a:spLocks noChangeArrowheads="1"/>
          </p:cNvSpPr>
          <p:nvPr/>
        </p:nvSpPr>
        <p:spPr bwMode="auto">
          <a:xfrm>
            <a:off x="8231188" y="43481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577" name="Rectangle 182"/>
          <p:cNvSpPr>
            <a:spLocks noChangeArrowheads="1"/>
          </p:cNvSpPr>
          <p:nvPr/>
        </p:nvSpPr>
        <p:spPr bwMode="auto">
          <a:xfrm>
            <a:off x="8313739" y="4348163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78" name="Rectangle 183"/>
          <p:cNvSpPr>
            <a:spLocks noChangeArrowheads="1"/>
          </p:cNvSpPr>
          <p:nvPr/>
        </p:nvSpPr>
        <p:spPr bwMode="auto">
          <a:xfrm>
            <a:off x="7959725" y="44989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1579" name="Rectangle 184"/>
          <p:cNvSpPr>
            <a:spLocks noChangeArrowheads="1"/>
          </p:cNvSpPr>
          <p:nvPr/>
        </p:nvSpPr>
        <p:spPr bwMode="auto">
          <a:xfrm>
            <a:off x="8042275" y="44989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580" name="Rectangle 185"/>
          <p:cNvSpPr>
            <a:spLocks noChangeArrowheads="1"/>
          </p:cNvSpPr>
          <p:nvPr/>
        </p:nvSpPr>
        <p:spPr bwMode="auto">
          <a:xfrm>
            <a:off x="8131175" y="4498975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581" name="Rectangle 186"/>
          <p:cNvSpPr>
            <a:spLocks noChangeArrowheads="1"/>
          </p:cNvSpPr>
          <p:nvPr/>
        </p:nvSpPr>
        <p:spPr bwMode="auto">
          <a:xfrm>
            <a:off x="8169275" y="44989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582" name="Rectangle 187"/>
          <p:cNvSpPr>
            <a:spLocks noChangeArrowheads="1"/>
          </p:cNvSpPr>
          <p:nvPr/>
        </p:nvSpPr>
        <p:spPr bwMode="auto">
          <a:xfrm>
            <a:off x="9197975" y="3489325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583" name="Rectangle 188"/>
          <p:cNvSpPr>
            <a:spLocks noChangeArrowheads="1"/>
          </p:cNvSpPr>
          <p:nvPr/>
        </p:nvSpPr>
        <p:spPr bwMode="auto">
          <a:xfrm>
            <a:off x="9307513" y="348932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584" name="Rectangle 189"/>
          <p:cNvSpPr>
            <a:spLocks noChangeArrowheads="1"/>
          </p:cNvSpPr>
          <p:nvPr/>
        </p:nvSpPr>
        <p:spPr bwMode="auto">
          <a:xfrm>
            <a:off x="9390063" y="348932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585" name="Rectangle 190"/>
          <p:cNvSpPr>
            <a:spLocks noChangeArrowheads="1"/>
          </p:cNvSpPr>
          <p:nvPr/>
        </p:nvSpPr>
        <p:spPr bwMode="auto">
          <a:xfrm>
            <a:off x="9475788" y="348932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1586" name="Rectangle 191"/>
          <p:cNvSpPr>
            <a:spLocks noChangeArrowheads="1"/>
          </p:cNvSpPr>
          <p:nvPr/>
        </p:nvSpPr>
        <p:spPr bwMode="auto">
          <a:xfrm>
            <a:off x="9563100" y="3489325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87" name="Rectangle 192"/>
          <p:cNvSpPr>
            <a:spLocks noChangeArrowheads="1"/>
          </p:cNvSpPr>
          <p:nvPr/>
        </p:nvSpPr>
        <p:spPr bwMode="auto">
          <a:xfrm>
            <a:off x="9242425" y="36449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1588" name="Rectangle 193"/>
          <p:cNvSpPr>
            <a:spLocks noChangeArrowheads="1"/>
          </p:cNvSpPr>
          <p:nvPr/>
        </p:nvSpPr>
        <p:spPr bwMode="auto">
          <a:xfrm>
            <a:off x="9326563" y="36449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589" name="Rectangle 194"/>
          <p:cNvSpPr>
            <a:spLocks noChangeArrowheads="1"/>
          </p:cNvSpPr>
          <p:nvPr/>
        </p:nvSpPr>
        <p:spPr bwMode="auto">
          <a:xfrm>
            <a:off x="9413875" y="3644900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590" name="Rectangle 195"/>
          <p:cNvSpPr>
            <a:spLocks noChangeArrowheads="1"/>
          </p:cNvSpPr>
          <p:nvPr/>
        </p:nvSpPr>
        <p:spPr bwMode="auto">
          <a:xfrm>
            <a:off x="9451975" y="36449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591" name="Line 196"/>
          <p:cNvSpPr>
            <a:spLocks noChangeShapeType="1"/>
          </p:cNvSpPr>
          <p:nvPr/>
        </p:nvSpPr>
        <p:spPr bwMode="auto">
          <a:xfrm>
            <a:off x="3181350" y="3228976"/>
            <a:ext cx="452438" cy="4763"/>
          </a:xfrm>
          <a:prstGeom prst="line">
            <a:avLst/>
          </a:prstGeom>
          <a:noFill/>
          <a:ln w="316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92" name="Freeform 197"/>
          <p:cNvSpPr>
            <a:spLocks noChangeArrowheads="1"/>
          </p:cNvSpPr>
          <p:nvPr/>
        </p:nvSpPr>
        <p:spPr bwMode="auto">
          <a:xfrm>
            <a:off x="7805739" y="3616325"/>
            <a:ext cx="77787" cy="77788"/>
          </a:xfrm>
          <a:custGeom>
            <a:avLst/>
            <a:gdLst>
              <a:gd name="T0" fmla="*/ 0 w 49"/>
              <a:gd name="T1" fmla="*/ 0 h 49"/>
              <a:gd name="T2" fmla="*/ 0 w 49"/>
              <a:gd name="T3" fmla="*/ 49 h 49"/>
              <a:gd name="T4" fmla="*/ 49 w 49"/>
              <a:gd name="T5" fmla="*/ 26 h 49"/>
              <a:gd name="T6" fmla="*/ 0 w 49"/>
              <a:gd name="T7" fmla="*/ 3 h 49"/>
              <a:gd name="T8" fmla="*/ 0 w 49"/>
              <a:gd name="T9" fmla="*/ 3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0" y="49"/>
                </a:lnTo>
                <a:lnTo>
                  <a:pt x="49" y="26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93" name="Line 198"/>
          <p:cNvSpPr>
            <a:spLocks noChangeShapeType="1"/>
          </p:cNvSpPr>
          <p:nvPr/>
        </p:nvSpPr>
        <p:spPr bwMode="auto">
          <a:xfrm>
            <a:off x="7094539" y="3652838"/>
            <a:ext cx="720725" cy="4762"/>
          </a:xfrm>
          <a:prstGeom prst="line">
            <a:avLst/>
          </a:prstGeom>
          <a:noFill/>
          <a:ln w="316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94" name="Line 199"/>
          <p:cNvSpPr>
            <a:spLocks noChangeShapeType="1"/>
          </p:cNvSpPr>
          <p:nvPr/>
        </p:nvSpPr>
        <p:spPr bwMode="auto">
          <a:xfrm>
            <a:off x="2287588" y="3457576"/>
            <a:ext cx="889000" cy="4763"/>
          </a:xfrm>
          <a:prstGeom prst="line">
            <a:avLst/>
          </a:prstGeom>
          <a:noFill/>
          <a:ln w="316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95" name="Freeform 200"/>
          <p:cNvSpPr>
            <a:spLocks noChangeArrowheads="1"/>
          </p:cNvSpPr>
          <p:nvPr/>
        </p:nvSpPr>
        <p:spPr bwMode="auto">
          <a:xfrm>
            <a:off x="7359650" y="3224214"/>
            <a:ext cx="76200" cy="77787"/>
          </a:xfrm>
          <a:custGeom>
            <a:avLst/>
            <a:gdLst>
              <a:gd name="T0" fmla="*/ 0 w 48"/>
              <a:gd name="T1" fmla="*/ 0 h 49"/>
              <a:gd name="T2" fmla="*/ 2 w 48"/>
              <a:gd name="T3" fmla="*/ 49 h 49"/>
              <a:gd name="T4" fmla="*/ 48 w 48"/>
              <a:gd name="T5" fmla="*/ 26 h 49"/>
              <a:gd name="T6" fmla="*/ 2 w 48"/>
              <a:gd name="T7" fmla="*/ 3 h 49"/>
              <a:gd name="T8" fmla="*/ 2 w 48"/>
              <a:gd name="T9" fmla="*/ 3 h 49"/>
              <a:gd name="T10" fmla="*/ 0 w 48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8"/>
              <a:gd name="T19" fmla="*/ 0 h 49"/>
              <a:gd name="T20" fmla="*/ 48 w 48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" h="49">
                <a:moveTo>
                  <a:pt x="0" y="0"/>
                </a:moveTo>
                <a:lnTo>
                  <a:pt x="2" y="49"/>
                </a:lnTo>
                <a:lnTo>
                  <a:pt x="48" y="26"/>
                </a:lnTo>
                <a:lnTo>
                  <a:pt x="2" y="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96" name="Line 201"/>
          <p:cNvSpPr>
            <a:spLocks noChangeShapeType="1"/>
          </p:cNvSpPr>
          <p:nvPr/>
        </p:nvSpPr>
        <p:spPr bwMode="auto">
          <a:xfrm>
            <a:off x="7094539" y="3260726"/>
            <a:ext cx="287337" cy="4763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97" name="Freeform 202"/>
          <p:cNvSpPr>
            <a:spLocks noChangeArrowheads="1"/>
          </p:cNvSpPr>
          <p:nvPr/>
        </p:nvSpPr>
        <p:spPr bwMode="auto">
          <a:xfrm>
            <a:off x="3351213" y="3657601"/>
            <a:ext cx="6596062" cy="2195513"/>
          </a:xfrm>
          <a:custGeom>
            <a:avLst/>
            <a:gdLst>
              <a:gd name="T0" fmla="*/ 3939 w 4155"/>
              <a:gd name="T1" fmla="*/ 0 h 1383"/>
              <a:gd name="T2" fmla="*/ 4155 w 4155"/>
              <a:gd name="T3" fmla="*/ 0 h 1383"/>
              <a:gd name="T4" fmla="*/ 4155 w 4155"/>
              <a:gd name="T5" fmla="*/ 1383 h 1383"/>
              <a:gd name="T6" fmla="*/ 0 w 4155"/>
              <a:gd name="T7" fmla="*/ 1380 h 1383"/>
              <a:gd name="T8" fmla="*/ 0 w 4155"/>
              <a:gd name="T9" fmla="*/ 308 h 1383"/>
              <a:gd name="T10" fmla="*/ 178 w 4155"/>
              <a:gd name="T11" fmla="*/ 308 h 138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55"/>
              <a:gd name="T19" fmla="*/ 0 h 1383"/>
              <a:gd name="T20" fmla="*/ 4155 w 4155"/>
              <a:gd name="T21" fmla="*/ 1383 h 138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155" h="1383">
                <a:moveTo>
                  <a:pt x="3939" y="0"/>
                </a:moveTo>
                <a:lnTo>
                  <a:pt x="4155" y="0"/>
                </a:lnTo>
                <a:lnTo>
                  <a:pt x="4155" y="1383"/>
                </a:lnTo>
                <a:lnTo>
                  <a:pt x="0" y="1380"/>
                </a:lnTo>
                <a:lnTo>
                  <a:pt x="0" y="308"/>
                </a:lnTo>
                <a:lnTo>
                  <a:pt x="178" y="308"/>
                </a:lnTo>
              </a:path>
            </a:pathLst>
          </a:custGeom>
          <a:noFill/>
          <a:ln w="316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98" name="Rectangle 203"/>
          <p:cNvSpPr>
            <a:spLocks noChangeArrowheads="1"/>
          </p:cNvSpPr>
          <p:nvPr/>
        </p:nvSpPr>
        <p:spPr bwMode="auto">
          <a:xfrm>
            <a:off x="3754438" y="3978275"/>
            <a:ext cx="14587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61599" name="Rectangle 204"/>
          <p:cNvSpPr>
            <a:spLocks noChangeArrowheads="1"/>
          </p:cNvSpPr>
          <p:nvPr/>
        </p:nvSpPr>
        <p:spPr bwMode="auto">
          <a:xfrm>
            <a:off x="3898900" y="3978275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600" name="Rectangle 205"/>
          <p:cNvSpPr>
            <a:spLocks noChangeArrowheads="1"/>
          </p:cNvSpPr>
          <p:nvPr/>
        </p:nvSpPr>
        <p:spPr bwMode="auto">
          <a:xfrm>
            <a:off x="3948113" y="3978275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1601" name="Rectangle 206"/>
          <p:cNvSpPr>
            <a:spLocks noChangeArrowheads="1"/>
          </p:cNvSpPr>
          <p:nvPr/>
        </p:nvSpPr>
        <p:spPr bwMode="auto">
          <a:xfrm>
            <a:off x="3984625" y="3978275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602" name="Rectangle 207"/>
          <p:cNvSpPr>
            <a:spLocks noChangeArrowheads="1"/>
          </p:cNvSpPr>
          <p:nvPr/>
        </p:nvSpPr>
        <p:spPr bwMode="auto">
          <a:xfrm>
            <a:off x="4024313" y="397827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603" name="Rectangle 208"/>
          <p:cNvSpPr>
            <a:spLocks noChangeArrowheads="1"/>
          </p:cNvSpPr>
          <p:nvPr/>
        </p:nvSpPr>
        <p:spPr bwMode="auto">
          <a:xfrm>
            <a:off x="4113214" y="3978275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04" name="Rectangle 209"/>
          <p:cNvSpPr>
            <a:spLocks noChangeArrowheads="1"/>
          </p:cNvSpPr>
          <p:nvPr/>
        </p:nvSpPr>
        <p:spPr bwMode="auto">
          <a:xfrm>
            <a:off x="3756025" y="412908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1605" name="Rectangle 210"/>
          <p:cNvSpPr>
            <a:spLocks noChangeArrowheads="1"/>
          </p:cNvSpPr>
          <p:nvPr/>
        </p:nvSpPr>
        <p:spPr bwMode="auto">
          <a:xfrm>
            <a:off x="3836988" y="412908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606" name="Rectangle 211"/>
          <p:cNvSpPr>
            <a:spLocks noChangeArrowheads="1"/>
          </p:cNvSpPr>
          <p:nvPr/>
        </p:nvSpPr>
        <p:spPr bwMode="auto">
          <a:xfrm>
            <a:off x="3925888" y="4129088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607" name="Rectangle 212"/>
          <p:cNvSpPr>
            <a:spLocks noChangeArrowheads="1"/>
          </p:cNvSpPr>
          <p:nvPr/>
        </p:nvSpPr>
        <p:spPr bwMode="auto">
          <a:xfrm>
            <a:off x="3965575" y="412908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608" name="Freeform 213"/>
          <p:cNvSpPr>
            <a:spLocks noChangeArrowheads="1"/>
          </p:cNvSpPr>
          <p:nvPr/>
        </p:nvSpPr>
        <p:spPr bwMode="auto">
          <a:xfrm>
            <a:off x="5405439" y="3917950"/>
            <a:ext cx="669925" cy="1155700"/>
          </a:xfrm>
          <a:custGeom>
            <a:avLst/>
            <a:gdLst>
              <a:gd name="T0" fmla="*/ 0 w 422"/>
              <a:gd name="T1" fmla="*/ 725 h 728"/>
              <a:gd name="T2" fmla="*/ 250 w 422"/>
              <a:gd name="T3" fmla="*/ 728 h 728"/>
              <a:gd name="T4" fmla="*/ 250 w 422"/>
              <a:gd name="T5" fmla="*/ 0 h 728"/>
              <a:gd name="T6" fmla="*/ 256 w 422"/>
              <a:gd name="T7" fmla="*/ 0 h 728"/>
              <a:gd name="T8" fmla="*/ 267 w 422"/>
              <a:gd name="T9" fmla="*/ 0 h 728"/>
              <a:gd name="T10" fmla="*/ 287 w 422"/>
              <a:gd name="T11" fmla="*/ 0 h 728"/>
              <a:gd name="T12" fmla="*/ 310 w 422"/>
              <a:gd name="T13" fmla="*/ 0 h 728"/>
              <a:gd name="T14" fmla="*/ 336 w 422"/>
              <a:gd name="T15" fmla="*/ 0 h 728"/>
              <a:gd name="T16" fmla="*/ 362 w 422"/>
              <a:gd name="T17" fmla="*/ 0 h 728"/>
              <a:gd name="T18" fmla="*/ 385 w 422"/>
              <a:gd name="T19" fmla="*/ 0 h 728"/>
              <a:gd name="T20" fmla="*/ 405 w 422"/>
              <a:gd name="T21" fmla="*/ 0 h 728"/>
              <a:gd name="T22" fmla="*/ 417 w 422"/>
              <a:gd name="T23" fmla="*/ 0 h 728"/>
              <a:gd name="T24" fmla="*/ 422 w 422"/>
              <a:gd name="T25" fmla="*/ 0 h 72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22"/>
              <a:gd name="T40" fmla="*/ 0 h 728"/>
              <a:gd name="T41" fmla="*/ 422 w 422"/>
              <a:gd name="T42" fmla="*/ 728 h 72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22" h="728">
                <a:moveTo>
                  <a:pt x="0" y="725"/>
                </a:moveTo>
                <a:lnTo>
                  <a:pt x="250" y="728"/>
                </a:lnTo>
                <a:lnTo>
                  <a:pt x="250" y="0"/>
                </a:lnTo>
                <a:lnTo>
                  <a:pt x="256" y="0"/>
                </a:lnTo>
                <a:lnTo>
                  <a:pt x="267" y="0"/>
                </a:lnTo>
                <a:lnTo>
                  <a:pt x="287" y="0"/>
                </a:lnTo>
                <a:lnTo>
                  <a:pt x="310" y="0"/>
                </a:lnTo>
                <a:lnTo>
                  <a:pt x="336" y="0"/>
                </a:lnTo>
                <a:lnTo>
                  <a:pt x="362" y="0"/>
                </a:lnTo>
                <a:lnTo>
                  <a:pt x="385" y="0"/>
                </a:lnTo>
                <a:lnTo>
                  <a:pt x="405" y="0"/>
                </a:lnTo>
                <a:lnTo>
                  <a:pt x="417" y="0"/>
                </a:lnTo>
                <a:lnTo>
                  <a:pt x="422" y="0"/>
                </a:lnTo>
              </a:path>
            </a:pathLst>
          </a:custGeom>
          <a:noFill/>
          <a:ln w="316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09" name="Freeform 214"/>
          <p:cNvSpPr>
            <a:spLocks noChangeArrowheads="1"/>
          </p:cNvSpPr>
          <p:nvPr/>
        </p:nvSpPr>
        <p:spPr bwMode="auto">
          <a:xfrm>
            <a:off x="4833938" y="4465639"/>
            <a:ext cx="571500" cy="1214437"/>
          </a:xfrm>
          <a:custGeom>
            <a:avLst/>
            <a:gdLst>
              <a:gd name="T0" fmla="*/ 179 w 360"/>
              <a:gd name="T1" fmla="*/ 762 h 765"/>
              <a:gd name="T2" fmla="*/ 210 w 360"/>
              <a:gd name="T3" fmla="*/ 759 h 765"/>
              <a:gd name="T4" fmla="*/ 236 w 360"/>
              <a:gd name="T5" fmla="*/ 745 h 765"/>
              <a:gd name="T6" fmla="*/ 262 w 360"/>
              <a:gd name="T7" fmla="*/ 722 h 765"/>
              <a:gd name="T8" fmla="*/ 285 w 360"/>
              <a:gd name="T9" fmla="*/ 690 h 765"/>
              <a:gd name="T10" fmla="*/ 308 w 360"/>
              <a:gd name="T11" fmla="*/ 653 h 765"/>
              <a:gd name="T12" fmla="*/ 325 w 360"/>
              <a:gd name="T13" fmla="*/ 607 h 765"/>
              <a:gd name="T14" fmla="*/ 340 w 360"/>
              <a:gd name="T15" fmla="*/ 558 h 765"/>
              <a:gd name="T16" fmla="*/ 351 w 360"/>
              <a:gd name="T17" fmla="*/ 503 h 765"/>
              <a:gd name="T18" fmla="*/ 357 w 360"/>
              <a:gd name="T19" fmla="*/ 443 h 765"/>
              <a:gd name="T20" fmla="*/ 360 w 360"/>
              <a:gd name="T21" fmla="*/ 383 h 765"/>
              <a:gd name="T22" fmla="*/ 357 w 360"/>
              <a:gd name="T23" fmla="*/ 319 h 765"/>
              <a:gd name="T24" fmla="*/ 351 w 360"/>
              <a:gd name="T25" fmla="*/ 262 h 765"/>
              <a:gd name="T26" fmla="*/ 340 w 360"/>
              <a:gd name="T27" fmla="*/ 207 h 765"/>
              <a:gd name="T28" fmla="*/ 325 w 360"/>
              <a:gd name="T29" fmla="*/ 156 h 765"/>
              <a:gd name="T30" fmla="*/ 308 w 360"/>
              <a:gd name="T31" fmla="*/ 112 h 765"/>
              <a:gd name="T32" fmla="*/ 285 w 360"/>
              <a:gd name="T33" fmla="*/ 75 h 765"/>
              <a:gd name="T34" fmla="*/ 262 w 360"/>
              <a:gd name="T35" fmla="*/ 43 h 765"/>
              <a:gd name="T36" fmla="*/ 236 w 360"/>
              <a:gd name="T37" fmla="*/ 20 h 765"/>
              <a:gd name="T38" fmla="*/ 210 w 360"/>
              <a:gd name="T39" fmla="*/ 6 h 765"/>
              <a:gd name="T40" fmla="*/ 181 w 360"/>
              <a:gd name="T41" fmla="*/ 0 h 765"/>
              <a:gd name="T42" fmla="*/ 150 w 360"/>
              <a:gd name="T43" fmla="*/ 6 h 765"/>
              <a:gd name="T44" fmla="*/ 124 w 360"/>
              <a:gd name="T45" fmla="*/ 20 h 765"/>
              <a:gd name="T46" fmla="*/ 98 w 360"/>
              <a:gd name="T47" fmla="*/ 43 h 765"/>
              <a:gd name="T48" fmla="*/ 75 w 360"/>
              <a:gd name="T49" fmla="*/ 75 h 765"/>
              <a:gd name="T50" fmla="*/ 52 w 360"/>
              <a:gd name="T51" fmla="*/ 112 h 765"/>
              <a:gd name="T52" fmla="*/ 35 w 360"/>
              <a:gd name="T53" fmla="*/ 156 h 765"/>
              <a:gd name="T54" fmla="*/ 20 w 360"/>
              <a:gd name="T55" fmla="*/ 207 h 765"/>
              <a:gd name="T56" fmla="*/ 9 w 360"/>
              <a:gd name="T57" fmla="*/ 262 h 765"/>
              <a:gd name="T58" fmla="*/ 3 w 360"/>
              <a:gd name="T59" fmla="*/ 319 h 765"/>
              <a:gd name="T60" fmla="*/ 0 w 360"/>
              <a:gd name="T61" fmla="*/ 383 h 765"/>
              <a:gd name="T62" fmla="*/ 3 w 360"/>
              <a:gd name="T63" fmla="*/ 443 h 765"/>
              <a:gd name="T64" fmla="*/ 9 w 360"/>
              <a:gd name="T65" fmla="*/ 503 h 765"/>
              <a:gd name="T66" fmla="*/ 20 w 360"/>
              <a:gd name="T67" fmla="*/ 558 h 765"/>
              <a:gd name="T68" fmla="*/ 35 w 360"/>
              <a:gd name="T69" fmla="*/ 607 h 765"/>
              <a:gd name="T70" fmla="*/ 52 w 360"/>
              <a:gd name="T71" fmla="*/ 653 h 765"/>
              <a:gd name="T72" fmla="*/ 75 w 360"/>
              <a:gd name="T73" fmla="*/ 690 h 765"/>
              <a:gd name="T74" fmla="*/ 98 w 360"/>
              <a:gd name="T75" fmla="*/ 722 h 765"/>
              <a:gd name="T76" fmla="*/ 124 w 360"/>
              <a:gd name="T77" fmla="*/ 745 h 765"/>
              <a:gd name="T78" fmla="*/ 150 w 360"/>
              <a:gd name="T79" fmla="*/ 759 h 765"/>
              <a:gd name="T80" fmla="*/ 181 w 360"/>
              <a:gd name="T81" fmla="*/ 765 h 765"/>
              <a:gd name="T82" fmla="*/ 181 w 360"/>
              <a:gd name="T83" fmla="*/ 765 h 765"/>
              <a:gd name="T84" fmla="*/ 179 w 360"/>
              <a:gd name="T85" fmla="*/ 762 h 765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60"/>
              <a:gd name="T130" fmla="*/ 0 h 765"/>
              <a:gd name="T131" fmla="*/ 360 w 360"/>
              <a:gd name="T132" fmla="*/ 765 h 765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60" h="765">
                <a:moveTo>
                  <a:pt x="179" y="762"/>
                </a:moveTo>
                <a:lnTo>
                  <a:pt x="210" y="759"/>
                </a:lnTo>
                <a:lnTo>
                  <a:pt x="236" y="745"/>
                </a:lnTo>
                <a:lnTo>
                  <a:pt x="262" y="722"/>
                </a:lnTo>
                <a:lnTo>
                  <a:pt x="285" y="690"/>
                </a:lnTo>
                <a:lnTo>
                  <a:pt x="308" y="653"/>
                </a:lnTo>
                <a:lnTo>
                  <a:pt x="325" y="607"/>
                </a:lnTo>
                <a:lnTo>
                  <a:pt x="340" y="558"/>
                </a:lnTo>
                <a:lnTo>
                  <a:pt x="351" y="503"/>
                </a:lnTo>
                <a:lnTo>
                  <a:pt x="357" y="443"/>
                </a:lnTo>
                <a:lnTo>
                  <a:pt x="360" y="383"/>
                </a:lnTo>
                <a:lnTo>
                  <a:pt x="357" y="319"/>
                </a:lnTo>
                <a:lnTo>
                  <a:pt x="351" y="262"/>
                </a:lnTo>
                <a:lnTo>
                  <a:pt x="340" y="207"/>
                </a:lnTo>
                <a:lnTo>
                  <a:pt x="325" y="156"/>
                </a:lnTo>
                <a:lnTo>
                  <a:pt x="308" y="112"/>
                </a:lnTo>
                <a:lnTo>
                  <a:pt x="285" y="75"/>
                </a:lnTo>
                <a:lnTo>
                  <a:pt x="262" y="43"/>
                </a:lnTo>
                <a:lnTo>
                  <a:pt x="236" y="20"/>
                </a:lnTo>
                <a:lnTo>
                  <a:pt x="210" y="6"/>
                </a:lnTo>
                <a:lnTo>
                  <a:pt x="181" y="0"/>
                </a:lnTo>
                <a:lnTo>
                  <a:pt x="150" y="6"/>
                </a:lnTo>
                <a:lnTo>
                  <a:pt x="124" y="20"/>
                </a:lnTo>
                <a:lnTo>
                  <a:pt x="98" y="43"/>
                </a:lnTo>
                <a:lnTo>
                  <a:pt x="75" y="75"/>
                </a:lnTo>
                <a:lnTo>
                  <a:pt x="52" y="112"/>
                </a:lnTo>
                <a:lnTo>
                  <a:pt x="35" y="156"/>
                </a:lnTo>
                <a:lnTo>
                  <a:pt x="20" y="207"/>
                </a:lnTo>
                <a:lnTo>
                  <a:pt x="9" y="262"/>
                </a:lnTo>
                <a:lnTo>
                  <a:pt x="3" y="319"/>
                </a:lnTo>
                <a:lnTo>
                  <a:pt x="0" y="383"/>
                </a:lnTo>
                <a:lnTo>
                  <a:pt x="3" y="443"/>
                </a:lnTo>
                <a:lnTo>
                  <a:pt x="9" y="503"/>
                </a:lnTo>
                <a:lnTo>
                  <a:pt x="20" y="558"/>
                </a:lnTo>
                <a:lnTo>
                  <a:pt x="35" y="607"/>
                </a:lnTo>
                <a:lnTo>
                  <a:pt x="52" y="653"/>
                </a:lnTo>
                <a:lnTo>
                  <a:pt x="75" y="690"/>
                </a:lnTo>
                <a:lnTo>
                  <a:pt x="98" y="722"/>
                </a:lnTo>
                <a:lnTo>
                  <a:pt x="124" y="745"/>
                </a:lnTo>
                <a:lnTo>
                  <a:pt x="150" y="759"/>
                </a:lnTo>
                <a:lnTo>
                  <a:pt x="181" y="765"/>
                </a:lnTo>
                <a:lnTo>
                  <a:pt x="179" y="7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10" name="Freeform 215"/>
          <p:cNvSpPr>
            <a:spLocks noChangeArrowheads="1"/>
          </p:cNvSpPr>
          <p:nvPr/>
        </p:nvSpPr>
        <p:spPr bwMode="auto">
          <a:xfrm>
            <a:off x="4833938" y="4465639"/>
            <a:ext cx="571500" cy="1214437"/>
          </a:xfrm>
          <a:custGeom>
            <a:avLst/>
            <a:gdLst>
              <a:gd name="T0" fmla="*/ 179 w 360"/>
              <a:gd name="T1" fmla="*/ 762 h 765"/>
              <a:gd name="T2" fmla="*/ 210 w 360"/>
              <a:gd name="T3" fmla="*/ 759 h 765"/>
              <a:gd name="T4" fmla="*/ 236 w 360"/>
              <a:gd name="T5" fmla="*/ 745 h 765"/>
              <a:gd name="T6" fmla="*/ 262 w 360"/>
              <a:gd name="T7" fmla="*/ 722 h 765"/>
              <a:gd name="T8" fmla="*/ 285 w 360"/>
              <a:gd name="T9" fmla="*/ 690 h 765"/>
              <a:gd name="T10" fmla="*/ 308 w 360"/>
              <a:gd name="T11" fmla="*/ 653 h 765"/>
              <a:gd name="T12" fmla="*/ 325 w 360"/>
              <a:gd name="T13" fmla="*/ 607 h 765"/>
              <a:gd name="T14" fmla="*/ 340 w 360"/>
              <a:gd name="T15" fmla="*/ 558 h 765"/>
              <a:gd name="T16" fmla="*/ 351 w 360"/>
              <a:gd name="T17" fmla="*/ 503 h 765"/>
              <a:gd name="T18" fmla="*/ 357 w 360"/>
              <a:gd name="T19" fmla="*/ 443 h 765"/>
              <a:gd name="T20" fmla="*/ 360 w 360"/>
              <a:gd name="T21" fmla="*/ 383 h 765"/>
              <a:gd name="T22" fmla="*/ 357 w 360"/>
              <a:gd name="T23" fmla="*/ 319 h 765"/>
              <a:gd name="T24" fmla="*/ 351 w 360"/>
              <a:gd name="T25" fmla="*/ 262 h 765"/>
              <a:gd name="T26" fmla="*/ 340 w 360"/>
              <a:gd name="T27" fmla="*/ 207 h 765"/>
              <a:gd name="T28" fmla="*/ 325 w 360"/>
              <a:gd name="T29" fmla="*/ 156 h 765"/>
              <a:gd name="T30" fmla="*/ 308 w 360"/>
              <a:gd name="T31" fmla="*/ 112 h 765"/>
              <a:gd name="T32" fmla="*/ 285 w 360"/>
              <a:gd name="T33" fmla="*/ 75 h 765"/>
              <a:gd name="T34" fmla="*/ 262 w 360"/>
              <a:gd name="T35" fmla="*/ 43 h 765"/>
              <a:gd name="T36" fmla="*/ 236 w 360"/>
              <a:gd name="T37" fmla="*/ 20 h 765"/>
              <a:gd name="T38" fmla="*/ 210 w 360"/>
              <a:gd name="T39" fmla="*/ 6 h 765"/>
              <a:gd name="T40" fmla="*/ 181 w 360"/>
              <a:gd name="T41" fmla="*/ 0 h 765"/>
              <a:gd name="T42" fmla="*/ 150 w 360"/>
              <a:gd name="T43" fmla="*/ 6 h 765"/>
              <a:gd name="T44" fmla="*/ 124 w 360"/>
              <a:gd name="T45" fmla="*/ 20 h 765"/>
              <a:gd name="T46" fmla="*/ 98 w 360"/>
              <a:gd name="T47" fmla="*/ 43 h 765"/>
              <a:gd name="T48" fmla="*/ 75 w 360"/>
              <a:gd name="T49" fmla="*/ 75 h 765"/>
              <a:gd name="T50" fmla="*/ 52 w 360"/>
              <a:gd name="T51" fmla="*/ 112 h 765"/>
              <a:gd name="T52" fmla="*/ 35 w 360"/>
              <a:gd name="T53" fmla="*/ 156 h 765"/>
              <a:gd name="T54" fmla="*/ 20 w 360"/>
              <a:gd name="T55" fmla="*/ 207 h 765"/>
              <a:gd name="T56" fmla="*/ 9 w 360"/>
              <a:gd name="T57" fmla="*/ 262 h 765"/>
              <a:gd name="T58" fmla="*/ 3 w 360"/>
              <a:gd name="T59" fmla="*/ 319 h 765"/>
              <a:gd name="T60" fmla="*/ 0 w 360"/>
              <a:gd name="T61" fmla="*/ 383 h 765"/>
              <a:gd name="T62" fmla="*/ 3 w 360"/>
              <a:gd name="T63" fmla="*/ 443 h 765"/>
              <a:gd name="T64" fmla="*/ 9 w 360"/>
              <a:gd name="T65" fmla="*/ 503 h 765"/>
              <a:gd name="T66" fmla="*/ 20 w 360"/>
              <a:gd name="T67" fmla="*/ 558 h 765"/>
              <a:gd name="T68" fmla="*/ 35 w 360"/>
              <a:gd name="T69" fmla="*/ 607 h 765"/>
              <a:gd name="T70" fmla="*/ 52 w 360"/>
              <a:gd name="T71" fmla="*/ 653 h 765"/>
              <a:gd name="T72" fmla="*/ 75 w 360"/>
              <a:gd name="T73" fmla="*/ 690 h 765"/>
              <a:gd name="T74" fmla="*/ 98 w 360"/>
              <a:gd name="T75" fmla="*/ 722 h 765"/>
              <a:gd name="T76" fmla="*/ 124 w 360"/>
              <a:gd name="T77" fmla="*/ 745 h 765"/>
              <a:gd name="T78" fmla="*/ 150 w 360"/>
              <a:gd name="T79" fmla="*/ 759 h 765"/>
              <a:gd name="T80" fmla="*/ 181 w 360"/>
              <a:gd name="T81" fmla="*/ 765 h 765"/>
              <a:gd name="T82" fmla="*/ 181 w 360"/>
              <a:gd name="T83" fmla="*/ 765 h 76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60"/>
              <a:gd name="T127" fmla="*/ 0 h 765"/>
              <a:gd name="T128" fmla="*/ 360 w 360"/>
              <a:gd name="T129" fmla="*/ 765 h 76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60" h="765">
                <a:moveTo>
                  <a:pt x="179" y="762"/>
                </a:moveTo>
                <a:lnTo>
                  <a:pt x="210" y="759"/>
                </a:lnTo>
                <a:lnTo>
                  <a:pt x="236" y="745"/>
                </a:lnTo>
                <a:lnTo>
                  <a:pt x="262" y="722"/>
                </a:lnTo>
                <a:lnTo>
                  <a:pt x="285" y="690"/>
                </a:lnTo>
                <a:lnTo>
                  <a:pt x="308" y="653"/>
                </a:lnTo>
                <a:lnTo>
                  <a:pt x="325" y="607"/>
                </a:lnTo>
                <a:lnTo>
                  <a:pt x="340" y="558"/>
                </a:lnTo>
                <a:lnTo>
                  <a:pt x="351" y="503"/>
                </a:lnTo>
                <a:lnTo>
                  <a:pt x="357" y="443"/>
                </a:lnTo>
                <a:lnTo>
                  <a:pt x="360" y="383"/>
                </a:lnTo>
                <a:lnTo>
                  <a:pt x="357" y="319"/>
                </a:lnTo>
                <a:lnTo>
                  <a:pt x="351" y="262"/>
                </a:lnTo>
                <a:lnTo>
                  <a:pt x="340" y="207"/>
                </a:lnTo>
                <a:lnTo>
                  <a:pt x="325" y="156"/>
                </a:lnTo>
                <a:lnTo>
                  <a:pt x="308" y="112"/>
                </a:lnTo>
                <a:lnTo>
                  <a:pt x="285" y="75"/>
                </a:lnTo>
                <a:lnTo>
                  <a:pt x="262" y="43"/>
                </a:lnTo>
                <a:lnTo>
                  <a:pt x="236" y="20"/>
                </a:lnTo>
                <a:lnTo>
                  <a:pt x="210" y="6"/>
                </a:lnTo>
                <a:lnTo>
                  <a:pt x="181" y="0"/>
                </a:lnTo>
                <a:lnTo>
                  <a:pt x="150" y="6"/>
                </a:lnTo>
                <a:lnTo>
                  <a:pt x="124" y="20"/>
                </a:lnTo>
                <a:lnTo>
                  <a:pt x="98" y="43"/>
                </a:lnTo>
                <a:lnTo>
                  <a:pt x="75" y="75"/>
                </a:lnTo>
                <a:lnTo>
                  <a:pt x="52" y="112"/>
                </a:lnTo>
                <a:lnTo>
                  <a:pt x="35" y="156"/>
                </a:lnTo>
                <a:lnTo>
                  <a:pt x="20" y="207"/>
                </a:lnTo>
                <a:lnTo>
                  <a:pt x="9" y="262"/>
                </a:lnTo>
                <a:lnTo>
                  <a:pt x="3" y="319"/>
                </a:lnTo>
                <a:lnTo>
                  <a:pt x="0" y="383"/>
                </a:lnTo>
                <a:lnTo>
                  <a:pt x="3" y="443"/>
                </a:lnTo>
                <a:lnTo>
                  <a:pt x="9" y="503"/>
                </a:lnTo>
                <a:lnTo>
                  <a:pt x="20" y="558"/>
                </a:lnTo>
                <a:lnTo>
                  <a:pt x="35" y="607"/>
                </a:lnTo>
                <a:lnTo>
                  <a:pt x="52" y="653"/>
                </a:lnTo>
                <a:lnTo>
                  <a:pt x="75" y="690"/>
                </a:lnTo>
                <a:lnTo>
                  <a:pt x="98" y="722"/>
                </a:lnTo>
                <a:lnTo>
                  <a:pt x="124" y="745"/>
                </a:lnTo>
                <a:lnTo>
                  <a:pt x="150" y="759"/>
                </a:lnTo>
                <a:lnTo>
                  <a:pt x="181" y="765"/>
                </a:lnTo>
              </a:path>
            </a:pathLst>
          </a:custGeom>
          <a:noFill/>
          <a:ln w="19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11" name="Rectangle 216"/>
          <p:cNvSpPr>
            <a:spLocks noChangeArrowheads="1"/>
          </p:cNvSpPr>
          <p:nvPr/>
        </p:nvSpPr>
        <p:spPr bwMode="auto">
          <a:xfrm>
            <a:off x="4972050" y="4895850"/>
            <a:ext cx="10259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1612" name="Rectangle 217"/>
          <p:cNvSpPr>
            <a:spLocks noChangeArrowheads="1"/>
          </p:cNvSpPr>
          <p:nvPr/>
        </p:nvSpPr>
        <p:spPr bwMode="auto">
          <a:xfrm>
            <a:off x="5076825" y="4895850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1613" name="Rectangle 218"/>
          <p:cNvSpPr>
            <a:spLocks noChangeArrowheads="1"/>
          </p:cNvSpPr>
          <p:nvPr/>
        </p:nvSpPr>
        <p:spPr bwMode="auto">
          <a:xfrm>
            <a:off x="5108575" y="489585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61614" name="Rectangle 219"/>
          <p:cNvSpPr>
            <a:spLocks noChangeArrowheads="1"/>
          </p:cNvSpPr>
          <p:nvPr/>
        </p:nvSpPr>
        <p:spPr bwMode="auto">
          <a:xfrm>
            <a:off x="5189538" y="489585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61615" name="Rectangle 220"/>
          <p:cNvSpPr>
            <a:spLocks noChangeArrowheads="1"/>
          </p:cNvSpPr>
          <p:nvPr/>
        </p:nvSpPr>
        <p:spPr bwMode="auto">
          <a:xfrm>
            <a:off x="5276850" y="4895850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16" name="Rectangle 221"/>
          <p:cNvSpPr>
            <a:spLocks noChangeArrowheads="1"/>
          </p:cNvSpPr>
          <p:nvPr/>
        </p:nvSpPr>
        <p:spPr bwMode="auto">
          <a:xfrm>
            <a:off x="4894263" y="507841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617" name="Rectangle 222"/>
          <p:cNvSpPr>
            <a:spLocks noChangeArrowheads="1"/>
          </p:cNvSpPr>
          <p:nvPr/>
        </p:nvSpPr>
        <p:spPr bwMode="auto">
          <a:xfrm>
            <a:off x="4979988" y="5078413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x</a:t>
            </a:r>
          </a:p>
        </p:txBody>
      </p:sp>
      <p:sp>
        <p:nvSpPr>
          <p:cNvPr id="61618" name="Rectangle 223"/>
          <p:cNvSpPr>
            <a:spLocks noChangeArrowheads="1"/>
          </p:cNvSpPr>
          <p:nvPr/>
        </p:nvSpPr>
        <p:spPr bwMode="auto">
          <a:xfrm>
            <a:off x="5057775" y="5078413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619" name="Rectangle 224"/>
          <p:cNvSpPr>
            <a:spLocks noChangeArrowheads="1"/>
          </p:cNvSpPr>
          <p:nvPr/>
        </p:nvSpPr>
        <p:spPr bwMode="auto">
          <a:xfrm>
            <a:off x="5097463" y="507841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620" name="Rectangle 225"/>
          <p:cNvSpPr>
            <a:spLocks noChangeArrowheads="1"/>
          </p:cNvSpPr>
          <p:nvPr/>
        </p:nvSpPr>
        <p:spPr bwMode="auto">
          <a:xfrm>
            <a:off x="5181600" y="507841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61621" name="Rectangle 226"/>
          <p:cNvSpPr>
            <a:spLocks noChangeArrowheads="1"/>
          </p:cNvSpPr>
          <p:nvPr/>
        </p:nvSpPr>
        <p:spPr bwMode="auto">
          <a:xfrm>
            <a:off x="5267325" y="507841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1622" name="Freeform 227"/>
          <p:cNvSpPr>
            <a:spLocks noChangeArrowheads="1"/>
          </p:cNvSpPr>
          <p:nvPr/>
        </p:nvSpPr>
        <p:spPr bwMode="auto">
          <a:xfrm>
            <a:off x="6145214" y="2695576"/>
            <a:ext cx="949325" cy="1533525"/>
          </a:xfrm>
          <a:custGeom>
            <a:avLst/>
            <a:gdLst>
              <a:gd name="T0" fmla="*/ 0 w 598"/>
              <a:gd name="T1" fmla="*/ 0 h 966"/>
              <a:gd name="T2" fmla="*/ 0 w 598"/>
              <a:gd name="T3" fmla="*/ 391 h 966"/>
              <a:gd name="T4" fmla="*/ 97 w 598"/>
              <a:gd name="T5" fmla="*/ 483 h 966"/>
              <a:gd name="T6" fmla="*/ 0 w 598"/>
              <a:gd name="T7" fmla="*/ 575 h 966"/>
              <a:gd name="T8" fmla="*/ 0 w 598"/>
              <a:gd name="T9" fmla="*/ 966 h 966"/>
              <a:gd name="T10" fmla="*/ 598 w 598"/>
              <a:gd name="T11" fmla="*/ 670 h 966"/>
              <a:gd name="T12" fmla="*/ 598 w 598"/>
              <a:gd name="T13" fmla="*/ 296 h 966"/>
              <a:gd name="T14" fmla="*/ 0 w 598"/>
              <a:gd name="T15" fmla="*/ 0 h 966"/>
              <a:gd name="T16" fmla="*/ 0 w 598"/>
              <a:gd name="T17" fmla="*/ 0 h 96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98"/>
              <a:gd name="T28" fmla="*/ 0 h 966"/>
              <a:gd name="T29" fmla="*/ 598 w 598"/>
              <a:gd name="T30" fmla="*/ 966 h 96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98" h="966">
                <a:moveTo>
                  <a:pt x="0" y="0"/>
                </a:moveTo>
                <a:lnTo>
                  <a:pt x="0" y="391"/>
                </a:lnTo>
                <a:lnTo>
                  <a:pt x="97" y="483"/>
                </a:lnTo>
                <a:lnTo>
                  <a:pt x="0" y="575"/>
                </a:lnTo>
                <a:lnTo>
                  <a:pt x="0" y="966"/>
                </a:lnTo>
                <a:lnTo>
                  <a:pt x="598" y="670"/>
                </a:lnTo>
                <a:lnTo>
                  <a:pt x="598" y="29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708" name="Freeform 228"/>
          <p:cNvSpPr>
            <a:spLocks noChangeArrowheads="1"/>
          </p:cNvSpPr>
          <p:nvPr/>
        </p:nvSpPr>
        <p:spPr bwMode="auto">
          <a:xfrm>
            <a:off x="6145214" y="2695576"/>
            <a:ext cx="949325" cy="1533525"/>
          </a:xfrm>
          <a:custGeom>
            <a:avLst/>
            <a:gdLst>
              <a:gd name="T0" fmla="*/ 0 w 598"/>
              <a:gd name="T1" fmla="*/ 0 h 966"/>
              <a:gd name="T2" fmla="*/ 0 w 598"/>
              <a:gd name="T3" fmla="*/ 391 h 966"/>
              <a:gd name="T4" fmla="*/ 97 w 598"/>
              <a:gd name="T5" fmla="*/ 483 h 966"/>
              <a:gd name="T6" fmla="*/ 0 w 598"/>
              <a:gd name="T7" fmla="*/ 575 h 966"/>
              <a:gd name="T8" fmla="*/ 0 w 598"/>
              <a:gd name="T9" fmla="*/ 966 h 966"/>
              <a:gd name="T10" fmla="*/ 598 w 598"/>
              <a:gd name="T11" fmla="*/ 670 h 966"/>
              <a:gd name="T12" fmla="*/ 598 w 598"/>
              <a:gd name="T13" fmla="*/ 296 h 966"/>
              <a:gd name="T14" fmla="*/ 0 w 598"/>
              <a:gd name="T15" fmla="*/ 0 h 966"/>
              <a:gd name="T16" fmla="*/ 0 w 598"/>
              <a:gd name="T17" fmla="*/ 0 h 96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598"/>
              <a:gd name="T28" fmla="*/ 0 h 966"/>
              <a:gd name="T29" fmla="*/ 598 w 598"/>
              <a:gd name="T30" fmla="*/ 966 h 96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598" h="966">
                <a:moveTo>
                  <a:pt x="0" y="0"/>
                </a:moveTo>
                <a:lnTo>
                  <a:pt x="0" y="391"/>
                </a:lnTo>
                <a:lnTo>
                  <a:pt x="97" y="483"/>
                </a:lnTo>
                <a:lnTo>
                  <a:pt x="0" y="575"/>
                </a:lnTo>
                <a:lnTo>
                  <a:pt x="0" y="966"/>
                </a:lnTo>
                <a:lnTo>
                  <a:pt x="598" y="670"/>
                </a:lnTo>
                <a:lnTo>
                  <a:pt x="598" y="296"/>
                </a:lnTo>
                <a:lnTo>
                  <a:pt x="0" y="0"/>
                </a:lnTo>
              </a:path>
            </a:pathLst>
          </a:custGeom>
          <a:noFill/>
          <a:ln w="19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24" name="Rectangle 229"/>
          <p:cNvSpPr>
            <a:spLocks noChangeArrowheads="1"/>
          </p:cNvSpPr>
          <p:nvPr/>
        </p:nvSpPr>
        <p:spPr bwMode="auto">
          <a:xfrm>
            <a:off x="6778625" y="3411538"/>
            <a:ext cx="10259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625" name="Rectangle 230"/>
          <p:cNvSpPr>
            <a:spLocks noChangeArrowheads="1"/>
          </p:cNvSpPr>
          <p:nvPr/>
        </p:nvSpPr>
        <p:spPr bwMode="auto">
          <a:xfrm>
            <a:off x="6878638" y="341153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1626" name="Rectangle 231"/>
          <p:cNvSpPr>
            <a:spLocks noChangeArrowheads="1"/>
          </p:cNvSpPr>
          <p:nvPr/>
        </p:nvSpPr>
        <p:spPr bwMode="auto">
          <a:xfrm>
            <a:off x="6961188" y="3411538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1627" name="Rectangle 232"/>
          <p:cNvSpPr>
            <a:spLocks noChangeArrowheads="1"/>
          </p:cNvSpPr>
          <p:nvPr/>
        </p:nvSpPr>
        <p:spPr bwMode="auto">
          <a:xfrm>
            <a:off x="7070725" y="3411538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28" name="Rectangle 233"/>
          <p:cNvSpPr>
            <a:spLocks noChangeArrowheads="1"/>
          </p:cNvSpPr>
          <p:nvPr/>
        </p:nvSpPr>
        <p:spPr bwMode="auto">
          <a:xfrm>
            <a:off x="6661150" y="3567113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629" name="Rectangle 234"/>
          <p:cNvSpPr>
            <a:spLocks noChangeArrowheads="1"/>
          </p:cNvSpPr>
          <p:nvPr/>
        </p:nvSpPr>
        <p:spPr bwMode="auto">
          <a:xfrm>
            <a:off x="6708775" y="356711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630" name="Rectangle 235"/>
          <p:cNvSpPr>
            <a:spLocks noChangeArrowheads="1"/>
          </p:cNvSpPr>
          <p:nvPr/>
        </p:nvSpPr>
        <p:spPr bwMode="auto">
          <a:xfrm>
            <a:off x="6792913" y="3567113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1631" name="Rectangle 236"/>
          <p:cNvSpPr>
            <a:spLocks noChangeArrowheads="1"/>
          </p:cNvSpPr>
          <p:nvPr/>
        </p:nvSpPr>
        <p:spPr bwMode="auto">
          <a:xfrm>
            <a:off x="6870700" y="356711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1632" name="Rectangle 237"/>
          <p:cNvSpPr>
            <a:spLocks noChangeArrowheads="1"/>
          </p:cNvSpPr>
          <p:nvPr/>
        </p:nvSpPr>
        <p:spPr bwMode="auto">
          <a:xfrm>
            <a:off x="6953250" y="3567113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1633" name="Rectangle 238"/>
          <p:cNvSpPr>
            <a:spLocks noChangeArrowheads="1"/>
          </p:cNvSpPr>
          <p:nvPr/>
        </p:nvSpPr>
        <p:spPr bwMode="auto">
          <a:xfrm>
            <a:off x="6989763" y="3567113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634" name="Rectangle 239"/>
          <p:cNvSpPr>
            <a:spLocks noChangeArrowheads="1"/>
          </p:cNvSpPr>
          <p:nvPr/>
        </p:nvSpPr>
        <p:spPr bwMode="auto">
          <a:xfrm>
            <a:off x="6742113" y="3175000"/>
            <a:ext cx="9457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Z</a:t>
            </a:r>
          </a:p>
        </p:txBody>
      </p:sp>
      <p:sp>
        <p:nvSpPr>
          <p:cNvPr id="61635" name="Rectangle 240"/>
          <p:cNvSpPr>
            <a:spLocks noChangeArrowheads="1"/>
          </p:cNvSpPr>
          <p:nvPr/>
        </p:nvSpPr>
        <p:spPr bwMode="auto">
          <a:xfrm>
            <a:off x="6832600" y="31750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636" name="Rectangle 241"/>
          <p:cNvSpPr>
            <a:spLocks noChangeArrowheads="1"/>
          </p:cNvSpPr>
          <p:nvPr/>
        </p:nvSpPr>
        <p:spPr bwMode="auto">
          <a:xfrm>
            <a:off x="6916738" y="3175000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637" name="Rectangle 242"/>
          <p:cNvSpPr>
            <a:spLocks noChangeArrowheads="1"/>
          </p:cNvSpPr>
          <p:nvPr/>
        </p:nvSpPr>
        <p:spPr bwMode="auto">
          <a:xfrm>
            <a:off x="6969125" y="31750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61638" name="Rectangle 243"/>
          <p:cNvSpPr>
            <a:spLocks noChangeArrowheads="1"/>
          </p:cNvSpPr>
          <p:nvPr/>
        </p:nvSpPr>
        <p:spPr bwMode="auto">
          <a:xfrm>
            <a:off x="6340475" y="3370263"/>
            <a:ext cx="10259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639" name="Rectangle 244"/>
          <p:cNvSpPr>
            <a:spLocks noChangeArrowheads="1"/>
          </p:cNvSpPr>
          <p:nvPr/>
        </p:nvSpPr>
        <p:spPr bwMode="auto">
          <a:xfrm>
            <a:off x="6440488" y="33702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1640" name="Rectangle 245"/>
          <p:cNvSpPr>
            <a:spLocks noChangeArrowheads="1"/>
          </p:cNvSpPr>
          <p:nvPr/>
        </p:nvSpPr>
        <p:spPr bwMode="auto">
          <a:xfrm>
            <a:off x="6523038" y="3370263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1641" name="Freeform 246"/>
          <p:cNvSpPr>
            <a:spLocks noChangeArrowheads="1"/>
          </p:cNvSpPr>
          <p:nvPr/>
        </p:nvSpPr>
        <p:spPr bwMode="auto">
          <a:xfrm>
            <a:off x="3140075" y="3192464"/>
            <a:ext cx="77788" cy="77787"/>
          </a:xfrm>
          <a:custGeom>
            <a:avLst/>
            <a:gdLst>
              <a:gd name="T0" fmla="*/ 23 w 49"/>
              <a:gd name="T1" fmla="*/ 49 h 49"/>
              <a:gd name="T2" fmla="*/ 29 w 49"/>
              <a:gd name="T3" fmla="*/ 49 h 49"/>
              <a:gd name="T4" fmla="*/ 32 w 49"/>
              <a:gd name="T5" fmla="*/ 49 h 49"/>
              <a:gd name="T6" fmla="*/ 35 w 49"/>
              <a:gd name="T7" fmla="*/ 46 h 49"/>
              <a:gd name="T8" fmla="*/ 41 w 49"/>
              <a:gd name="T9" fmla="*/ 43 h 49"/>
              <a:gd name="T10" fmla="*/ 44 w 49"/>
              <a:gd name="T11" fmla="*/ 43 h 49"/>
              <a:gd name="T12" fmla="*/ 44 w 49"/>
              <a:gd name="T13" fmla="*/ 40 h 49"/>
              <a:gd name="T14" fmla="*/ 46 w 49"/>
              <a:gd name="T15" fmla="*/ 37 h 49"/>
              <a:gd name="T16" fmla="*/ 49 w 49"/>
              <a:gd name="T17" fmla="*/ 32 h 49"/>
              <a:gd name="T18" fmla="*/ 49 w 49"/>
              <a:gd name="T19" fmla="*/ 29 h 49"/>
              <a:gd name="T20" fmla="*/ 49 w 49"/>
              <a:gd name="T21" fmla="*/ 26 h 49"/>
              <a:gd name="T22" fmla="*/ 49 w 49"/>
              <a:gd name="T23" fmla="*/ 20 h 49"/>
              <a:gd name="T24" fmla="*/ 49 w 49"/>
              <a:gd name="T25" fmla="*/ 17 h 49"/>
              <a:gd name="T26" fmla="*/ 46 w 49"/>
              <a:gd name="T27" fmla="*/ 14 h 49"/>
              <a:gd name="T28" fmla="*/ 44 w 49"/>
              <a:gd name="T29" fmla="*/ 12 h 49"/>
              <a:gd name="T30" fmla="*/ 44 w 49"/>
              <a:gd name="T31" fmla="*/ 9 h 49"/>
              <a:gd name="T32" fmla="*/ 41 w 49"/>
              <a:gd name="T33" fmla="*/ 6 h 49"/>
              <a:gd name="T34" fmla="*/ 35 w 49"/>
              <a:gd name="T35" fmla="*/ 3 h 49"/>
              <a:gd name="T36" fmla="*/ 32 w 49"/>
              <a:gd name="T37" fmla="*/ 3 h 49"/>
              <a:gd name="T38" fmla="*/ 29 w 49"/>
              <a:gd name="T39" fmla="*/ 0 h 49"/>
              <a:gd name="T40" fmla="*/ 26 w 49"/>
              <a:gd name="T41" fmla="*/ 0 h 49"/>
              <a:gd name="T42" fmla="*/ 21 w 49"/>
              <a:gd name="T43" fmla="*/ 0 h 49"/>
              <a:gd name="T44" fmla="*/ 18 w 49"/>
              <a:gd name="T45" fmla="*/ 3 h 49"/>
              <a:gd name="T46" fmla="*/ 15 w 49"/>
              <a:gd name="T47" fmla="*/ 3 h 49"/>
              <a:gd name="T48" fmla="*/ 12 w 49"/>
              <a:gd name="T49" fmla="*/ 6 h 49"/>
              <a:gd name="T50" fmla="*/ 9 w 49"/>
              <a:gd name="T51" fmla="*/ 9 h 49"/>
              <a:gd name="T52" fmla="*/ 6 w 49"/>
              <a:gd name="T53" fmla="*/ 12 h 49"/>
              <a:gd name="T54" fmla="*/ 3 w 49"/>
              <a:gd name="T55" fmla="*/ 14 h 49"/>
              <a:gd name="T56" fmla="*/ 3 w 49"/>
              <a:gd name="T57" fmla="*/ 17 h 49"/>
              <a:gd name="T58" fmla="*/ 0 w 49"/>
              <a:gd name="T59" fmla="*/ 20 h 49"/>
              <a:gd name="T60" fmla="*/ 0 w 49"/>
              <a:gd name="T61" fmla="*/ 26 h 49"/>
              <a:gd name="T62" fmla="*/ 0 w 49"/>
              <a:gd name="T63" fmla="*/ 29 h 49"/>
              <a:gd name="T64" fmla="*/ 3 w 49"/>
              <a:gd name="T65" fmla="*/ 32 h 49"/>
              <a:gd name="T66" fmla="*/ 3 w 49"/>
              <a:gd name="T67" fmla="*/ 37 h 49"/>
              <a:gd name="T68" fmla="*/ 6 w 49"/>
              <a:gd name="T69" fmla="*/ 40 h 49"/>
              <a:gd name="T70" fmla="*/ 9 w 49"/>
              <a:gd name="T71" fmla="*/ 43 h 49"/>
              <a:gd name="T72" fmla="*/ 12 w 49"/>
              <a:gd name="T73" fmla="*/ 43 h 49"/>
              <a:gd name="T74" fmla="*/ 15 w 49"/>
              <a:gd name="T75" fmla="*/ 46 h 49"/>
              <a:gd name="T76" fmla="*/ 18 w 49"/>
              <a:gd name="T77" fmla="*/ 49 h 49"/>
              <a:gd name="T78" fmla="*/ 21 w 49"/>
              <a:gd name="T79" fmla="*/ 49 h 49"/>
              <a:gd name="T80" fmla="*/ 26 w 49"/>
              <a:gd name="T81" fmla="*/ 49 h 49"/>
              <a:gd name="T82" fmla="*/ 26 w 49"/>
              <a:gd name="T83" fmla="*/ 49 h 49"/>
              <a:gd name="T84" fmla="*/ 23 w 49"/>
              <a:gd name="T85" fmla="*/ 49 h 49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9"/>
              <a:gd name="T130" fmla="*/ 0 h 49"/>
              <a:gd name="T131" fmla="*/ 49 w 49"/>
              <a:gd name="T132" fmla="*/ 49 h 49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9" h="49">
                <a:moveTo>
                  <a:pt x="23" y="49"/>
                </a:moveTo>
                <a:lnTo>
                  <a:pt x="29" y="49"/>
                </a:lnTo>
                <a:lnTo>
                  <a:pt x="32" y="49"/>
                </a:lnTo>
                <a:lnTo>
                  <a:pt x="35" y="46"/>
                </a:lnTo>
                <a:lnTo>
                  <a:pt x="41" y="43"/>
                </a:lnTo>
                <a:lnTo>
                  <a:pt x="44" y="43"/>
                </a:lnTo>
                <a:lnTo>
                  <a:pt x="44" y="40"/>
                </a:lnTo>
                <a:lnTo>
                  <a:pt x="46" y="37"/>
                </a:lnTo>
                <a:lnTo>
                  <a:pt x="49" y="32"/>
                </a:lnTo>
                <a:lnTo>
                  <a:pt x="49" y="29"/>
                </a:lnTo>
                <a:lnTo>
                  <a:pt x="49" y="26"/>
                </a:lnTo>
                <a:lnTo>
                  <a:pt x="49" y="20"/>
                </a:lnTo>
                <a:lnTo>
                  <a:pt x="49" y="17"/>
                </a:lnTo>
                <a:lnTo>
                  <a:pt x="46" y="14"/>
                </a:lnTo>
                <a:lnTo>
                  <a:pt x="44" y="12"/>
                </a:lnTo>
                <a:lnTo>
                  <a:pt x="44" y="9"/>
                </a:lnTo>
                <a:lnTo>
                  <a:pt x="41" y="6"/>
                </a:lnTo>
                <a:lnTo>
                  <a:pt x="35" y="3"/>
                </a:lnTo>
                <a:lnTo>
                  <a:pt x="32" y="3"/>
                </a:lnTo>
                <a:lnTo>
                  <a:pt x="29" y="0"/>
                </a:lnTo>
                <a:lnTo>
                  <a:pt x="26" y="0"/>
                </a:lnTo>
                <a:lnTo>
                  <a:pt x="21" y="0"/>
                </a:lnTo>
                <a:lnTo>
                  <a:pt x="18" y="3"/>
                </a:lnTo>
                <a:lnTo>
                  <a:pt x="15" y="3"/>
                </a:lnTo>
                <a:lnTo>
                  <a:pt x="12" y="6"/>
                </a:lnTo>
                <a:lnTo>
                  <a:pt x="9" y="9"/>
                </a:lnTo>
                <a:lnTo>
                  <a:pt x="6" y="12"/>
                </a:lnTo>
                <a:lnTo>
                  <a:pt x="3" y="14"/>
                </a:lnTo>
                <a:lnTo>
                  <a:pt x="3" y="17"/>
                </a:lnTo>
                <a:lnTo>
                  <a:pt x="0" y="20"/>
                </a:lnTo>
                <a:lnTo>
                  <a:pt x="0" y="26"/>
                </a:lnTo>
                <a:lnTo>
                  <a:pt x="0" y="29"/>
                </a:lnTo>
                <a:lnTo>
                  <a:pt x="3" y="32"/>
                </a:lnTo>
                <a:lnTo>
                  <a:pt x="3" y="37"/>
                </a:lnTo>
                <a:lnTo>
                  <a:pt x="6" y="40"/>
                </a:lnTo>
                <a:lnTo>
                  <a:pt x="9" y="43"/>
                </a:lnTo>
                <a:lnTo>
                  <a:pt x="12" y="43"/>
                </a:lnTo>
                <a:lnTo>
                  <a:pt x="15" y="46"/>
                </a:lnTo>
                <a:lnTo>
                  <a:pt x="18" y="49"/>
                </a:lnTo>
                <a:lnTo>
                  <a:pt x="21" y="49"/>
                </a:lnTo>
                <a:lnTo>
                  <a:pt x="26" y="49"/>
                </a:lnTo>
                <a:lnTo>
                  <a:pt x="23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42" name="Freeform 247"/>
          <p:cNvSpPr>
            <a:spLocks noChangeArrowheads="1"/>
          </p:cNvSpPr>
          <p:nvPr/>
        </p:nvSpPr>
        <p:spPr bwMode="auto">
          <a:xfrm>
            <a:off x="3140075" y="3649663"/>
            <a:ext cx="77788" cy="76200"/>
          </a:xfrm>
          <a:custGeom>
            <a:avLst/>
            <a:gdLst>
              <a:gd name="T0" fmla="*/ 23 w 49"/>
              <a:gd name="T1" fmla="*/ 48 h 48"/>
              <a:gd name="T2" fmla="*/ 29 w 49"/>
              <a:gd name="T3" fmla="*/ 48 h 48"/>
              <a:gd name="T4" fmla="*/ 32 w 49"/>
              <a:gd name="T5" fmla="*/ 48 h 48"/>
              <a:gd name="T6" fmla="*/ 35 w 49"/>
              <a:gd name="T7" fmla="*/ 46 h 48"/>
              <a:gd name="T8" fmla="*/ 41 w 49"/>
              <a:gd name="T9" fmla="*/ 43 h 48"/>
              <a:gd name="T10" fmla="*/ 44 w 49"/>
              <a:gd name="T11" fmla="*/ 43 h 48"/>
              <a:gd name="T12" fmla="*/ 44 w 49"/>
              <a:gd name="T13" fmla="*/ 40 h 48"/>
              <a:gd name="T14" fmla="*/ 46 w 49"/>
              <a:gd name="T15" fmla="*/ 37 h 48"/>
              <a:gd name="T16" fmla="*/ 49 w 49"/>
              <a:gd name="T17" fmla="*/ 31 h 48"/>
              <a:gd name="T18" fmla="*/ 49 w 49"/>
              <a:gd name="T19" fmla="*/ 28 h 48"/>
              <a:gd name="T20" fmla="*/ 49 w 49"/>
              <a:gd name="T21" fmla="*/ 25 h 48"/>
              <a:gd name="T22" fmla="*/ 49 w 49"/>
              <a:gd name="T23" fmla="*/ 20 h 48"/>
              <a:gd name="T24" fmla="*/ 49 w 49"/>
              <a:gd name="T25" fmla="*/ 17 h 48"/>
              <a:gd name="T26" fmla="*/ 46 w 49"/>
              <a:gd name="T27" fmla="*/ 14 h 48"/>
              <a:gd name="T28" fmla="*/ 44 w 49"/>
              <a:gd name="T29" fmla="*/ 11 h 48"/>
              <a:gd name="T30" fmla="*/ 44 w 49"/>
              <a:gd name="T31" fmla="*/ 8 h 48"/>
              <a:gd name="T32" fmla="*/ 41 w 49"/>
              <a:gd name="T33" fmla="*/ 5 h 48"/>
              <a:gd name="T34" fmla="*/ 35 w 49"/>
              <a:gd name="T35" fmla="*/ 2 h 48"/>
              <a:gd name="T36" fmla="*/ 32 w 49"/>
              <a:gd name="T37" fmla="*/ 2 h 48"/>
              <a:gd name="T38" fmla="*/ 29 w 49"/>
              <a:gd name="T39" fmla="*/ 0 h 48"/>
              <a:gd name="T40" fmla="*/ 26 w 49"/>
              <a:gd name="T41" fmla="*/ 0 h 48"/>
              <a:gd name="T42" fmla="*/ 21 w 49"/>
              <a:gd name="T43" fmla="*/ 0 h 48"/>
              <a:gd name="T44" fmla="*/ 18 w 49"/>
              <a:gd name="T45" fmla="*/ 2 h 48"/>
              <a:gd name="T46" fmla="*/ 15 w 49"/>
              <a:gd name="T47" fmla="*/ 2 h 48"/>
              <a:gd name="T48" fmla="*/ 12 w 49"/>
              <a:gd name="T49" fmla="*/ 5 h 48"/>
              <a:gd name="T50" fmla="*/ 9 w 49"/>
              <a:gd name="T51" fmla="*/ 8 h 48"/>
              <a:gd name="T52" fmla="*/ 6 w 49"/>
              <a:gd name="T53" fmla="*/ 11 h 48"/>
              <a:gd name="T54" fmla="*/ 3 w 49"/>
              <a:gd name="T55" fmla="*/ 14 h 48"/>
              <a:gd name="T56" fmla="*/ 3 w 49"/>
              <a:gd name="T57" fmla="*/ 17 h 48"/>
              <a:gd name="T58" fmla="*/ 0 w 49"/>
              <a:gd name="T59" fmla="*/ 20 h 48"/>
              <a:gd name="T60" fmla="*/ 0 w 49"/>
              <a:gd name="T61" fmla="*/ 25 h 48"/>
              <a:gd name="T62" fmla="*/ 0 w 49"/>
              <a:gd name="T63" fmla="*/ 28 h 48"/>
              <a:gd name="T64" fmla="*/ 3 w 49"/>
              <a:gd name="T65" fmla="*/ 31 h 48"/>
              <a:gd name="T66" fmla="*/ 3 w 49"/>
              <a:gd name="T67" fmla="*/ 37 h 48"/>
              <a:gd name="T68" fmla="*/ 6 w 49"/>
              <a:gd name="T69" fmla="*/ 40 h 48"/>
              <a:gd name="T70" fmla="*/ 9 w 49"/>
              <a:gd name="T71" fmla="*/ 43 h 48"/>
              <a:gd name="T72" fmla="*/ 12 w 49"/>
              <a:gd name="T73" fmla="*/ 43 h 48"/>
              <a:gd name="T74" fmla="*/ 15 w 49"/>
              <a:gd name="T75" fmla="*/ 46 h 48"/>
              <a:gd name="T76" fmla="*/ 18 w 49"/>
              <a:gd name="T77" fmla="*/ 48 h 48"/>
              <a:gd name="T78" fmla="*/ 21 w 49"/>
              <a:gd name="T79" fmla="*/ 48 h 48"/>
              <a:gd name="T80" fmla="*/ 26 w 49"/>
              <a:gd name="T81" fmla="*/ 48 h 48"/>
              <a:gd name="T82" fmla="*/ 26 w 49"/>
              <a:gd name="T83" fmla="*/ 48 h 48"/>
              <a:gd name="T84" fmla="*/ 23 w 49"/>
              <a:gd name="T85" fmla="*/ 48 h 48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9"/>
              <a:gd name="T130" fmla="*/ 0 h 48"/>
              <a:gd name="T131" fmla="*/ 49 w 49"/>
              <a:gd name="T132" fmla="*/ 48 h 48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9" h="48">
                <a:moveTo>
                  <a:pt x="23" y="48"/>
                </a:moveTo>
                <a:lnTo>
                  <a:pt x="29" y="48"/>
                </a:lnTo>
                <a:lnTo>
                  <a:pt x="32" y="48"/>
                </a:lnTo>
                <a:lnTo>
                  <a:pt x="35" y="46"/>
                </a:lnTo>
                <a:lnTo>
                  <a:pt x="41" y="43"/>
                </a:lnTo>
                <a:lnTo>
                  <a:pt x="44" y="43"/>
                </a:lnTo>
                <a:lnTo>
                  <a:pt x="44" y="40"/>
                </a:lnTo>
                <a:lnTo>
                  <a:pt x="46" y="37"/>
                </a:lnTo>
                <a:lnTo>
                  <a:pt x="49" y="31"/>
                </a:lnTo>
                <a:lnTo>
                  <a:pt x="49" y="28"/>
                </a:lnTo>
                <a:lnTo>
                  <a:pt x="49" y="25"/>
                </a:lnTo>
                <a:lnTo>
                  <a:pt x="49" y="20"/>
                </a:lnTo>
                <a:lnTo>
                  <a:pt x="49" y="17"/>
                </a:lnTo>
                <a:lnTo>
                  <a:pt x="46" y="14"/>
                </a:lnTo>
                <a:lnTo>
                  <a:pt x="44" y="11"/>
                </a:lnTo>
                <a:lnTo>
                  <a:pt x="44" y="8"/>
                </a:lnTo>
                <a:lnTo>
                  <a:pt x="41" y="5"/>
                </a:lnTo>
                <a:lnTo>
                  <a:pt x="35" y="2"/>
                </a:lnTo>
                <a:lnTo>
                  <a:pt x="32" y="2"/>
                </a:lnTo>
                <a:lnTo>
                  <a:pt x="29" y="0"/>
                </a:lnTo>
                <a:lnTo>
                  <a:pt x="26" y="0"/>
                </a:lnTo>
                <a:lnTo>
                  <a:pt x="21" y="0"/>
                </a:lnTo>
                <a:lnTo>
                  <a:pt x="18" y="2"/>
                </a:lnTo>
                <a:lnTo>
                  <a:pt x="15" y="2"/>
                </a:lnTo>
                <a:lnTo>
                  <a:pt x="12" y="5"/>
                </a:lnTo>
                <a:lnTo>
                  <a:pt x="9" y="8"/>
                </a:lnTo>
                <a:lnTo>
                  <a:pt x="6" y="11"/>
                </a:lnTo>
                <a:lnTo>
                  <a:pt x="3" y="14"/>
                </a:lnTo>
                <a:lnTo>
                  <a:pt x="3" y="17"/>
                </a:lnTo>
                <a:lnTo>
                  <a:pt x="0" y="20"/>
                </a:lnTo>
                <a:lnTo>
                  <a:pt x="0" y="25"/>
                </a:lnTo>
                <a:lnTo>
                  <a:pt x="0" y="28"/>
                </a:lnTo>
                <a:lnTo>
                  <a:pt x="3" y="31"/>
                </a:lnTo>
                <a:lnTo>
                  <a:pt x="3" y="37"/>
                </a:lnTo>
                <a:lnTo>
                  <a:pt x="6" y="40"/>
                </a:lnTo>
                <a:lnTo>
                  <a:pt x="9" y="43"/>
                </a:lnTo>
                <a:lnTo>
                  <a:pt x="12" y="43"/>
                </a:lnTo>
                <a:lnTo>
                  <a:pt x="15" y="46"/>
                </a:lnTo>
                <a:lnTo>
                  <a:pt x="18" y="48"/>
                </a:lnTo>
                <a:lnTo>
                  <a:pt x="21" y="48"/>
                </a:lnTo>
                <a:lnTo>
                  <a:pt x="26" y="48"/>
                </a:lnTo>
                <a:lnTo>
                  <a:pt x="23" y="4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43" name="Freeform 248"/>
          <p:cNvSpPr>
            <a:spLocks noChangeArrowheads="1"/>
          </p:cNvSpPr>
          <p:nvPr/>
        </p:nvSpPr>
        <p:spPr bwMode="auto">
          <a:xfrm>
            <a:off x="3140075" y="3421064"/>
            <a:ext cx="77788" cy="77787"/>
          </a:xfrm>
          <a:custGeom>
            <a:avLst/>
            <a:gdLst>
              <a:gd name="T0" fmla="*/ 23 w 49"/>
              <a:gd name="T1" fmla="*/ 49 h 49"/>
              <a:gd name="T2" fmla="*/ 29 w 49"/>
              <a:gd name="T3" fmla="*/ 49 h 49"/>
              <a:gd name="T4" fmla="*/ 32 w 49"/>
              <a:gd name="T5" fmla="*/ 49 h 49"/>
              <a:gd name="T6" fmla="*/ 35 w 49"/>
              <a:gd name="T7" fmla="*/ 46 h 49"/>
              <a:gd name="T8" fmla="*/ 41 w 49"/>
              <a:gd name="T9" fmla="*/ 43 h 49"/>
              <a:gd name="T10" fmla="*/ 44 w 49"/>
              <a:gd name="T11" fmla="*/ 43 h 49"/>
              <a:gd name="T12" fmla="*/ 44 w 49"/>
              <a:gd name="T13" fmla="*/ 40 h 49"/>
              <a:gd name="T14" fmla="*/ 46 w 49"/>
              <a:gd name="T15" fmla="*/ 37 h 49"/>
              <a:gd name="T16" fmla="*/ 49 w 49"/>
              <a:gd name="T17" fmla="*/ 31 h 49"/>
              <a:gd name="T18" fmla="*/ 49 w 49"/>
              <a:gd name="T19" fmla="*/ 29 h 49"/>
              <a:gd name="T20" fmla="*/ 49 w 49"/>
              <a:gd name="T21" fmla="*/ 26 h 49"/>
              <a:gd name="T22" fmla="*/ 49 w 49"/>
              <a:gd name="T23" fmla="*/ 20 h 49"/>
              <a:gd name="T24" fmla="*/ 49 w 49"/>
              <a:gd name="T25" fmla="*/ 17 h 49"/>
              <a:gd name="T26" fmla="*/ 46 w 49"/>
              <a:gd name="T27" fmla="*/ 14 h 49"/>
              <a:gd name="T28" fmla="*/ 44 w 49"/>
              <a:gd name="T29" fmla="*/ 11 h 49"/>
              <a:gd name="T30" fmla="*/ 44 w 49"/>
              <a:gd name="T31" fmla="*/ 8 h 49"/>
              <a:gd name="T32" fmla="*/ 41 w 49"/>
              <a:gd name="T33" fmla="*/ 6 h 49"/>
              <a:gd name="T34" fmla="*/ 35 w 49"/>
              <a:gd name="T35" fmla="*/ 3 h 49"/>
              <a:gd name="T36" fmla="*/ 32 w 49"/>
              <a:gd name="T37" fmla="*/ 3 h 49"/>
              <a:gd name="T38" fmla="*/ 29 w 49"/>
              <a:gd name="T39" fmla="*/ 0 h 49"/>
              <a:gd name="T40" fmla="*/ 26 w 49"/>
              <a:gd name="T41" fmla="*/ 0 h 49"/>
              <a:gd name="T42" fmla="*/ 21 w 49"/>
              <a:gd name="T43" fmla="*/ 0 h 49"/>
              <a:gd name="T44" fmla="*/ 18 w 49"/>
              <a:gd name="T45" fmla="*/ 3 h 49"/>
              <a:gd name="T46" fmla="*/ 15 w 49"/>
              <a:gd name="T47" fmla="*/ 3 h 49"/>
              <a:gd name="T48" fmla="*/ 12 w 49"/>
              <a:gd name="T49" fmla="*/ 6 h 49"/>
              <a:gd name="T50" fmla="*/ 9 w 49"/>
              <a:gd name="T51" fmla="*/ 8 h 49"/>
              <a:gd name="T52" fmla="*/ 6 w 49"/>
              <a:gd name="T53" fmla="*/ 11 h 49"/>
              <a:gd name="T54" fmla="*/ 3 w 49"/>
              <a:gd name="T55" fmla="*/ 14 h 49"/>
              <a:gd name="T56" fmla="*/ 3 w 49"/>
              <a:gd name="T57" fmla="*/ 17 h 49"/>
              <a:gd name="T58" fmla="*/ 0 w 49"/>
              <a:gd name="T59" fmla="*/ 20 h 49"/>
              <a:gd name="T60" fmla="*/ 0 w 49"/>
              <a:gd name="T61" fmla="*/ 26 h 49"/>
              <a:gd name="T62" fmla="*/ 0 w 49"/>
              <a:gd name="T63" fmla="*/ 29 h 49"/>
              <a:gd name="T64" fmla="*/ 3 w 49"/>
              <a:gd name="T65" fmla="*/ 31 h 49"/>
              <a:gd name="T66" fmla="*/ 3 w 49"/>
              <a:gd name="T67" fmla="*/ 37 h 49"/>
              <a:gd name="T68" fmla="*/ 6 w 49"/>
              <a:gd name="T69" fmla="*/ 40 h 49"/>
              <a:gd name="T70" fmla="*/ 9 w 49"/>
              <a:gd name="T71" fmla="*/ 43 h 49"/>
              <a:gd name="T72" fmla="*/ 12 w 49"/>
              <a:gd name="T73" fmla="*/ 43 h 49"/>
              <a:gd name="T74" fmla="*/ 15 w 49"/>
              <a:gd name="T75" fmla="*/ 46 h 49"/>
              <a:gd name="T76" fmla="*/ 18 w 49"/>
              <a:gd name="T77" fmla="*/ 49 h 49"/>
              <a:gd name="T78" fmla="*/ 21 w 49"/>
              <a:gd name="T79" fmla="*/ 49 h 49"/>
              <a:gd name="T80" fmla="*/ 26 w 49"/>
              <a:gd name="T81" fmla="*/ 49 h 49"/>
              <a:gd name="T82" fmla="*/ 26 w 49"/>
              <a:gd name="T83" fmla="*/ 49 h 49"/>
              <a:gd name="T84" fmla="*/ 23 w 49"/>
              <a:gd name="T85" fmla="*/ 49 h 49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9"/>
              <a:gd name="T130" fmla="*/ 0 h 49"/>
              <a:gd name="T131" fmla="*/ 49 w 49"/>
              <a:gd name="T132" fmla="*/ 49 h 49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9" h="49">
                <a:moveTo>
                  <a:pt x="23" y="49"/>
                </a:moveTo>
                <a:lnTo>
                  <a:pt x="29" y="49"/>
                </a:lnTo>
                <a:lnTo>
                  <a:pt x="32" y="49"/>
                </a:lnTo>
                <a:lnTo>
                  <a:pt x="35" y="46"/>
                </a:lnTo>
                <a:lnTo>
                  <a:pt x="41" y="43"/>
                </a:lnTo>
                <a:lnTo>
                  <a:pt x="44" y="43"/>
                </a:lnTo>
                <a:lnTo>
                  <a:pt x="44" y="40"/>
                </a:lnTo>
                <a:lnTo>
                  <a:pt x="46" y="37"/>
                </a:lnTo>
                <a:lnTo>
                  <a:pt x="49" y="31"/>
                </a:lnTo>
                <a:lnTo>
                  <a:pt x="49" y="29"/>
                </a:lnTo>
                <a:lnTo>
                  <a:pt x="49" y="26"/>
                </a:lnTo>
                <a:lnTo>
                  <a:pt x="49" y="20"/>
                </a:lnTo>
                <a:lnTo>
                  <a:pt x="49" y="17"/>
                </a:lnTo>
                <a:lnTo>
                  <a:pt x="46" y="14"/>
                </a:lnTo>
                <a:lnTo>
                  <a:pt x="44" y="11"/>
                </a:lnTo>
                <a:lnTo>
                  <a:pt x="44" y="8"/>
                </a:lnTo>
                <a:lnTo>
                  <a:pt x="41" y="6"/>
                </a:lnTo>
                <a:lnTo>
                  <a:pt x="35" y="3"/>
                </a:lnTo>
                <a:lnTo>
                  <a:pt x="32" y="3"/>
                </a:lnTo>
                <a:lnTo>
                  <a:pt x="29" y="0"/>
                </a:lnTo>
                <a:lnTo>
                  <a:pt x="26" y="0"/>
                </a:lnTo>
                <a:lnTo>
                  <a:pt x="21" y="0"/>
                </a:lnTo>
                <a:lnTo>
                  <a:pt x="18" y="3"/>
                </a:lnTo>
                <a:lnTo>
                  <a:pt x="15" y="3"/>
                </a:lnTo>
                <a:lnTo>
                  <a:pt x="12" y="6"/>
                </a:lnTo>
                <a:lnTo>
                  <a:pt x="9" y="8"/>
                </a:lnTo>
                <a:lnTo>
                  <a:pt x="6" y="11"/>
                </a:lnTo>
                <a:lnTo>
                  <a:pt x="3" y="14"/>
                </a:lnTo>
                <a:lnTo>
                  <a:pt x="3" y="17"/>
                </a:lnTo>
                <a:lnTo>
                  <a:pt x="0" y="20"/>
                </a:lnTo>
                <a:lnTo>
                  <a:pt x="0" y="26"/>
                </a:lnTo>
                <a:lnTo>
                  <a:pt x="0" y="29"/>
                </a:lnTo>
                <a:lnTo>
                  <a:pt x="3" y="31"/>
                </a:lnTo>
                <a:lnTo>
                  <a:pt x="3" y="37"/>
                </a:lnTo>
                <a:lnTo>
                  <a:pt x="6" y="40"/>
                </a:lnTo>
                <a:lnTo>
                  <a:pt x="9" y="43"/>
                </a:lnTo>
                <a:lnTo>
                  <a:pt x="12" y="43"/>
                </a:lnTo>
                <a:lnTo>
                  <a:pt x="15" y="46"/>
                </a:lnTo>
                <a:lnTo>
                  <a:pt x="18" y="49"/>
                </a:lnTo>
                <a:lnTo>
                  <a:pt x="21" y="49"/>
                </a:lnTo>
                <a:lnTo>
                  <a:pt x="26" y="49"/>
                </a:lnTo>
                <a:lnTo>
                  <a:pt x="23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44" name="Line 249"/>
          <p:cNvSpPr>
            <a:spLocks noChangeShapeType="1"/>
          </p:cNvSpPr>
          <p:nvPr/>
        </p:nvSpPr>
        <p:spPr bwMode="auto">
          <a:xfrm flipV="1">
            <a:off x="8764589" y="4824414"/>
            <a:ext cx="1587" cy="346075"/>
          </a:xfrm>
          <a:prstGeom prst="line">
            <a:avLst/>
          </a:prstGeom>
          <a:noFill/>
          <a:ln w="14400">
            <a:solidFill>
              <a:srgbClr val="EB75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5" name="Line 250"/>
          <p:cNvSpPr>
            <a:spLocks noChangeShapeType="1"/>
          </p:cNvSpPr>
          <p:nvPr/>
        </p:nvSpPr>
        <p:spPr bwMode="auto">
          <a:xfrm>
            <a:off x="8764589" y="2695576"/>
            <a:ext cx="1587" cy="341313"/>
          </a:xfrm>
          <a:prstGeom prst="line">
            <a:avLst/>
          </a:prstGeom>
          <a:noFill/>
          <a:ln w="14400">
            <a:solidFill>
              <a:srgbClr val="EB75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46" name="Rectangle 251"/>
          <p:cNvSpPr>
            <a:spLocks noChangeArrowheads="1"/>
          </p:cNvSpPr>
          <p:nvPr/>
        </p:nvSpPr>
        <p:spPr bwMode="auto">
          <a:xfrm>
            <a:off x="8837613" y="2778125"/>
            <a:ext cx="1282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61647" name="Rectangle 252"/>
          <p:cNvSpPr>
            <a:spLocks noChangeArrowheads="1"/>
          </p:cNvSpPr>
          <p:nvPr/>
        </p:nvSpPr>
        <p:spPr bwMode="auto">
          <a:xfrm>
            <a:off x="8964613" y="277812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648" name="Rectangle 253"/>
          <p:cNvSpPr>
            <a:spLocks noChangeArrowheads="1"/>
          </p:cNvSpPr>
          <p:nvPr/>
        </p:nvSpPr>
        <p:spPr bwMode="auto">
          <a:xfrm>
            <a:off x="9048750" y="2778125"/>
            <a:ext cx="1282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61649" name="Rectangle 254"/>
          <p:cNvSpPr>
            <a:spLocks noChangeArrowheads="1"/>
          </p:cNvSpPr>
          <p:nvPr/>
        </p:nvSpPr>
        <p:spPr bwMode="auto">
          <a:xfrm>
            <a:off x="9172575" y="2778125"/>
            <a:ext cx="14587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61650" name="Rectangle 255"/>
          <p:cNvSpPr>
            <a:spLocks noChangeArrowheads="1"/>
          </p:cNvSpPr>
          <p:nvPr/>
        </p:nvSpPr>
        <p:spPr bwMode="auto">
          <a:xfrm>
            <a:off x="9321800" y="2778125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651" name="Rectangle 256"/>
          <p:cNvSpPr>
            <a:spLocks noChangeArrowheads="1"/>
          </p:cNvSpPr>
          <p:nvPr/>
        </p:nvSpPr>
        <p:spPr bwMode="auto">
          <a:xfrm>
            <a:off x="9372600" y="2778125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1652" name="Rectangle 257"/>
          <p:cNvSpPr>
            <a:spLocks noChangeArrowheads="1"/>
          </p:cNvSpPr>
          <p:nvPr/>
        </p:nvSpPr>
        <p:spPr bwMode="auto">
          <a:xfrm>
            <a:off x="9404350" y="2778125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653" name="Rectangle 258"/>
          <p:cNvSpPr>
            <a:spLocks noChangeArrowheads="1"/>
          </p:cNvSpPr>
          <p:nvPr/>
        </p:nvSpPr>
        <p:spPr bwMode="auto">
          <a:xfrm>
            <a:off x="9444038" y="277812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654" name="Line 259"/>
          <p:cNvSpPr>
            <a:spLocks noChangeShapeType="1"/>
          </p:cNvSpPr>
          <p:nvPr/>
        </p:nvSpPr>
        <p:spPr bwMode="auto">
          <a:xfrm flipV="1">
            <a:off x="4460875" y="4354513"/>
            <a:ext cx="1588" cy="222250"/>
          </a:xfrm>
          <a:prstGeom prst="line">
            <a:avLst/>
          </a:prstGeom>
          <a:noFill/>
          <a:ln w="14400">
            <a:solidFill>
              <a:srgbClr val="EB75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655" name="Rectangle 260"/>
          <p:cNvSpPr>
            <a:spLocks noChangeArrowheads="1"/>
          </p:cNvSpPr>
          <p:nvPr/>
        </p:nvSpPr>
        <p:spPr bwMode="auto">
          <a:xfrm>
            <a:off x="3798888" y="4406900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656" name="Rectangle 261"/>
          <p:cNvSpPr>
            <a:spLocks noChangeArrowheads="1"/>
          </p:cNvSpPr>
          <p:nvPr/>
        </p:nvSpPr>
        <p:spPr bwMode="auto">
          <a:xfrm>
            <a:off x="3906838" y="44069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657" name="Rectangle 262"/>
          <p:cNvSpPr>
            <a:spLocks noChangeArrowheads="1"/>
          </p:cNvSpPr>
          <p:nvPr/>
        </p:nvSpPr>
        <p:spPr bwMode="auto">
          <a:xfrm>
            <a:off x="3994150" y="44069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61658" name="Rectangle 263"/>
          <p:cNvSpPr>
            <a:spLocks noChangeArrowheads="1"/>
          </p:cNvSpPr>
          <p:nvPr/>
        </p:nvSpPr>
        <p:spPr bwMode="auto">
          <a:xfrm>
            <a:off x="4073525" y="4406900"/>
            <a:ext cx="14587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61659" name="Rectangle 264"/>
          <p:cNvSpPr>
            <a:spLocks noChangeArrowheads="1"/>
          </p:cNvSpPr>
          <p:nvPr/>
        </p:nvSpPr>
        <p:spPr bwMode="auto">
          <a:xfrm>
            <a:off x="4222750" y="4406900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660" name="Rectangle 265"/>
          <p:cNvSpPr>
            <a:spLocks noChangeArrowheads="1"/>
          </p:cNvSpPr>
          <p:nvPr/>
        </p:nvSpPr>
        <p:spPr bwMode="auto">
          <a:xfrm>
            <a:off x="4273550" y="4406900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1661" name="Rectangle 266"/>
          <p:cNvSpPr>
            <a:spLocks noChangeArrowheads="1"/>
          </p:cNvSpPr>
          <p:nvPr/>
        </p:nvSpPr>
        <p:spPr bwMode="auto">
          <a:xfrm>
            <a:off x="4305300" y="4406900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662" name="Rectangle 267"/>
          <p:cNvSpPr>
            <a:spLocks noChangeArrowheads="1"/>
          </p:cNvSpPr>
          <p:nvPr/>
        </p:nvSpPr>
        <p:spPr bwMode="auto">
          <a:xfrm>
            <a:off x="4349750" y="440690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663" name="Rectangle 268"/>
          <p:cNvSpPr>
            <a:spLocks noChangeArrowheads="1"/>
          </p:cNvSpPr>
          <p:nvPr/>
        </p:nvSpPr>
        <p:spPr bwMode="auto">
          <a:xfrm>
            <a:off x="6632575" y="2493963"/>
            <a:ext cx="10259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664" name="Rectangle 269"/>
          <p:cNvSpPr>
            <a:spLocks noChangeArrowheads="1"/>
          </p:cNvSpPr>
          <p:nvPr/>
        </p:nvSpPr>
        <p:spPr bwMode="auto">
          <a:xfrm>
            <a:off x="6732588" y="24939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1665" name="Rectangle 270"/>
          <p:cNvSpPr>
            <a:spLocks noChangeArrowheads="1"/>
          </p:cNvSpPr>
          <p:nvPr/>
        </p:nvSpPr>
        <p:spPr bwMode="auto">
          <a:xfrm>
            <a:off x="6819900" y="2493963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1666" name="Rectangle 271"/>
          <p:cNvSpPr>
            <a:spLocks noChangeArrowheads="1"/>
          </p:cNvSpPr>
          <p:nvPr/>
        </p:nvSpPr>
        <p:spPr bwMode="auto">
          <a:xfrm>
            <a:off x="6929438" y="2493963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200">
                <a:solidFill>
                  <a:srgbClr val="EB75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1667" name="Rectangle 272"/>
          <p:cNvSpPr>
            <a:spLocks noChangeArrowheads="1"/>
          </p:cNvSpPr>
          <p:nvPr/>
        </p:nvSpPr>
        <p:spPr bwMode="auto">
          <a:xfrm>
            <a:off x="6969125" y="24939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61668" name="Rectangle 273"/>
          <p:cNvSpPr>
            <a:spLocks noChangeArrowheads="1"/>
          </p:cNvSpPr>
          <p:nvPr/>
        </p:nvSpPr>
        <p:spPr bwMode="auto">
          <a:xfrm>
            <a:off x="7053263" y="24939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p</a:t>
            </a:r>
          </a:p>
        </p:txBody>
      </p:sp>
      <p:sp>
        <p:nvSpPr>
          <p:cNvPr id="61669" name="Rectangle 274"/>
          <p:cNvSpPr>
            <a:spLocks noChangeArrowheads="1"/>
          </p:cNvSpPr>
          <p:nvPr/>
        </p:nvSpPr>
        <p:spPr bwMode="auto">
          <a:xfrm>
            <a:off x="7138988" y="24939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670" name="Rectangle 275"/>
          <p:cNvSpPr>
            <a:spLocks noChangeArrowheads="1"/>
          </p:cNvSpPr>
          <p:nvPr/>
        </p:nvSpPr>
        <p:spPr bwMode="auto">
          <a:xfrm>
            <a:off x="7221538" y="2493963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1671" name="Rectangle 276"/>
          <p:cNvSpPr>
            <a:spLocks noChangeArrowheads="1"/>
          </p:cNvSpPr>
          <p:nvPr/>
        </p:nvSpPr>
        <p:spPr bwMode="auto">
          <a:xfrm>
            <a:off x="7277100" y="24939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1672" name="Rectangle 277"/>
          <p:cNvSpPr>
            <a:spLocks noChangeArrowheads="1"/>
          </p:cNvSpPr>
          <p:nvPr/>
        </p:nvSpPr>
        <p:spPr bwMode="auto">
          <a:xfrm>
            <a:off x="7359650" y="2493963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673" name="Rectangle 278"/>
          <p:cNvSpPr>
            <a:spLocks noChangeArrowheads="1"/>
          </p:cNvSpPr>
          <p:nvPr/>
        </p:nvSpPr>
        <p:spPr bwMode="auto">
          <a:xfrm>
            <a:off x="7399338" y="2493963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1674" name="Rectangle 279"/>
          <p:cNvSpPr>
            <a:spLocks noChangeArrowheads="1"/>
          </p:cNvSpPr>
          <p:nvPr/>
        </p:nvSpPr>
        <p:spPr bwMode="auto">
          <a:xfrm>
            <a:off x="7435850" y="24939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61675" name="Rectangle 280"/>
          <p:cNvSpPr>
            <a:spLocks noChangeArrowheads="1"/>
          </p:cNvSpPr>
          <p:nvPr/>
        </p:nvSpPr>
        <p:spPr bwMode="auto">
          <a:xfrm>
            <a:off x="7518400" y="249396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61676" name="Rectangle 281"/>
          <p:cNvSpPr>
            <a:spLocks noChangeArrowheads="1"/>
          </p:cNvSpPr>
          <p:nvPr/>
        </p:nvSpPr>
        <p:spPr bwMode="auto">
          <a:xfrm>
            <a:off x="6359525" y="2562225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3</a:t>
            </a:r>
          </a:p>
        </p:txBody>
      </p:sp>
      <p:grpSp>
        <p:nvGrpSpPr>
          <p:cNvPr id="5" name="Group 282"/>
          <p:cNvGrpSpPr>
            <a:grpSpLocks/>
          </p:cNvGrpSpPr>
          <p:nvPr/>
        </p:nvGrpSpPr>
        <p:grpSpPr bwMode="auto">
          <a:xfrm>
            <a:off x="7224713" y="3567110"/>
            <a:ext cx="1295400" cy="406399"/>
            <a:chOff x="3591" y="2247"/>
            <a:chExt cx="816" cy="256"/>
          </a:xfrm>
        </p:grpSpPr>
        <p:grpSp>
          <p:nvGrpSpPr>
            <p:cNvPr id="61700" name="Group 283"/>
            <p:cNvGrpSpPr>
              <a:grpSpLocks/>
            </p:cNvGrpSpPr>
            <p:nvPr/>
          </p:nvGrpSpPr>
          <p:grpSpPr bwMode="auto">
            <a:xfrm>
              <a:off x="4057" y="2247"/>
              <a:ext cx="350" cy="116"/>
              <a:chOff x="4057" y="2247"/>
              <a:chExt cx="350" cy="116"/>
            </a:xfrm>
          </p:grpSpPr>
          <p:sp>
            <p:nvSpPr>
              <p:cNvPr id="61702" name="Rectangle 284"/>
              <p:cNvSpPr>
                <a:spLocks noChangeArrowheads="1"/>
              </p:cNvSpPr>
              <p:nvPr/>
            </p:nvSpPr>
            <p:spPr bwMode="auto">
              <a:xfrm>
                <a:off x="4057" y="2247"/>
                <a:ext cx="65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61703" name="Rectangle 285"/>
              <p:cNvSpPr>
                <a:spLocks noChangeArrowheads="1"/>
              </p:cNvSpPr>
              <p:nvPr/>
            </p:nvSpPr>
            <p:spPr bwMode="auto">
              <a:xfrm>
                <a:off x="4120" y="2247"/>
                <a:ext cx="54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61704" name="Rectangle 286"/>
              <p:cNvSpPr>
                <a:spLocks noChangeArrowheads="1"/>
              </p:cNvSpPr>
              <p:nvPr/>
            </p:nvSpPr>
            <p:spPr bwMode="auto">
              <a:xfrm>
                <a:off x="4172" y="2247"/>
                <a:ext cx="54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61705" name="Rectangle 287"/>
              <p:cNvSpPr>
                <a:spLocks noChangeArrowheads="1"/>
              </p:cNvSpPr>
              <p:nvPr/>
            </p:nvSpPr>
            <p:spPr bwMode="auto">
              <a:xfrm>
                <a:off x="4227" y="2247"/>
                <a:ext cx="32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61706" name="Rectangle 288"/>
              <p:cNvSpPr>
                <a:spLocks noChangeArrowheads="1"/>
              </p:cNvSpPr>
              <p:nvPr/>
            </p:nvSpPr>
            <p:spPr bwMode="auto">
              <a:xfrm>
                <a:off x="4258" y="2247"/>
                <a:ext cx="54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61707" name="Rectangle 289"/>
              <p:cNvSpPr>
                <a:spLocks noChangeArrowheads="1"/>
              </p:cNvSpPr>
              <p:nvPr/>
            </p:nvSpPr>
            <p:spPr bwMode="auto">
              <a:xfrm>
                <a:off x="4310" y="2247"/>
                <a:ext cx="48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61708" name="Rectangle 290"/>
              <p:cNvSpPr>
                <a:spLocks noChangeArrowheads="1"/>
              </p:cNvSpPr>
              <p:nvPr/>
            </p:nvSpPr>
            <p:spPr bwMode="auto">
              <a:xfrm>
                <a:off x="4359" y="2247"/>
                <a:ext cx="48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</p:grpSp>
        <p:sp>
          <p:nvSpPr>
            <p:cNvPr id="61701" name="Text Box 291"/>
            <p:cNvSpPr txBox="1">
              <a:spLocks noChangeArrowheads="1"/>
            </p:cNvSpPr>
            <p:nvPr/>
          </p:nvSpPr>
          <p:spPr bwMode="auto">
            <a:xfrm>
              <a:off x="3591" y="2300"/>
              <a:ext cx="402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CD3333"/>
                </a:buClr>
                <a:buFont typeface="Courier New" charset="0"/>
                <a:buNone/>
              </a:pPr>
              <a:r>
                <a:rPr lang="en-GB" altLang="zh-TW" sz="1500" b="1">
                  <a:solidFill>
                    <a:srgbClr val="CD3333"/>
                  </a:solidFill>
                  <a:latin typeface="Courier New" charset="0"/>
                  <a:ea typeface="新細明體" charset="-120"/>
                </a:rPr>
                <a:t>1100</a:t>
              </a:r>
            </a:p>
          </p:txBody>
        </p:sp>
      </p:grpSp>
      <p:grpSp>
        <p:nvGrpSpPr>
          <p:cNvPr id="7" name="Group 292"/>
          <p:cNvGrpSpPr>
            <a:grpSpLocks/>
          </p:cNvGrpSpPr>
          <p:nvPr/>
        </p:nvGrpSpPr>
        <p:grpSpPr bwMode="auto">
          <a:xfrm>
            <a:off x="5459413" y="2736850"/>
            <a:ext cx="2114550" cy="2038350"/>
            <a:chOff x="2479" y="1724"/>
            <a:chExt cx="1332" cy="1284"/>
          </a:xfrm>
        </p:grpSpPr>
        <p:sp>
          <p:nvSpPr>
            <p:cNvPr id="61698" name="Text Box 293"/>
            <p:cNvSpPr txBox="1">
              <a:spLocks noChangeArrowheads="1"/>
            </p:cNvSpPr>
            <p:nvPr/>
          </p:nvSpPr>
          <p:spPr bwMode="auto">
            <a:xfrm>
              <a:off x="2978" y="2662"/>
              <a:ext cx="834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 algn="ctr">
                <a:lnSpc>
                  <a:spcPct val="100000"/>
                </a:lnSpc>
                <a:buClr>
                  <a:srgbClr val="006600"/>
                </a:buClr>
                <a:buFont typeface="Courier New" charset="0"/>
                <a:buNone/>
              </a:pPr>
              <a:r>
                <a:rPr lang="en-GB" altLang="zh-TW" sz="1500" b="1">
                  <a:solidFill>
                    <a:srgbClr val="006600"/>
                  </a:solidFill>
                  <a:latin typeface="Courier New" charset="0"/>
                  <a:ea typeface="新細明體" charset="-120"/>
                </a:rPr>
                <a:t>200</a:t>
              </a:r>
              <a:br>
                <a:rPr lang="en-GB" altLang="zh-TW" sz="1500" b="1">
                  <a:solidFill>
                    <a:srgbClr val="006600"/>
                  </a:solidFill>
                  <a:latin typeface="Courier New" charset="0"/>
                  <a:ea typeface="新細明體" charset="-120"/>
                </a:rPr>
              </a:br>
              <a:r>
                <a:rPr lang="en-GB" altLang="zh-TW" sz="1500" b="1">
                  <a:solidFill>
                    <a:srgbClr val="006600"/>
                  </a:solidFill>
                  <a:latin typeface="Courier New" charset="0"/>
                  <a:ea typeface="新細明體" charset="-120"/>
                </a:rPr>
                <a:t>(not used)</a:t>
              </a:r>
            </a:p>
          </p:txBody>
        </p:sp>
        <p:sp>
          <p:nvSpPr>
            <p:cNvPr id="61699" name="Text Box 294"/>
            <p:cNvSpPr txBox="1">
              <a:spLocks noChangeArrowheads="1"/>
            </p:cNvSpPr>
            <p:nvPr/>
          </p:nvSpPr>
          <p:spPr bwMode="auto">
            <a:xfrm>
              <a:off x="2479" y="1724"/>
              <a:ext cx="330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3333CC"/>
                </a:buClr>
                <a:buFont typeface="Courier New" charset="0"/>
                <a:buNone/>
              </a:pPr>
              <a:r>
                <a:rPr lang="en-GB" altLang="zh-TW" sz="1500" b="1">
                  <a:solidFill>
                    <a:srgbClr val="3333CC"/>
                  </a:solidFill>
                  <a:latin typeface="Courier New" charset="0"/>
                  <a:ea typeface="新細明體" charset="-120"/>
                </a:rPr>
                <a:t>100</a:t>
              </a:r>
            </a:p>
          </p:txBody>
        </p:sp>
      </p:grpSp>
      <p:sp>
        <p:nvSpPr>
          <p:cNvPr id="20775" name="Text Box 295"/>
          <p:cNvSpPr txBox="1">
            <a:spLocks noChangeArrowheads="1"/>
          </p:cNvSpPr>
          <p:nvPr/>
        </p:nvSpPr>
        <p:spPr bwMode="auto">
          <a:xfrm>
            <a:off x="3236914" y="2495551"/>
            <a:ext cx="409575" cy="3222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>
                <a:srgbClr val="3333CC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sz="1500" b="1">
                <a:solidFill>
                  <a:srgbClr val="3333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ea typeface="新細明體" charset="-120"/>
                <a:cs typeface="新細明體" charset="-120"/>
              </a:rPr>
              <a:t>17</a:t>
            </a:r>
          </a:p>
        </p:txBody>
      </p:sp>
      <p:grpSp>
        <p:nvGrpSpPr>
          <p:cNvPr id="8" name="Group 296"/>
          <p:cNvGrpSpPr>
            <a:grpSpLocks/>
          </p:cNvGrpSpPr>
          <p:nvPr/>
        </p:nvGrpSpPr>
        <p:grpSpPr bwMode="auto">
          <a:xfrm>
            <a:off x="3224214" y="2952751"/>
            <a:ext cx="306387" cy="765175"/>
            <a:chOff x="1071" y="1860"/>
            <a:chExt cx="193" cy="482"/>
          </a:xfrm>
        </p:grpSpPr>
        <p:sp>
          <p:nvSpPr>
            <p:cNvPr id="20777" name="Text Box 297"/>
            <p:cNvSpPr txBox="1">
              <a:spLocks noChangeArrowheads="1"/>
            </p:cNvSpPr>
            <p:nvPr/>
          </p:nvSpPr>
          <p:spPr bwMode="auto">
            <a:xfrm>
              <a:off x="1079" y="1860"/>
              <a:ext cx="186" cy="20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buClr>
                  <a:srgbClr val="0066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altLang="zh-TW" sz="1500" b="1">
                  <a:solidFill>
                    <a:srgbClr val="006600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ea typeface="新細明體" charset="-120"/>
                  <a:cs typeface="新細明體" charset="-120"/>
                </a:rPr>
                <a:t>8</a:t>
              </a:r>
            </a:p>
          </p:txBody>
        </p:sp>
        <p:sp>
          <p:nvSpPr>
            <p:cNvPr id="20778" name="Text Box 298"/>
            <p:cNvSpPr txBox="1">
              <a:spLocks noChangeArrowheads="1"/>
            </p:cNvSpPr>
            <p:nvPr/>
          </p:nvSpPr>
          <p:spPr bwMode="auto">
            <a:xfrm>
              <a:off x="1071" y="2140"/>
              <a:ext cx="186" cy="20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altLang="zh-TW" sz="1500" b="1">
                  <a:solidFill>
                    <a:srgbClr val="CD333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ea typeface="新細明體" charset="-120"/>
                  <a:cs typeface="新細明體" charset="-120"/>
                </a:rPr>
                <a:t>8</a:t>
              </a:r>
            </a:p>
          </p:txBody>
        </p:sp>
      </p:grpSp>
      <p:sp>
        <p:nvSpPr>
          <p:cNvPr id="20779" name="Text Box 299"/>
          <p:cNvSpPr txBox="1">
            <a:spLocks noChangeArrowheads="1"/>
          </p:cNvSpPr>
          <p:nvPr/>
        </p:nvSpPr>
        <p:spPr bwMode="auto">
          <a:xfrm>
            <a:off x="9675814" y="3384551"/>
            <a:ext cx="409575" cy="3222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>
                <a:srgbClr val="CD3333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sz="1500" b="1">
                <a:solidFill>
                  <a:srgbClr val="CD33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ea typeface="新細明體" charset="-120"/>
                <a:cs typeface="新細明體" charset="-120"/>
              </a:rPr>
              <a:t>50</a:t>
            </a:r>
          </a:p>
        </p:txBody>
      </p:sp>
      <p:sp>
        <p:nvSpPr>
          <p:cNvPr id="61682" name="Text Box 300"/>
          <p:cNvSpPr txBox="1">
            <a:spLocks noChangeArrowheads="1"/>
          </p:cNvSpPr>
          <p:nvPr/>
        </p:nvSpPr>
        <p:spPr bwMode="auto">
          <a:xfrm>
            <a:off x="2055814" y="2473326"/>
            <a:ext cx="1076325" cy="307975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defPPr>
              <a:defRPr lang="en-GB"/>
            </a:defPPr>
            <a:lvl1pPr>
              <a:lnSpc>
                <a:spcPct val="100000"/>
              </a:lnSpc>
              <a:spcBef>
                <a:spcPts val="350"/>
              </a:spcBef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400">
                <a:solidFill>
                  <a:srgbClr val="FFFFFF"/>
                </a:solidFill>
                <a:latin typeface="Arial" charset="0"/>
                <a:ea typeface="新細明體" charset="-120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lvl9pPr>
          </a:lstStyle>
          <a:p>
            <a:r>
              <a:rPr lang="en-GB" altLang="zh-TW" dirty="0" err="1"/>
              <a:t>instr</a:t>
            </a:r>
            <a:r>
              <a:rPr lang="en-GB" altLang="zh-TW" dirty="0"/>
              <a:t>[25-21]</a:t>
            </a:r>
          </a:p>
        </p:txBody>
      </p:sp>
      <p:sp>
        <p:nvSpPr>
          <p:cNvPr id="20781" name="Text Box 301"/>
          <p:cNvSpPr txBox="1">
            <a:spLocks noChangeArrowheads="1"/>
          </p:cNvSpPr>
          <p:nvPr/>
        </p:nvSpPr>
        <p:spPr bwMode="auto">
          <a:xfrm>
            <a:off x="2055814" y="2854326"/>
            <a:ext cx="1076325" cy="307975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350"/>
              </a:spcBef>
              <a:buClr>
                <a:srgbClr val="000000"/>
              </a:buClr>
            </a:pPr>
            <a:r>
              <a:rPr lang="en-GB" altLang="zh-TW" sz="1400">
                <a:solidFill>
                  <a:srgbClr val="FFFFFF"/>
                </a:solidFill>
                <a:latin typeface="Arial" charset="0"/>
                <a:ea typeface="新細明體" charset="-120"/>
              </a:rPr>
              <a:t>instr[20-16]</a:t>
            </a:r>
          </a:p>
        </p:txBody>
      </p:sp>
      <p:sp>
        <p:nvSpPr>
          <p:cNvPr id="20782" name="Text Box 302"/>
          <p:cNvSpPr txBox="1">
            <a:spLocks noChangeArrowheads="1"/>
          </p:cNvSpPr>
          <p:nvPr/>
        </p:nvSpPr>
        <p:spPr bwMode="auto">
          <a:xfrm>
            <a:off x="2055814" y="3540126"/>
            <a:ext cx="1076325" cy="307975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350"/>
              </a:spcBef>
              <a:buClr>
                <a:srgbClr val="000000"/>
              </a:buClr>
            </a:pPr>
            <a:r>
              <a:rPr lang="en-GB" altLang="zh-TW" sz="1400">
                <a:solidFill>
                  <a:srgbClr val="FFFFFF"/>
                </a:solidFill>
                <a:latin typeface="Arial" charset="0"/>
                <a:ea typeface="新細明體" charset="-120"/>
              </a:rPr>
              <a:t>instr[20-16]</a:t>
            </a:r>
          </a:p>
        </p:txBody>
      </p:sp>
      <p:grpSp>
        <p:nvGrpSpPr>
          <p:cNvPr id="9" name="Group 303"/>
          <p:cNvGrpSpPr>
            <a:grpSpLocks/>
          </p:cNvGrpSpPr>
          <p:nvPr/>
        </p:nvGrpSpPr>
        <p:grpSpPr bwMode="auto">
          <a:xfrm>
            <a:off x="2132014" y="4818064"/>
            <a:ext cx="2547937" cy="549275"/>
            <a:chOff x="383" y="3035"/>
            <a:chExt cx="1605" cy="346"/>
          </a:xfrm>
        </p:grpSpPr>
        <p:sp>
          <p:nvSpPr>
            <p:cNvPr id="61694" name="Text Box 304"/>
            <p:cNvSpPr txBox="1">
              <a:spLocks noChangeArrowheads="1"/>
            </p:cNvSpPr>
            <p:nvPr/>
          </p:nvSpPr>
          <p:spPr bwMode="auto">
            <a:xfrm>
              <a:off x="1297" y="3035"/>
              <a:ext cx="692" cy="3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CD3333"/>
                </a:buClr>
                <a:buFont typeface="Courier New" charset="0"/>
                <a:buNone/>
              </a:pPr>
              <a:r>
                <a:rPr lang="en-GB" altLang="zh-TW" sz="1500" b="1">
                  <a:solidFill>
                    <a:srgbClr val="CD3333"/>
                  </a:solidFill>
                  <a:latin typeface="Courier New" charset="0"/>
                  <a:ea typeface="新細明體" charset="-120"/>
                </a:rPr>
                <a:t>1000</a:t>
              </a:r>
            </a:p>
            <a:p>
              <a:pPr>
                <a:lnSpc>
                  <a:spcPct val="100000"/>
                </a:lnSpc>
                <a:buClr>
                  <a:srgbClr val="CD3333"/>
                </a:buClr>
                <a:buFont typeface="Courier New" charset="0"/>
                <a:buNone/>
              </a:pPr>
              <a:r>
                <a:rPr lang="en-GB" altLang="zh-TW" sz="1500" b="1">
                  <a:solidFill>
                    <a:srgbClr val="CD3333"/>
                  </a:solidFill>
                  <a:latin typeface="Courier New" charset="0"/>
                  <a:ea typeface="新細明體" charset="-120"/>
                </a:rPr>
                <a:t>(Offset)</a:t>
              </a:r>
            </a:p>
          </p:txBody>
        </p:sp>
        <p:sp>
          <p:nvSpPr>
            <p:cNvPr id="61695" name="Text Box 305"/>
            <p:cNvSpPr txBox="1">
              <a:spLocks noChangeArrowheads="1"/>
            </p:cNvSpPr>
            <p:nvPr/>
          </p:nvSpPr>
          <p:spPr bwMode="auto">
            <a:xfrm>
              <a:off x="383" y="3094"/>
              <a:ext cx="615" cy="194"/>
            </a:xfrm>
            <a:prstGeom prst="rect">
              <a:avLst/>
            </a:prstGeom>
            <a:solidFill>
              <a:srgbClr val="8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spcBef>
                  <a:spcPts val="350"/>
                </a:spcBef>
                <a:buClr>
                  <a:srgbClr val="000000"/>
                </a:buClr>
              </a:pPr>
              <a:r>
                <a:rPr lang="en-GB" altLang="zh-TW" sz="1400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instr[15-0]</a:t>
              </a:r>
            </a:p>
          </p:txBody>
        </p:sp>
      </p:grpSp>
      <p:sp>
        <p:nvSpPr>
          <p:cNvPr id="20786" name="Text Box 306"/>
          <p:cNvSpPr txBox="1">
            <a:spLocks noChangeArrowheads="1"/>
          </p:cNvSpPr>
          <p:nvPr/>
        </p:nvSpPr>
        <p:spPr bwMode="auto">
          <a:xfrm>
            <a:off x="8766175" y="4835526"/>
            <a:ext cx="1131888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375"/>
              </a:spcBef>
              <a:buClr>
                <a:srgbClr val="000000"/>
              </a:buClr>
            </a:pPr>
            <a:r>
              <a:rPr lang="en-GB" altLang="zh-TW" sz="1500" b="1">
                <a:solidFill>
                  <a:srgbClr val="ECA07A"/>
                </a:solidFill>
                <a:latin typeface="Tahoma" charset="0"/>
                <a:ea typeface="新細明體" charset="-120"/>
              </a:rPr>
              <a:t>MemRead</a:t>
            </a:r>
          </a:p>
        </p:txBody>
      </p:sp>
      <p:sp>
        <p:nvSpPr>
          <p:cNvPr id="20787" name="Freeform 307"/>
          <p:cNvSpPr>
            <a:spLocks noChangeArrowheads="1"/>
          </p:cNvSpPr>
          <p:nvPr/>
        </p:nvSpPr>
        <p:spPr bwMode="auto">
          <a:xfrm>
            <a:off x="3352801" y="3657601"/>
            <a:ext cx="6596063" cy="2195513"/>
          </a:xfrm>
          <a:custGeom>
            <a:avLst/>
            <a:gdLst>
              <a:gd name="T0" fmla="*/ 3939 w 4155"/>
              <a:gd name="T1" fmla="*/ 0 h 1383"/>
              <a:gd name="T2" fmla="*/ 4155 w 4155"/>
              <a:gd name="T3" fmla="*/ 0 h 1383"/>
              <a:gd name="T4" fmla="*/ 4155 w 4155"/>
              <a:gd name="T5" fmla="*/ 1383 h 1383"/>
              <a:gd name="T6" fmla="*/ 0 w 4155"/>
              <a:gd name="T7" fmla="*/ 1380 h 1383"/>
              <a:gd name="T8" fmla="*/ 0 w 4155"/>
              <a:gd name="T9" fmla="*/ 308 h 1383"/>
              <a:gd name="T10" fmla="*/ 178 w 4155"/>
              <a:gd name="T11" fmla="*/ 308 h 138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155"/>
              <a:gd name="T19" fmla="*/ 0 h 1383"/>
              <a:gd name="T20" fmla="*/ 4155 w 4155"/>
              <a:gd name="T21" fmla="*/ 1383 h 138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155" h="1383">
                <a:moveTo>
                  <a:pt x="3939" y="0"/>
                </a:moveTo>
                <a:lnTo>
                  <a:pt x="4155" y="0"/>
                </a:lnTo>
                <a:lnTo>
                  <a:pt x="4155" y="1383"/>
                </a:lnTo>
                <a:lnTo>
                  <a:pt x="0" y="1380"/>
                </a:lnTo>
                <a:lnTo>
                  <a:pt x="0" y="308"/>
                </a:lnTo>
                <a:lnTo>
                  <a:pt x="178" y="308"/>
                </a:lnTo>
              </a:path>
            </a:pathLst>
          </a:custGeom>
          <a:noFill/>
          <a:ln w="31680">
            <a:solidFill>
              <a:srgbClr val="CD3333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688" name="Text Box 308"/>
          <p:cNvSpPr txBox="1">
            <a:spLocks noChangeArrowheads="1"/>
          </p:cNvSpPr>
          <p:nvPr/>
        </p:nvSpPr>
        <p:spPr bwMode="auto">
          <a:xfrm>
            <a:off x="8613775" y="2397125"/>
            <a:ext cx="3111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400"/>
              </a:spcBef>
              <a:buClr>
                <a:srgbClr val="000000"/>
              </a:buClr>
            </a:pPr>
            <a:r>
              <a:rPr lang="en-GB" altLang="zh-TW" sz="1600" b="1" dirty="0">
                <a:solidFill>
                  <a:srgbClr val="402000"/>
                </a:solidFill>
                <a:latin typeface="Tahoma" charset="0"/>
                <a:ea typeface="新細明體" charset="-120"/>
              </a:rPr>
              <a:t>0</a:t>
            </a:r>
          </a:p>
        </p:txBody>
      </p:sp>
      <p:sp>
        <p:nvSpPr>
          <p:cNvPr id="20789" name="Text Box 309"/>
          <p:cNvSpPr txBox="1">
            <a:spLocks noChangeArrowheads="1"/>
          </p:cNvSpPr>
          <p:nvPr/>
        </p:nvSpPr>
        <p:spPr bwMode="auto">
          <a:xfrm>
            <a:off x="1524000" y="5932636"/>
            <a:ext cx="9144000" cy="520700"/>
          </a:xfrm>
          <a:prstGeom prst="rect">
            <a:avLst/>
          </a:prstGeom>
          <a:solidFill>
            <a:srgbClr val="FFFF99"/>
          </a:solidFill>
          <a:ln w="9360">
            <a:solidFill>
              <a:srgbClr val="402000"/>
            </a:solidFill>
            <a:prstDash val="dash"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buFont typeface="Tahoma" charset="0"/>
              <a:buNone/>
            </a:pPr>
            <a:r>
              <a:rPr lang="en-GB" altLang="zh-TW" sz="1400">
                <a:solidFill>
                  <a:srgbClr val="402000"/>
                </a:solidFill>
                <a:latin typeface="Tahoma" charset="0"/>
                <a:ea typeface="新細明體" charset="-120"/>
              </a:rPr>
              <a:t>Note: For load word instruction, </a:t>
            </a:r>
            <a:r>
              <a:rPr lang="en-GB" altLang="zh-TW" sz="1400" b="1">
                <a:solidFill>
                  <a:srgbClr val="402000"/>
                </a:solidFill>
                <a:latin typeface="Tahoma" charset="0"/>
                <a:ea typeface="新細明體" charset="-120"/>
              </a:rPr>
              <a:t>MemWrite</a:t>
            </a:r>
            <a:r>
              <a:rPr lang="en-GB" altLang="zh-TW" sz="1400">
                <a:solidFill>
                  <a:srgbClr val="402000"/>
                </a:solidFill>
                <a:latin typeface="Tahoma" charset="0"/>
                <a:ea typeface="新細明體" charset="-120"/>
              </a:rPr>
              <a:t> has to be de-asserted so that the memory will not be modified by</a:t>
            </a:r>
          </a:p>
          <a:p>
            <a:pPr>
              <a:lnSpc>
                <a:spcPct val="100000"/>
              </a:lnSpc>
              <a:buFont typeface="Tahoma" charset="0"/>
              <a:buNone/>
            </a:pPr>
            <a:r>
              <a:rPr lang="en-GB" altLang="zh-TW" sz="1400">
                <a:solidFill>
                  <a:srgbClr val="402000"/>
                </a:solidFill>
                <a:latin typeface="Tahoma" charset="0"/>
                <a:ea typeface="新細明體" charset="-120"/>
              </a:rPr>
              <a:t>         incoming write data.</a:t>
            </a:r>
          </a:p>
        </p:txBody>
      </p:sp>
      <p:sp>
        <p:nvSpPr>
          <p:cNvPr id="20790" name="Text Box 310"/>
          <p:cNvSpPr txBox="1">
            <a:spLocks noChangeArrowheads="1"/>
          </p:cNvSpPr>
          <p:nvPr/>
        </p:nvSpPr>
        <p:spPr bwMode="auto">
          <a:xfrm>
            <a:off x="2363788" y="4114801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k</a:t>
            </a:r>
            <a:endParaRPr lang="zh-TW" altLang="en-GB" sz="2800" dirty="0">
              <a:solidFill>
                <a:srgbClr val="CD33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20791" name="Text Box 311"/>
          <p:cNvSpPr txBox="1">
            <a:spLocks noChangeArrowheads="1"/>
          </p:cNvSpPr>
          <p:nvPr/>
        </p:nvSpPr>
        <p:spPr bwMode="auto">
          <a:xfrm>
            <a:off x="6402388" y="4876801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l</a:t>
            </a:r>
            <a:endParaRPr lang="zh-TW" altLang="en-GB" sz="2800" dirty="0">
              <a:solidFill>
                <a:srgbClr val="CD33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20792" name="Text Box 312"/>
          <p:cNvSpPr txBox="1">
            <a:spLocks noChangeArrowheads="1"/>
          </p:cNvSpPr>
          <p:nvPr/>
        </p:nvSpPr>
        <p:spPr bwMode="auto">
          <a:xfrm>
            <a:off x="3354388" y="5334001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n</a:t>
            </a:r>
            <a:endParaRPr lang="zh-TW" altLang="en-GB" sz="2800" dirty="0">
              <a:solidFill>
                <a:srgbClr val="CD33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20793" name="Text Box 313"/>
          <p:cNvSpPr txBox="1">
            <a:spLocks noChangeArrowheads="1"/>
          </p:cNvSpPr>
          <p:nvPr/>
        </p:nvSpPr>
        <p:spPr bwMode="auto">
          <a:xfrm>
            <a:off x="7850188" y="2590801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m</a:t>
            </a:r>
            <a:endParaRPr lang="zh-TW" altLang="en-GB" sz="2800" dirty="0">
              <a:solidFill>
                <a:srgbClr val="CD3333"/>
              </a:solidFill>
              <a:latin typeface="Wingdings" charset="2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568149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mph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1000" fill="hold" masterRel="sameClick"/>
                                        <p:tgtEl>
                                          <p:spTgt spid="2070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3333"/>
                                      </p:to>
                                    </p:animClr>
                                    <p:set>
                                      <p:cBhvr>
                                        <p:cTn id="11" dur="1000" fill="hold"/>
                                        <p:tgtEl>
                                          <p:spTgt spid="2070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3" presetClass="emph" presetSubtype="2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9" dur="500" fill="hold" masterRel="sameClick"/>
                                        <p:tgtEl>
                                          <p:spTgt spid="2078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3333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4" presetClass="emph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tsTypes="">
                                      <p:cBhvr>
                                        <p:cTn id="28" dur="50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9"/>
                                        </p:tgtEl>
                                      </p:cBhvr>
                                    </p:animMotion>
                                    <p:animRot by="1500000">
                                      <p:cBhvr>
                                        <p:cTn id="2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3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3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7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1000"/>
                                        <p:tgtEl>
                                          <p:spTgt spid="20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0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07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0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0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0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h/2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0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0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0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8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>
                <a:ea typeface="新細明體" charset="-120"/>
                <a:cs typeface="新細明體" charset="-120"/>
              </a:rPr>
              <a:t>Datapath for Branch (I-Format) Instr.</a:t>
            </a:r>
          </a:p>
        </p:txBody>
      </p:sp>
      <p:sp>
        <p:nvSpPr>
          <p:cNvPr id="6349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124744"/>
            <a:ext cx="10972800" cy="460817"/>
          </a:xfrm>
        </p:spPr>
        <p:txBody>
          <a:bodyPr>
            <a:normAutofit fontScale="77500" lnSpcReduction="20000"/>
          </a:bodyPr>
          <a:lstStyle/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b="1" dirty="0">
                <a:ea typeface="新細明體" charset="-120"/>
              </a:rPr>
              <a:t>E.g.:  </a:t>
            </a:r>
            <a:r>
              <a:rPr lang="en-GB" altLang="zh-TW" b="1" dirty="0" err="1">
                <a:solidFill>
                  <a:srgbClr val="0000FF"/>
                </a:solidFill>
                <a:latin typeface="Courier New" charset="0"/>
                <a:ea typeface="新細明體" charset="-120"/>
              </a:rPr>
              <a:t>beq</a:t>
            </a:r>
            <a:r>
              <a:rPr lang="en-GB" altLang="zh-TW" b="1" dirty="0">
                <a:solidFill>
                  <a:srgbClr val="0000FF"/>
                </a:solidFill>
                <a:latin typeface="Courier New" charset="0"/>
                <a:ea typeface="新細明體" charset="-120"/>
              </a:rPr>
              <a:t> $t0, $t1, 2</a:t>
            </a:r>
          </a:p>
        </p:txBody>
      </p:sp>
      <p:sp>
        <p:nvSpPr>
          <p:cNvPr id="21505" name="Text Box 1"/>
          <p:cNvSpPr txBox="1">
            <a:spLocks noChangeArrowheads="1"/>
          </p:cNvSpPr>
          <p:nvPr/>
        </p:nvSpPr>
        <p:spPr bwMode="auto">
          <a:xfrm>
            <a:off x="6246814" y="1864445"/>
            <a:ext cx="1788673" cy="57669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350"/>
              </a:spcBef>
              <a:buClr>
                <a:srgbClr val="000000"/>
              </a:buClr>
            </a:pPr>
            <a:r>
              <a:rPr lang="en-GB" altLang="zh-TW" sz="1400">
                <a:solidFill>
                  <a:srgbClr val="0066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charset="0"/>
                <a:ea typeface="新細明體" charset="-120"/>
              </a:rPr>
              <a:t>PC+4</a:t>
            </a:r>
            <a:r>
              <a:rPr lang="en-GB" altLang="zh-TW" sz="1400">
                <a:solidFill>
                  <a:srgbClr val="402000"/>
                </a:solidFill>
                <a:latin typeface="Tahoma" charset="0"/>
                <a:ea typeface="新細明體" charset="-120"/>
              </a:rPr>
              <a:t> from</a:t>
            </a:r>
          </a:p>
          <a:p>
            <a:pPr>
              <a:spcBef>
                <a:spcPts val="350"/>
              </a:spcBef>
              <a:buClr>
                <a:srgbClr val="000000"/>
              </a:buClr>
            </a:pPr>
            <a:r>
              <a:rPr lang="en-GB" altLang="zh-TW" sz="1400">
                <a:solidFill>
                  <a:srgbClr val="402000"/>
                </a:solidFill>
                <a:latin typeface="Tahoma" charset="0"/>
                <a:ea typeface="新細明體" charset="-120"/>
              </a:rPr>
              <a:t>Instruction datapath</a:t>
            </a:r>
          </a:p>
        </p:txBody>
      </p:sp>
      <p:sp>
        <p:nvSpPr>
          <p:cNvPr id="63496" name="Rectangle 4"/>
          <p:cNvSpPr>
            <a:spLocks noChangeArrowheads="1"/>
          </p:cNvSpPr>
          <p:nvPr/>
        </p:nvSpPr>
        <p:spPr bwMode="auto">
          <a:xfrm>
            <a:off x="2057400" y="1635845"/>
            <a:ext cx="3505200" cy="1079399"/>
          </a:xfrm>
          <a:prstGeom prst="rect">
            <a:avLst/>
          </a:prstGeom>
          <a:solidFill>
            <a:srgbClr val="FBFAE2"/>
          </a:solidFill>
          <a:ln w="9360">
            <a:solidFill>
              <a:srgbClr val="33CC33"/>
            </a:solidFill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 b="1">
                <a:solidFill>
                  <a:srgbClr val="000000"/>
                </a:solidFill>
                <a:latin typeface="Courier New" charset="0"/>
                <a:ea typeface="新細明體" charset="-120"/>
              </a:rPr>
              <a:t>1000:     beq $t0, $t1, L1</a:t>
            </a:r>
          </a:p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 b="1">
                <a:solidFill>
                  <a:srgbClr val="000000"/>
                </a:solidFill>
                <a:latin typeface="Courier New" charset="0"/>
                <a:ea typeface="新細明體" charset="-120"/>
              </a:rPr>
              <a:t>1004:     . </a:t>
            </a:r>
            <a:r>
              <a:rPr lang="en-GB" altLang="zh-TW" sz="1600" b="1">
                <a:solidFill>
                  <a:srgbClr val="0000FF"/>
                </a:solidFill>
                <a:latin typeface="Courier New" charset="0"/>
                <a:ea typeface="新細明體" charset="-120"/>
              </a:rPr>
              <a:t>2 instructions</a:t>
            </a:r>
            <a:r>
              <a:rPr lang="en-GB" altLang="zh-TW" sz="1600" b="1">
                <a:solidFill>
                  <a:srgbClr val="000000"/>
                </a:solidFill>
                <a:latin typeface="Courier New" charset="0"/>
                <a:ea typeface="新細明體" charset="-120"/>
              </a:rPr>
              <a:t> </a:t>
            </a:r>
            <a:br>
              <a:rPr lang="en-GB" altLang="zh-TW" sz="1600" b="1">
                <a:solidFill>
                  <a:srgbClr val="000000"/>
                </a:solidFill>
                <a:latin typeface="Courier New" charset="0"/>
                <a:ea typeface="新細明體" charset="-120"/>
              </a:rPr>
            </a:br>
            <a:r>
              <a:rPr lang="en-GB" altLang="zh-TW" sz="1600" b="1">
                <a:solidFill>
                  <a:srgbClr val="000000"/>
                </a:solidFill>
                <a:latin typeface="Courier New" charset="0"/>
                <a:ea typeface="新細明體" charset="-120"/>
              </a:rPr>
              <a:t>1008:     . </a:t>
            </a:r>
            <a:r>
              <a:rPr lang="en-GB" altLang="zh-TW" sz="1600" b="1">
                <a:solidFill>
                  <a:srgbClr val="0000FF"/>
                </a:solidFill>
                <a:latin typeface="Courier New" charset="0"/>
                <a:ea typeface="新細明體" charset="-120"/>
              </a:rPr>
              <a:t>are skipped</a:t>
            </a:r>
          </a:p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 b="1">
                <a:solidFill>
                  <a:srgbClr val="000000"/>
                </a:solidFill>
                <a:latin typeface="Courier New" charset="0"/>
                <a:ea typeface="新細明體" charset="-120"/>
              </a:rPr>
              <a:t>1012: L1: add $t0, $t1, $t2</a:t>
            </a:r>
          </a:p>
        </p:txBody>
      </p:sp>
      <p:sp>
        <p:nvSpPr>
          <p:cNvPr id="63497" name="Freeform 5"/>
          <p:cNvSpPr>
            <a:spLocks noChangeArrowheads="1"/>
          </p:cNvSpPr>
          <p:nvPr/>
        </p:nvSpPr>
        <p:spPr bwMode="auto">
          <a:xfrm>
            <a:off x="4760914" y="3626569"/>
            <a:ext cx="1430337" cy="2292350"/>
          </a:xfrm>
          <a:custGeom>
            <a:avLst/>
            <a:gdLst>
              <a:gd name="T0" fmla="*/ 280 w 901"/>
              <a:gd name="T1" fmla="*/ 0 h 1444"/>
              <a:gd name="T2" fmla="*/ 0 w 901"/>
              <a:gd name="T3" fmla="*/ 3 h 1444"/>
              <a:gd name="T4" fmla="*/ 0 w 901"/>
              <a:gd name="T5" fmla="*/ 1444 h 1444"/>
              <a:gd name="T6" fmla="*/ 901 w 901"/>
              <a:gd name="T7" fmla="*/ 1444 h 1444"/>
              <a:gd name="T8" fmla="*/ 0 60000 65536"/>
              <a:gd name="T9" fmla="*/ 0 60000 65536"/>
              <a:gd name="T10" fmla="*/ 0 60000 65536"/>
              <a:gd name="T11" fmla="*/ 0 60000 65536"/>
              <a:gd name="T12" fmla="*/ 0 w 901"/>
              <a:gd name="T13" fmla="*/ 0 h 1444"/>
              <a:gd name="T14" fmla="*/ 901 w 901"/>
              <a:gd name="T15" fmla="*/ 1444 h 14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01" h="1444">
                <a:moveTo>
                  <a:pt x="280" y="0"/>
                </a:moveTo>
                <a:lnTo>
                  <a:pt x="0" y="3"/>
                </a:lnTo>
                <a:lnTo>
                  <a:pt x="0" y="1444"/>
                </a:lnTo>
                <a:lnTo>
                  <a:pt x="901" y="1444"/>
                </a:lnTo>
              </a:path>
            </a:pathLst>
          </a:custGeom>
          <a:noFill/>
          <a:ln w="316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98" name="Line 6"/>
          <p:cNvSpPr>
            <a:spLocks noChangeShapeType="1"/>
          </p:cNvSpPr>
          <p:nvPr/>
        </p:nvSpPr>
        <p:spPr bwMode="auto">
          <a:xfrm flipH="1">
            <a:off x="7013576" y="3858344"/>
            <a:ext cx="1058863" cy="1588"/>
          </a:xfrm>
          <a:prstGeom prst="line">
            <a:avLst/>
          </a:prstGeom>
          <a:noFill/>
          <a:ln w="316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99" name="Line 7"/>
          <p:cNvSpPr>
            <a:spLocks noChangeShapeType="1"/>
          </p:cNvSpPr>
          <p:nvPr/>
        </p:nvSpPr>
        <p:spPr bwMode="auto">
          <a:xfrm flipH="1">
            <a:off x="7013576" y="4763220"/>
            <a:ext cx="1071563" cy="4763"/>
          </a:xfrm>
          <a:prstGeom prst="line">
            <a:avLst/>
          </a:prstGeom>
          <a:noFill/>
          <a:ln w="316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0" name="Line 8"/>
          <p:cNvSpPr>
            <a:spLocks noChangeShapeType="1"/>
          </p:cNvSpPr>
          <p:nvPr/>
        </p:nvSpPr>
        <p:spPr bwMode="auto">
          <a:xfrm flipH="1" flipV="1">
            <a:off x="5943600" y="5817320"/>
            <a:ext cx="114300" cy="200025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1" name="Freeform 9"/>
          <p:cNvSpPr>
            <a:spLocks noChangeArrowheads="1"/>
          </p:cNvSpPr>
          <p:nvPr/>
        </p:nvSpPr>
        <p:spPr bwMode="auto">
          <a:xfrm>
            <a:off x="5191125" y="3590058"/>
            <a:ext cx="77788" cy="77787"/>
          </a:xfrm>
          <a:custGeom>
            <a:avLst/>
            <a:gdLst>
              <a:gd name="T0" fmla="*/ 0 w 49"/>
              <a:gd name="T1" fmla="*/ 0 h 49"/>
              <a:gd name="T2" fmla="*/ 0 w 49"/>
              <a:gd name="T3" fmla="*/ 49 h 49"/>
              <a:gd name="T4" fmla="*/ 49 w 49"/>
              <a:gd name="T5" fmla="*/ 26 h 49"/>
              <a:gd name="T6" fmla="*/ 0 w 49"/>
              <a:gd name="T7" fmla="*/ 0 h 49"/>
              <a:gd name="T8" fmla="*/ 0 w 49"/>
              <a:gd name="T9" fmla="*/ 0 h 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9"/>
              <a:gd name="T16" fmla="*/ 0 h 49"/>
              <a:gd name="T17" fmla="*/ 49 w 49"/>
              <a:gd name="T18" fmla="*/ 49 h 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9" h="49">
                <a:moveTo>
                  <a:pt x="0" y="0"/>
                </a:moveTo>
                <a:lnTo>
                  <a:pt x="0" y="49"/>
                </a:lnTo>
                <a:lnTo>
                  <a:pt x="49" y="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2" name="Freeform 10"/>
          <p:cNvSpPr>
            <a:spLocks noChangeArrowheads="1"/>
          </p:cNvSpPr>
          <p:nvPr/>
        </p:nvSpPr>
        <p:spPr bwMode="auto">
          <a:xfrm>
            <a:off x="8047039" y="4726708"/>
            <a:ext cx="79375" cy="77787"/>
          </a:xfrm>
          <a:custGeom>
            <a:avLst/>
            <a:gdLst>
              <a:gd name="T0" fmla="*/ 0 w 50"/>
              <a:gd name="T1" fmla="*/ 0 h 49"/>
              <a:gd name="T2" fmla="*/ 0 w 50"/>
              <a:gd name="T3" fmla="*/ 49 h 49"/>
              <a:gd name="T4" fmla="*/ 50 w 50"/>
              <a:gd name="T5" fmla="*/ 26 h 49"/>
              <a:gd name="T6" fmla="*/ 0 w 50"/>
              <a:gd name="T7" fmla="*/ 0 h 49"/>
              <a:gd name="T8" fmla="*/ 0 w 50"/>
              <a:gd name="T9" fmla="*/ 0 h 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0"/>
              <a:gd name="T16" fmla="*/ 0 h 49"/>
              <a:gd name="T17" fmla="*/ 50 w 50"/>
              <a:gd name="T18" fmla="*/ 49 h 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0" h="49">
                <a:moveTo>
                  <a:pt x="0" y="0"/>
                </a:moveTo>
                <a:lnTo>
                  <a:pt x="0" y="49"/>
                </a:lnTo>
                <a:lnTo>
                  <a:pt x="50" y="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3" name="Freeform 11"/>
          <p:cNvSpPr>
            <a:spLocks noChangeArrowheads="1"/>
          </p:cNvSpPr>
          <p:nvPr/>
        </p:nvSpPr>
        <p:spPr bwMode="auto">
          <a:xfrm>
            <a:off x="8047039" y="3817069"/>
            <a:ext cx="79375" cy="77788"/>
          </a:xfrm>
          <a:custGeom>
            <a:avLst/>
            <a:gdLst>
              <a:gd name="T0" fmla="*/ 0 w 50"/>
              <a:gd name="T1" fmla="*/ 0 h 49"/>
              <a:gd name="T2" fmla="*/ 0 w 50"/>
              <a:gd name="T3" fmla="*/ 49 h 49"/>
              <a:gd name="T4" fmla="*/ 50 w 50"/>
              <a:gd name="T5" fmla="*/ 26 h 49"/>
              <a:gd name="T6" fmla="*/ 0 w 50"/>
              <a:gd name="T7" fmla="*/ 3 h 49"/>
              <a:gd name="T8" fmla="*/ 0 w 50"/>
              <a:gd name="T9" fmla="*/ 3 h 49"/>
              <a:gd name="T10" fmla="*/ 0 w 50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0"/>
              <a:gd name="T19" fmla="*/ 0 h 49"/>
              <a:gd name="T20" fmla="*/ 50 w 50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0" h="49">
                <a:moveTo>
                  <a:pt x="0" y="0"/>
                </a:moveTo>
                <a:lnTo>
                  <a:pt x="0" y="49"/>
                </a:lnTo>
                <a:lnTo>
                  <a:pt x="50" y="26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4" name="Freeform 12"/>
          <p:cNvSpPr>
            <a:spLocks noChangeArrowheads="1"/>
          </p:cNvSpPr>
          <p:nvPr/>
        </p:nvSpPr>
        <p:spPr bwMode="auto">
          <a:xfrm>
            <a:off x="6172201" y="5879232"/>
            <a:ext cx="79375" cy="76200"/>
          </a:xfrm>
          <a:custGeom>
            <a:avLst/>
            <a:gdLst>
              <a:gd name="T0" fmla="*/ 0 w 50"/>
              <a:gd name="T1" fmla="*/ 0 h 48"/>
              <a:gd name="T2" fmla="*/ 3 w 50"/>
              <a:gd name="T3" fmla="*/ 48 h 48"/>
              <a:gd name="T4" fmla="*/ 50 w 50"/>
              <a:gd name="T5" fmla="*/ 25 h 48"/>
              <a:gd name="T6" fmla="*/ 3 w 50"/>
              <a:gd name="T7" fmla="*/ 2 h 48"/>
              <a:gd name="T8" fmla="*/ 3 w 50"/>
              <a:gd name="T9" fmla="*/ 2 h 48"/>
              <a:gd name="T10" fmla="*/ 0 w 50"/>
              <a:gd name="T11" fmla="*/ 0 h 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0"/>
              <a:gd name="T19" fmla="*/ 0 h 48"/>
              <a:gd name="T20" fmla="*/ 50 w 50"/>
              <a:gd name="T21" fmla="*/ 48 h 4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0" h="48">
                <a:moveTo>
                  <a:pt x="0" y="0"/>
                </a:moveTo>
                <a:lnTo>
                  <a:pt x="3" y="48"/>
                </a:lnTo>
                <a:lnTo>
                  <a:pt x="50" y="25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05" name="Rectangle 13"/>
          <p:cNvSpPr>
            <a:spLocks noChangeArrowheads="1"/>
          </p:cNvSpPr>
          <p:nvPr/>
        </p:nvSpPr>
        <p:spPr bwMode="auto">
          <a:xfrm>
            <a:off x="5907088" y="561888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63506" name="Rectangle 14"/>
          <p:cNvSpPr>
            <a:spLocks noChangeArrowheads="1"/>
          </p:cNvSpPr>
          <p:nvPr/>
        </p:nvSpPr>
        <p:spPr bwMode="auto">
          <a:xfrm>
            <a:off x="5991225" y="561888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6</a:t>
            </a:r>
          </a:p>
        </p:txBody>
      </p:sp>
      <p:sp>
        <p:nvSpPr>
          <p:cNvPr id="63507" name="Line 15"/>
          <p:cNvSpPr>
            <a:spLocks noChangeShapeType="1"/>
          </p:cNvSpPr>
          <p:nvPr/>
        </p:nvSpPr>
        <p:spPr bwMode="auto">
          <a:xfrm flipH="1" flipV="1">
            <a:off x="6953251" y="5817320"/>
            <a:ext cx="119063" cy="200025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8" name="Rectangle 16"/>
          <p:cNvSpPr>
            <a:spLocks noChangeArrowheads="1"/>
          </p:cNvSpPr>
          <p:nvPr/>
        </p:nvSpPr>
        <p:spPr bwMode="auto">
          <a:xfrm>
            <a:off x="6921500" y="561888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3</a:t>
            </a:r>
          </a:p>
        </p:txBody>
      </p:sp>
      <p:sp>
        <p:nvSpPr>
          <p:cNvPr id="63509" name="Rectangle 17"/>
          <p:cNvSpPr>
            <a:spLocks noChangeArrowheads="1"/>
          </p:cNvSpPr>
          <p:nvPr/>
        </p:nvSpPr>
        <p:spPr bwMode="auto">
          <a:xfrm>
            <a:off x="7004050" y="561888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63510" name="Freeform 18"/>
          <p:cNvSpPr>
            <a:spLocks noChangeArrowheads="1"/>
          </p:cNvSpPr>
          <p:nvPr/>
        </p:nvSpPr>
        <p:spPr bwMode="auto">
          <a:xfrm>
            <a:off x="5191125" y="4044083"/>
            <a:ext cx="77788" cy="77787"/>
          </a:xfrm>
          <a:custGeom>
            <a:avLst/>
            <a:gdLst>
              <a:gd name="T0" fmla="*/ 0 w 49"/>
              <a:gd name="T1" fmla="*/ 0 h 49"/>
              <a:gd name="T2" fmla="*/ 0 w 49"/>
              <a:gd name="T3" fmla="*/ 49 h 49"/>
              <a:gd name="T4" fmla="*/ 49 w 49"/>
              <a:gd name="T5" fmla="*/ 26 h 49"/>
              <a:gd name="T6" fmla="*/ 0 w 49"/>
              <a:gd name="T7" fmla="*/ 0 h 49"/>
              <a:gd name="T8" fmla="*/ 0 w 49"/>
              <a:gd name="T9" fmla="*/ 0 h 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9"/>
              <a:gd name="T16" fmla="*/ 0 h 49"/>
              <a:gd name="T17" fmla="*/ 49 w 49"/>
              <a:gd name="T18" fmla="*/ 49 h 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9" h="49">
                <a:moveTo>
                  <a:pt x="0" y="0"/>
                </a:moveTo>
                <a:lnTo>
                  <a:pt x="0" y="49"/>
                </a:lnTo>
                <a:lnTo>
                  <a:pt x="49" y="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11" name="Freeform 19"/>
          <p:cNvSpPr>
            <a:spLocks noChangeArrowheads="1"/>
          </p:cNvSpPr>
          <p:nvPr/>
        </p:nvSpPr>
        <p:spPr bwMode="auto">
          <a:xfrm>
            <a:off x="5278439" y="3421782"/>
            <a:ext cx="1736725" cy="1782762"/>
          </a:xfrm>
          <a:custGeom>
            <a:avLst/>
            <a:gdLst>
              <a:gd name="T0" fmla="*/ 1094 w 1094"/>
              <a:gd name="T1" fmla="*/ 1120 h 1123"/>
              <a:gd name="T2" fmla="*/ 1094 w 1094"/>
              <a:gd name="T3" fmla="*/ 0 h 1123"/>
              <a:gd name="T4" fmla="*/ 0 w 1094"/>
              <a:gd name="T5" fmla="*/ 0 h 1123"/>
              <a:gd name="T6" fmla="*/ 0 w 1094"/>
              <a:gd name="T7" fmla="*/ 1123 h 1123"/>
              <a:gd name="T8" fmla="*/ 1094 w 1094"/>
              <a:gd name="T9" fmla="*/ 1123 h 1123"/>
              <a:gd name="T10" fmla="*/ 1094 w 1094"/>
              <a:gd name="T11" fmla="*/ 1123 h 1123"/>
              <a:gd name="T12" fmla="*/ 1094 w 1094"/>
              <a:gd name="T13" fmla="*/ 1120 h 112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94"/>
              <a:gd name="T22" fmla="*/ 0 h 1123"/>
              <a:gd name="T23" fmla="*/ 1094 w 1094"/>
              <a:gd name="T24" fmla="*/ 1123 h 1123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94" h="1123">
                <a:moveTo>
                  <a:pt x="1094" y="1120"/>
                </a:moveTo>
                <a:lnTo>
                  <a:pt x="1094" y="0"/>
                </a:lnTo>
                <a:lnTo>
                  <a:pt x="0" y="0"/>
                </a:lnTo>
                <a:lnTo>
                  <a:pt x="0" y="1123"/>
                </a:lnTo>
                <a:lnTo>
                  <a:pt x="1094" y="1123"/>
                </a:lnTo>
                <a:lnTo>
                  <a:pt x="1094" y="112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12" name="Freeform 20"/>
          <p:cNvSpPr>
            <a:spLocks noChangeArrowheads="1"/>
          </p:cNvSpPr>
          <p:nvPr/>
        </p:nvSpPr>
        <p:spPr bwMode="auto">
          <a:xfrm>
            <a:off x="5278439" y="3421782"/>
            <a:ext cx="1736725" cy="1782762"/>
          </a:xfrm>
          <a:custGeom>
            <a:avLst/>
            <a:gdLst>
              <a:gd name="T0" fmla="*/ 1094 w 1094"/>
              <a:gd name="T1" fmla="*/ 1120 h 1123"/>
              <a:gd name="T2" fmla="*/ 1094 w 1094"/>
              <a:gd name="T3" fmla="*/ 0 h 1123"/>
              <a:gd name="T4" fmla="*/ 0 w 1094"/>
              <a:gd name="T5" fmla="*/ 0 h 1123"/>
              <a:gd name="T6" fmla="*/ 0 w 1094"/>
              <a:gd name="T7" fmla="*/ 1123 h 1123"/>
              <a:gd name="T8" fmla="*/ 1094 w 1094"/>
              <a:gd name="T9" fmla="*/ 1123 h 1123"/>
              <a:gd name="T10" fmla="*/ 1094 w 1094"/>
              <a:gd name="T11" fmla="*/ 1123 h 11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94"/>
              <a:gd name="T19" fmla="*/ 0 h 1123"/>
              <a:gd name="T20" fmla="*/ 1094 w 1094"/>
              <a:gd name="T21" fmla="*/ 1123 h 11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94" h="1123">
                <a:moveTo>
                  <a:pt x="1094" y="1120"/>
                </a:moveTo>
                <a:lnTo>
                  <a:pt x="1094" y="0"/>
                </a:lnTo>
                <a:lnTo>
                  <a:pt x="0" y="0"/>
                </a:lnTo>
                <a:lnTo>
                  <a:pt x="0" y="1123"/>
                </a:lnTo>
                <a:lnTo>
                  <a:pt x="1094" y="1123"/>
                </a:lnTo>
              </a:path>
            </a:pathLst>
          </a:custGeom>
          <a:noFill/>
          <a:ln w="19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13" name="Line 21"/>
          <p:cNvSpPr>
            <a:spLocks noChangeShapeType="1"/>
          </p:cNvSpPr>
          <p:nvPr/>
        </p:nvSpPr>
        <p:spPr bwMode="auto">
          <a:xfrm>
            <a:off x="4760913" y="4080595"/>
            <a:ext cx="457200" cy="4763"/>
          </a:xfrm>
          <a:prstGeom prst="line">
            <a:avLst/>
          </a:prstGeom>
          <a:noFill/>
          <a:ln w="316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14" name="Freeform 22"/>
          <p:cNvSpPr>
            <a:spLocks noChangeArrowheads="1"/>
          </p:cNvSpPr>
          <p:nvPr/>
        </p:nvSpPr>
        <p:spPr bwMode="auto">
          <a:xfrm>
            <a:off x="6264275" y="5314082"/>
            <a:ext cx="579438" cy="1211262"/>
          </a:xfrm>
          <a:custGeom>
            <a:avLst/>
            <a:gdLst>
              <a:gd name="T0" fmla="*/ 181 w 365"/>
              <a:gd name="T1" fmla="*/ 760 h 763"/>
              <a:gd name="T2" fmla="*/ 213 w 365"/>
              <a:gd name="T3" fmla="*/ 757 h 763"/>
              <a:gd name="T4" fmla="*/ 240 w 365"/>
              <a:gd name="T5" fmla="*/ 742 h 763"/>
              <a:gd name="T6" fmla="*/ 266 w 365"/>
              <a:gd name="T7" fmla="*/ 720 h 763"/>
              <a:gd name="T8" fmla="*/ 289 w 365"/>
              <a:gd name="T9" fmla="*/ 688 h 763"/>
              <a:gd name="T10" fmla="*/ 312 w 365"/>
              <a:gd name="T11" fmla="*/ 651 h 763"/>
              <a:gd name="T12" fmla="*/ 330 w 365"/>
              <a:gd name="T13" fmla="*/ 605 h 763"/>
              <a:gd name="T14" fmla="*/ 344 w 365"/>
              <a:gd name="T15" fmla="*/ 556 h 763"/>
              <a:gd name="T16" fmla="*/ 356 w 365"/>
              <a:gd name="T17" fmla="*/ 502 h 763"/>
              <a:gd name="T18" fmla="*/ 362 w 365"/>
              <a:gd name="T19" fmla="*/ 444 h 763"/>
              <a:gd name="T20" fmla="*/ 365 w 365"/>
              <a:gd name="T21" fmla="*/ 381 h 763"/>
              <a:gd name="T22" fmla="*/ 362 w 365"/>
              <a:gd name="T23" fmla="*/ 318 h 763"/>
              <a:gd name="T24" fmla="*/ 356 w 365"/>
              <a:gd name="T25" fmla="*/ 261 h 763"/>
              <a:gd name="T26" fmla="*/ 344 w 365"/>
              <a:gd name="T27" fmla="*/ 207 h 763"/>
              <a:gd name="T28" fmla="*/ 330 w 365"/>
              <a:gd name="T29" fmla="*/ 158 h 763"/>
              <a:gd name="T30" fmla="*/ 312 w 365"/>
              <a:gd name="T31" fmla="*/ 112 h 763"/>
              <a:gd name="T32" fmla="*/ 289 w 365"/>
              <a:gd name="T33" fmla="*/ 75 h 763"/>
              <a:gd name="T34" fmla="*/ 266 w 365"/>
              <a:gd name="T35" fmla="*/ 43 h 763"/>
              <a:gd name="T36" fmla="*/ 240 w 365"/>
              <a:gd name="T37" fmla="*/ 20 h 763"/>
              <a:gd name="T38" fmla="*/ 213 w 365"/>
              <a:gd name="T39" fmla="*/ 6 h 763"/>
              <a:gd name="T40" fmla="*/ 184 w 365"/>
              <a:gd name="T41" fmla="*/ 0 h 763"/>
              <a:gd name="T42" fmla="*/ 152 w 365"/>
              <a:gd name="T43" fmla="*/ 6 h 763"/>
              <a:gd name="T44" fmla="*/ 126 w 365"/>
              <a:gd name="T45" fmla="*/ 20 h 763"/>
              <a:gd name="T46" fmla="*/ 100 w 365"/>
              <a:gd name="T47" fmla="*/ 43 h 763"/>
              <a:gd name="T48" fmla="*/ 76 w 365"/>
              <a:gd name="T49" fmla="*/ 75 h 763"/>
              <a:gd name="T50" fmla="*/ 53 w 365"/>
              <a:gd name="T51" fmla="*/ 112 h 763"/>
              <a:gd name="T52" fmla="*/ 35 w 365"/>
              <a:gd name="T53" fmla="*/ 158 h 763"/>
              <a:gd name="T54" fmla="*/ 21 w 365"/>
              <a:gd name="T55" fmla="*/ 207 h 763"/>
              <a:gd name="T56" fmla="*/ 9 w 365"/>
              <a:gd name="T57" fmla="*/ 261 h 763"/>
              <a:gd name="T58" fmla="*/ 3 w 365"/>
              <a:gd name="T59" fmla="*/ 318 h 763"/>
              <a:gd name="T60" fmla="*/ 0 w 365"/>
              <a:gd name="T61" fmla="*/ 381 h 763"/>
              <a:gd name="T62" fmla="*/ 3 w 365"/>
              <a:gd name="T63" fmla="*/ 444 h 763"/>
              <a:gd name="T64" fmla="*/ 9 w 365"/>
              <a:gd name="T65" fmla="*/ 502 h 763"/>
              <a:gd name="T66" fmla="*/ 21 w 365"/>
              <a:gd name="T67" fmla="*/ 556 h 763"/>
              <a:gd name="T68" fmla="*/ 35 w 365"/>
              <a:gd name="T69" fmla="*/ 605 h 763"/>
              <a:gd name="T70" fmla="*/ 53 w 365"/>
              <a:gd name="T71" fmla="*/ 651 h 763"/>
              <a:gd name="T72" fmla="*/ 76 w 365"/>
              <a:gd name="T73" fmla="*/ 688 h 763"/>
              <a:gd name="T74" fmla="*/ 100 w 365"/>
              <a:gd name="T75" fmla="*/ 720 h 763"/>
              <a:gd name="T76" fmla="*/ 126 w 365"/>
              <a:gd name="T77" fmla="*/ 742 h 763"/>
              <a:gd name="T78" fmla="*/ 152 w 365"/>
              <a:gd name="T79" fmla="*/ 757 h 763"/>
              <a:gd name="T80" fmla="*/ 184 w 365"/>
              <a:gd name="T81" fmla="*/ 763 h 763"/>
              <a:gd name="T82" fmla="*/ 184 w 365"/>
              <a:gd name="T83" fmla="*/ 763 h 763"/>
              <a:gd name="T84" fmla="*/ 181 w 365"/>
              <a:gd name="T85" fmla="*/ 760 h 763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65"/>
              <a:gd name="T130" fmla="*/ 0 h 763"/>
              <a:gd name="T131" fmla="*/ 365 w 365"/>
              <a:gd name="T132" fmla="*/ 763 h 763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65" h="763">
                <a:moveTo>
                  <a:pt x="181" y="760"/>
                </a:moveTo>
                <a:lnTo>
                  <a:pt x="213" y="757"/>
                </a:lnTo>
                <a:lnTo>
                  <a:pt x="240" y="742"/>
                </a:lnTo>
                <a:lnTo>
                  <a:pt x="266" y="720"/>
                </a:lnTo>
                <a:lnTo>
                  <a:pt x="289" y="688"/>
                </a:lnTo>
                <a:lnTo>
                  <a:pt x="312" y="651"/>
                </a:lnTo>
                <a:lnTo>
                  <a:pt x="330" y="605"/>
                </a:lnTo>
                <a:lnTo>
                  <a:pt x="344" y="556"/>
                </a:lnTo>
                <a:lnTo>
                  <a:pt x="356" y="502"/>
                </a:lnTo>
                <a:lnTo>
                  <a:pt x="362" y="444"/>
                </a:lnTo>
                <a:lnTo>
                  <a:pt x="365" y="381"/>
                </a:lnTo>
                <a:lnTo>
                  <a:pt x="362" y="318"/>
                </a:lnTo>
                <a:lnTo>
                  <a:pt x="356" y="261"/>
                </a:lnTo>
                <a:lnTo>
                  <a:pt x="344" y="207"/>
                </a:lnTo>
                <a:lnTo>
                  <a:pt x="330" y="158"/>
                </a:lnTo>
                <a:lnTo>
                  <a:pt x="312" y="112"/>
                </a:lnTo>
                <a:lnTo>
                  <a:pt x="289" y="75"/>
                </a:lnTo>
                <a:lnTo>
                  <a:pt x="266" y="43"/>
                </a:lnTo>
                <a:lnTo>
                  <a:pt x="240" y="20"/>
                </a:lnTo>
                <a:lnTo>
                  <a:pt x="213" y="6"/>
                </a:lnTo>
                <a:lnTo>
                  <a:pt x="184" y="0"/>
                </a:lnTo>
                <a:lnTo>
                  <a:pt x="152" y="6"/>
                </a:lnTo>
                <a:lnTo>
                  <a:pt x="126" y="20"/>
                </a:lnTo>
                <a:lnTo>
                  <a:pt x="100" y="43"/>
                </a:lnTo>
                <a:lnTo>
                  <a:pt x="76" y="75"/>
                </a:lnTo>
                <a:lnTo>
                  <a:pt x="53" y="112"/>
                </a:lnTo>
                <a:lnTo>
                  <a:pt x="35" y="158"/>
                </a:lnTo>
                <a:lnTo>
                  <a:pt x="21" y="207"/>
                </a:lnTo>
                <a:lnTo>
                  <a:pt x="9" y="261"/>
                </a:lnTo>
                <a:lnTo>
                  <a:pt x="3" y="318"/>
                </a:lnTo>
                <a:lnTo>
                  <a:pt x="0" y="381"/>
                </a:lnTo>
                <a:lnTo>
                  <a:pt x="3" y="444"/>
                </a:lnTo>
                <a:lnTo>
                  <a:pt x="9" y="502"/>
                </a:lnTo>
                <a:lnTo>
                  <a:pt x="21" y="556"/>
                </a:lnTo>
                <a:lnTo>
                  <a:pt x="35" y="605"/>
                </a:lnTo>
                <a:lnTo>
                  <a:pt x="53" y="651"/>
                </a:lnTo>
                <a:lnTo>
                  <a:pt x="76" y="688"/>
                </a:lnTo>
                <a:lnTo>
                  <a:pt x="100" y="720"/>
                </a:lnTo>
                <a:lnTo>
                  <a:pt x="126" y="742"/>
                </a:lnTo>
                <a:lnTo>
                  <a:pt x="152" y="757"/>
                </a:lnTo>
                <a:lnTo>
                  <a:pt x="184" y="763"/>
                </a:lnTo>
                <a:lnTo>
                  <a:pt x="181" y="76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15" name="Freeform 23"/>
          <p:cNvSpPr>
            <a:spLocks noChangeArrowheads="1"/>
          </p:cNvSpPr>
          <p:nvPr/>
        </p:nvSpPr>
        <p:spPr bwMode="auto">
          <a:xfrm>
            <a:off x="6264275" y="5314082"/>
            <a:ext cx="579438" cy="1211262"/>
          </a:xfrm>
          <a:custGeom>
            <a:avLst/>
            <a:gdLst>
              <a:gd name="T0" fmla="*/ 181 w 365"/>
              <a:gd name="T1" fmla="*/ 760 h 763"/>
              <a:gd name="T2" fmla="*/ 213 w 365"/>
              <a:gd name="T3" fmla="*/ 757 h 763"/>
              <a:gd name="T4" fmla="*/ 240 w 365"/>
              <a:gd name="T5" fmla="*/ 742 h 763"/>
              <a:gd name="T6" fmla="*/ 266 w 365"/>
              <a:gd name="T7" fmla="*/ 720 h 763"/>
              <a:gd name="T8" fmla="*/ 289 w 365"/>
              <a:gd name="T9" fmla="*/ 688 h 763"/>
              <a:gd name="T10" fmla="*/ 312 w 365"/>
              <a:gd name="T11" fmla="*/ 651 h 763"/>
              <a:gd name="T12" fmla="*/ 330 w 365"/>
              <a:gd name="T13" fmla="*/ 605 h 763"/>
              <a:gd name="T14" fmla="*/ 344 w 365"/>
              <a:gd name="T15" fmla="*/ 556 h 763"/>
              <a:gd name="T16" fmla="*/ 356 w 365"/>
              <a:gd name="T17" fmla="*/ 502 h 763"/>
              <a:gd name="T18" fmla="*/ 362 w 365"/>
              <a:gd name="T19" fmla="*/ 444 h 763"/>
              <a:gd name="T20" fmla="*/ 365 w 365"/>
              <a:gd name="T21" fmla="*/ 381 h 763"/>
              <a:gd name="T22" fmla="*/ 362 w 365"/>
              <a:gd name="T23" fmla="*/ 318 h 763"/>
              <a:gd name="T24" fmla="*/ 356 w 365"/>
              <a:gd name="T25" fmla="*/ 261 h 763"/>
              <a:gd name="T26" fmla="*/ 344 w 365"/>
              <a:gd name="T27" fmla="*/ 207 h 763"/>
              <a:gd name="T28" fmla="*/ 330 w 365"/>
              <a:gd name="T29" fmla="*/ 158 h 763"/>
              <a:gd name="T30" fmla="*/ 312 w 365"/>
              <a:gd name="T31" fmla="*/ 112 h 763"/>
              <a:gd name="T32" fmla="*/ 289 w 365"/>
              <a:gd name="T33" fmla="*/ 75 h 763"/>
              <a:gd name="T34" fmla="*/ 266 w 365"/>
              <a:gd name="T35" fmla="*/ 43 h 763"/>
              <a:gd name="T36" fmla="*/ 240 w 365"/>
              <a:gd name="T37" fmla="*/ 20 h 763"/>
              <a:gd name="T38" fmla="*/ 213 w 365"/>
              <a:gd name="T39" fmla="*/ 6 h 763"/>
              <a:gd name="T40" fmla="*/ 184 w 365"/>
              <a:gd name="T41" fmla="*/ 0 h 763"/>
              <a:gd name="T42" fmla="*/ 152 w 365"/>
              <a:gd name="T43" fmla="*/ 6 h 763"/>
              <a:gd name="T44" fmla="*/ 126 w 365"/>
              <a:gd name="T45" fmla="*/ 20 h 763"/>
              <a:gd name="T46" fmla="*/ 100 w 365"/>
              <a:gd name="T47" fmla="*/ 43 h 763"/>
              <a:gd name="T48" fmla="*/ 76 w 365"/>
              <a:gd name="T49" fmla="*/ 75 h 763"/>
              <a:gd name="T50" fmla="*/ 53 w 365"/>
              <a:gd name="T51" fmla="*/ 112 h 763"/>
              <a:gd name="T52" fmla="*/ 35 w 365"/>
              <a:gd name="T53" fmla="*/ 158 h 763"/>
              <a:gd name="T54" fmla="*/ 21 w 365"/>
              <a:gd name="T55" fmla="*/ 207 h 763"/>
              <a:gd name="T56" fmla="*/ 9 w 365"/>
              <a:gd name="T57" fmla="*/ 261 h 763"/>
              <a:gd name="T58" fmla="*/ 3 w 365"/>
              <a:gd name="T59" fmla="*/ 318 h 763"/>
              <a:gd name="T60" fmla="*/ 0 w 365"/>
              <a:gd name="T61" fmla="*/ 381 h 763"/>
              <a:gd name="T62" fmla="*/ 3 w 365"/>
              <a:gd name="T63" fmla="*/ 444 h 763"/>
              <a:gd name="T64" fmla="*/ 9 w 365"/>
              <a:gd name="T65" fmla="*/ 502 h 763"/>
              <a:gd name="T66" fmla="*/ 21 w 365"/>
              <a:gd name="T67" fmla="*/ 556 h 763"/>
              <a:gd name="T68" fmla="*/ 35 w 365"/>
              <a:gd name="T69" fmla="*/ 605 h 763"/>
              <a:gd name="T70" fmla="*/ 53 w 365"/>
              <a:gd name="T71" fmla="*/ 651 h 763"/>
              <a:gd name="T72" fmla="*/ 76 w 365"/>
              <a:gd name="T73" fmla="*/ 688 h 763"/>
              <a:gd name="T74" fmla="*/ 100 w 365"/>
              <a:gd name="T75" fmla="*/ 720 h 763"/>
              <a:gd name="T76" fmla="*/ 126 w 365"/>
              <a:gd name="T77" fmla="*/ 742 h 763"/>
              <a:gd name="T78" fmla="*/ 152 w 365"/>
              <a:gd name="T79" fmla="*/ 757 h 763"/>
              <a:gd name="T80" fmla="*/ 184 w 365"/>
              <a:gd name="T81" fmla="*/ 763 h 763"/>
              <a:gd name="T82" fmla="*/ 184 w 365"/>
              <a:gd name="T83" fmla="*/ 763 h 76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65"/>
              <a:gd name="T127" fmla="*/ 0 h 763"/>
              <a:gd name="T128" fmla="*/ 365 w 365"/>
              <a:gd name="T129" fmla="*/ 763 h 76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65" h="763">
                <a:moveTo>
                  <a:pt x="181" y="760"/>
                </a:moveTo>
                <a:lnTo>
                  <a:pt x="213" y="757"/>
                </a:lnTo>
                <a:lnTo>
                  <a:pt x="240" y="742"/>
                </a:lnTo>
                <a:lnTo>
                  <a:pt x="266" y="720"/>
                </a:lnTo>
                <a:lnTo>
                  <a:pt x="289" y="688"/>
                </a:lnTo>
                <a:lnTo>
                  <a:pt x="312" y="651"/>
                </a:lnTo>
                <a:lnTo>
                  <a:pt x="330" y="605"/>
                </a:lnTo>
                <a:lnTo>
                  <a:pt x="344" y="556"/>
                </a:lnTo>
                <a:lnTo>
                  <a:pt x="356" y="502"/>
                </a:lnTo>
                <a:lnTo>
                  <a:pt x="362" y="444"/>
                </a:lnTo>
                <a:lnTo>
                  <a:pt x="365" y="381"/>
                </a:lnTo>
                <a:lnTo>
                  <a:pt x="362" y="318"/>
                </a:lnTo>
                <a:lnTo>
                  <a:pt x="356" y="261"/>
                </a:lnTo>
                <a:lnTo>
                  <a:pt x="344" y="207"/>
                </a:lnTo>
                <a:lnTo>
                  <a:pt x="330" y="158"/>
                </a:lnTo>
                <a:lnTo>
                  <a:pt x="312" y="112"/>
                </a:lnTo>
                <a:lnTo>
                  <a:pt x="289" y="75"/>
                </a:lnTo>
                <a:lnTo>
                  <a:pt x="266" y="43"/>
                </a:lnTo>
                <a:lnTo>
                  <a:pt x="240" y="20"/>
                </a:lnTo>
                <a:lnTo>
                  <a:pt x="213" y="6"/>
                </a:lnTo>
                <a:lnTo>
                  <a:pt x="184" y="0"/>
                </a:lnTo>
                <a:lnTo>
                  <a:pt x="152" y="6"/>
                </a:lnTo>
                <a:lnTo>
                  <a:pt x="126" y="20"/>
                </a:lnTo>
                <a:lnTo>
                  <a:pt x="100" y="43"/>
                </a:lnTo>
                <a:lnTo>
                  <a:pt x="76" y="75"/>
                </a:lnTo>
                <a:lnTo>
                  <a:pt x="53" y="112"/>
                </a:lnTo>
                <a:lnTo>
                  <a:pt x="35" y="158"/>
                </a:lnTo>
                <a:lnTo>
                  <a:pt x="21" y="207"/>
                </a:lnTo>
                <a:lnTo>
                  <a:pt x="9" y="261"/>
                </a:lnTo>
                <a:lnTo>
                  <a:pt x="3" y="318"/>
                </a:lnTo>
                <a:lnTo>
                  <a:pt x="0" y="381"/>
                </a:lnTo>
                <a:lnTo>
                  <a:pt x="3" y="444"/>
                </a:lnTo>
                <a:lnTo>
                  <a:pt x="9" y="502"/>
                </a:lnTo>
                <a:lnTo>
                  <a:pt x="21" y="556"/>
                </a:lnTo>
                <a:lnTo>
                  <a:pt x="35" y="605"/>
                </a:lnTo>
                <a:lnTo>
                  <a:pt x="53" y="651"/>
                </a:lnTo>
                <a:lnTo>
                  <a:pt x="76" y="688"/>
                </a:lnTo>
                <a:lnTo>
                  <a:pt x="100" y="720"/>
                </a:lnTo>
                <a:lnTo>
                  <a:pt x="126" y="742"/>
                </a:lnTo>
                <a:lnTo>
                  <a:pt x="152" y="757"/>
                </a:lnTo>
                <a:lnTo>
                  <a:pt x="184" y="763"/>
                </a:lnTo>
              </a:path>
            </a:pathLst>
          </a:custGeom>
          <a:solidFill>
            <a:srgbClr val="D1FFE8"/>
          </a:solidFill>
          <a:ln w="1908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516" name="Rectangle 24"/>
          <p:cNvSpPr>
            <a:spLocks noChangeArrowheads="1"/>
          </p:cNvSpPr>
          <p:nvPr/>
        </p:nvSpPr>
        <p:spPr bwMode="auto">
          <a:xfrm>
            <a:off x="6397625" y="5737944"/>
            <a:ext cx="10259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3517" name="Rectangle 25"/>
          <p:cNvSpPr>
            <a:spLocks noChangeArrowheads="1"/>
          </p:cNvSpPr>
          <p:nvPr/>
        </p:nvSpPr>
        <p:spPr bwMode="auto">
          <a:xfrm>
            <a:off x="6505575" y="5737944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3518" name="Rectangle 26"/>
          <p:cNvSpPr>
            <a:spLocks noChangeArrowheads="1"/>
          </p:cNvSpPr>
          <p:nvPr/>
        </p:nvSpPr>
        <p:spPr bwMode="auto">
          <a:xfrm>
            <a:off x="6537325" y="573794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63519" name="Rectangle 27"/>
          <p:cNvSpPr>
            <a:spLocks noChangeArrowheads="1"/>
          </p:cNvSpPr>
          <p:nvPr/>
        </p:nvSpPr>
        <p:spPr bwMode="auto">
          <a:xfrm>
            <a:off x="6619875" y="573794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63520" name="Rectangle 28"/>
          <p:cNvSpPr>
            <a:spLocks noChangeArrowheads="1"/>
          </p:cNvSpPr>
          <p:nvPr/>
        </p:nvSpPr>
        <p:spPr bwMode="auto">
          <a:xfrm>
            <a:off x="6708775" y="5737944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21" name="Rectangle 29"/>
          <p:cNvSpPr>
            <a:spLocks noChangeArrowheads="1"/>
          </p:cNvSpPr>
          <p:nvPr/>
        </p:nvSpPr>
        <p:spPr bwMode="auto">
          <a:xfrm>
            <a:off x="6313488" y="591891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522" name="Rectangle 30"/>
          <p:cNvSpPr>
            <a:spLocks noChangeArrowheads="1"/>
          </p:cNvSpPr>
          <p:nvPr/>
        </p:nvSpPr>
        <p:spPr bwMode="auto">
          <a:xfrm>
            <a:off x="6399213" y="5918919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x</a:t>
            </a:r>
          </a:p>
        </p:txBody>
      </p:sp>
      <p:sp>
        <p:nvSpPr>
          <p:cNvPr id="63523" name="Rectangle 31"/>
          <p:cNvSpPr>
            <a:spLocks noChangeArrowheads="1"/>
          </p:cNvSpPr>
          <p:nvPr/>
        </p:nvSpPr>
        <p:spPr bwMode="auto">
          <a:xfrm>
            <a:off x="6478588" y="5918919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524" name="Rectangle 32"/>
          <p:cNvSpPr>
            <a:spLocks noChangeArrowheads="1"/>
          </p:cNvSpPr>
          <p:nvPr/>
        </p:nvSpPr>
        <p:spPr bwMode="auto">
          <a:xfrm>
            <a:off x="6518275" y="591891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525" name="Rectangle 33"/>
          <p:cNvSpPr>
            <a:spLocks noChangeArrowheads="1"/>
          </p:cNvSpPr>
          <p:nvPr/>
        </p:nvSpPr>
        <p:spPr bwMode="auto">
          <a:xfrm>
            <a:off x="6607175" y="591891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63526" name="Rectangle 34"/>
          <p:cNvSpPr>
            <a:spLocks noChangeArrowheads="1"/>
          </p:cNvSpPr>
          <p:nvPr/>
        </p:nvSpPr>
        <p:spPr bwMode="auto">
          <a:xfrm>
            <a:off x="6689725" y="591891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3527" name="Freeform 35"/>
          <p:cNvSpPr>
            <a:spLocks noChangeArrowheads="1"/>
          </p:cNvSpPr>
          <p:nvPr/>
        </p:nvSpPr>
        <p:spPr bwMode="auto">
          <a:xfrm>
            <a:off x="8135939" y="1788245"/>
            <a:ext cx="962025" cy="1528763"/>
          </a:xfrm>
          <a:custGeom>
            <a:avLst/>
            <a:gdLst>
              <a:gd name="T0" fmla="*/ 0 w 606"/>
              <a:gd name="T1" fmla="*/ 0 h 963"/>
              <a:gd name="T2" fmla="*/ 0 w 606"/>
              <a:gd name="T3" fmla="*/ 390 h 963"/>
              <a:gd name="T4" fmla="*/ 99 w 606"/>
              <a:gd name="T5" fmla="*/ 481 h 963"/>
              <a:gd name="T6" fmla="*/ 0 w 606"/>
              <a:gd name="T7" fmla="*/ 573 h 963"/>
              <a:gd name="T8" fmla="*/ 0 w 606"/>
              <a:gd name="T9" fmla="*/ 963 h 963"/>
              <a:gd name="T10" fmla="*/ 606 w 606"/>
              <a:gd name="T11" fmla="*/ 668 h 963"/>
              <a:gd name="T12" fmla="*/ 606 w 606"/>
              <a:gd name="T13" fmla="*/ 295 h 963"/>
              <a:gd name="T14" fmla="*/ 0 w 606"/>
              <a:gd name="T15" fmla="*/ 0 h 963"/>
              <a:gd name="T16" fmla="*/ 0 w 606"/>
              <a:gd name="T17" fmla="*/ 0 h 96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06"/>
              <a:gd name="T28" fmla="*/ 0 h 963"/>
              <a:gd name="T29" fmla="*/ 606 w 606"/>
              <a:gd name="T30" fmla="*/ 963 h 96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06" h="963">
                <a:moveTo>
                  <a:pt x="0" y="0"/>
                </a:moveTo>
                <a:lnTo>
                  <a:pt x="0" y="390"/>
                </a:lnTo>
                <a:lnTo>
                  <a:pt x="99" y="481"/>
                </a:lnTo>
                <a:lnTo>
                  <a:pt x="0" y="573"/>
                </a:lnTo>
                <a:lnTo>
                  <a:pt x="0" y="963"/>
                </a:lnTo>
                <a:lnTo>
                  <a:pt x="606" y="668"/>
                </a:lnTo>
                <a:lnTo>
                  <a:pt x="606" y="29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40" name="Freeform 36"/>
          <p:cNvSpPr>
            <a:spLocks noChangeArrowheads="1"/>
          </p:cNvSpPr>
          <p:nvPr/>
        </p:nvSpPr>
        <p:spPr bwMode="auto">
          <a:xfrm>
            <a:off x="8135939" y="1788245"/>
            <a:ext cx="962025" cy="1528763"/>
          </a:xfrm>
          <a:custGeom>
            <a:avLst/>
            <a:gdLst>
              <a:gd name="T0" fmla="*/ 0 w 606"/>
              <a:gd name="T1" fmla="*/ 0 h 963"/>
              <a:gd name="T2" fmla="*/ 0 w 606"/>
              <a:gd name="T3" fmla="*/ 390 h 963"/>
              <a:gd name="T4" fmla="*/ 99 w 606"/>
              <a:gd name="T5" fmla="*/ 481 h 963"/>
              <a:gd name="T6" fmla="*/ 0 w 606"/>
              <a:gd name="T7" fmla="*/ 573 h 963"/>
              <a:gd name="T8" fmla="*/ 0 w 606"/>
              <a:gd name="T9" fmla="*/ 963 h 963"/>
              <a:gd name="T10" fmla="*/ 606 w 606"/>
              <a:gd name="T11" fmla="*/ 668 h 963"/>
              <a:gd name="T12" fmla="*/ 606 w 606"/>
              <a:gd name="T13" fmla="*/ 295 h 963"/>
              <a:gd name="T14" fmla="*/ 0 w 606"/>
              <a:gd name="T15" fmla="*/ 0 h 963"/>
              <a:gd name="T16" fmla="*/ 0 w 606"/>
              <a:gd name="T17" fmla="*/ 0 h 96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06"/>
              <a:gd name="T28" fmla="*/ 0 h 963"/>
              <a:gd name="T29" fmla="*/ 606 w 606"/>
              <a:gd name="T30" fmla="*/ 963 h 96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06" h="963">
                <a:moveTo>
                  <a:pt x="0" y="0"/>
                </a:moveTo>
                <a:lnTo>
                  <a:pt x="0" y="390"/>
                </a:lnTo>
                <a:lnTo>
                  <a:pt x="99" y="481"/>
                </a:lnTo>
                <a:lnTo>
                  <a:pt x="0" y="573"/>
                </a:lnTo>
                <a:lnTo>
                  <a:pt x="0" y="963"/>
                </a:lnTo>
                <a:lnTo>
                  <a:pt x="606" y="668"/>
                </a:lnTo>
                <a:lnTo>
                  <a:pt x="606" y="295"/>
                </a:lnTo>
                <a:lnTo>
                  <a:pt x="0" y="0"/>
                </a:lnTo>
              </a:path>
            </a:pathLst>
          </a:custGeom>
          <a:noFill/>
          <a:ln w="19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29" name="Line 37"/>
          <p:cNvSpPr>
            <a:spLocks noChangeShapeType="1"/>
          </p:cNvSpPr>
          <p:nvPr/>
        </p:nvSpPr>
        <p:spPr bwMode="auto">
          <a:xfrm flipH="1">
            <a:off x="9096376" y="2551833"/>
            <a:ext cx="314325" cy="1587"/>
          </a:xfrm>
          <a:prstGeom prst="line">
            <a:avLst/>
          </a:prstGeom>
          <a:noFill/>
          <a:ln w="316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0" name="Freeform 38"/>
          <p:cNvSpPr>
            <a:spLocks noChangeArrowheads="1"/>
          </p:cNvSpPr>
          <p:nvPr/>
        </p:nvSpPr>
        <p:spPr bwMode="auto">
          <a:xfrm>
            <a:off x="9366251" y="2512144"/>
            <a:ext cx="79375" cy="76200"/>
          </a:xfrm>
          <a:custGeom>
            <a:avLst/>
            <a:gdLst>
              <a:gd name="T0" fmla="*/ 0 w 50"/>
              <a:gd name="T1" fmla="*/ 0 h 48"/>
              <a:gd name="T2" fmla="*/ 3 w 50"/>
              <a:gd name="T3" fmla="*/ 48 h 48"/>
              <a:gd name="T4" fmla="*/ 50 w 50"/>
              <a:gd name="T5" fmla="*/ 25 h 48"/>
              <a:gd name="T6" fmla="*/ 3 w 50"/>
              <a:gd name="T7" fmla="*/ 2 h 48"/>
              <a:gd name="T8" fmla="*/ 3 w 50"/>
              <a:gd name="T9" fmla="*/ 2 h 48"/>
              <a:gd name="T10" fmla="*/ 0 w 50"/>
              <a:gd name="T11" fmla="*/ 0 h 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0"/>
              <a:gd name="T19" fmla="*/ 0 h 48"/>
              <a:gd name="T20" fmla="*/ 50 w 50"/>
              <a:gd name="T21" fmla="*/ 48 h 4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0" h="48">
                <a:moveTo>
                  <a:pt x="0" y="0"/>
                </a:moveTo>
                <a:lnTo>
                  <a:pt x="3" y="48"/>
                </a:lnTo>
                <a:lnTo>
                  <a:pt x="50" y="25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31" name="Freeform 39"/>
          <p:cNvSpPr>
            <a:spLocks noChangeArrowheads="1"/>
          </p:cNvSpPr>
          <p:nvPr/>
        </p:nvSpPr>
        <p:spPr bwMode="auto">
          <a:xfrm>
            <a:off x="8047039" y="2056533"/>
            <a:ext cx="79375" cy="77787"/>
          </a:xfrm>
          <a:custGeom>
            <a:avLst/>
            <a:gdLst>
              <a:gd name="T0" fmla="*/ 0 w 50"/>
              <a:gd name="T1" fmla="*/ 0 h 49"/>
              <a:gd name="T2" fmla="*/ 0 w 50"/>
              <a:gd name="T3" fmla="*/ 49 h 49"/>
              <a:gd name="T4" fmla="*/ 50 w 50"/>
              <a:gd name="T5" fmla="*/ 26 h 49"/>
              <a:gd name="T6" fmla="*/ 0 w 50"/>
              <a:gd name="T7" fmla="*/ 0 h 49"/>
              <a:gd name="T8" fmla="*/ 0 w 50"/>
              <a:gd name="T9" fmla="*/ 0 h 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0"/>
              <a:gd name="T16" fmla="*/ 0 h 49"/>
              <a:gd name="T17" fmla="*/ 50 w 50"/>
              <a:gd name="T18" fmla="*/ 49 h 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0" h="49">
                <a:moveTo>
                  <a:pt x="0" y="0"/>
                </a:moveTo>
                <a:lnTo>
                  <a:pt x="0" y="49"/>
                </a:lnTo>
                <a:lnTo>
                  <a:pt x="50" y="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32" name="Freeform 40"/>
          <p:cNvSpPr>
            <a:spLocks noChangeArrowheads="1"/>
          </p:cNvSpPr>
          <p:nvPr/>
        </p:nvSpPr>
        <p:spPr bwMode="auto">
          <a:xfrm>
            <a:off x="8047039" y="2966169"/>
            <a:ext cx="79375" cy="77788"/>
          </a:xfrm>
          <a:custGeom>
            <a:avLst/>
            <a:gdLst>
              <a:gd name="T0" fmla="*/ 0 w 50"/>
              <a:gd name="T1" fmla="*/ 0 h 49"/>
              <a:gd name="T2" fmla="*/ 0 w 50"/>
              <a:gd name="T3" fmla="*/ 49 h 49"/>
              <a:gd name="T4" fmla="*/ 50 w 50"/>
              <a:gd name="T5" fmla="*/ 26 h 49"/>
              <a:gd name="T6" fmla="*/ 0 w 50"/>
              <a:gd name="T7" fmla="*/ 3 h 49"/>
              <a:gd name="T8" fmla="*/ 0 w 50"/>
              <a:gd name="T9" fmla="*/ 3 h 49"/>
              <a:gd name="T10" fmla="*/ 0 w 50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0"/>
              <a:gd name="T19" fmla="*/ 0 h 49"/>
              <a:gd name="T20" fmla="*/ 50 w 50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0" h="49">
                <a:moveTo>
                  <a:pt x="0" y="0"/>
                </a:moveTo>
                <a:lnTo>
                  <a:pt x="0" y="49"/>
                </a:lnTo>
                <a:lnTo>
                  <a:pt x="50" y="26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33" name="Rectangle 41"/>
          <p:cNvSpPr>
            <a:spLocks noChangeArrowheads="1"/>
          </p:cNvSpPr>
          <p:nvPr/>
        </p:nvSpPr>
        <p:spPr bwMode="auto">
          <a:xfrm>
            <a:off x="8732838" y="2461344"/>
            <a:ext cx="10259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3534" name="Rectangle 42"/>
          <p:cNvSpPr>
            <a:spLocks noChangeArrowheads="1"/>
          </p:cNvSpPr>
          <p:nvPr/>
        </p:nvSpPr>
        <p:spPr bwMode="auto">
          <a:xfrm>
            <a:off x="8832850" y="246134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3535" name="Rectangle 43"/>
          <p:cNvSpPr>
            <a:spLocks noChangeArrowheads="1"/>
          </p:cNvSpPr>
          <p:nvPr/>
        </p:nvSpPr>
        <p:spPr bwMode="auto">
          <a:xfrm>
            <a:off x="8920163" y="2461344"/>
            <a:ext cx="1282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63536" name="Line 44"/>
          <p:cNvSpPr>
            <a:spLocks noChangeShapeType="1"/>
          </p:cNvSpPr>
          <p:nvPr/>
        </p:nvSpPr>
        <p:spPr bwMode="auto">
          <a:xfrm flipH="1">
            <a:off x="7786688" y="2093045"/>
            <a:ext cx="285750" cy="4763"/>
          </a:xfrm>
          <a:prstGeom prst="line">
            <a:avLst/>
          </a:prstGeom>
          <a:noFill/>
          <a:ln w="316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37" name="Freeform 45"/>
          <p:cNvSpPr>
            <a:spLocks noChangeArrowheads="1"/>
          </p:cNvSpPr>
          <p:nvPr/>
        </p:nvSpPr>
        <p:spPr bwMode="auto">
          <a:xfrm>
            <a:off x="7426325" y="2634383"/>
            <a:ext cx="477838" cy="746125"/>
          </a:xfrm>
          <a:custGeom>
            <a:avLst/>
            <a:gdLst>
              <a:gd name="T0" fmla="*/ 149 w 301"/>
              <a:gd name="T1" fmla="*/ 470 h 470"/>
              <a:gd name="T2" fmla="*/ 175 w 301"/>
              <a:gd name="T3" fmla="*/ 467 h 470"/>
              <a:gd name="T4" fmla="*/ 199 w 301"/>
              <a:gd name="T5" fmla="*/ 459 h 470"/>
              <a:gd name="T6" fmla="*/ 219 w 301"/>
              <a:gd name="T7" fmla="*/ 444 h 470"/>
              <a:gd name="T8" fmla="*/ 239 w 301"/>
              <a:gd name="T9" fmla="*/ 424 h 470"/>
              <a:gd name="T10" fmla="*/ 257 w 301"/>
              <a:gd name="T11" fmla="*/ 401 h 470"/>
              <a:gd name="T12" fmla="*/ 272 w 301"/>
              <a:gd name="T13" fmla="*/ 375 h 470"/>
              <a:gd name="T14" fmla="*/ 283 w 301"/>
              <a:gd name="T15" fmla="*/ 344 h 470"/>
              <a:gd name="T16" fmla="*/ 292 w 301"/>
              <a:gd name="T17" fmla="*/ 310 h 470"/>
              <a:gd name="T18" fmla="*/ 298 w 301"/>
              <a:gd name="T19" fmla="*/ 272 h 470"/>
              <a:gd name="T20" fmla="*/ 301 w 301"/>
              <a:gd name="T21" fmla="*/ 235 h 470"/>
              <a:gd name="T22" fmla="*/ 298 w 301"/>
              <a:gd name="T23" fmla="*/ 198 h 470"/>
              <a:gd name="T24" fmla="*/ 292 w 301"/>
              <a:gd name="T25" fmla="*/ 160 h 470"/>
              <a:gd name="T26" fmla="*/ 283 w 301"/>
              <a:gd name="T27" fmla="*/ 126 h 470"/>
              <a:gd name="T28" fmla="*/ 272 w 301"/>
              <a:gd name="T29" fmla="*/ 97 h 470"/>
              <a:gd name="T30" fmla="*/ 257 w 301"/>
              <a:gd name="T31" fmla="*/ 69 h 470"/>
              <a:gd name="T32" fmla="*/ 239 w 301"/>
              <a:gd name="T33" fmla="*/ 46 h 470"/>
              <a:gd name="T34" fmla="*/ 219 w 301"/>
              <a:gd name="T35" fmla="*/ 26 h 470"/>
              <a:gd name="T36" fmla="*/ 199 w 301"/>
              <a:gd name="T37" fmla="*/ 11 h 470"/>
              <a:gd name="T38" fmla="*/ 175 w 301"/>
              <a:gd name="T39" fmla="*/ 3 h 470"/>
              <a:gd name="T40" fmla="*/ 149 w 301"/>
              <a:gd name="T41" fmla="*/ 0 h 470"/>
              <a:gd name="T42" fmla="*/ 126 w 301"/>
              <a:gd name="T43" fmla="*/ 3 h 470"/>
              <a:gd name="T44" fmla="*/ 102 w 301"/>
              <a:gd name="T45" fmla="*/ 11 h 470"/>
              <a:gd name="T46" fmla="*/ 82 w 301"/>
              <a:gd name="T47" fmla="*/ 26 h 470"/>
              <a:gd name="T48" fmla="*/ 62 w 301"/>
              <a:gd name="T49" fmla="*/ 46 h 470"/>
              <a:gd name="T50" fmla="*/ 44 w 301"/>
              <a:gd name="T51" fmla="*/ 69 h 470"/>
              <a:gd name="T52" fmla="*/ 30 w 301"/>
              <a:gd name="T53" fmla="*/ 97 h 470"/>
              <a:gd name="T54" fmla="*/ 18 w 301"/>
              <a:gd name="T55" fmla="*/ 126 h 470"/>
              <a:gd name="T56" fmla="*/ 6 w 301"/>
              <a:gd name="T57" fmla="*/ 160 h 470"/>
              <a:gd name="T58" fmla="*/ 0 w 301"/>
              <a:gd name="T59" fmla="*/ 198 h 470"/>
              <a:gd name="T60" fmla="*/ 0 w 301"/>
              <a:gd name="T61" fmla="*/ 235 h 470"/>
              <a:gd name="T62" fmla="*/ 0 w 301"/>
              <a:gd name="T63" fmla="*/ 272 h 470"/>
              <a:gd name="T64" fmla="*/ 6 w 301"/>
              <a:gd name="T65" fmla="*/ 310 h 470"/>
              <a:gd name="T66" fmla="*/ 18 w 301"/>
              <a:gd name="T67" fmla="*/ 344 h 470"/>
              <a:gd name="T68" fmla="*/ 30 w 301"/>
              <a:gd name="T69" fmla="*/ 375 h 470"/>
              <a:gd name="T70" fmla="*/ 44 w 301"/>
              <a:gd name="T71" fmla="*/ 401 h 470"/>
              <a:gd name="T72" fmla="*/ 62 w 301"/>
              <a:gd name="T73" fmla="*/ 424 h 470"/>
              <a:gd name="T74" fmla="*/ 82 w 301"/>
              <a:gd name="T75" fmla="*/ 444 h 470"/>
              <a:gd name="T76" fmla="*/ 102 w 301"/>
              <a:gd name="T77" fmla="*/ 459 h 470"/>
              <a:gd name="T78" fmla="*/ 126 w 301"/>
              <a:gd name="T79" fmla="*/ 467 h 470"/>
              <a:gd name="T80" fmla="*/ 149 w 301"/>
              <a:gd name="T81" fmla="*/ 470 h 470"/>
              <a:gd name="T82" fmla="*/ 149 w 301"/>
              <a:gd name="T83" fmla="*/ 470 h 470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01"/>
              <a:gd name="T127" fmla="*/ 0 h 470"/>
              <a:gd name="T128" fmla="*/ 301 w 301"/>
              <a:gd name="T129" fmla="*/ 470 h 470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01" h="470">
                <a:moveTo>
                  <a:pt x="149" y="470"/>
                </a:moveTo>
                <a:lnTo>
                  <a:pt x="175" y="467"/>
                </a:lnTo>
                <a:lnTo>
                  <a:pt x="199" y="459"/>
                </a:lnTo>
                <a:lnTo>
                  <a:pt x="219" y="444"/>
                </a:lnTo>
                <a:lnTo>
                  <a:pt x="239" y="424"/>
                </a:lnTo>
                <a:lnTo>
                  <a:pt x="257" y="401"/>
                </a:lnTo>
                <a:lnTo>
                  <a:pt x="272" y="375"/>
                </a:lnTo>
                <a:lnTo>
                  <a:pt x="283" y="344"/>
                </a:lnTo>
                <a:lnTo>
                  <a:pt x="292" y="310"/>
                </a:lnTo>
                <a:lnTo>
                  <a:pt x="298" y="272"/>
                </a:lnTo>
                <a:lnTo>
                  <a:pt x="301" y="235"/>
                </a:lnTo>
                <a:lnTo>
                  <a:pt x="298" y="198"/>
                </a:lnTo>
                <a:lnTo>
                  <a:pt x="292" y="160"/>
                </a:lnTo>
                <a:lnTo>
                  <a:pt x="283" y="126"/>
                </a:lnTo>
                <a:lnTo>
                  <a:pt x="272" y="97"/>
                </a:lnTo>
                <a:lnTo>
                  <a:pt x="257" y="69"/>
                </a:lnTo>
                <a:lnTo>
                  <a:pt x="239" y="46"/>
                </a:lnTo>
                <a:lnTo>
                  <a:pt x="219" y="26"/>
                </a:lnTo>
                <a:lnTo>
                  <a:pt x="199" y="11"/>
                </a:lnTo>
                <a:lnTo>
                  <a:pt x="175" y="3"/>
                </a:lnTo>
                <a:lnTo>
                  <a:pt x="149" y="0"/>
                </a:lnTo>
                <a:lnTo>
                  <a:pt x="126" y="3"/>
                </a:lnTo>
                <a:lnTo>
                  <a:pt x="102" y="11"/>
                </a:lnTo>
                <a:lnTo>
                  <a:pt x="82" y="26"/>
                </a:lnTo>
                <a:lnTo>
                  <a:pt x="62" y="46"/>
                </a:lnTo>
                <a:lnTo>
                  <a:pt x="44" y="69"/>
                </a:lnTo>
                <a:lnTo>
                  <a:pt x="30" y="97"/>
                </a:lnTo>
                <a:lnTo>
                  <a:pt x="18" y="126"/>
                </a:lnTo>
                <a:lnTo>
                  <a:pt x="6" y="160"/>
                </a:lnTo>
                <a:lnTo>
                  <a:pt x="0" y="198"/>
                </a:lnTo>
                <a:lnTo>
                  <a:pt x="0" y="235"/>
                </a:lnTo>
                <a:lnTo>
                  <a:pt x="0" y="272"/>
                </a:lnTo>
                <a:lnTo>
                  <a:pt x="6" y="310"/>
                </a:lnTo>
                <a:lnTo>
                  <a:pt x="18" y="344"/>
                </a:lnTo>
                <a:lnTo>
                  <a:pt x="30" y="375"/>
                </a:lnTo>
                <a:lnTo>
                  <a:pt x="44" y="401"/>
                </a:lnTo>
                <a:lnTo>
                  <a:pt x="62" y="424"/>
                </a:lnTo>
                <a:lnTo>
                  <a:pt x="82" y="444"/>
                </a:lnTo>
                <a:lnTo>
                  <a:pt x="102" y="459"/>
                </a:lnTo>
                <a:lnTo>
                  <a:pt x="126" y="467"/>
                </a:lnTo>
                <a:lnTo>
                  <a:pt x="149" y="47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38" name="Freeform 46"/>
          <p:cNvSpPr>
            <a:spLocks noChangeArrowheads="1"/>
          </p:cNvSpPr>
          <p:nvPr/>
        </p:nvSpPr>
        <p:spPr bwMode="auto">
          <a:xfrm>
            <a:off x="7426325" y="2634383"/>
            <a:ext cx="477838" cy="746125"/>
          </a:xfrm>
          <a:custGeom>
            <a:avLst/>
            <a:gdLst>
              <a:gd name="T0" fmla="*/ 149 w 301"/>
              <a:gd name="T1" fmla="*/ 470 h 470"/>
              <a:gd name="T2" fmla="*/ 175 w 301"/>
              <a:gd name="T3" fmla="*/ 467 h 470"/>
              <a:gd name="T4" fmla="*/ 199 w 301"/>
              <a:gd name="T5" fmla="*/ 459 h 470"/>
              <a:gd name="T6" fmla="*/ 219 w 301"/>
              <a:gd name="T7" fmla="*/ 444 h 470"/>
              <a:gd name="T8" fmla="*/ 239 w 301"/>
              <a:gd name="T9" fmla="*/ 424 h 470"/>
              <a:gd name="T10" fmla="*/ 257 w 301"/>
              <a:gd name="T11" fmla="*/ 401 h 470"/>
              <a:gd name="T12" fmla="*/ 272 w 301"/>
              <a:gd name="T13" fmla="*/ 375 h 470"/>
              <a:gd name="T14" fmla="*/ 283 w 301"/>
              <a:gd name="T15" fmla="*/ 344 h 470"/>
              <a:gd name="T16" fmla="*/ 292 w 301"/>
              <a:gd name="T17" fmla="*/ 310 h 470"/>
              <a:gd name="T18" fmla="*/ 298 w 301"/>
              <a:gd name="T19" fmla="*/ 272 h 470"/>
              <a:gd name="T20" fmla="*/ 301 w 301"/>
              <a:gd name="T21" fmla="*/ 235 h 470"/>
              <a:gd name="T22" fmla="*/ 298 w 301"/>
              <a:gd name="T23" fmla="*/ 198 h 470"/>
              <a:gd name="T24" fmla="*/ 292 w 301"/>
              <a:gd name="T25" fmla="*/ 160 h 470"/>
              <a:gd name="T26" fmla="*/ 283 w 301"/>
              <a:gd name="T27" fmla="*/ 126 h 470"/>
              <a:gd name="T28" fmla="*/ 272 w 301"/>
              <a:gd name="T29" fmla="*/ 97 h 470"/>
              <a:gd name="T30" fmla="*/ 257 w 301"/>
              <a:gd name="T31" fmla="*/ 69 h 470"/>
              <a:gd name="T32" fmla="*/ 239 w 301"/>
              <a:gd name="T33" fmla="*/ 46 h 470"/>
              <a:gd name="T34" fmla="*/ 219 w 301"/>
              <a:gd name="T35" fmla="*/ 26 h 470"/>
              <a:gd name="T36" fmla="*/ 199 w 301"/>
              <a:gd name="T37" fmla="*/ 11 h 470"/>
              <a:gd name="T38" fmla="*/ 175 w 301"/>
              <a:gd name="T39" fmla="*/ 3 h 470"/>
              <a:gd name="T40" fmla="*/ 149 w 301"/>
              <a:gd name="T41" fmla="*/ 0 h 470"/>
              <a:gd name="T42" fmla="*/ 126 w 301"/>
              <a:gd name="T43" fmla="*/ 3 h 470"/>
              <a:gd name="T44" fmla="*/ 102 w 301"/>
              <a:gd name="T45" fmla="*/ 11 h 470"/>
              <a:gd name="T46" fmla="*/ 82 w 301"/>
              <a:gd name="T47" fmla="*/ 26 h 470"/>
              <a:gd name="T48" fmla="*/ 62 w 301"/>
              <a:gd name="T49" fmla="*/ 46 h 470"/>
              <a:gd name="T50" fmla="*/ 44 w 301"/>
              <a:gd name="T51" fmla="*/ 69 h 470"/>
              <a:gd name="T52" fmla="*/ 30 w 301"/>
              <a:gd name="T53" fmla="*/ 97 h 470"/>
              <a:gd name="T54" fmla="*/ 18 w 301"/>
              <a:gd name="T55" fmla="*/ 126 h 470"/>
              <a:gd name="T56" fmla="*/ 6 w 301"/>
              <a:gd name="T57" fmla="*/ 160 h 470"/>
              <a:gd name="T58" fmla="*/ 0 w 301"/>
              <a:gd name="T59" fmla="*/ 198 h 470"/>
              <a:gd name="T60" fmla="*/ 0 w 301"/>
              <a:gd name="T61" fmla="*/ 235 h 470"/>
              <a:gd name="T62" fmla="*/ 0 w 301"/>
              <a:gd name="T63" fmla="*/ 272 h 470"/>
              <a:gd name="T64" fmla="*/ 6 w 301"/>
              <a:gd name="T65" fmla="*/ 310 h 470"/>
              <a:gd name="T66" fmla="*/ 18 w 301"/>
              <a:gd name="T67" fmla="*/ 344 h 470"/>
              <a:gd name="T68" fmla="*/ 30 w 301"/>
              <a:gd name="T69" fmla="*/ 375 h 470"/>
              <a:gd name="T70" fmla="*/ 44 w 301"/>
              <a:gd name="T71" fmla="*/ 401 h 470"/>
              <a:gd name="T72" fmla="*/ 62 w 301"/>
              <a:gd name="T73" fmla="*/ 424 h 470"/>
              <a:gd name="T74" fmla="*/ 82 w 301"/>
              <a:gd name="T75" fmla="*/ 444 h 470"/>
              <a:gd name="T76" fmla="*/ 102 w 301"/>
              <a:gd name="T77" fmla="*/ 459 h 470"/>
              <a:gd name="T78" fmla="*/ 126 w 301"/>
              <a:gd name="T79" fmla="*/ 467 h 470"/>
              <a:gd name="T80" fmla="*/ 149 w 301"/>
              <a:gd name="T81" fmla="*/ 470 h 470"/>
              <a:gd name="T82" fmla="*/ 149 w 301"/>
              <a:gd name="T83" fmla="*/ 470 h 470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01"/>
              <a:gd name="T127" fmla="*/ 0 h 470"/>
              <a:gd name="T128" fmla="*/ 301 w 301"/>
              <a:gd name="T129" fmla="*/ 470 h 470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01" h="470">
                <a:moveTo>
                  <a:pt x="149" y="470"/>
                </a:moveTo>
                <a:lnTo>
                  <a:pt x="175" y="467"/>
                </a:lnTo>
                <a:lnTo>
                  <a:pt x="199" y="459"/>
                </a:lnTo>
                <a:lnTo>
                  <a:pt x="219" y="444"/>
                </a:lnTo>
                <a:lnTo>
                  <a:pt x="239" y="424"/>
                </a:lnTo>
                <a:lnTo>
                  <a:pt x="257" y="401"/>
                </a:lnTo>
                <a:lnTo>
                  <a:pt x="272" y="375"/>
                </a:lnTo>
                <a:lnTo>
                  <a:pt x="283" y="344"/>
                </a:lnTo>
                <a:lnTo>
                  <a:pt x="292" y="310"/>
                </a:lnTo>
                <a:lnTo>
                  <a:pt x="298" y="272"/>
                </a:lnTo>
                <a:lnTo>
                  <a:pt x="301" y="235"/>
                </a:lnTo>
                <a:lnTo>
                  <a:pt x="298" y="198"/>
                </a:lnTo>
                <a:lnTo>
                  <a:pt x="292" y="160"/>
                </a:lnTo>
                <a:lnTo>
                  <a:pt x="283" y="126"/>
                </a:lnTo>
                <a:lnTo>
                  <a:pt x="272" y="97"/>
                </a:lnTo>
                <a:lnTo>
                  <a:pt x="257" y="69"/>
                </a:lnTo>
                <a:lnTo>
                  <a:pt x="239" y="46"/>
                </a:lnTo>
                <a:lnTo>
                  <a:pt x="219" y="26"/>
                </a:lnTo>
                <a:lnTo>
                  <a:pt x="199" y="11"/>
                </a:lnTo>
                <a:lnTo>
                  <a:pt x="175" y="3"/>
                </a:lnTo>
                <a:lnTo>
                  <a:pt x="149" y="0"/>
                </a:lnTo>
                <a:lnTo>
                  <a:pt x="126" y="3"/>
                </a:lnTo>
                <a:lnTo>
                  <a:pt x="102" y="11"/>
                </a:lnTo>
                <a:lnTo>
                  <a:pt x="82" y="26"/>
                </a:lnTo>
                <a:lnTo>
                  <a:pt x="62" y="46"/>
                </a:lnTo>
                <a:lnTo>
                  <a:pt x="44" y="69"/>
                </a:lnTo>
                <a:lnTo>
                  <a:pt x="30" y="97"/>
                </a:lnTo>
                <a:lnTo>
                  <a:pt x="18" y="126"/>
                </a:lnTo>
                <a:lnTo>
                  <a:pt x="6" y="160"/>
                </a:lnTo>
                <a:lnTo>
                  <a:pt x="0" y="198"/>
                </a:lnTo>
                <a:lnTo>
                  <a:pt x="0" y="235"/>
                </a:lnTo>
                <a:lnTo>
                  <a:pt x="0" y="272"/>
                </a:lnTo>
                <a:lnTo>
                  <a:pt x="6" y="310"/>
                </a:lnTo>
                <a:lnTo>
                  <a:pt x="18" y="344"/>
                </a:lnTo>
                <a:lnTo>
                  <a:pt x="30" y="375"/>
                </a:lnTo>
                <a:lnTo>
                  <a:pt x="44" y="401"/>
                </a:lnTo>
                <a:lnTo>
                  <a:pt x="62" y="424"/>
                </a:lnTo>
                <a:lnTo>
                  <a:pt x="82" y="444"/>
                </a:lnTo>
                <a:lnTo>
                  <a:pt x="102" y="459"/>
                </a:lnTo>
                <a:lnTo>
                  <a:pt x="126" y="467"/>
                </a:lnTo>
                <a:lnTo>
                  <a:pt x="149" y="470"/>
                </a:lnTo>
              </a:path>
            </a:pathLst>
          </a:custGeom>
          <a:solidFill>
            <a:srgbClr val="D1FFE8"/>
          </a:solidFill>
          <a:ln w="1908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3539" name="Rectangle 47"/>
          <p:cNvSpPr>
            <a:spLocks noChangeArrowheads="1"/>
          </p:cNvSpPr>
          <p:nvPr/>
        </p:nvSpPr>
        <p:spPr bwMode="auto">
          <a:xfrm>
            <a:off x="7500938" y="2829644"/>
            <a:ext cx="10259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3540" name="Rectangle 48"/>
          <p:cNvSpPr>
            <a:spLocks noChangeArrowheads="1"/>
          </p:cNvSpPr>
          <p:nvPr/>
        </p:nvSpPr>
        <p:spPr bwMode="auto">
          <a:xfrm>
            <a:off x="7602538" y="282964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h</a:t>
            </a:r>
          </a:p>
        </p:txBody>
      </p:sp>
      <p:sp>
        <p:nvSpPr>
          <p:cNvPr id="63541" name="Rectangle 49"/>
          <p:cNvSpPr>
            <a:spLocks noChangeArrowheads="1"/>
          </p:cNvSpPr>
          <p:nvPr/>
        </p:nvSpPr>
        <p:spPr bwMode="auto">
          <a:xfrm>
            <a:off x="7691438" y="2829644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3542" name="Rectangle 50"/>
          <p:cNvSpPr>
            <a:spLocks noChangeArrowheads="1"/>
          </p:cNvSpPr>
          <p:nvPr/>
        </p:nvSpPr>
        <p:spPr bwMode="auto">
          <a:xfrm>
            <a:off x="7721600" y="2829644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f</a:t>
            </a:r>
          </a:p>
        </p:txBody>
      </p:sp>
      <p:sp>
        <p:nvSpPr>
          <p:cNvPr id="63543" name="Rectangle 51"/>
          <p:cNvSpPr>
            <a:spLocks noChangeArrowheads="1"/>
          </p:cNvSpPr>
          <p:nvPr/>
        </p:nvSpPr>
        <p:spPr bwMode="auto">
          <a:xfrm>
            <a:off x="7769225" y="2829644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544" name="Rectangle 52"/>
          <p:cNvSpPr>
            <a:spLocks noChangeArrowheads="1"/>
          </p:cNvSpPr>
          <p:nvPr/>
        </p:nvSpPr>
        <p:spPr bwMode="auto">
          <a:xfrm>
            <a:off x="7810500" y="2829644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45" name="Rectangle 53"/>
          <p:cNvSpPr>
            <a:spLocks noChangeArrowheads="1"/>
          </p:cNvSpPr>
          <p:nvPr/>
        </p:nvSpPr>
        <p:spPr bwMode="auto">
          <a:xfrm>
            <a:off x="7477125" y="3012207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3546" name="Rectangle 54"/>
          <p:cNvSpPr>
            <a:spLocks noChangeArrowheads="1"/>
          </p:cNvSpPr>
          <p:nvPr/>
        </p:nvSpPr>
        <p:spPr bwMode="auto">
          <a:xfrm>
            <a:off x="7513638" y="3012207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547" name="Rectangle 55"/>
          <p:cNvSpPr>
            <a:spLocks noChangeArrowheads="1"/>
          </p:cNvSpPr>
          <p:nvPr/>
        </p:nvSpPr>
        <p:spPr bwMode="auto">
          <a:xfrm>
            <a:off x="7596188" y="3012207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f</a:t>
            </a:r>
          </a:p>
        </p:txBody>
      </p:sp>
      <p:sp>
        <p:nvSpPr>
          <p:cNvPr id="63548" name="Rectangle 56"/>
          <p:cNvSpPr>
            <a:spLocks noChangeArrowheads="1"/>
          </p:cNvSpPr>
          <p:nvPr/>
        </p:nvSpPr>
        <p:spPr bwMode="auto">
          <a:xfrm>
            <a:off x="7639050" y="3012207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549" name="Rectangle 57"/>
          <p:cNvSpPr>
            <a:spLocks noChangeArrowheads="1"/>
          </p:cNvSpPr>
          <p:nvPr/>
        </p:nvSpPr>
        <p:spPr bwMode="auto">
          <a:xfrm>
            <a:off x="7686675" y="3012207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2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3550" name="Rectangle 58"/>
          <p:cNvSpPr>
            <a:spLocks noChangeArrowheads="1"/>
          </p:cNvSpPr>
          <p:nvPr/>
        </p:nvSpPr>
        <p:spPr bwMode="auto">
          <a:xfrm>
            <a:off x="7727950" y="3012207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63551" name="Rectangle 59"/>
          <p:cNvSpPr>
            <a:spLocks noChangeArrowheads="1"/>
          </p:cNvSpPr>
          <p:nvPr/>
        </p:nvSpPr>
        <p:spPr bwMode="auto">
          <a:xfrm>
            <a:off x="9518650" y="2461344"/>
            <a:ext cx="10259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B</a:t>
            </a:r>
          </a:p>
        </p:txBody>
      </p:sp>
      <p:sp>
        <p:nvSpPr>
          <p:cNvPr id="63552" name="Rectangle 60"/>
          <p:cNvSpPr>
            <a:spLocks noChangeArrowheads="1"/>
          </p:cNvSpPr>
          <p:nvPr/>
        </p:nvSpPr>
        <p:spPr bwMode="auto">
          <a:xfrm>
            <a:off x="9621838" y="2461344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553" name="Rectangle 61"/>
          <p:cNvSpPr>
            <a:spLocks noChangeArrowheads="1"/>
          </p:cNvSpPr>
          <p:nvPr/>
        </p:nvSpPr>
        <p:spPr bwMode="auto">
          <a:xfrm>
            <a:off x="9672638" y="246134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554" name="Rectangle 62"/>
          <p:cNvSpPr>
            <a:spLocks noChangeArrowheads="1"/>
          </p:cNvSpPr>
          <p:nvPr/>
        </p:nvSpPr>
        <p:spPr bwMode="auto">
          <a:xfrm>
            <a:off x="9758363" y="246134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63555" name="Rectangle 63"/>
          <p:cNvSpPr>
            <a:spLocks noChangeArrowheads="1"/>
          </p:cNvSpPr>
          <p:nvPr/>
        </p:nvSpPr>
        <p:spPr bwMode="auto">
          <a:xfrm>
            <a:off x="9844088" y="2461344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63556" name="Rectangle 64"/>
          <p:cNvSpPr>
            <a:spLocks noChangeArrowheads="1"/>
          </p:cNvSpPr>
          <p:nvPr/>
        </p:nvSpPr>
        <p:spPr bwMode="auto">
          <a:xfrm>
            <a:off x="9920288" y="246134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h</a:t>
            </a:r>
          </a:p>
        </p:txBody>
      </p:sp>
      <p:sp>
        <p:nvSpPr>
          <p:cNvPr id="63557" name="Rectangle 65"/>
          <p:cNvSpPr>
            <a:spLocks noChangeArrowheads="1"/>
          </p:cNvSpPr>
          <p:nvPr/>
        </p:nvSpPr>
        <p:spPr bwMode="auto">
          <a:xfrm>
            <a:off x="10010775" y="2461344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2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3558" name="Rectangle 66"/>
          <p:cNvSpPr>
            <a:spLocks noChangeArrowheads="1"/>
          </p:cNvSpPr>
          <p:nvPr/>
        </p:nvSpPr>
        <p:spPr bwMode="auto">
          <a:xfrm>
            <a:off x="10052050" y="2461344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559" name="Rectangle 67"/>
          <p:cNvSpPr>
            <a:spLocks noChangeArrowheads="1"/>
          </p:cNvSpPr>
          <p:nvPr/>
        </p:nvSpPr>
        <p:spPr bwMode="auto">
          <a:xfrm>
            <a:off x="10091738" y="246134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560" name="Rectangle 68"/>
          <p:cNvSpPr>
            <a:spLocks noChangeArrowheads="1"/>
          </p:cNvSpPr>
          <p:nvPr/>
        </p:nvSpPr>
        <p:spPr bwMode="auto">
          <a:xfrm>
            <a:off x="10182225" y="2461344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561" name="Rectangle 69"/>
          <p:cNvSpPr>
            <a:spLocks noChangeArrowheads="1"/>
          </p:cNvSpPr>
          <p:nvPr/>
        </p:nvSpPr>
        <p:spPr bwMode="auto">
          <a:xfrm>
            <a:off x="10233025" y="246134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63562" name="Rectangle 70"/>
          <p:cNvSpPr>
            <a:spLocks noChangeArrowheads="1"/>
          </p:cNvSpPr>
          <p:nvPr/>
        </p:nvSpPr>
        <p:spPr bwMode="auto">
          <a:xfrm>
            <a:off x="10315575" y="246134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563" name="Rectangle 71"/>
          <p:cNvSpPr>
            <a:spLocks noChangeArrowheads="1"/>
          </p:cNvSpPr>
          <p:nvPr/>
        </p:nvSpPr>
        <p:spPr bwMode="auto">
          <a:xfrm>
            <a:off x="10404475" y="2461344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564" name="Rectangle 72"/>
          <p:cNvSpPr>
            <a:spLocks noChangeArrowheads="1"/>
          </p:cNvSpPr>
          <p:nvPr/>
        </p:nvSpPr>
        <p:spPr bwMode="auto">
          <a:xfrm>
            <a:off x="3932238" y="3639269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3565" name="Rectangle 73"/>
          <p:cNvSpPr>
            <a:spLocks noChangeArrowheads="1"/>
          </p:cNvSpPr>
          <p:nvPr/>
        </p:nvSpPr>
        <p:spPr bwMode="auto">
          <a:xfrm>
            <a:off x="3973513" y="36392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63566" name="Rectangle 74"/>
          <p:cNvSpPr>
            <a:spLocks noChangeArrowheads="1"/>
          </p:cNvSpPr>
          <p:nvPr/>
        </p:nvSpPr>
        <p:spPr bwMode="auto">
          <a:xfrm>
            <a:off x="4056063" y="3639269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3567" name="Rectangle 75"/>
          <p:cNvSpPr>
            <a:spLocks noChangeArrowheads="1"/>
          </p:cNvSpPr>
          <p:nvPr/>
        </p:nvSpPr>
        <p:spPr bwMode="auto">
          <a:xfrm>
            <a:off x="4135438" y="3639269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568" name="Rectangle 76"/>
          <p:cNvSpPr>
            <a:spLocks noChangeArrowheads="1"/>
          </p:cNvSpPr>
          <p:nvPr/>
        </p:nvSpPr>
        <p:spPr bwMode="auto">
          <a:xfrm>
            <a:off x="4176713" y="3639269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569" name="Rectangle 77"/>
          <p:cNvSpPr>
            <a:spLocks noChangeArrowheads="1"/>
          </p:cNvSpPr>
          <p:nvPr/>
        </p:nvSpPr>
        <p:spPr bwMode="auto">
          <a:xfrm>
            <a:off x="4225925" y="36392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3570" name="Rectangle 78"/>
          <p:cNvSpPr>
            <a:spLocks noChangeArrowheads="1"/>
          </p:cNvSpPr>
          <p:nvPr/>
        </p:nvSpPr>
        <p:spPr bwMode="auto">
          <a:xfrm>
            <a:off x="4316413" y="3639269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63571" name="Rectangle 79"/>
          <p:cNvSpPr>
            <a:spLocks noChangeArrowheads="1"/>
          </p:cNvSpPr>
          <p:nvPr/>
        </p:nvSpPr>
        <p:spPr bwMode="auto">
          <a:xfrm>
            <a:off x="4394200" y="3639269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572" name="Rectangle 80"/>
          <p:cNvSpPr>
            <a:spLocks noChangeArrowheads="1"/>
          </p:cNvSpPr>
          <p:nvPr/>
        </p:nvSpPr>
        <p:spPr bwMode="auto">
          <a:xfrm>
            <a:off x="4435475" y="3639269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3573" name="Rectangle 81"/>
          <p:cNvSpPr>
            <a:spLocks noChangeArrowheads="1"/>
          </p:cNvSpPr>
          <p:nvPr/>
        </p:nvSpPr>
        <p:spPr bwMode="auto">
          <a:xfrm>
            <a:off x="4468813" y="36392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63574" name="Rectangle 82"/>
          <p:cNvSpPr>
            <a:spLocks noChangeArrowheads="1"/>
          </p:cNvSpPr>
          <p:nvPr/>
        </p:nvSpPr>
        <p:spPr bwMode="auto">
          <a:xfrm>
            <a:off x="4554538" y="36392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63575" name="Line 83"/>
          <p:cNvSpPr>
            <a:spLocks noChangeShapeType="1"/>
          </p:cNvSpPr>
          <p:nvPr/>
        </p:nvSpPr>
        <p:spPr bwMode="auto">
          <a:xfrm>
            <a:off x="3852863" y="3853582"/>
            <a:ext cx="908050" cy="4762"/>
          </a:xfrm>
          <a:prstGeom prst="line">
            <a:avLst/>
          </a:prstGeom>
          <a:noFill/>
          <a:ln w="316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76" name="Rectangle 84"/>
          <p:cNvSpPr>
            <a:spLocks noChangeArrowheads="1"/>
          </p:cNvSpPr>
          <p:nvPr/>
        </p:nvSpPr>
        <p:spPr bwMode="auto">
          <a:xfrm>
            <a:off x="8348663" y="2456582"/>
            <a:ext cx="10259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577" name="Rectangle 85"/>
          <p:cNvSpPr>
            <a:spLocks noChangeArrowheads="1"/>
          </p:cNvSpPr>
          <p:nvPr/>
        </p:nvSpPr>
        <p:spPr bwMode="auto">
          <a:xfrm>
            <a:off x="8448675" y="245658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3578" name="Rectangle 86"/>
          <p:cNvSpPr>
            <a:spLocks noChangeArrowheads="1"/>
          </p:cNvSpPr>
          <p:nvPr/>
        </p:nvSpPr>
        <p:spPr bwMode="auto">
          <a:xfrm>
            <a:off x="8537575" y="245658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3579" name="Rectangle 87"/>
          <p:cNvSpPr>
            <a:spLocks noChangeArrowheads="1"/>
          </p:cNvSpPr>
          <p:nvPr/>
        </p:nvSpPr>
        <p:spPr bwMode="auto">
          <a:xfrm>
            <a:off x="5340350" y="4372694"/>
            <a:ext cx="14587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63580" name="Rectangle 88"/>
          <p:cNvSpPr>
            <a:spLocks noChangeArrowheads="1"/>
          </p:cNvSpPr>
          <p:nvPr/>
        </p:nvSpPr>
        <p:spPr bwMode="auto">
          <a:xfrm>
            <a:off x="5491163" y="4372694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581" name="Rectangle 89"/>
          <p:cNvSpPr>
            <a:spLocks noChangeArrowheads="1"/>
          </p:cNvSpPr>
          <p:nvPr/>
        </p:nvSpPr>
        <p:spPr bwMode="auto">
          <a:xfrm>
            <a:off x="5541963" y="4372694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3582" name="Rectangle 90"/>
          <p:cNvSpPr>
            <a:spLocks noChangeArrowheads="1"/>
          </p:cNvSpPr>
          <p:nvPr/>
        </p:nvSpPr>
        <p:spPr bwMode="auto">
          <a:xfrm>
            <a:off x="5575300" y="4372694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583" name="Rectangle 91"/>
          <p:cNvSpPr>
            <a:spLocks noChangeArrowheads="1"/>
          </p:cNvSpPr>
          <p:nvPr/>
        </p:nvSpPr>
        <p:spPr bwMode="auto">
          <a:xfrm>
            <a:off x="5614988" y="437269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584" name="Rectangle 92"/>
          <p:cNvSpPr>
            <a:spLocks noChangeArrowheads="1"/>
          </p:cNvSpPr>
          <p:nvPr/>
        </p:nvSpPr>
        <p:spPr bwMode="auto">
          <a:xfrm>
            <a:off x="5705475" y="4372694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85" name="Rectangle 93"/>
          <p:cNvSpPr>
            <a:spLocks noChangeArrowheads="1"/>
          </p:cNvSpPr>
          <p:nvPr/>
        </p:nvSpPr>
        <p:spPr bwMode="auto">
          <a:xfrm>
            <a:off x="5343525" y="4521919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586" name="Rectangle 94"/>
          <p:cNvSpPr>
            <a:spLocks noChangeArrowheads="1"/>
          </p:cNvSpPr>
          <p:nvPr/>
        </p:nvSpPr>
        <p:spPr bwMode="auto">
          <a:xfrm>
            <a:off x="5394325" y="452191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587" name="Rectangle 95"/>
          <p:cNvSpPr>
            <a:spLocks noChangeArrowheads="1"/>
          </p:cNvSpPr>
          <p:nvPr/>
        </p:nvSpPr>
        <p:spPr bwMode="auto">
          <a:xfrm>
            <a:off x="5483225" y="452191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63588" name="Rectangle 96"/>
          <p:cNvSpPr>
            <a:spLocks noChangeArrowheads="1"/>
          </p:cNvSpPr>
          <p:nvPr/>
        </p:nvSpPr>
        <p:spPr bwMode="auto">
          <a:xfrm>
            <a:off x="5565775" y="4521919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3589" name="Rectangle 97"/>
          <p:cNvSpPr>
            <a:spLocks noChangeArrowheads="1"/>
          </p:cNvSpPr>
          <p:nvPr/>
        </p:nvSpPr>
        <p:spPr bwMode="auto">
          <a:xfrm>
            <a:off x="5602288" y="4521919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3590" name="Rectangle 98"/>
          <p:cNvSpPr>
            <a:spLocks noChangeArrowheads="1"/>
          </p:cNvSpPr>
          <p:nvPr/>
        </p:nvSpPr>
        <p:spPr bwMode="auto">
          <a:xfrm>
            <a:off x="5681663" y="4521919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591" name="Rectangle 99"/>
          <p:cNvSpPr>
            <a:spLocks noChangeArrowheads="1"/>
          </p:cNvSpPr>
          <p:nvPr/>
        </p:nvSpPr>
        <p:spPr bwMode="auto">
          <a:xfrm>
            <a:off x="5721350" y="452191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592" name="Rectangle 100"/>
          <p:cNvSpPr>
            <a:spLocks noChangeArrowheads="1"/>
          </p:cNvSpPr>
          <p:nvPr/>
        </p:nvSpPr>
        <p:spPr bwMode="auto">
          <a:xfrm>
            <a:off x="5807075" y="4521919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593" name="Rectangle 101"/>
          <p:cNvSpPr>
            <a:spLocks noChangeArrowheads="1"/>
          </p:cNvSpPr>
          <p:nvPr/>
        </p:nvSpPr>
        <p:spPr bwMode="auto">
          <a:xfrm>
            <a:off x="6602413" y="3690069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594" name="Rectangle 102"/>
          <p:cNvSpPr>
            <a:spLocks noChangeArrowheads="1"/>
          </p:cNvSpPr>
          <p:nvPr/>
        </p:nvSpPr>
        <p:spPr bwMode="auto">
          <a:xfrm>
            <a:off x="6711950" y="36900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595" name="Rectangle 103"/>
          <p:cNvSpPr>
            <a:spLocks noChangeArrowheads="1"/>
          </p:cNvSpPr>
          <p:nvPr/>
        </p:nvSpPr>
        <p:spPr bwMode="auto">
          <a:xfrm>
            <a:off x="6797675" y="36900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596" name="Rectangle 104"/>
          <p:cNvSpPr>
            <a:spLocks noChangeArrowheads="1"/>
          </p:cNvSpPr>
          <p:nvPr/>
        </p:nvSpPr>
        <p:spPr bwMode="auto">
          <a:xfrm>
            <a:off x="6883400" y="36900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3597" name="Rectangle 105"/>
          <p:cNvSpPr>
            <a:spLocks noChangeArrowheads="1"/>
          </p:cNvSpPr>
          <p:nvPr/>
        </p:nvSpPr>
        <p:spPr bwMode="auto">
          <a:xfrm>
            <a:off x="6969125" y="3690069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598" name="Rectangle 106"/>
          <p:cNvSpPr>
            <a:spLocks noChangeArrowheads="1"/>
          </p:cNvSpPr>
          <p:nvPr/>
        </p:nvSpPr>
        <p:spPr bwMode="auto">
          <a:xfrm>
            <a:off x="6510338" y="383929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3599" name="Rectangle 107"/>
          <p:cNvSpPr>
            <a:spLocks noChangeArrowheads="1"/>
          </p:cNvSpPr>
          <p:nvPr/>
        </p:nvSpPr>
        <p:spPr bwMode="auto">
          <a:xfrm>
            <a:off x="6591300" y="383929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600" name="Rectangle 108"/>
          <p:cNvSpPr>
            <a:spLocks noChangeArrowheads="1"/>
          </p:cNvSpPr>
          <p:nvPr/>
        </p:nvSpPr>
        <p:spPr bwMode="auto">
          <a:xfrm>
            <a:off x="6681788" y="3839294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601" name="Rectangle 109"/>
          <p:cNvSpPr>
            <a:spLocks noChangeArrowheads="1"/>
          </p:cNvSpPr>
          <p:nvPr/>
        </p:nvSpPr>
        <p:spPr bwMode="auto">
          <a:xfrm>
            <a:off x="6723063" y="383929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602" name="Rectangle 110"/>
          <p:cNvSpPr>
            <a:spLocks noChangeArrowheads="1"/>
          </p:cNvSpPr>
          <p:nvPr/>
        </p:nvSpPr>
        <p:spPr bwMode="auto">
          <a:xfrm>
            <a:off x="6807200" y="3839294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2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3603" name="Rectangle 111"/>
          <p:cNvSpPr>
            <a:spLocks noChangeArrowheads="1"/>
          </p:cNvSpPr>
          <p:nvPr/>
        </p:nvSpPr>
        <p:spPr bwMode="auto">
          <a:xfrm>
            <a:off x="6851650" y="383929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63604" name="Rectangle 112"/>
          <p:cNvSpPr>
            <a:spLocks noChangeArrowheads="1"/>
          </p:cNvSpPr>
          <p:nvPr/>
        </p:nvSpPr>
        <p:spPr bwMode="auto">
          <a:xfrm>
            <a:off x="6602413" y="4599707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605" name="Rectangle 113"/>
          <p:cNvSpPr>
            <a:spLocks noChangeArrowheads="1"/>
          </p:cNvSpPr>
          <p:nvPr/>
        </p:nvSpPr>
        <p:spPr bwMode="auto">
          <a:xfrm>
            <a:off x="6711950" y="4599707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606" name="Rectangle 114"/>
          <p:cNvSpPr>
            <a:spLocks noChangeArrowheads="1"/>
          </p:cNvSpPr>
          <p:nvPr/>
        </p:nvSpPr>
        <p:spPr bwMode="auto">
          <a:xfrm>
            <a:off x="6797675" y="4599707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607" name="Rectangle 115"/>
          <p:cNvSpPr>
            <a:spLocks noChangeArrowheads="1"/>
          </p:cNvSpPr>
          <p:nvPr/>
        </p:nvSpPr>
        <p:spPr bwMode="auto">
          <a:xfrm>
            <a:off x="6883400" y="4599707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3608" name="Rectangle 116"/>
          <p:cNvSpPr>
            <a:spLocks noChangeArrowheads="1"/>
          </p:cNvSpPr>
          <p:nvPr/>
        </p:nvSpPr>
        <p:spPr bwMode="auto">
          <a:xfrm>
            <a:off x="6969125" y="4599707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609" name="Rectangle 117"/>
          <p:cNvSpPr>
            <a:spLocks noChangeArrowheads="1"/>
          </p:cNvSpPr>
          <p:nvPr/>
        </p:nvSpPr>
        <p:spPr bwMode="auto">
          <a:xfrm>
            <a:off x="6510338" y="475051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3610" name="Rectangle 118"/>
          <p:cNvSpPr>
            <a:spLocks noChangeArrowheads="1"/>
          </p:cNvSpPr>
          <p:nvPr/>
        </p:nvSpPr>
        <p:spPr bwMode="auto">
          <a:xfrm>
            <a:off x="6591300" y="475051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611" name="Rectangle 119"/>
          <p:cNvSpPr>
            <a:spLocks noChangeArrowheads="1"/>
          </p:cNvSpPr>
          <p:nvPr/>
        </p:nvSpPr>
        <p:spPr bwMode="auto">
          <a:xfrm>
            <a:off x="6681788" y="4750519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612" name="Rectangle 120"/>
          <p:cNvSpPr>
            <a:spLocks noChangeArrowheads="1"/>
          </p:cNvSpPr>
          <p:nvPr/>
        </p:nvSpPr>
        <p:spPr bwMode="auto">
          <a:xfrm>
            <a:off x="6723063" y="475051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613" name="Rectangle 121"/>
          <p:cNvSpPr>
            <a:spLocks noChangeArrowheads="1"/>
          </p:cNvSpPr>
          <p:nvPr/>
        </p:nvSpPr>
        <p:spPr bwMode="auto">
          <a:xfrm>
            <a:off x="6807200" y="4750519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2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3614" name="Rectangle 122"/>
          <p:cNvSpPr>
            <a:spLocks noChangeArrowheads="1"/>
          </p:cNvSpPr>
          <p:nvPr/>
        </p:nvSpPr>
        <p:spPr bwMode="auto">
          <a:xfrm>
            <a:off x="6851650" y="475051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63615" name="Rectangle 123"/>
          <p:cNvSpPr>
            <a:spLocks noChangeArrowheads="1"/>
          </p:cNvSpPr>
          <p:nvPr/>
        </p:nvSpPr>
        <p:spPr bwMode="auto">
          <a:xfrm>
            <a:off x="5343525" y="3461469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616" name="Rectangle 124"/>
          <p:cNvSpPr>
            <a:spLocks noChangeArrowheads="1"/>
          </p:cNvSpPr>
          <p:nvPr/>
        </p:nvSpPr>
        <p:spPr bwMode="auto">
          <a:xfrm>
            <a:off x="5453063" y="34614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617" name="Rectangle 125"/>
          <p:cNvSpPr>
            <a:spLocks noChangeArrowheads="1"/>
          </p:cNvSpPr>
          <p:nvPr/>
        </p:nvSpPr>
        <p:spPr bwMode="auto">
          <a:xfrm>
            <a:off x="5541963" y="34614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618" name="Rectangle 126"/>
          <p:cNvSpPr>
            <a:spLocks noChangeArrowheads="1"/>
          </p:cNvSpPr>
          <p:nvPr/>
        </p:nvSpPr>
        <p:spPr bwMode="auto">
          <a:xfrm>
            <a:off x="5624513" y="34614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3619" name="Rectangle 127"/>
          <p:cNvSpPr>
            <a:spLocks noChangeArrowheads="1"/>
          </p:cNvSpPr>
          <p:nvPr/>
        </p:nvSpPr>
        <p:spPr bwMode="auto">
          <a:xfrm>
            <a:off x="5713414" y="3461469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620" name="Rectangle 128"/>
          <p:cNvSpPr>
            <a:spLocks noChangeArrowheads="1"/>
          </p:cNvSpPr>
          <p:nvPr/>
        </p:nvSpPr>
        <p:spPr bwMode="auto">
          <a:xfrm>
            <a:off x="5343525" y="3612282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621" name="Rectangle 129"/>
          <p:cNvSpPr>
            <a:spLocks noChangeArrowheads="1"/>
          </p:cNvSpPr>
          <p:nvPr/>
        </p:nvSpPr>
        <p:spPr bwMode="auto">
          <a:xfrm>
            <a:off x="5394325" y="361228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622" name="Rectangle 130"/>
          <p:cNvSpPr>
            <a:spLocks noChangeArrowheads="1"/>
          </p:cNvSpPr>
          <p:nvPr/>
        </p:nvSpPr>
        <p:spPr bwMode="auto">
          <a:xfrm>
            <a:off x="5483225" y="361228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63623" name="Rectangle 131"/>
          <p:cNvSpPr>
            <a:spLocks noChangeArrowheads="1"/>
          </p:cNvSpPr>
          <p:nvPr/>
        </p:nvSpPr>
        <p:spPr bwMode="auto">
          <a:xfrm>
            <a:off x="5565775" y="3612282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3624" name="Rectangle 132"/>
          <p:cNvSpPr>
            <a:spLocks noChangeArrowheads="1"/>
          </p:cNvSpPr>
          <p:nvPr/>
        </p:nvSpPr>
        <p:spPr bwMode="auto">
          <a:xfrm>
            <a:off x="5602288" y="3612282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3625" name="Rectangle 133"/>
          <p:cNvSpPr>
            <a:spLocks noChangeArrowheads="1"/>
          </p:cNvSpPr>
          <p:nvPr/>
        </p:nvSpPr>
        <p:spPr bwMode="auto">
          <a:xfrm>
            <a:off x="5681663" y="3612282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626" name="Rectangle 134"/>
          <p:cNvSpPr>
            <a:spLocks noChangeArrowheads="1"/>
          </p:cNvSpPr>
          <p:nvPr/>
        </p:nvSpPr>
        <p:spPr bwMode="auto">
          <a:xfrm>
            <a:off x="5721350" y="361228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627" name="Rectangle 135"/>
          <p:cNvSpPr>
            <a:spLocks noChangeArrowheads="1"/>
          </p:cNvSpPr>
          <p:nvPr/>
        </p:nvSpPr>
        <p:spPr bwMode="auto">
          <a:xfrm>
            <a:off x="5807075" y="3612282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628" name="Rectangle 136"/>
          <p:cNvSpPr>
            <a:spLocks noChangeArrowheads="1"/>
          </p:cNvSpPr>
          <p:nvPr/>
        </p:nvSpPr>
        <p:spPr bwMode="auto">
          <a:xfrm>
            <a:off x="5857875" y="3612282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2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3629" name="Rectangle 137"/>
          <p:cNvSpPr>
            <a:spLocks noChangeArrowheads="1"/>
          </p:cNvSpPr>
          <p:nvPr/>
        </p:nvSpPr>
        <p:spPr bwMode="auto">
          <a:xfrm>
            <a:off x="5902325" y="361228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63630" name="Rectangle 138"/>
          <p:cNvSpPr>
            <a:spLocks noChangeArrowheads="1"/>
          </p:cNvSpPr>
          <p:nvPr/>
        </p:nvSpPr>
        <p:spPr bwMode="auto">
          <a:xfrm>
            <a:off x="5343525" y="3917082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631" name="Rectangle 139"/>
          <p:cNvSpPr>
            <a:spLocks noChangeArrowheads="1"/>
          </p:cNvSpPr>
          <p:nvPr/>
        </p:nvSpPr>
        <p:spPr bwMode="auto">
          <a:xfrm>
            <a:off x="5453063" y="391708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632" name="Rectangle 140"/>
          <p:cNvSpPr>
            <a:spLocks noChangeArrowheads="1"/>
          </p:cNvSpPr>
          <p:nvPr/>
        </p:nvSpPr>
        <p:spPr bwMode="auto">
          <a:xfrm>
            <a:off x="5541963" y="391708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633" name="Rectangle 141"/>
          <p:cNvSpPr>
            <a:spLocks noChangeArrowheads="1"/>
          </p:cNvSpPr>
          <p:nvPr/>
        </p:nvSpPr>
        <p:spPr bwMode="auto">
          <a:xfrm>
            <a:off x="5624513" y="391708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3634" name="Rectangle 142"/>
          <p:cNvSpPr>
            <a:spLocks noChangeArrowheads="1"/>
          </p:cNvSpPr>
          <p:nvPr/>
        </p:nvSpPr>
        <p:spPr bwMode="auto">
          <a:xfrm>
            <a:off x="5713414" y="3917082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635" name="Rectangle 143"/>
          <p:cNvSpPr>
            <a:spLocks noChangeArrowheads="1"/>
          </p:cNvSpPr>
          <p:nvPr/>
        </p:nvSpPr>
        <p:spPr bwMode="auto">
          <a:xfrm>
            <a:off x="5343525" y="4067894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636" name="Rectangle 144"/>
          <p:cNvSpPr>
            <a:spLocks noChangeArrowheads="1"/>
          </p:cNvSpPr>
          <p:nvPr/>
        </p:nvSpPr>
        <p:spPr bwMode="auto">
          <a:xfrm>
            <a:off x="5394325" y="406789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637" name="Rectangle 145"/>
          <p:cNvSpPr>
            <a:spLocks noChangeArrowheads="1"/>
          </p:cNvSpPr>
          <p:nvPr/>
        </p:nvSpPr>
        <p:spPr bwMode="auto">
          <a:xfrm>
            <a:off x="5483225" y="406789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63638" name="Rectangle 146"/>
          <p:cNvSpPr>
            <a:spLocks noChangeArrowheads="1"/>
          </p:cNvSpPr>
          <p:nvPr/>
        </p:nvSpPr>
        <p:spPr bwMode="auto">
          <a:xfrm>
            <a:off x="5565775" y="4067894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3639" name="Rectangle 147"/>
          <p:cNvSpPr>
            <a:spLocks noChangeArrowheads="1"/>
          </p:cNvSpPr>
          <p:nvPr/>
        </p:nvSpPr>
        <p:spPr bwMode="auto">
          <a:xfrm>
            <a:off x="5602288" y="4067894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3640" name="Rectangle 148"/>
          <p:cNvSpPr>
            <a:spLocks noChangeArrowheads="1"/>
          </p:cNvSpPr>
          <p:nvPr/>
        </p:nvSpPr>
        <p:spPr bwMode="auto">
          <a:xfrm>
            <a:off x="5681663" y="4067894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641" name="Rectangle 149"/>
          <p:cNvSpPr>
            <a:spLocks noChangeArrowheads="1"/>
          </p:cNvSpPr>
          <p:nvPr/>
        </p:nvSpPr>
        <p:spPr bwMode="auto">
          <a:xfrm>
            <a:off x="5721350" y="406789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642" name="Rectangle 150"/>
          <p:cNvSpPr>
            <a:spLocks noChangeArrowheads="1"/>
          </p:cNvSpPr>
          <p:nvPr/>
        </p:nvSpPr>
        <p:spPr bwMode="auto">
          <a:xfrm>
            <a:off x="5807075" y="4067894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643" name="Rectangle 151"/>
          <p:cNvSpPr>
            <a:spLocks noChangeArrowheads="1"/>
          </p:cNvSpPr>
          <p:nvPr/>
        </p:nvSpPr>
        <p:spPr bwMode="auto">
          <a:xfrm>
            <a:off x="5857875" y="4067894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2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3644" name="Rectangle 152"/>
          <p:cNvSpPr>
            <a:spLocks noChangeArrowheads="1"/>
          </p:cNvSpPr>
          <p:nvPr/>
        </p:nvSpPr>
        <p:spPr bwMode="auto">
          <a:xfrm>
            <a:off x="5902325" y="406789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63645" name="Rectangle 153"/>
          <p:cNvSpPr>
            <a:spLocks noChangeArrowheads="1"/>
          </p:cNvSpPr>
          <p:nvPr/>
        </p:nvSpPr>
        <p:spPr bwMode="auto">
          <a:xfrm>
            <a:off x="5340350" y="4826719"/>
            <a:ext cx="14587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63646" name="Rectangle 154"/>
          <p:cNvSpPr>
            <a:spLocks noChangeArrowheads="1"/>
          </p:cNvSpPr>
          <p:nvPr/>
        </p:nvSpPr>
        <p:spPr bwMode="auto">
          <a:xfrm>
            <a:off x="5491163" y="4826719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647" name="Rectangle 155"/>
          <p:cNvSpPr>
            <a:spLocks noChangeArrowheads="1"/>
          </p:cNvSpPr>
          <p:nvPr/>
        </p:nvSpPr>
        <p:spPr bwMode="auto">
          <a:xfrm>
            <a:off x="5541963" y="4826719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3648" name="Rectangle 156"/>
          <p:cNvSpPr>
            <a:spLocks noChangeArrowheads="1"/>
          </p:cNvSpPr>
          <p:nvPr/>
        </p:nvSpPr>
        <p:spPr bwMode="auto">
          <a:xfrm>
            <a:off x="5575300" y="4826719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649" name="Rectangle 157"/>
          <p:cNvSpPr>
            <a:spLocks noChangeArrowheads="1"/>
          </p:cNvSpPr>
          <p:nvPr/>
        </p:nvSpPr>
        <p:spPr bwMode="auto">
          <a:xfrm>
            <a:off x="5614988" y="482671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650" name="Rectangle 158"/>
          <p:cNvSpPr>
            <a:spLocks noChangeArrowheads="1"/>
          </p:cNvSpPr>
          <p:nvPr/>
        </p:nvSpPr>
        <p:spPr bwMode="auto">
          <a:xfrm>
            <a:off x="5705475" y="4826719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651" name="Rectangle 159"/>
          <p:cNvSpPr>
            <a:spLocks noChangeArrowheads="1"/>
          </p:cNvSpPr>
          <p:nvPr/>
        </p:nvSpPr>
        <p:spPr bwMode="auto">
          <a:xfrm>
            <a:off x="5343525" y="497753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3652" name="Rectangle 160"/>
          <p:cNvSpPr>
            <a:spLocks noChangeArrowheads="1"/>
          </p:cNvSpPr>
          <p:nvPr/>
        </p:nvSpPr>
        <p:spPr bwMode="auto">
          <a:xfrm>
            <a:off x="5429250" y="497753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653" name="Rectangle 161"/>
          <p:cNvSpPr>
            <a:spLocks noChangeArrowheads="1"/>
          </p:cNvSpPr>
          <p:nvPr/>
        </p:nvSpPr>
        <p:spPr bwMode="auto">
          <a:xfrm>
            <a:off x="5514975" y="4977532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654" name="Rectangle 162"/>
          <p:cNvSpPr>
            <a:spLocks noChangeArrowheads="1"/>
          </p:cNvSpPr>
          <p:nvPr/>
        </p:nvSpPr>
        <p:spPr bwMode="auto">
          <a:xfrm>
            <a:off x="5561013" y="497753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655" name="Freeform 163"/>
          <p:cNvSpPr>
            <a:spLocks noChangeArrowheads="1"/>
          </p:cNvSpPr>
          <p:nvPr/>
        </p:nvSpPr>
        <p:spPr bwMode="auto">
          <a:xfrm>
            <a:off x="4722813" y="4044083"/>
            <a:ext cx="74612" cy="77787"/>
          </a:xfrm>
          <a:custGeom>
            <a:avLst/>
            <a:gdLst>
              <a:gd name="T0" fmla="*/ 24 w 47"/>
              <a:gd name="T1" fmla="*/ 49 h 49"/>
              <a:gd name="T2" fmla="*/ 27 w 47"/>
              <a:gd name="T3" fmla="*/ 49 h 49"/>
              <a:gd name="T4" fmla="*/ 32 w 47"/>
              <a:gd name="T5" fmla="*/ 49 h 49"/>
              <a:gd name="T6" fmla="*/ 35 w 47"/>
              <a:gd name="T7" fmla="*/ 46 h 49"/>
              <a:gd name="T8" fmla="*/ 38 w 47"/>
              <a:gd name="T9" fmla="*/ 46 h 49"/>
              <a:gd name="T10" fmla="*/ 41 w 47"/>
              <a:gd name="T11" fmla="*/ 43 h 49"/>
              <a:gd name="T12" fmla="*/ 44 w 47"/>
              <a:gd name="T13" fmla="*/ 41 h 49"/>
              <a:gd name="T14" fmla="*/ 47 w 47"/>
              <a:gd name="T15" fmla="*/ 38 h 49"/>
              <a:gd name="T16" fmla="*/ 47 w 47"/>
              <a:gd name="T17" fmla="*/ 32 h 49"/>
              <a:gd name="T18" fmla="*/ 47 w 47"/>
              <a:gd name="T19" fmla="*/ 29 h 49"/>
              <a:gd name="T20" fmla="*/ 47 w 47"/>
              <a:gd name="T21" fmla="*/ 26 h 49"/>
              <a:gd name="T22" fmla="*/ 47 w 47"/>
              <a:gd name="T23" fmla="*/ 21 h 49"/>
              <a:gd name="T24" fmla="*/ 47 w 47"/>
              <a:gd name="T25" fmla="*/ 18 h 49"/>
              <a:gd name="T26" fmla="*/ 47 w 47"/>
              <a:gd name="T27" fmla="*/ 15 h 49"/>
              <a:gd name="T28" fmla="*/ 44 w 47"/>
              <a:gd name="T29" fmla="*/ 12 h 49"/>
              <a:gd name="T30" fmla="*/ 41 w 47"/>
              <a:gd name="T31" fmla="*/ 9 h 49"/>
              <a:gd name="T32" fmla="*/ 38 w 47"/>
              <a:gd name="T33" fmla="*/ 6 h 49"/>
              <a:gd name="T34" fmla="*/ 35 w 47"/>
              <a:gd name="T35" fmla="*/ 3 h 49"/>
              <a:gd name="T36" fmla="*/ 32 w 47"/>
              <a:gd name="T37" fmla="*/ 3 h 49"/>
              <a:gd name="T38" fmla="*/ 27 w 47"/>
              <a:gd name="T39" fmla="*/ 3 h 49"/>
              <a:gd name="T40" fmla="*/ 24 w 47"/>
              <a:gd name="T41" fmla="*/ 0 h 49"/>
              <a:gd name="T42" fmla="*/ 21 w 47"/>
              <a:gd name="T43" fmla="*/ 3 h 49"/>
              <a:gd name="T44" fmla="*/ 18 w 47"/>
              <a:gd name="T45" fmla="*/ 3 h 49"/>
              <a:gd name="T46" fmla="*/ 12 w 47"/>
              <a:gd name="T47" fmla="*/ 3 h 49"/>
              <a:gd name="T48" fmla="*/ 9 w 47"/>
              <a:gd name="T49" fmla="*/ 6 h 49"/>
              <a:gd name="T50" fmla="*/ 6 w 47"/>
              <a:gd name="T51" fmla="*/ 9 h 49"/>
              <a:gd name="T52" fmla="*/ 3 w 47"/>
              <a:gd name="T53" fmla="*/ 12 h 49"/>
              <a:gd name="T54" fmla="*/ 3 w 47"/>
              <a:gd name="T55" fmla="*/ 15 h 49"/>
              <a:gd name="T56" fmla="*/ 0 w 47"/>
              <a:gd name="T57" fmla="*/ 18 h 49"/>
              <a:gd name="T58" fmla="*/ 0 w 47"/>
              <a:gd name="T59" fmla="*/ 21 h 49"/>
              <a:gd name="T60" fmla="*/ 0 w 47"/>
              <a:gd name="T61" fmla="*/ 26 h 49"/>
              <a:gd name="T62" fmla="*/ 0 w 47"/>
              <a:gd name="T63" fmla="*/ 29 h 49"/>
              <a:gd name="T64" fmla="*/ 0 w 47"/>
              <a:gd name="T65" fmla="*/ 32 h 49"/>
              <a:gd name="T66" fmla="*/ 3 w 47"/>
              <a:gd name="T67" fmla="*/ 38 h 49"/>
              <a:gd name="T68" fmla="*/ 3 w 47"/>
              <a:gd name="T69" fmla="*/ 41 h 49"/>
              <a:gd name="T70" fmla="*/ 6 w 47"/>
              <a:gd name="T71" fmla="*/ 43 h 49"/>
              <a:gd name="T72" fmla="*/ 9 w 47"/>
              <a:gd name="T73" fmla="*/ 46 h 49"/>
              <a:gd name="T74" fmla="*/ 12 w 47"/>
              <a:gd name="T75" fmla="*/ 46 h 49"/>
              <a:gd name="T76" fmla="*/ 18 w 47"/>
              <a:gd name="T77" fmla="*/ 49 h 49"/>
              <a:gd name="T78" fmla="*/ 21 w 47"/>
              <a:gd name="T79" fmla="*/ 49 h 49"/>
              <a:gd name="T80" fmla="*/ 24 w 47"/>
              <a:gd name="T81" fmla="*/ 49 h 49"/>
              <a:gd name="T82" fmla="*/ 24 w 47"/>
              <a:gd name="T83" fmla="*/ 49 h 49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7"/>
              <a:gd name="T127" fmla="*/ 0 h 49"/>
              <a:gd name="T128" fmla="*/ 47 w 47"/>
              <a:gd name="T129" fmla="*/ 49 h 49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7" h="49">
                <a:moveTo>
                  <a:pt x="24" y="49"/>
                </a:moveTo>
                <a:lnTo>
                  <a:pt x="27" y="49"/>
                </a:lnTo>
                <a:lnTo>
                  <a:pt x="32" y="49"/>
                </a:lnTo>
                <a:lnTo>
                  <a:pt x="35" y="46"/>
                </a:lnTo>
                <a:lnTo>
                  <a:pt x="38" y="46"/>
                </a:lnTo>
                <a:lnTo>
                  <a:pt x="41" y="43"/>
                </a:lnTo>
                <a:lnTo>
                  <a:pt x="44" y="41"/>
                </a:lnTo>
                <a:lnTo>
                  <a:pt x="47" y="38"/>
                </a:lnTo>
                <a:lnTo>
                  <a:pt x="47" y="32"/>
                </a:lnTo>
                <a:lnTo>
                  <a:pt x="47" y="29"/>
                </a:lnTo>
                <a:lnTo>
                  <a:pt x="47" y="26"/>
                </a:lnTo>
                <a:lnTo>
                  <a:pt x="47" y="21"/>
                </a:lnTo>
                <a:lnTo>
                  <a:pt x="47" y="18"/>
                </a:lnTo>
                <a:lnTo>
                  <a:pt x="47" y="15"/>
                </a:lnTo>
                <a:lnTo>
                  <a:pt x="44" y="12"/>
                </a:lnTo>
                <a:lnTo>
                  <a:pt x="41" y="9"/>
                </a:lnTo>
                <a:lnTo>
                  <a:pt x="38" y="6"/>
                </a:lnTo>
                <a:lnTo>
                  <a:pt x="35" y="3"/>
                </a:lnTo>
                <a:lnTo>
                  <a:pt x="32" y="3"/>
                </a:lnTo>
                <a:lnTo>
                  <a:pt x="27" y="3"/>
                </a:lnTo>
                <a:lnTo>
                  <a:pt x="24" y="0"/>
                </a:lnTo>
                <a:lnTo>
                  <a:pt x="21" y="3"/>
                </a:lnTo>
                <a:lnTo>
                  <a:pt x="18" y="3"/>
                </a:lnTo>
                <a:lnTo>
                  <a:pt x="12" y="3"/>
                </a:lnTo>
                <a:lnTo>
                  <a:pt x="9" y="6"/>
                </a:lnTo>
                <a:lnTo>
                  <a:pt x="6" y="9"/>
                </a:lnTo>
                <a:lnTo>
                  <a:pt x="3" y="12"/>
                </a:lnTo>
                <a:lnTo>
                  <a:pt x="3" y="15"/>
                </a:lnTo>
                <a:lnTo>
                  <a:pt x="0" y="18"/>
                </a:lnTo>
                <a:lnTo>
                  <a:pt x="0" y="21"/>
                </a:lnTo>
                <a:lnTo>
                  <a:pt x="0" y="26"/>
                </a:lnTo>
                <a:lnTo>
                  <a:pt x="0" y="29"/>
                </a:lnTo>
                <a:lnTo>
                  <a:pt x="0" y="32"/>
                </a:lnTo>
                <a:lnTo>
                  <a:pt x="3" y="38"/>
                </a:lnTo>
                <a:lnTo>
                  <a:pt x="3" y="41"/>
                </a:lnTo>
                <a:lnTo>
                  <a:pt x="6" y="43"/>
                </a:lnTo>
                <a:lnTo>
                  <a:pt x="9" y="46"/>
                </a:lnTo>
                <a:lnTo>
                  <a:pt x="12" y="46"/>
                </a:lnTo>
                <a:lnTo>
                  <a:pt x="18" y="49"/>
                </a:lnTo>
                <a:lnTo>
                  <a:pt x="21" y="49"/>
                </a:lnTo>
                <a:lnTo>
                  <a:pt x="24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656" name="Freeform 164"/>
          <p:cNvSpPr>
            <a:spLocks noChangeArrowheads="1"/>
          </p:cNvSpPr>
          <p:nvPr/>
        </p:nvSpPr>
        <p:spPr bwMode="auto">
          <a:xfrm>
            <a:off x="4722813" y="3817069"/>
            <a:ext cx="74612" cy="77788"/>
          </a:xfrm>
          <a:custGeom>
            <a:avLst/>
            <a:gdLst>
              <a:gd name="T0" fmla="*/ 24 w 47"/>
              <a:gd name="T1" fmla="*/ 49 h 49"/>
              <a:gd name="T2" fmla="*/ 27 w 47"/>
              <a:gd name="T3" fmla="*/ 49 h 49"/>
              <a:gd name="T4" fmla="*/ 32 w 47"/>
              <a:gd name="T5" fmla="*/ 49 h 49"/>
              <a:gd name="T6" fmla="*/ 35 w 47"/>
              <a:gd name="T7" fmla="*/ 46 h 49"/>
              <a:gd name="T8" fmla="*/ 38 w 47"/>
              <a:gd name="T9" fmla="*/ 46 h 49"/>
              <a:gd name="T10" fmla="*/ 41 w 47"/>
              <a:gd name="T11" fmla="*/ 43 h 49"/>
              <a:gd name="T12" fmla="*/ 44 w 47"/>
              <a:gd name="T13" fmla="*/ 40 h 49"/>
              <a:gd name="T14" fmla="*/ 47 w 47"/>
              <a:gd name="T15" fmla="*/ 37 h 49"/>
              <a:gd name="T16" fmla="*/ 47 w 47"/>
              <a:gd name="T17" fmla="*/ 32 h 49"/>
              <a:gd name="T18" fmla="*/ 47 w 47"/>
              <a:gd name="T19" fmla="*/ 29 h 49"/>
              <a:gd name="T20" fmla="*/ 47 w 47"/>
              <a:gd name="T21" fmla="*/ 26 h 49"/>
              <a:gd name="T22" fmla="*/ 47 w 47"/>
              <a:gd name="T23" fmla="*/ 20 h 49"/>
              <a:gd name="T24" fmla="*/ 47 w 47"/>
              <a:gd name="T25" fmla="*/ 17 h 49"/>
              <a:gd name="T26" fmla="*/ 47 w 47"/>
              <a:gd name="T27" fmla="*/ 15 h 49"/>
              <a:gd name="T28" fmla="*/ 44 w 47"/>
              <a:gd name="T29" fmla="*/ 12 h 49"/>
              <a:gd name="T30" fmla="*/ 41 w 47"/>
              <a:gd name="T31" fmla="*/ 9 h 49"/>
              <a:gd name="T32" fmla="*/ 38 w 47"/>
              <a:gd name="T33" fmla="*/ 6 h 49"/>
              <a:gd name="T34" fmla="*/ 35 w 47"/>
              <a:gd name="T35" fmla="*/ 3 h 49"/>
              <a:gd name="T36" fmla="*/ 32 w 47"/>
              <a:gd name="T37" fmla="*/ 3 h 49"/>
              <a:gd name="T38" fmla="*/ 27 w 47"/>
              <a:gd name="T39" fmla="*/ 3 h 49"/>
              <a:gd name="T40" fmla="*/ 24 w 47"/>
              <a:gd name="T41" fmla="*/ 0 h 49"/>
              <a:gd name="T42" fmla="*/ 21 w 47"/>
              <a:gd name="T43" fmla="*/ 3 h 49"/>
              <a:gd name="T44" fmla="*/ 18 w 47"/>
              <a:gd name="T45" fmla="*/ 3 h 49"/>
              <a:gd name="T46" fmla="*/ 12 w 47"/>
              <a:gd name="T47" fmla="*/ 3 h 49"/>
              <a:gd name="T48" fmla="*/ 9 w 47"/>
              <a:gd name="T49" fmla="*/ 6 h 49"/>
              <a:gd name="T50" fmla="*/ 6 w 47"/>
              <a:gd name="T51" fmla="*/ 9 h 49"/>
              <a:gd name="T52" fmla="*/ 3 w 47"/>
              <a:gd name="T53" fmla="*/ 12 h 49"/>
              <a:gd name="T54" fmla="*/ 3 w 47"/>
              <a:gd name="T55" fmla="*/ 15 h 49"/>
              <a:gd name="T56" fmla="*/ 0 w 47"/>
              <a:gd name="T57" fmla="*/ 17 h 49"/>
              <a:gd name="T58" fmla="*/ 0 w 47"/>
              <a:gd name="T59" fmla="*/ 20 h 49"/>
              <a:gd name="T60" fmla="*/ 0 w 47"/>
              <a:gd name="T61" fmla="*/ 26 h 49"/>
              <a:gd name="T62" fmla="*/ 0 w 47"/>
              <a:gd name="T63" fmla="*/ 29 h 49"/>
              <a:gd name="T64" fmla="*/ 0 w 47"/>
              <a:gd name="T65" fmla="*/ 32 h 49"/>
              <a:gd name="T66" fmla="*/ 3 w 47"/>
              <a:gd name="T67" fmla="*/ 37 h 49"/>
              <a:gd name="T68" fmla="*/ 3 w 47"/>
              <a:gd name="T69" fmla="*/ 40 h 49"/>
              <a:gd name="T70" fmla="*/ 6 w 47"/>
              <a:gd name="T71" fmla="*/ 43 h 49"/>
              <a:gd name="T72" fmla="*/ 9 w 47"/>
              <a:gd name="T73" fmla="*/ 46 h 49"/>
              <a:gd name="T74" fmla="*/ 12 w 47"/>
              <a:gd name="T75" fmla="*/ 46 h 49"/>
              <a:gd name="T76" fmla="*/ 18 w 47"/>
              <a:gd name="T77" fmla="*/ 49 h 49"/>
              <a:gd name="T78" fmla="*/ 21 w 47"/>
              <a:gd name="T79" fmla="*/ 49 h 49"/>
              <a:gd name="T80" fmla="*/ 24 w 47"/>
              <a:gd name="T81" fmla="*/ 49 h 49"/>
              <a:gd name="T82" fmla="*/ 24 w 47"/>
              <a:gd name="T83" fmla="*/ 49 h 49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47"/>
              <a:gd name="T127" fmla="*/ 0 h 49"/>
              <a:gd name="T128" fmla="*/ 47 w 47"/>
              <a:gd name="T129" fmla="*/ 49 h 49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47" h="49">
                <a:moveTo>
                  <a:pt x="24" y="49"/>
                </a:moveTo>
                <a:lnTo>
                  <a:pt x="27" y="49"/>
                </a:lnTo>
                <a:lnTo>
                  <a:pt x="32" y="49"/>
                </a:lnTo>
                <a:lnTo>
                  <a:pt x="35" y="46"/>
                </a:lnTo>
                <a:lnTo>
                  <a:pt x="38" y="46"/>
                </a:lnTo>
                <a:lnTo>
                  <a:pt x="41" y="43"/>
                </a:lnTo>
                <a:lnTo>
                  <a:pt x="44" y="40"/>
                </a:lnTo>
                <a:lnTo>
                  <a:pt x="47" y="37"/>
                </a:lnTo>
                <a:lnTo>
                  <a:pt x="47" y="32"/>
                </a:lnTo>
                <a:lnTo>
                  <a:pt x="47" y="29"/>
                </a:lnTo>
                <a:lnTo>
                  <a:pt x="47" y="26"/>
                </a:lnTo>
                <a:lnTo>
                  <a:pt x="47" y="20"/>
                </a:lnTo>
                <a:lnTo>
                  <a:pt x="47" y="17"/>
                </a:lnTo>
                <a:lnTo>
                  <a:pt x="47" y="15"/>
                </a:lnTo>
                <a:lnTo>
                  <a:pt x="44" y="12"/>
                </a:lnTo>
                <a:lnTo>
                  <a:pt x="41" y="9"/>
                </a:lnTo>
                <a:lnTo>
                  <a:pt x="38" y="6"/>
                </a:lnTo>
                <a:lnTo>
                  <a:pt x="35" y="3"/>
                </a:lnTo>
                <a:lnTo>
                  <a:pt x="32" y="3"/>
                </a:lnTo>
                <a:lnTo>
                  <a:pt x="27" y="3"/>
                </a:lnTo>
                <a:lnTo>
                  <a:pt x="24" y="0"/>
                </a:lnTo>
                <a:lnTo>
                  <a:pt x="21" y="3"/>
                </a:lnTo>
                <a:lnTo>
                  <a:pt x="18" y="3"/>
                </a:lnTo>
                <a:lnTo>
                  <a:pt x="12" y="3"/>
                </a:lnTo>
                <a:lnTo>
                  <a:pt x="9" y="6"/>
                </a:lnTo>
                <a:lnTo>
                  <a:pt x="6" y="9"/>
                </a:lnTo>
                <a:lnTo>
                  <a:pt x="3" y="12"/>
                </a:lnTo>
                <a:lnTo>
                  <a:pt x="3" y="15"/>
                </a:lnTo>
                <a:lnTo>
                  <a:pt x="0" y="17"/>
                </a:lnTo>
                <a:lnTo>
                  <a:pt x="0" y="20"/>
                </a:lnTo>
                <a:lnTo>
                  <a:pt x="0" y="26"/>
                </a:lnTo>
                <a:lnTo>
                  <a:pt x="0" y="29"/>
                </a:lnTo>
                <a:lnTo>
                  <a:pt x="0" y="32"/>
                </a:lnTo>
                <a:lnTo>
                  <a:pt x="3" y="37"/>
                </a:lnTo>
                <a:lnTo>
                  <a:pt x="3" y="40"/>
                </a:lnTo>
                <a:lnTo>
                  <a:pt x="6" y="43"/>
                </a:lnTo>
                <a:lnTo>
                  <a:pt x="9" y="46"/>
                </a:lnTo>
                <a:lnTo>
                  <a:pt x="12" y="46"/>
                </a:lnTo>
                <a:lnTo>
                  <a:pt x="18" y="49"/>
                </a:lnTo>
                <a:lnTo>
                  <a:pt x="21" y="49"/>
                </a:lnTo>
                <a:lnTo>
                  <a:pt x="24" y="49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657" name="Line 165"/>
          <p:cNvSpPr>
            <a:spLocks noChangeShapeType="1"/>
          </p:cNvSpPr>
          <p:nvPr/>
        </p:nvSpPr>
        <p:spPr bwMode="auto">
          <a:xfrm flipH="1">
            <a:off x="7902575" y="3007444"/>
            <a:ext cx="165100" cy="1588"/>
          </a:xfrm>
          <a:prstGeom prst="line">
            <a:avLst/>
          </a:prstGeom>
          <a:noFill/>
          <a:ln w="316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658" name="Freeform 166"/>
          <p:cNvSpPr>
            <a:spLocks noChangeArrowheads="1"/>
          </p:cNvSpPr>
          <p:nvPr/>
        </p:nvSpPr>
        <p:spPr bwMode="auto">
          <a:xfrm>
            <a:off x="6843713" y="3007445"/>
            <a:ext cx="519112" cy="2911475"/>
          </a:xfrm>
          <a:custGeom>
            <a:avLst/>
            <a:gdLst>
              <a:gd name="T0" fmla="*/ 327 w 327"/>
              <a:gd name="T1" fmla="*/ 0 h 1834"/>
              <a:gd name="T2" fmla="*/ 254 w 327"/>
              <a:gd name="T3" fmla="*/ 0 h 1834"/>
              <a:gd name="T4" fmla="*/ 254 w 327"/>
              <a:gd name="T5" fmla="*/ 1834 h 1834"/>
              <a:gd name="T6" fmla="*/ 0 w 327"/>
              <a:gd name="T7" fmla="*/ 1834 h 1834"/>
              <a:gd name="T8" fmla="*/ 0 60000 65536"/>
              <a:gd name="T9" fmla="*/ 0 60000 65536"/>
              <a:gd name="T10" fmla="*/ 0 60000 65536"/>
              <a:gd name="T11" fmla="*/ 0 60000 65536"/>
              <a:gd name="T12" fmla="*/ 0 w 327"/>
              <a:gd name="T13" fmla="*/ 0 h 1834"/>
              <a:gd name="T14" fmla="*/ 327 w 327"/>
              <a:gd name="T15" fmla="*/ 1834 h 183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327" h="1834">
                <a:moveTo>
                  <a:pt x="327" y="0"/>
                </a:moveTo>
                <a:lnTo>
                  <a:pt x="254" y="0"/>
                </a:lnTo>
                <a:lnTo>
                  <a:pt x="254" y="1834"/>
                </a:lnTo>
                <a:lnTo>
                  <a:pt x="0" y="1834"/>
                </a:lnTo>
              </a:path>
            </a:pathLst>
          </a:custGeom>
          <a:noFill/>
          <a:ln w="316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659" name="Freeform 167"/>
          <p:cNvSpPr>
            <a:spLocks noChangeArrowheads="1"/>
          </p:cNvSpPr>
          <p:nvPr/>
        </p:nvSpPr>
        <p:spPr bwMode="auto">
          <a:xfrm>
            <a:off x="7339014" y="2966169"/>
            <a:ext cx="79375" cy="77788"/>
          </a:xfrm>
          <a:custGeom>
            <a:avLst/>
            <a:gdLst>
              <a:gd name="T0" fmla="*/ 0 w 50"/>
              <a:gd name="T1" fmla="*/ 0 h 49"/>
              <a:gd name="T2" fmla="*/ 0 w 50"/>
              <a:gd name="T3" fmla="*/ 49 h 49"/>
              <a:gd name="T4" fmla="*/ 50 w 50"/>
              <a:gd name="T5" fmla="*/ 26 h 49"/>
              <a:gd name="T6" fmla="*/ 0 w 50"/>
              <a:gd name="T7" fmla="*/ 3 h 49"/>
              <a:gd name="T8" fmla="*/ 0 w 50"/>
              <a:gd name="T9" fmla="*/ 3 h 49"/>
              <a:gd name="T10" fmla="*/ 0 w 50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0"/>
              <a:gd name="T19" fmla="*/ 0 h 49"/>
              <a:gd name="T20" fmla="*/ 50 w 50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0" h="49">
                <a:moveTo>
                  <a:pt x="0" y="0"/>
                </a:moveTo>
                <a:lnTo>
                  <a:pt x="0" y="49"/>
                </a:lnTo>
                <a:lnTo>
                  <a:pt x="50" y="26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660" name="Line 168"/>
          <p:cNvSpPr>
            <a:spLocks noChangeShapeType="1"/>
          </p:cNvSpPr>
          <p:nvPr/>
        </p:nvSpPr>
        <p:spPr bwMode="auto">
          <a:xfrm flipV="1">
            <a:off x="6126163" y="5217244"/>
            <a:ext cx="4762" cy="222250"/>
          </a:xfrm>
          <a:prstGeom prst="line">
            <a:avLst/>
          </a:prstGeom>
          <a:noFill/>
          <a:ln w="14400">
            <a:solidFill>
              <a:srgbClr val="EB75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661" name="Rectangle 169"/>
          <p:cNvSpPr>
            <a:spLocks noChangeArrowheads="1"/>
          </p:cNvSpPr>
          <p:nvPr/>
        </p:nvSpPr>
        <p:spPr bwMode="auto">
          <a:xfrm>
            <a:off x="5483225" y="5255344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662" name="Rectangle 170"/>
          <p:cNvSpPr>
            <a:spLocks noChangeArrowheads="1"/>
          </p:cNvSpPr>
          <p:nvPr/>
        </p:nvSpPr>
        <p:spPr bwMode="auto">
          <a:xfrm>
            <a:off x="5592763" y="525534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663" name="Rectangle 171"/>
          <p:cNvSpPr>
            <a:spLocks noChangeArrowheads="1"/>
          </p:cNvSpPr>
          <p:nvPr/>
        </p:nvSpPr>
        <p:spPr bwMode="auto">
          <a:xfrm>
            <a:off x="5681663" y="525534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63664" name="Rectangle 172"/>
          <p:cNvSpPr>
            <a:spLocks noChangeArrowheads="1"/>
          </p:cNvSpPr>
          <p:nvPr/>
        </p:nvSpPr>
        <p:spPr bwMode="auto">
          <a:xfrm>
            <a:off x="5761038" y="5255344"/>
            <a:ext cx="14587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63665" name="Rectangle 173"/>
          <p:cNvSpPr>
            <a:spLocks noChangeArrowheads="1"/>
          </p:cNvSpPr>
          <p:nvPr/>
        </p:nvSpPr>
        <p:spPr bwMode="auto">
          <a:xfrm>
            <a:off x="5913438" y="5255344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666" name="Rectangle 174"/>
          <p:cNvSpPr>
            <a:spLocks noChangeArrowheads="1"/>
          </p:cNvSpPr>
          <p:nvPr/>
        </p:nvSpPr>
        <p:spPr bwMode="auto">
          <a:xfrm>
            <a:off x="5964238" y="5255344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3667" name="Rectangle 175"/>
          <p:cNvSpPr>
            <a:spLocks noChangeArrowheads="1"/>
          </p:cNvSpPr>
          <p:nvPr/>
        </p:nvSpPr>
        <p:spPr bwMode="auto">
          <a:xfrm>
            <a:off x="5995988" y="5255344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668" name="Rectangle 176"/>
          <p:cNvSpPr>
            <a:spLocks noChangeArrowheads="1"/>
          </p:cNvSpPr>
          <p:nvPr/>
        </p:nvSpPr>
        <p:spPr bwMode="auto">
          <a:xfrm>
            <a:off x="6042025" y="525534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669" name="Line 177"/>
          <p:cNvSpPr>
            <a:spLocks noChangeShapeType="1"/>
          </p:cNvSpPr>
          <p:nvPr/>
        </p:nvSpPr>
        <p:spPr bwMode="auto">
          <a:xfrm flipV="1">
            <a:off x="8561388" y="3401145"/>
            <a:ext cx="4762" cy="358775"/>
          </a:xfrm>
          <a:prstGeom prst="line">
            <a:avLst/>
          </a:prstGeom>
          <a:noFill/>
          <a:ln w="36360">
            <a:solidFill>
              <a:srgbClr val="EB75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670" name="Line 178"/>
          <p:cNvSpPr>
            <a:spLocks noChangeShapeType="1"/>
          </p:cNvSpPr>
          <p:nvPr/>
        </p:nvSpPr>
        <p:spPr bwMode="auto">
          <a:xfrm flipH="1" flipV="1">
            <a:off x="8509001" y="3469408"/>
            <a:ext cx="119063" cy="200025"/>
          </a:xfrm>
          <a:prstGeom prst="line">
            <a:avLst/>
          </a:prstGeom>
          <a:noFill/>
          <a:ln w="19080">
            <a:solidFill>
              <a:srgbClr val="EB75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671" name="Freeform 179"/>
          <p:cNvSpPr>
            <a:spLocks noChangeArrowheads="1"/>
          </p:cNvSpPr>
          <p:nvPr/>
        </p:nvSpPr>
        <p:spPr bwMode="auto">
          <a:xfrm>
            <a:off x="9366251" y="4272683"/>
            <a:ext cx="79375" cy="77787"/>
          </a:xfrm>
          <a:custGeom>
            <a:avLst/>
            <a:gdLst>
              <a:gd name="T0" fmla="*/ 0 w 50"/>
              <a:gd name="T1" fmla="*/ 0 h 49"/>
              <a:gd name="T2" fmla="*/ 0 w 50"/>
              <a:gd name="T3" fmla="*/ 49 h 49"/>
              <a:gd name="T4" fmla="*/ 50 w 50"/>
              <a:gd name="T5" fmla="*/ 26 h 49"/>
              <a:gd name="T6" fmla="*/ 0 w 50"/>
              <a:gd name="T7" fmla="*/ 0 h 49"/>
              <a:gd name="T8" fmla="*/ 0 w 50"/>
              <a:gd name="T9" fmla="*/ 0 h 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50"/>
              <a:gd name="T16" fmla="*/ 0 h 49"/>
              <a:gd name="T17" fmla="*/ 50 w 50"/>
              <a:gd name="T18" fmla="*/ 49 h 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50" h="49">
                <a:moveTo>
                  <a:pt x="0" y="0"/>
                </a:moveTo>
                <a:lnTo>
                  <a:pt x="0" y="49"/>
                </a:lnTo>
                <a:lnTo>
                  <a:pt x="50" y="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672" name="Line 180"/>
          <p:cNvSpPr>
            <a:spLocks noChangeShapeType="1"/>
          </p:cNvSpPr>
          <p:nvPr/>
        </p:nvSpPr>
        <p:spPr bwMode="auto">
          <a:xfrm>
            <a:off x="9093201" y="4309195"/>
            <a:ext cx="296863" cy="4763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673" name="Freeform 181"/>
          <p:cNvSpPr>
            <a:spLocks noChangeArrowheads="1"/>
          </p:cNvSpPr>
          <p:nvPr/>
        </p:nvSpPr>
        <p:spPr bwMode="auto">
          <a:xfrm>
            <a:off x="8131175" y="3548782"/>
            <a:ext cx="966788" cy="1528762"/>
          </a:xfrm>
          <a:custGeom>
            <a:avLst/>
            <a:gdLst>
              <a:gd name="T0" fmla="*/ 0 w 609"/>
              <a:gd name="T1" fmla="*/ 0 h 963"/>
              <a:gd name="T2" fmla="*/ 3 w 609"/>
              <a:gd name="T3" fmla="*/ 390 h 963"/>
              <a:gd name="T4" fmla="*/ 102 w 609"/>
              <a:gd name="T5" fmla="*/ 482 h 963"/>
              <a:gd name="T6" fmla="*/ 3 w 609"/>
              <a:gd name="T7" fmla="*/ 573 h 963"/>
              <a:gd name="T8" fmla="*/ 3 w 609"/>
              <a:gd name="T9" fmla="*/ 963 h 963"/>
              <a:gd name="T10" fmla="*/ 609 w 609"/>
              <a:gd name="T11" fmla="*/ 668 h 963"/>
              <a:gd name="T12" fmla="*/ 609 w 609"/>
              <a:gd name="T13" fmla="*/ 295 h 963"/>
              <a:gd name="T14" fmla="*/ 3 w 609"/>
              <a:gd name="T15" fmla="*/ 0 h 963"/>
              <a:gd name="T16" fmla="*/ 3 w 609"/>
              <a:gd name="T17" fmla="*/ 0 h 963"/>
              <a:gd name="T18" fmla="*/ 0 w 609"/>
              <a:gd name="T19" fmla="*/ 0 h 96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609"/>
              <a:gd name="T31" fmla="*/ 0 h 963"/>
              <a:gd name="T32" fmla="*/ 609 w 609"/>
              <a:gd name="T33" fmla="*/ 963 h 963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609" h="963">
                <a:moveTo>
                  <a:pt x="0" y="0"/>
                </a:moveTo>
                <a:lnTo>
                  <a:pt x="3" y="390"/>
                </a:lnTo>
                <a:lnTo>
                  <a:pt x="102" y="482"/>
                </a:lnTo>
                <a:lnTo>
                  <a:pt x="3" y="573"/>
                </a:lnTo>
                <a:lnTo>
                  <a:pt x="3" y="963"/>
                </a:lnTo>
                <a:lnTo>
                  <a:pt x="609" y="668"/>
                </a:lnTo>
                <a:lnTo>
                  <a:pt x="609" y="295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686" name="Freeform 182"/>
          <p:cNvSpPr>
            <a:spLocks noChangeArrowheads="1"/>
          </p:cNvSpPr>
          <p:nvPr/>
        </p:nvSpPr>
        <p:spPr bwMode="auto">
          <a:xfrm>
            <a:off x="8131175" y="3548782"/>
            <a:ext cx="966788" cy="1528762"/>
          </a:xfrm>
          <a:custGeom>
            <a:avLst/>
            <a:gdLst>
              <a:gd name="T0" fmla="*/ 0 w 609"/>
              <a:gd name="T1" fmla="*/ 0 h 963"/>
              <a:gd name="T2" fmla="*/ 3 w 609"/>
              <a:gd name="T3" fmla="*/ 390 h 963"/>
              <a:gd name="T4" fmla="*/ 102 w 609"/>
              <a:gd name="T5" fmla="*/ 482 h 963"/>
              <a:gd name="T6" fmla="*/ 3 w 609"/>
              <a:gd name="T7" fmla="*/ 573 h 963"/>
              <a:gd name="T8" fmla="*/ 3 w 609"/>
              <a:gd name="T9" fmla="*/ 963 h 963"/>
              <a:gd name="T10" fmla="*/ 609 w 609"/>
              <a:gd name="T11" fmla="*/ 668 h 963"/>
              <a:gd name="T12" fmla="*/ 609 w 609"/>
              <a:gd name="T13" fmla="*/ 295 h 963"/>
              <a:gd name="T14" fmla="*/ 3 w 609"/>
              <a:gd name="T15" fmla="*/ 0 h 963"/>
              <a:gd name="T16" fmla="*/ 3 w 609"/>
              <a:gd name="T17" fmla="*/ 0 h 96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609"/>
              <a:gd name="T28" fmla="*/ 0 h 963"/>
              <a:gd name="T29" fmla="*/ 609 w 609"/>
              <a:gd name="T30" fmla="*/ 963 h 96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609" h="963">
                <a:moveTo>
                  <a:pt x="0" y="0"/>
                </a:moveTo>
                <a:lnTo>
                  <a:pt x="3" y="390"/>
                </a:lnTo>
                <a:lnTo>
                  <a:pt x="102" y="482"/>
                </a:lnTo>
                <a:lnTo>
                  <a:pt x="3" y="573"/>
                </a:lnTo>
                <a:lnTo>
                  <a:pt x="3" y="963"/>
                </a:lnTo>
                <a:lnTo>
                  <a:pt x="609" y="668"/>
                </a:lnTo>
                <a:lnTo>
                  <a:pt x="609" y="295"/>
                </a:lnTo>
                <a:lnTo>
                  <a:pt x="3" y="0"/>
                </a:lnTo>
              </a:path>
            </a:pathLst>
          </a:custGeom>
          <a:noFill/>
          <a:ln w="19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" name="Group 183"/>
          <p:cNvGrpSpPr>
            <a:grpSpLocks/>
          </p:cNvGrpSpPr>
          <p:nvPr/>
        </p:nvGrpSpPr>
        <p:grpSpPr bwMode="auto">
          <a:xfrm>
            <a:off x="8686801" y="4150444"/>
            <a:ext cx="352425" cy="242888"/>
            <a:chOff x="4512" y="2448"/>
            <a:chExt cx="222" cy="153"/>
          </a:xfrm>
        </p:grpSpPr>
        <p:sp>
          <p:nvSpPr>
            <p:cNvPr id="21688" name="Rectangle 184"/>
            <p:cNvSpPr>
              <a:spLocks noChangeArrowheads="1"/>
            </p:cNvSpPr>
            <p:nvPr/>
          </p:nvSpPr>
          <p:spPr bwMode="auto">
            <a:xfrm>
              <a:off x="4512" y="2448"/>
              <a:ext cx="78" cy="15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altLang="zh-TW" sz="1600" b="1">
                  <a:solidFill>
                    <a:srgbClr val="CD333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charset="0"/>
                  <a:ea typeface="新細明體" charset="-120"/>
                  <a:cs typeface="新細明體" charset="-120"/>
                </a:rPr>
                <a:t>Z</a:t>
              </a:r>
            </a:p>
          </p:txBody>
        </p:sp>
        <p:sp>
          <p:nvSpPr>
            <p:cNvPr id="21689" name="Rectangle 185"/>
            <p:cNvSpPr>
              <a:spLocks noChangeArrowheads="1"/>
            </p:cNvSpPr>
            <p:nvPr/>
          </p:nvSpPr>
          <p:spPr bwMode="auto">
            <a:xfrm>
              <a:off x="4573" y="2448"/>
              <a:ext cx="72" cy="15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altLang="zh-TW" sz="1600" b="1">
                  <a:solidFill>
                    <a:srgbClr val="CD333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charset="0"/>
                  <a:ea typeface="新細明體" charset="-120"/>
                  <a:cs typeface="新細明體" charset="-120"/>
                </a:rPr>
                <a:t>e</a:t>
              </a:r>
            </a:p>
          </p:txBody>
        </p:sp>
        <p:sp>
          <p:nvSpPr>
            <p:cNvPr id="21690" name="Rectangle 186"/>
            <p:cNvSpPr>
              <a:spLocks noChangeArrowheads="1"/>
            </p:cNvSpPr>
            <p:nvPr/>
          </p:nvSpPr>
          <p:spPr bwMode="auto">
            <a:xfrm>
              <a:off x="4625" y="2448"/>
              <a:ext cx="51" cy="15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altLang="zh-TW" sz="1600" b="1">
                  <a:solidFill>
                    <a:srgbClr val="CD333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charset="0"/>
                  <a:ea typeface="新細明體" charset="-120"/>
                  <a:cs typeface="新細明體" charset="-120"/>
                </a:rPr>
                <a:t>r</a:t>
              </a:r>
            </a:p>
          </p:txBody>
        </p:sp>
        <p:sp>
          <p:nvSpPr>
            <p:cNvPr id="21691" name="Rectangle 187"/>
            <p:cNvSpPr>
              <a:spLocks noChangeArrowheads="1"/>
            </p:cNvSpPr>
            <p:nvPr/>
          </p:nvSpPr>
          <p:spPr bwMode="auto">
            <a:xfrm>
              <a:off x="4657" y="2448"/>
              <a:ext cx="78" cy="15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altLang="zh-TW" sz="1600" b="1">
                  <a:solidFill>
                    <a:srgbClr val="CD3333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Arial" charset="0"/>
                  <a:ea typeface="新細明體" charset="-120"/>
                  <a:cs typeface="新細明體" charset="-120"/>
                </a:rPr>
                <a:t>o</a:t>
              </a:r>
            </a:p>
          </p:txBody>
        </p:sp>
      </p:grpSp>
      <p:sp>
        <p:nvSpPr>
          <p:cNvPr id="63676" name="Rectangle 188"/>
          <p:cNvSpPr>
            <a:spLocks noChangeArrowheads="1"/>
          </p:cNvSpPr>
          <p:nvPr/>
        </p:nvSpPr>
        <p:spPr bwMode="auto">
          <a:xfrm>
            <a:off x="8329613" y="4221882"/>
            <a:ext cx="10259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677" name="Rectangle 189"/>
          <p:cNvSpPr>
            <a:spLocks noChangeArrowheads="1"/>
          </p:cNvSpPr>
          <p:nvPr/>
        </p:nvSpPr>
        <p:spPr bwMode="auto">
          <a:xfrm>
            <a:off x="8429625" y="4221882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3678" name="Rectangle 190"/>
          <p:cNvSpPr>
            <a:spLocks noChangeArrowheads="1"/>
          </p:cNvSpPr>
          <p:nvPr/>
        </p:nvSpPr>
        <p:spPr bwMode="auto">
          <a:xfrm>
            <a:off x="8520113" y="4221882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3679" name="Rectangle 191"/>
          <p:cNvSpPr>
            <a:spLocks noChangeArrowheads="1"/>
          </p:cNvSpPr>
          <p:nvPr/>
        </p:nvSpPr>
        <p:spPr bwMode="auto">
          <a:xfrm>
            <a:off x="9518650" y="4131394"/>
            <a:ext cx="9457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680" name="Rectangle 192"/>
          <p:cNvSpPr>
            <a:spLocks noChangeArrowheads="1"/>
          </p:cNvSpPr>
          <p:nvPr/>
        </p:nvSpPr>
        <p:spPr bwMode="auto">
          <a:xfrm>
            <a:off x="9610725" y="413139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63681" name="Rectangle 193"/>
          <p:cNvSpPr>
            <a:spLocks noChangeArrowheads="1"/>
          </p:cNvSpPr>
          <p:nvPr/>
        </p:nvSpPr>
        <p:spPr bwMode="auto">
          <a:xfrm>
            <a:off x="9699625" y="4131394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2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3682" name="Rectangle 194"/>
          <p:cNvSpPr>
            <a:spLocks noChangeArrowheads="1"/>
          </p:cNvSpPr>
          <p:nvPr/>
        </p:nvSpPr>
        <p:spPr bwMode="auto">
          <a:xfrm>
            <a:off x="9739313" y="413139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b</a:t>
            </a:r>
          </a:p>
        </p:txBody>
      </p:sp>
      <p:sp>
        <p:nvSpPr>
          <p:cNvPr id="63683" name="Rectangle 195"/>
          <p:cNvSpPr>
            <a:spLocks noChangeArrowheads="1"/>
          </p:cNvSpPr>
          <p:nvPr/>
        </p:nvSpPr>
        <p:spPr bwMode="auto">
          <a:xfrm>
            <a:off x="9829800" y="4131394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684" name="Rectangle 196"/>
          <p:cNvSpPr>
            <a:spLocks noChangeArrowheads="1"/>
          </p:cNvSpPr>
          <p:nvPr/>
        </p:nvSpPr>
        <p:spPr bwMode="auto">
          <a:xfrm>
            <a:off x="9879013" y="413139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685" name="Rectangle 197"/>
          <p:cNvSpPr>
            <a:spLocks noChangeArrowheads="1"/>
          </p:cNvSpPr>
          <p:nvPr/>
        </p:nvSpPr>
        <p:spPr bwMode="auto">
          <a:xfrm>
            <a:off x="9963150" y="413139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63686" name="Rectangle 198"/>
          <p:cNvSpPr>
            <a:spLocks noChangeArrowheads="1"/>
          </p:cNvSpPr>
          <p:nvPr/>
        </p:nvSpPr>
        <p:spPr bwMode="auto">
          <a:xfrm>
            <a:off x="10052050" y="4131394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63687" name="Rectangle 199"/>
          <p:cNvSpPr>
            <a:spLocks noChangeArrowheads="1"/>
          </p:cNvSpPr>
          <p:nvPr/>
        </p:nvSpPr>
        <p:spPr bwMode="auto">
          <a:xfrm>
            <a:off x="10129838" y="4131394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h</a:t>
            </a:r>
          </a:p>
        </p:txBody>
      </p:sp>
      <p:sp>
        <p:nvSpPr>
          <p:cNvPr id="63688" name="Rectangle 200"/>
          <p:cNvSpPr>
            <a:spLocks noChangeArrowheads="1"/>
          </p:cNvSpPr>
          <p:nvPr/>
        </p:nvSpPr>
        <p:spPr bwMode="auto">
          <a:xfrm>
            <a:off x="10213975" y="4131394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689" name="Rectangle 201"/>
          <p:cNvSpPr>
            <a:spLocks noChangeArrowheads="1"/>
          </p:cNvSpPr>
          <p:nvPr/>
        </p:nvSpPr>
        <p:spPr bwMode="auto">
          <a:xfrm>
            <a:off x="9518650" y="4312369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63690" name="Rectangle 202"/>
          <p:cNvSpPr>
            <a:spLocks noChangeArrowheads="1"/>
          </p:cNvSpPr>
          <p:nvPr/>
        </p:nvSpPr>
        <p:spPr bwMode="auto">
          <a:xfrm>
            <a:off x="9598025" y="43123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63691" name="Rectangle 203"/>
          <p:cNvSpPr>
            <a:spLocks noChangeArrowheads="1"/>
          </p:cNvSpPr>
          <p:nvPr/>
        </p:nvSpPr>
        <p:spPr bwMode="auto">
          <a:xfrm>
            <a:off x="9680575" y="43123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63692" name="Rectangle 204"/>
          <p:cNvSpPr>
            <a:spLocks noChangeArrowheads="1"/>
          </p:cNvSpPr>
          <p:nvPr/>
        </p:nvSpPr>
        <p:spPr bwMode="auto">
          <a:xfrm>
            <a:off x="9769475" y="4312369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693" name="Rectangle 205"/>
          <p:cNvSpPr>
            <a:spLocks noChangeArrowheads="1"/>
          </p:cNvSpPr>
          <p:nvPr/>
        </p:nvSpPr>
        <p:spPr bwMode="auto">
          <a:xfrm>
            <a:off x="9810750" y="4312369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694" name="Rectangle 206"/>
          <p:cNvSpPr>
            <a:spLocks noChangeArrowheads="1"/>
          </p:cNvSpPr>
          <p:nvPr/>
        </p:nvSpPr>
        <p:spPr bwMode="auto">
          <a:xfrm>
            <a:off x="9861550" y="43123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63695" name="Rectangle 207"/>
          <p:cNvSpPr>
            <a:spLocks noChangeArrowheads="1"/>
          </p:cNvSpPr>
          <p:nvPr/>
        </p:nvSpPr>
        <p:spPr bwMode="auto">
          <a:xfrm>
            <a:off x="9950450" y="4312369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3696" name="Rectangle 208"/>
          <p:cNvSpPr>
            <a:spLocks noChangeArrowheads="1"/>
          </p:cNvSpPr>
          <p:nvPr/>
        </p:nvSpPr>
        <p:spPr bwMode="auto">
          <a:xfrm>
            <a:off x="9982200" y="4312369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2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3697" name="Rectangle 209"/>
          <p:cNvSpPr>
            <a:spLocks noChangeArrowheads="1"/>
          </p:cNvSpPr>
          <p:nvPr/>
        </p:nvSpPr>
        <p:spPr bwMode="auto">
          <a:xfrm>
            <a:off x="10023475" y="4312369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3698" name="Rectangle 210"/>
          <p:cNvSpPr>
            <a:spLocks noChangeArrowheads="1"/>
          </p:cNvSpPr>
          <p:nvPr/>
        </p:nvSpPr>
        <p:spPr bwMode="auto">
          <a:xfrm>
            <a:off x="10059988" y="43123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63699" name="Rectangle 211"/>
          <p:cNvSpPr>
            <a:spLocks noChangeArrowheads="1"/>
          </p:cNvSpPr>
          <p:nvPr/>
        </p:nvSpPr>
        <p:spPr bwMode="auto">
          <a:xfrm>
            <a:off x="10144125" y="43123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63700" name="Rectangle 212"/>
          <p:cNvSpPr>
            <a:spLocks noChangeArrowheads="1"/>
          </p:cNvSpPr>
          <p:nvPr/>
        </p:nvSpPr>
        <p:spPr bwMode="auto">
          <a:xfrm>
            <a:off x="10233025" y="4312369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3701" name="Rectangle 213"/>
          <p:cNvSpPr>
            <a:spLocks noChangeArrowheads="1"/>
          </p:cNvSpPr>
          <p:nvPr/>
        </p:nvSpPr>
        <p:spPr bwMode="auto">
          <a:xfrm>
            <a:off x="10264775" y="4312369"/>
            <a:ext cx="7694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000000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63702" name="Rectangle 214"/>
          <p:cNvSpPr>
            <a:spLocks noChangeArrowheads="1"/>
          </p:cNvSpPr>
          <p:nvPr/>
        </p:nvSpPr>
        <p:spPr bwMode="auto">
          <a:xfrm>
            <a:off x="8653463" y="3348757"/>
            <a:ext cx="10259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703" name="Rectangle 215"/>
          <p:cNvSpPr>
            <a:spLocks noChangeArrowheads="1"/>
          </p:cNvSpPr>
          <p:nvPr/>
        </p:nvSpPr>
        <p:spPr bwMode="auto">
          <a:xfrm>
            <a:off x="8753475" y="3348757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3704" name="Rectangle 216"/>
          <p:cNvSpPr>
            <a:spLocks noChangeArrowheads="1"/>
          </p:cNvSpPr>
          <p:nvPr/>
        </p:nvSpPr>
        <p:spPr bwMode="auto">
          <a:xfrm>
            <a:off x="8843963" y="3348757"/>
            <a:ext cx="11060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3705" name="Rectangle 217"/>
          <p:cNvSpPr>
            <a:spLocks noChangeArrowheads="1"/>
          </p:cNvSpPr>
          <p:nvPr/>
        </p:nvSpPr>
        <p:spPr bwMode="auto">
          <a:xfrm>
            <a:off x="8955088" y="3348757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200">
                <a:solidFill>
                  <a:srgbClr val="EB75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3706" name="Rectangle 218"/>
          <p:cNvSpPr>
            <a:spLocks noChangeArrowheads="1"/>
          </p:cNvSpPr>
          <p:nvPr/>
        </p:nvSpPr>
        <p:spPr bwMode="auto">
          <a:xfrm>
            <a:off x="8994775" y="3348757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63707" name="Rectangle 219"/>
          <p:cNvSpPr>
            <a:spLocks noChangeArrowheads="1"/>
          </p:cNvSpPr>
          <p:nvPr/>
        </p:nvSpPr>
        <p:spPr bwMode="auto">
          <a:xfrm>
            <a:off x="9078913" y="3348757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p</a:t>
            </a:r>
          </a:p>
        </p:txBody>
      </p:sp>
      <p:sp>
        <p:nvSpPr>
          <p:cNvPr id="63708" name="Rectangle 220"/>
          <p:cNvSpPr>
            <a:spLocks noChangeArrowheads="1"/>
          </p:cNvSpPr>
          <p:nvPr/>
        </p:nvSpPr>
        <p:spPr bwMode="auto">
          <a:xfrm>
            <a:off x="9167813" y="3348757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709" name="Rectangle 221"/>
          <p:cNvSpPr>
            <a:spLocks noChangeArrowheads="1"/>
          </p:cNvSpPr>
          <p:nvPr/>
        </p:nvSpPr>
        <p:spPr bwMode="auto">
          <a:xfrm>
            <a:off x="9250363" y="3348757"/>
            <a:ext cx="512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710" name="Rectangle 222"/>
          <p:cNvSpPr>
            <a:spLocks noChangeArrowheads="1"/>
          </p:cNvSpPr>
          <p:nvPr/>
        </p:nvSpPr>
        <p:spPr bwMode="auto">
          <a:xfrm>
            <a:off x="9304338" y="3348757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3711" name="Rectangle 223"/>
          <p:cNvSpPr>
            <a:spLocks noChangeArrowheads="1"/>
          </p:cNvSpPr>
          <p:nvPr/>
        </p:nvSpPr>
        <p:spPr bwMode="auto">
          <a:xfrm>
            <a:off x="9390063" y="3348757"/>
            <a:ext cx="43282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3712" name="Rectangle 224"/>
          <p:cNvSpPr>
            <a:spLocks noChangeArrowheads="1"/>
          </p:cNvSpPr>
          <p:nvPr/>
        </p:nvSpPr>
        <p:spPr bwMode="auto">
          <a:xfrm>
            <a:off x="9431338" y="3348757"/>
            <a:ext cx="33664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3713" name="Rectangle 225"/>
          <p:cNvSpPr>
            <a:spLocks noChangeArrowheads="1"/>
          </p:cNvSpPr>
          <p:nvPr/>
        </p:nvSpPr>
        <p:spPr bwMode="auto">
          <a:xfrm>
            <a:off x="9466263" y="3348757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63714" name="Rectangle 226"/>
          <p:cNvSpPr>
            <a:spLocks noChangeArrowheads="1"/>
          </p:cNvSpPr>
          <p:nvPr/>
        </p:nvSpPr>
        <p:spPr bwMode="auto">
          <a:xfrm>
            <a:off x="9551988" y="3348757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63715" name="Rectangle 227"/>
          <p:cNvSpPr>
            <a:spLocks noChangeArrowheads="1"/>
          </p:cNvSpPr>
          <p:nvPr/>
        </p:nvSpPr>
        <p:spPr bwMode="auto">
          <a:xfrm>
            <a:off x="8389938" y="3448769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>
                <a:solidFill>
                  <a:srgbClr val="EB7500"/>
                </a:solidFill>
                <a:latin typeface="Arial" charset="0"/>
                <a:ea typeface="新細明體" charset="-120"/>
              </a:rPr>
              <a:t>3</a:t>
            </a:r>
          </a:p>
        </p:txBody>
      </p:sp>
      <p:grpSp>
        <p:nvGrpSpPr>
          <p:cNvPr id="3" name="Group 228"/>
          <p:cNvGrpSpPr>
            <a:grpSpLocks/>
          </p:cNvGrpSpPr>
          <p:nvPr/>
        </p:nvGrpSpPr>
        <p:grpSpPr bwMode="auto">
          <a:xfrm>
            <a:off x="7196139" y="2735983"/>
            <a:ext cx="960437" cy="331787"/>
            <a:chOff x="3573" y="1557"/>
            <a:chExt cx="605" cy="209"/>
          </a:xfrm>
        </p:grpSpPr>
        <p:sp>
          <p:nvSpPr>
            <p:cNvPr id="63751" name="Text Box 229"/>
            <p:cNvSpPr txBox="1">
              <a:spLocks noChangeArrowheads="1"/>
            </p:cNvSpPr>
            <p:nvPr/>
          </p:nvSpPr>
          <p:spPr bwMode="auto">
            <a:xfrm>
              <a:off x="3573" y="1557"/>
              <a:ext cx="186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CD3333"/>
                </a:buClr>
                <a:buFont typeface="Courier New" charset="0"/>
                <a:buNone/>
              </a:pPr>
              <a:r>
                <a:rPr lang="en-GB" altLang="zh-TW" sz="1500" b="1">
                  <a:solidFill>
                    <a:srgbClr val="CD3333"/>
                  </a:solidFill>
                  <a:latin typeface="Courier New" charset="0"/>
                  <a:ea typeface="新細明體" charset="-120"/>
                </a:rPr>
                <a:t>2</a:t>
              </a:r>
            </a:p>
          </p:txBody>
        </p:sp>
        <p:sp>
          <p:nvSpPr>
            <p:cNvPr id="63752" name="Text Box 230"/>
            <p:cNvSpPr txBox="1">
              <a:spLocks noChangeArrowheads="1"/>
            </p:cNvSpPr>
            <p:nvPr/>
          </p:nvSpPr>
          <p:spPr bwMode="auto">
            <a:xfrm>
              <a:off x="3993" y="1564"/>
              <a:ext cx="186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CD3333"/>
                </a:buClr>
                <a:buFont typeface="Courier New" charset="0"/>
                <a:buNone/>
              </a:pPr>
              <a:r>
                <a:rPr lang="en-GB" altLang="zh-TW" sz="1500" b="1">
                  <a:solidFill>
                    <a:srgbClr val="CD3333"/>
                  </a:solidFill>
                  <a:latin typeface="Courier New" charset="0"/>
                  <a:ea typeface="新細明體" charset="-120"/>
                </a:rPr>
                <a:t>8</a:t>
              </a:r>
            </a:p>
          </p:txBody>
        </p:sp>
      </p:grpSp>
      <p:sp>
        <p:nvSpPr>
          <p:cNvPr id="21735" name="Text Box 231"/>
          <p:cNvSpPr txBox="1">
            <a:spLocks noChangeArrowheads="1"/>
          </p:cNvSpPr>
          <p:nvPr/>
        </p:nvSpPr>
        <p:spPr bwMode="auto">
          <a:xfrm>
            <a:off x="9602789" y="2626444"/>
            <a:ext cx="631825" cy="3381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>
                <a:srgbClr val="CD3333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sz="1600" b="1">
                <a:solidFill>
                  <a:srgbClr val="CD3333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Arial" charset="0"/>
                <a:ea typeface="新細明體" charset="-120"/>
                <a:cs typeface="新細明體" charset="-120"/>
              </a:rPr>
              <a:t>1012</a:t>
            </a:r>
          </a:p>
        </p:txBody>
      </p:sp>
      <p:grpSp>
        <p:nvGrpSpPr>
          <p:cNvPr id="4" name="Group 232"/>
          <p:cNvGrpSpPr>
            <a:grpSpLocks/>
          </p:cNvGrpSpPr>
          <p:nvPr/>
        </p:nvGrpSpPr>
        <p:grpSpPr bwMode="auto">
          <a:xfrm>
            <a:off x="4965701" y="3356695"/>
            <a:ext cx="301625" cy="804863"/>
            <a:chOff x="2168" y="1948"/>
            <a:chExt cx="190" cy="507"/>
          </a:xfrm>
        </p:grpSpPr>
        <p:sp>
          <p:nvSpPr>
            <p:cNvPr id="21737" name="Text Box 233"/>
            <p:cNvSpPr txBox="1">
              <a:spLocks noChangeArrowheads="1"/>
            </p:cNvSpPr>
            <p:nvPr/>
          </p:nvSpPr>
          <p:spPr bwMode="auto">
            <a:xfrm>
              <a:off x="2168" y="1948"/>
              <a:ext cx="191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buClr>
                  <a:srgbClr val="3333CC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altLang="zh-TW" sz="1600" b="1" dirty="0">
                  <a:solidFill>
                    <a:srgbClr val="3333CC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ea typeface="新細明體" charset="-120"/>
                  <a:cs typeface="新細明體" charset="-120"/>
                </a:rPr>
                <a:t>8</a:t>
              </a:r>
            </a:p>
          </p:txBody>
        </p:sp>
        <p:sp>
          <p:nvSpPr>
            <p:cNvPr id="21738" name="Text Box 234"/>
            <p:cNvSpPr txBox="1">
              <a:spLocks noChangeArrowheads="1"/>
            </p:cNvSpPr>
            <p:nvPr/>
          </p:nvSpPr>
          <p:spPr bwMode="auto">
            <a:xfrm>
              <a:off x="2168" y="2243"/>
              <a:ext cx="191" cy="21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buClr>
                  <a:srgbClr val="3333CC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/>
              </a:pPr>
              <a:r>
                <a:rPr lang="en-GB" altLang="zh-TW" sz="1600" b="1">
                  <a:solidFill>
                    <a:srgbClr val="3333CC"/>
                  </a:solidFill>
                  <a:effectLst>
                    <a:outerShdw blurRad="38100" dist="38100" dir="2700000" algn="tl">
                      <a:srgbClr val="DDDDDD"/>
                    </a:outerShdw>
                  </a:effectLst>
                  <a:latin typeface="Courier New" charset="0"/>
                  <a:ea typeface="新細明體" charset="-120"/>
                  <a:cs typeface="新細明體" charset="-120"/>
                </a:rPr>
                <a:t>9</a:t>
              </a:r>
            </a:p>
          </p:txBody>
        </p:sp>
      </p:grpSp>
      <p:grpSp>
        <p:nvGrpSpPr>
          <p:cNvPr id="5" name="Group 235"/>
          <p:cNvGrpSpPr>
            <a:grpSpLocks/>
          </p:cNvGrpSpPr>
          <p:nvPr/>
        </p:nvGrpSpPr>
        <p:grpSpPr bwMode="auto">
          <a:xfrm>
            <a:off x="7670800" y="3591645"/>
            <a:ext cx="522288" cy="1222375"/>
            <a:chOff x="3872" y="2096"/>
            <a:chExt cx="329" cy="770"/>
          </a:xfrm>
        </p:grpSpPr>
        <p:sp>
          <p:nvSpPr>
            <p:cNvPr id="63747" name="Text Box 236"/>
            <p:cNvSpPr txBox="1">
              <a:spLocks noChangeArrowheads="1"/>
            </p:cNvSpPr>
            <p:nvPr/>
          </p:nvSpPr>
          <p:spPr bwMode="auto">
            <a:xfrm>
              <a:off x="3872" y="2096"/>
              <a:ext cx="330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CD3333"/>
                </a:buClr>
                <a:buFont typeface="Courier New" charset="0"/>
                <a:buNone/>
              </a:pPr>
              <a:r>
                <a:rPr lang="en-GB" altLang="zh-TW" sz="1500" b="1">
                  <a:solidFill>
                    <a:srgbClr val="CD3333"/>
                  </a:solidFill>
                  <a:latin typeface="Courier New" charset="0"/>
                  <a:ea typeface="新細明體" charset="-120"/>
                </a:rPr>
                <a:t>200</a:t>
              </a:r>
            </a:p>
          </p:txBody>
        </p:sp>
        <p:sp>
          <p:nvSpPr>
            <p:cNvPr id="63748" name="Text Box 237"/>
            <p:cNvSpPr txBox="1">
              <a:spLocks noChangeArrowheads="1"/>
            </p:cNvSpPr>
            <p:nvPr/>
          </p:nvSpPr>
          <p:spPr bwMode="auto">
            <a:xfrm>
              <a:off x="3872" y="2664"/>
              <a:ext cx="330" cy="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CD3333"/>
                </a:buClr>
                <a:buFont typeface="Courier New" charset="0"/>
                <a:buNone/>
              </a:pPr>
              <a:r>
                <a:rPr lang="en-GB" altLang="zh-TW" sz="1500" b="1">
                  <a:solidFill>
                    <a:srgbClr val="CD3333"/>
                  </a:solidFill>
                  <a:latin typeface="Courier New" charset="0"/>
                  <a:ea typeface="新細明體" charset="-120"/>
                </a:rPr>
                <a:t>200</a:t>
              </a:r>
            </a:p>
          </p:txBody>
        </p:sp>
      </p:grpSp>
      <p:sp>
        <p:nvSpPr>
          <p:cNvPr id="21742" name="Text Box 238"/>
          <p:cNvSpPr txBox="1">
            <a:spLocks noChangeArrowheads="1"/>
          </p:cNvSpPr>
          <p:nvPr/>
        </p:nvSpPr>
        <p:spPr bwMode="auto">
          <a:xfrm>
            <a:off x="7561264" y="1797770"/>
            <a:ext cx="638175" cy="3222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buClr>
                <a:srgbClr val="0066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sz="1500" b="1">
                <a:solidFill>
                  <a:srgbClr val="006600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Courier New" charset="0"/>
                <a:ea typeface="新細明體" charset="-120"/>
                <a:cs typeface="新細明體" charset="-120"/>
              </a:rPr>
              <a:t>1004</a:t>
            </a:r>
          </a:p>
        </p:txBody>
      </p:sp>
      <p:grpSp>
        <p:nvGrpSpPr>
          <p:cNvPr id="6" name="Group 239"/>
          <p:cNvGrpSpPr>
            <a:grpSpLocks/>
          </p:cNvGrpSpPr>
          <p:nvPr/>
        </p:nvGrpSpPr>
        <p:grpSpPr bwMode="auto">
          <a:xfrm>
            <a:off x="5058990" y="1700808"/>
            <a:ext cx="388938" cy="979488"/>
            <a:chOff x="2208" y="486"/>
            <a:chExt cx="245" cy="617"/>
          </a:xfrm>
        </p:grpSpPr>
        <p:sp>
          <p:nvSpPr>
            <p:cNvPr id="63744" name="Oval 240"/>
            <p:cNvSpPr>
              <a:spLocks noChangeArrowheads="1"/>
            </p:cNvSpPr>
            <p:nvPr/>
          </p:nvSpPr>
          <p:spPr bwMode="auto">
            <a:xfrm>
              <a:off x="2208" y="864"/>
              <a:ext cx="240" cy="240"/>
            </a:xfrm>
            <a:prstGeom prst="ellipse">
              <a:avLst/>
            </a:prstGeom>
            <a:noFill/>
            <a:ln w="19080">
              <a:solidFill>
                <a:srgbClr val="CD3333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745" name="Oval 241"/>
            <p:cNvSpPr>
              <a:spLocks noChangeArrowheads="1"/>
            </p:cNvSpPr>
            <p:nvPr/>
          </p:nvSpPr>
          <p:spPr bwMode="auto">
            <a:xfrm>
              <a:off x="2208" y="488"/>
              <a:ext cx="240" cy="240"/>
            </a:xfrm>
            <a:prstGeom prst="ellipse">
              <a:avLst/>
            </a:prstGeom>
            <a:noFill/>
            <a:ln w="19080">
              <a:solidFill>
                <a:srgbClr val="CD3333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cxnSp>
          <p:nvCxnSpPr>
            <p:cNvPr id="63746" name="AutoShape 242"/>
            <p:cNvCxnSpPr>
              <a:cxnSpLocks noChangeShapeType="1"/>
              <a:stCxn id="63745" idx="7"/>
              <a:endCxn id="63744" idx="6"/>
            </p:cNvCxnSpPr>
            <p:nvPr/>
          </p:nvCxnSpPr>
          <p:spPr bwMode="auto">
            <a:xfrm>
              <a:off x="2413" y="523"/>
              <a:ext cx="35" cy="461"/>
            </a:xfrm>
            <a:prstGeom prst="curvedConnector3">
              <a:avLst>
                <a:gd name="adj1" fmla="val 50000"/>
              </a:avLst>
            </a:prstGeom>
            <a:noFill/>
            <a:ln w="19080">
              <a:solidFill>
                <a:srgbClr val="CD3333"/>
              </a:solidFill>
              <a:prstDash val="dash"/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3742" name="Text Box 244"/>
          <p:cNvSpPr txBox="1">
            <a:spLocks noChangeArrowheads="1"/>
          </p:cNvSpPr>
          <p:nvPr/>
        </p:nvSpPr>
        <p:spPr bwMode="auto">
          <a:xfrm>
            <a:off x="5105400" y="5598245"/>
            <a:ext cx="10985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buClr>
                <a:srgbClr val="CD3333"/>
              </a:buClr>
              <a:buFont typeface="Courier New" charset="0"/>
              <a:buNone/>
            </a:pPr>
            <a:r>
              <a:rPr lang="en-GB" altLang="zh-TW" sz="1500" b="1" dirty="0">
                <a:solidFill>
                  <a:srgbClr val="CD3333"/>
                </a:solidFill>
                <a:latin typeface="Courier New" charset="0"/>
                <a:ea typeface="新細明體" charset="-120"/>
              </a:rPr>
              <a:t>2</a:t>
            </a:r>
          </a:p>
        </p:txBody>
      </p:sp>
      <p:sp>
        <p:nvSpPr>
          <p:cNvPr id="63743" name="Text Box 245"/>
          <p:cNvSpPr txBox="1">
            <a:spLocks noChangeArrowheads="1"/>
          </p:cNvSpPr>
          <p:nvPr/>
        </p:nvSpPr>
        <p:spPr bwMode="auto">
          <a:xfrm>
            <a:off x="3654426" y="5691908"/>
            <a:ext cx="976313" cy="307975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350"/>
              </a:spcBef>
              <a:buClr>
                <a:srgbClr val="000000"/>
              </a:buClr>
            </a:pPr>
            <a:r>
              <a:rPr lang="en-GB" altLang="zh-TW" sz="1400" dirty="0" err="1">
                <a:solidFill>
                  <a:srgbClr val="FFFFFF"/>
                </a:solidFill>
                <a:latin typeface="Arial" charset="0"/>
                <a:ea typeface="新細明體" charset="-120"/>
              </a:rPr>
              <a:t>instr</a:t>
            </a:r>
            <a:r>
              <a:rPr lang="en-GB" altLang="zh-TW" sz="1400" dirty="0">
                <a:solidFill>
                  <a:srgbClr val="FFFFFF"/>
                </a:solidFill>
                <a:latin typeface="Arial" charset="0"/>
                <a:ea typeface="新細明體" charset="-120"/>
              </a:rPr>
              <a:t>[15-0]</a:t>
            </a:r>
          </a:p>
        </p:txBody>
      </p:sp>
      <p:grpSp>
        <p:nvGrpSpPr>
          <p:cNvPr id="63723" name="Group 246"/>
          <p:cNvGrpSpPr>
            <a:grpSpLocks/>
          </p:cNvGrpSpPr>
          <p:nvPr/>
        </p:nvGrpSpPr>
        <p:grpSpPr bwMode="auto">
          <a:xfrm>
            <a:off x="2057401" y="2855045"/>
            <a:ext cx="1649413" cy="1211263"/>
            <a:chOff x="336" y="1632"/>
            <a:chExt cx="1039" cy="763"/>
          </a:xfrm>
        </p:grpSpPr>
        <p:sp>
          <p:nvSpPr>
            <p:cNvPr id="63726" name="Rectangle 247"/>
            <p:cNvSpPr>
              <a:spLocks noChangeArrowheads="1"/>
            </p:cNvSpPr>
            <p:nvPr/>
          </p:nvSpPr>
          <p:spPr bwMode="auto">
            <a:xfrm>
              <a:off x="870" y="2014"/>
              <a:ext cx="50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CD3333"/>
                  </a:solidFill>
                  <a:latin typeface="Tahoma" charset="0"/>
                  <a:ea typeface="新細明體" charset="-120"/>
                </a:rPr>
                <a:t>200</a:t>
              </a:r>
            </a:p>
          </p:txBody>
        </p:sp>
        <p:sp>
          <p:nvSpPr>
            <p:cNvPr id="63727" name="Rectangle 248"/>
            <p:cNvSpPr>
              <a:spLocks noChangeArrowheads="1"/>
            </p:cNvSpPr>
            <p:nvPr/>
          </p:nvSpPr>
          <p:spPr bwMode="auto">
            <a:xfrm>
              <a:off x="336" y="2014"/>
              <a:ext cx="53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t1</a:t>
              </a:r>
            </a:p>
          </p:txBody>
        </p:sp>
        <p:sp>
          <p:nvSpPr>
            <p:cNvPr id="63728" name="Rectangle 249"/>
            <p:cNvSpPr>
              <a:spLocks noChangeArrowheads="1"/>
            </p:cNvSpPr>
            <p:nvPr/>
          </p:nvSpPr>
          <p:spPr bwMode="auto">
            <a:xfrm>
              <a:off x="870" y="2205"/>
              <a:ext cx="50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006600"/>
                  </a:solidFill>
                  <a:latin typeface="Tahoma" charset="0"/>
                  <a:ea typeface="新細明體" charset="-120"/>
                </a:rPr>
                <a:t>1000</a:t>
              </a:r>
            </a:p>
          </p:txBody>
        </p:sp>
        <p:sp>
          <p:nvSpPr>
            <p:cNvPr id="63729" name="Rectangle 250"/>
            <p:cNvSpPr>
              <a:spLocks noChangeArrowheads="1"/>
            </p:cNvSpPr>
            <p:nvPr/>
          </p:nvSpPr>
          <p:spPr bwMode="auto">
            <a:xfrm>
              <a:off x="336" y="2205"/>
              <a:ext cx="53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PC</a:t>
              </a:r>
            </a:p>
          </p:txBody>
        </p:sp>
        <p:sp>
          <p:nvSpPr>
            <p:cNvPr id="63730" name="Rectangle 251"/>
            <p:cNvSpPr>
              <a:spLocks noChangeArrowheads="1"/>
            </p:cNvSpPr>
            <p:nvPr/>
          </p:nvSpPr>
          <p:spPr bwMode="auto">
            <a:xfrm>
              <a:off x="870" y="1823"/>
              <a:ext cx="50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CD3333"/>
                  </a:solidFill>
                  <a:latin typeface="Tahoma" charset="0"/>
                  <a:ea typeface="新細明體" charset="-120"/>
                </a:rPr>
                <a:t>200</a:t>
              </a:r>
            </a:p>
          </p:txBody>
        </p:sp>
        <p:sp>
          <p:nvSpPr>
            <p:cNvPr id="63731" name="Rectangle 252"/>
            <p:cNvSpPr>
              <a:spLocks noChangeArrowheads="1"/>
            </p:cNvSpPr>
            <p:nvPr/>
          </p:nvSpPr>
          <p:spPr bwMode="auto">
            <a:xfrm>
              <a:off x="336" y="1823"/>
              <a:ext cx="53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t0</a:t>
              </a:r>
            </a:p>
          </p:txBody>
        </p:sp>
        <p:sp>
          <p:nvSpPr>
            <p:cNvPr id="63732" name="Rectangle 253"/>
            <p:cNvSpPr>
              <a:spLocks noChangeArrowheads="1"/>
            </p:cNvSpPr>
            <p:nvPr/>
          </p:nvSpPr>
          <p:spPr bwMode="auto">
            <a:xfrm>
              <a:off x="870" y="1632"/>
              <a:ext cx="506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Value</a:t>
              </a:r>
            </a:p>
          </p:txBody>
        </p:sp>
        <p:sp>
          <p:nvSpPr>
            <p:cNvPr id="63733" name="Rectangle 254"/>
            <p:cNvSpPr>
              <a:spLocks noChangeArrowheads="1"/>
            </p:cNvSpPr>
            <p:nvPr/>
          </p:nvSpPr>
          <p:spPr bwMode="auto">
            <a:xfrm>
              <a:off x="336" y="1632"/>
              <a:ext cx="534" cy="1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/>
            <a:p>
              <a:pPr algn="ctr">
                <a:spcBef>
                  <a:spcPts val="3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Register</a:t>
              </a:r>
            </a:p>
          </p:txBody>
        </p:sp>
        <p:sp>
          <p:nvSpPr>
            <p:cNvPr id="63734" name="Line 255"/>
            <p:cNvSpPr>
              <a:spLocks noChangeShapeType="1"/>
            </p:cNvSpPr>
            <p:nvPr/>
          </p:nvSpPr>
          <p:spPr bwMode="auto">
            <a:xfrm>
              <a:off x="336" y="1632"/>
              <a:ext cx="1040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735" name="Line 256"/>
            <p:cNvSpPr>
              <a:spLocks noChangeShapeType="1"/>
            </p:cNvSpPr>
            <p:nvPr/>
          </p:nvSpPr>
          <p:spPr bwMode="auto">
            <a:xfrm>
              <a:off x="336" y="1823"/>
              <a:ext cx="104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736" name="Line 257"/>
            <p:cNvSpPr>
              <a:spLocks noChangeShapeType="1"/>
            </p:cNvSpPr>
            <p:nvPr/>
          </p:nvSpPr>
          <p:spPr bwMode="auto">
            <a:xfrm>
              <a:off x="336" y="2014"/>
              <a:ext cx="104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737" name="Line 258"/>
            <p:cNvSpPr>
              <a:spLocks noChangeShapeType="1"/>
            </p:cNvSpPr>
            <p:nvPr/>
          </p:nvSpPr>
          <p:spPr bwMode="auto">
            <a:xfrm>
              <a:off x="336" y="2396"/>
              <a:ext cx="1040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738" name="Line 259"/>
            <p:cNvSpPr>
              <a:spLocks noChangeShapeType="1"/>
            </p:cNvSpPr>
            <p:nvPr/>
          </p:nvSpPr>
          <p:spPr bwMode="auto">
            <a:xfrm>
              <a:off x="336" y="1632"/>
              <a:ext cx="1" cy="764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739" name="Line 260"/>
            <p:cNvSpPr>
              <a:spLocks noChangeShapeType="1"/>
            </p:cNvSpPr>
            <p:nvPr/>
          </p:nvSpPr>
          <p:spPr bwMode="auto">
            <a:xfrm>
              <a:off x="870" y="1632"/>
              <a:ext cx="1" cy="764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740" name="Line 261"/>
            <p:cNvSpPr>
              <a:spLocks noChangeShapeType="1"/>
            </p:cNvSpPr>
            <p:nvPr/>
          </p:nvSpPr>
          <p:spPr bwMode="auto">
            <a:xfrm>
              <a:off x="1376" y="1632"/>
              <a:ext cx="1" cy="764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741" name="Line 262"/>
            <p:cNvSpPr>
              <a:spLocks noChangeShapeType="1"/>
            </p:cNvSpPr>
            <p:nvPr/>
          </p:nvSpPr>
          <p:spPr bwMode="auto">
            <a:xfrm>
              <a:off x="336" y="2205"/>
              <a:ext cx="104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767" name="Text Box 263"/>
          <p:cNvSpPr txBox="1">
            <a:spLocks noChangeArrowheads="1"/>
          </p:cNvSpPr>
          <p:nvPr/>
        </p:nvSpPr>
        <p:spPr bwMode="auto">
          <a:xfrm>
            <a:off x="6096001" y="4074244"/>
            <a:ext cx="893763" cy="5207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buClr>
                <a:srgbClr val="3333CC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sz="1400" b="1">
                <a:solidFill>
                  <a:srgbClr val="3333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新細明體" charset="-120"/>
                <a:cs typeface="新細明體" charset="-120"/>
              </a:rPr>
              <a:t>Register</a:t>
            </a:r>
          </a:p>
          <a:p>
            <a:pPr algn="ctr">
              <a:buClr>
                <a:srgbClr val="3333CC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sz="1400" b="1">
                <a:solidFill>
                  <a:srgbClr val="3333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Helvetica" charset="0"/>
                <a:ea typeface="新細明體" charset="-120"/>
                <a:cs typeface="新細明體" charset="-120"/>
              </a:rPr>
              <a:t>File</a:t>
            </a:r>
          </a:p>
        </p:txBody>
      </p:sp>
      <p:sp>
        <p:nvSpPr>
          <p:cNvPr id="21768" name="Freeform 264"/>
          <p:cNvSpPr>
            <a:spLocks/>
          </p:cNvSpPr>
          <p:nvPr/>
        </p:nvSpPr>
        <p:spPr bwMode="auto">
          <a:xfrm>
            <a:off x="4724400" y="3007444"/>
            <a:ext cx="3352800" cy="2895600"/>
          </a:xfrm>
          <a:custGeom>
            <a:avLst/>
            <a:gdLst>
              <a:gd name="T0" fmla="*/ 0 w 2112"/>
              <a:gd name="T1" fmla="*/ 1824 h 1824"/>
              <a:gd name="T2" fmla="*/ 1584 w 2112"/>
              <a:gd name="T3" fmla="*/ 1824 h 1824"/>
              <a:gd name="T4" fmla="*/ 1584 w 2112"/>
              <a:gd name="T5" fmla="*/ 0 h 1824"/>
              <a:gd name="T6" fmla="*/ 2112 w 2112"/>
              <a:gd name="T7" fmla="*/ 0 h 1824"/>
              <a:gd name="T8" fmla="*/ 0 60000 65536"/>
              <a:gd name="T9" fmla="*/ 0 60000 65536"/>
              <a:gd name="T10" fmla="*/ 0 60000 65536"/>
              <a:gd name="T11" fmla="*/ 0 60000 65536"/>
              <a:gd name="T12" fmla="*/ 0 w 2112"/>
              <a:gd name="T13" fmla="*/ 0 h 1824"/>
              <a:gd name="T14" fmla="*/ 2112 w 2112"/>
              <a:gd name="T15" fmla="*/ 1824 h 182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2" h="1824">
                <a:moveTo>
                  <a:pt x="0" y="1824"/>
                </a:moveTo>
                <a:lnTo>
                  <a:pt x="1584" y="1824"/>
                </a:lnTo>
                <a:lnTo>
                  <a:pt x="1584" y="0"/>
                </a:lnTo>
                <a:lnTo>
                  <a:pt x="2112" y="0"/>
                </a:lnTo>
              </a:path>
            </a:pathLst>
          </a:custGeom>
          <a:noFill/>
          <a:ln w="38160">
            <a:solidFill>
              <a:srgbClr val="CD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9" name="Text Box 211"/>
          <p:cNvSpPr txBox="1">
            <a:spLocks noChangeArrowheads="1"/>
          </p:cNvSpPr>
          <p:nvPr/>
        </p:nvSpPr>
        <p:spPr bwMode="auto">
          <a:xfrm>
            <a:off x="3810001" y="3298810"/>
            <a:ext cx="1076325" cy="307975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350"/>
              </a:spcBef>
              <a:buClr>
                <a:srgbClr val="000000"/>
              </a:buClr>
            </a:pPr>
            <a:r>
              <a:rPr lang="en-GB" altLang="zh-TW" sz="1400">
                <a:solidFill>
                  <a:srgbClr val="FFFFFF"/>
                </a:solidFill>
                <a:latin typeface="Arial" charset="0"/>
                <a:ea typeface="新細明體" charset="-120"/>
              </a:rPr>
              <a:t>instr[25-21]</a:t>
            </a:r>
          </a:p>
        </p:txBody>
      </p:sp>
      <p:sp>
        <p:nvSpPr>
          <p:cNvPr id="270" name="Text Box 213"/>
          <p:cNvSpPr txBox="1">
            <a:spLocks noChangeArrowheads="1"/>
          </p:cNvSpPr>
          <p:nvPr/>
        </p:nvSpPr>
        <p:spPr bwMode="auto">
          <a:xfrm>
            <a:off x="3810001" y="3908410"/>
            <a:ext cx="1076325" cy="307975"/>
          </a:xfrm>
          <a:prstGeom prst="rect">
            <a:avLst/>
          </a:prstGeom>
          <a:solidFill>
            <a:srgbClr val="8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350"/>
              </a:spcBef>
              <a:buClr>
                <a:srgbClr val="000000"/>
              </a:buClr>
            </a:pPr>
            <a:r>
              <a:rPr lang="en-GB" altLang="zh-TW" sz="1400">
                <a:solidFill>
                  <a:srgbClr val="FFFFFF"/>
                </a:solidFill>
                <a:latin typeface="Arial" charset="0"/>
                <a:ea typeface="新細明體" charset="-120"/>
              </a:rPr>
              <a:t>instr[20-16]</a:t>
            </a:r>
          </a:p>
        </p:txBody>
      </p:sp>
    </p:spTree>
    <p:extLst>
      <p:ext uri="{BB962C8B-B14F-4D97-AF65-F5344CB8AC3E}">
        <p14:creationId xmlns:p14="http://schemas.microsoft.com/office/powerpoint/2010/main" val="11899037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2000"/>
                                        <p:tgtEl>
                                          <p:spTgt spid="217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mph" presetSubtype="2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2000" fill="hold" masterRel="sameClick"/>
                                        <p:tgtEl>
                                          <p:spTgt spid="215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3333"/>
                                      </p:to>
                                    </p:animClr>
                                    <p:set>
                                      <p:cBhvr>
                                        <p:cTn id="28" dur="2000" fill="hold"/>
                                        <p:tgtEl>
                                          <p:spTgt spid="215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21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mph" presetSubtype="2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9" dur="1000" fill="hold" masterRel="sameClick"/>
                                        <p:tgtEl>
                                          <p:spTgt spid="2168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003333"/>
                                      </p:to>
                                    </p:animClr>
                                    <p:set>
                                      <p:cBhvr>
                                        <p:cTn id="40" dur="1000" fill="hold"/>
                                        <p:tgtEl>
                                          <p:spTgt spid="2168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742" grpId="0"/>
      <p:bldP spid="2176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AutoShape 1"/>
          <p:cNvSpPr>
            <a:spLocks noChangeArrowheads="1"/>
          </p:cNvSpPr>
          <p:nvPr/>
        </p:nvSpPr>
        <p:spPr bwMode="auto">
          <a:xfrm>
            <a:off x="3431704" y="2492896"/>
            <a:ext cx="5616624" cy="817235"/>
          </a:xfrm>
          <a:prstGeom prst="roundRect">
            <a:avLst>
              <a:gd name="adj" fmla="val 16667"/>
            </a:avLst>
          </a:prstGeom>
          <a:solidFill>
            <a:srgbClr val="18457D"/>
          </a:solidFill>
          <a:ln w="9360">
            <a:solidFill>
              <a:srgbClr val="402000"/>
            </a:solidFill>
            <a:miter lim="800000"/>
            <a:headEnd/>
            <a:tailEnd/>
          </a:ln>
          <a:effectLst>
            <a:outerShdw blurRad="63500" dist="107933" dir="2700000" algn="ctr" rotWithShape="0">
              <a:srgbClr val="000000">
                <a:alpha val="50027"/>
              </a:srgbClr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2530" name="Rectangle 2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ea typeface="新細明體" charset="-120"/>
              </a:rPr>
              <a:t>We have already built a </a:t>
            </a:r>
            <a:r>
              <a:rPr lang="en-GB" altLang="zh-TW" dirty="0" err="1">
                <a:ea typeface="新細明體" charset="-120"/>
              </a:rPr>
              <a:t>datapath</a:t>
            </a:r>
            <a:r>
              <a:rPr lang="en-GB" altLang="zh-TW" dirty="0">
                <a:ea typeface="新細明體" charset="-120"/>
              </a:rPr>
              <a:t> for each instruction separately</a:t>
            </a:r>
          </a:p>
          <a:p>
            <a:pPr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ea typeface="新細明體" charset="-120"/>
              </a:rPr>
              <a:t>Now, we need to combine them into a </a:t>
            </a:r>
            <a:r>
              <a:rPr lang="en-GB" altLang="zh-TW" b="1" dirty="0">
                <a:solidFill>
                  <a:srgbClr val="C00000"/>
                </a:solidFill>
                <a:ea typeface="新細明體" charset="-120"/>
              </a:rPr>
              <a:t>single </a:t>
            </a:r>
            <a:r>
              <a:rPr lang="en-GB" altLang="zh-TW" b="1" dirty="0" err="1">
                <a:solidFill>
                  <a:srgbClr val="C00000"/>
                </a:solidFill>
                <a:ea typeface="新細明體" charset="-120"/>
              </a:rPr>
              <a:t>datapath</a:t>
            </a:r>
            <a:endParaRPr lang="en-GB" altLang="zh-TW" b="1" dirty="0">
              <a:solidFill>
                <a:srgbClr val="C00000"/>
              </a:solidFill>
              <a:ea typeface="新細明體" charset="-120"/>
            </a:endParaRPr>
          </a:p>
          <a:p>
            <a:pPr>
              <a:lnSpc>
                <a:spcPct val="9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zh-TW" b="1" dirty="0">
              <a:solidFill>
                <a:srgbClr val="CD3333"/>
              </a:solidFill>
              <a:ea typeface="新細明體" charset="-120"/>
            </a:endParaRPr>
          </a:p>
          <a:p>
            <a:pPr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b="1" dirty="0">
                <a:solidFill>
                  <a:srgbClr val="18457D"/>
                </a:solidFill>
                <a:ea typeface="新細明體" charset="-120"/>
              </a:rPr>
              <a:t>Key to combine</a:t>
            </a:r>
          </a:p>
          <a:p>
            <a:pPr algn="ctr">
              <a:lnSpc>
                <a:spcPct val="9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ea typeface="新細明體" charset="-120"/>
              </a:rPr>
              <a:t>	</a:t>
            </a:r>
            <a:r>
              <a:rPr lang="en-GB" altLang="zh-TW" b="0" dirty="0">
                <a:solidFill>
                  <a:schemeClr val="bg1"/>
                </a:solidFill>
                <a:ea typeface="新細明體" charset="-120"/>
              </a:rPr>
              <a:t>Share some of the resources (e.g., ALU)</a:t>
            </a:r>
          </a:p>
          <a:p>
            <a:pPr algn="ctr">
              <a:lnSpc>
                <a:spcPct val="9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b="0" dirty="0">
                <a:solidFill>
                  <a:schemeClr val="bg1"/>
                </a:solidFill>
                <a:ea typeface="新細明體" charset="-120"/>
              </a:rPr>
              <a:t> among different instructions</a:t>
            </a:r>
          </a:p>
          <a:p>
            <a:pPr>
              <a:lnSpc>
                <a:spcPct val="90000"/>
              </a:lnSpc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ea typeface="新細明體" charset="-120"/>
              </a:rPr>
              <a:t>Note:</a:t>
            </a:r>
          </a:p>
          <a:p>
            <a:pPr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ea typeface="新細明體" charset="-120"/>
              </a:rPr>
              <a:t>This simple implementation is based on the (</a:t>
            </a:r>
            <a:r>
              <a:rPr lang="en-GB" altLang="zh-TW" u="sng" dirty="0">
                <a:ea typeface="新細明體" charset="-120"/>
              </a:rPr>
              <a:t>unrealistic</a:t>
            </a:r>
            <a:r>
              <a:rPr lang="en-GB" altLang="zh-TW" dirty="0">
                <a:ea typeface="新細明體" charset="-120"/>
              </a:rPr>
              <a:t>) assumption </a:t>
            </a:r>
          </a:p>
          <a:p>
            <a:pPr lvl="1">
              <a:lnSpc>
                <a:spcPct val="90000"/>
              </a:lnSpc>
              <a:buSzPct val="100000"/>
              <a:buFont typeface="Wingdings" charset="2"/>
              <a:buChar char=""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ea typeface="新細明體" charset="-120"/>
              </a:rPr>
              <a:t>i.e. all instructions take just one clock cycle each to complete</a:t>
            </a:r>
          </a:p>
          <a:p>
            <a:pPr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u="sng" dirty="0">
                <a:ea typeface="新細明體" charset="-120"/>
              </a:rPr>
              <a:t>Implication</a:t>
            </a:r>
            <a:r>
              <a:rPr lang="en-GB" altLang="zh-TW" dirty="0">
                <a:ea typeface="新細明體" charset="-120"/>
              </a:rPr>
              <a:t>:</a:t>
            </a:r>
          </a:p>
          <a:p>
            <a:pPr lvl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solidFill>
                  <a:srgbClr val="18457D"/>
                </a:solidFill>
                <a:ea typeface="新細明體" charset="-120"/>
              </a:rPr>
              <a:t>No </a:t>
            </a:r>
            <a:r>
              <a:rPr lang="en-GB" altLang="zh-TW" dirty="0" err="1">
                <a:solidFill>
                  <a:srgbClr val="18457D"/>
                </a:solidFill>
                <a:ea typeface="新細明體" charset="-120"/>
              </a:rPr>
              <a:t>datapath</a:t>
            </a:r>
            <a:r>
              <a:rPr lang="en-GB" altLang="zh-TW" dirty="0">
                <a:solidFill>
                  <a:srgbClr val="18457D"/>
                </a:solidFill>
                <a:ea typeface="新細明體" charset="-120"/>
              </a:rPr>
              <a:t> resource can be used more than once per instruction</a:t>
            </a:r>
          </a:p>
          <a:p>
            <a:pPr lvl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solidFill>
                  <a:srgbClr val="18457D"/>
                </a:solidFill>
                <a:ea typeface="新細明體" charset="-120"/>
              </a:rPr>
              <a:t>Any element needed more than once must be duplicated</a:t>
            </a:r>
          </a:p>
          <a:p>
            <a:pPr lvl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solidFill>
                  <a:srgbClr val="18457D"/>
                </a:solidFill>
                <a:ea typeface="新細明體" charset="-120"/>
              </a:rPr>
              <a:t>Instructions and data have to be stored in separate memories</a:t>
            </a:r>
          </a:p>
          <a:p>
            <a:pPr lvl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US" altLang="en-US" dirty="0">
                <a:solidFill>
                  <a:srgbClr val="18457D"/>
                </a:solidFill>
              </a:rPr>
              <a:t>Use multiplexers where alternate data sources are used for different instructions</a:t>
            </a:r>
            <a:endParaRPr lang="en-AU" altLang="en-US" dirty="0">
              <a:solidFill>
                <a:srgbClr val="18457D"/>
              </a:solidFill>
            </a:endParaRPr>
          </a:p>
          <a:p>
            <a:pPr lvl="1">
              <a:lnSpc>
                <a:spcPct val="9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zh-TW" dirty="0">
              <a:ea typeface="新細明體" charset="-120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>
                <a:ea typeface="新細明體" charset="-120"/>
                <a:cs typeface="新細明體" charset="-120"/>
              </a:rPr>
              <a:t>A Simple Single-Cycle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8578768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25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2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225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5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5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2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2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2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2253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253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253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253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US" altLang="en-US" dirty="0"/>
              <a:t>R-Type/Load/Store </a:t>
            </a:r>
            <a:r>
              <a:rPr lang="en-US" altLang="en-US" dirty="0" err="1"/>
              <a:t>Datapath</a:t>
            </a:r>
            <a:endParaRPr lang="en-GB" altLang="zh-TW" dirty="0">
              <a:ea typeface="新細明體" charset="-120"/>
              <a:cs typeface="新細明體" charset="-120"/>
            </a:endParaRPr>
          </a:p>
        </p:txBody>
      </p:sp>
      <p:sp>
        <p:nvSpPr>
          <p:cNvPr id="67590" name="Rectangle 2"/>
          <p:cNvSpPr>
            <a:spLocks noGrp="1" noChangeArrowheads="1"/>
          </p:cNvSpPr>
          <p:nvPr>
            <p:ph idx="1"/>
          </p:nvPr>
        </p:nvSpPr>
        <p:spPr>
          <a:xfrm>
            <a:off x="609600" y="1124744"/>
            <a:ext cx="10972800" cy="883445"/>
          </a:xfrm>
        </p:spPr>
        <p:txBody>
          <a:bodyPr>
            <a:normAutofit fontScale="77500" lnSpcReduction="20000"/>
          </a:bodyPr>
          <a:lstStyle/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ea typeface="新細明體" charset="-120"/>
              </a:rPr>
              <a:t>Use </a:t>
            </a:r>
            <a:r>
              <a:rPr lang="en-GB" altLang="zh-TW" b="1" dirty="0" err="1">
                <a:solidFill>
                  <a:srgbClr val="C00000"/>
                </a:solidFill>
                <a:ea typeface="新細明體" charset="-120"/>
              </a:rPr>
              <a:t>ALUSrc</a:t>
            </a:r>
            <a:r>
              <a:rPr lang="en-GB" altLang="zh-TW" dirty="0">
                <a:ea typeface="新細明體" charset="-120"/>
              </a:rPr>
              <a:t> to decide which source will be sent to the </a:t>
            </a:r>
            <a:r>
              <a:rPr lang="en-GB" altLang="zh-TW" dirty="0">
                <a:solidFill>
                  <a:srgbClr val="3333CC"/>
                </a:solidFill>
                <a:ea typeface="新細明體" charset="-120"/>
              </a:rPr>
              <a:t>ALU</a:t>
            </a:r>
          </a:p>
          <a:p>
            <a:pPr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ea typeface="新細明體" charset="-120"/>
              </a:rPr>
              <a:t>Use </a:t>
            </a:r>
            <a:r>
              <a:rPr lang="en-GB" altLang="zh-TW" b="1" dirty="0" err="1">
                <a:solidFill>
                  <a:srgbClr val="C00000"/>
                </a:solidFill>
                <a:ea typeface="新細明體" charset="-120"/>
              </a:rPr>
              <a:t>MemtoReg</a:t>
            </a:r>
            <a:r>
              <a:rPr lang="en-GB" altLang="zh-TW" dirty="0">
                <a:ea typeface="新細明體" charset="-120"/>
              </a:rPr>
              <a:t> to choose the source of output back to </a:t>
            </a:r>
            <a:r>
              <a:rPr lang="en-GB" altLang="zh-TW" dirty="0" err="1">
                <a:solidFill>
                  <a:srgbClr val="3333CC"/>
                </a:solidFill>
                <a:ea typeface="新細明體" charset="-120"/>
              </a:rPr>
              <a:t>dest</a:t>
            </a:r>
            <a:r>
              <a:rPr lang="en-GB" altLang="zh-TW" dirty="0">
                <a:solidFill>
                  <a:srgbClr val="3333CC"/>
                </a:solidFill>
                <a:ea typeface="新細明體" charset="-120"/>
              </a:rPr>
              <a:t>. register</a:t>
            </a:r>
          </a:p>
        </p:txBody>
      </p:sp>
      <p:sp>
        <p:nvSpPr>
          <p:cNvPr id="67591" name="Rectangle 222"/>
          <p:cNvSpPr>
            <a:spLocks noChangeArrowheads="1"/>
          </p:cNvSpPr>
          <p:nvPr/>
        </p:nvSpPr>
        <p:spPr bwMode="auto">
          <a:xfrm>
            <a:off x="8659814" y="4948238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2" name="Rectangle 232"/>
          <p:cNvSpPr>
            <a:spLocks noChangeArrowheads="1"/>
          </p:cNvSpPr>
          <p:nvPr/>
        </p:nvSpPr>
        <p:spPr bwMode="auto">
          <a:xfrm>
            <a:off x="9525000" y="4235450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3" name="Rectangle 238"/>
          <p:cNvSpPr>
            <a:spLocks noChangeArrowheads="1"/>
          </p:cNvSpPr>
          <p:nvPr/>
        </p:nvSpPr>
        <p:spPr bwMode="auto">
          <a:xfrm>
            <a:off x="10066339" y="4492626"/>
            <a:ext cx="15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4" name="Rectangle 240"/>
          <p:cNvSpPr>
            <a:spLocks noChangeArrowheads="1"/>
          </p:cNvSpPr>
          <p:nvPr/>
        </p:nvSpPr>
        <p:spPr bwMode="auto">
          <a:xfrm>
            <a:off x="10040939" y="4611688"/>
            <a:ext cx="15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5" name="Rectangle 257"/>
          <p:cNvSpPr>
            <a:spLocks noChangeArrowheads="1"/>
          </p:cNvSpPr>
          <p:nvPr/>
        </p:nvSpPr>
        <p:spPr bwMode="auto">
          <a:xfrm>
            <a:off x="6765925" y="4548188"/>
            <a:ext cx="158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6" name="Freeform 317"/>
          <p:cNvSpPr>
            <a:spLocks noChangeArrowheads="1"/>
          </p:cNvSpPr>
          <p:nvPr/>
        </p:nvSpPr>
        <p:spPr bwMode="auto">
          <a:xfrm>
            <a:off x="4333876" y="3594100"/>
            <a:ext cx="30163" cy="1588"/>
          </a:xfrm>
          <a:custGeom>
            <a:avLst/>
            <a:gdLst>
              <a:gd name="T0" fmla="*/ 17 w 17"/>
              <a:gd name="T1" fmla="*/ 0 h 1588"/>
              <a:gd name="T2" fmla="*/ 0 w 17"/>
              <a:gd name="T3" fmla="*/ 0 h 1588"/>
              <a:gd name="T4" fmla="*/ 17 w 17"/>
              <a:gd name="T5" fmla="*/ 0 h 1588"/>
              <a:gd name="T6" fmla="*/ 0 60000 65536"/>
              <a:gd name="T7" fmla="*/ 0 60000 65536"/>
              <a:gd name="T8" fmla="*/ 0 60000 65536"/>
              <a:gd name="T9" fmla="*/ 0 w 17"/>
              <a:gd name="T10" fmla="*/ 0 h 1588"/>
              <a:gd name="T11" fmla="*/ 17 w 17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1588">
                <a:moveTo>
                  <a:pt x="17" y="0"/>
                </a:moveTo>
                <a:lnTo>
                  <a:pt x="0" y="0"/>
                </a:lnTo>
                <a:lnTo>
                  <a:pt x="17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7" name="Freeform 319"/>
          <p:cNvSpPr>
            <a:spLocks noChangeArrowheads="1"/>
          </p:cNvSpPr>
          <p:nvPr/>
        </p:nvSpPr>
        <p:spPr bwMode="auto">
          <a:xfrm>
            <a:off x="2987675" y="2416175"/>
            <a:ext cx="26988" cy="1588"/>
          </a:xfrm>
          <a:custGeom>
            <a:avLst/>
            <a:gdLst>
              <a:gd name="T0" fmla="*/ 16 w 16"/>
              <a:gd name="T1" fmla="*/ 0 h 1588"/>
              <a:gd name="T2" fmla="*/ 0 w 16"/>
              <a:gd name="T3" fmla="*/ 0 h 1588"/>
              <a:gd name="T4" fmla="*/ 16 w 16"/>
              <a:gd name="T5" fmla="*/ 0 h 1588"/>
              <a:gd name="T6" fmla="*/ 0 60000 65536"/>
              <a:gd name="T7" fmla="*/ 0 60000 65536"/>
              <a:gd name="T8" fmla="*/ 0 60000 65536"/>
              <a:gd name="T9" fmla="*/ 0 w 16"/>
              <a:gd name="T10" fmla="*/ 0 h 1588"/>
              <a:gd name="T11" fmla="*/ 16 w 1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8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8" name="Freeform 321"/>
          <p:cNvSpPr>
            <a:spLocks noChangeArrowheads="1"/>
          </p:cNvSpPr>
          <p:nvPr/>
        </p:nvSpPr>
        <p:spPr bwMode="auto">
          <a:xfrm>
            <a:off x="2987675" y="3114675"/>
            <a:ext cx="26988" cy="1588"/>
          </a:xfrm>
          <a:custGeom>
            <a:avLst/>
            <a:gdLst>
              <a:gd name="T0" fmla="*/ 16 w 16"/>
              <a:gd name="T1" fmla="*/ 0 h 1588"/>
              <a:gd name="T2" fmla="*/ 0 w 16"/>
              <a:gd name="T3" fmla="*/ 0 h 1588"/>
              <a:gd name="T4" fmla="*/ 16 w 16"/>
              <a:gd name="T5" fmla="*/ 0 h 1588"/>
              <a:gd name="T6" fmla="*/ 0 60000 65536"/>
              <a:gd name="T7" fmla="*/ 0 60000 65536"/>
              <a:gd name="T8" fmla="*/ 0 60000 65536"/>
              <a:gd name="T9" fmla="*/ 0 w 16"/>
              <a:gd name="T10" fmla="*/ 0 h 1588"/>
              <a:gd name="T11" fmla="*/ 16 w 1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8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599" name="Freeform 323"/>
          <p:cNvSpPr>
            <a:spLocks noChangeArrowheads="1"/>
          </p:cNvSpPr>
          <p:nvPr/>
        </p:nvSpPr>
        <p:spPr bwMode="auto">
          <a:xfrm>
            <a:off x="2354263" y="3865564"/>
            <a:ext cx="30162" cy="1587"/>
          </a:xfrm>
          <a:custGeom>
            <a:avLst/>
            <a:gdLst>
              <a:gd name="T0" fmla="*/ 17 w 17"/>
              <a:gd name="T1" fmla="*/ 0 h 1587"/>
              <a:gd name="T2" fmla="*/ 0 w 17"/>
              <a:gd name="T3" fmla="*/ 0 h 1587"/>
              <a:gd name="T4" fmla="*/ 17 w 17"/>
              <a:gd name="T5" fmla="*/ 0 h 1587"/>
              <a:gd name="T6" fmla="*/ 0 60000 65536"/>
              <a:gd name="T7" fmla="*/ 0 60000 65536"/>
              <a:gd name="T8" fmla="*/ 0 60000 65536"/>
              <a:gd name="T9" fmla="*/ 0 w 17"/>
              <a:gd name="T10" fmla="*/ 0 h 1587"/>
              <a:gd name="T11" fmla="*/ 17 w 17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1587">
                <a:moveTo>
                  <a:pt x="17" y="0"/>
                </a:moveTo>
                <a:lnTo>
                  <a:pt x="0" y="0"/>
                </a:lnTo>
                <a:lnTo>
                  <a:pt x="1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00" name="Freeform 325"/>
          <p:cNvSpPr>
            <a:spLocks noChangeArrowheads="1"/>
          </p:cNvSpPr>
          <p:nvPr/>
        </p:nvSpPr>
        <p:spPr bwMode="auto">
          <a:xfrm>
            <a:off x="1881189" y="3865564"/>
            <a:ext cx="28575" cy="1587"/>
          </a:xfrm>
          <a:custGeom>
            <a:avLst/>
            <a:gdLst>
              <a:gd name="T0" fmla="*/ 16 w 16"/>
              <a:gd name="T1" fmla="*/ 0 h 1587"/>
              <a:gd name="T2" fmla="*/ 0 w 16"/>
              <a:gd name="T3" fmla="*/ 0 h 1587"/>
              <a:gd name="T4" fmla="*/ 16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01" name="Freeform 331"/>
          <p:cNvSpPr>
            <a:spLocks noChangeArrowheads="1"/>
          </p:cNvSpPr>
          <p:nvPr/>
        </p:nvSpPr>
        <p:spPr bwMode="auto">
          <a:xfrm>
            <a:off x="6529389" y="4391025"/>
            <a:ext cx="28575" cy="1588"/>
          </a:xfrm>
          <a:custGeom>
            <a:avLst/>
            <a:gdLst>
              <a:gd name="T0" fmla="*/ 16 w 16"/>
              <a:gd name="T1" fmla="*/ 0 h 1588"/>
              <a:gd name="T2" fmla="*/ 0 w 16"/>
              <a:gd name="T3" fmla="*/ 0 h 1588"/>
              <a:gd name="T4" fmla="*/ 16 w 16"/>
              <a:gd name="T5" fmla="*/ 0 h 1588"/>
              <a:gd name="T6" fmla="*/ 0 60000 65536"/>
              <a:gd name="T7" fmla="*/ 0 60000 65536"/>
              <a:gd name="T8" fmla="*/ 0 60000 65536"/>
              <a:gd name="T9" fmla="*/ 0 w 16"/>
              <a:gd name="T10" fmla="*/ 0 h 1588"/>
              <a:gd name="T11" fmla="*/ 16 w 1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8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02" name="Freeform 333"/>
          <p:cNvSpPr>
            <a:spLocks noChangeArrowheads="1"/>
          </p:cNvSpPr>
          <p:nvPr/>
        </p:nvSpPr>
        <p:spPr bwMode="auto">
          <a:xfrm>
            <a:off x="6529389" y="4919664"/>
            <a:ext cx="28575" cy="1587"/>
          </a:xfrm>
          <a:custGeom>
            <a:avLst/>
            <a:gdLst>
              <a:gd name="T0" fmla="*/ 16 w 16"/>
              <a:gd name="T1" fmla="*/ 0 h 1587"/>
              <a:gd name="T2" fmla="*/ 0 w 16"/>
              <a:gd name="T3" fmla="*/ 0 h 1587"/>
              <a:gd name="T4" fmla="*/ 16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03" name="Freeform 335"/>
          <p:cNvSpPr>
            <a:spLocks noChangeArrowheads="1"/>
          </p:cNvSpPr>
          <p:nvPr/>
        </p:nvSpPr>
        <p:spPr bwMode="auto">
          <a:xfrm>
            <a:off x="7008814" y="4659314"/>
            <a:ext cx="26987" cy="1587"/>
          </a:xfrm>
          <a:custGeom>
            <a:avLst/>
            <a:gdLst>
              <a:gd name="T0" fmla="*/ 16 w 16"/>
              <a:gd name="T1" fmla="*/ 0 h 1587"/>
              <a:gd name="T2" fmla="*/ 0 w 16"/>
              <a:gd name="T3" fmla="*/ 0 h 1587"/>
              <a:gd name="T4" fmla="*/ 16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04" name="Freeform 337"/>
          <p:cNvSpPr>
            <a:spLocks noChangeArrowheads="1"/>
          </p:cNvSpPr>
          <p:nvPr/>
        </p:nvSpPr>
        <p:spPr bwMode="auto">
          <a:xfrm>
            <a:off x="7008814" y="3954464"/>
            <a:ext cx="26987" cy="1587"/>
          </a:xfrm>
          <a:custGeom>
            <a:avLst/>
            <a:gdLst>
              <a:gd name="T0" fmla="*/ 16 w 16"/>
              <a:gd name="T1" fmla="*/ 0 h 1587"/>
              <a:gd name="T2" fmla="*/ 0 w 16"/>
              <a:gd name="T3" fmla="*/ 0 h 1587"/>
              <a:gd name="T4" fmla="*/ 16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05" name="Freeform 339"/>
          <p:cNvSpPr>
            <a:spLocks noChangeArrowheads="1"/>
          </p:cNvSpPr>
          <p:nvPr/>
        </p:nvSpPr>
        <p:spPr bwMode="auto">
          <a:xfrm>
            <a:off x="8147051" y="4387850"/>
            <a:ext cx="28575" cy="1588"/>
          </a:xfrm>
          <a:custGeom>
            <a:avLst/>
            <a:gdLst>
              <a:gd name="T0" fmla="*/ 16 w 16"/>
              <a:gd name="T1" fmla="*/ 0 h 1588"/>
              <a:gd name="T2" fmla="*/ 0 w 16"/>
              <a:gd name="T3" fmla="*/ 0 h 1588"/>
              <a:gd name="T4" fmla="*/ 16 w 16"/>
              <a:gd name="T5" fmla="*/ 0 h 1588"/>
              <a:gd name="T6" fmla="*/ 0 60000 65536"/>
              <a:gd name="T7" fmla="*/ 0 60000 65536"/>
              <a:gd name="T8" fmla="*/ 0 60000 65536"/>
              <a:gd name="T9" fmla="*/ 0 w 16"/>
              <a:gd name="T10" fmla="*/ 0 h 1588"/>
              <a:gd name="T11" fmla="*/ 16 w 1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8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06" name="Freeform 341"/>
          <p:cNvSpPr>
            <a:spLocks noChangeArrowheads="1"/>
          </p:cNvSpPr>
          <p:nvPr/>
        </p:nvSpPr>
        <p:spPr bwMode="auto">
          <a:xfrm>
            <a:off x="8151814" y="5113339"/>
            <a:ext cx="28575" cy="1587"/>
          </a:xfrm>
          <a:custGeom>
            <a:avLst/>
            <a:gdLst>
              <a:gd name="T0" fmla="*/ 16 w 16"/>
              <a:gd name="T1" fmla="*/ 0 h 1587"/>
              <a:gd name="T2" fmla="*/ 0 w 16"/>
              <a:gd name="T3" fmla="*/ 0 h 1587"/>
              <a:gd name="T4" fmla="*/ 16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07" name="Freeform 343"/>
          <p:cNvSpPr>
            <a:spLocks noChangeArrowheads="1"/>
          </p:cNvSpPr>
          <p:nvPr/>
        </p:nvSpPr>
        <p:spPr bwMode="auto">
          <a:xfrm>
            <a:off x="9799639" y="4402139"/>
            <a:ext cx="28575" cy="1587"/>
          </a:xfrm>
          <a:custGeom>
            <a:avLst/>
            <a:gdLst>
              <a:gd name="T0" fmla="*/ 16 w 16"/>
              <a:gd name="T1" fmla="*/ 0 h 1587"/>
              <a:gd name="T2" fmla="*/ 0 w 16"/>
              <a:gd name="T3" fmla="*/ 0 h 1587"/>
              <a:gd name="T4" fmla="*/ 16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08" name="Freeform 345"/>
          <p:cNvSpPr>
            <a:spLocks noChangeArrowheads="1"/>
          </p:cNvSpPr>
          <p:nvPr/>
        </p:nvSpPr>
        <p:spPr bwMode="auto">
          <a:xfrm>
            <a:off x="9794876" y="4979989"/>
            <a:ext cx="28575" cy="1587"/>
          </a:xfrm>
          <a:custGeom>
            <a:avLst/>
            <a:gdLst>
              <a:gd name="T0" fmla="*/ 16 w 16"/>
              <a:gd name="T1" fmla="*/ 0 h 1587"/>
              <a:gd name="T2" fmla="*/ 0 w 16"/>
              <a:gd name="T3" fmla="*/ 0 h 1587"/>
              <a:gd name="T4" fmla="*/ 16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09" name="Freeform 347"/>
          <p:cNvSpPr>
            <a:spLocks noChangeArrowheads="1"/>
          </p:cNvSpPr>
          <p:nvPr/>
        </p:nvSpPr>
        <p:spPr bwMode="auto">
          <a:xfrm>
            <a:off x="4333876" y="4833939"/>
            <a:ext cx="30163" cy="1587"/>
          </a:xfrm>
          <a:custGeom>
            <a:avLst/>
            <a:gdLst>
              <a:gd name="T0" fmla="*/ 17 w 17"/>
              <a:gd name="T1" fmla="*/ 0 h 1587"/>
              <a:gd name="T2" fmla="*/ 0 w 17"/>
              <a:gd name="T3" fmla="*/ 0 h 1587"/>
              <a:gd name="T4" fmla="*/ 17 w 17"/>
              <a:gd name="T5" fmla="*/ 0 h 1587"/>
              <a:gd name="T6" fmla="*/ 0 60000 65536"/>
              <a:gd name="T7" fmla="*/ 0 60000 65536"/>
              <a:gd name="T8" fmla="*/ 0 60000 65536"/>
              <a:gd name="T9" fmla="*/ 0 w 17"/>
              <a:gd name="T10" fmla="*/ 0 h 1587"/>
              <a:gd name="T11" fmla="*/ 17 w 17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1587">
                <a:moveTo>
                  <a:pt x="17" y="0"/>
                </a:moveTo>
                <a:lnTo>
                  <a:pt x="0" y="0"/>
                </a:lnTo>
                <a:lnTo>
                  <a:pt x="17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10" name="Freeform 349"/>
          <p:cNvSpPr>
            <a:spLocks noChangeArrowheads="1"/>
          </p:cNvSpPr>
          <p:nvPr/>
        </p:nvSpPr>
        <p:spPr bwMode="auto">
          <a:xfrm>
            <a:off x="5284789" y="5688014"/>
            <a:ext cx="28575" cy="1587"/>
          </a:xfrm>
          <a:custGeom>
            <a:avLst/>
            <a:gdLst>
              <a:gd name="T0" fmla="*/ 16 w 16"/>
              <a:gd name="T1" fmla="*/ 0 h 1587"/>
              <a:gd name="T2" fmla="*/ 0 w 16"/>
              <a:gd name="T3" fmla="*/ 0 h 1587"/>
              <a:gd name="T4" fmla="*/ 16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7611" name="Group 4"/>
          <p:cNvGrpSpPr>
            <a:grpSpLocks/>
          </p:cNvGrpSpPr>
          <p:nvPr/>
        </p:nvGrpSpPr>
        <p:grpSpPr bwMode="auto">
          <a:xfrm>
            <a:off x="1974851" y="2411413"/>
            <a:ext cx="8266113" cy="3903662"/>
            <a:chOff x="284" y="1519"/>
            <a:chExt cx="5207" cy="2459"/>
          </a:xfrm>
        </p:grpSpPr>
        <p:sp>
          <p:nvSpPr>
            <p:cNvPr id="67751" name="Line 5"/>
            <p:cNvSpPr>
              <a:spLocks noChangeShapeType="1"/>
            </p:cNvSpPr>
            <p:nvPr/>
          </p:nvSpPr>
          <p:spPr bwMode="auto">
            <a:xfrm flipV="1">
              <a:off x="5336" y="2562"/>
              <a:ext cx="1" cy="142"/>
            </a:xfrm>
            <a:prstGeom prst="line">
              <a:avLst/>
            </a:prstGeom>
            <a:noFill/>
            <a:ln w="1764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52" name="Line 6"/>
            <p:cNvSpPr>
              <a:spLocks noChangeShapeType="1"/>
            </p:cNvSpPr>
            <p:nvPr/>
          </p:nvSpPr>
          <p:spPr bwMode="auto">
            <a:xfrm>
              <a:off x="4648" y="2186"/>
              <a:ext cx="1" cy="228"/>
            </a:xfrm>
            <a:prstGeom prst="line">
              <a:avLst/>
            </a:prstGeom>
            <a:noFill/>
            <a:ln w="1764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53" name="Line 7"/>
            <p:cNvSpPr>
              <a:spLocks noChangeShapeType="1"/>
            </p:cNvSpPr>
            <p:nvPr/>
          </p:nvSpPr>
          <p:spPr bwMode="auto">
            <a:xfrm flipV="1">
              <a:off x="4684" y="3409"/>
              <a:ext cx="1" cy="214"/>
            </a:xfrm>
            <a:prstGeom prst="line">
              <a:avLst/>
            </a:prstGeom>
            <a:noFill/>
            <a:ln w="1764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54" name="Line 8"/>
            <p:cNvSpPr>
              <a:spLocks noChangeShapeType="1"/>
            </p:cNvSpPr>
            <p:nvPr/>
          </p:nvSpPr>
          <p:spPr bwMode="auto">
            <a:xfrm flipV="1">
              <a:off x="3272" y="2558"/>
              <a:ext cx="1" cy="143"/>
            </a:xfrm>
            <a:prstGeom prst="line">
              <a:avLst/>
            </a:prstGeom>
            <a:noFill/>
            <a:ln w="1764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55" name="Line 9"/>
            <p:cNvSpPr>
              <a:spLocks noChangeShapeType="1"/>
            </p:cNvSpPr>
            <p:nvPr/>
          </p:nvSpPr>
          <p:spPr bwMode="auto">
            <a:xfrm flipV="1">
              <a:off x="3712" y="2209"/>
              <a:ext cx="1" cy="226"/>
            </a:xfrm>
            <a:prstGeom prst="line">
              <a:avLst/>
            </a:prstGeom>
            <a:noFill/>
            <a:ln w="25560">
              <a:solidFill>
                <a:srgbClr val="F3AA6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56" name="Line 10"/>
            <p:cNvSpPr>
              <a:spLocks noChangeShapeType="1"/>
            </p:cNvSpPr>
            <p:nvPr/>
          </p:nvSpPr>
          <p:spPr bwMode="auto">
            <a:xfrm flipV="1">
              <a:off x="2315" y="3180"/>
              <a:ext cx="3" cy="119"/>
            </a:xfrm>
            <a:prstGeom prst="line">
              <a:avLst/>
            </a:prstGeom>
            <a:noFill/>
            <a:ln w="1764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57" name="Freeform 11"/>
            <p:cNvSpPr>
              <a:spLocks noChangeArrowheads="1"/>
            </p:cNvSpPr>
            <p:nvPr/>
          </p:nvSpPr>
          <p:spPr bwMode="auto">
            <a:xfrm>
              <a:off x="1277" y="2264"/>
              <a:ext cx="1118" cy="1319"/>
            </a:xfrm>
            <a:custGeom>
              <a:avLst/>
              <a:gdLst>
                <a:gd name="T0" fmla="*/ 456 w 1016"/>
                <a:gd name="T1" fmla="*/ 0 h 1198"/>
                <a:gd name="T2" fmla="*/ 0 w 1016"/>
                <a:gd name="T3" fmla="*/ 0 h 1198"/>
                <a:gd name="T4" fmla="*/ 0 w 1016"/>
                <a:gd name="T5" fmla="*/ 1198 h 1198"/>
                <a:gd name="T6" fmla="*/ 1016 w 1016"/>
                <a:gd name="T7" fmla="*/ 1198 h 11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6"/>
                <a:gd name="T13" fmla="*/ 0 h 1198"/>
                <a:gd name="T14" fmla="*/ 1016 w 1016"/>
                <a:gd name="T15" fmla="*/ 1198 h 11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6" h="1198">
                  <a:moveTo>
                    <a:pt x="456" y="0"/>
                  </a:moveTo>
                  <a:lnTo>
                    <a:pt x="0" y="0"/>
                  </a:lnTo>
                  <a:lnTo>
                    <a:pt x="0" y="1198"/>
                  </a:lnTo>
                  <a:lnTo>
                    <a:pt x="1016" y="1198"/>
                  </a:lnTo>
                </a:path>
              </a:pathLst>
            </a:custGeom>
            <a:noFill/>
            <a:ln w="3492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758" name="Line 12"/>
            <p:cNvSpPr>
              <a:spLocks noChangeShapeType="1"/>
            </p:cNvSpPr>
            <p:nvPr/>
          </p:nvSpPr>
          <p:spPr bwMode="auto">
            <a:xfrm flipH="1">
              <a:off x="2762" y="2489"/>
              <a:ext cx="717" cy="2"/>
            </a:xfrm>
            <a:prstGeom prst="line">
              <a:avLst/>
            </a:prstGeom>
            <a:noFill/>
            <a:ln w="3492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59" name="Line 13"/>
            <p:cNvSpPr>
              <a:spLocks noChangeShapeType="1"/>
            </p:cNvSpPr>
            <p:nvPr/>
          </p:nvSpPr>
          <p:spPr bwMode="auto">
            <a:xfrm flipH="1">
              <a:off x="2762" y="2766"/>
              <a:ext cx="418" cy="3"/>
            </a:xfrm>
            <a:prstGeom prst="line">
              <a:avLst/>
            </a:prstGeom>
            <a:noFill/>
            <a:ln w="3492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60" name="Freeform 14"/>
            <p:cNvSpPr>
              <a:spLocks noChangeArrowheads="1"/>
            </p:cNvSpPr>
            <p:nvPr/>
          </p:nvSpPr>
          <p:spPr bwMode="auto">
            <a:xfrm>
              <a:off x="2763" y="3098"/>
              <a:ext cx="407" cy="484"/>
            </a:xfrm>
            <a:custGeom>
              <a:avLst/>
              <a:gdLst>
                <a:gd name="T0" fmla="*/ 0 w 370"/>
                <a:gd name="T1" fmla="*/ 438 h 440"/>
                <a:gd name="T2" fmla="*/ 250 w 370"/>
                <a:gd name="T3" fmla="*/ 440 h 440"/>
                <a:gd name="T4" fmla="*/ 250 w 370"/>
                <a:gd name="T5" fmla="*/ 0 h 440"/>
                <a:gd name="T6" fmla="*/ 253 w 370"/>
                <a:gd name="T7" fmla="*/ 0 h 440"/>
                <a:gd name="T8" fmla="*/ 264 w 370"/>
                <a:gd name="T9" fmla="*/ 0 h 440"/>
                <a:gd name="T10" fmla="*/ 277 w 370"/>
                <a:gd name="T11" fmla="*/ 0 h 440"/>
                <a:gd name="T12" fmla="*/ 294 w 370"/>
                <a:gd name="T13" fmla="*/ 0 h 440"/>
                <a:gd name="T14" fmla="*/ 310 w 370"/>
                <a:gd name="T15" fmla="*/ 0 h 440"/>
                <a:gd name="T16" fmla="*/ 329 w 370"/>
                <a:gd name="T17" fmla="*/ 0 h 440"/>
                <a:gd name="T18" fmla="*/ 345 w 370"/>
                <a:gd name="T19" fmla="*/ 0 h 440"/>
                <a:gd name="T20" fmla="*/ 356 w 370"/>
                <a:gd name="T21" fmla="*/ 0 h 440"/>
                <a:gd name="T22" fmla="*/ 367 w 370"/>
                <a:gd name="T23" fmla="*/ 0 h 440"/>
                <a:gd name="T24" fmla="*/ 370 w 370"/>
                <a:gd name="T25" fmla="*/ 0 h 44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70"/>
                <a:gd name="T40" fmla="*/ 0 h 440"/>
                <a:gd name="T41" fmla="*/ 370 w 370"/>
                <a:gd name="T42" fmla="*/ 440 h 44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70" h="440">
                  <a:moveTo>
                    <a:pt x="0" y="438"/>
                  </a:moveTo>
                  <a:lnTo>
                    <a:pt x="250" y="440"/>
                  </a:lnTo>
                  <a:lnTo>
                    <a:pt x="250" y="0"/>
                  </a:lnTo>
                  <a:lnTo>
                    <a:pt x="253" y="0"/>
                  </a:lnTo>
                  <a:lnTo>
                    <a:pt x="264" y="0"/>
                  </a:lnTo>
                  <a:lnTo>
                    <a:pt x="277" y="0"/>
                  </a:lnTo>
                  <a:lnTo>
                    <a:pt x="294" y="0"/>
                  </a:lnTo>
                  <a:lnTo>
                    <a:pt x="310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56" y="0"/>
                  </a:lnTo>
                  <a:lnTo>
                    <a:pt x="367" y="0"/>
                  </a:lnTo>
                  <a:lnTo>
                    <a:pt x="370" y="0"/>
                  </a:lnTo>
                </a:path>
              </a:pathLst>
            </a:custGeom>
            <a:noFill/>
            <a:ln w="3492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761" name="Line 15"/>
            <p:cNvSpPr>
              <a:spLocks noChangeShapeType="1"/>
            </p:cNvSpPr>
            <p:nvPr/>
          </p:nvSpPr>
          <p:spPr bwMode="auto">
            <a:xfrm flipH="1" flipV="1">
              <a:off x="2251" y="3534"/>
              <a:ext cx="56" cy="95"/>
            </a:xfrm>
            <a:prstGeom prst="line">
              <a:avLst/>
            </a:prstGeom>
            <a:noFill/>
            <a:ln w="1764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62" name="Freeform 16"/>
            <p:cNvSpPr>
              <a:spLocks noChangeArrowheads="1"/>
            </p:cNvSpPr>
            <p:nvPr/>
          </p:nvSpPr>
          <p:spPr bwMode="auto">
            <a:xfrm>
              <a:off x="284" y="2243"/>
              <a:ext cx="153" cy="386"/>
            </a:xfrm>
            <a:custGeom>
              <a:avLst/>
              <a:gdLst>
                <a:gd name="T0" fmla="*/ 139 w 139"/>
                <a:gd name="T1" fmla="*/ 350 h 350"/>
                <a:gd name="T2" fmla="*/ 139 w 139"/>
                <a:gd name="T3" fmla="*/ 0 h 350"/>
                <a:gd name="T4" fmla="*/ 0 w 139"/>
                <a:gd name="T5" fmla="*/ 0 h 350"/>
                <a:gd name="T6" fmla="*/ 0 w 139"/>
                <a:gd name="T7" fmla="*/ 350 h 350"/>
                <a:gd name="T8" fmla="*/ 139 w 139"/>
                <a:gd name="T9" fmla="*/ 350 h 350"/>
                <a:gd name="T10" fmla="*/ 139 w 139"/>
                <a:gd name="T11" fmla="*/ 350 h 3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9"/>
                <a:gd name="T19" fmla="*/ 0 h 350"/>
                <a:gd name="T20" fmla="*/ 139 w 139"/>
                <a:gd name="T21" fmla="*/ 350 h 35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9" h="350">
                  <a:moveTo>
                    <a:pt x="139" y="350"/>
                  </a:moveTo>
                  <a:lnTo>
                    <a:pt x="139" y="0"/>
                  </a:lnTo>
                  <a:lnTo>
                    <a:pt x="0" y="0"/>
                  </a:lnTo>
                  <a:lnTo>
                    <a:pt x="0" y="350"/>
                  </a:lnTo>
                  <a:lnTo>
                    <a:pt x="139" y="3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763" name="Freeform 17"/>
            <p:cNvSpPr>
              <a:spLocks noChangeArrowheads="1"/>
            </p:cNvSpPr>
            <p:nvPr/>
          </p:nvSpPr>
          <p:spPr bwMode="auto">
            <a:xfrm>
              <a:off x="284" y="2243"/>
              <a:ext cx="153" cy="386"/>
            </a:xfrm>
            <a:custGeom>
              <a:avLst/>
              <a:gdLst>
                <a:gd name="T0" fmla="*/ 139 w 139"/>
                <a:gd name="T1" fmla="*/ 350 h 350"/>
                <a:gd name="T2" fmla="*/ 139 w 139"/>
                <a:gd name="T3" fmla="*/ 0 h 350"/>
                <a:gd name="T4" fmla="*/ 0 w 139"/>
                <a:gd name="T5" fmla="*/ 0 h 350"/>
                <a:gd name="T6" fmla="*/ 0 w 139"/>
                <a:gd name="T7" fmla="*/ 350 h 350"/>
                <a:gd name="T8" fmla="*/ 139 w 139"/>
                <a:gd name="T9" fmla="*/ 350 h 350"/>
                <a:gd name="T10" fmla="*/ 139 w 139"/>
                <a:gd name="T11" fmla="*/ 350 h 3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9"/>
                <a:gd name="T19" fmla="*/ 0 h 350"/>
                <a:gd name="T20" fmla="*/ 139 w 139"/>
                <a:gd name="T21" fmla="*/ 350 h 35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9" h="350">
                  <a:moveTo>
                    <a:pt x="139" y="350"/>
                  </a:moveTo>
                  <a:lnTo>
                    <a:pt x="139" y="0"/>
                  </a:lnTo>
                  <a:lnTo>
                    <a:pt x="0" y="0"/>
                  </a:lnTo>
                  <a:lnTo>
                    <a:pt x="0" y="350"/>
                  </a:lnTo>
                  <a:lnTo>
                    <a:pt x="139" y="350"/>
                  </a:lnTo>
                </a:path>
              </a:pathLst>
            </a:custGeom>
            <a:noFill/>
            <a:ln w="176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764" name="Rectangle 18"/>
            <p:cNvSpPr>
              <a:spLocks noChangeArrowheads="1"/>
            </p:cNvSpPr>
            <p:nvPr/>
          </p:nvSpPr>
          <p:spPr bwMode="auto">
            <a:xfrm>
              <a:off x="302" y="2366"/>
              <a:ext cx="5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67765" name="Rectangle 19"/>
            <p:cNvSpPr>
              <a:spLocks noChangeArrowheads="1"/>
            </p:cNvSpPr>
            <p:nvPr/>
          </p:nvSpPr>
          <p:spPr bwMode="auto">
            <a:xfrm>
              <a:off x="367" y="2366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67766" name="Freeform 20"/>
            <p:cNvSpPr>
              <a:spLocks noChangeArrowheads="1"/>
            </p:cNvSpPr>
            <p:nvPr/>
          </p:nvSpPr>
          <p:spPr bwMode="auto">
            <a:xfrm>
              <a:off x="583" y="2165"/>
              <a:ext cx="631" cy="982"/>
            </a:xfrm>
            <a:custGeom>
              <a:avLst/>
              <a:gdLst>
                <a:gd name="T0" fmla="*/ 573 w 573"/>
                <a:gd name="T1" fmla="*/ 889 h 892"/>
                <a:gd name="T2" fmla="*/ 573 w 573"/>
                <a:gd name="T3" fmla="*/ 0 h 892"/>
                <a:gd name="T4" fmla="*/ 0 w 573"/>
                <a:gd name="T5" fmla="*/ 0 h 892"/>
                <a:gd name="T6" fmla="*/ 0 w 573"/>
                <a:gd name="T7" fmla="*/ 892 h 892"/>
                <a:gd name="T8" fmla="*/ 573 w 573"/>
                <a:gd name="T9" fmla="*/ 892 h 892"/>
                <a:gd name="T10" fmla="*/ 573 w 573"/>
                <a:gd name="T11" fmla="*/ 892 h 892"/>
                <a:gd name="T12" fmla="*/ 573 w 573"/>
                <a:gd name="T13" fmla="*/ 889 h 8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3"/>
                <a:gd name="T22" fmla="*/ 0 h 892"/>
                <a:gd name="T23" fmla="*/ 573 w 573"/>
                <a:gd name="T24" fmla="*/ 892 h 8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3" h="892">
                  <a:moveTo>
                    <a:pt x="573" y="889"/>
                  </a:moveTo>
                  <a:lnTo>
                    <a:pt x="573" y="0"/>
                  </a:lnTo>
                  <a:lnTo>
                    <a:pt x="0" y="0"/>
                  </a:lnTo>
                  <a:lnTo>
                    <a:pt x="0" y="892"/>
                  </a:lnTo>
                  <a:lnTo>
                    <a:pt x="573" y="892"/>
                  </a:lnTo>
                  <a:lnTo>
                    <a:pt x="573" y="8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767" name="Freeform 21"/>
            <p:cNvSpPr>
              <a:spLocks noChangeArrowheads="1"/>
            </p:cNvSpPr>
            <p:nvPr/>
          </p:nvSpPr>
          <p:spPr bwMode="auto">
            <a:xfrm>
              <a:off x="583" y="2165"/>
              <a:ext cx="631" cy="982"/>
            </a:xfrm>
            <a:custGeom>
              <a:avLst/>
              <a:gdLst>
                <a:gd name="T0" fmla="*/ 573 w 573"/>
                <a:gd name="T1" fmla="*/ 889 h 892"/>
                <a:gd name="T2" fmla="*/ 573 w 573"/>
                <a:gd name="T3" fmla="*/ 0 h 892"/>
                <a:gd name="T4" fmla="*/ 0 w 573"/>
                <a:gd name="T5" fmla="*/ 0 h 892"/>
                <a:gd name="T6" fmla="*/ 0 w 573"/>
                <a:gd name="T7" fmla="*/ 892 h 892"/>
                <a:gd name="T8" fmla="*/ 573 w 573"/>
                <a:gd name="T9" fmla="*/ 892 h 892"/>
                <a:gd name="T10" fmla="*/ 573 w 573"/>
                <a:gd name="T11" fmla="*/ 892 h 8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3"/>
                <a:gd name="T19" fmla="*/ 0 h 892"/>
                <a:gd name="T20" fmla="*/ 573 w 573"/>
                <a:gd name="T21" fmla="*/ 892 h 8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3" h="892">
                  <a:moveTo>
                    <a:pt x="573" y="889"/>
                  </a:moveTo>
                  <a:lnTo>
                    <a:pt x="573" y="0"/>
                  </a:lnTo>
                  <a:lnTo>
                    <a:pt x="0" y="0"/>
                  </a:lnTo>
                  <a:lnTo>
                    <a:pt x="0" y="892"/>
                  </a:lnTo>
                  <a:lnTo>
                    <a:pt x="573" y="892"/>
                  </a:lnTo>
                </a:path>
              </a:pathLst>
            </a:custGeom>
            <a:noFill/>
            <a:ln w="176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768" name="Rectangle 22"/>
            <p:cNvSpPr>
              <a:spLocks noChangeArrowheads="1"/>
            </p:cNvSpPr>
            <p:nvPr/>
          </p:nvSpPr>
          <p:spPr bwMode="auto">
            <a:xfrm>
              <a:off x="680" y="2901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 dirty="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7769" name="Rectangle 23"/>
            <p:cNvSpPr>
              <a:spLocks noChangeArrowheads="1"/>
            </p:cNvSpPr>
            <p:nvPr/>
          </p:nvSpPr>
          <p:spPr bwMode="auto">
            <a:xfrm>
              <a:off x="710" y="2901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67770" name="Rectangle 24"/>
            <p:cNvSpPr>
              <a:spLocks noChangeArrowheads="1"/>
            </p:cNvSpPr>
            <p:nvPr/>
          </p:nvSpPr>
          <p:spPr bwMode="auto">
            <a:xfrm>
              <a:off x="765" y="2901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7771" name="Rectangle 25"/>
            <p:cNvSpPr>
              <a:spLocks noChangeArrowheads="1"/>
            </p:cNvSpPr>
            <p:nvPr/>
          </p:nvSpPr>
          <p:spPr bwMode="auto">
            <a:xfrm>
              <a:off x="816" y="2901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772" name="Rectangle 26"/>
            <p:cNvSpPr>
              <a:spLocks noChangeArrowheads="1"/>
            </p:cNvSpPr>
            <p:nvPr/>
          </p:nvSpPr>
          <p:spPr bwMode="auto">
            <a:xfrm>
              <a:off x="842" y="2901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773" name="Rectangle 27"/>
            <p:cNvSpPr>
              <a:spLocks noChangeArrowheads="1"/>
            </p:cNvSpPr>
            <p:nvPr/>
          </p:nvSpPr>
          <p:spPr bwMode="auto">
            <a:xfrm>
              <a:off x="876" y="2901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67774" name="Rectangle 28"/>
            <p:cNvSpPr>
              <a:spLocks noChangeArrowheads="1"/>
            </p:cNvSpPr>
            <p:nvPr/>
          </p:nvSpPr>
          <p:spPr bwMode="auto">
            <a:xfrm>
              <a:off x="933" y="2901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67775" name="Rectangle 29"/>
            <p:cNvSpPr>
              <a:spLocks noChangeArrowheads="1"/>
            </p:cNvSpPr>
            <p:nvPr/>
          </p:nvSpPr>
          <p:spPr bwMode="auto">
            <a:xfrm>
              <a:off x="980" y="2901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776" name="Rectangle 30"/>
            <p:cNvSpPr>
              <a:spLocks noChangeArrowheads="1"/>
            </p:cNvSpPr>
            <p:nvPr/>
          </p:nvSpPr>
          <p:spPr bwMode="auto">
            <a:xfrm>
              <a:off x="1011" y="2901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7777" name="Rectangle 31"/>
            <p:cNvSpPr>
              <a:spLocks noChangeArrowheads="1"/>
            </p:cNvSpPr>
            <p:nvPr/>
          </p:nvSpPr>
          <p:spPr bwMode="auto">
            <a:xfrm>
              <a:off x="1031" y="2901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67778" name="Rectangle 32"/>
            <p:cNvSpPr>
              <a:spLocks noChangeArrowheads="1"/>
            </p:cNvSpPr>
            <p:nvPr/>
          </p:nvSpPr>
          <p:spPr bwMode="auto">
            <a:xfrm>
              <a:off x="1089" y="2901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67779" name="Rectangle 33"/>
            <p:cNvSpPr>
              <a:spLocks noChangeArrowheads="1"/>
            </p:cNvSpPr>
            <p:nvPr/>
          </p:nvSpPr>
          <p:spPr bwMode="auto">
            <a:xfrm>
              <a:off x="1142" y="2901"/>
              <a:ext cx="1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780" name="Rectangle 34"/>
            <p:cNvSpPr>
              <a:spLocks noChangeArrowheads="1"/>
            </p:cNvSpPr>
            <p:nvPr/>
          </p:nvSpPr>
          <p:spPr bwMode="auto">
            <a:xfrm>
              <a:off x="747" y="3014"/>
              <a:ext cx="73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67781" name="Rectangle 35"/>
            <p:cNvSpPr>
              <a:spLocks noChangeArrowheads="1"/>
            </p:cNvSpPr>
            <p:nvPr/>
          </p:nvSpPr>
          <p:spPr bwMode="auto">
            <a:xfrm>
              <a:off x="831" y="301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782" name="Rectangle 36"/>
            <p:cNvSpPr>
              <a:spLocks noChangeArrowheads="1"/>
            </p:cNvSpPr>
            <p:nvPr/>
          </p:nvSpPr>
          <p:spPr bwMode="auto">
            <a:xfrm>
              <a:off x="887" y="3014"/>
              <a:ext cx="73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67783" name="Rectangle 37"/>
            <p:cNvSpPr>
              <a:spLocks noChangeArrowheads="1"/>
            </p:cNvSpPr>
            <p:nvPr/>
          </p:nvSpPr>
          <p:spPr bwMode="auto">
            <a:xfrm>
              <a:off x="969" y="301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67784" name="Rectangle 38"/>
            <p:cNvSpPr>
              <a:spLocks noChangeArrowheads="1"/>
            </p:cNvSpPr>
            <p:nvPr/>
          </p:nvSpPr>
          <p:spPr bwMode="auto">
            <a:xfrm>
              <a:off x="1025" y="3014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785" name="Rectangle 39"/>
            <p:cNvSpPr>
              <a:spLocks noChangeArrowheads="1"/>
            </p:cNvSpPr>
            <p:nvPr/>
          </p:nvSpPr>
          <p:spPr bwMode="auto">
            <a:xfrm>
              <a:off x="1059" y="3014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67786" name="Rectangle 40"/>
            <p:cNvSpPr>
              <a:spLocks noChangeArrowheads="1"/>
            </p:cNvSpPr>
            <p:nvPr/>
          </p:nvSpPr>
          <p:spPr bwMode="auto">
            <a:xfrm>
              <a:off x="613" y="2330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787" name="Rectangle 41"/>
            <p:cNvSpPr>
              <a:spLocks noChangeArrowheads="1"/>
            </p:cNvSpPr>
            <p:nvPr/>
          </p:nvSpPr>
          <p:spPr bwMode="auto">
            <a:xfrm>
              <a:off x="684" y="233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788" name="Rectangle 42"/>
            <p:cNvSpPr>
              <a:spLocks noChangeArrowheads="1"/>
            </p:cNvSpPr>
            <p:nvPr/>
          </p:nvSpPr>
          <p:spPr bwMode="auto">
            <a:xfrm>
              <a:off x="742" y="233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789" name="Rectangle 43"/>
            <p:cNvSpPr>
              <a:spLocks noChangeArrowheads="1"/>
            </p:cNvSpPr>
            <p:nvPr/>
          </p:nvSpPr>
          <p:spPr bwMode="auto">
            <a:xfrm>
              <a:off x="796" y="233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7790" name="Rectangle 44"/>
            <p:cNvSpPr>
              <a:spLocks noChangeArrowheads="1"/>
            </p:cNvSpPr>
            <p:nvPr/>
          </p:nvSpPr>
          <p:spPr bwMode="auto">
            <a:xfrm>
              <a:off x="852" y="233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791" name="Rectangle 45"/>
            <p:cNvSpPr>
              <a:spLocks noChangeArrowheads="1"/>
            </p:cNvSpPr>
            <p:nvPr/>
          </p:nvSpPr>
          <p:spPr bwMode="auto">
            <a:xfrm>
              <a:off x="613" y="244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792" name="Rectangle 46"/>
            <p:cNvSpPr>
              <a:spLocks noChangeArrowheads="1"/>
            </p:cNvSpPr>
            <p:nvPr/>
          </p:nvSpPr>
          <p:spPr bwMode="auto">
            <a:xfrm>
              <a:off x="669" y="244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7793" name="Rectangle 47"/>
            <p:cNvSpPr>
              <a:spLocks noChangeArrowheads="1"/>
            </p:cNvSpPr>
            <p:nvPr/>
          </p:nvSpPr>
          <p:spPr bwMode="auto">
            <a:xfrm>
              <a:off x="723" y="244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7794" name="Rectangle 48"/>
            <p:cNvSpPr>
              <a:spLocks noChangeArrowheads="1"/>
            </p:cNvSpPr>
            <p:nvPr/>
          </p:nvSpPr>
          <p:spPr bwMode="auto">
            <a:xfrm>
              <a:off x="780" y="2440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795" name="Rectangle 49"/>
            <p:cNvSpPr>
              <a:spLocks noChangeArrowheads="1"/>
            </p:cNvSpPr>
            <p:nvPr/>
          </p:nvSpPr>
          <p:spPr bwMode="auto">
            <a:xfrm>
              <a:off x="813" y="244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796" name="Rectangle 50"/>
            <p:cNvSpPr>
              <a:spLocks noChangeArrowheads="1"/>
            </p:cNvSpPr>
            <p:nvPr/>
          </p:nvSpPr>
          <p:spPr bwMode="auto">
            <a:xfrm>
              <a:off x="867" y="2440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7797" name="Rectangle 51"/>
            <p:cNvSpPr>
              <a:spLocks noChangeArrowheads="1"/>
            </p:cNvSpPr>
            <p:nvPr/>
          </p:nvSpPr>
          <p:spPr bwMode="auto">
            <a:xfrm>
              <a:off x="918" y="2440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7798" name="Rectangle 52"/>
            <p:cNvSpPr>
              <a:spLocks noChangeArrowheads="1"/>
            </p:cNvSpPr>
            <p:nvPr/>
          </p:nvSpPr>
          <p:spPr bwMode="auto">
            <a:xfrm>
              <a:off x="726" y="2599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7799" name="Rectangle 53"/>
            <p:cNvSpPr>
              <a:spLocks noChangeArrowheads="1"/>
            </p:cNvSpPr>
            <p:nvPr/>
          </p:nvSpPr>
          <p:spPr bwMode="auto">
            <a:xfrm>
              <a:off x="753" y="259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67800" name="Rectangle 54"/>
            <p:cNvSpPr>
              <a:spLocks noChangeArrowheads="1"/>
            </p:cNvSpPr>
            <p:nvPr/>
          </p:nvSpPr>
          <p:spPr bwMode="auto">
            <a:xfrm>
              <a:off x="810" y="2599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7801" name="Rectangle 55"/>
            <p:cNvSpPr>
              <a:spLocks noChangeArrowheads="1"/>
            </p:cNvSpPr>
            <p:nvPr/>
          </p:nvSpPr>
          <p:spPr bwMode="auto">
            <a:xfrm>
              <a:off x="860" y="2599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802" name="Rectangle 56"/>
            <p:cNvSpPr>
              <a:spLocks noChangeArrowheads="1"/>
            </p:cNvSpPr>
            <p:nvPr/>
          </p:nvSpPr>
          <p:spPr bwMode="auto">
            <a:xfrm>
              <a:off x="888" y="2599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803" name="Rectangle 57"/>
            <p:cNvSpPr>
              <a:spLocks noChangeArrowheads="1"/>
            </p:cNvSpPr>
            <p:nvPr/>
          </p:nvSpPr>
          <p:spPr bwMode="auto">
            <a:xfrm>
              <a:off x="921" y="259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67804" name="Rectangle 58"/>
            <p:cNvSpPr>
              <a:spLocks noChangeArrowheads="1"/>
            </p:cNvSpPr>
            <p:nvPr/>
          </p:nvSpPr>
          <p:spPr bwMode="auto">
            <a:xfrm>
              <a:off x="977" y="2599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67805" name="Rectangle 59"/>
            <p:cNvSpPr>
              <a:spLocks noChangeArrowheads="1"/>
            </p:cNvSpPr>
            <p:nvPr/>
          </p:nvSpPr>
          <p:spPr bwMode="auto">
            <a:xfrm>
              <a:off x="1025" y="2599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806" name="Rectangle 60"/>
            <p:cNvSpPr>
              <a:spLocks noChangeArrowheads="1"/>
            </p:cNvSpPr>
            <p:nvPr/>
          </p:nvSpPr>
          <p:spPr bwMode="auto">
            <a:xfrm>
              <a:off x="1052" y="2599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7807" name="Rectangle 61"/>
            <p:cNvSpPr>
              <a:spLocks noChangeArrowheads="1"/>
            </p:cNvSpPr>
            <p:nvPr/>
          </p:nvSpPr>
          <p:spPr bwMode="auto">
            <a:xfrm>
              <a:off x="1076" y="259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67808" name="Rectangle 62"/>
            <p:cNvSpPr>
              <a:spLocks noChangeArrowheads="1"/>
            </p:cNvSpPr>
            <p:nvPr/>
          </p:nvSpPr>
          <p:spPr bwMode="auto">
            <a:xfrm>
              <a:off x="1130" y="259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67809" name="Line 63"/>
            <p:cNvSpPr>
              <a:spLocks noChangeShapeType="1"/>
            </p:cNvSpPr>
            <p:nvPr/>
          </p:nvSpPr>
          <p:spPr bwMode="auto">
            <a:xfrm flipH="1">
              <a:off x="5065" y="2772"/>
              <a:ext cx="158" cy="1"/>
            </a:xfrm>
            <a:prstGeom prst="line">
              <a:avLst/>
            </a:prstGeom>
            <a:noFill/>
            <a:ln w="3492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10" name="Freeform 64"/>
            <p:cNvSpPr>
              <a:spLocks noChangeArrowheads="1"/>
            </p:cNvSpPr>
            <p:nvPr/>
          </p:nvSpPr>
          <p:spPr bwMode="auto">
            <a:xfrm>
              <a:off x="4232" y="2407"/>
              <a:ext cx="832" cy="996"/>
            </a:xfrm>
            <a:custGeom>
              <a:avLst/>
              <a:gdLst>
                <a:gd name="T0" fmla="*/ 753 w 756"/>
                <a:gd name="T1" fmla="*/ 905 h 905"/>
                <a:gd name="T2" fmla="*/ 756 w 756"/>
                <a:gd name="T3" fmla="*/ 0 h 905"/>
                <a:gd name="T4" fmla="*/ 0 w 756"/>
                <a:gd name="T5" fmla="*/ 0 h 905"/>
                <a:gd name="T6" fmla="*/ 0 w 756"/>
                <a:gd name="T7" fmla="*/ 905 h 905"/>
                <a:gd name="T8" fmla="*/ 756 w 756"/>
                <a:gd name="T9" fmla="*/ 905 h 905"/>
                <a:gd name="T10" fmla="*/ 756 w 756"/>
                <a:gd name="T11" fmla="*/ 905 h 905"/>
                <a:gd name="T12" fmla="*/ 753 w 756"/>
                <a:gd name="T13" fmla="*/ 905 h 9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56"/>
                <a:gd name="T22" fmla="*/ 0 h 905"/>
                <a:gd name="T23" fmla="*/ 756 w 756"/>
                <a:gd name="T24" fmla="*/ 905 h 90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56" h="905">
                  <a:moveTo>
                    <a:pt x="753" y="905"/>
                  </a:moveTo>
                  <a:lnTo>
                    <a:pt x="756" y="0"/>
                  </a:lnTo>
                  <a:lnTo>
                    <a:pt x="0" y="0"/>
                  </a:lnTo>
                  <a:lnTo>
                    <a:pt x="0" y="905"/>
                  </a:lnTo>
                  <a:lnTo>
                    <a:pt x="756" y="905"/>
                  </a:lnTo>
                  <a:lnTo>
                    <a:pt x="753" y="9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11" name="Freeform 65"/>
            <p:cNvSpPr>
              <a:spLocks noChangeArrowheads="1"/>
            </p:cNvSpPr>
            <p:nvPr/>
          </p:nvSpPr>
          <p:spPr bwMode="auto">
            <a:xfrm>
              <a:off x="4232" y="2407"/>
              <a:ext cx="832" cy="996"/>
            </a:xfrm>
            <a:custGeom>
              <a:avLst/>
              <a:gdLst>
                <a:gd name="T0" fmla="*/ 753 w 756"/>
                <a:gd name="T1" fmla="*/ 905 h 905"/>
                <a:gd name="T2" fmla="*/ 756 w 756"/>
                <a:gd name="T3" fmla="*/ 0 h 905"/>
                <a:gd name="T4" fmla="*/ 0 w 756"/>
                <a:gd name="T5" fmla="*/ 0 h 905"/>
                <a:gd name="T6" fmla="*/ 0 w 756"/>
                <a:gd name="T7" fmla="*/ 905 h 905"/>
                <a:gd name="T8" fmla="*/ 756 w 756"/>
                <a:gd name="T9" fmla="*/ 905 h 905"/>
                <a:gd name="T10" fmla="*/ 756 w 756"/>
                <a:gd name="T11" fmla="*/ 905 h 9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6"/>
                <a:gd name="T19" fmla="*/ 0 h 905"/>
                <a:gd name="T20" fmla="*/ 756 w 756"/>
                <a:gd name="T21" fmla="*/ 905 h 9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6" h="905">
                  <a:moveTo>
                    <a:pt x="753" y="905"/>
                  </a:moveTo>
                  <a:lnTo>
                    <a:pt x="756" y="0"/>
                  </a:lnTo>
                  <a:lnTo>
                    <a:pt x="0" y="0"/>
                  </a:lnTo>
                  <a:lnTo>
                    <a:pt x="0" y="905"/>
                  </a:lnTo>
                  <a:lnTo>
                    <a:pt x="756" y="905"/>
                  </a:lnTo>
                </a:path>
              </a:pathLst>
            </a:custGeom>
            <a:noFill/>
            <a:ln w="1764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12" name="Freeform 66"/>
            <p:cNvSpPr>
              <a:spLocks noChangeArrowheads="1"/>
            </p:cNvSpPr>
            <p:nvPr/>
          </p:nvSpPr>
          <p:spPr bwMode="auto">
            <a:xfrm>
              <a:off x="484" y="1519"/>
              <a:ext cx="434" cy="916"/>
            </a:xfrm>
            <a:custGeom>
              <a:avLst/>
              <a:gdLst>
                <a:gd name="T0" fmla="*/ 394 w 394"/>
                <a:gd name="T1" fmla="*/ 0 h 832"/>
                <a:gd name="T2" fmla="*/ 0 w 394"/>
                <a:gd name="T3" fmla="*/ 3 h 832"/>
                <a:gd name="T4" fmla="*/ 0 w 394"/>
                <a:gd name="T5" fmla="*/ 832 h 832"/>
                <a:gd name="T6" fmla="*/ 0 60000 65536"/>
                <a:gd name="T7" fmla="*/ 0 60000 65536"/>
                <a:gd name="T8" fmla="*/ 0 60000 65536"/>
                <a:gd name="T9" fmla="*/ 0 w 394"/>
                <a:gd name="T10" fmla="*/ 0 h 832"/>
                <a:gd name="T11" fmla="*/ 394 w 394"/>
                <a:gd name="T12" fmla="*/ 832 h 8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4" h="832">
                  <a:moveTo>
                    <a:pt x="394" y="0"/>
                  </a:moveTo>
                  <a:lnTo>
                    <a:pt x="0" y="3"/>
                  </a:lnTo>
                  <a:lnTo>
                    <a:pt x="0" y="832"/>
                  </a:lnTo>
                </a:path>
              </a:pathLst>
            </a:custGeom>
            <a:noFill/>
            <a:ln w="3492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13" name="Line 67"/>
            <p:cNvSpPr>
              <a:spLocks noChangeShapeType="1"/>
            </p:cNvSpPr>
            <p:nvPr/>
          </p:nvSpPr>
          <p:spPr bwMode="auto">
            <a:xfrm flipH="1">
              <a:off x="816" y="1961"/>
              <a:ext cx="115" cy="3"/>
            </a:xfrm>
            <a:prstGeom prst="line">
              <a:avLst/>
            </a:prstGeom>
            <a:noFill/>
            <a:ln w="3492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14" name="Line 68"/>
            <p:cNvSpPr>
              <a:spLocks noChangeShapeType="1"/>
            </p:cNvSpPr>
            <p:nvPr/>
          </p:nvSpPr>
          <p:spPr bwMode="auto">
            <a:xfrm flipH="1">
              <a:off x="3343" y="2931"/>
              <a:ext cx="139" cy="3"/>
            </a:xfrm>
            <a:prstGeom prst="line">
              <a:avLst/>
            </a:prstGeom>
            <a:noFill/>
            <a:ln w="3492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15" name="Freeform 69"/>
            <p:cNvSpPr>
              <a:spLocks noChangeArrowheads="1"/>
            </p:cNvSpPr>
            <p:nvPr/>
          </p:nvSpPr>
          <p:spPr bwMode="auto">
            <a:xfrm>
              <a:off x="2874" y="2769"/>
              <a:ext cx="1307" cy="452"/>
            </a:xfrm>
            <a:custGeom>
              <a:avLst/>
              <a:gdLst>
                <a:gd name="T0" fmla="*/ 1187 w 1187"/>
                <a:gd name="T1" fmla="*/ 410 h 410"/>
                <a:gd name="T2" fmla="*/ 0 w 1187"/>
                <a:gd name="T3" fmla="*/ 410 h 410"/>
                <a:gd name="T4" fmla="*/ 0 w 1187"/>
                <a:gd name="T5" fmla="*/ 0 h 410"/>
                <a:gd name="T6" fmla="*/ 0 60000 65536"/>
                <a:gd name="T7" fmla="*/ 0 60000 65536"/>
                <a:gd name="T8" fmla="*/ 0 60000 65536"/>
                <a:gd name="T9" fmla="*/ 0 w 1187"/>
                <a:gd name="T10" fmla="*/ 0 h 410"/>
                <a:gd name="T11" fmla="*/ 1187 w 1187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87" h="410">
                  <a:moveTo>
                    <a:pt x="1187" y="410"/>
                  </a:moveTo>
                  <a:lnTo>
                    <a:pt x="0" y="410"/>
                  </a:lnTo>
                  <a:lnTo>
                    <a:pt x="0" y="0"/>
                  </a:lnTo>
                </a:path>
              </a:pathLst>
            </a:custGeom>
            <a:noFill/>
            <a:ln w="3492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16" name="Line 70"/>
            <p:cNvSpPr>
              <a:spLocks noChangeShapeType="1"/>
            </p:cNvSpPr>
            <p:nvPr/>
          </p:nvSpPr>
          <p:spPr bwMode="auto">
            <a:xfrm>
              <a:off x="437" y="2434"/>
              <a:ext cx="95" cy="1"/>
            </a:xfrm>
            <a:prstGeom prst="line">
              <a:avLst/>
            </a:prstGeom>
            <a:noFill/>
            <a:ln w="3492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17" name="Freeform 71"/>
            <p:cNvSpPr>
              <a:spLocks noChangeArrowheads="1"/>
            </p:cNvSpPr>
            <p:nvPr/>
          </p:nvSpPr>
          <p:spPr bwMode="auto">
            <a:xfrm>
              <a:off x="2425" y="3284"/>
              <a:ext cx="398" cy="586"/>
            </a:xfrm>
            <a:custGeom>
              <a:avLst/>
              <a:gdLst>
                <a:gd name="T0" fmla="*/ 180 w 362"/>
                <a:gd name="T1" fmla="*/ 532 h 532"/>
                <a:gd name="T2" fmla="*/ 212 w 362"/>
                <a:gd name="T3" fmla="*/ 529 h 532"/>
                <a:gd name="T4" fmla="*/ 239 w 362"/>
                <a:gd name="T5" fmla="*/ 519 h 532"/>
                <a:gd name="T6" fmla="*/ 264 w 362"/>
                <a:gd name="T7" fmla="*/ 502 h 532"/>
                <a:gd name="T8" fmla="*/ 288 w 362"/>
                <a:gd name="T9" fmla="*/ 481 h 532"/>
                <a:gd name="T10" fmla="*/ 310 w 362"/>
                <a:gd name="T11" fmla="*/ 456 h 532"/>
                <a:gd name="T12" fmla="*/ 329 w 362"/>
                <a:gd name="T13" fmla="*/ 423 h 532"/>
                <a:gd name="T14" fmla="*/ 343 w 362"/>
                <a:gd name="T15" fmla="*/ 388 h 532"/>
                <a:gd name="T16" fmla="*/ 354 w 362"/>
                <a:gd name="T17" fmla="*/ 350 h 532"/>
                <a:gd name="T18" fmla="*/ 362 w 362"/>
                <a:gd name="T19" fmla="*/ 309 h 532"/>
                <a:gd name="T20" fmla="*/ 362 w 362"/>
                <a:gd name="T21" fmla="*/ 266 h 532"/>
                <a:gd name="T22" fmla="*/ 362 w 362"/>
                <a:gd name="T23" fmla="*/ 222 h 532"/>
                <a:gd name="T24" fmla="*/ 354 w 362"/>
                <a:gd name="T25" fmla="*/ 182 h 532"/>
                <a:gd name="T26" fmla="*/ 343 w 362"/>
                <a:gd name="T27" fmla="*/ 144 h 532"/>
                <a:gd name="T28" fmla="*/ 329 w 362"/>
                <a:gd name="T29" fmla="*/ 108 h 532"/>
                <a:gd name="T30" fmla="*/ 310 w 362"/>
                <a:gd name="T31" fmla="*/ 78 h 532"/>
                <a:gd name="T32" fmla="*/ 288 w 362"/>
                <a:gd name="T33" fmla="*/ 51 h 532"/>
                <a:gd name="T34" fmla="*/ 264 w 362"/>
                <a:gd name="T35" fmla="*/ 29 h 532"/>
                <a:gd name="T36" fmla="*/ 239 w 362"/>
                <a:gd name="T37" fmla="*/ 13 h 532"/>
                <a:gd name="T38" fmla="*/ 212 w 362"/>
                <a:gd name="T39" fmla="*/ 2 h 532"/>
                <a:gd name="T40" fmla="*/ 182 w 362"/>
                <a:gd name="T41" fmla="*/ 0 h 532"/>
                <a:gd name="T42" fmla="*/ 152 w 362"/>
                <a:gd name="T43" fmla="*/ 2 h 532"/>
                <a:gd name="T44" fmla="*/ 125 w 362"/>
                <a:gd name="T45" fmla="*/ 13 h 532"/>
                <a:gd name="T46" fmla="*/ 98 w 362"/>
                <a:gd name="T47" fmla="*/ 29 h 532"/>
                <a:gd name="T48" fmla="*/ 74 w 362"/>
                <a:gd name="T49" fmla="*/ 51 h 532"/>
                <a:gd name="T50" fmla="*/ 55 w 362"/>
                <a:gd name="T51" fmla="*/ 78 h 532"/>
                <a:gd name="T52" fmla="*/ 36 w 362"/>
                <a:gd name="T53" fmla="*/ 108 h 532"/>
                <a:gd name="T54" fmla="*/ 22 w 362"/>
                <a:gd name="T55" fmla="*/ 144 h 532"/>
                <a:gd name="T56" fmla="*/ 11 w 362"/>
                <a:gd name="T57" fmla="*/ 182 h 532"/>
                <a:gd name="T58" fmla="*/ 3 w 362"/>
                <a:gd name="T59" fmla="*/ 222 h 532"/>
                <a:gd name="T60" fmla="*/ 0 w 362"/>
                <a:gd name="T61" fmla="*/ 266 h 532"/>
                <a:gd name="T62" fmla="*/ 3 w 362"/>
                <a:gd name="T63" fmla="*/ 309 h 532"/>
                <a:gd name="T64" fmla="*/ 11 w 362"/>
                <a:gd name="T65" fmla="*/ 350 h 532"/>
                <a:gd name="T66" fmla="*/ 22 w 362"/>
                <a:gd name="T67" fmla="*/ 388 h 532"/>
                <a:gd name="T68" fmla="*/ 36 w 362"/>
                <a:gd name="T69" fmla="*/ 423 h 532"/>
                <a:gd name="T70" fmla="*/ 55 w 362"/>
                <a:gd name="T71" fmla="*/ 456 h 532"/>
                <a:gd name="T72" fmla="*/ 74 w 362"/>
                <a:gd name="T73" fmla="*/ 481 h 532"/>
                <a:gd name="T74" fmla="*/ 98 w 362"/>
                <a:gd name="T75" fmla="*/ 502 h 532"/>
                <a:gd name="T76" fmla="*/ 125 w 362"/>
                <a:gd name="T77" fmla="*/ 519 h 532"/>
                <a:gd name="T78" fmla="*/ 152 w 362"/>
                <a:gd name="T79" fmla="*/ 529 h 532"/>
                <a:gd name="T80" fmla="*/ 182 w 362"/>
                <a:gd name="T81" fmla="*/ 532 h 532"/>
                <a:gd name="T82" fmla="*/ 182 w 362"/>
                <a:gd name="T83" fmla="*/ 532 h 532"/>
                <a:gd name="T84" fmla="*/ 180 w 362"/>
                <a:gd name="T85" fmla="*/ 532 h 532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62"/>
                <a:gd name="T130" fmla="*/ 0 h 532"/>
                <a:gd name="T131" fmla="*/ 362 w 362"/>
                <a:gd name="T132" fmla="*/ 532 h 532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62" h="532">
                  <a:moveTo>
                    <a:pt x="180" y="532"/>
                  </a:moveTo>
                  <a:lnTo>
                    <a:pt x="212" y="529"/>
                  </a:lnTo>
                  <a:lnTo>
                    <a:pt x="239" y="519"/>
                  </a:lnTo>
                  <a:lnTo>
                    <a:pt x="264" y="502"/>
                  </a:lnTo>
                  <a:lnTo>
                    <a:pt x="288" y="481"/>
                  </a:lnTo>
                  <a:lnTo>
                    <a:pt x="310" y="456"/>
                  </a:lnTo>
                  <a:lnTo>
                    <a:pt x="329" y="423"/>
                  </a:lnTo>
                  <a:lnTo>
                    <a:pt x="343" y="388"/>
                  </a:lnTo>
                  <a:lnTo>
                    <a:pt x="354" y="350"/>
                  </a:lnTo>
                  <a:lnTo>
                    <a:pt x="362" y="309"/>
                  </a:lnTo>
                  <a:lnTo>
                    <a:pt x="362" y="266"/>
                  </a:lnTo>
                  <a:lnTo>
                    <a:pt x="362" y="222"/>
                  </a:lnTo>
                  <a:lnTo>
                    <a:pt x="354" y="182"/>
                  </a:lnTo>
                  <a:lnTo>
                    <a:pt x="343" y="144"/>
                  </a:lnTo>
                  <a:lnTo>
                    <a:pt x="329" y="108"/>
                  </a:lnTo>
                  <a:lnTo>
                    <a:pt x="310" y="78"/>
                  </a:lnTo>
                  <a:lnTo>
                    <a:pt x="288" y="51"/>
                  </a:lnTo>
                  <a:lnTo>
                    <a:pt x="264" y="29"/>
                  </a:lnTo>
                  <a:lnTo>
                    <a:pt x="239" y="13"/>
                  </a:lnTo>
                  <a:lnTo>
                    <a:pt x="212" y="2"/>
                  </a:lnTo>
                  <a:lnTo>
                    <a:pt x="182" y="0"/>
                  </a:lnTo>
                  <a:lnTo>
                    <a:pt x="152" y="2"/>
                  </a:lnTo>
                  <a:lnTo>
                    <a:pt x="125" y="13"/>
                  </a:lnTo>
                  <a:lnTo>
                    <a:pt x="98" y="29"/>
                  </a:lnTo>
                  <a:lnTo>
                    <a:pt x="74" y="51"/>
                  </a:lnTo>
                  <a:lnTo>
                    <a:pt x="55" y="78"/>
                  </a:lnTo>
                  <a:lnTo>
                    <a:pt x="36" y="108"/>
                  </a:lnTo>
                  <a:lnTo>
                    <a:pt x="22" y="144"/>
                  </a:lnTo>
                  <a:lnTo>
                    <a:pt x="11" y="182"/>
                  </a:lnTo>
                  <a:lnTo>
                    <a:pt x="3" y="222"/>
                  </a:lnTo>
                  <a:lnTo>
                    <a:pt x="0" y="266"/>
                  </a:lnTo>
                  <a:lnTo>
                    <a:pt x="3" y="309"/>
                  </a:lnTo>
                  <a:lnTo>
                    <a:pt x="11" y="350"/>
                  </a:lnTo>
                  <a:lnTo>
                    <a:pt x="22" y="388"/>
                  </a:lnTo>
                  <a:lnTo>
                    <a:pt x="36" y="423"/>
                  </a:lnTo>
                  <a:lnTo>
                    <a:pt x="55" y="456"/>
                  </a:lnTo>
                  <a:lnTo>
                    <a:pt x="74" y="481"/>
                  </a:lnTo>
                  <a:lnTo>
                    <a:pt x="98" y="502"/>
                  </a:lnTo>
                  <a:lnTo>
                    <a:pt x="125" y="519"/>
                  </a:lnTo>
                  <a:lnTo>
                    <a:pt x="152" y="529"/>
                  </a:lnTo>
                  <a:lnTo>
                    <a:pt x="182" y="532"/>
                  </a:lnTo>
                  <a:lnTo>
                    <a:pt x="180" y="5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18" name="Freeform 72"/>
            <p:cNvSpPr>
              <a:spLocks noChangeArrowheads="1"/>
            </p:cNvSpPr>
            <p:nvPr/>
          </p:nvSpPr>
          <p:spPr bwMode="auto">
            <a:xfrm>
              <a:off x="2425" y="3284"/>
              <a:ext cx="398" cy="586"/>
            </a:xfrm>
            <a:custGeom>
              <a:avLst/>
              <a:gdLst>
                <a:gd name="T0" fmla="*/ 180 w 362"/>
                <a:gd name="T1" fmla="*/ 532 h 532"/>
                <a:gd name="T2" fmla="*/ 212 w 362"/>
                <a:gd name="T3" fmla="*/ 529 h 532"/>
                <a:gd name="T4" fmla="*/ 239 w 362"/>
                <a:gd name="T5" fmla="*/ 519 h 532"/>
                <a:gd name="T6" fmla="*/ 264 w 362"/>
                <a:gd name="T7" fmla="*/ 502 h 532"/>
                <a:gd name="T8" fmla="*/ 288 w 362"/>
                <a:gd name="T9" fmla="*/ 481 h 532"/>
                <a:gd name="T10" fmla="*/ 310 w 362"/>
                <a:gd name="T11" fmla="*/ 456 h 532"/>
                <a:gd name="T12" fmla="*/ 329 w 362"/>
                <a:gd name="T13" fmla="*/ 423 h 532"/>
                <a:gd name="T14" fmla="*/ 343 w 362"/>
                <a:gd name="T15" fmla="*/ 388 h 532"/>
                <a:gd name="T16" fmla="*/ 354 w 362"/>
                <a:gd name="T17" fmla="*/ 350 h 532"/>
                <a:gd name="T18" fmla="*/ 362 w 362"/>
                <a:gd name="T19" fmla="*/ 309 h 532"/>
                <a:gd name="T20" fmla="*/ 362 w 362"/>
                <a:gd name="T21" fmla="*/ 266 h 532"/>
                <a:gd name="T22" fmla="*/ 362 w 362"/>
                <a:gd name="T23" fmla="*/ 222 h 532"/>
                <a:gd name="T24" fmla="*/ 354 w 362"/>
                <a:gd name="T25" fmla="*/ 182 h 532"/>
                <a:gd name="T26" fmla="*/ 343 w 362"/>
                <a:gd name="T27" fmla="*/ 144 h 532"/>
                <a:gd name="T28" fmla="*/ 329 w 362"/>
                <a:gd name="T29" fmla="*/ 108 h 532"/>
                <a:gd name="T30" fmla="*/ 310 w 362"/>
                <a:gd name="T31" fmla="*/ 78 h 532"/>
                <a:gd name="T32" fmla="*/ 288 w 362"/>
                <a:gd name="T33" fmla="*/ 51 h 532"/>
                <a:gd name="T34" fmla="*/ 264 w 362"/>
                <a:gd name="T35" fmla="*/ 29 h 532"/>
                <a:gd name="T36" fmla="*/ 239 w 362"/>
                <a:gd name="T37" fmla="*/ 13 h 532"/>
                <a:gd name="T38" fmla="*/ 212 w 362"/>
                <a:gd name="T39" fmla="*/ 2 h 532"/>
                <a:gd name="T40" fmla="*/ 182 w 362"/>
                <a:gd name="T41" fmla="*/ 0 h 532"/>
                <a:gd name="T42" fmla="*/ 152 w 362"/>
                <a:gd name="T43" fmla="*/ 2 h 532"/>
                <a:gd name="T44" fmla="*/ 125 w 362"/>
                <a:gd name="T45" fmla="*/ 13 h 532"/>
                <a:gd name="T46" fmla="*/ 98 w 362"/>
                <a:gd name="T47" fmla="*/ 29 h 532"/>
                <a:gd name="T48" fmla="*/ 74 w 362"/>
                <a:gd name="T49" fmla="*/ 51 h 532"/>
                <a:gd name="T50" fmla="*/ 55 w 362"/>
                <a:gd name="T51" fmla="*/ 78 h 532"/>
                <a:gd name="T52" fmla="*/ 36 w 362"/>
                <a:gd name="T53" fmla="*/ 108 h 532"/>
                <a:gd name="T54" fmla="*/ 22 w 362"/>
                <a:gd name="T55" fmla="*/ 144 h 532"/>
                <a:gd name="T56" fmla="*/ 11 w 362"/>
                <a:gd name="T57" fmla="*/ 182 h 532"/>
                <a:gd name="T58" fmla="*/ 3 w 362"/>
                <a:gd name="T59" fmla="*/ 222 h 532"/>
                <a:gd name="T60" fmla="*/ 0 w 362"/>
                <a:gd name="T61" fmla="*/ 266 h 532"/>
                <a:gd name="T62" fmla="*/ 3 w 362"/>
                <a:gd name="T63" fmla="*/ 309 h 532"/>
                <a:gd name="T64" fmla="*/ 11 w 362"/>
                <a:gd name="T65" fmla="*/ 350 h 532"/>
                <a:gd name="T66" fmla="*/ 22 w 362"/>
                <a:gd name="T67" fmla="*/ 388 h 532"/>
                <a:gd name="T68" fmla="*/ 36 w 362"/>
                <a:gd name="T69" fmla="*/ 423 h 532"/>
                <a:gd name="T70" fmla="*/ 55 w 362"/>
                <a:gd name="T71" fmla="*/ 456 h 532"/>
                <a:gd name="T72" fmla="*/ 74 w 362"/>
                <a:gd name="T73" fmla="*/ 481 h 532"/>
                <a:gd name="T74" fmla="*/ 98 w 362"/>
                <a:gd name="T75" fmla="*/ 502 h 532"/>
                <a:gd name="T76" fmla="*/ 125 w 362"/>
                <a:gd name="T77" fmla="*/ 519 h 532"/>
                <a:gd name="T78" fmla="*/ 152 w 362"/>
                <a:gd name="T79" fmla="*/ 529 h 532"/>
                <a:gd name="T80" fmla="*/ 182 w 362"/>
                <a:gd name="T81" fmla="*/ 532 h 532"/>
                <a:gd name="T82" fmla="*/ 182 w 362"/>
                <a:gd name="T83" fmla="*/ 532 h 53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62"/>
                <a:gd name="T127" fmla="*/ 0 h 532"/>
                <a:gd name="T128" fmla="*/ 362 w 362"/>
                <a:gd name="T129" fmla="*/ 532 h 53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62" h="532">
                  <a:moveTo>
                    <a:pt x="180" y="532"/>
                  </a:moveTo>
                  <a:lnTo>
                    <a:pt x="212" y="529"/>
                  </a:lnTo>
                  <a:lnTo>
                    <a:pt x="239" y="519"/>
                  </a:lnTo>
                  <a:lnTo>
                    <a:pt x="264" y="502"/>
                  </a:lnTo>
                  <a:lnTo>
                    <a:pt x="288" y="481"/>
                  </a:lnTo>
                  <a:lnTo>
                    <a:pt x="310" y="456"/>
                  </a:lnTo>
                  <a:lnTo>
                    <a:pt x="329" y="423"/>
                  </a:lnTo>
                  <a:lnTo>
                    <a:pt x="343" y="388"/>
                  </a:lnTo>
                  <a:lnTo>
                    <a:pt x="354" y="350"/>
                  </a:lnTo>
                  <a:lnTo>
                    <a:pt x="362" y="309"/>
                  </a:lnTo>
                  <a:lnTo>
                    <a:pt x="362" y="266"/>
                  </a:lnTo>
                  <a:lnTo>
                    <a:pt x="362" y="222"/>
                  </a:lnTo>
                  <a:lnTo>
                    <a:pt x="354" y="182"/>
                  </a:lnTo>
                  <a:lnTo>
                    <a:pt x="343" y="144"/>
                  </a:lnTo>
                  <a:lnTo>
                    <a:pt x="329" y="108"/>
                  </a:lnTo>
                  <a:lnTo>
                    <a:pt x="310" y="78"/>
                  </a:lnTo>
                  <a:lnTo>
                    <a:pt x="288" y="51"/>
                  </a:lnTo>
                  <a:lnTo>
                    <a:pt x="264" y="29"/>
                  </a:lnTo>
                  <a:lnTo>
                    <a:pt x="239" y="13"/>
                  </a:lnTo>
                  <a:lnTo>
                    <a:pt x="212" y="2"/>
                  </a:lnTo>
                  <a:lnTo>
                    <a:pt x="182" y="0"/>
                  </a:lnTo>
                  <a:lnTo>
                    <a:pt x="152" y="2"/>
                  </a:lnTo>
                  <a:lnTo>
                    <a:pt x="125" y="13"/>
                  </a:lnTo>
                  <a:lnTo>
                    <a:pt x="98" y="29"/>
                  </a:lnTo>
                  <a:lnTo>
                    <a:pt x="74" y="51"/>
                  </a:lnTo>
                  <a:lnTo>
                    <a:pt x="55" y="78"/>
                  </a:lnTo>
                  <a:lnTo>
                    <a:pt x="36" y="108"/>
                  </a:lnTo>
                  <a:lnTo>
                    <a:pt x="22" y="144"/>
                  </a:lnTo>
                  <a:lnTo>
                    <a:pt x="11" y="182"/>
                  </a:lnTo>
                  <a:lnTo>
                    <a:pt x="3" y="222"/>
                  </a:lnTo>
                  <a:lnTo>
                    <a:pt x="0" y="266"/>
                  </a:lnTo>
                  <a:lnTo>
                    <a:pt x="3" y="309"/>
                  </a:lnTo>
                  <a:lnTo>
                    <a:pt x="11" y="350"/>
                  </a:lnTo>
                  <a:lnTo>
                    <a:pt x="22" y="388"/>
                  </a:lnTo>
                  <a:lnTo>
                    <a:pt x="36" y="423"/>
                  </a:lnTo>
                  <a:lnTo>
                    <a:pt x="55" y="456"/>
                  </a:lnTo>
                  <a:lnTo>
                    <a:pt x="74" y="481"/>
                  </a:lnTo>
                  <a:lnTo>
                    <a:pt x="98" y="502"/>
                  </a:lnTo>
                  <a:lnTo>
                    <a:pt x="125" y="519"/>
                  </a:lnTo>
                  <a:lnTo>
                    <a:pt x="152" y="529"/>
                  </a:lnTo>
                  <a:lnTo>
                    <a:pt x="182" y="532"/>
                  </a:lnTo>
                </a:path>
              </a:pathLst>
            </a:custGeom>
            <a:noFill/>
            <a:ln w="1764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19" name="Rectangle 73"/>
            <p:cNvSpPr>
              <a:spLocks noChangeArrowheads="1"/>
            </p:cNvSpPr>
            <p:nvPr/>
          </p:nvSpPr>
          <p:spPr bwMode="auto">
            <a:xfrm>
              <a:off x="2219" y="341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67820" name="Rectangle 74"/>
            <p:cNvSpPr>
              <a:spLocks noChangeArrowheads="1"/>
            </p:cNvSpPr>
            <p:nvPr/>
          </p:nvSpPr>
          <p:spPr bwMode="auto">
            <a:xfrm>
              <a:off x="2272" y="341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6</a:t>
              </a:r>
            </a:p>
          </p:txBody>
        </p:sp>
        <p:sp>
          <p:nvSpPr>
            <p:cNvPr id="67821" name="Line 75"/>
            <p:cNvSpPr>
              <a:spLocks noChangeShapeType="1"/>
            </p:cNvSpPr>
            <p:nvPr/>
          </p:nvSpPr>
          <p:spPr bwMode="auto">
            <a:xfrm flipH="1" flipV="1">
              <a:off x="2873" y="3534"/>
              <a:ext cx="56" cy="95"/>
            </a:xfrm>
            <a:prstGeom prst="line">
              <a:avLst/>
            </a:prstGeom>
            <a:noFill/>
            <a:ln w="1764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22" name="Line 76"/>
            <p:cNvSpPr>
              <a:spLocks noChangeShapeType="1"/>
            </p:cNvSpPr>
            <p:nvPr/>
          </p:nvSpPr>
          <p:spPr bwMode="auto">
            <a:xfrm flipH="1" flipV="1">
              <a:off x="3678" y="2281"/>
              <a:ext cx="77" cy="83"/>
            </a:xfrm>
            <a:prstGeom prst="line">
              <a:avLst/>
            </a:prstGeom>
            <a:noFill/>
            <a:ln w="1764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23" name="Rectangle 77"/>
            <p:cNvSpPr>
              <a:spLocks noChangeArrowheads="1"/>
            </p:cNvSpPr>
            <p:nvPr/>
          </p:nvSpPr>
          <p:spPr bwMode="auto">
            <a:xfrm>
              <a:off x="2841" y="341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67824" name="Rectangle 78"/>
            <p:cNvSpPr>
              <a:spLocks noChangeArrowheads="1"/>
            </p:cNvSpPr>
            <p:nvPr/>
          </p:nvSpPr>
          <p:spPr bwMode="auto">
            <a:xfrm>
              <a:off x="2895" y="341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67825" name="Freeform 79"/>
            <p:cNvSpPr>
              <a:spLocks noChangeArrowheads="1"/>
            </p:cNvSpPr>
            <p:nvPr/>
          </p:nvSpPr>
          <p:spPr bwMode="auto">
            <a:xfrm>
              <a:off x="5270" y="2707"/>
              <a:ext cx="138" cy="500"/>
            </a:xfrm>
            <a:custGeom>
              <a:avLst/>
              <a:gdLst>
                <a:gd name="T0" fmla="*/ 0 w 125"/>
                <a:gd name="T1" fmla="*/ 63 h 454"/>
                <a:gd name="T2" fmla="*/ 0 w 125"/>
                <a:gd name="T3" fmla="*/ 52 h 454"/>
                <a:gd name="T4" fmla="*/ 3 w 125"/>
                <a:gd name="T5" fmla="*/ 44 h 454"/>
                <a:gd name="T6" fmla="*/ 8 w 125"/>
                <a:gd name="T7" fmla="*/ 33 h 454"/>
                <a:gd name="T8" fmla="*/ 14 w 125"/>
                <a:gd name="T9" fmla="*/ 25 h 454"/>
                <a:gd name="T10" fmla="*/ 19 w 125"/>
                <a:gd name="T11" fmla="*/ 19 h 454"/>
                <a:gd name="T12" fmla="*/ 27 w 125"/>
                <a:gd name="T13" fmla="*/ 11 h 454"/>
                <a:gd name="T14" fmla="*/ 35 w 125"/>
                <a:gd name="T15" fmla="*/ 8 h 454"/>
                <a:gd name="T16" fmla="*/ 44 w 125"/>
                <a:gd name="T17" fmla="*/ 3 h 454"/>
                <a:gd name="T18" fmla="*/ 52 w 125"/>
                <a:gd name="T19" fmla="*/ 0 h 454"/>
                <a:gd name="T20" fmla="*/ 63 w 125"/>
                <a:gd name="T21" fmla="*/ 0 h 454"/>
                <a:gd name="T22" fmla="*/ 74 w 125"/>
                <a:gd name="T23" fmla="*/ 0 h 454"/>
                <a:gd name="T24" fmla="*/ 82 w 125"/>
                <a:gd name="T25" fmla="*/ 3 h 454"/>
                <a:gd name="T26" fmla="*/ 93 w 125"/>
                <a:gd name="T27" fmla="*/ 8 h 454"/>
                <a:gd name="T28" fmla="*/ 101 w 125"/>
                <a:gd name="T29" fmla="*/ 11 h 454"/>
                <a:gd name="T30" fmla="*/ 106 w 125"/>
                <a:gd name="T31" fmla="*/ 19 h 454"/>
                <a:gd name="T32" fmla="*/ 114 w 125"/>
                <a:gd name="T33" fmla="*/ 25 h 454"/>
                <a:gd name="T34" fmla="*/ 120 w 125"/>
                <a:gd name="T35" fmla="*/ 33 h 454"/>
                <a:gd name="T36" fmla="*/ 122 w 125"/>
                <a:gd name="T37" fmla="*/ 44 h 454"/>
                <a:gd name="T38" fmla="*/ 125 w 125"/>
                <a:gd name="T39" fmla="*/ 52 h 454"/>
                <a:gd name="T40" fmla="*/ 125 w 125"/>
                <a:gd name="T41" fmla="*/ 63 h 454"/>
                <a:gd name="T42" fmla="*/ 125 w 125"/>
                <a:gd name="T43" fmla="*/ 391 h 454"/>
                <a:gd name="T44" fmla="*/ 125 w 125"/>
                <a:gd name="T45" fmla="*/ 402 h 454"/>
                <a:gd name="T46" fmla="*/ 122 w 125"/>
                <a:gd name="T47" fmla="*/ 413 h 454"/>
                <a:gd name="T48" fmla="*/ 120 w 125"/>
                <a:gd name="T49" fmla="*/ 421 h 454"/>
                <a:gd name="T50" fmla="*/ 114 w 125"/>
                <a:gd name="T51" fmla="*/ 429 h 454"/>
                <a:gd name="T52" fmla="*/ 106 w 125"/>
                <a:gd name="T53" fmla="*/ 438 h 454"/>
                <a:gd name="T54" fmla="*/ 101 w 125"/>
                <a:gd name="T55" fmla="*/ 443 h 454"/>
                <a:gd name="T56" fmla="*/ 93 w 125"/>
                <a:gd name="T57" fmla="*/ 448 h 454"/>
                <a:gd name="T58" fmla="*/ 82 w 125"/>
                <a:gd name="T59" fmla="*/ 451 h 454"/>
                <a:gd name="T60" fmla="*/ 74 w 125"/>
                <a:gd name="T61" fmla="*/ 454 h 454"/>
                <a:gd name="T62" fmla="*/ 63 w 125"/>
                <a:gd name="T63" fmla="*/ 454 h 454"/>
                <a:gd name="T64" fmla="*/ 52 w 125"/>
                <a:gd name="T65" fmla="*/ 454 h 454"/>
                <a:gd name="T66" fmla="*/ 44 w 125"/>
                <a:gd name="T67" fmla="*/ 451 h 454"/>
                <a:gd name="T68" fmla="*/ 35 w 125"/>
                <a:gd name="T69" fmla="*/ 448 h 454"/>
                <a:gd name="T70" fmla="*/ 27 w 125"/>
                <a:gd name="T71" fmla="*/ 443 h 454"/>
                <a:gd name="T72" fmla="*/ 19 w 125"/>
                <a:gd name="T73" fmla="*/ 438 h 454"/>
                <a:gd name="T74" fmla="*/ 14 w 125"/>
                <a:gd name="T75" fmla="*/ 429 h 454"/>
                <a:gd name="T76" fmla="*/ 8 w 125"/>
                <a:gd name="T77" fmla="*/ 421 h 454"/>
                <a:gd name="T78" fmla="*/ 3 w 125"/>
                <a:gd name="T79" fmla="*/ 413 h 454"/>
                <a:gd name="T80" fmla="*/ 0 w 125"/>
                <a:gd name="T81" fmla="*/ 402 h 454"/>
                <a:gd name="T82" fmla="*/ 0 w 125"/>
                <a:gd name="T83" fmla="*/ 391 h 454"/>
                <a:gd name="T84" fmla="*/ 0 w 125"/>
                <a:gd name="T85" fmla="*/ 63 h 454"/>
                <a:gd name="T86" fmla="*/ 0 w 125"/>
                <a:gd name="T87" fmla="*/ 63 h 4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5"/>
                <a:gd name="T133" fmla="*/ 0 h 454"/>
                <a:gd name="T134" fmla="*/ 125 w 125"/>
                <a:gd name="T135" fmla="*/ 454 h 45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5" h="454">
                  <a:moveTo>
                    <a:pt x="0" y="63"/>
                  </a:moveTo>
                  <a:lnTo>
                    <a:pt x="0" y="52"/>
                  </a:lnTo>
                  <a:lnTo>
                    <a:pt x="3" y="44"/>
                  </a:lnTo>
                  <a:lnTo>
                    <a:pt x="8" y="33"/>
                  </a:lnTo>
                  <a:lnTo>
                    <a:pt x="14" y="25"/>
                  </a:lnTo>
                  <a:lnTo>
                    <a:pt x="19" y="19"/>
                  </a:lnTo>
                  <a:lnTo>
                    <a:pt x="27" y="11"/>
                  </a:lnTo>
                  <a:lnTo>
                    <a:pt x="35" y="8"/>
                  </a:lnTo>
                  <a:lnTo>
                    <a:pt x="44" y="3"/>
                  </a:lnTo>
                  <a:lnTo>
                    <a:pt x="52" y="0"/>
                  </a:lnTo>
                  <a:lnTo>
                    <a:pt x="63" y="0"/>
                  </a:lnTo>
                  <a:lnTo>
                    <a:pt x="74" y="0"/>
                  </a:lnTo>
                  <a:lnTo>
                    <a:pt x="82" y="3"/>
                  </a:lnTo>
                  <a:lnTo>
                    <a:pt x="93" y="8"/>
                  </a:lnTo>
                  <a:lnTo>
                    <a:pt x="101" y="11"/>
                  </a:lnTo>
                  <a:lnTo>
                    <a:pt x="106" y="19"/>
                  </a:lnTo>
                  <a:lnTo>
                    <a:pt x="114" y="25"/>
                  </a:lnTo>
                  <a:lnTo>
                    <a:pt x="120" y="33"/>
                  </a:lnTo>
                  <a:lnTo>
                    <a:pt x="122" y="44"/>
                  </a:lnTo>
                  <a:lnTo>
                    <a:pt x="125" y="52"/>
                  </a:lnTo>
                  <a:lnTo>
                    <a:pt x="125" y="63"/>
                  </a:lnTo>
                  <a:lnTo>
                    <a:pt x="125" y="391"/>
                  </a:lnTo>
                  <a:lnTo>
                    <a:pt x="125" y="402"/>
                  </a:lnTo>
                  <a:lnTo>
                    <a:pt x="122" y="413"/>
                  </a:lnTo>
                  <a:lnTo>
                    <a:pt x="120" y="421"/>
                  </a:lnTo>
                  <a:lnTo>
                    <a:pt x="114" y="429"/>
                  </a:lnTo>
                  <a:lnTo>
                    <a:pt x="106" y="438"/>
                  </a:lnTo>
                  <a:lnTo>
                    <a:pt x="101" y="443"/>
                  </a:lnTo>
                  <a:lnTo>
                    <a:pt x="93" y="448"/>
                  </a:lnTo>
                  <a:lnTo>
                    <a:pt x="82" y="451"/>
                  </a:lnTo>
                  <a:lnTo>
                    <a:pt x="74" y="454"/>
                  </a:lnTo>
                  <a:lnTo>
                    <a:pt x="63" y="454"/>
                  </a:lnTo>
                  <a:lnTo>
                    <a:pt x="52" y="454"/>
                  </a:lnTo>
                  <a:lnTo>
                    <a:pt x="44" y="451"/>
                  </a:lnTo>
                  <a:lnTo>
                    <a:pt x="35" y="448"/>
                  </a:lnTo>
                  <a:lnTo>
                    <a:pt x="27" y="443"/>
                  </a:lnTo>
                  <a:lnTo>
                    <a:pt x="19" y="438"/>
                  </a:lnTo>
                  <a:lnTo>
                    <a:pt x="14" y="429"/>
                  </a:lnTo>
                  <a:lnTo>
                    <a:pt x="8" y="421"/>
                  </a:lnTo>
                  <a:lnTo>
                    <a:pt x="3" y="413"/>
                  </a:lnTo>
                  <a:lnTo>
                    <a:pt x="0" y="402"/>
                  </a:lnTo>
                  <a:lnTo>
                    <a:pt x="0" y="391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26" name="Freeform 80"/>
            <p:cNvSpPr>
              <a:spLocks noChangeArrowheads="1"/>
            </p:cNvSpPr>
            <p:nvPr/>
          </p:nvSpPr>
          <p:spPr bwMode="auto">
            <a:xfrm>
              <a:off x="5270" y="2707"/>
              <a:ext cx="138" cy="500"/>
            </a:xfrm>
            <a:custGeom>
              <a:avLst/>
              <a:gdLst>
                <a:gd name="T0" fmla="*/ 0 w 125"/>
                <a:gd name="T1" fmla="*/ 63 h 454"/>
                <a:gd name="T2" fmla="*/ 0 w 125"/>
                <a:gd name="T3" fmla="*/ 52 h 454"/>
                <a:gd name="T4" fmla="*/ 3 w 125"/>
                <a:gd name="T5" fmla="*/ 44 h 454"/>
                <a:gd name="T6" fmla="*/ 8 w 125"/>
                <a:gd name="T7" fmla="*/ 33 h 454"/>
                <a:gd name="T8" fmla="*/ 14 w 125"/>
                <a:gd name="T9" fmla="*/ 25 h 454"/>
                <a:gd name="T10" fmla="*/ 19 w 125"/>
                <a:gd name="T11" fmla="*/ 19 h 454"/>
                <a:gd name="T12" fmla="*/ 27 w 125"/>
                <a:gd name="T13" fmla="*/ 11 h 454"/>
                <a:gd name="T14" fmla="*/ 35 w 125"/>
                <a:gd name="T15" fmla="*/ 8 h 454"/>
                <a:gd name="T16" fmla="*/ 44 w 125"/>
                <a:gd name="T17" fmla="*/ 3 h 454"/>
                <a:gd name="T18" fmla="*/ 52 w 125"/>
                <a:gd name="T19" fmla="*/ 0 h 454"/>
                <a:gd name="T20" fmla="*/ 63 w 125"/>
                <a:gd name="T21" fmla="*/ 0 h 454"/>
                <a:gd name="T22" fmla="*/ 74 w 125"/>
                <a:gd name="T23" fmla="*/ 0 h 454"/>
                <a:gd name="T24" fmla="*/ 82 w 125"/>
                <a:gd name="T25" fmla="*/ 3 h 454"/>
                <a:gd name="T26" fmla="*/ 93 w 125"/>
                <a:gd name="T27" fmla="*/ 8 h 454"/>
                <a:gd name="T28" fmla="*/ 101 w 125"/>
                <a:gd name="T29" fmla="*/ 11 h 454"/>
                <a:gd name="T30" fmla="*/ 106 w 125"/>
                <a:gd name="T31" fmla="*/ 19 h 454"/>
                <a:gd name="T32" fmla="*/ 114 w 125"/>
                <a:gd name="T33" fmla="*/ 25 h 454"/>
                <a:gd name="T34" fmla="*/ 120 w 125"/>
                <a:gd name="T35" fmla="*/ 33 h 454"/>
                <a:gd name="T36" fmla="*/ 122 w 125"/>
                <a:gd name="T37" fmla="*/ 44 h 454"/>
                <a:gd name="T38" fmla="*/ 125 w 125"/>
                <a:gd name="T39" fmla="*/ 52 h 454"/>
                <a:gd name="T40" fmla="*/ 125 w 125"/>
                <a:gd name="T41" fmla="*/ 63 h 454"/>
                <a:gd name="T42" fmla="*/ 125 w 125"/>
                <a:gd name="T43" fmla="*/ 391 h 454"/>
                <a:gd name="T44" fmla="*/ 125 w 125"/>
                <a:gd name="T45" fmla="*/ 402 h 454"/>
                <a:gd name="T46" fmla="*/ 122 w 125"/>
                <a:gd name="T47" fmla="*/ 413 h 454"/>
                <a:gd name="T48" fmla="*/ 120 w 125"/>
                <a:gd name="T49" fmla="*/ 421 h 454"/>
                <a:gd name="T50" fmla="*/ 114 w 125"/>
                <a:gd name="T51" fmla="*/ 429 h 454"/>
                <a:gd name="T52" fmla="*/ 106 w 125"/>
                <a:gd name="T53" fmla="*/ 438 h 454"/>
                <a:gd name="T54" fmla="*/ 101 w 125"/>
                <a:gd name="T55" fmla="*/ 443 h 454"/>
                <a:gd name="T56" fmla="*/ 93 w 125"/>
                <a:gd name="T57" fmla="*/ 448 h 454"/>
                <a:gd name="T58" fmla="*/ 82 w 125"/>
                <a:gd name="T59" fmla="*/ 451 h 454"/>
                <a:gd name="T60" fmla="*/ 74 w 125"/>
                <a:gd name="T61" fmla="*/ 454 h 454"/>
                <a:gd name="T62" fmla="*/ 63 w 125"/>
                <a:gd name="T63" fmla="*/ 454 h 454"/>
                <a:gd name="T64" fmla="*/ 52 w 125"/>
                <a:gd name="T65" fmla="*/ 454 h 454"/>
                <a:gd name="T66" fmla="*/ 44 w 125"/>
                <a:gd name="T67" fmla="*/ 451 h 454"/>
                <a:gd name="T68" fmla="*/ 35 w 125"/>
                <a:gd name="T69" fmla="*/ 448 h 454"/>
                <a:gd name="T70" fmla="*/ 27 w 125"/>
                <a:gd name="T71" fmla="*/ 443 h 454"/>
                <a:gd name="T72" fmla="*/ 19 w 125"/>
                <a:gd name="T73" fmla="*/ 438 h 454"/>
                <a:gd name="T74" fmla="*/ 14 w 125"/>
                <a:gd name="T75" fmla="*/ 429 h 454"/>
                <a:gd name="T76" fmla="*/ 8 w 125"/>
                <a:gd name="T77" fmla="*/ 421 h 454"/>
                <a:gd name="T78" fmla="*/ 3 w 125"/>
                <a:gd name="T79" fmla="*/ 413 h 454"/>
                <a:gd name="T80" fmla="*/ 0 w 125"/>
                <a:gd name="T81" fmla="*/ 402 h 454"/>
                <a:gd name="T82" fmla="*/ 0 w 125"/>
                <a:gd name="T83" fmla="*/ 391 h 454"/>
                <a:gd name="T84" fmla="*/ 0 w 125"/>
                <a:gd name="T85" fmla="*/ 63 h 454"/>
                <a:gd name="T86" fmla="*/ 0 w 125"/>
                <a:gd name="T87" fmla="*/ 63 h 4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5"/>
                <a:gd name="T133" fmla="*/ 0 h 454"/>
                <a:gd name="T134" fmla="*/ 125 w 125"/>
                <a:gd name="T135" fmla="*/ 454 h 45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5" h="454">
                  <a:moveTo>
                    <a:pt x="0" y="63"/>
                  </a:moveTo>
                  <a:lnTo>
                    <a:pt x="0" y="52"/>
                  </a:lnTo>
                  <a:lnTo>
                    <a:pt x="3" y="44"/>
                  </a:lnTo>
                  <a:lnTo>
                    <a:pt x="8" y="33"/>
                  </a:lnTo>
                  <a:lnTo>
                    <a:pt x="14" y="25"/>
                  </a:lnTo>
                  <a:lnTo>
                    <a:pt x="19" y="19"/>
                  </a:lnTo>
                  <a:lnTo>
                    <a:pt x="27" y="11"/>
                  </a:lnTo>
                  <a:lnTo>
                    <a:pt x="35" y="8"/>
                  </a:lnTo>
                  <a:lnTo>
                    <a:pt x="44" y="3"/>
                  </a:lnTo>
                  <a:lnTo>
                    <a:pt x="52" y="0"/>
                  </a:lnTo>
                  <a:lnTo>
                    <a:pt x="63" y="0"/>
                  </a:lnTo>
                  <a:lnTo>
                    <a:pt x="74" y="0"/>
                  </a:lnTo>
                  <a:lnTo>
                    <a:pt x="82" y="3"/>
                  </a:lnTo>
                  <a:lnTo>
                    <a:pt x="93" y="8"/>
                  </a:lnTo>
                  <a:lnTo>
                    <a:pt x="101" y="11"/>
                  </a:lnTo>
                  <a:lnTo>
                    <a:pt x="106" y="19"/>
                  </a:lnTo>
                  <a:lnTo>
                    <a:pt x="114" y="25"/>
                  </a:lnTo>
                  <a:lnTo>
                    <a:pt x="120" y="33"/>
                  </a:lnTo>
                  <a:lnTo>
                    <a:pt x="122" y="44"/>
                  </a:lnTo>
                  <a:lnTo>
                    <a:pt x="125" y="52"/>
                  </a:lnTo>
                  <a:lnTo>
                    <a:pt x="125" y="63"/>
                  </a:lnTo>
                  <a:lnTo>
                    <a:pt x="125" y="391"/>
                  </a:lnTo>
                  <a:lnTo>
                    <a:pt x="125" y="402"/>
                  </a:lnTo>
                  <a:lnTo>
                    <a:pt x="122" y="413"/>
                  </a:lnTo>
                  <a:lnTo>
                    <a:pt x="120" y="421"/>
                  </a:lnTo>
                  <a:lnTo>
                    <a:pt x="114" y="429"/>
                  </a:lnTo>
                  <a:lnTo>
                    <a:pt x="106" y="438"/>
                  </a:lnTo>
                  <a:lnTo>
                    <a:pt x="101" y="443"/>
                  </a:lnTo>
                  <a:lnTo>
                    <a:pt x="93" y="448"/>
                  </a:lnTo>
                  <a:lnTo>
                    <a:pt x="82" y="451"/>
                  </a:lnTo>
                  <a:lnTo>
                    <a:pt x="74" y="454"/>
                  </a:lnTo>
                  <a:lnTo>
                    <a:pt x="63" y="454"/>
                  </a:lnTo>
                  <a:lnTo>
                    <a:pt x="52" y="454"/>
                  </a:lnTo>
                  <a:lnTo>
                    <a:pt x="44" y="451"/>
                  </a:lnTo>
                  <a:lnTo>
                    <a:pt x="35" y="448"/>
                  </a:lnTo>
                  <a:lnTo>
                    <a:pt x="27" y="443"/>
                  </a:lnTo>
                  <a:lnTo>
                    <a:pt x="19" y="438"/>
                  </a:lnTo>
                  <a:lnTo>
                    <a:pt x="14" y="429"/>
                  </a:lnTo>
                  <a:lnTo>
                    <a:pt x="8" y="421"/>
                  </a:lnTo>
                  <a:lnTo>
                    <a:pt x="3" y="413"/>
                  </a:lnTo>
                  <a:lnTo>
                    <a:pt x="0" y="402"/>
                  </a:lnTo>
                  <a:lnTo>
                    <a:pt x="0" y="391"/>
                  </a:lnTo>
                  <a:lnTo>
                    <a:pt x="0" y="63"/>
                  </a:lnTo>
                </a:path>
              </a:pathLst>
            </a:custGeom>
            <a:solidFill>
              <a:srgbClr val="006600"/>
            </a:solidFill>
            <a:ln w="17640">
              <a:solidFill>
                <a:srgbClr val="6666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27" name="Freeform 81"/>
            <p:cNvSpPr>
              <a:spLocks noChangeArrowheads="1"/>
            </p:cNvSpPr>
            <p:nvPr/>
          </p:nvSpPr>
          <p:spPr bwMode="auto">
            <a:xfrm>
              <a:off x="3203" y="2697"/>
              <a:ext cx="140" cy="470"/>
            </a:xfrm>
            <a:custGeom>
              <a:avLst/>
              <a:gdLst>
                <a:gd name="T0" fmla="*/ 0 w 127"/>
                <a:gd name="T1" fmla="*/ 62 h 427"/>
                <a:gd name="T2" fmla="*/ 2 w 127"/>
                <a:gd name="T3" fmla="*/ 54 h 427"/>
                <a:gd name="T4" fmla="*/ 5 w 127"/>
                <a:gd name="T5" fmla="*/ 43 h 427"/>
                <a:gd name="T6" fmla="*/ 8 w 127"/>
                <a:gd name="T7" fmla="*/ 35 h 427"/>
                <a:gd name="T8" fmla="*/ 13 w 127"/>
                <a:gd name="T9" fmla="*/ 27 h 427"/>
                <a:gd name="T10" fmla="*/ 21 w 127"/>
                <a:gd name="T11" fmla="*/ 19 h 427"/>
                <a:gd name="T12" fmla="*/ 27 w 127"/>
                <a:gd name="T13" fmla="*/ 14 h 427"/>
                <a:gd name="T14" fmla="*/ 35 w 127"/>
                <a:gd name="T15" fmla="*/ 8 h 427"/>
                <a:gd name="T16" fmla="*/ 46 w 127"/>
                <a:gd name="T17" fmla="*/ 5 h 427"/>
                <a:gd name="T18" fmla="*/ 54 w 127"/>
                <a:gd name="T19" fmla="*/ 3 h 427"/>
                <a:gd name="T20" fmla="*/ 65 w 127"/>
                <a:gd name="T21" fmla="*/ 0 h 427"/>
                <a:gd name="T22" fmla="*/ 76 w 127"/>
                <a:gd name="T23" fmla="*/ 3 h 427"/>
                <a:gd name="T24" fmla="*/ 84 w 127"/>
                <a:gd name="T25" fmla="*/ 5 h 427"/>
                <a:gd name="T26" fmla="*/ 92 w 127"/>
                <a:gd name="T27" fmla="*/ 8 h 427"/>
                <a:gd name="T28" fmla="*/ 100 w 127"/>
                <a:gd name="T29" fmla="*/ 14 h 427"/>
                <a:gd name="T30" fmla="*/ 108 w 127"/>
                <a:gd name="T31" fmla="*/ 19 h 427"/>
                <a:gd name="T32" fmla="*/ 114 w 127"/>
                <a:gd name="T33" fmla="*/ 27 h 427"/>
                <a:gd name="T34" fmla="*/ 119 w 127"/>
                <a:gd name="T35" fmla="*/ 35 h 427"/>
                <a:gd name="T36" fmla="*/ 125 w 127"/>
                <a:gd name="T37" fmla="*/ 43 h 427"/>
                <a:gd name="T38" fmla="*/ 127 w 127"/>
                <a:gd name="T39" fmla="*/ 54 h 427"/>
                <a:gd name="T40" fmla="*/ 127 w 127"/>
                <a:gd name="T41" fmla="*/ 65 h 427"/>
                <a:gd name="T42" fmla="*/ 127 w 127"/>
                <a:gd name="T43" fmla="*/ 364 h 427"/>
                <a:gd name="T44" fmla="*/ 127 w 127"/>
                <a:gd name="T45" fmla="*/ 375 h 427"/>
                <a:gd name="T46" fmla="*/ 125 w 127"/>
                <a:gd name="T47" fmla="*/ 386 h 427"/>
                <a:gd name="T48" fmla="*/ 119 w 127"/>
                <a:gd name="T49" fmla="*/ 394 h 427"/>
                <a:gd name="T50" fmla="*/ 114 w 127"/>
                <a:gd name="T51" fmla="*/ 402 h 427"/>
                <a:gd name="T52" fmla="*/ 108 w 127"/>
                <a:gd name="T53" fmla="*/ 410 h 427"/>
                <a:gd name="T54" fmla="*/ 100 w 127"/>
                <a:gd name="T55" fmla="*/ 416 h 427"/>
                <a:gd name="T56" fmla="*/ 92 w 127"/>
                <a:gd name="T57" fmla="*/ 421 h 427"/>
                <a:gd name="T58" fmla="*/ 84 w 127"/>
                <a:gd name="T59" fmla="*/ 424 h 427"/>
                <a:gd name="T60" fmla="*/ 76 w 127"/>
                <a:gd name="T61" fmla="*/ 427 h 427"/>
                <a:gd name="T62" fmla="*/ 65 w 127"/>
                <a:gd name="T63" fmla="*/ 427 h 427"/>
                <a:gd name="T64" fmla="*/ 54 w 127"/>
                <a:gd name="T65" fmla="*/ 427 h 427"/>
                <a:gd name="T66" fmla="*/ 46 w 127"/>
                <a:gd name="T67" fmla="*/ 424 h 427"/>
                <a:gd name="T68" fmla="*/ 35 w 127"/>
                <a:gd name="T69" fmla="*/ 421 h 427"/>
                <a:gd name="T70" fmla="*/ 27 w 127"/>
                <a:gd name="T71" fmla="*/ 416 h 427"/>
                <a:gd name="T72" fmla="*/ 21 w 127"/>
                <a:gd name="T73" fmla="*/ 410 h 427"/>
                <a:gd name="T74" fmla="*/ 13 w 127"/>
                <a:gd name="T75" fmla="*/ 402 h 427"/>
                <a:gd name="T76" fmla="*/ 8 w 127"/>
                <a:gd name="T77" fmla="*/ 394 h 427"/>
                <a:gd name="T78" fmla="*/ 5 w 127"/>
                <a:gd name="T79" fmla="*/ 386 h 427"/>
                <a:gd name="T80" fmla="*/ 2 w 127"/>
                <a:gd name="T81" fmla="*/ 375 h 427"/>
                <a:gd name="T82" fmla="*/ 2 w 127"/>
                <a:gd name="T83" fmla="*/ 364 h 427"/>
                <a:gd name="T84" fmla="*/ 2 w 127"/>
                <a:gd name="T85" fmla="*/ 65 h 427"/>
                <a:gd name="T86" fmla="*/ 2 w 127"/>
                <a:gd name="T87" fmla="*/ 65 h 427"/>
                <a:gd name="T88" fmla="*/ 0 w 127"/>
                <a:gd name="T89" fmla="*/ 62 h 42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27"/>
                <a:gd name="T136" fmla="*/ 0 h 427"/>
                <a:gd name="T137" fmla="*/ 127 w 127"/>
                <a:gd name="T138" fmla="*/ 427 h 42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27" h="427">
                  <a:moveTo>
                    <a:pt x="0" y="62"/>
                  </a:moveTo>
                  <a:lnTo>
                    <a:pt x="2" y="54"/>
                  </a:lnTo>
                  <a:lnTo>
                    <a:pt x="5" y="43"/>
                  </a:lnTo>
                  <a:lnTo>
                    <a:pt x="8" y="35"/>
                  </a:lnTo>
                  <a:lnTo>
                    <a:pt x="13" y="27"/>
                  </a:lnTo>
                  <a:lnTo>
                    <a:pt x="21" y="19"/>
                  </a:lnTo>
                  <a:lnTo>
                    <a:pt x="27" y="14"/>
                  </a:lnTo>
                  <a:lnTo>
                    <a:pt x="35" y="8"/>
                  </a:lnTo>
                  <a:lnTo>
                    <a:pt x="46" y="5"/>
                  </a:lnTo>
                  <a:lnTo>
                    <a:pt x="54" y="3"/>
                  </a:lnTo>
                  <a:lnTo>
                    <a:pt x="65" y="0"/>
                  </a:lnTo>
                  <a:lnTo>
                    <a:pt x="76" y="3"/>
                  </a:lnTo>
                  <a:lnTo>
                    <a:pt x="84" y="5"/>
                  </a:lnTo>
                  <a:lnTo>
                    <a:pt x="92" y="8"/>
                  </a:lnTo>
                  <a:lnTo>
                    <a:pt x="100" y="14"/>
                  </a:lnTo>
                  <a:lnTo>
                    <a:pt x="108" y="19"/>
                  </a:lnTo>
                  <a:lnTo>
                    <a:pt x="114" y="27"/>
                  </a:lnTo>
                  <a:lnTo>
                    <a:pt x="119" y="35"/>
                  </a:lnTo>
                  <a:lnTo>
                    <a:pt x="125" y="43"/>
                  </a:lnTo>
                  <a:lnTo>
                    <a:pt x="127" y="54"/>
                  </a:lnTo>
                  <a:lnTo>
                    <a:pt x="127" y="65"/>
                  </a:lnTo>
                  <a:lnTo>
                    <a:pt x="127" y="364"/>
                  </a:lnTo>
                  <a:lnTo>
                    <a:pt x="127" y="375"/>
                  </a:lnTo>
                  <a:lnTo>
                    <a:pt x="125" y="386"/>
                  </a:lnTo>
                  <a:lnTo>
                    <a:pt x="119" y="394"/>
                  </a:lnTo>
                  <a:lnTo>
                    <a:pt x="114" y="402"/>
                  </a:lnTo>
                  <a:lnTo>
                    <a:pt x="108" y="410"/>
                  </a:lnTo>
                  <a:lnTo>
                    <a:pt x="100" y="416"/>
                  </a:lnTo>
                  <a:lnTo>
                    <a:pt x="92" y="421"/>
                  </a:lnTo>
                  <a:lnTo>
                    <a:pt x="84" y="424"/>
                  </a:lnTo>
                  <a:lnTo>
                    <a:pt x="76" y="427"/>
                  </a:lnTo>
                  <a:lnTo>
                    <a:pt x="65" y="427"/>
                  </a:lnTo>
                  <a:lnTo>
                    <a:pt x="54" y="427"/>
                  </a:lnTo>
                  <a:lnTo>
                    <a:pt x="46" y="424"/>
                  </a:lnTo>
                  <a:lnTo>
                    <a:pt x="35" y="421"/>
                  </a:lnTo>
                  <a:lnTo>
                    <a:pt x="27" y="416"/>
                  </a:lnTo>
                  <a:lnTo>
                    <a:pt x="21" y="410"/>
                  </a:lnTo>
                  <a:lnTo>
                    <a:pt x="13" y="402"/>
                  </a:lnTo>
                  <a:lnTo>
                    <a:pt x="8" y="394"/>
                  </a:lnTo>
                  <a:lnTo>
                    <a:pt x="5" y="386"/>
                  </a:lnTo>
                  <a:lnTo>
                    <a:pt x="2" y="375"/>
                  </a:lnTo>
                  <a:lnTo>
                    <a:pt x="2" y="364"/>
                  </a:lnTo>
                  <a:lnTo>
                    <a:pt x="2" y="65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28" name="Freeform 82"/>
            <p:cNvSpPr>
              <a:spLocks noChangeArrowheads="1"/>
            </p:cNvSpPr>
            <p:nvPr/>
          </p:nvSpPr>
          <p:spPr bwMode="auto">
            <a:xfrm>
              <a:off x="3203" y="2697"/>
              <a:ext cx="140" cy="470"/>
            </a:xfrm>
            <a:custGeom>
              <a:avLst/>
              <a:gdLst>
                <a:gd name="T0" fmla="*/ 0 w 127"/>
                <a:gd name="T1" fmla="*/ 62 h 427"/>
                <a:gd name="T2" fmla="*/ 2 w 127"/>
                <a:gd name="T3" fmla="*/ 54 h 427"/>
                <a:gd name="T4" fmla="*/ 5 w 127"/>
                <a:gd name="T5" fmla="*/ 43 h 427"/>
                <a:gd name="T6" fmla="*/ 8 w 127"/>
                <a:gd name="T7" fmla="*/ 35 h 427"/>
                <a:gd name="T8" fmla="*/ 13 w 127"/>
                <a:gd name="T9" fmla="*/ 27 h 427"/>
                <a:gd name="T10" fmla="*/ 21 w 127"/>
                <a:gd name="T11" fmla="*/ 19 h 427"/>
                <a:gd name="T12" fmla="*/ 27 w 127"/>
                <a:gd name="T13" fmla="*/ 14 h 427"/>
                <a:gd name="T14" fmla="*/ 35 w 127"/>
                <a:gd name="T15" fmla="*/ 8 h 427"/>
                <a:gd name="T16" fmla="*/ 46 w 127"/>
                <a:gd name="T17" fmla="*/ 5 h 427"/>
                <a:gd name="T18" fmla="*/ 54 w 127"/>
                <a:gd name="T19" fmla="*/ 3 h 427"/>
                <a:gd name="T20" fmla="*/ 65 w 127"/>
                <a:gd name="T21" fmla="*/ 0 h 427"/>
                <a:gd name="T22" fmla="*/ 76 w 127"/>
                <a:gd name="T23" fmla="*/ 3 h 427"/>
                <a:gd name="T24" fmla="*/ 84 w 127"/>
                <a:gd name="T25" fmla="*/ 5 h 427"/>
                <a:gd name="T26" fmla="*/ 92 w 127"/>
                <a:gd name="T27" fmla="*/ 8 h 427"/>
                <a:gd name="T28" fmla="*/ 100 w 127"/>
                <a:gd name="T29" fmla="*/ 14 h 427"/>
                <a:gd name="T30" fmla="*/ 108 w 127"/>
                <a:gd name="T31" fmla="*/ 19 h 427"/>
                <a:gd name="T32" fmla="*/ 114 w 127"/>
                <a:gd name="T33" fmla="*/ 27 h 427"/>
                <a:gd name="T34" fmla="*/ 119 w 127"/>
                <a:gd name="T35" fmla="*/ 35 h 427"/>
                <a:gd name="T36" fmla="*/ 125 w 127"/>
                <a:gd name="T37" fmla="*/ 43 h 427"/>
                <a:gd name="T38" fmla="*/ 127 w 127"/>
                <a:gd name="T39" fmla="*/ 54 h 427"/>
                <a:gd name="T40" fmla="*/ 127 w 127"/>
                <a:gd name="T41" fmla="*/ 65 h 427"/>
                <a:gd name="T42" fmla="*/ 127 w 127"/>
                <a:gd name="T43" fmla="*/ 364 h 427"/>
                <a:gd name="T44" fmla="*/ 127 w 127"/>
                <a:gd name="T45" fmla="*/ 375 h 427"/>
                <a:gd name="T46" fmla="*/ 125 w 127"/>
                <a:gd name="T47" fmla="*/ 386 h 427"/>
                <a:gd name="T48" fmla="*/ 119 w 127"/>
                <a:gd name="T49" fmla="*/ 394 h 427"/>
                <a:gd name="T50" fmla="*/ 114 w 127"/>
                <a:gd name="T51" fmla="*/ 402 h 427"/>
                <a:gd name="T52" fmla="*/ 108 w 127"/>
                <a:gd name="T53" fmla="*/ 410 h 427"/>
                <a:gd name="T54" fmla="*/ 100 w 127"/>
                <a:gd name="T55" fmla="*/ 416 h 427"/>
                <a:gd name="T56" fmla="*/ 92 w 127"/>
                <a:gd name="T57" fmla="*/ 421 h 427"/>
                <a:gd name="T58" fmla="*/ 84 w 127"/>
                <a:gd name="T59" fmla="*/ 424 h 427"/>
                <a:gd name="T60" fmla="*/ 76 w 127"/>
                <a:gd name="T61" fmla="*/ 427 h 427"/>
                <a:gd name="T62" fmla="*/ 65 w 127"/>
                <a:gd name="T63" fmla="*/ 427 h 427"/>
                <a:gd name="T64" fmla="*/ 54 w 127"/>
                <a:gd name="T65" fmla="*/ 427 h 427"/>
                <a:gd name="T66" fmla="*/ 46 w 127"/>
                <a:gd name="T67" fmla="*/ 424 h 427"/>
                <a:gd name="T68" fmla="*/ 35 w 127"/>
                <a:gd name="T69" fmla="*/ 421 h 427"/>
                <a:gd name="T70" fmla="*/ 27 w 127"/>
                <a:gd name="T71" fmla="*/ 416 h 427"/>
                <a:gd name="T72" fmla="*/ 21 w 127"/>
                <a:gd name="T73" fmla="*/ 410 h 427"/>
                <a:gd name="T74" fmla="*/ 13 w 127"/>
                <a:gd name="T75" fmla="*/ 402 h 427"/>
                <a:gd name="T76" fmla="*/ 8 w 127"/>
                <a:gd name="T77" fmla="*/ 394 h 427"/>
                <a:gd name="T78" fmla="*/ 5 w 127"/>
                <a:gd name="T79" fmla="*/ 386 h 427"/>
                <a:gd name="T80" fmla="*/ 2 w 127"/>
                <a:gd name="T81" fmla="*/ 375 h 427"/>
                <a:gd name="T82" fmla="*/ 2 w 127"/>
                <a:gd name="T83" fmla="*/ 364 h 427"/>
                <a:gd name="T84" fmla="*/ 2 w 127"/>
                <a:gd name="T85" fmla="*/ 65 h 427"/>
                <a:gd name="T86" fmla="*/ 2 w 127"/>
                <a:gd name="T87" fmla="*/ 65 h 42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7"/>
                <a:gd name="T133" fmla="*/ 0 h 427"/>
                <a:gd name="T134" fmla="*/ 127 w 127"/>
                <a:gd name="T135" fmla="*/ 427 h 42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7" h="427">
                  <a:moveTo>
                    <a:pt x="0" y="62"/>
                  </a:moveTo>
                  <a:lnTo>
                    <a:pt x="2" y="54"/>
                  </a:lnTo>
                  <a:lnTo>
                    <a:pt x="5" y="43"/>
                  </a:lnTo>
                  <a:lnTo>
                    <a:pt x="8" y="35"/>
                  </a:lnTo>
                  <a:lnTo>
                    <a:pt x="13" y="27"/>
                  </a:lnTo>
                  <a:lnTo>
                    <a:pt x="21" y="19"/>
                  </a:lnTo>
                  <a:lnTo>
                    <a:pt x="27" y="14"/>
                  </a:lnTo>
                  <a:lnTo>
                    <a:pt x="35" y="8"/>
                  </a:lnTo>
                  <a:lnTo>
                    <a:pt x="46" y="5"/>
                  </a:lnTo>
                  <a:lnTo>
                    <a:pt x="54" y="3"/>
                  </a:lnTo>
                  <a:lnTo>
                    <a:pt x="65" y="0"/>
                  </a:lnTo>
                  <a:lnTo>
                    <a:pt x="76" y="3"/>
                  </a:lnTo>
                  <a:lnTo>
                    <a:pt x="84" y="5"/>
                  </a:lnTo>
                  <a:lnTo>
                    <a:pt x="92" y="8"/>
                  </a:lnTo>
                  <a:lnTo>
                    <a:pt x="100" y="14"/>
                  </a:lnTo>
                  <a:lnTo>
                    <a:pt x="108" y="19"/>
                  </a:lnTo>
                  <a:lnTo>
                    <a:pt x="114" y="27"/>
                  </a:lnTo>
                  <a:lnTo>
                    <a:pt x="119" y="35"/>
                  </a:lnTo>
                  <a:lnTo>
                    <a:pt x="125" y="43"/>
                  </a:lnTo>
                  <a:lnTo>
                    <a:pt x="127" y="54"/>
                  </a:lnTo>
                  <a:lnTo>
                    <a:pt x="127" y="65"/>
                  </a:lnTo>
                  <a:lnTo>
                    <a:pt x="127" y="364"/>
                  </a:lnTo>
                  <a:lnTo>
                    <a:pt x="127" y="375"/>
                  </a:lnTo>
                  <a:lnTo>
                    <a:pt x="125" y="386"/>
                  </a:lnTo>
                  <a:lnTo>
                    <a:pt x="119" y="394"/>
                  </a:lnTo>
                  <a:lnTo>
                    <a:pt x="114" y="402"/>
                  </a:lnTo>
                  <a:lnTo>
                    <a:pt x="108" y="410"/>
                  </a:lnTo>
                  <a:lnTo>
                    <a:pt x="100" y="416"/>
                  </a:lnTo>
                  <a:lnTo>
                    <a:pt x="92" y="421"/>
                  </a:lnTo>
                  <a:lnTo>
                    <a:pt x="84" y="424"/>
                  </a:lnTo>
                  <a:lnTo>
                    <a:pt x="76" y="427"/>
                  </a:lnTo>
                  <a:lnTo>
                    <a:pt x="65" y="427"/>
                  </a:lnTo>
                  <a:lnTo>
                    <a:pt x="54" y="427"/>
                  </a:lnTo>
                  <a:lnTo>
                    <a:pt x="46" y="424"/>
                  </a:lnTo>
                  <a:lnTo>
                    <a:pt x="35" y="421"/>
                  </a:lnTo>
                  <a:lnTo>
                    <a:pt x="27" y="416"/>
                  </a:lnTo>
                  <a:lnTo>
                    <a:pt x="21" y="410"/>
                  </a:lnTo>
                  <a:lnTo>
                    <a:pt x="13" y="402"/>
                  </a:lnTo>
                  <a:lnTo>
                    <a:pt x="8" y="394"/>
                  </a:lnTo>
                  <a:lnTo>
                    <a:pt x="5" y="386"/>
                  </a:lnTo>
                  <a:lnTo>
                    <a:pt x="2" y="375"/>
                  </a:lnTo>
                  <a:lnTo>
                    <a:pt x="2" y="364"/>
                  </a:lnTo>
                  <a:lnTo>
                    <a:pt x="2" y="65"/>
                  </a:lnTo>
                </a:path>
              </a:pathLst>
            </a:custGeom>
            <a:solidFill>
              <a:srgbClr val="006600"/>
            </a:solidFill>
            <a:ln w="17640">
              <a:solidFill>
                <a:srgbClr val="6666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29" name="Freeform 83"/>
            <p:cNvSpPr>
              <a:spLocks noChangeArrowheads="1"/>
            </p:cNvSpPr>
            <p:nvPr/>
          </p:nvSpPr>
          <p:spPr bwMode="auto">
            <a:xfrm>
              <a:off x="1824" y="2081"/>
              <a:ext cx="939" cy="1097"/>
            </a:xfrm>
            <a:custGeom>
              <a:avLst/>
              <a:gdLst>
                <a:gd name="T0" fmla="*/ 851 w 853"/>
                <a:gd name="T1" fmla="*/ 995 h 997"/>
                <a:gd name="T2" fmla="*/ 853 w 853"/>
                <a:gd name="T3" fmla="*/ 0 h 997"/>
                <a:gd name="T4" fmla="*/ 0 w 853"/>
                <a:gd name="T5" fmla="*/ 0 h 997"/>
                <a:gd name="T6" fmla="*/ 0 w 853"/>
                <a:gd name="T7" fmla="*/ 997 h 997"/>
                <a:gd name="T8" fmla="*/ 853 w 853"/>
                <a:gd name="T9" fmla="*/ 997 h 997"/>
                <a:gd name="T10" fmla="*/ 853 w 853"/>
                <a:gd name="T11" fmla="*/ 997 h 997"/>
                <a:gd name="T12" fmla="*/ 851 w 853"/>
                <a:gd name="T13" fmla="*/ 995 h 9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53"/>
                <a:gd name="T22" fmla="*/ 0 h 997"/>
                <a:gd name="T23" fmla="*/ 853 w 853"/>
                <a:gd name="T24" fmla="*/ 997 h 9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53" h="997">
                  <a:moveTo>
                    <a:pt x="851" y="995"/>
                  </a:moveTo>
                  <a:lnTo>
                    <a:pt x="853" y="0"/>
                  </a:lnTo>
                  <a:lnTo>
                    <a:pt x="0" y="0"/>
                  </a:lnTo>
                  <a:lnTo>
                    <a:pt x="0" y="997"/>
                  </a:lnTo>
                  <a:lnTo>
                    <a:pt x="853" y="997"/>
                  </a:lnTo>
                  <a:lnTo>
                    <a:pt x="851" y="9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30" name="Freeform 84"/>
            <p:cNvSpPr>
              <a:spLocks noChangeArrowheads="1"/>
            </p:cNvSpPr>
            <p:nvPr/>
          </p:nvSpPr>
          <p:spPr bwMode="auto">
            <a:xfrm>
              <a:off x="1824" y="2081"/>
              <a:ext cx="939" cy="1097"/>
            </a:xfrm>
            <a:custGeom>
              <a:avLst/>
              <a:gdLst>
                <a:gd name="T0" fmla="*/ 851 w 853"/>
                <a:gd name="T1" fmla="*/ 995 h 997"/>
                <a:gd name="T2" fmla="*/ 853 w 853"/>
                <a:gd name="T3" fmla="*/ 0 h 997"/>
                <a:gd name="T4" fmla="*/ 0 w 853"/>
                <a:gd name="T5" fmla="*/ 0 h 997"/>
                <a:gd name="T6" fmla="*/ 0 w 853"/>
                <a:gd name="T7" fmla="*/ 997 h 997"/>
                <a:gd name="T8" fmla="*/ 853 w 853"/>
                <a:gd name="T9" fmla="*/ 997 h 997"/>
                <a:gd name="T10" fmla="*/ 853 w 853"/>
                <a:gd name="T11" fmla="*/ 997 h 9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53"/>
                <a:gd name="T19" fmla="*/ 0 h 997"/>
                <a:gd name="T20" fmla="*/ 853 w 853"/>
                <a:gd name="T21" fmla="*/ 997 h 9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53" h="997">
                  <a:moveTo>
                    <a:pt x="851" y="995"/>
                  </a:moveTo>
                  <a:lnTo>
                    <a:pt x="853" y="0"/>
                  </a:lnTo>
                  <a:lnTo>
                    <a:pt x="0" y="0"/>
                  </a:lnTo>
                  <a:lnTo>
                    <a:pt x="0" y="997"/>
                  </a:lnTo>
                  <a:lnTo>
                    <a:pt x="853" y="997"/>
                  </a:lnTo>
                </a:path>
              </a:pathLst>
            </a:custGeom>
            <a:noFill/>
            <a:ln w="1764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31" name="Rectangle 85"/>
            <p:cNvSpPr>
              <a:spLocks noChangeArrowheads="1"/>
            </p:cNvSpPr>
            <p:nvPr/>
          </p:nvSpPr>
          <p:spPr bwMode="auto">
            <a:xfrm>
              <a:off x="2267" y="2121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832" name="Rectangle 86"/>
            <p:cNvSpPr>
              <a:spLocks noChangeArrowheads="1"/>
            </p:cNvSpPr>
            <p:nvPr/>
          </p:nvSpPr>
          <p:spPr bwMode="auto">
            <a:xfrm>
              <a:off x="2341" y="2121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833" name="Rectangle 87"/>
            <p:cNvSpPr>
              <a:spLocks noChangeArrowheads="1"/>
            </p:cNvSpPr>
            <p:nvPr/>
          </p:nvSpPr>
          <p:spPr bwMode="auto">
            <a:xfrm>
              <a:off x="2394" y="2121"/>
              <a:ext cx="4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67834" name="Rectangle 88"/>
            <p:cNvSpPr>
              <a:spLocks noChangeArrowheads="1"/>
            </p:cNvSpPr>
            <p:nvPr/>
          </p:nvSpPr>
          <p:spPr bwMode="auto">
            <a:xfrm>
              <a:off x="2453" y="2121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7835" name="Rectangle 89"/>
            <p:cNvSpPr>
              <a:spLocks noChangeArrowheads="1"/>
            </p:cNvSpPr>
            <p:nvPr/>
          </p:nvSpPr>
          <p:spPr bwMode="auto">
            <a:xfrm>
              <a:off x="2473" y="2121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7836" name="Rectangle 90"/>
            <p:cNvSpPr>
              <a:spLocks noChangeArrowheads="1"/>
            </p:cNvSpPr>
            <p:nvPr/>
          </p:nvSpPr>
          <p:spPr bwMode="auto">
            <a:xfrm>
              <a:off x="2524" y="2121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837" name="Rectangle 91"/>
            <p:cNvSpPr>
              <a:spLocks noChangeArrowheads="1"/>
            </p:cNvSpPr>
            <p:nvPr/>
          </p:nvSpPr>
          <p:spPr bwMode="auto">
            <a:xfrm>
              <a:off x="2551" y="2121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838" name="Rectangle 92"/>
            <p:cNvSpPr>
              <a:spLocks noChangeArrowheads="1"/>
            </p:cNvSpPr>
            <p:nvPr/>
          </p:nvSpPr>
          <p:spPr bwMode="auto">
            <a:xfrm>
              <a:off x="2604" y="2121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839" name="Rectangle 93"/>
            <p:cNvSpPr>
              <a:spLocks noChangeArrowheads="1"/>
            </p:cNvSpPr>
            <p:nvPr/>
          </p:nvSpPr>
          <p:spPr bwMode="auto">
            <a:xfrm>
              <a:off x="2641" y="2121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7840" name="Rectangle 94"/>
            <p:cNvSpPr>
              <a:spLocks noChangeArrowheads="1"/>
            </p:cNvSpPr>
            <p:nvPr/>
          </p:nvSpPr>
          <p:spPr bwMode="auto">
            <a:xfrm>
              <a:off x="1852" y="2673"/>
              <a:ext cx="83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67841" name="Rectangle 95"/>
            <p:cNvSpPr>
              <a:spLocks noChangeArrowheads="1"/>
            </p:cNvSpPr>
            <p:nvPr/>
          </p:nvSpPr>
          <p:spPr bwMode="auto">
            <a:xfrm>
              <a:off x="1947" y="2673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842" name="Rectangle 96"/>
            <p:cNvSpPr>
              <a:spLocks noChangeArrowheads="1"/>
            </p:cNvSpPr>
            <p:nvPr/>
          </p:nvSpPr>
          <p:spPr bwMode="auto">
            <a:xfrm>
              <a:off x="1983" y="2673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7843" name="Rectangle 97"/>
            <p:cNvSpPr>
              <a:spLocks noChangeArrowheads="1"/>
            </p:cNvSpPr>
            <p:nvPr/>
          </p:nvSpPr>
          <p:spPr bwMode="auto">
            <a:xfrm>
              <a:off x="2003" y="2673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844" name="Rectangle 98"/>
            <p:cNvSpPr>
              <a:spLocks noChangeArrowheads="1"/>
            </p:cNvSpPr>
            <p:nvPr/>
          </p:nvSpPr>
          <p:spPr bwMode="auto">
            <a:xfrm>
              <a:off x="2030" y="267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845" name="Rectangle 99"/>
            <p:cNvSpPr>
              <a:spLocks noChangeArrowheads="1"/>
            </p:cNvSpPr>
            <p:nvPr/>
          </p:nvSpPr>
          <p:spPr bwMode="auto">
            <a:xfrm>
              <a:off x="2087" y="2673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46" name="Rectangle 100"/>
            <p:cNvSpPr>
              <a:spLocks noChangeArrowheads="1"/>
            </p:cNvSpPr>
            <p:nvPr/>
          </p:nvSpPr>
          <p:spPr bwMode="auto">
            <a:xfrm>
              <a:off x="1853" y="2779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847" name="Rectangle 101"/>
            <p:cNvSpPr>
              <a:spLocks noChangeArrowheads="1"/>
            </p:cNvSpPr>
            <p:nvPr/>
          </p:nvSpPr>
          <p:spPr bwMode="auto">
            <a:xfrm>
              <a:off x="1887" y="277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848" name="Rectangle 102"/>
            <p:cNvSpPr>
              <a:spLocks noChangeArrowheads="1"/>
            </p:cNvSpPr>
            <p:nvPr/>
          </p:nvSpPr>
          <p:spPr bwMode="auto">
            <a:xfrm>
              <a:off x="1943" y="2779"/>
              <a:ext cx="4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67849" name="Rectangle 103"/>
            <p:cNvSpPr>
              <a:spLocks noChangeArrowheads="1"/>
            </p:cNvSpPr>
            <p:nvPr/>
          </p:nvSpPr>
          <p:spPr bwMode="auto">
            <a:xfrm>
              <a:off x="1998" y="2779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7850" name="Rectangle 104"/>
            <p:cNvSpPr>
              <a:spLocks noChangeArrowheads="1"/>
            </p:cNvSpPr>
            <p:nvPr/>
          </p:nvSpPr>
          <p:spPr bwMode="auto">
            <a:xfrm>
              <a:off x="2022" y="2779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7851" name="Rectangle 105"/>
            <p:cNvSpPr>
              <a:spLocks noChangeArrowheads="1"/>
            </p:cNvSpPr>
            <p:nvPr/>
          </p:nvSpPr>
          <p:spPr bwMode="auto">
            <a:xfrm>
              <a:off x="2069" y="2779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852" name="Rectangle 106"/>
            <p:cNvSpPr>
              <a:spLocks noChangeArrowheads="1"/>
            </p:cNvSpPr>
            <p:nvPr/>
          </p:nvSpPr>
          <p:spPr bwMode="auto">
            <a:xfrm>
              <a:off x="2096" y="277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853" name="Rectangle 107"/>
            <p:cNvSpPr>
              <a:spLocks noChangeArrowheads="1"/>
            </p:cNvSpPr>
            <p:nvPr/>
          </p:nvSpPr>
          <p:spPr bwMode="auto">
            <a:xfrm>
              <a:off x="2152" y="2779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854" name="Rectangle 108"/>
            <p:cNvSpPr>
              <a:spLocks noChangeArrowheads="1"/>
            </p:cNvSpPr>
            <p:nvPr/>
          </p:nvSpPr>
          <p:spPr bwMode="auto">
            <a:xfrm>
              <a:off x="1852" y="2938"/>
              <a:ext cx="83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67855" name="Rectangle 109"/>
            <p:cNvSpPr>
              <a:spLocks noChangeArrowheads="1"/>
            </p:cNvSpPr>
            <p:nvPr/>
          </p:nvSpPr>
          <p:spPr bwMode="auto">
            <a:xfrm>
              <a:off x="1947" y="2938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856" name="Rectangle 110"/>
            <p:cNvSpPr>
              <a:spLocks noChangeArrowheads="1"/>
            </p:cNvSpPr>
            <p:nvPr/>
          </p:nvSpPr>
          <p:spPr bwMode="auto">
            <a:xfrm>
              <a:off x="1983" y="2938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7857" name="Rectangle 111"/>
            <p:cNvSpPr>
              <a:spLocks noChangeArrowheads="1"/>
            </p:cNvSpPr>
            <p:nvPr/>
          </p:nvSpPr>
          <p:spPr bwMode="auto">
            <a:xfrm>
              <a:off x="2003" y="2938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858" name="Rectangle 112"/>
            <p:cNvSpPr>
              <a:spLocks noChangeArrowheads="1"/>
            </p:cNvSpPr>
            <p:nvPr/>
          </p:nvSpPr>
          <p:spPr bwMode="auto">
            <a:xfrm>
              <a:off x="2030" y="293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859" name="Rectangle 113"/>
            <p:cNvSpPr>
              <a:spLocks noChangeArrowheads="1"/>
            </p:cNvSpPr>
            <p:nvPr/>
          </p:nvSpPr>
          <p:spPr bwMode="auto">
            <a:xfrm>
              <a:off x="2087" y="2938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60" name="Rectangle 114"/>
            <p:cNvSpPr>
              <a:spLocks noChangeArrowheads="1"/>
            </p:cNvSpPr>
            <p:nvPr/>
          </p:nvSpPr>
          <p:spPr bwMode="auto">
            <a:xfrm>
              <a:off x="1854" y="304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7861" name="Rectangle 115"/>
            <p:cNvSpPr>
              <a:spLocks noChangeArrowheads="1"/>
            </p:cNvSpPr>
            <p:nvPr/>
          </p:nvSpPr>
          <p:spPr bwMode="auto">
            <a:xfrm>
              <a:off x="1911" y="304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862" name="Rectangle 116"/>
            <p:cNvSpPr>
              <a:spLocks noChangeArrowheads="1"/>
            </p:cNvSpPr>
            <p:nvPr/>
          </p:nvSpPr>
          <p:spPr bwMode="auto">
            <a:xfrm>
              <a:off x="1964" y="3044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863" name="Rectangle 117"/>
            <p:cNvSpPr>
              <a:spLocks noChangeArrowheads="1"/>
            </p:cNvSpPr>
            <p:nvPr/>
          </p:nvSpPr>
          <p:spPr bwMode="auto">
            <a:xfrm>
              <a:off x="1991" y="304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864" name="Rectangle 118"/>
            <p:cNvSpPr>
              <a:spLocks noChangeArrowheads="1"/>
            </p:cNvSpPr>
            <p:nvPr/>
          </p:nvSpPr>
          <p:spPr bwMode="auto">
            <a:xfrm>
              <a:off x="2507" y="2384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865" name="Rectangle 119"/>
            <p:cNvSpPr>
              <a:spLocks noChangeArrowheads="1"/>
            </p:cNvSpPr>
            <p:nvPr/>
          </p:nvSpPr>
          <p:spPr bwMode="auto">
            <a:xfrm>
              <a:off x="2577" y="238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866" name="Rectangle 120"/>
            <p:cNvSpPr>
              <a:spLocks noChangeArrowheads="1"/>
            </p:cNvSpPr>
            <p:nvPr/>
          </p:nvSpPr>
          <p:spPr bwMode="auto">
            <a:xfrm>
              <a:off x="2635" y="238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867" name="Rectangle 121"/>
            <p:cNvSpPr>
              <a:spLocks noChangeArrowheads="1"/>
            </p:cNvSpPr>
            <p:nvPr/>
          </p:nvSpPr>
          <p:spPr bwMode="auto">
            <a:xfrm>
              <a:off x="2688" y="238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7868" name="Rectangle 122"/>
            <p:cNvSpPr>
              <a:spLocks noChangeArrowheads="1"/>
            </p:cNvSpPr>
            <p:nvPr/>
          </p:nvSpPr>
          <p:spPr bwMode="auto">
            <a:xfrm>
              <a:off x="2745" y="238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69" name="Rectangle 123"/>
            <p:cNvSpPr>
              <a:spLocks noChangeArrowheads="1"/>
            </p:cNvSpPr>
            <p:nvPr/>
          </p:nvSpPr>
          <p:spPr bwMode="auto">
            <a:xfrm>
              <a:off x="2446" y="249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7870" name="Rectangle 124"/>
            <p:cNvSpPr>
              <a:spLocks noChangeArrowheads="1"/>
            </p:cNvSpPr>
            <p:nvPr/>
          </p:nvSpPr>
          <p:spPr bwMode="auto">
            <a:xfrm>
              <a:off x="2500" y="249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871" name="Rectangle 125"/>
            <p:cNvSpPr>
              <a:spLocks noChangeArrowheads="1"/>
            </p:cNvSpPr>
            <p:nvPr/>
          </p:nvSpPr>
          <p:spPr bwMode="auto">
            <a:xfrm>
              <a:off x="2556" y="2497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872" name="Rectangle 126"/>
            <p:cNvSpPr>
              <a:spLocks noChangeArrowheads="1"/>
            </p:cNvSpPr>
            <p:nvPr/>
          </p:nvSpPr>
          <p:spPr bwMode="auto">
            <a:xfrm>
              <a:off x="2584" y="249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873" name="Rectangle 127"/>
            <p:cNvSpPr>
              <a:spLocks noChangeArrowheads="1"/>
            </p:cNvSpPr>
            <p:nvPr/>
          </p:nvSpPr>
          <p:spPr bwMode="auto">
            <a:xfrm>
              <a:off x="2640" y="2497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67874" name="Rectangle 128"/>
            <p:cNvSpPr>
              <a:spLocks noChangeArrowheads="1"/>
            </p:cNvSpPr>
            <p:nvPr/>
          </p:nvSpPr>
          <p:spPr bwMode="auto">
            <a:xfrm>
              <a:off x="2667" y="249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67875" name="Rectangle 129"/>
            <p:cNvSpPr>
              <a:spLocks noChangeArrowheads="1"/>
            </p:cNvSpPr>
            <p:nvPr/>
          </p:nvSpPr>
          <p:spPr bwMode="auto">
            <a:xfrm>
              <a:off x="2507" y="2662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876" name="Rectangle 130"/>
            <p:cNvSpPr>
              <a:spLocks noChangeArrowheads="1"/>
            </p:cNvSpPr>
            <p:nvPr/>
          </p:nvSpPr>
          <p:spPr bwMode="auto">
            <a:xfrm>
              <a:off x="2577" y="2662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877" name="Rectangle 131"/>
            <p:cNvSpPr>
              <a:spLocks noChangeArrowheads="1"/>
            </p:cNvSpPr>
            <p:nvPr/>
          </p:nvSpPr>
          <p:spPr bwMode="auto">
            <a:xfrm>
              <a:off x="2635" y="2662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878" name="Rectangle 132"/>
            <p:cNvSpPr>
              <a:spLocks noChangeArrowheads="1"/>
            </p:cNvSpPr>
            <p:nvPr/>
          </p:nvSpPr>
          <p:spPr bwMode="auto">
            <a:xfrm>
              <a:off x="2688" y="2662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7879" name="Rectangle 133"/>
            <p:cNvSpPr>
              <a:spLocks noChangeArrowheads="1"/>
            </p:cNvSpPr>
            <p:nvPr/>
          </p:nvSpPr>
          <p:spPr bwMode="auto">
            <a:xfrm>
              <a:off x="2745" y="2662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80" name="Rectangle 134"/>
            <p:cNvSpPr>
              <a:spLocks noChangeArrowheads="1"/>
            </p:cNvSpPr>
            <p:nvPr/>
          </p:nvSpPr>
          <p:spPr bwMode="auto">
            <a:xfrm>
              <a:off x="2446" y="2775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7881" name="Rectangle 135"/>
            <p:cNvSpPr>
              <a:spLocks noChangeArrowheads="1"/>
            </p:cNvSpPr>
            <p:nvPr/>
          </p:nvSpPr>
          <p:spPr bwMode="auto">
            <a:xfrm>
              <a:off x="2500" y="2775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882" name="Rectangle 136"/>
            <p:cNvSpPr>
              <a:spLocks noChangeArrowheads="1"/>
            </p:cNvSpPr>
            <p:nvPr/>
          </p:nvSpPr>
          <p:spPr bwMode="auto">
            <a:xfrm>
              <a:off x="2556" y="2775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883" name="Rectangle 137"/>
            <p:cNvSpPr>
              <a:spLocks noChangeArrowheads="1"/>
            </p:cNvSpPr>
            <p:nvPr/>
          </p:nvSpPr>
          <p:spPr bwMode="auto">
            <a:xfrm>
              <a:off x="2584" y="2775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884" name="Rectangle 138"/>
            <p:cNvSpPr>
              <a:spLocks noChangeArrowheads="1"/>
            </p:cNvSpPr>
            <p:nvPr/>
          </p:nvSpPr>
          <p:spPr bwMode="auto">
            <a:xfrm>
              <a:off x="2640" y="2775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67885" name="Rectangle 139"/>
            <p:cNvSpPr>
              <a:spLocks noChangeArrowheads="1"/>
            </p:cNvSpPr>
            <p:nvPr/>
          </p:nvSpPr>
          <p:spPr bwMode="auto">
            <a:xfrm>
              <a:off x="2667" y="2775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67886" name="Rectangle 140"/>
            <p:cNvSpPr>
              <a:spLocks noChangeArrowheads="1"/>
            </p:cNvSpPr>
            <p:nvPr/>
          </p:nvSpPr>
          <p:spPr bwMode="auto">
            <a:xfrm>
              <a:off x="1854" y="2168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887" name="Rectangle 141"/>
            <p:cNvSpPr>
              <a:spLocks noChangeArrowheads="1"/>
            </p:cNvSpPr>
            <p:nvPr/>
          </p:nvSpPr>
          <p:spPr bwMode="auto">
            <a:xfrm>
              <a:off x="1926" y="216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888" name="Rectangle 142"/>
            <p:cNvSpPr>
              <a:spLocks noChangeArrowheads="1"/>
            </p:cNvSpPr>
            <p:nvPr/>
          </p:nvSpPr>
          <p:spPr bwMode="auto">
            <a:xfrm>
              <a:off x="1982" y="216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889" name="Rectangle 143"/>
            <p:cNvSpPr>
              <a:spLocks noChangeArrowheads="1"/>
            </p:cNvSpPr>
            <p:nvPr/>
          </p:nvSpPr>
          <p:spPr bwMode="auto">
            <a:xfrm>
              <a:off x="2036" y="216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7890" name="Rectangle 144"/>
            <p:cNvSpPr>
              <a:spLocks noChangeArrowheads="1"/>
            </p:cNvSpPr>
            <p:nvPr/>
          </p:nvSpPr>
          <p:spPr bwMode="auto">
            <a:xfrm>
              <a:off x="2094" y="2168"/>
              <a:ext cx="1" cy="1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891" name="Rectangle 145"/>
            <p:cNvSpPr>
              <a:spLocks noChangeArrowheads="1"/>
            </p:cNvSpPr>
            <p:nvPr/>
          </p:nvSpPr>
          <p:spPr bwMode="auto">
            <a:xfrm>
              <a:off x="1853" y="2273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892" name="Rectangle 146"/>
            <p:cNvSpPr>
              <a:spLocks noChangeArrowheads="1"/>
            </p:cNvSpPr>
            <p:nvPr/>
          </p:nvSpPr>
          <p:spPr bwMode="auto">
            <a:xfrm>
              <a:off x="1887" y="227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893" name="Rectangle 147"/>
            <p:cNvSpPr>
              <a:spLocks noChangeArrowheads="1"/>
            </p:cNvSpPr>
            <p:nvPr/>
          </p:nvSpPr>
          <p:spPr bwMode="auto">
            <a:xfrm>
              <a:off x="1943" y="2273"/>
              <a:ext cx="4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67894" name="Rectangle 148"/>
            <p:cNvSpPr>
              <a:spLocks noChangeArrowheads="1"/>
            </p:cNvSpPr>
            <p:nvPr/>
          </p:nvSpPr>
          <p:spPr bwMode="auto">
            <a:xfrm>
              <a:off x="1998" y="2273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7895" name="Rectangle 149"/>
            <p:cNvSpPr>
              <a:spLocks noChangeArrowheads="1"/>
            </p:cNvSpPr>
            <p:nvPr/>
          </p:nvSpPr>
          <p:spPr bwMode="auto">
            <a:xfrm>
              <a:off x="2022" y="2273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7896" name="Rectangle 150"/>
            <p:cNvSpPr>
              <a:spLocks noChangeArrowheads="1"/>
            </p:cNvSpPr>
            <p:nvPr/>
          </p:nvSpPr>
          <p:spPr bwMode="auto">
            <a:xfrm>
              <a:off x="2069" y="2273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897" name="Rectangle 151"/>
            <p:cNvSpPr>
              <a:spLocks noChangeArrowheads="1"/>
            </p:cNvSpPr>
            <p:nvPr/>
          </p:nvSpPr>
          <p:spPr bwMode="auto">
            <a:xfrm>
              <a:off x="2096" y="227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898" name="Rectangle 152"/>
            <p:cNvSpPr>
              <a:spLocks noChangeArrowheads="1"/>
            </p:cNvSpPr>
            <p:nvPr/>
          </p:nvSpPr>
          <p:spPr bwMode="auto">
            <a:xfrm>
              <a:off x="2152" y="2273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899" name="Rectangle 153"/>
            <p:cNvSpPr>
              <a:spLocks noChangeArrowheads="1"/>
            </p:cNvSpPr>
            <p:nvPr/>
          </p:nvSpPr>
          <p:spPr bwMode="auto">
            <a:xfrm>
              <a:off x="2185" y="2273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67900" name="Rectangle 154"/>
            <p:cNvSpPr>
              <a:spLocks noChangeArrowheads="1"/>
            </p:cNvSpPr>
            <p:nvPr/>
          </p:nvSpPr>
          <p:spPr bwMode="auto">
            <a:xfrm>
              <a:off x="2213" y="227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67901" name="Rectangle 155"/>
            <p:cNvSpPr>
              <a:spLocks noChangeArrowheads="1"/>
            </p:cNvSpPr>
            <p:nvPr/>
          </p:nvSpPr>
          <p:spPr bwMode="auto">
            <a:xfrm>
              <a:off x="1860" y="2429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902" name="Rectangle 156"/>
            <p:cNvSpPr>
              <a:spLocks noChangeArrowheads="1"/>
            </p:cNvSpPr>
            <p:nvPr/>
          </p:nvSpPr>
          <p:spPr bwMode="auto">
            <a:xfrm>
              <a:off x="1932" y="242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903" name="Rectangle 157"/>
            <p:cNvSpPr>
              <a:spLocks noChangeArrowheads="1"/>
            </p:cNvSpPr>
            <p:nvPr/>
          </p:nvSpPr>
          <p:spPr bwMode="auto">
            <a:xfrm>
              <a:off x="1989" y="242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904" name="Rectangle 158"/>
            <p:cNvSpPr>
              <a:spLocks noChangeArrowheads="1"/>
            </p:cNvSpPr>
            <p:nvPr/>
          </p:nvSpPr>
          <p:spPr bwMode="auto">
            <a:xfrm>
              <a:off x="2043" y="242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7905" name="Rectangle 159"/>
            <p:cNvSpPr>
              <a:spLocks noChangeArrowheads="1"/>
            </p:cNvSpPr>
            <p:nvPr/>
          </p:nvSpPr>
          <p:spPr bwMode="auto">
            <a:xfrm>
              <a:off x="2099" y="242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06" name="Rectangle 160"/>
            <p:cNvSpPr>
              <a:spLocks noChangeArrowheads="1"/>
            </p:cNvSpPr>
            <p:nvPr/>
          </p:nvSpPr>
          <p:spPr bwMode="auto">
            <a:xfrm>
              <a:off x="1859" y="2533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907" name="Rectangle 161"/>
            <p:cNvSpPr>
              <a:spLocks noChangeArrowheads="1"/>
            </p:cNvSpPr>
            <p:nvPr/>
          </p:nvSpPr>
          <p:spPr bwMode="auto">
            <a:xfrm>
              <a:off x="1893" y="253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908" name="Rectangle 162"/>
            <p:cNvSpPr>
              <a:spLocks noChangeArrowheads="1"/>
            </p:cNvSpPr>
            <p:nvPr/>
          </p:nvSpPr>
          <p:spPr bwMode="auto">
            <a:xfrm>
              <a:off x="1949" y="2533"/>
              <a:ext cx="4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67909" name="Rectangle 163"/>
            <p:cNvSpPr>
              <a:spLocks noChangeArrowheads="1"/>
            </p:cNvSpPr>
            <p:nvPr/>
          </p:nvSpPr>
          <p:spPr bwMode="auto">
            <a:xfrm>
              <a:off x="2004" y="2533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7910" name="Rectangle 164"/>
            <p:cNvSpPr>
              <a:spLocks noChangeArrowheads="1"/>
            </p:cNvSpPr>
            <p:nvPr/>
          </p:nvSpPr>
          <p:spPr bwMode="auto">
            <a:xfrm>
              <a:off x="2027" y="2533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7911" name="Rectangle 165"/>
            <p:cNvSpPr>
              <a:spLocks noChangeArrowheads="1"/>
            </p:cNvSpPr>
            <p:nvPr/>
          </p:nvSpPr>
          <p:spPr bwMode="auto">
            <a:xfrm>
              <a:off x="2074" y="2533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912" name="Rectangle 166"/>
            <p:cNvSpPr>
              <a:spLocks noChangeArrowheads="1"/>
            </p:cNvSpPr>
            <p:nvPr/>
          </p:nvSpPr>
          <p:spPr bwMode="auto">
            <a:xfrm>
              <a:off x="2106" y="253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913" name="Rectangle 167"/>
            <p:cNvSpPr>
              <a:spLocks noChangeArrowheads="1"/>
            </p:cNvSpPr>
            <p:nvPr/>
          </p:nvSpPr>
          <p:spPr bwMode="auto">
            <a:xfrm>
              <a:off x="2159" y="2533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914" name="Rectangle 168"/>
            <p:cNvSpPr>
              <a:spLocks noChangeArrowheads="1"/>
            </p:cNvSpPr>
            <p:nvPr/>
          </p:nvSpPr>
          <p:spPr bwMode="auto">
            <a:xfrm>
              <a:off x="2191" y="2533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67915" name="Rectangle 169"/>
            <p:cNvSpPr>
              <a:spLocks noChangeArrowheads="1"/>
            </p:cNvSpPr>
            <p:nvPr/>
          </p:nvSpPr>
          <p:spPr bwMode="auto">
            <a:xfrm>
              <a:off x="2219" y="253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67916" name="Freeform 170"/>
            <p:cNvSpPr>
              <a:spLocks noChangeArrowheads="1"/>
            </p:cNvSpPr>
            <p:nvPr/>
          </p:nvSpPr>
          <p:spPr bwMode="auto">
            <a:xfrm>
              <a:off x="1665" y="2973"/>
              <a:ext cx="3826" cy="1005"/>
            </a:xfrm>
            <a:custGeom>
              <a:avLst/>
              <a:gdLst>
                <a:gd name="T0" fmla="*/ 3399 w 3475"/>
                <a:gd name="T1" fmla="*/ 0 h 913"/>
                <a:gd name="T2" fmla="*/ 3475 w 3475"/>
                <a:gd name="T3" fmla="*/ 0 h 913"/>
                <a:gd name="T4" fmla="*/ 3475 w 3475"/>
                <a:gd name="T5" fmla="*/ 913 h 913"/>
                <a:gd name="T6" fmla="*/ 0 w 3475"/>
                <a:gd name="T7" fmla="*/ 913 h 913"/>
                <a:gd name="T8" fmla="*/ 0 w 3475"/>
                <a:gd name="T9" fmla="*/ 65 h 913"/>
                <a:gd name="T10" fmla="*/ 95 w 3475"/>
                <a:gd name="T11" fmla="*/ 65 h 9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475"/>
                <a:gd name="T19" fmla="*/ 0 h 913"/>
                <a:gd name="T20" fmla="*/ 3475 w 3475"/>
                <a:gd name="T21" fmla="*/ 913 h 91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475" h="913">
                  <a:moveTo>
                    <a:pt x="3399" y="0"/>
                  </a:moveTo>
                  <a:lnTo>
                    <a:pt x="3475" y="0"/>
                  </a:lnTo>
                  <a:lnTo>
                    <a:pt x="3475" y="913"/>
                  </a:lnTo>
                  <a:lnTo>
                    <a:pt x="0" y="913"/>
                  </a:lnTo>
                  <a:lnTo>
                    <a:pt x="0" y="65"/>
                  </a:lnTo>
                  <a:lnTo>
                    <a:pt x="95" y="65"/>
                  </a:lnTo>
                </a:path>
              </a:pathLst>
            </a:custGeom>
            <a:noFill/>
            <a:ln w="3492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17" name="Line 171"/>
            <p:cNvSpPr>
              <a:spLocks noChangeShapeType="1"/>
            </p:cNvSpPr>
            <p:nvPr/>
          </p:nvSpPr>
          <p:spPr bwMode="auto">
            <a:xfrm flipH="1">
              <a:off x="1280" y="2785"/>
              <a:ext cx="500" cy="1"/>
            </a:xfrm>
            <a:prstGeom prst="line">
              <a:avLst/>
            </a:prstGeom>
            <a:noFill/>
            <a:ln w="3492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918" name="Rectangle 172"/>
            <p:cNvSpPr>
              <a:spLocks noChangeArrowheads="1"/>
            </p:cNvSpPr>
            <p:nvPr/>
          </p:nvSpPr>
          <p:spPr bwMode="auto">
            <a:xfrm>
              <a:off x="2528" y="3434"/>
              <a:ext cx="5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7919" name="Rectangle 173"/>
            <p:cNvSpPr>
              <a:spLocks noChangeArrowheads="1"/>
            </p:cNvSpPr>
            <p:nvPr/>
          </p:nvSpPr>
          <p:spPr bwMode="auto">
            <a:xfrm>
              <a:off x="2592" y="3434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7920" name="Rectangle 174"/>
            <p:cNvSpPr>
              <a:spLocks noChangeArrowheads="1"/>
            </p:cNvSpPr>
            <p:nvPr/>
          </p:nvSpPr>
          <p:spPr bwMode="auto">
            <a:xfrm>
              <a:off x="2612" y="3434"/>
              <a:ext cx="4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67921" name="Rectangle 175"/>
            <p:cNvSpPr>
              <a:spLocks noChangeArrowheads="1"/>
            </p:cNvSpPr>
            <p:nvPr/>
          </p:nvSpPr>
          <p:spPr bwMode="auto">
            <a:xfrm>
              <a:off x="2670" y="343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67922" name="Rectangle 176"/>
            <p:cNvSpPr>
              <a:spLocks noChangeArrowheads="1"/>
            </p:cNvSpPr>
            <p:nvPr/>
          </p:nvSpPr>
          <p:spPr bwMode="auto">
            <a:xfrm>
              <a:off x="2724" y="343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23" name="Rectangle 177"/>
            <p:cNvSpPr>
              <a:spLocks noChangeArrowheads="1"/>
            </p:cNvSpPr>
            <p:nvPr/>
          </p:nvSpPr>
          <p:spPr bwMode="auto">
            <a:xfrm>
              <a:off x="2470" y="354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924" name="Rectangle 178"/>
            <p:cNvSpPr>
              <a:spLocks noChangeArrowheads="1"/>
            </p:cNvSpPr>
            <p:nvPr/>
          </p:nvSpPr>
          <p:spPr bwMode="auto">
            <a:xfrm>
              <a:off x="2527" y="3544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67925" name="Rectangle 179"/>
            <p:cNvSpPr>
              <a:spLocks noChangeArrowheads="1"/>
            </p:cNvSpPr>
            <p:nvPr/>
          </p:nvSpPr>
          <p:spPr bwMode="auto">
            <a:xfrm>
              <a:off x="2574" y="3544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926" name="Rectangle 180"/>
            <p:cNvSpPr>
              <a:spLocks noChangeArrowheads="1"/>
            </p:cNvSpPr>
            <p:nvPr/>
          </p:nvSpPr>
          <p:spPr bwMode="auto">
            <a:xfrm>
              <a:off x="2602" y="354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927" name="Rectangle 181"/>
            <p:cNvSpPr>
              <a:spLocks noChangeArrowheads="1"/>
            </p:cNvSpPr>
            <p:nvPr/>
          </p:nvSpPr>
          <p:spPr bwMode="auto">
            <a:xfrm>
              <a:off x="2658" y="354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67928" name="Rectangle 182"/>
            <p:cNvSpPr>
              <a:spLocks noChangeArrowheads="1"/>
            </p:cNvSpPr>
            <p:nvPr/>
          </p:nvSpPr>
          <p:spPr bwMode="auto">
            <a:xfrm>
              <a:off x="2712" y="354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7929" name="Freeform 183"/>
            <p:cNvSpPr>
              <a:spLocks noChangeArrowheads="1"/>
            </p:cNvSpPr>
            <p:nvPr/>
          </p:nvSpPr>
          <p:spPr bwMode="auto">
            <a:xfrm>
              <a:off x="3508" y="2339"/>
              <a:ext cx="509" cy="744"/>
            </a:xfrm>
            <a:custGeom>
              <a:avLst/>
              <a:gdLst>
                <a:gd name="T0" fmla="*/ 0 w 462"/>
                <a:gd name="T1" fmla="*/ 0 h 676"/>
                <a:gd name="T2" fmla="*/ 0 w 462"/>
                <a:gd name="T3" fmla="*/ 274 h 676"/>
                <a:gd name="T4" fmla="*/ 70 w 462"/>
                <a:gd name="T5" fmla="*/ 340 h 676"/>
                <a:gd name="T6" fmla="*/ 0 w 462"/>
                <a:gd name="T7" fmla="*/ 405 h 676"/>
                <a:gd name="T8" fmla="*/ 0 w 462"/>
                <a:gd name="T9" fmla="*/ 676 h 676"/>
                <a:gd name="T10" fmla="*/ 462 w 462"/>
                <a:gd name="T11" fmla="*/ 470 h 676"/>
                <a:gd name="T12" fmla="*/ 462 w 462"/>
                <a:gd name="T13" fmla="*/ 209 h 676"/>
                <a:gd name="T14" fmla="*/ 0 w 462"/>
                <a:gd name="T15" fmla="*/ 3 h 676"/>
                <a:gd name="T16" fmla="*/ 0 w 462"/>
                <a:gd name="T17" fmla="*/ 3 h 676"/>
                <a:gd name="T18" fmla="*/ 0 w 462"/>
                <a:gd name="T19" fmla="*/ 0 h 6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62"/>
                <a:gd name="T31" fmla="*/ 0 h 676"/>
                <a:gd name="T32" fmla="*/ 462 w 462"/>
                <a:gd name="T33" fmla="*/ 676 h 67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62" h="676">
                  <a:moveTo>
                    <a:pt x="0" y="0"/>
                  </a:moveTo>
                  <a:lnTo>
                    <a:pt x="0" y="274"/>
                  </a:lnTo>
                  <a:lnTo>
                    <a:pt x="70" y="340"/>
                  </a:lnTo>
                  <a:lnTo>
                    <a:pt x="0" y="405"/>
                  </a:lnTo>
                  <a:lnTo>
                    <a:pt x="0" y="676"/>
                  </a:lnTo>
                  <a:lnTo>
                    <a:pt x="462" y="470"/>
                  </a:lnTo>
                  <a:lnTo>
                    <a:pt x="462" y="209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30" name="Freeform 184"/>
            <p:cNvSpPr>
              <a:spLocks noChangeArrowheads="1"/>
            </p:cNvSpPr>
            <p:nvPr/>
          </p:nvSpPr>
          <p:spPr bwMode="auto">
            <a:xfrm>
              <a:off x="3508" y="2339"/>
              <a:ext cx="509" cy="744"/>
            </a:xfrm>
            <a:custGeom>
              <a:avLst/>
              <a:gdLst>
                <a:gd name="T0" fmla="*/ 0 w 462"/>
                <a:gd name="T1" fmla="*/ 0 h 676"/>
                <a:gd name="T2" fmla="*/ 0 w 462"/>
                <a:gd name="T3" fmla="*/ 274 h 676"/>
                <a:gd name="T4" fmla="*/ 70 w 462"/>
                <a:gd name="T5" fmla="*/ 340 h 676"/>
                <a:gd name="T6" fmla="*/ 0 w 462"/>
                <a:gd name="T7" fmla="*/ 405 h 676"/>
                <a:gd name="T8" fmla="*/ 0 w 462"/>
                <a:gd name="T9" fmla="*/ 676 h 676"/>
                <a:gd name="T10" fmla="*/ 462 w 462"/>
                <a:gd name="T11" fmla="*/ 470 h 676"/>
                <a:gd name="T12" fmla="*/ 462 w 462"/>
                <a:gd name="T13" fmla="*/ 209 h 676"/>
                <a:gd name="T14" fmla="*/ 0 w 462"/>
                <a:gd name="T15" fmla="*/ 3 h 676"/>
                <a:gd name="T16" fmla="*/ 0 w 462"/>
                <a:gd name="T17" fmla="*/ 3 h 6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62"/>
                <a:gd name="T28" fmla="*/ 0 h 676"/>
                <a:gd name="T29" fmla="*/ 462 w 462"/>
                <a:gd name="T30" fmla="*/ 676 h 67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62" h="676">
                  <a:moveTo>
                    <a:pt x="0" y="0"/>
                  </a:moveTo>
                  <a:lnTo>
                    <a:pt x="0" y="274"/>
                  </a:lnTo>
                  <a:lnTo>
                    <a:pt x="70" y="340"/>
                  </a:lnTo>
                  <a:lnTo>
                    <a:pt x="0" y="405"/>
                  </a:lnTo>
                  <a:lnTo>
                    <a:pt x="0" y="676"/>
                  </a:lnTo>
                  <a:lnTo>
                    <a:pt x="462" y="470"/>
                  </a:lnTo>
                  <a:lnTo>
                    <a:pt x="462" y="209"/>
                  </a:lnTo>
                  <a:lnTo>
                    <a:pt x="0" y="3"/>
                  </a:lnTo>
                </a:path>
              </a:pathLst>
            </a:custGeom>
            <a:noFill/>
            <a:ln w="1764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31" name="Rectangle 185"/>
            <p:cNvSpPr>
              <a:spLocks noChangeArrowheads="1"/>
            </p:cNvSpPr>
            <p:nvPr/>
          </p:nvSpPr>
          <p:spPr bwMode="auto">
            <a:xfrm>
              <a:off x="3819" y="2665"/>
              <a:ext cx="5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932" name="Rectangle 186"/>
            <p:cNvSpPr>
              <a:spLocks noChangeArrowheads="1"/>
            </p:cNvSpPr>
            <p:nvPr/>
          </p:nvSpPr>
          <p:spPr bwMode="auto">
            <a:xfrm>
              <a:off x="3888" y="2665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67933" name="Rectangle 187"/>
            <p:cNvSpPr>
              <a:spLocks noChangeArrowheads="1"/>
            </p:cNvSpPr>
            <p:nvPr/>
          </p:nvSpPr>
          <p:spPr bwMode="auto">
            <a:xfrm>
              <a:off x="3942" y="2665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67934" name="Rectangle 188"/>
            <p:cNvSpPr>
              <a:spLocks noChangeArrowheads="1"/>
            </p:cNvSpPr>
            <p:nvPr/>
          </p:nvSpPr>
          <p:spPr bwMode="auto">
            <a:xfrm>
              <a:off x="4013" y="2665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35" name="Rectangle 189"/>
            <p:cNvSpPr>
              <a:spLocks noChangeArrowheads="1"/>
            </p:cNvSpPr>
            <p:nvPr/>
          </p:nvSpPr>
          <p:spPr bwMode="auto">
            <a:xfrm>
              <a:off x="3742" y="2751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936" name="Rectangle 190"/>
            <p:cNvSpPr>
              <a:spLocks noChangeArrowheads="1"/>
            </p:cNvSpPr>
            <p:nvPr/>
          </p:nvSpPr>
          <p:spPr bwMode="auto">
            <a:xfrm>
              <a:off x="3775" y="2751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937" name="Rectangle 191"/>
            <p:cNvSpPr>
              <a:spLocks noChangeArrowheads="1"/>
            </p:cNvSpPr>
            <p:nvPr/>
          </p:nvSpPr>
          <p:spPr bwMode="auto">
            <a:xfrm>
              <a:off x="3831" y="2751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7938" name="Rectangle 192"/>
            <p:cNvSpPr>
              <a:spLocks noChangeArrowheads="1"/>
            </p:cNvSpPr>
            <p:nvPr/>
          </p:nvSpPr>
          <p:spPr bwMode="auto">
            <a:xfrm>
              <a:off x="3881" y="2751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67939" name="Rectangle 193"/>
            <p:cNvSpPr>
              <a:spLocks noChangeArrowheads="1"/>
            </p:cNvSpPr>
            <p:nvPr/>
          </p:nvSpPr>
          <p:spPr bwMode="auto">
            <a:xfrm>
              <a:off x="3936" y="2751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67940" name="Rectangle 194"/>
            <p:cNvSpPr>
              <a:spLocks noChangeArrowheads="1"/>
            </p:cNvSpPr>
            <p:nvPr/>
          </p:nvSpPr>
          <p:spPr bwMode="auto">
            <a:xfrm>
              <a:off x="3959" y="2751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941" name="Rectangle 195"/>
            <p:cNvSpPr>
              <a:spLocks noChangeArrowheads="1"/>
            </p:cNvSpPr>
            <p:nvPr/>
          </p:nvSpPr>
          <p:spPr bwMode="auto">
            <a:xfrm>
              <a:off x="3801" y="2548"/>
              <a:ext cx="5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Z</a:t>
              </a:r>
            </a:p>
          </p:txBody>
        </p:sp>
        <p:sp>
          <p:nvSpPr>
            <p:cNvPr id="67942" name="Rectangle 196"/>
            <p:cNvSpPr>
              <a:spLocks noChangeArrowheads="1"/>
            </p:cNvSpPr>
            <p:nvPr/>
          </p:nvSpPr>
          <p:spPr bwMode="auto">
            <a:xfrm>
              <a:off x="3861" y="254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943" name="Rectangle 197"/>
            <p:cNvSpPr>
              <a:spLocks noChangeArrowheads="1"/>
            </p:cNvSpPr>
            <p:nvPr/>
          </p:nvSpPr>
          <p:spPr bwMode="auto">
            <a:xfrm>
              <a:off x="3917" y="2548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944" name="Rectangle 198"/>
            <p:cNvSpPr>
              <a:spLocks noChangeArrowheads="1"/>
            </p:cNvSpPr>
            <p:nvPr/>
          </p:nvSpPr>
          <p:spPr bwMode="auto">
            <a:xfrm>
              <a:off x="3951" y="254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67945" name="Rectangle 199"/>
            <p:cNvSpPr>
              <a:spLocks noChangeArrowheads="1"/>
            </p:cNvSpPr>
            <p:nvPr/>
          </p:nvSpPr>
          <p:spPr bwMode="auto">
            <a:xfrm>
              <a:off x="4665" y="2973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7946" name="Rectangle 200"/>
            <p:cNvSpPr>
              <a:spLocks noChangeArrowheads="1"/>
            </p:cNvSpPr>
            <p:nvPr/>
          </p:nvSpPr>
          <p:spPr bwMode="auto">
            <a:xfrm>
              <a:off x="4737" y="297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947" name="Rectangle 201"/>
            <p:cNvSpPr>
              <a:spLocks noChangeArrowheads="1"/>
            </p:cNvSpPr>
            <p:nvPr/>
          </p:nvSpPr>
          <p:spPr bwMode="auto">
            <a:xfrm>
              <a:off x="4793" y="2973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948" name="Rectangle 202"/>
            <p:cNvSpPr>
              <a:spLocks noChangeArrowheads="1"/>
            </p:cNvSpPr>
            <p:nvPr/>
          </p:nvSpPr>
          <p:spPr bwMode="auto">
            <a:xfrm>
              <a:off x="4822" y="297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949" name="Rectangle 203"/>
            <p:cNvSpPr>
              <a:spLocks noChangeArrowheads="1"/>
            </p:cNvSpPr>
            <p:nvPr/>
          </p:nvSpPr>
          <p:spPr bwMode="auto">
            <a:xfrm>
              <a:off x="4878" y="2973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950" name="Rectangle 204"/>
            <p:cNvSpPr>
              <a:spLocks noChangeArrowheads="1"/>
            </p:cNvSpPr>
            <p:nvPr/>
          </p:nvSpPr>
          <p:spPr bwMode="auto">
            <a:xfrm>
              <a:off x="4596" y="3086"/>
              <a:ext cx="73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</p:grpSp>
      <p:sp>
        <p:nvSpPr>
          <p:cNvPr id="67612" name="Rectangle 205"/>
          <p:cNvSpPr>
            <a:spLocks noChangeArrowheads="1"/>
          </p:cNvSpPr>
          <p:nvPr/>
        </p:nvSpPr>
        <p:spPr bwMode="auto">
          <a:xfrm>
            <a:off x="8948739" y="489902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7613" name="Rectangle 206"/>
          <p:cNvSpPr>
            <a:spLocks noChangeArrowheads="1"/>
          </p:cNvSpPr>
          <p:nvPr/>
        </p:nvSpPr>
        <p:spPr bwMode="auto">
          <a:xfrm>
            <a:off x="9039225" y="4899026"/>
            <a:ext cx="11588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67614" name="Rectangle 207"/>
          <p:cNvSpPr>
            <a:spLocks noChangeArrowheads="1"/>
          </p:cNvSpPr>
          <p:nvPr/>
        </p:nvSpPr>
        <p:spPr bwMode="auto">
          <a:xfrm>
            <a:off x="9172576" y="489902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67615" name="Rectangle 208"/>
          <p:cNvSpPr>
            <a:spLocks noChangeArrowheads="1"/>
          </p:cNvSpPr>
          <p:nvPr/>
        </p:nvSpPr>
        <p:spPr bwMode="auto">
          <a:xfrm>
            <a:off x="9258301" y="4899026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7616" name="Rectangle 209"/>
          <p:cNvSpPr>
            <a:spLocks noChangeArrowheads="1"/>
          </p:cNvSpPr>
          <p:nvPr/>
        </p:nvSpPr>
        <p:spPr bwMode="auto">
          <a:xfrm>
            <a:off x="9310688" y="4899026"/>
            <a:ext cx="698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y</a:t>
            </a:r>
          </a:p>
        </p:txBody>
      </p:sp>
      <p:sp>
        <p:nvSpPr>
          <p:cNvPr id="67617" name="Rectangle 210"/>
          <p:cNvSpPr>
            <a:spLocks noChangeArrowheads="1"/>
          </p:cNvSpPr>
          <p:nvPr/>
        </p:nvSpPr>
        <p:spPr bwMode="auto">
          <a:xfrm>
            <a:off x="8294688" y="4278314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7618" name="Rectangle 211"/>
          <p:cNvSpPr>
            <a:spLocks noChangeArrowheads="1"/>
          </p:cNvSpPr>
          <p:nvPr/>
        </p:nvSpPr>
        <p:spPr bwMode="auto">
          <a:xfrm>
            <a:off x="8399464" y="427831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7619" name="Rectangle 212"/>
          <p:cNvSpPr>
            <a:spLocks noChangeArrowheads="1"/>
          </p:cNvSpPr>
          <p:nvPr/>
        </p:nvSpPr>
        <p:spPr bwMode="auto">
          <a:xfrm>
            <a:off x="8485189" y="427831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7620" name="Rectangle 213"/>
          <p:cNvSpPr>
            <a:spLocks noChangeArrowheads="1"/>
          </p:cNvSpPr>
          <p:nvPr/>
        </p:nvSpPr>
        <p:spPr bwMode="auto">
          <a:xfrm>
            <a:off x="8574089" y="4278314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7621" name="Rectangle 214"/>
          <p:cNvSpPr>
            <a:spLocks noChangeArrowheads="1"/>
          </p:cNvSpPr>
          <p:nvPr/>
        </p:nvSpPr>
        <p:spPr bwMode="auto">
          <a:xfrm>
            <a:off x="8626476" y="427831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7622" name="Rectangle 215"/>
          <p:cNvSpPr>
            <a:spLocks noChangeArrowheads="1"/>
          </p:cNvSpPr>
          <p:nvPr/>
        </p:nvSpPr>
        <p:spPr bwMode="auto">
          <a:xfrm>
            <a:off x="8712200" y="4278314"/>
            <a:ext cx="7143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7623" name="Rectangle 216"/>
          <p:cNvSpPr>
            <a:spLocks noChangeArrowheads="1"/>
          </p:cNvSpPr>
          <p:nvPr/>
        </p:nvSpPr>
        <p:spPr bwMode="auto">
          <a:xfrm>
            <a:off x="8793164" y="4278314"/>
            <a:ext cx="7143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7624" name="Rectangle 217"/>
          <p:cNvSpPr>
            <a:spLocks noChangeArrowheads="1"/>
          </p:cNvSpPr>
          <p:nvPr/>
        </p:nvSpPr>
        <p:spPr bwMode="auto">
          <a:xfrm>
            <a:off x="8291513" y="4948239"/>
            <a:ext cx="13305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67625" name="Rectangle 218"/>
          <p:cNvSpPr>
            <a:spLocks noChangeArrowheads="1"/>
          </p:cNvSpPr>
          <p:nvPr/>
        </p:nvSpPr>
        <p:spPr bwMode="auto">
          <a:xfrm>
            <a:off x="8440739" y="4948239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7626" name="Rectangle 219"/>
          <p:cNvSpPr>
            <a:spLocks noChangeArrowheads="1"/>
          </p:cNvSpPr>
          <p:nvPr/>
        </p:nvSpPr>
        <p:spPr bwMode="auto">
          <a:xfrm>
            <a:off x="8493125" y="4948239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7627" name="Rectangle 220"/>
          <p:cNvSpPr>
            <a:spLocks noChangeArrowheads="1"/>
          </p:cNvSpPr>
          <p:nvPr/>
        </p:nvSpPr>
        <p:spPr bwMode="auto">
          <a:xfrm>
            <a:off x="8531225" y="4948239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7628" name="Rectangle 221"/>
          <p:cNvSpPr>
            <a:spLocks noChangeArrowheads="1"/>
          </p:cNvSpPr>
          <p:nvPr/>
        </p:nvSpPr>
        <p:spPr bwMode="auto">
          <a:xfrm>
            <a:off x="8575676" y="494823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7629" name="Rectangle 223"/>
          <p:cNvSpPr>
            <a:spLocks noChangeArrowheads="1"/>
          </p:cNvSpPr>
          <p:nvPr/>
        </p:nvSpPr>
        <p:spPr bwMode="auto">
          <a:xfrm>
            <a:off x="8294689" y="512921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7630" name="Rectangle 224"/>
          <p:cNvSpPr>
            <a:spLocks noChangeArrowheads="1"/>
          </p:cNvSpPr>
          <p:nvPr/>
        </p:nvSpPr>
        <p:spPr bwMode="auto">
          <a:xfrm>
            <a:off x="8380414" y="512921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7631" name="Rectangle 225"/>
          <p:cNvSpPr>
            <a:spLocks noChangeArrowheads="1"/>
          </p:cNvSpPr>
          <p:nvPr/>
        </p:nvSpPr>
        <p:spPr bwMode="auto">
          <a:xfrm>
            <a:off x="8469313" y="5129214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7632" name="Rectangle 226"/>
          <p:cNvSpPr>
            <a:spLocks noChangeArrowheads="1"/>
          </p:cNvSpPr>
          <p:nvPr/>
        </p:nvSpPr>
        <p:spPr bwMode="auto">
          <a:xfrm>
            <a:off x="8512176" y="512921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7633" name="Line 227"/>
          <p:cNvSpPr>
            <a:spLocks noChangeShapeType="1"/>
          </p:cNvSpPr>
          <p:nvPr/>
        </p:nvSpPr>
        <p:spPr bwMode="auto">
          <a:xfrm flipH="1">
            <a:off x="8013700" y="4387850"/>
            <a:ext cx="173038" cy="1588"/>
          </a:xfrm>
          <a:prstGeom prst="line">
            <a:avLst/>
          </a:prstGeom>
          <a:noFill/>
          <a:ln w="3492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34" name="Rectangle 228"/>
          <p:cNvSpPr>
            <a:spLocks noChangeArrowheads="1"/>
          </p:cNvSpPr>
          <p:nvPr/>
        </p:nvSpPr>
        <p:spPr bwMode="auto">
          <a:xfrm>
            <a:off x="9148763" y="4235451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7635" name="Rectangle 229"/>
          <p:cNvSpPr>
            <a:spLocks noChangeArrowheads="1"/>
          </p:cNvSpPr>
          <p:nvPr/>
        </p:nvSpPr>
        <p:spPr bwMode="auto">
          <a:xfrm>
            <a:off x="9264651" y="423545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7636" name="Rectangle 230"/>
          <p:cNvSpPr>
            <a:spLocks noChangeArrowheads="1"/>
          </p:cNvSpPr>
          <p:nvPr/>
        </p:nvSpPr>
        <p:spPr bwMode="auto">
          <a:xfrm>
            <a:off x="9347201" y="423545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7637" name="Rectangle 231"/>
          <p:cNvSpPr>
            <a:spLocks noChangeArrowheads="1"/>
          </p:cNvSpPr>
          <p:nvPr/>
        </p:nvSpPr>
        <p:spPr bwMode="auto">
          <a:xfrm>
            <a:off x="9439276" y="423545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7638" name="Rectangle 233"/>
          <p:cNvSpPr>
            <a:spLocks noChangeArrowheads="1"/>
          </p:cNvSpPr>
          <p:nvPr/>
        </p:nvSpPr>
        <p:spPr bwMode="auto">
          <a:xfrm>
            <a:off x="9196389" y="441166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7639" name="Rectangle 234"/>
          <p:cNvSpPr>
            <a:spLocks noChangeArrowheads="1"/>
          </p:cNvSpPr>
          <p:nvPr/>
        </p:nvSpPr>
        <p:spPr bwMode="auto">
          <a:xfrm>
            <a:off x="9282114" y="441166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7640" name="Rectangle 235"/>
          <p:cNvSpPr>
            <a:spLocks noChangeArrowheads="1"/>
          </p:cNvSpPr>
          <p:nvPr/>
        </p:nvSpPr>
        <p:spPr bwMode="auto">
          <a:xfrm>
            <a:off x="9371013" y="4411664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7641" name="Rectangle 236"/>
          <p:cNvSpPr>
            <a:spLocks noChangeArrowheads="1"/>
          </p:cNvSpPr>
          <p:nvPr/>
        </p:nvSpPr>
        <p:spPr bwMode="auto">
          <a:xfrm>
            <a:off x="9413876" y="441166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7642" name="Rectangle 237"/>
          <p:cNvSpPr>
            <a:spLocks noChangeArrowheads="1"/>
          </p:cNvSpPr>
          <p:nvPr/>
        </p:nvSpPr>
        <p:spPr bwMode="auto">
          <a:xfrm>
            <a:off x="9932988" y="4492625"/>
            <a:ext cx="1282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FFF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 b="1">
                <a:solidFill>
                  <a:srgbClr val="FFFFFF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67643" name="Rectangle 239"/>
          <p:cNvSpPr>
            <a:spLocks noChangeArrowheads="1"/>
          </p:cNvSpPr>
          <p:nvPr/>
        </p:nvSpPr>
        <p:spPr bwMode="auto">
          <a:xfrm>
            <a:off x="9955213" y="4611688"/>
            <a:ext cx="9457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FFF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 b="1">
                <a:solidFill>
                  <a:srgbClr val="FFFFFF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7644" name="Rectangle 241"/>
          <p:cNvSpPr>
            <a:spLocks noChangeArrowheads="1"/>
          </p:cNvSpPr>
          <p:nvPr/>
        </p:nvSpPr>
        <p:spPr bwMode="auto">
          <a:xfrm>
            <a:off x="9959975" y="473075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FFF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 b="1">
                <a:solidFill>
                  <a:srgbClr val="FFFFFF"/>
                </a:solidFill>
                <a:latin typeface="Arial" charset="0"/>
                <a:ea typeface="新細明體" charset="-120"/>
              </a:rPr>
              <a:t>x</a:t>
            </a:r>
          </a:p>
        </p:txBody>
      </p:sp>
      <p:sp>
        <p:nvSpPr>
          <p:cNvPr id="67645" name="Line 242"/>
          <p:cNvSpPr>
            <a:spLocks noChangeShapeType="1"/>
          </p:cNvSpPr>
          <p:nvPr/>
        </p:nvSpPr>
        <p:spPr bwMode="auto">
          <a:xfrm>
            <a:off x="3557589" y="4017964"/>
            <a:ext cx="790575" cy="3175"/>
          </a:xfrm>
          <a:prstGeom prst="line">
            <a:avLst/>
          </a:prstGeom>
          <a:noFill/>
          <a:ln w="3492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46" name="Line 243"/>
          <p:cNvSpPr>
            <a:spLocks noChangeShapeType="1"/>
          </p:cNvSpPr>
          <p:nvPr/>
        </p:nvSpPr>
        <p:spPr bwMode="auto">
          <a:xfrm flipH="1">
            <a:off x="7899401" y="4387850"/>
            <a:ext cx="117475" cy="1588"/>
          </a:xfrm>
          <a:prstGeom prst="line">
            <a:avLst/>
          </a:prstGeom>
          <a:noFill/>
          <a:ln w="3492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47" name="Freeform 244"/>
          <p:cNvSpPr>
            <a:spLocks noChangeArrowheads="1"/>
          </p:cNvSpPr>
          <p:nvPr/>
        </p:nvSpPr>
        <p:spPr bwMode="auto">
          <a:xfrm>
            <a:off x="8008939" y="4387851"/>
            <a:ext cx="1800225" cy="1438275"/>
          </a:xfrm>
          <a:custGeom>
            <a:avLst/>
            <a:gdLst>
              <a:gd name="T0" fmla="*/ 1030 w 1030"/>
              <a:gd name="T1" fmla="*/ 339 h 823"/>
              <a:gd name="T2" fmla="*/ 976 w 1030"/>
              <a:gd name="T3" fmla="*/ 339 h 823"/>
              <a:gd name="T4" fmla="*/ 976 w 1030"/>
              <a:gd name="T5" fmla="*/ 823 h 823"/>
              <a:gd name="T6" fmla="*/ 0 w 1030"/>
              <a:gd name="T7" fmla="*/ 823 h 823"/>
              <a:gd name="T8" fmla="*/ 0 w 1030"/>
              <a:gd name="T9" fmla="*/ 0 h 8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30"/>
              <a:gd name="T16" fmla="*/ 0 h 823"/>
              <a:gd name="T17" fmla="*/ 1030 w 1030"/>
              <a:gd name="T18" fmla="*/ 823 h 8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30" h="823">
                <a:moveTo>
                  <a:pt x="1030" y="339"/>
                </a:moveTo>
                <a:lnTo>
                  <a:pt x="976" y="339"/>
                </a:lnTo>
                <a:lnTo>
                  <a:pt x="976" y="823"/>
                </a:lnTo>
                <a:lnTo>
                  <a:pt x="0" y="823"/>
                </a:lnTo>
                <a:lnTo>
                  <a:pt x="0" y="0"/>
                </a:lnTo>
              </a:path>
            </a:pathLst>
          </a:custGeom>
          <a:noFill/>
          <a:ln w="3492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48" name="Line 245"/>
          <p:cNvSpPr>
            <a:spLocks noChangeShapeType="1"/>
          </p:cNvSpPr>
          <p:nvPr/>
        </p:nvSpPr>
        <p:spPr bwMode="auto">
          <a:xfrm>
            <a:off x="3452814" y="4221163"/>
            <a:ext cx="98425" cy="4762"/>
          </a:xfrm>
          <a:prstGeom prst="line">
            <a:avLst/>
          </a:prstGeom>
          <a:noFill/>
          <a:ln w="3492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49" name="Freeform 246"/>
          <p:cNvSpPr>
            <a:spLocks noChangeArrowheads="1"/>
          </p:cNvSpPr>
          <p:nvPr/>
        </p:nvSpPr>
        <p:spPr bwMode="auto">
          <a:xfrm>
            <a:off x="8047039" y="4125913"/>
            <a:ext cx="58737" cy="57150"/>
          </a:xfrm>
          <a:custGeom>
            <a:avLst/>
            <a:gdLst>
              <a:gd name="T0" fmla="*/ 0 w 33"/>
              <a:gd name="T1" fmla="*/ 0 h 33"/>
              <a:gd name="T2" fmla="*/ 0 w 33"/>
              <a:gd name="T3" fmla="*/ 33 h 33"/>
              <a:gd name="T4" fmla="*/ 33 w 33"/>
              <a:gd name="T5" fmla="*/ 17 h 33"/>
              <a:gd name="T6" fmla="*/ 0 w 33"/>
              <a:gd name="T7" fmla="*/ 0 h 33"/>
              <a:gd name="T8" fmla="*/ 0 w 33"/>
              <a:gd name="T9" fmla="*/ 0 h 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"/>
              <a:gd name="T16" fmla="*/ 0 h 33"/>
              <a:gd name="T17" fmla="*/ 33 w 33"/>
              <a:gd name="T18" fmla="*/ 33 h 3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" h="33">
                <a:moveTo>
                  <a:pt x="0" y="0"/>
                </a:moveTo>
                <a:lnTo>
                  <a:pt x="0" y="33"/>
                </a:lnTo>
                <a:lnTo>
                  <a:pt x="33" y="17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50" name="Line 247"/>
          <p:cNvSpPr>
            <a:spLocks noChangeShapeType="1"/>
          </p:cNvSpPr>
          <p:nvPr/>
        </p:nvSpPr>
        <p:spPr bwMode="auto">
          <a:xfrm>
            <a:off x="7889875" y="4156075"/>
            <a:ext cx="171450" cy="1588"/>
          </a:xfrm>
          <a:prstGeom prst="line">
            <a:avLst/>
          </a:prstGeom>
          <a:noFill/>
          <a:ln w="1764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7651" name="Freeform 248"/>
          <p:cNvSpPr>
            <a:spLocks noChangeArrowheads="1"/>
          </p:cNvSpPr>
          <p:nvPr/>
        </p:nvSpPr>
        <p:spPr bwMode="auto">
          <a:xfrm>
            <a:off x="1828800" y="2046289"/>
            <a:ext cx="1898650" cy="1819275"/>
          </a:xfrm>
          <a:custGeom>
            <a:avLst/>
            <a:gdLst>
              <a:gd name="T0" fmla="*/ 38 w 1087"/>
              <a:gd name="T1" fmla="*/ 1041 h 1041"/>
              <a:gd name="T2" fmla="*/ 0 w 1087"/>
              <a:gd name="T3" fmla="*/ 1041 h 1041"/>
              <a:gd name="T4" fmla="*/ 0 w 1087"/>
              <a:gd name="T5" fmla="*/ 0 h 1041"/>
              <a:gd name="T6" fmla="*/ 1087 w 1087"/>
              <a:gd name="T7" fmla="*/ 0 h 1041"/>
              <a:gd name="T8" fmla="*/ 1087 w 1087"/>
              <a:gd name="T9" fmla="*/ 410 h 1041"/>
              <a:gd name="T10" fmla="*/ 991 w 1087"/>
              <a:gd name="T11" fmla="*/ 410 h 104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87"/>
              <a:gd name="T19" fmla="*/ 0 h 1041"/>
              <a:gd name="T20" fmla="*/ 1087 w 1087"/>
              <a:gd name="T21" fmla="*/ 1041 h 104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87" h="1041">
                <a:moveTo>
                  <a:pt x="38" y="1041"/>
                </a:moveTo>
                <a:lnTo>
                  <a:pt x="0" y="1041"/>
                </a:lnTo>
                <a:lnTo>
                  <a:pt x="0" y="0"/>
                </a:lnTo>
                <a:lnTo>
                  <a:pt x="1087" y="0"/>
                </a:lnTo>
                <a:lnTo>
                  <a:pt x="1087" y="410"/>
                </a:lnTo>
                <a:lnTo>
                  <a:pt x="991" y="410"/>
                </a:lnTo>
              </a:path>
            </a:pathLst>
          </a:custGeom>
          <a:noFill/>
          <a:ln w="349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52" name="Rectangle 249"/>
          <p:cNvSpPr>
            <a:spLocks noChangeArrowheads="1"/>
          </p:cNvSpPr>
          <p:nvPr/>
        </p:nvSpPr>
        <p:spPr bwMode="auto">
          <a:xfrm>
            <a:off x="2678114" y="301148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4</a:t>
            </a:r>
          </a:p>
        </p:txBody>
      </p:sp>
      <p:sp>
        <p:nvSpPr>
          <p:cNvPr id="67653" name="Freeform 250"/>
          <p:cNvSpPr>
            <a:spLocks noChangeArrowheads="1"/>
          </p:cNvSpPr>
          <p:nvPr/>
        </p:nvSpPr>
        <p:spPr bwMode="auto">
          <a:xfrm>
            <a:off x="3081339" y="2173289"/>
            <a:ext cx="479425" cy="1184275"/>
          </a:xfrm>
          <a:custGeom>
            <a:avLst/>
            <a:gdLst>
              <a:gd name="T0" fmla="*/ 0 w 274"/>
              <a:gd name="T1" fmla="*/ 0 h 677"/>
              <a:gd name="T2" fmla="*/ 3 w 274"/>
              <a:gd name="T3" fmla="*/ 275 h 677"/>
              <a:gd name="T4" fmla="*/ 71 w 274"/>
              <a:gd name="T5" fmla="*/ 340 h 677"/>
              <a:gd name="T6" fmla="*/ 3 w 274"/>
              <a:gd name="T7" fmla="*/ 405 h 677"/>
              <a:gd name="T8" fmla="*/ 3 w 274"/>
              <a:gd name="T9" fmla="*/ 677 h 677"/>
              <a:gd name="T10" fmla="*/ 274 w 274"/>
              <a:gd name="T11" fmla="*/ 471 h 677"/>
              <a:gd name="T12" fmla="*/ 274 w 274"/>
              <a:gd name="T13" fmla="*/ 210 h 677"/>
              <a:gd name="T14" fmla="*/ 3 w 274"/>
              <a:gd name="T15" fmla="*/ 3 h 677"/>
              <a:gd name="T16" fmla="*/ 3 w 274"/>
              <a:gd name="T17" fmla="*/ 3 h 67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4"/>
              <a:gd name="T28" fmla="*/ 0 h 677"/>
              <a:gd name="T29" fmla="*/ 274 w 274"/>
              <a:gd name="T30" fmla="*/ 677 h 67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4" h="677">
                <a:moveTo>
                  <a:pt x="0" y="0"/>
                </a:moveTo>
                <a:lnTo>
                  <a:pt x="3" y="275"/>
                </a:lnTo>
                <a:lnTo>
                  <a:pt x="71" y="340"/>
                </a:lnTo>
                <a:lnTo>
                  <a:pt x="3" y="405"/>
                </a:lnTo>
                <a:lnTo>
                  <a:pt x="3" y="677"/>
                </a:lnTo>
                <a:lnTo>
                  <a:pt x="274" y="471"/>
                </a:lnTo>
                <a:lnTo>
                  <a:pt x="274" y="210"/>
                </a:lnTo>
                <a:lnTo>
                  <a:pt x="3" y="3"/>
                </a:lnTo>
              </a:path>
            </a:pathLst>
          </a:custGeom>
          <a:noFill/>
          <a:ln w="1764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54" name="Rectangle 251"/>
          <p:cNvSpPr>
            <a:spLocks noChangeArrowheads="1"/>
          </p:cNvSpPr>
          <p:nvPr/>
        </p:nvSpPr>
        <p:spPr bwMode="auto">
          <a:xfrm>
            <a:off x="3238501" y="2659064"/>
            <a:ext cx="936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7655" name="Rectangle 252"/>
          <p:cNvSpPr>
            <a:spLocks noChangeArrowheads="1"/>
          </p:cNvSpPr>
          <p:nvPr/>
        </p:nvSpPr>
        <p:spPr bwMode="auto">
          <a:xfrm>
            <a:off x="3341689" y="265906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7656" name="Rectangle 253"/>
          <p:cNvSpPr>
            <a:spLocks noChangeArrowheads="1"/>
          </p:cNvSpPr>
          <p:nvPr/>
        </p:nvSpPr>
        <p:spPr bwMode="auto">
          <a:xfrm>
            <a:off x="3427414" y="265906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7657" name="Rectangle 254"/>
          <p:cNvSpPr>
            <a:spLocks noChangeArrowheads="1"/>
          </p:cNvSpPr>
          <p:nvPr/>
        </p:nvSpPr>
        <p:spPr bwMode="auto">
          <a:xfrm>
            <a:off x="6656388" y="4429125"/>
            <a:ext cx="1282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FFF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 b="1">
                <a:solidFill>
                  <a:srgbClr val="FFFFFF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67658" name="Rectangle 255"/>
          <p:cNvSpPr>
            <a:spLocks noChangeArrowheads="1"/>
          </p:cNvSpPr>
          <p:nvPr/>
        </p:nvSpPr>
        <p:spPr bwMode="auto">
          <a:xfrm>
            <a:off x="6789739" y="4429126"/>
            <a:ext cx="15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59" name="Rectangle 256"/>
          <p:cNvSpPr>
            <a:spLocks noChangeArrowheads="1"/>
          </p:cNvSpPr>
          <p:nvPr/>
        </p:nvSpPr>
        <p:spPr bwMode="auto">
          <a:xfrm>
            <a:off x="6675438" y="4548188"/>
            <a:ext cx="9457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FFF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 b="1">
                <a:solidFill>
                  <a:srgbClr val="FFFFFF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7660" name="Rectangle 258"/>
          <p:cNvSpPr>
            <a:spLocks noChangeArrowheads="1"/>
          </p:cNvSpPr>
          <p:nvPr/>
        </p:nvSpPr>
        <p:spPr bwMode="auto">
          <a:xfrm>
            <a:off x="6684963" y="4667250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FFF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 b="1">
                <a:solidFill>
                  <a:srgbClr val="FFFFFF"/>
                </a:solidFill>
                <a:latin typeface="Arial" charset="0"/>
                <a:ea typeface="新細明體" charset="-120"/>
              </a:rPr>
              <a:t>x</a:t>
            </a:r>
          </a:p>
        </p:txBody>
      </p:sp>
      <p:sp>
        <p:nvSpPr>
          <p:cNvPr id="67661" name="Freeform 259"/>
          <p:cNvSpPr>
            <a:spLocks noChangeArrowheads="1"/>
          </p:cNvSpPr>
          <p:nvPr/>
        </p:nvSpPr>
        <p:spPr bwMode="auto">
          <a:xfrm>
            <a:off x="2284413" y="3835400"/>
            <a:ext cx="57150" cy="57150"/>
          </a:xfrm>
          <a:custGeom>
            <a:avLst/>
            <a:gdLst>
              <a:gd name="T0" fmla="*/ 16 w 32"/>
              <a:gd name="T1" fmla="*/ 33 h 33"/>
              <a:gd name="T2" fmla="*/ 19 w 32"/>
              <a:gd name="T3" fmla="*/ 33 h 33"/>
              <a:gd name="T4" fmla="*/ 21 w 32"/>
              <a:gd name="T5" fmla="*/ 33 h 33"/>
              <a:gd name="T6" fmla="*/ 24 w 32"/>
              <a:gd name="T7" fmla="*/ 33 h 33"/>
              <a:gd name="T8" fmla="*/ 27 w 32"/>
              <a:gd name="T9" fmla="*/ 30 h 33"/>
              <a:gd name="T10" fmla="*/ 29 w 32"/>
              <a:gd name="T11" fmla="*/ 30 h 33"/>
              <a:gd name="T12" fmla="*/ 29 w 32"/>
              <a:gd name="T13" fmla="*/ 28 h 33"/>
              <a:gd name="T14" fmla="*/ 32 w 32"/>
              <a:gd name="T15" fmla="*/ 25 h 33"/>
              <a:gd name="T16" fmla="*/ 32 w 32"/>
              <a:gd name="T17" fmla="*/ 22 h 33"/>
              <a:gd name="T18" fmla="*/ 32 w 32"/>
              <a:gd name="T19" fmla="*/ 20 h 33"/>
              <a:gd name="T20" fmla="*/ 32 w 32"/>
              <a:gd name="T21" fmla="*/ 17 h 33"/>
              <a:gd name="T22" fmla="*/ 32 w 32"/>
              <a:gd name="T23" fmla="*/ 14 h 33"/>
              <a:gd name="T24" fmla="*/ 32 w 32"/>
              <a:gd name="T25" fmla="*/ 11 h 33"/>
              <a:gd name="T26" fmla="*/ 32 w 32"/>
              <a:gd name="T27" fmla="*/ 9 h 33"/>
              <a:gd name="T28" fmla="*/ 29 w 32"/>
              <a:gd name="T29" fmla="*/ 9 h 33"/>
              <a:gd name="T30" fmla="*/ 29 w 32"/>
              <a:gd name="T31" fmla="*/ 6 h 33"/>
              <a:gd name="T32" fmla="*/ 27 w 32"/>
              <a:gd name="T33" fmla="*/ 3 h 33"/>
              <a:gd name="T34" fmla="*/ 24 w 32"/>
              <a:gd name="T35" fmla="*/ 3 h 33"/>
              <a:gd name="T36" fmla="*/ 21 w 32"/>
              <a:gd name="T37" fmla="*/ 0 h 33"/>
              <a:gd name="T38" fmla="*/ 19 w 32"/>
              <a:gd name="T39" fmla="*/ 0 h 33"/>
              <a:gd name="T40" fmla="*/ 16 w 32"/>
              <a:gd name="T41" fmla="*/ 0 h 33"/>
              <a:gd name="T42" fmla="*/ 13 w 32"/>
              <a:gd name="T43" fmla="*/ 0 h 33"/>
              <a:gd name="T44" fmla="*/ 10 w 32"/>
              <a:gd name="T45" fmla="*/ 0 h 33"/>
              <a:gd name="T46" fmla="*/ 8 w 32"/>
              <a:gd name="T47" fmla="*/ 3 h 33"/>
              <a:gd name="T48" fmla="*/ 8 w 32"/>
              <a:gd name="T49" fmla="*/ 3 h 33"/>
              <a:gd name="T50" fmla="*/ 5 w 32"/>
              <a:gd name="T51" fmla="*/ 6 h 33"/>
              <a:gd name="T52" fmla="*/ 2 w 32"/>
              <a:gd name="T53" fmla="*/ 9 h 33"/>
              <a:gd name="T54" fmla="*/ 2 w 32"/>
              <a:gd name="T55" fmla="*/ 9 h 33"/>
              <a:gd name="T56" fmla="*/ 0 w 32"/>
              <a:gd name="T57" fmla="*/ 11 h 33"/>
              <a:gd name="T58" fmla="*/ 0 w 32"/>
              <a:gd name="T59" fmla="*/ 14 h 33"/>
              <a:gd name="T60" fmla="*/ 0 w 32"/>
              <a:gd name="T61" fmla="*/ 17 h 33"/>
              <a:gd name="T62" fmla="*/ 0 w 32"/>
              <a:gd name="T63" fmla="*/ 20 h 33"/>
              <a:gd name="T64" fmla="*/ 0 w 32"/>
              <a:gd name="T65" fmla="*/ 22 h 33"/>
              <a:gd name="T66" fmla="*/ 2 w 32"/>
              <a:gd name="T67" fmla="*/ 25 h 33"/>
              <a:gd name="T68" fmla="*/ 2 w 32"/>
              <a:gd name="T69" fmla="*/ 28 h 33"/>
              <a:gd name="T70" fmla="*/ 5 w 32"/>
              <a:gd name="T71" fmla="*/ 30 h 33"/>
              <a:gd name="T72" fmla="*/ 8 w 32"/>
              <a:gd name="T73" fmla="*/ 30 h 33"/>
              <a:gd name="T74" fmla="*/ 8 w 32"/>
              <a:gd name="T75" fmla="*/ 33 h 33"/>
              <a:gd name="T76" fmla="*/ 10 w 32"/>
              <a:gd name="T77" fmla="*/ 33 h 33"/>
              <a:gd name="T78" fmla="*/ 13 w 32"/>
              <a:gd name="T79" fmla="*/ 33 h 33"/>
              <a:gd name="T80" fmla="*/ 16 w 32"/>
              <a:gd name="T81" fmla="*/ 33 h 33"/>
              <a:gd name="T82" fmla="*/ 16 w 32"/>
              <a:gd name="T83" fmla="*/ 33 h 3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2"/>
              <a:gd name="T127" fmla="*/ 0 h 33"/>
              <a:gd name="T128" fmla="*/ 32 w 32"/>
              <a:gd name="T129" fmla="*/ 33 h 3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2" h="33">
                <a:moveTo>
                  <a:pt x="16" y="33"/>
                </a:moveTo>
                <a:lnTo>
                  <a:pt x="19" y="33"/>
                </a:lnTo>
                <a:lnTo>
                  <a:pt x="21" y="33"/>
                </a:lnTo>
                <a:lnTo>
                  <a:pt x="24" y="33"/>
                </a:lnTo>
                <a:lnTo>
                  <a:pt x="27" y="30"/>
                </a:lnTo>
                <a:lnTo>
                  <a:pt x="29" y="30"/>
                </a:lnTo>
                <a:lnTo>
                  <a:pt x="29" y="28"/>
                </a:lnTo>
                <a:lnTo>
                  <a:pt x="32" y="25"/>
                </a:lnTo>
                <a:lnTo>
                  <a:pt x="32" y="22"/>
                </a:lnTo>
                <a:lnTo>
                  <a:pt x="32" y="20"/>
                </a:lnTo>
                <a:lnTo>
                  <a:pt x="32" y="17"/>
                </a:lnTo>
                <a:lnTo>
                  <a:pt x="32" y="14"/>
                </a:lnTo>
                <a:lnTo>
                  <a:pt x="32" y="11"/>
                </a:lnTo>
                <a:lnTo>
                  <a:pt x="32" y="9"/>
                </a:lnTo>
                <a:lnTo>
                  <a:pt x="29" y="9"/>
                </a:lnTo>
                <a:lnTo>
                  <a:pt x="29" y="6"/>
                </a:lnTo>
                <a:lnTo>
                  <a:pt x="27" y="3"/>
                </a:lnTo>
                <a:lnTo>
                  <a:pt x="24" y="3"/>
                </a:lnTo>
                <a:lnTo>
                  <a:pt x="21" y="0"/>
                </a:lnTo>
                <a:lnTo>
                  <a:pt x="19" y="0"/>
                </a:lnTo>
                <a:lnTo>
                  <a:pt x="16" y="0"/>
                </a:lnTo>
                <a:lnTo>
                  <a:pt x="13" y="0"/>
                </a:lnTo>
                <a:lnTo>
                  <a:pt x="10" y="0"/>
                </a:lnTo>
                <a:lnTo>
                  <a:pt x="8" y="3"/>
                </a:lnTo>
                <a:lnTo>
                  <a:pt x="5" y="6"/>
                </a:lnTo>
                <a:lnTo>
                  <a:pt x="2" y="9"/>
                </a:lnTo>
                <a:lnTo>
                  <a:pt x="0" y="11"/>
                </a:lnTo>
                <a:lnTo>
                  <a:pt x="0" y="14"/>
                </a:lnTo>
                <a:lnTo>
                  <a:pt x="0" y="17"/>
                </a:lnTo>
                <a:lnTo>
                  <a:pt x="0" y="20"/>
                </a:lnTo>
                <a:lnTo>
                  <a:pt x="0" y="22"/>
                </a:lnTo>
                <a:lnTo>
                  <a:pt x="2" y="25"/>
                </a:lnTo>
                <a:lnTo>
                  <a:pt x="2" y="28"/>
                </a:lnTo>
                <a:lnTo>
                  <a:pt x="5" y="30"/>
                </a:lnTo>
                <a:lnTo>
                  <a:pt x="8" y="30"/>
                </a:lnTo>
                <a:lnTo>
                  <a:pt x="8" y="33"/>
                </a:lnTo>
                <a:lnTo>
                  <a:pt x="10" y="33"/>
                </a:lnTo>
                <a:lnTo>
                  <a:pt x="13" y="33"/>
                </a:lnTo>
                <a:lnTo>
                  <a:pt x="1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62" name="Freeform 260"/>
          <p:cNvSpPr>
            <a:spLocks noChangeArrowheads="1"/>
          </p:cNvSpPr>
          <p:nvPr/>
        </p:nvSpPr>
        <p:spPr bwMode="auto">
          <a:xfrm>
            <a:off x="3524251" y="4192588"/>
            <a:ext cx="60325" cy="61912"/>
          </a:xfrm>
          <a:custGeom>
            <a:avLst/>
            <a:gdLst>
              <a:gd name="T0" fmla="*/ 16 w 35"/>
              <a:gd name="T1" fmla="*/ 33 h 36"/>
              <a:gd name="T2" fmla="*/ 19 w 35"/>
              <a:gd name="T3" fmla="*/ 36 h 36"/>
              <a:gd name="T4" fmla="*/ 21 w 35"/>
              <a:gd name="T5" fmla="*/ 33 h 36"/>
              <a:gd name="T6" fmla="*/ 24 w 35"/>
              <a:gd name="T7" fmla="*/ 33 h 36"/>
              <a:gd name="T8" fmla="*/ 27 w 35"/>
              <a:gd name="T9" fmla="*/ 33 h 36"/>
              <a:gd name="T10" fmla="*/ 30 w 35"/>
              <a:gd name="T11" fmla="*/ 30 h 36"/>
              <a:gd name="T12" fmla="*/ 30 w 35"/>
              <a:gd name="T13" fmla="*/ 27 h 36"/>
              <a:gd name="T14" fmla="*/ 32 w 35"/>
              <a:gd name="T15" fmla="*/ 25 h 36"/>
              <a:gd name="T16" fmla="*/ 32 w 35"/>
              <a:gd name="T17" fmla="*/ 25 h 36"/>
              <a:gd name="T18" fmla="*/ 32 w 35"/>
              <a:gd name="T19" fmla="*/ 22 h 36"/>
              <a:gd name="T20" fmla="*/ 35 w 35"/>
              <a:gd name="T21" fmla="*/ 19 h 36"/>
              <a:gd name="T22" fmla="*/ 32 w 35"/>
              <a:gd name="T23" fmla="*/ 17 h 36"/>
              <a:gd name="T24" fmla="*/ 32 w 35"/>
              <a:gd name="T25" fmla="*/ 14 h 36"/>
              <a:gd name="T26" fmla="*/ 32 w 35"/>
              <a:gd name="T27" fmla="*/ 11 h 36"/>
              <a:gd name="T28" fmla="*/ 30 w 35"/>
              <a:gd name="T29" fmla="*/ 8 h 36"/>
              <a:gd name="T30" fmla="*/ 30 w 35"/>
              <a:gd name="T31" fmla="*/ 6 h 36"/>
              <a:gd name="T32" fmla="*/ 27 w 35"/>
              <a:gd name="T33" fmla="*/ 6 h 36"/>
              <a:gd name="T34" fmla="*/ 24 w 35"/>
              <a:gd name="T35" fmla="*/ 3 h 36"/>
              <a:gd name="T36" fmla="*/ 21 w 35"/>
              <a:gd name="T37" fmla="*/ 3 h 36"/>
              <a:gd name="T38" fmla="*/ 19 w 35"/>
              <a:gd name="T39" fmla="*/ 3 h 36"/>
              <a:gd name="T40" fmla="*/ 16 w 35"/>
              <a:gd name="T41" fmla="*/ 0 h 36"/>
              <a:gd name="T42" fmla="*/ 13 w 35"/>
              <a:gd name="T43" fmla="*/ 3 h 36"/>
              <a:gd name="T44" fmla="*/ 11 w 35"/>
              <a:gd name="T45" fmla="*/ 3 h 36"/>
              <a:gd name="T46" fmla="*/ 11 w 35"/>
              <a:gd name="T47" fmla="*/ 3 h 36"/>
              <a:gd name="T48" fmla="*/ 8 w 35"/>
              <a:gd name="T49" fmla="*/ 6 h 36"/>
              <a:gd name="T50" fmla="*/ 5 w 35"/>
              <a:gd name="T51" fmla="*/ 6 h 36"/>
              <a:gd name="T52" fmla="*/ 2 w 35"/>
              <a:gd name="T53" fmla="*/ 8 h 36"/>
              <a:gd name="T54" fmla="*/ 2 w 35"/>
              <a:gd name="T55" fmla="*/ 11 h 36"/>
              <a:gd name="T56" fmla="*/ 2 w 35"/>
              <a:gd name="T57" fmla="*/ 14 h 36"/>
              <a:gd name="T58" fmla="*/ 0 w 35"/>
              <a:gd name="T59" fmla="*/ 17 h 36"/>
              <a:gd name="T60" fmla="*/ 0 w 35"/>
              <a:gd name="T61" fmla="*/ 19 h 36"/>
              <a:gd name="T62" fmla="*/ 0 w 35"/>
              <a:gd name="T63" fmla="*/ 22 h 36"/>
              <a:gd name="T64" fmla="*/ 2 w 35"/>
              <a:gd name="T65" fmla="*/ 25 h 36"/>
              <a:gd name="T66" fmla="*/ 2 w 35"/>
              <a:gd name="T67" fmla="*/ 25 h 36"/>
              <a:gd name="T68" fmla="*/ 2 w 35"/>
              <a:gd name="T69" fmla="*/ 27 h 36"/>
              <a:gd name="T70" fmla="*/ 5 w 35"/>
              <a:gd name="T71" fmla="*/ 30 h 36"/>
              <a:gd name="T72" fmla="*/ 8 w 35"/>
              <a:gd name="T73" fmla="*/ 33 h 36"/>
              <a:gd name="T74" fmla="*/ 11 w 35"/>
              <a:gd name="T75" fmla="*/ 33 h 36"/>
              <a:gd name="T76" fmla="*/ 11 w 35"/>
              <a:gd name="T77" fmla="*/ 33 h 36"/>
              <a:gd name="T78" fmla="*/ 13 w 35"/>
              <a:gd name="T79" fmla="*/ 36 h 36"/>
              <a:gd name="T80" fmla="*/ 16 w 35"/>
              <a:gd name="T81" fmla="*/ 36 h 36"/>
              <a:gd name="T82" fmla="*/ 16 w 35"/>
              <a:gd name="T83" fmla="*/ 36 h 36"/>
              <a:gd name="T84" fmla="*/ 16 w 35"/>
              <a:gd name="T85" fmla="*/ 33 h 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5"/>
              <a:gd name="T130" fmla="*/ 0 h 36"/>
              <a:gd name="T131" fmla="*/ 35 w 35"/>
              <a:gd name="T132" fmla="*/ 36 h 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5" h="36">
                <a:moveTo>
                  <a:pt x="16" y="33"/>
                </a:moveTo>
                <a:lnTo>
                  <a:pt x="19" y="36"/>
                </a:lnTo>
                <a:lnTo>
                  <a:pt x="21" y="33"/>
                </a:lnTo>
                <a:lnTo>
                  <a:pt x="24" y="33"/>
                </a:lnTo>
                <a:lnTo>
                  <a:pt x="27" y="33"/>
                </a:lnTo>
                <a:lnTo>
                  <a:pt x="30" y="30"/>
                </a:lnTo>
                <a:lnTo>
                  <a:pt x="30" y="27"/>
                </a:lnTo>
                <a:lnTo>
                  <a:pt x="32" y="25"/>
                </a:lnTo>
                <a:lnTo>
                  <a:pt x="32" y="22"/>
                </a:lnTo>
                <a:lnTo>
                  <a:pt x="35" y="19"/>
                </a:lnTo>
                <a:lnTo>
                  <a:pt x="32" y="17"/>
                </a:lnTo>
                <a:lnTo>
                  <a:pt x="32" y="14"/>
                </a:lnTo>
                <a:lnTo>
                  <a:pt x="32" y="11"/>
                </a:lnTo>
                <a:lnTo>
                  <a:pt x="30" y="8"/>
                </a:lnTo>
                <a:lnTo>
                  <a:pt x="30" y="6"/>
                </a:lnTo>
                <a:lnTo>
                  <a:pt x="27" y="6"/>
                </a:lnTo>
                <a:lnTo>
                  <a:pt x="24" y="3"/>
                </a:lnTo>
                <a:lnTo>
                  <a:pt x="21" y="3"/>
                </a:lnTo>
                <a:lnTo>
                  <a:pt x="19" y="3"/>
                </a:lnTo>
                <a:lnTo>
                  <a:pt x="16" y="0"/>
                </a:lnTo>
                <a:lnTo>
                  <a:pt x="13" y="3"/>
                </a:lnTo>
                <a:lnTo>
                  <a:pt x="11" y="3"/>
                </a:lnTo>
                <a:lnTo>
                  <a:pt x="8" y="6"/>
                </a:lnTo>
                <a:lnTo>
                  <a:pt x="5" y="6"/>
                </a:lnTo>
                <a:lnTo>
                  <a:pt x="2" y="8"/>
                </a:lnTo>
                <a:lnTo>
                  <a:pt x="2" y="11"/>
                </a:lnTo>
                <a:lnTo>
                  <a:pt x="2" y="14"/>
                </a:lnTo>
                <a:lnTo>
                  <a:pt x="0" y="17"/>
                </a:lnTo>
                <a:lnTo>
                  <a:pt x="0" y="19"/>
                </a:lnTo>
                <a:lnTo>
                  <a:pt x="0" y="22"/>
                </a:lnTo>
                <a:lnTo>
                  <a:pt x="2" y="25"/>
                </a:lnTo>
                <a:lnTo>
                  <a:pt x="2" y="27"/>
                </a:lnTo>
                <a:lnTo>
                  <a:pt x="5" y="30"/>
                </a:lnTo>
                <a:lnTo>
                  <a:pt x="8" y="33"/>
                </a:lnTo>
                <a:lnTo>
                  <a:pt x="11" y="33"/>
                </a:lnTo>
                <a:lnTo>
                  <a:pt x="13" y="36"/>
                </a:lnTo>
                <a:lnTo>
                  <a:pt x="16" y="36"/>
                </a:lnTo>
                <a:lnTo>
                  <a:pt x="1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663" name="Rectangle 261"/>
          <p:cNvSpPr>
            <a:spLocks noChangeArrowheads="1"/>
          </p:cNvSpPr>
          <p:nvPr/>
        </p:nvSpPr>
        <p:spPr bwMode="auto">
          <a:xfrm>
            <a:off x="7231063" y="4197351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7664" name="Rectangle 262"/>
          <p:cNvSpPr>
            <a:spLocks noChangeArrowheads="1"/>
          </p:cNvSpPr>
          <p:nvPr/>
        </p:nvSpPr>
        <p:spPr bwMode="auto">
          <a:xfrm>
            <a:off x="7334251" y="419735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7665" name="Rectangle 263"/>
          <p:cNvSpPr>
            <a:spLocks noChangeArrowheads="1"/>
          </p:cNvSpPr>
          <p:nvPr/>
        </p:nvSpPr>
        <p:spPr bwMode="auto">
          <a:xfrm>
            <a:off x="7427913" y="4197351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7666" name="Rectangle 264"/>
          <p:cNvSpPr>
            <a:spLocks noChangeArrowheads="1"/>
          </p:cNvSpPr>
          <p:nvPr/>
        </p:nvSpPr>
        <p:spPr bwMode="auto">
          <a:xfrm>
            <a:off x="4538663" y="5095876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7667" name="Rectangle 265"/>
          <p:cNvSpPr>
            <a:spLocks noChangeArrowheads="1"/>
          </p:cNvSpPr>
          <p:nvPr/>
        </p:nvSpPr>
        <p:spPr bwMode="auto">
          <a:xfrm>
            <a:off x="4652964" y="509587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7668" name="Rectangle 266"/>
          <p:cNvSpPr>
            <a:spLocks noChangeArrowheads="1"/>
          </p:cNvSpPr>
          <p:nvPr/>
        </p:nvSpPr>
        <p:spPr bwMode="auto">
          <a:xfrm>
            <a:off x="4743450" y="5095876"/>
            <a:ext cx="7778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67669" name="Rectangle 267"/>
          <p:cNvSpPr>
            <a:spLocks noChangeArrowheads="1"/>
          </p:cNvSpPr>
          <p:nvPr/>
        </p:nvSpPr>
        <p:spPr bwMode="auto">
          <a:xfrm>
            <a:off x="4824413" y="5095876"/>
            <a:ext cx="13305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67670" name="Rectangle 268"/>
          <p:cNvSpPr>
            <a:spLocks noChangeArrowheads="1"/>
          </p:cNvSpPr>
          <p:nvPr/>
        </p:nvSpPr>
        <p:spPr bwMode="auto">
          <a:xfrm>
            <a:off x="4979989" y="5095876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7671" name="Rectangle 269"/>
          <p:cNvSpPr>
            <a:spLocks noChangeArrowheads="1"/>
          </p:cNvSpPr>
          <p:nvPr/>
        </p:nvSpPr>
        <p:spPr bwMode="auto">
          <a:xfrm>
            <a:off x="5033963" y="5095876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7672" name="Rectangle 270"/>
          <p:cNvSpPr>
            <a:spLocks noChangeArrowheads="1"/>
          </p:cNvSpPr>
          <p:nvPr/>
        </p:nvSpPr>
        <p:spPr bwMode="auto">
          <a:xfrm>
            <a:off x="5065713" y="5095876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7673" name="Rectangle 271"/>
          <p:cNvSpPr>
            <a:spLocks noChangeArrowheads="1"/>
          </p:cNvSpPr>
          <p:nvPr/>
        </p:nvSpPr>
        <p:spPr bwMode="auto">
          <a:xfrm>
            <a:off x="5113339" y="509587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7674" name="Rectangle 272"/>
          <p:cNvSpPr>
            <a:spLocks noChangeArrowheads="1"/>
          </p:cNvSpPr>
          <p:nvPr/>
        </p:nvSpPr>
        <p:spPr bwMode="auto">
          <a:xfrm>
            <a:off x="7505701" y="3455989"/>
            <a:ext cx="936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7675" name="Rectangle 273"/>
          <p:cNvSpPr>
            <a:spLocks noChangeArrowheads="1"/>
          </p:cNvSpPr>
          <p:nvPr/>
        </p:nvSpPr>
        <p:spPr bwMode="auto">
          <a:xfrm>
            <a:off x="7610476" y="345598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7676" name="Rectangle 274"/>
          <p:cNvSpPr>
            <a:spLocks noChangeArrowheads="1"/>
          </p:cNvSpPr>
          <p:nvPr/>
        </p:nvSpPr>
        <p:spPr bwMode="auto">
          <a:xfrm>
            <a:off x="7700963" y="3455989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7677" name="Rectangle 275"/>
          <p:cNvSpPr>
            <a:spLocks noChangeArrowheads="1"/>
          </p:cNvSpPr>
          <p:nvPr/>
        </p:nvSpPr>
        <p:spPr bwMode="auto">
          <a:xfrm>
            <a:off x="7813675" y="3455989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100">
                <a:solidFill>
                  <a:srgbClr val="F3AA61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7678" name="Rectangle 276"/>
          <p:cNvSpPr>
            <a:spLocks noChangeArrowheads="1"/>
          </p:cNvSpPr>
          <p:nvPr/>
        </p:nvSpPr>
        <p:spPr bwMode="auto">
          <a:xfrm>
            <a:off x="7856539" y="345598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67679" name="Rectangle 277"/>
          <p:cNvSpPr>
            <a:spLocks noChangeArrowheads="1"/>
          </p:cNvSpPr>
          <p:nvPr/>
        </p:nvSpPr>
        <p:spPr bwMode="auto">
          <a:xfrm>
            <a:off x="7948614" y="345598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p</a:t>
            </a:r>
          </a:p>
        </p:txBody>
      </p:sp>
      <p:sp>
        <p:nvSpPr>
          <p:cNvPr id="67680" name="Rectangle 278"/>
          <p:cNvSpPr>
            <a:spLocks noChangeArrowheads="1"/>
          </p:cNvSpPr>
          <p:nvPr/>
        </p:nvSpPr>
        <p:spPr bwMode="auto">
          <a:xfrm>
            <a:off x="8034339" y="345598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7681" name="Rectangle 279"/>
          <p:cNvSpPr>
            <a:spLocks noChangeArrowheads="1"/>
          </p:cNvSpPr>
          <p:nvPr/>
        </p:nvSpPr>
        <p:spPr bwMode="auto">
          <a:xfrm>
            <a:off x="8121651" y="3455989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7682" name="Rectangle 280"/>
          <p:cNvSpPr>
            <a:spLocks noChangeArrowheads="1"/>
          </p:cNvSpPr>
          <p:nvPr/>
        </p:nvSpPr>
        <p:spPr bwMode="auto">
          <a:xfrm>
            <a:off x="8175626" y="345598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7683" name="Rectangle 281"/>
          <p:cNvSpPr>
            <a:spLocks noChangeArrowheads="1"/>
          </p:cNvSpPr>
          <p:nvPr/>
        </p:nvSpPr>
        <p:spPr bwMode="auto">
          <a:xfrm>
            <a:off x="8264525" y="3455989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7684" name="Rectangle 282"/>
          <p:cNvSpPr>
            <a:spLocks noChangeArrowheads="1"/>
          </p:cNvSpPr>
          <p:nvPr/>
        </p:nvSpPr>
        <p:spPr bwMode="auto">
          <a:xfrm>
            <a:off x="8307388" y="3455989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7685" name="Rectangle 283"/>
          <p:cNvSpPr>
            <a:spLocks noChangeArrowheads="1"/>
          </p:cNvSpPr>
          <p:nvPr/>
        </p:nvSpPr>
        <p:spPr bwMode="auto">
          <a:xfrm>
            <a:off x="8340726" y="345598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67686" name="Rectangle 284"/>
          <p:cNvSpPr>
            <a:spLocks noChangeArrowheads="1"/>
          </p:cNvSpPr>
          <p:nvPr/>
        </p:nvSpPr>
        <p:spPr bwMode="auto">
          <a:xfrm>
            <a:off x="8432801" y="345598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67687" name="Rectangle 285"/>
          <p:cNvSpPr>
            <a:spLocks noChangeArrowheads="1"/>
          </p:cNvSpPr>
          <p:nvPr/>
        </p:nvSpPr>
        <p:spPr bwMode="auto">
          <a:xfrm>
            <a:off x="7221539" y="353853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EB7500"/>
                </a:solidFill>
                <a:latin typeface="Arial" charset="0"/>
                <a:ea typeface="新細明體" charset="-120"/>
              </a:rPr>
              <a:t>3</a:t>
            </a:r>
          </a:p>
        </p:txBody>
      </p:sp>
      <p:sp>
        <p:nvSpPr>
          <p:cNvPr id="67688" name="Rectangle 286"/>
          <p:cNvSpPr>
            <a:spLocks noChangeArrowheads="1"/>
          </p:cNvSpPr>
          <p:nvPr/>
        </p:nvSpPr>
        <p:spPr bwMode="auto">
          <a:xfrm>
            <a:off x="8208963" y="5503864"/>
            <a:ext cx="11702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67689" name="Rectangle 287"/>
          <p:cNvSpPr>
            <a:spLocks noChangeArrowheads="1"/>
          </p:cNvSpPr>
          <p:nvPr/>
        </p:nvSpPr>
        <p:spPr bwMode="auto">
          <a:xfrm>
            <a:off x="8337551" y="550386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7690" name="Rectangle 288"/>
          <p:cNvSpPr>
            <a:spLocks noChangeArrowheads="1"/>
          </p:cNvSpPr>
          <p:nvPr/>
        </p:nvSpPr>
        <p:spPr bwMode="auto">
          <a:xfrm>
            <a:off x="8424863" y="5503864"/>
            <a:ext cx="11702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67691" name="Rectangle 289"/>
          <p:cNvSpPr>
            <a:spLocks noChangeArrowheads="1"/>
          </p:cNvSpPr>
          <p:nvPr/>
        </p:nvSpPr>
        <p:spPr bwMode="auto">
          <a:xfrm>
            <a:off x="8559800" y="5503864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7692" name="Rectangle 290"/>
          <p:cNvSpPr>
            <a:spLocks noChangeArrowheads="1"/>
          </p:cNvSpPr>
          <p:nvPr/>
        </p:nvSpPr>
        <p:spPr bwMode="auto">
          <a:xfrm>
            <a:off x="8675689" y="550386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7693" name="Rectangle 291"/>
          <p:cNvSpPr>
            <a:spLocks noChangeArrowheads="1"/>
          </p:cNvSpPr>
          <p:nvPr/>
        </p:nvSpPr>
        <p:spPr bwMode="auto">
          <a:xfrm>
            <a:off x="8761414" y="550386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7694" name="Rectangle 292"/>
          <p:cNvSpPr>
            <a:spLocks noChangeArrowheads="1"/>
          </p:cNvSpPr>
          <p:nvPr/>
        </p:nvSpPr>
        <p:spPr bwMode="auto">
          <a:xfrm>
            <a:off x="8850314" y="550386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7695" name="Rectangle 293"/>
          <p:cNvSpPr>
            <a:spLocks noChangeArrowheads="1"/>
          </p:cNvSpPr>
          <p:nvPr/>
        </p:nvSpPr>
        <p:spPr bwMode="auto">
          <a:xfrm>
            <a:off x="8996363" y="3571876"/>
            <a:ext cx="11702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67696" name="Rectangle 294"/>
          <p:cNvSpPr>
            <a:spLocks noChangeArrowheads="1"/>
          </p:cNvSpPr>
          <p:nvPr/>
        </p:nvSpPr>
        <p:spPr bwMode="auto">
          <a:xfrm>
            <a:off x="9126539" y="357187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7697" name="Rectangle 295"/>
          <p:cNvSpPr>
            <a:spLocks noChangeArrowheads="1"/>
          </p:cNvSpPr>
          <p:nvPr/>
        </p:nvSpPr>
        <p:spPr bwMode="auto">
          <a:xfrm>
            <a:off x="9213850" y="3571876"/>
            <a:ext cx="11588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67698" name="Rectangle 296"/>
          <p:cNvSpPr>
            <a:spLocks noChangeArrowheads="1"/>
          </p:cNvSpPr>
          <p:nvPr/>
        </p:nvSpPr>
        <p:spPr bwMode="auto">
          <a:xfrm>
            <a:off x="9344026" y="3571876"/>
            <a:ext cx="1317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67699" name="Rectangle 297"/>
          <p:cNvSpPr>
            <a:spLocks noChangeArrowheads="1"/>
          </p:cNvSpPr>
          <p:nvPr/>
        </p:nvSpPr>
        <p:spPr bwMode="auto">
          <a:xfrm>
            <a:off x="9496426" y="3571876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7700" name="Rectangle 298"/>
          <p:cNvSpPr>
            <a:spLocks noChangeArrowheads="1"/>
          </p:cNvSpPr>
          <p:nvPr/>
        </p:nvSpPr>
        <p:spPr bwMode="auto">
          <a:xfrm>
            <a:off x="9548813" y="3571876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7701" name="Rectangle 299"/>
          <p:cNvSpPr>
            <a:spLocks noChangeArrowheads="1"/>
          </p:cNvSpPr>
          <p:nvPr/>
        </p:nvSpPr>
        <p:spPr bwMode="auto">
          <a:xfrm>
            <a:off x="9583738" y="3571876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7702" name="Rectangle 300"/>
          <p:cNvSpPr>
            <a:spLocks noChangeArrowheads="1"/>
          </p:cNvSpPr>
          <p:nvPr/>
        </p:nvSpPr>
        <p:spPr bwMode="auto">
          <a:xfrm>
            <a:off x="9629776" y="357187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grpSp>
        <p:nvGrpSpPr>
          <p:cNvPr id="67703" name="Group 301"/>
          <p:cNvGrpSpPr>
            <a:grpSpLocks/>
          </p:cNvGrpSpPr>
          <p:nvPr/>
        </p:nvGrpSpPr>
        <p:grpSpPr bwMode="auto">
          <a:xfrm>
            <a:off x="6135689" y="4022737"/>
            <a:ext cx="549275" cy="184151"/>
            <a:chOff x="2905" y="2534"/>
            <a:chExt cx="346" cy="116"/>
          </a:xfrm>
        </p:grpSpPr>
        <p:sp>
          <p:nvSpPr>
            <p:cNvPr id="67745" name="Rectangle 302"/>
            <p:cNvSpPr>
              <a:spLocks noChangeArrowheads="1"/>
            </p:cNvSpPr>
            <p:nvPr/>
          </p:nvSpPr>
          <p:spPr bwMode="auto">
            <a:xfrm>
              <a:off x="2905" y="2534"/>
              <a:ext cx="7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7746" name="Rectangle 303"/>
            <p:cNvSpPr>
              <a:spLocks noChangeArrowheads="1"/>
            </p:cNvSpPr>
            <p:nvPr/>
          </p:nvSpPr>
          <p:spPr bwMode="auto">
            <a:xfrm>
              <a:off x="2970" y="2534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67747" name="Rectangle 304"/>
            <p:cNvSpPr>
              <a:spLocks noChangeArrowheads="1"/>
            </p:cNvSpPr>
            <p:nvPr/>
          </p:nvSpPr>
          <p:spPr bwMode="auto">
            <a:xfrm>
              <a:off x="3026" y="2534"/>
              <a:ext cx="7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67748" name="Rectangle 305"/>
            <p:cNvSpPr>
              <a:spLocks noChangeArrowheads="1"/>
            </p:cNvSpPr>
            <p:nvPr/>
          </p:nvSpPr>
          <p:spPr bwMode="auto">
            <a:xfrm>
              <a:off x="3099" y="2534"/>
              <a:ext cx="6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7749" name="Rectangle 306"/>
            <p:cNvSpPr>
              <a:spLocks noChangeArrowheads="1"/>
            </p:cNvSpPr>
            <p:nvPr/>
          </p:nvSpPr>
          <p:spPr bwMode="auto">
            <a:xfrm>
              <a:off x="3164" y="2534"/>
              <a:ext cx="3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750" name="Rectangle 307"/>
            <p:cNvSpPr>
              <a:spLocks noChangeArrowheads="1"/>
            </p:cNvSpPr>
            <p:nvPr/>
          </p:nvSpPr>
          <p:spPr bwMode="auto">
            <a:xfrm>
              <a:off x="3197" y="2534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</p:grpSp>
      <p:grpSp>
        <p:nvGrpSpPr>
          <p:cNvPr id="67704" name="Group 308"/>
          <p:cNvGrpSpPr>
            <a:grpSpLocks/>
          </p:cNvGrpSpPr>
          <p:nvPr/>
        </p:nvGrpSpPr>
        <p:grpSpPr bwMode="auto">
          <a:xfrm>
            <a:off x="9609148" y="3851275"/>
            <a:ext cx="784226" cy="184150"/>
            <a:chOff x="5093" y="2426"/>
            <a:chExt cx="494" cy="116"/>
          </a:xfrm>
        </p:grpSpPr>
        <p:sp>
          <p:nvSpPr>
            <p:cNvPr id="67737" name="Rectangle 309"/>
            <p:cNvSpPr>
              <a:spLocks noChangeArrowheads="1"/>
            </p:cNvSpPr>
            <p:nvPr/>
          </p:nvSpPr>
          <p:spPr bwMode="auto">
            <a:xfrm>
              <a:off x="5093" y="2426"/>
              <a:ext cx="8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67738" name="Rectangle 310"/>
            <p:cNvSpPr>
              <a:spLocks noChangeArrowheads="1"/>
            </p:cNvSpPr>
            <p:nvPr/>
          </p:nvSpPr>
          <p:spPr bwMode="auto">
            <a:xfrm>
              <a:off x="5177" y="2426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739" name="Rectangle 311"/>
            <p:cNvSpPr>
              <a:spLocks noChangeArrowheads="1"/>
            </p:cNvSpPr>
            <p:nvPr/>
          </p:nvSpPr>
          <p:spPr bwMode="auto">
            <a:xfrm>
              <a:off x="5233" y="2426"/>
              <a:ext cx="86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67740" name="Rectangle 312"/>
            <p:cNvSpPr>
              <a:spLocks noChangeArrowheads="1"/>
            </p:cNvSpPr>
            <p:nvPr/>
          </p:nvSpPr>
          <p:spPr bwMode="auto">
            <a:xfrm>
              <a:off x="5315" y="2426"/>
              <a:ext cx="3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7741" name="Rectangle 313"/>
            <p:cNvSpPr>
              <a:spLocks noChangeArrowheads="1"/>
            </p:cNvSpPr>
            <p:nvPr/>
          </p:nvSpPr>
          <p:spPr bwMode="auto">
            <a:xfrm>
              <a:off x="5344" y="2426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67742" name="Rectangle 314"/>
            <p:cNvSpPr>
              <a:spLocks noChangeArrowheads="1"/>
            </p:cNvSpPr>
            <p:nvPr/>
          </p:nvSpPr>
          <p:spPr bwMode="auto">
            <a:xfrm>
              <a:off x="5398" y="2426"/>
              <a:ext cx="7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7743" name="Rectangle 315"/>
            <p:cNvSpPr>
              <a:spLocks noChangeArrowheads="1"/>
            </p:cNvSpPr>
            <p:nvPr/>
          </p:nvSpPr>
          <p:spPr bwMode="auto">
            <a:xfrm>
              <a:off x="5470" y="2426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7744" name="Rectangle 316"/>
            <p:cNvSpPr>
              <a:spLocks noChangeArrowheads="1"/>
            </p:cNvSpPr>
            <p:nvPr/>
          </p:nvSpPr>
          <p:spPr bwMode="auto">
            <a:xfrm>
              <a:off x="5527" y="2426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</p:grpSp>
      <p:sp>
        <p:nvSpPr>
          <p:cNvPr id="67705" name="Freeform 318"/>
          <p:cNvSpPr>
            <a:spLocks noChangeArrowheads="1"/>
          </p:cNvSpPr>
          <p:nvPr/>
        </p:nvSpPr>
        <p:spPr bwMode="auto">
          <a:xfrm>
            <a:off x="4333876" y="3551239"/>
            <a:ext cx="80963" cy="85725"/>
          </a:xfrm>
          <a:custGeom>
            <a:avLst/>
            <a:gdLst>
              <a:gd name="T0" fmla="*/ 0 w 46"/>
              <a:gd name="T1" fmla="*/ 0 h 49"/>
              <a:gd name="T2" fmla="*/ 0 w 46"/>
              <a:gd name="T3" fmla="*/ 49 h 49"/>
              <a:gd name="T4" fmla="*/ 46 w 46"/>
              <a:gd name="T5" fmla="*/ 25 h 49"/>
              <a:gd name="T6" fmla="*/ 0 w 46"/>
              <a:gd name="T7" fmla="*/ 3 h 49"/>
              <a:gd name="T8" fmla="*/ 0 w 46"/>
              <a:gd name="T9" fmla="*/ 3 h 49"/>
              <a:gd name="T10" fmla="*/ 0 w 46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6"/>
              <a:gd name="T19" fmla="*/ 0 h 49"/>
              <a:gd name="T20" fmla="*/ 46 w 46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6" h="49">
                <a:moveTo>
                  <a:pt x="0" y="0"/>
                </a:moveTo>
                <a:lnTo>
                  <a:pt x="0" y="49"/>
                </a:lnTo>
                <a:lnTo>
                  <a:pt x="46" y="2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06" name="Freeform 320"/>
          <p:cNvSpPr>
            <a:spLocks noChangeArrowheads="1"/>
          </p:cNvSpPr>
          <p:nvPr/>
        </p:nvSpPr>
        <p:spPr bwMode="auto">
          <a:xfrm>
            <a:off x="2981326" y="2374900"/>
            <a:ext cx="85725" cy="84138"/>
          </a:xfrm>
          <a:custGeom>
            <a:avLst/>
            <a:gdLst>
              <a:gd name="T0" fmla="*/ 0 w 49"/>
              <a:gd name="T1" fmla="*/ 0 h 48"/>
              <a:gd name="T2" fmla="*/ 3 w 49"/>
              <a:gd name="T3" fmla="*/ 48 h 48"/>
              <a:gd name="T4" fmla="*/ 49 w 49"/>
              <a:gd name="T5" fmla="*/ 24 h 48"/>
              <a:gd name="T6" fmla="*/ 3 w 49"/>
              <a:gd name="T7" fmla="*/ 0 h 48"/>
              <a:gd name="T8" fmla="*/ 3 w 49"/>
              <a:gd name="T9" fmla="*/ 0 h 48"/>
              <a:gd name="T10" fmla="*/ 0 w 49"/>
              <a:gd name="T11" fmla="*/ 0 h 4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8"/>
              <a:gd name="T20" fmla="*/ 49 w 49"/>
              <a:gd name="T21" fmla="*/ 48 h 4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8">
                <a:moveTo>
                  <a:pt x="0" y="0"/>
                </a:moveTo>
                <a:lnTo>
                  <a:pt x="3" y="48"/>
                </a:lnTo>
                <a:lnTo>
                  <a:pt x="49" y="24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07" name="Freeform 322"/>
          <p:cNvSpPr>
            <a:spLocks noChangeArrowheads="1"/>
          </p:cNvSpPr>
          <p:nvPr/>
        </p:nvSpPr>
        <p:spPr bwMode="auto">
          <a:xfrm>
            <a:off x="2981326" y="3071814"/>
            <a:ext cx="85725" cy="85725"/>
          </a:xfrm>
          <a:custGeom>
            <a:avLst/>
            <a:gdLst>
              <a:gd name="T0" fmla="*/ 0 w 49"/>
              <a:gd name="T1" fmla="*/ 0 h 49"/>
              <a:gd name="T2" fmla="*/ 3 w 49"/>
              <a:gd name="T3" fmla="*/ 49 h 49"/>
              <a:gd name="T4" fmla="*/ 49 w 49"/>
              <a:gd name="T5" fmla="*/ 24 h 49"/>
              <a:gd name="T6" fmla="*/ 3 w 49"/>
              <a:gd name="T7" fmla="*/ 3 h 49"/>
              <a:gd name="T8" fmla="*/ 3 w 49"/>
              <a:gd name="T9" fmla="*/ 3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3" y="49"/>
                </a:lnTo>
                <a:lnTo>
                  <a:pt x="49" y="24"/>
                </a:lnTo>
                <a:lnTo>
                  <a:pt x="3" y="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08" name="Freeform 324"/>
          <p:cNvSpPr>
            <a:spLocks noChangeArrowheads="1"/>
          </p:cNvSpPr>
          <p:nvPr/>
        </p:nvSpPr>
        <p:spPr bwMode="auto">
          <a:xfrm>
            <a:off x="2354263" y="3821114"/>
            <a:ext cx="82550" cy="85725"/>
          </a:xfrm>
          <a:custGeom>
            <a:avLst/>
            <a:gdLst>
              <a:gd name="T0" fmla="*/ 0 w 47"/>
              <a:gd name="T1" fmla="*/ 0 h 49"/>
              <a:gd name="T2" fmla="*/ 0 w 47"/>
              <a:gd name="T3" fmla="*/ 49 h 49"/>
              <a:gd name="T4" fmla="*/ 47 w 47"/>
              <a:gd name="T5" fmla="*/ 25 h 49"/>
              <a:gd name="T6" fmla="*/ 0 w 47"/>
              <a:gd name="T7" fmla="*/ 0 h 49"/>
              <a:gd name="T8" fmla="*/ 0 w 47"/>
              <a:gd name="T9" fmla="*/ 0 h 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"/>
              <a:gd name="T16" fmla="*/ 0 h 49"/>
              <a:gd name="T17" fmla="*/ 47 w 47"/>
              <a:gd name="T18" fmla="*/ 49 h 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" h="49">
                <a:moveTo>
                  <a:pt x="0" y="0"/>
                </a:moveTo>
                <a:lnTo>
                  <a:pt x="0" y="49"/>
                </a:lnTo>
                <a:lnTo>
                  <a:pt x="47" y="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09" name="Freeform 326"/>
          <p:cNvSpPr>
            <a:spLocks noChangeArrowheads="1"/>
          </p:cNvSpPr>
          <p:nvPr/>
        </p:nvSpPr>
        <p:spPr bwMode="auto">
          <a:xfrm>
            <a:off x="1881188" y="3821114"/>
            <a:ext cx="80962" cy="85725"/>
          </a:xfrm>
          <a:custGeom>
            <a:avLst/>
            <a:gdLst>
              <a:gd name="T0" fmla="*/ 0 w 46"/>
              <a:gd name="T1" fmla="*/ 0 h 49"/>
              <a:gd name="T2" fmla="*/ 0 w 46"/>
              <a:gd name="T3" fmla="*/ 49 h 49"/>
              <a:gd name="T4" fmla="*/ 46 w 46"/>
              <a:gd name="T5" fmla="*/ 25 h 49"/>
              <a:gd name="T6" fmla="*/ 0 w 46"/>
              <a:gd name="T7" fmla="*/ 0 h 49"/>
              <a:gd name="T8" fmla="*/ 0 w 46"/>
              <a:gd name="T9" fmla="*/ 0 h 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"/>
              <a:gd name="T16" fmla="*/ 0 h 49"/>
              <a:gd name="T17" fmla="*/ 46 w 46"/>
              <a:gd name="T18" fmla="*/ 49 h 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" h="49">
                <a:moveTo>
                  <a:pt x="0" y="0"/>
                </a:moveTo>
                <a:lnTo>
                  <a:pt x="0" y="49"/>
                </a:lnTo>
                <a:lnTo>
                  <a:pt x="46" y="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10" name="Freeform 327"/>
          <p:cNvSpPr>
            <a:spLocks noChangeArrowheads="1"/>
          </p:cNvSpPr>
          <p:nvPr/>
        </p:nvSpPr>
        <p:spPr bwMode="auto">
          <a:xfrm>
            <a:off x="4333876" y="4021138"/>
            <a:ext cx="30163" cy="4762"/>
          </a:xfrm>
          <a:custGeom>
            <a:avLst/>
            <a:gdLst>
              <a:gd name="T0" fmla="*/ 17 w 17"/>
              <a:gd name="T1" fmla="*/ 0 h 3"/>
              <a:gd name="T2" fmla="*/ 0 w 17"/>
              <a:gd name="T3" fmla="*/ 3 h 3"/>
              <a:gd name="T4" fmla="*/ 17 w 17"/>
              <a:gd name="T5" fmla="*/ 0 h 3"/>
              <a:gd name="T6" fmla="*/ 0 60000 65536"/>
              <a:gd name="T7" fmla="*/ 0 60000 65536"/>
              <a:gd name="T8" fmla="*/ 0 60000 65536"/>
              <a:gd name="T9" fmla="*/ 0 w 17"/>
              <a:gd name="T10" fmla="*/ 0 h 3"/>
              <a:gd name="T11" fmla="*/ 17 w 17"/>
              <a:gd name="T12" fmla="*/ 3 h 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3">
                <a:moveTo>
                  <a:pt x="17" y="0"/>
                </a:moveTo>
                <a:lnTo>
                  <a:pt x="0" y="3"/>
                </a:lnTo>
                <a:lnTo>
                  <a:pt x="17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11" name="Freeform 328"/>
          <p:cNvSpPr>
            <a:spLocks noChangeArrowheads="1"/>
          </p:cNvSpPr>
          <p:nvPr/>
        </p:nvSpPr>
        <p:spPr bwMode="auto">
          <a:xfrm>
            <a:off x="4333876" y="3984626"/>
            <a:ext cx="80963" cy="79375"/>
          </a:xfrm>
          <a:custGeom>
            <a:avLst/>
            <a:gdLst>
              <a:gd name="T0" fmla="*/ 0 w 46"/>
              <a:gd name="T1" fmla="*/ 0 h 46"/>
              <a:gd name="T2" fmla="*/ 0 w 46"/>
              <a:gd name="T3" fmla="*/ 46 h 46"/>
              <a:gd name="T4" fmla="*/ 46 w 46"/>
              <a:gd name="T5" fmla="*/ 24 h 46"/>
              <a:gd name="T6" fmla="*/ 0 w 46"/>
              <a:gd name="T7" fmla="*/ 0 h 46"/>
              <a:gd name="T8" fmla="*/ 0 w 46"/>
              <a:gd name="T9" fmla="*/ 0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"/>
              <a:gd name="T16" fmla="*/ 0 h 46"/>
              <a:gd name="T17" fmla="*/ 46 w 46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" h="46">
                <a:moveTo>
                  <a:pt x="0" y="0"/>
                </a:moveTo>
                <a:lnTo>
                  <a:pt x="0" y="46"/>
                </a:lnTo>
                <a:lnTo>
                  <a:pt x="46" y="24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12" name="Freeform 329"/>
          <p:cNvSpPr>
            <a:spLocks noChangeArrowheads="1"/>
          </p:cNvSpPr>
          <p:nvPr/>
        </p:nvSpPr>
        <p:spPr bwMode="auto">
          <a:xfrm>
            <a:off x="4333876" y="4416426"/>
            <a:ext cx="30163" cy="4763"/>
          </a:xfrm>
          <a:custGeom>
            <a:avLst/>
            <a:gdLst>
              <a:gd name="T0" fmla="*/ 17 w 17"/>
              <a:gd name="T1" fmla="*/ 0 h 3"/>
              <a:gd name="T2" fmla="*/ 0 w 17"/>
              <a:gd name="T3" fmla="*/ 3 h 3"/>
              <a:gd name="T4" fmla="*/ 17 w 17"/>
              <a:gd name="T5" fmla="*/ 0 h 3"/>
              <a:gd name="T6" fmla="*/ 0 60000 65536"/>
              <a:gd name="T7" fmla="*/ 0 60000 65536"/>
              <a:gd name="T8" fmla="*/ 0 60000 65536"/>
              <a:gd name="T9" fmla="*/ 0 w 17"/>
              <a:gd name="T10" fmla="*/ 0 h 3"/>
              <a:gd name="T11" fmla="*/ 17 w 17"/>
              <a:gd name="T12" fmla="*/ 3 h 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3">
                <a:moveTo>
                  <a:pt x="17" y="0"/>
                </a:moveTo>
                <a:lnTo>
                  <a:pt x="0" y="3"/>
                </a:lnTo>
                <a:lnTo>
                  <a:pt x="17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13" name="Freeform 330"/>
          <p:cNvSpPr>
            <a:spLocks noChangeArrowheads="1"/>
          </p:cNvSpPr>
          <p:nvPr/>
        </p:nvSpPr>
        <p:spPr bwMode="auto">
          <a:xfrm>
            <a:off x="4333876" y="4376738"/>
            <a:ext cx="80963" cy="80962"/>
          </a:xfrm>
          <a:custGeom>
            <a:avLst/>
            <a:gdLst>
              <a:gd name="T0" fmla="*/ 0 w 46"/>
              <a:gd name="T1" fmla="*/ 0 h 46"/>
              <a:gd name="T2" fmla="*/ 0 w 46"/>
              <a:gd name="T3" fmla="*/ 46 h 46"/>
              <a:gd name="T4" fmla="*/ 46 w 46"/>
              <a:gd name="T5" fmla="*/ 25 h 46"/>
              <a:gd name="T6" fmla="*/ 0 w 46"/>
              <a:gd name="T7" fmla="*/ 0 h 46"/>
              <a:gd name="T8" fmla="*/ 0 w 46"/>
              <a:gd name="T9" fmla="*/ 0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"/>
              <a:gd name="T16" fmla="*/ 0 h 46"/>
              <a:gd name="T17" fmla="*/ 46 w 46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" h="46">
                <a:moveTo>
                  <a:pt x="0" y="0"/>
                </a:moveTo>
                <a:lnTo>
                  <a:pt x="0" y="46"/>
                </a:lnTo>
                <a:lnTo>
                  <a:pt x="46" y="25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14" name="Freeform 332"/>
          <p:cNvSpPr>
            <a:spLocks noChangeArrowheads="1"/>
          </p:cNvSpPr>
          <p:nvPr/>
        </p:nvSpPr>
        <p:spPr bwMode="auto">
          <a:xfrm>
            <a:off x="6524626" y="4349751"/>
            <a:ext cx="85725" cy="85725"/>
          </a:xfrm>
          <a:custGeom>
            <a:avLst/>
            <a:gdLst>
              <a:gd name="T0" fmla="*/ 0 w 49"/>
              <a:gd name="T1" fmla="*/ 0 h 49"/>
              <a:gd name="T2" fmla="*/ 3 w 49"/>
              <a:gd name="T3" fmla="*/ 49 h 49"/>
              <a:gd name="T4" fmla="*/ 49 w 49"/>
              <a:gd name="T5" fmla="*/ 24 h 49"/>
              <a:gd name="T6" fmla="*/ 3 w 49"/>
              <a:gd name="T7" fmla="*/ 3 h 49"/>
              <a:gd name="T8" fmla="*/ 3 w 49"/>
              <a:gd name="T9" fmla="*/ 3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3" y="49"/>
                </a:lnTo>
                <a:lnTo>
                  <a:pt x="49" y="24"/>
                </a:lnTo>
                <a:lnTo>
                  <a:pt x="3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15" name="Freeform 334"/>
          <p:cNvSpPr>
            <a:spLocks noChangeArrowheads="1"/>
          </p:cNvSpPr>
          <p:nvPr/>
        </p:nvSpPr>
        <p:spPr bwMode="auto">
          <a:xfrm>
            <a:off x="6524626" y="4876801"/>
            <a:ext cx="85725" cy="85725"/>
          </a:xfrm>
          <a:custGeom>
            <a:avLst/>
            <a:gdLst>
              <a:gd name="T0" fmla="*/ 0 w 49"/>
              <a:gd name="T1" fmla="*/ 0 h 49"/>
              <a:gd name="T2" fmla="*/ 3 w 49"/>
              <a:gd name="T3" fmla="*/ 49 h 49"/>
              <a:gd name="T4" fmla="*/ 49 w 49"/>
              <a:gd name="T5" fmla="*/ 24 h 49"/>
              <a:gd name="T6" fmla="*/ 3 w 49"/>
              <a:gd name="T7" fmla="*/ 0 h 49"/>
              <a:gd name="T8" fmla="*/ 3 w 49"/>
              <a:gd name="T9" fmla="*/ 0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3" y="49"/>
                </a:lnTo>
                <a:lnTo>
                  <a:pt x="49" y="24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16" name="Freeform 336"/>
          <p:cNvSpPr>
            <a:spLocks noChangeArrowheads="1"/>
          </p:cNvSpPr>
          <p:nvPr/>
        </p:nvSpPr>
        <p:spPr bwMode="auto">
          <a:xfrm>
            <a:off x="7002464" y="4614863"/>
            <a:ext cx="85725" cy="80962"/>
          </a:xfrm>
          <a:custGeom>
            <a:avLst/>
            <a:gdLst>
              <a:gd name="T0" fmla="*/ 0 w 49"/>
              <a:gd name="T1" fmla="*/ 0 h 46"/>
              <a:gd name="T2" fmla="*/ 3 w 49"/>
              <a:gd name="T3" fmla="*/ 46 h 46"/>
              <a:gd name="T4" fmla="*/ 49 w 49"/>
              <a:gd name="T5" fmla="*/ 25 h 46"/>
              <a:gd name="T6" fmla="*/ 3 w 49"/>
              <a:gd name="T7" fmla="*/ 0 h 46"/>
              <a:gd name="T8" fmla="*/ 3 w 49"/>
              <a:gd name="T9" fmla="*/ 0 h 46"/>
              <a:gd name="T10" fmla="*/ 0 w 49"/>
              <a:gd name="T11" fmla="*/ 0 h 4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6"/>
              <a:gd name="T20" fmla="*/ 49 w 49"/>
              <a:gd name="T21" fmla="*/ 46 h 4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6">
                <a:moveTo>
                  <a:pt x="0" y="0"/>
                </a:moveTo>
                <a:lnTo>
                  <a:pt x="3" y="46"/>
                </a:lnTo>
                <a:lnTo>
                  <a:pt x="49" y="25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17" name="Freeform 338"/>
          <p:cNvSpPr>
            <a:spLocks noChangeArrowheads="1"/>
          </p:cNvSpPr>
          <p:nvPr/>
        </p:nvSpPr>
        <p:spPr bwMode="auto">
          <a:xfrm>
            <a:off x="7002464" y="3913189"/>
            <a:ext cx="85725" cy="84137"/>
          </a:xfrm>
          <a:custGeom>
            <a:avLst/>
            <a:gdLst>
              <a:gd name="T0" fmla="*/ 0 w 49"/>
              <a:gd name="T1" fmla="*/ 0 h 49"/>
              <a:gd name="T2" fmla="*/ 3 w 49"/>
              <a:gd name="T3" fmla="*/ 49 h 49"/>
              <a:gd name="T4" fmla="*/ 49 w 49"/>
              <a:gd name="T5" fmla="*/ 24 h 49"/>
              <a:gd name="T6" fmla="*/ 3 w 49"/>
              <a:gd name="T7" fmla="*/ 3 h 49"/>
              <a:gd name="T8" fmla="*/ 3 w 49"/>
              <a:gd name="T9" fmla="*/ 3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3" y="49"/>
                </a:lnTo>
                <a:lnTo>
                  <a:pt x="49" y="24"/>
                </a:lnTo>
                <a:lnTo>
                  <a:pt x="3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18" name="Freeform 340"/>
          <p:cNvSpPr>
            <a:spLocks noChangeArrowheads="1"/>
          </p:cNvSpPr>
          <p:nvPr/>
        </p:nvSpPr>
        <p:spPr bwMode="auto">
          <a:xfrm>
            <a:off x="8147051" y="4343401"/>
            <a:ext cx="85725" cy="85725"/>
          </a:xfrm>
          <a:custGeom>
            <a:avLst/>
            <a:gdLst>
              <a:gd name="T0" fmla="*/ 0 w 49"/>
              <a:gd name="T1" fmla="*/ 0 h 49"/>
              <a:gd name="T2" fmla="*/ 0 w 49"/>
              <a:gd name="T3" fmla="*/ 49 h 49"/>
              <a:gd name="T4" fmla="*/ 49 w 49"/>
              <a:gd name="T5" fmla="*/ 25 h 49"/>
              <a:gd name="T6" fmla="*/ 0 w 49"/>
              <a:gd name="T7" fmla="*/ 0 h 49"/>
              <a:gd name="T8" fmla="*/ 0 w 49"/>
              <a:gd name="T9" fmla="*/ 0 h 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9"/>
              <a:gd name="T16" fmla="*/ 0 h 49"/>
              <a:gd name="T17" fmla="*/ 49 w 49"/>
              <a:gd name="T18" fmla="*/ 49 h 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9" h="49">
                <a:moveTo>
                  <a:pt x="0" y="0"/>
                </a:moveTo>
                <a:lnTo>
                  <a:pt x="0" y="49"/>
                </a:lnTo>
                <a:lnTo>
                  <a:pt x="49" y="25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19" name="Freeform 342"/>
          <p:cNvSpPr>
            <a:spLocks noChangeArrowheads="1"/>
          </p:cNvSpPr>
          <p:nvPr/>
        </p:nvSpPr>
        <p:spPr bwMode="auto">
          <a:xfrm>
            <a:off x="8147051" y="5070476"/>
            <a:ext cx="85725" cy="85725"/>
          </a:xfrm>
          <a:custGeom>
            <a:avLst/>
            <a:gdLst>
              <a:gd name="T0" fmla="*/ 0 w 49"/>
              <a:gd name="T1" fmla="*/ 0 h 49"/>
              <a:gd name="T2" fmla="*/ 3 w 49"/>
              <a:gd name="T3" fmla="*/ 49 h 49"/>
              <a:gd name="T4" fmla="*/ 49 w 49"/>
              <a:gd name="T5" fmla="*/ 24 h 49"/>
              <a:gd name="T6" fmla="*/ 3 w 49"/>
              <a:gd name="T7" fmla="*/ 3 h 49"/>
              <a:gd name="T8" fmla="*/ 3 w 49"/>
              <a:gd name="T9" fmla="*/ 3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3" y="49"/>
                </a:lnTo>
                <a:lnTo>
                  <a:pt x="49" y="24"/>
                </a:lnTo>
                <a:lnTo>
                  <a:pt x="3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20" name="Freeform 344"/>
          <p:cNvSpPr>
            <a:spLocks noChangeArrowheads="1"/>
          </p:cNvSpPr>
          <p:nvPr/>
        </p:nvSpPr>
        <p:spPr bwMode="auto">
          <a:xfrm>
            <a:off x="9794876" y="4357689"/>
            <a:ext cx="85725" cy="85725"/>
          </a:xfrm>
          <a:custGeom>
            <a:avLst/>
            <a:gdLst>
              <a:gd name="T0" fmla="*/ 0 w 49"/>
              <a:gd name="T1" fmla="*/ 0 h 49"/>
              <a:gd name="T2" fmla="*/ 3 w 49"/>
              <a:gd name="T3" fmla="*/ 49 h 49"/>
              <a:gd name="T4" fmla="*/ 49 w 49"/>
              <a:gd name="T5" fmla="*/ 25 h 49"/>
              <a:gd name="T6" fmla="*/ 3 w 49"/>
              <a:gd name="T7" fmla="*/ 3 h 49"/>
              <a:gd name="T8" fmla="*/ 3 w 49"/>
              <a:gd name="T9" fmla="*/ 3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3" y="49"/>
                </a:lnTo>
                <a:lnTo>
                  <a:pt x="49" y="25"/>
                </a:lnTo>
                <a:lnTo>
                  <a:pt x="3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21" name="Freeform 346"/>
          <p:cNvSpPr>
            <a:spLocks noChangeArrowheads="1"/>
          </p:cNvSpPr>
          <p:nvPr/>
        </p:nvSpPr>
        <p:spPr bwMode="auto">
          <a:xfrm>
            <a:off x="9794876" y="4938714"/>
            <a:ext cx="85725" cy="85725"/>
          </a:xfrm>
          <a:custGeom>
            <a:avLst/>
            <a:gdLst>
              <a:gd name="T0" fmla="*/ 0 w 49"/>
              <a:gd name="T1" fmla="*/ 0 h 49"/>
              <a:gd name="T2" fmla="*/ 0 w 49"/>
              <a:gd name="T3" fmla="*/ 49 h 49"/>
              <a:gd name="T4" fmla="*/ 49 w 49"/>
              <a:gd name="T5" fmla="*/ 24 h 49"/>
              <a:gd name="T6" fmla="*/ 0 w 49"/>
              <a:gd name="T7" fmla="*/ 3 h 49"/>
              <a:gd name="T8" fmla="*/ 0 w 49"/>
              <a:gd name="T9" fmla="*/ 3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0" y="49"/>
                </a:lnTo>
                <a:lnTo>
                  <a:pt x="49" y="24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22" name="Freeform 348"/>
          <p:cNvSpPr>
            <a:spLocks noChangeArrowheads="1"/>
          </p:cNvSpPr>
          <p:nvPr/>
        </p:nvSpPr>
        <p:spPr bwMode="auto">
          <a:xfrm>
            <a:off x="4333876" y="4791076"/>
            <a:ext cx="80963" cy="85725"/>
          </a:xfrm>
          <a:custGeom>
            <a:avLst/>
            <a:gdLst>
              <a:gd name="T0" fmla="*/ 0 w 46"/>
              <a:gd name="T1" fmla="*/ 0 h 49"/>
              <a:gd name="T2" fmla="*/ 0 w 46"/>
              <a:gd name="T3" fmla="*/ 49 h 49"/>
              <a:gd name="T4" fmla="*/ 46 w 46"/>
              <a:gd name="T5" fmla="*/ 24 h 49"/>
              <a:gd name="T6" fmla="*/ 0 w 46"/>
              <a:gd name="T7" fmla="*/ 2 h 49"/>
              <a:gd name="T8" fmla="*/ 0 w 46"/>
              <a:gd name="T9" fmla="*/ 2 h 49"/>
              <a:gd name="T10" fmla="*/ 0 w 46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6"/>
              <a:gd name="T19" fmla="*/ 0 h 49"/>
              <a:gd name="T20" fmla="*/ 46 w 46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6" h="49">
                <a:moveTo>
                  <a:pt x="0" y="0"/>
                </a:moveTo>
                <a:lnTo>
                  <a:pt x="0" y="49"/>
                </a:lnTo>
                <a:lnTo>
                  <a:pt x="46" y="24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23" name="Freeform 350"/>
          <p:cNvSpPr>
            <a:spLocks noChangeArrowheads="1"/>
          </p:cNvSpPr>
          <p:nvPr/>
        </p:nvSpPr>
        <p:spPr bwMode="auto">
          <a:xfrm>
            <a:off x="5284788" y="5645151"/>
            <a:ext cx="80962" cy="85725"/>
          </a:xfrm>
          <a:custGeom>
            <a:avLst/>
            <a:gdLst>
              <a:gd name="T0" fmla="*/ 0 w 46"/>
              <a:gd name="T1" fmla="*/ 0 h 49"/>
              <a:gd name="T2" fmla="*/ 0 w 46"/>
              <a:gd name="T3" fmla="*/ 49 h 49"/>
              <a:gd name="T4" fmla="*/ 46 w 46"/>
              <a:gd name="T5" fmla="*/ 24 h 49"/>
              <a:gd name="T6" fmla="*/ 0 w 46"/>
              <a:gd name="T7" fmla="*/ 0 h 49"/>
              <a:gd name="T8" fmla="*/ 0 w 46"/>
              <a:gd name="T9" fmla="*/ 0 h 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"/>
              <a:gd name="T16" fmla="*/ 0 h 49"/>
              <a:gd name="T17" fmla="*/ 46 w 46"/>
              <a:gd name="T18" fmla="*/ 49 h 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" h="49">
                <a:moveTo>
                  <a:pt x="0" y="0"/>
                </a:moveTo>
                <a:lnTo>
                  <a:pt x="0" y="49"/>
                </a:lnTo>
                <a:lnTo>
                  <a:pt x="46" y="24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24" name="Freeform 351"/>
          <p:cNvSpPr>
            <a:spLocks noChangeArrowheads="1"/>
          </p:cNvSpPr>
          <p:nvPr/>
        </p:nvSpPr>
        <p:spPr bwMode="auto">
          <a:xfrm>
            <a:off x="3517901" y="3978276"/>
            <a:ext cx="80963" cy="80963"/>
          </a:xfrm>
          <a:custGeom>
            <a:avLst/>
            <a:gdLst>
              <a:gd name="T0" fmla="*/ 22 w 46"/>
              <a:gd name="T1" fmla="*/ 46 h 46"/>
              <a:gd name="T2" fmla="*/ 27 w 46"/>
              <a:gd name="T3" fmla="*/ 46 h 46"/>
              <a:gd name="T4" fmla="*/ 30 w 46"/>
              <a:gd name="T5" fmla="*/ 46 h 46"/>
              <a:gd name="T6" fmla="*/ 35 w 46"/>
              <a:gd name="T7" fmla="*/ 43 h 46"/>
              <a:gd name="T8" fmla="*/ 38 w 46"/>
              <a:gd name="T9" fmla="*/ 43 h 46"/>
              <a:gd name="T10" fmla="*/ 41 w 46"/>
              <a:gd name="T11" fmla="*/ 41 h 46"/>
              <a:gd name="T12" fmla="*/ 43 w 46"/>
              <a:gd name="T13" fmla="*/ 38 h 46"/>
              <a:gd name="T14" fmla="*/ 43 w 46"/>
              <a:gd name="T15" fmla="*/ 35 h 46"/>
              <a:gd name="T16" fmla="*/ 46 w 46"/>
              <a:gd name="T17" fmla="*/ 33 h 46"/>
              <a:gd name="T18" fmla="*/ 46 w 46"/>
              <a:gd name="T19" fmla="*/ 27 h 46"/>
              <a:gd name="T20" fmla="*/ 46 w 46"/>
              <a:gd name="T21" fmla="*/ 24 h 46"/>
              <a:gd name="T22" fmla="*/ 46 w 46"/>
              <a:gd name="T23" fmla="*/ 19 h 46"/>
              <a:gd name="T24" fmla="*/ 46 w 46"/>
              <a:gd name="T25" fmla="*/ 16 h 46"/>
              <a:gd name="T26" fmla="*/ 43 w 46"/>
              <a:gd name="T27" fmla="*/ 14 h 46"/>
              <a:gd name="T28" fmla="*/ 43 w 46"/>
              <a:gd name="T29" fmla="*/ 11 h 46"/>
              <a:gd name="T30" fmla="*/ 41 w 46"/>
              <a:gd name="T31" fmla="*/ 8 h 46"/>
              <a:gd name="T32" fmla="*/ 38 w 46"/>
              <a:gd name="T33" fmla="*/ 5 h 46"/>
              <a:gd name="T34" fmla="*/ 35 w 46"/>
              <a:gd name="T35" fmla="*/ 3 h 46"/>
              <a:gd name="T36" fmla="*/ 30 w 46"/>
              <a:gd name="T37" fmla="*/ 3 h 46"/>
              <a:gd name="T38" fmla="*/ 27 w 46"/>
              <a:gd name="T39" fmla="*/ 0 h 46"/>
              <a:gd name="T40" fmla="*/ 24 w 46"/>
              <a:gd name="T41" fmla="*/ 0 h 46"/>
              <a:gd name="T42" fmla="*/ 19 w 46"/>
              <a:gd name="T43" fmla="*/ 0 h 46"/>
              <a:gd name="T44" fmla="*/ 16 w 46"/>
              <a:gd name="T45" fmla="*/ 3 h 46"/>
              <a:gd name="T46" fmla="*/ 14 w 46"/>
              <a:gd name="T47" fmla="*/ 3 h 46"/>
              <a:gd name="T48" fmla="*/ 11 w 46"/>
              <a:gd name="T49" fmla="*/ 5 h 46"/>
              <a:gd name="T50" fmla="*/ 8 w 46"/>
              <a:gd name="T51" fmla="*/ 8 h 46"/>
              <a:gd name="T52" fmla="*/ 5 w 46"/>
              <a:gd name="T53" fmla="*/ 11 h 46"/>
              <a:gd name="T54" fmla="*/ 3 w 46"/>
              <a:gd name="T55" fmla="*/ 14 h 46"/>
              <a:gd name="T56" fmla="*/ 0 w 46"/>
              <a:gd name="T57" fmla="*/ 16 h 46"/>
              <a:gd name="T58" fmla="*/ 0 w 46"/>
              <a:gd name="T59" fmla="*/ 19 h 46"/>
              <a:gd name="T60" fmla="*/ 0 w 46"/>
              <a:gd name="T61" fmla="*/ 24 h 46"/>
              <a:gd name="T62" fmla="*/ 0 w 46"/>
              <a:gd name="T63" fmla="*/ 27 h 46"/>
              <a:gd name="T64" fmla="*/ 0 w 46"/>
              <a:gd name="T65" fmla="*/ 33 h 46"/>
              <a:gd name="T66" fmla="*/ 3 w 46"/>
              <a:gd name="T67" fmla="*/ 35 h 46"/>
              <a:gd name="T68" fmla="*/ 5 w 46"/>
              <a:gd name="T69" fmla="*/ 38 h 46"/>
              <a:gd name="T70" fmla="*/ 8 w 46"/>
              <a:gd name="T71" fmla="*/ 41 h 46"/>
              <a:gd name="T72" fmla="*/ 11 w 46"/>
              <a:gd name="T73" fmla="*/ 43 h 46"/>
              <a:gd name="T74" fmla="*/ 14 w 46"/>
              <a:gd name="T75" fmla="*/ 43 h 46"/>
              <a:gd name="T76" fmla="*/ 16 w 46"/>
              <a:gd name="T77" fmla="*/ 46 h 46"/>
              <a:gd name="T78" fmla="*/ 19 w 46"/>
              <a:gd name="T79" fmla="*/ 46 h 46"/>
              <a:gd name="T80" fmla="*/ 24 w 46"/>
              <a:gd name="T81" fmla="*/ 46 h 46"/>
              <a:gd name="T82" fmla="*/ 24 w 46"/>
              <a:gd name="T83" fmla="*/ 46 h 46"/>
              <a:gd name="T84" fmla="*/ 22 w 46"/>
              <a:gd name="T85" fmla="*/ 46 h 4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6"/>
              <a:gd name="T130" fmla="*/ 0 h 46"/>
              <a:gd name="T131" fmla="*/ 46 w 46"/>
              <a:gd name="T132" fmla="*/ 46 h 4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6" h="46">
                <a:moveTo>
                  <a:pt x="22" y="46"/>
                </a:moveTo>
                <a:lnTo>
                  <a:pt x="27" y="46"/>
                </a:lnTo>
                <a:lnTo>
                  <a:pt x="30" y="46"/>
                </a:lnTo>
                <a:lnTo>
                  <a:pt x="35" y="43"/>
                </a:lnTo>
                <a:lnTo>
                  <a:pt x="38" y="43"/>
                </a:lnTo>
                <a:lnTo>
                  <a:pt x="41" y="41"/>
                </a:lnTo>
                <a:lnTo>
                  <a:pt x="43" y="38"/>
                </a:lnTo>
                <a:lnTo>
                  <a:pt x="43" y="35"/>
                </a:lnTo>
                <a:lnTo>
                  <a:pt x="46" y="33"/>
                </a:lnTo>
                <a:lnTo>
                  <a:pt x="46" y="27"/>
                </a:lnTo>
                <a:lnTo>
                  <a:pt x="46" y="24"/>
                </a:lnTo>
                <a:lnTo>
                  <a:pt x="46" y="19"/>
                </a:lnTo>
                <a:lnTo>
                  <a:pt x="46" y="16"/>
                </a:lnTo>
                <a:lnTo>
                  <a:pt x="43" y="14"/>
                </a:lnTo>
                <a:lnTo>
                  <a:pt x="43" y="11"/>
                </a:lnTo>
                <a:lnTo>
                  <a:pt x="41" y="8"/>
                </a:lnTo>
                <a:lnTo>
                  <a:pt x="38" y="5"/>
                </a:lnTo>
                <a:lnTo>
                  <a:pt x="35" y="3"/>
                </a:lnTo>
                <a:lnTo>
                  <a:pt x="30" y="3"/>
                </a:lnTo>
                <a:lnTo>
                  <a:pt x="27" y="0"/>
                </a:lnTo>
                <a:lnTo>
                  <a:pt x="24" y="0"/>
                </a:lnTo>
                <a:lnTo>
                  <a:pt x="19" y="0"/>
                </a:lnTo>
                <a:lnTo>
                  <a:pt x="16" y="3"/>
                </a:lnTo>
                <a:lnTo>
                  <a:pt x="14" y="3"/>
                </a:lnTo>
                <a:lnTo>
                  <a:pt x="11" y="5"/>
                </a:lnTo>
                <a:lnTo>
                  <a:pt x="8" y="8"/>
                </a:lnTo>
                <a:lnTo>
                  <a:pt x="5" y="11"/>
                </a:lnTo>
                <a:lnTo>
                  <a:pt x="3" y="14"/>
                </a:lnTo>
                <a:lnTo>
                  <a:pt x="0" y="16"/>
                </a:lnTo>
                <a:lnTo>
                  <a:pt x="0" y="19"/>
                </a:lnTo>
                <a:lnTo>
                  <a:pt x="0" y="24"/>
                </a:lnTo>
                <a:lnTo>
                  <a:pt x="0" y="27"/>
                </a:lnTo>
                <a:lnTo>
                  <a:pt x="0" y="33"/>
                </a:lnTo>
                <a:lnTo>
                  <a:pt x="3" y="35"/>
                </a:lnTo>
                <a:lnTo>
                  <a:pt x="5" y="38"/>
                </a:lnTo>
                <a:lnTo>
                  <a:pt x="8" y="41"/>
                </a:lnTo>
                <a:lnTo>
                  <a:pt x="11" y="43"/>
                </a:lnTo>
                <a:lnTo>
                  <a:pt x="14" y="43"/>
                </a:lnTo>
                <a:lnTo>
                  <a:pt x="16" y="46"/>
                </a:lnTo>
                <a:lnTo>
                  <a:pt x="19" y="46"/>
                </a:lnTo>
                <a:lnTo>
                  <a:pt x="24" y="46"/>
                </a:lnTo>
                <a:lnTo>
                  <a:pt x="22" y="46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25" name="Freeform 352"/>
          <p:cNvSpPr>
            <a:spLocks noChangeArrowheads="1"/>
          </p:cNvSpPr>
          <p:nvPr/>
        </p:nvSpPr>
        <p:spPr bwMode="auto">
          <a:xfrm>
            <a:off x="3517901" y="4376739"/>
            <a:ext cx="80963" cy="85725"/>
          </a:xfrm>
          <a:custGeom>
            <a:avLst/>
            <a:gdLst>
              <a:gd name="T0" fmla="*/ 22 w 46"/>
              <a:gd name="T1" fmla="*/ 46 h 49"/>
              <a:gd name="T2" fmla="*/ 27 w 46"/>
              <a:gd name="T3" fmla="*/ 46 h 49"/>
              <a:gd name="T4" fmla="*/ 30 w 46"/>
              <a:gd name="T5" fmla="*/ 46 h 49"/>
              <a:gd name="T6" fmla="*/ 35 w 46"/>
              <a:gd name="T7" fmla="*/ 46 h 49"/>
              <a:gd name="T8" fmla="*/ 38 w 46"/>
              <a:gd name="T9" fmla="*/ 44 h 49"/>
              <a:gd name="T10" fmla="*/ 41 w 46"/>
              <a:gd name="T11" fmla="*/ 41 h 49"/>
              <a:gd name="T12" fmla="*/ 43 w 46"/>
              <a:gd name="T13" fmla="*/ 38 h 49"/>
              <a:gd name="T14" fmla="*/ 43 w 46"/>
              <a:gd name="T15" fmla="*/ 36 h 49"/>
              <a:gd name="T16" fmla="*/ 46 w 46"/>
              <a:gd name="T17" fmla="*/ 33 h 49"/>
              <a:gd name="T18" fmla="*/ 46 w 46"/>
              <a:gd name="T19" fmla="*/ 27 h 49"/>
              <a:gd name="T20" fmla="*/ 46 w 46"/>
              <a:gd name="T21" fmla="*/ 25 h 49"/>
              <a:gd name="T22" fmla="*/ 46 w 46"/>
              <a:gd name="T23" fmla="*/ 22 h 49"/>
              <a:gd name="T24" fmla="*/ 46 w 46"/>
              <a:gd name="T25" fmla="*/ 17 h 49"/>
              <a:gd name="T26" fmla="*/ 43 w 46"/>
              <a:gd name="T27" fmla="*/ 14 h 49"/>
              <a:gd name="T28" fmla="*/ 43 w 46"/>
              <a:gd name="T29" fmla="*/ 11 h 49"/>
              <a:gd name="T30" fmla="*/ 41 w 46"/>
              <a:gd name="T31" fmla="*/ 8 h 49"/>
              <a:gd name="T32" fmla="*/ 38 w 46"/>
              <a:gd name="T33" fmla="*/ 6 h 49"/>
              <a:gd name="T34" fmla="*/ 35 w 46"/>
              <a:gd name="T35" fmla="*/ 3 h 49"/>
              <a:gd name="T36" fmla="*/ 30 w 46"/>
              <a:gd name="T37" fmla="*/ 3 h 49"/>
              <a:gd name="T38" fmla="*/ 27 w 46"/>
              <a:gd name="T39" fmla="*/ 3 h 49"/>
              <a:gd name="T40" fmla="*/ 24 w 46"/>
              <a:gd name="T41" fmla="*/ 0 h 49"/>
              <a:gd name="T42" fmla="*/ 19 w 46"/>
              <a:gd name="T43" fmla="*/ 3 h 49"/>
              <a:gd name="T44" fmla="*/ 16 w 46"/>
              <a:gd name="T45" fmla="*/ 3 h 49"/>
              <a:gd name="T46" fmla="*/ 14 w 46"/>
              <a:gd name="T47" fmla="*/ 3 h 49"/>
              <a:gd name="T48" fmla="*/ 11 w 46"/>
              <a:gd name="T49" fmla="*/ 6 h 49"/>
              <a:gd name="T50" fmla="*/ 8 w 46"/>
              <a:gd name="T51" fmla="*/ 8 h 49"/>
              <a:gd name="T52" fmla="*/ 5 w 46"/>
              <a:gd name="T53" fmla="*/ 11 h 49"/>
              <a:gd name="T54" fmla="*/ 3 w 46"/>
              <a:gd name="T55" fmla="*/ 14 h 49"/>
              <a:gd name="T56" fmla="*/ 0 w 46"/>
              <a:gd name="T57" fmla="*/ 17 h 49"/>
              <a:gd name="T58" fmla="*/ 0 w 46"/>
              <a:gd name="T59" fmla="*/ 22 h 49"/>
              <a:gd name="T60" fmla="*/ 0 w 46"/>
              <a:gd name="T61" fmla="*/ 25 h 49"/>
              <a:gd name="T62" fmla="*/ 0 w 46"/>
              <a:gd name="T63" fmla="*/ 27 h 49"/>
              <a:gd name="T64" fmla="*/ 0 w 46"/>
              <a:gd name="T65" fmla="*/ 33 h 49"/>
              <a:gd name="T66" fmla="*/ 3 w 46"/>
              <a:gd name="T67" fmla="*/ 36 h 49"/>
              <a:gd name="T68" fmla="*/ 5 w 46"/>
              <a:gd name="T69" fmla="*/ 38 h 49"/>
              <a:gd name="T70" fmla="*/ 8 w 46"/>
              <a:gd name="T71" fmla="*/ 41 h 49"/>
              <a:gd name="T72" fmla="*/ 11 w 46"/>
              <a:gd name="T73" fmla="*/ 44 h 49"/>
              <a:gd name="T74" fmla="*/ 14 w 46"/>
              <a:gd name="T75" fmla="*/ 46 h 49"/>
              <a:gd name="T76" fmla="*/ 16 w 46"/>
              <a:gd name="T77" fmla="*/ 46 h 49"/>
              <a:gd name="T78" fmla="*/ 19 w 46"/>
              <a:gd name="T79" fmla="*/ 46 h 49"/>
              <a:gd name="T80" fmla="*/ 24 w 46"/>
              <a:gd name="T81" fmla="*/ 49 h 49"/>
              <a:gd name="T82" fmla="*/ 24 w 46"/>
              <a:gd name="T83" fmla="*/ 49 h 49"/>
              <a:gd name="T84" fmla="*/ 22 w 46"/>
              <a:gd name="T85" fmla="*/ 46 h 49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6"/>
              <a:gd name="T130" fmla="*/ 0 h 49"/>
              <a:gd name="T131" fmla="*/ 46 w 46"/>
              <a:gd name="T132" fmla="*/ 49 h 49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6" h="49">
                <a:moveTo>
                  <a:pt x="22" y="46"/>
                </a:moveTo>
                <a:lnTo>
                  <a:pt x="27" y="46"/>
                </a:lnTo>
                <a:lnTo>
                  <a:pt x="30" y="46"/>
                </a:lnTo>
                <a:lnTo>
                  <a:pt x="35" y="46"/>
                </a:lnTo>
                <a:lnTo>
                  <a:pt x="38" y="44"/>
                </a:lnTo>
                <a:lnTo>
                  <a:pt x="41" y="41"/>
                </a:lnTo>
                <a:lnTo>
                  <a:pt x="43" y="38"/>
                </a:lnTo>
                <a:lnTo>
                  <a:pt x="43" y="36"/>
                </a:lnTo>
                <a:lnTo>
                  <a:pt x="46" y="33"/>
                </a:lnTo>
                <a:lnTo>
                  <a:pt x="46" y="27"/>
                </a:lnTo>
                <a:lnTo>
                  <a:pt x="46" y="25"/>
                </a:lnTo>
                <a:lnTo>
                  <a:pt x="46" y="22"/>
                </a:lnTo>
                <a:lnTo>
                  <a:pt x="46" y="17"/>
                </a:lnTo>
                <a:lnTo>
                  <a:pt x="43" y="14"/>
                </a:lnTo>
                <a:lnTo>
                  <a:pt x="43" y="11"/>
                </a:lnTo>
                <a:lnTo>
                  <a:pt x="41" y="8"/>
                </a:lnTo>
                <a:lnTo>
                  <a:pt x="38" y="6"/>
                </a:lnTo>
                <a:lnTo>
                  <a:pt x="35" y="3"/>
                </a:lnTo>
                <a:lnTo>
                  <a:pt x="30" y="3"/>
                </a:lnTo>
                <a:lnTo>
                  <a:pt x="27" y="3"/>
                </a:lnTo>
                <a:lnTo>
                  <a:pt x="24" y="0"/>
                </a:lnTo>
                <a:lnTo>
                  <a:pt x="19" y="3"/>
                </a:lnTo>
                <a:lnTo>
                  <a:pt x="16" y="3"/>
                </a:lnTo>
                <a:lnTo>
                  <a:pt x="14" y="3"/>
                </a:lnTo>
                <a:lnTo>
                  <a:pt x="11" y="6"/>
                </a:lnTo>
                <a:lnTo>
                  <a:pt x="8" y="8"/>
                </a:lnTo>
                <a:lnTo>
                  <a:pt x="5" y="11"/>
                </a:lnTo>
                <a:lnTo>
                  <a:pt x="3" y="14"/>
                </a:lnTo>
                <a:lnTo>
                  <a:pt x="0" y="17"/>
                </a:lnTo>
                <a:lnTo>
                  <a:pt x="0" y="22"/>
                </a:lnTo>
                <a:lnTo>
                  <a:pt x="0" y="25"/>
                </a:lnTo>
                <a:lnTo>
                  <a:pt x="0" y="27"/>
                </a:lnTo>
                <a:lnTo>
                  <a:pt x="0" y="33"/>
                </a:lnTo>
                <a:lnTo>
                  <a:pt x="3" y="36"/>
                </a:lnTo>
                <a:lnTo>
                  <a:pt x="5" y="38"/>
                </a:lnTo>
                <a:lnTo>
                  <a:pt x="8" y="41"/>
                </a:lnTo>
                <a:lnTo>
                  <a:pt x="11" y="44"/>
                </a:lnTo>
                <a:lnTo>
                  <a:pt x="14" y="46"/>
                </a:lnTo>
                <a:lnTo>
                  <a:pt x="16" y="46"/>
                </a:lnTo>
                <a:lnTo>
                  <a:pt x="19" y="46"/>
                </a:lnTo>
                <a:lnTo>
                  <a:pt x="24" y="49"/>
                </a:lnTo>
                <a:lnTo>
                  <a:pt x="22" y="46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26" name="Freeform 353"/>
          <p:cNvSpPr>
            <a:spLocks noChangeArrowheads="1"/>
          </p:cNvSpPr>
          <p:nvPr/>
        </p:nvSpPr>
        <p:spPr bwMode="auto">
          <a:xfrm>
            <a:off x="6043613" y="4354513"/>
            <a:ext cx="82550" cy="80962"/>
          </a:xfrm>
          <a:custGeom>
            <a:avLst/>
            <a:gdLst>
              <a:gd name="T0" fmla="*/ 22 w 47"/>
              <a:gd name="T1" fmla="*/ 46 h 46"/>
              <a:gd name="T2" fmla="*/ 28 w 47"/>
              <a:gd name="T3" fmla="*/ 46 h 46"/>
              <a:gd name="T4" fmla="*/ 30 w 47"/>
              <a:gd name="T5" fmla="*/ 46 h 46"/>
              <a:gd name="T6" fmla="*/ 36 w 47"/>
              <a:gd name="T7" fmla="*/ 43 h 46"/>
              <a:gd name="T8" fmla="*/ 38 w 47"/>
              <a:gd name="T9" fmla="*/ 40 h 46"/>
              <a:gd name="T10" fmla="*/ 41 w 47"/>
              <a:gd name="T11" fmla="*/ 38 h 46"/>
              <a:gd name="T12" fmla="*/ 44 w 47"/>
              <a:gd name="T13" fmla="*/ 35 h 46"/>
              <a:gd name="T14" fmla="*/ 44 w 47"/>
              <a:gd name="T15" fmla="*/ 32 h 46"/>
              <a:gd name="T16" fmla="*/ 47 w 47"/>
              <a:gd name="T17" fmla="*/ 30 h 46"/>
              <a:gd name="T18" fmla="*/ 47 w 47"/>
              <a:gd name="T19" fmla="*/ 27 h 46"/>
              <a:gd name="T20" fmla="*/ 47 w 47"/>
              <a:gd name="T21" fmla="*/ 21 h 46"/>
              <a:gd name="T22" fmla="*/ 47 w 47"/>
              <a:gd name="T23" fmla="*/ 19 h 46"/>
              <a:gd name="T24" fmla="*/ 47 w 47"/>
              <a:gd name="T25" fmla="*/ 16 h 46"/>
              <a:gd name="T26" fmla="*/ 44 w 47"/>
              <a:gd name="T27" fmla="*/ 11 h 46"/>
              <a:gd name="T28" fmla="*/ 44 w 47"/>
              <a:gd name="T29" fmla="*/ 8 h 46"/>
              <a:gd name="T30" fmla="*/ 41 w 47"/>
              <a:gd name="T31" fmla="*/ 5 h 46"/>
              <a:gd name="T32" fmla="*/ 38 w 47"/>
              <a:gd name="T33" fmla="*/ 5 h 46"/>
              <a:gd name="T34" fmla="*/ 36 w 47"/>
              <a:gd name="T35" fmla="*/ 2 h 46"/>
              <a:gd name="T36" fmla="*/ 30 w 47"/>
              <a:gd name="T37" fmla="*/ 0 h 46"/>
              <a:gd name="T38" fmla="*/ 28 w 47"/>
              <a:gd name="T39" fmla="*/ 0 h 46"/>
              <a:gd name="T40" fmla="*/ 25 w 47"/>
              <a:gd name="T41" fmla="*/ 0 h 46"/>
              <a:gd name="T42" fmla="*/ 19 w 47"/>
              <a:gd name="T43" fmla="*/ 0 h 46"/>
              <a:gd name="T44" fmla="*/ 17 w 47"/>
              <a:gd name="T45" fmla="*/ 0 h 46"/>
              <a:gd name="T46" fmla="*/ 14 w 47"/>
              <a:gd name="T47" fmla="*/ 2 h 46"/>
              <a:gd name="T48" fmla="*/ 11 w 47"/>
              <a:gd name="T49" fmla="*/ 5 h 46"/>
              <a:gd name="T50" fmla="*/ 9 w 47"/>
              <a:gd name="T51" fmla="*/ 5 h 46"/>
              <a:gd name="T52" fmla="*/ 6 w 47"/>
              <a:gd name="T53" fmla="*/ 8 h 46"/>
              <a:gd name="T54" fmla="*/ 3 w 47"/>
              <a:gd name="T55" fmla="*/ 11 h 46"/>
              <a:gd name="T56" fmla="*/ 3 w 47"/>
              <a:gd name="T57" fmla="*/ 16 h 46"/>
              <a:gd name="T58" fmla="*/ 0 w 47"/>
              <a:gd name="T59" fmla="*/ 19 h 46"/>
              <a:gd name="T60" fmla="*/ 0 w 47"/>
              <a:gd name="T61" fmla="*/ 21 h 46"/>
              <a:gd name="T62" fmla="*/ 0 w 47"/>
              <a:gd name="T63" fmla="*/ 27 h 46"/>
              <a:gd name="T64" fmla="*/ 3 w 47"/>
              <a:gd name="T65" fmla="*/ 30 h 46"/>
              <a:gd name="T66" fmla="*/ 3 w 47"/>
              <a:gd name="T67" fmla="*/ 32 h 46"/>
              <a:gd name="T68" fmla="*/ 6 w 47"/>
              <a:gd name="T69" fmla="*/ 35 h 46"/>
              <a:gd name="T70" fmla="*/ 9 w 47"/>
              <a:gd name="T71" fmla="*/ 38 h 46"/>
              <a:gd name="T72" fmla="*/ 11 w 47"/>
              <a:gd name="T73" fmla="*/ 40 h 46"/>
              <a:gd name="T74" fmla="*/ 14 w 47"/>
              <a:gd name="T75" fmla="*/ 43 h 46"/>
              <a:gd name="T76" fmla="*/ 17 w 47"/>
              <a:gd name="T77" fmla="*/ 46 h 46"/>
              <a:gd name="T78" fmla="*/ 19 w 47"/>
              <a:gd name="T79" fmla="*/ 46 h 46"/>
              <a:gd name="T80" fmla="*/ 25 w 47"/>
              <a:gd name="T81" fmla="*/ 46 h 46"/>
              <a:gd name="T82" fmla="*/ 25 w 47"/>
              <a:gd name="T83" fmla="*/ 46 h 46"/>
              <a:gd name="T84" fmla="*/ 22 w 47"/>
              <a:gd name="T85" fmla="*/ 46 h 4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7"/>
              <a:gd name="T130" fmla="*/ 0 h 46"/>
              <a:gd name="T131" fmla="*/ 47 w 47"/>
              <a:gd name="T132" fmla="*/ 46 h 4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7" h="46">
                <a:moveTo>
                  <a:pt x="22" y="46"/>
                </a:moveTo>
                <a:lnTo>
                  <a:pt x="28" y="46"/>
                </a:lnTo>
                <a:lnTo>
                  <a:pt x="30" y="46"/>
                </a:lnTo>
                <a:lnTo>
                  <a:pt x="36" y="43"/>
                </a:lnTo>
                <a:lnTo>
                  <a:pt x="38" y="40"/>
                </a:lnTo>
                <a:lnTo>
                  <a:pt x="41" y="38"/>
                </a:lnTo>
                <a:lnTo>
                  <a:pt x="44" y="35"/>
                </a:lnTo>
                <a:lnTo>
                  <a:pt x="44" y="32"/>
                </a:lnTo>
                <a:lnTo>
                  <a:pt x="47" y="30"/>
                </a:lnTo>
                <a:lnTo>
                  <a:pt x="47" y="27"/>
                </a:lnTo>
                <a:lnTo>
                  <a:pt x="47" y="21"/>
                </a:lnTo>
                <a:lnTo>
                  <a:pt x="47" y="19"/>
                </a:lnTo>
                <a:lnTo>
                  <a:pt x="47" y="16"/>
                </a:lnTo>
                <a:lnTo>
                  <a:pt x="44" y="11"/>
                </a:lnTo>
                <a:lnTo>
                  <a:pt x="44" y="8"/>
                </a:lnTo>
                <a:lnTo>
                  <a:pt x="41" y="5"/>
                </a:lnTo>
                <a:lnTo>
                  <a:pt x="38" y="5"/>
                </a:lnTo>
                <a:lnTo>
                  <a:pt x="36" y="2"/>
                </a:lnTo>
                <a:lnTo>
                  <a:pt x="30" y="0"/>
                </a:lnTo>
                <a:lnTo>
                  <a:pt x="28" y="0"/>
                </a:lnTo>
                <a:lnTo>
                  <a:pt x="25" y="0"/>
                </a:lnTo>
                <a:lnTo>
                  <a:pt x="19" y="0"/>
                </a:lnTo>
                <a:lnTo>
                  <a:pt x="17" y="0"/>
                </a:lnTo>
                <a:lnTo>
                  <a:pt x="14" y="2"/>
                </a:lnTo>
                <a:lnTo>
                  <a:pt x="11" y="5"/>
                </a:lnTo>
                <a:lnTo>
                  <a:pt x="9" y="5"/>
                </a:lnTo>
                <a:lnTo>
                  <a:pt x="6" y="8"/>
                </a:lnTo>
                <a:lnTo>
                  <a:pt x="3" y="11"/>
                </a:lnTo>
                <a:lnTo>
                  <a:pt x="3" y="16"/>
                </a:lnTo>
                <a:lnTo>
                  <a:pt x="0" y="19"/>
                </a:lnTo>
                <a:lnTo>
                  <a:pt x="0" y="21"/>
                </a:lnTo>
                <a:lnTo>
                  <a:pt x="0" y="27"/>
                </a:lnTo>
                <a:lnTo>
                  <a:pt x="3" y="30"/>
                </a:lnTo>
                <a:lnTo>
                  <a:pt x="3" y="32"/>
                </a:lnTo>
                <a:lnTo>
                  <a:pt x="6" y="35"/>
                </a:lnTo>
                <a:lnTo>
                  <a:pt x="9" y="38"/>
                </a:lnTo>
                <a:lnTo>
                  <a:pt x="11" y="40"/>
                </a:lnTo>
                <a:lnTo>
                  <a:pt x="14" y="43"/>
                </a:lnTo>
                <a:lnTo>
                  <a:pt x="17" y="46"/>
                </a:lnTo>
                <a:lnTo>
                  <a:pt x="19" y="46"/>
                </a:lnTo>
                <a:lnTo>
                  <a:pt x="25" y="46"/>
                </a:lnTo>
                <a:lnTo>
                  <a:pt x="22" y="46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27" name="Freeform 354"/>
          <p:cNvSpPr>
            <a:spLocks noChangeArrowheads="1"/>
          </p:cNvSpPr>
          <p:nvPr/>
        </p:nvSpPr>
        <p:spPr bwMode="auto">
          <a:xfrm>
            <a:off x="7967664" y="4354513"/>
            <a:ext cx="79375" cy="80962"/>
          </a:xfrm>
          <a:custGeom>
            <a:avLst/>
            <a:gdLst>
              <a:gd name="T0" fmla="*/ 22 w 46"/>
              <a:gd name="T1" fmla="*/ 43 h 46"/>
              <a:gd name="T2" fmla="*/ 27 w 46"/>
              <a:gd name="T3" fmla="*/ 46 h 46"/>
              <a:gd name="T4" fmla="*/ 32 w 46"/>
              <a:gd name="T5" fmla="*/ 43 h 46"/>
              <a:gd name="T6" fmla="*/ 35 w 46"/>
              <a:gd name="T7" fmla="*/ 43 h 46"/>
              <a:gd name="T8" fmla="*/ 38 w 46"/>
              <a:gd name="T9" fmla="*/ 40 h 46"/>
              <a:gd name="T10" fmla="*/ 41 w 46"/>
              <a:gd name="T11" fmla="*/ 38 h 46"/>
              <a:gd name="T12" fmla="*/ 43 w 46"/>
              <a:gd name="T13" fmla="*/ 35 h 46"/>
              <a:gd name="T14" fmla="*/ 43 w 46"/>
              <a:gd name="T15" fmla="*/ 32 h 46"/>
              <a:gd name="T16" fmla="*/ 46 w 46"/>
              <a:gd name="T17" fmla="*/ 30 h 46"/>
              <a:gd name="T18" fmla="*/ 46 w 46"/>
              <a:gd name="T19" fmla="*/ 27 h 46"/>
              <a:gd name="T20" fmla="*/ 46 w 46"/>
              <a:gd name="T21" fmla="*/ 21 h 46"/>
              <a:gd name="T22" fmla="*/ 46 w 46"/>
              <a:gd name="T23" fmla="*/ 19 h 46"/>
              <a:gd name="T24" fmla="*/ 46 w 46"/>
              <a:gd name="T25" fmla="*/ 16 h 46"/>
              <a:gd name="T26" fmla="*/ 43 w 46"/>
              <a:gd name="T27" fmla="*/ 11 h 46"/>
              <a:gd name="T28" fmla="*/ 43 w 46"/>
              <a:gd name="T29" fmla="*/ 8 h 46"/>
              <a:gd name="T30" fmla="*/ 41 w 46"/>
              <a:gd name="T31" fmla="*/ 5 h 46"/>
              <a:gd name="T32" fmla="*/ 38 w 46"/>
              <a:gd name="T33" fmla="*/ 2 h 46"/>
              <a:gd name="T34" fmla="*/ 35 w 46"/>
              <a:gd name="T35" fmla="*/ 2 h 46"/>
              <a:gd name="T36" fmla="*/ 32 w 46"/>
              <a:gd name="T37" fmla="*/ 0 h 46"/>
              <a:gd name="T38" fmla="*/ 27 w 46"/>
              <a:gd name="T39" fmla="*/ 0 h 46"/>
              <a:gd name="T40" fmla="*/ 24 w 46"/>
              <a:gd name="T41" fmla="*/ 0 h 46"/>
              <a:gd name="T42" fmla="*/ 19 w 46"/>
              <a:gd name="T43" fmla="*/ 0 h 46"/>
              <a:gd name="T44" fmla="*/ 16 w 46"/>
              <a:gd name="T45" fmla="*/ 0 h 46"/>
              <a:gd name="T46" fmla="*/ 13 w 46"/>
              <a:gd name="T47" fmla="*/ 2 h 46"/>
              <a:gd name="T48" fmla="*/ 11 w 46"/>
              <a:gd name="T49" fmla="*/ 2 h 46"/>
              <a:gd name="T50" fmla="*/ 8 w 46"/>
              <a:gd name="T51" fmla="*/ 5 h 46"/>
              <a:gd name="T52" fmla="*/ 5 w 46"/>
              <a:gd name="T53" fmla="*/ 8 h 46"/>
              <a:gd name="T54" fmla="*/ 2 w 46"/>
              <a:gd name="T55" fmla="*/ 11 h 46"/>
              <a:gd name="T56" fmla="*/ 2 w 46"/>
              <a:gd name="T57" fmla="*/ 16 h 46"/>
              <a:gd name="T58" fmla="*/ 0 w 46"/>
              <a:gd name="T59" fmla="*/ 19 h 46"/>
              <a:gd name="T60" fmla="*/ 0 w 46"/>
              <a:gd name="T61" fmla="*/ 21 h 46"/>
              <a:gd name="T62" fmla="*/ 0 w 46"/>
              <a:gd name="T63" fmla="*/ 27 h 46"/>
              <a:gd name="T64" fmla="*/ 2 w 46"/>
              <a:gd name="T65" fmla="*/ 30 h 46"/>
              <a:gd name="T66" fmla="*/ 2 w 46"/>
              <a:gd name="T67" fmla="*/ 32 h 46"/>
              <a:gd name="T68" fmla="*/ 5 w 46"/>
              <a:gd name="T69" fmla="*/ 35 h 46"/>
              <a:gd name="T70" fmla="*/ 8 w 46"/>
              <a:gd name="T71" fmla="*/ 38 h 46"/>
              <a:gd name="T72" fmla="*/ 11 w 46"/>
              <a:gd name="T73" fmla="*/ 40 h 46"/>
              <a:gd name="T74" fmla="*/ 13 w 46"/>
              <a:gd name="T75" fmla="*/ 43 h 46"/>
              <a:gd name="T76" fmla="*/ 16 w 46"/>
              <a:gd name="T77" fmla="*/ 43 h 46"/>
              <a:gd name="T78" fmla="*/ 19 w 46"/>
              <a:gd name="T79" fmla="*/ 46 h 46"/>
              <a:gd name="T80" fmla="*/ 24 w 46"/>
              <a:gd name="T81" fmla="*/ 46 h 46"/>
              <a:gd name="T82" fmla="*/ 24 w 46"/>
              <a:gd name="T83" fmla="*/ 46 h 46"/>
              <a:gd name="T84" fmla="*/ 22 w 46"/>
              <a:gd name="T85" fmla="*/ 43 h 4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6"/>
              <a:gd name="T130" fmla="*/ 0 h 46"/>
              <a:gd name="T131" fmla="*/ 46 w 46"/>
              <a:gd name="T132" fmla="*/ 46 h 4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6" h="46">
                <a:moveTo>
                  <a:pt x="22" y="43"/>
                </a:moveTo>
                <a:lnTo>
                  <a:pt x="27" y="46"/>
                </a:lnTo>
                <a:lnTo>
                  <a:pt x="32" y="43"/>
                </a:lnTo>
                <a:lnTo>
                  <a:pt x="35" y="43"/>
                </a:lnTo>
                <a:lnTo>
                  <a:pt x="38" y="40"/>
                </a:lnTo>
                <a:lnTo>
                  <a:pt x="41" y="38"/>
                </a:lnTo>
                <a:lnTo>
                  <a:pt x="43" y="35"/>
                </a:lnTo>
                <a:lnTo>
                  <a:pt x="43" y="32"/>
                </a:lnTo>
                <a:lnTo>
                  <a:pt x="46" y="30"/>
                </a:lnTo>
                <a:lnTo>
                  <a:pt x="46" y="27"/>
                </a:lnTo>
                <a:lnTo>
                  <a:pt x="46" y="21"/>
                </a:lnTo>
                <a:lnTo>
                  <a:pt x="46" y="19"/>
                </a:lnTo>
                <a:lnTo>
                  <a:pt x="46" y="16"/>
                </a:lnTo>
                <a:lnTo>
                  <a:pt x="43" y="11"/>
                </a:lnTo>
                <a:lnTo>
                  <a:pt x="43" y="8"/>
                </a:lnTo>
                <a:lnTo>
                  <a:pt x="41" y="5"/>
                </a:lnTo>
                <a:lnTo>
                  <a:pt x="38" y="2"/>
                </a:lnTo>
                <a:lnTo>
                  <a:pt x="35" y="2"/>
                </a:lnTo>
                <a:lnTo>
                  <a:pt x="32" y="0"/>
                </a:lnTo>
                <a:lnTo>
                  <a:pt x="27" y="0"/>
                </a:lnTo>
                <a:lnTo>
                  <a:pt x="24" y="0"/>
                </a:lnTo>
                <a:lnTo>
                  <a:pt x="19" y="0"/>
                </a:lnTo>
                <a:lnTo>
                  <a:pt x="16" y="0"/>
                </a:lnTo>
                <a:lnTo>
                  <a:pt x="13" y="2"/>
                </a:lnTo>
                <a:lnTo>
                  <a:pt x="11" y="2"/>
                </a:lnTo>
                <a:lnTo>
                  <a:pt x="8" y="5"/>
                </a:lnTo>
                <a:lnTo>
                  <a:pt x="5" y="8"/>
                </a:lnTo>
                <a:lnTo>
                  <a:pt x="2" y="11"/>
                </a:lnTo>
                <a:lnTo>
                  <a:pt x="2" y="16"/>
                </a:lnTo>
                <a:lnTo>
                  <a:pt x="0" y="19"/>
                </a:lnTo>
                <a:lnTo>
                  <a:pt x="0" y="21"/>
                </a:lnTo>
                <a:lnTo>
                  <a:pt x="0" y="27"/>
                </a:lnTo>
                <a:lnTo>
                  <a:pt x="2" y="30"/>
                </a:lnTo>
                <a:lnTo>
                  <a:pt x="2" y="32"/>
                </a:lnTo>
                <a:lnTo>
                  <a:pt x="5" y="35"/>
                </a:lnTo>
                <a:lnTo>
                  <a:pt x="8" y="38"/>
                </a:lnTo>
                <a:lnTo>
                  <a:pt x="11" y="40"/>
                </a:lnTo>
                <a:lnTo>
                  <a:pt x="13" y="43"/>
                </a:lnTo>
                <a:lnTo>
                  <a:pt x="16" y="43"/>
                </a:lnTo>
                <a:lnTo>
                  <a:pt x="19" y="46"/>
                </a:lnTo>
                <a:lnTo>
                  <a:pt x="24" y="46"/>
                </a:lnTo>
                <a:lnTo>
                  <a:pt x="22" y="43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28" name="Freeform 355"/>
          <p:cNvSpPr>
            <a:spLocks noChangeArrowheads="1"/>
          </p:cNvSpPr>
          <p:nvPr/>
        </p:nvSpPr>
        <p:spPr bwMode="auto">
          <a:xfrm>
            <a:off x="3517901" y="4183063"/>
            <a:ext cx="80963" cy="80962"/>
          </a:xfrm>
          <a:custGeom>
            <a:avLst/>
            <a:gdLst>
              <a:gd name="T0" fmla="*/ 22 w 46"/>
              <a:gd name="T1" fmla="*/ 46 h 46"/>
              <a:gd name="T2" fmla="*/ 27 w 46"/>
              <a:gd name="T3" fmla="*/ 46 h 46"/>
              <a:gd name="T4" fmla="*/ 30 w 46"/>
              <a:gd name="T5" fmla="*/ 46 h 46"/>
              <a:gd name="T6" fmla="*/ 35 w 46"/>
              <a:gd name="T7" fmla="*/ 43 h 46"/>
              <a:gd name="T8" fmla="*/ 38 w 46"/>
              <a:gd name="T9" fmla="*/ 41 h 46"/>
              <a:gd name="T10" fmla="*/ 41 w 46"/>
              <a:gd name="T11" fmla="*/ 41 h 46"/>
              <a:gd name="T12" fmla="*/ 43 w 46"/>
              <a:gd name="T13" fmla="*/ 38 h 46"/>
              <a:gd name="T14" fmla="*/ 43 w 46"/>
              <a:gd name="T15" fmla="*/ 32 h 46"/>
              <a:gd name="T16" fmla="*/ 46 w 46"/>
              <a:gd name="T17" fmla="*/ 30 h 46"/>
              <a:gd name="T18" fmla="*/ 46 w 46"/>
              <a:gd name="T19" fmla="*/ 27 h 46"/>
              <a:gd name="T20" fmla="*/ 46 w 46"/>
              <a:gd name="T21" fmla="*/ 24 h 46"/>
              <a:gd name="T22" fmla="*/ 46 w 46"/>
              <a:gd name="T23" fmla="*/ 19 h 46"/>
              <a:gd name="T24" fmla="*/ 46 w 46"/>
              <a:gd name="T25" fmla="*/ 16 h 46"/>
              <a:gd name="T26" fmla="*/ 43 w 46"/>
              <a:gd name="T27" fmla="*/ 13 h 46"/>
              <a:gd name="T28" fmla="*/ 43 w 46"/>
              <a:gd name="T29" fmla="*/ 11 h 46"/>
              <a:gd name="T30" fmla="*/ 41 w 46"/>
              <a:gd name="T31" fmla="*/ 8 h 46"/>
              <a:gd name="T32" fmla="*/ 38 w 46"/>
              <a:gd name="T33" fmla="*/ 5 h 46"/>
              <a:gd name="T34" fmla="*/ 35 w 46"/>
              <a:gd name="T35" fmla="*/ 3 h 46"/>
              <a:gd name="T36" fmla="*/ 30 w 46"/>
              <a:gd name="T37" fmla="*/ 0 h 46"/>
              <a:gd name="T38" fmla="*/ 27 w 46"/>
              <a:gd name="T39" fmla="*/ 0 h 46"/>
              <a:gd name="T40" fmla="*/ 24 w 46"/>
              <a:gd name="T41" fmla="*/ 0 h 46"/>
              <a:gd name="T42" fmla="*/ 19 w 46"/>
              <a:gd name="T43" fmla="*/ 0 h 46"/>
              <a:gd name="T44" fmla="*/ 16 w 46"/>
              <a:gd name="T45" fmla="*/ 0 h 46"/>
              <a:gd name="T46" fmla="*/ 14 w 46"/>
              <a:gd name="T47" fmla="*/ 3 h 46"/>
              <a:gd name="T48" fmla="*/ 11 w 46"/>
              <a:gd name="T49" fmla="*/ 5 h 46"/>
              <a:gd name="T50" fmla="*/ 8 w 46"/>
              <a:gd name="T51" fmla="*/ 8 h 46"/>
              <a:gd name="T52" fmla="*/ 5 w 46"/>
              <a:gd name="T53" fmla="*/ 11 h 46"/>
              <a:gd name="T54" fmla="*/ 3 w 46"/>
              <a:gd name="T55" fmla="*/ 13 h 46"/>
              <a:gd name="T56" fmla="*/ 0 w 46"/>
              <a:gd name="T57" fmla="*/ 16 h 46"/>
              <a:gd name="T58" fmla="*/ 0 w 46"/>
              <a:gd name="T59" fmla="*/ 19 h 46"/>
              <a:gd name="T60" fmla="*/ 0 w 46"/>
              <a:gd name="T61" fmla="*/ 24 h 46"/>
              <a:gd name="T62" fmla="*/ 0 w 46"/>
              <a:gd name="T63" fmla="*/ 27 h 46"/>
              <a:gd name="T64" fmla="*/ 0 w 46"/>
              <a:gd name="T65" fmla="*/ 30 h 46"/>
              <a:gd name="T66" fmla="*/ 3 w 46"/>
              <a:gd name="T67" fmla="*/ 32 h 46"/>
              <a:gd name="T68" fmla="*/ 5 w 46"/>
              <a:gd name="T69" fmla="*/ 38 h 46"/>
              <a:gd name="T70" fmla="*/ 8 w 46"/>
              <a:gd name="T71" fmla="*/ 41 h 46"/>
              <a:gd name="T72" fmla="*/ 11 w 46"/>
              <a:gd name="T73" fmla="*/ 41 h 46"/>
              <a:gd name="T74" fmla="*/ 14 w 46"/>
              <a:gd name="T75" fmla="*/ 43 h 46"/>
              <a:gd name="T76" fmla="*/ 16 w 46"/>
              <a:gd name="T77" fmla="*/ 46 h 46"/>
              <a:gd name="T78" fmla="*/ 19 w 46"/>
              <a:gd name="T79" fmla="*/ 46 h 46"/>
              <a:gd name="T80" fmla="*/ 24 w 46"/>
              <a:gd name="T81" fmla="*/ 46 h 46"/>
              <a:gd name="T82" fmla="*/ 24 w 46"/>
              <a:gd name="T83" fmla="*/ 46 h 46"/>
              <a:gd name="T84" fmla="*/ 22 w 46"/>
              <a:gd name="T85" fmla="*/ 46 h 4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6"/>
              <a:gd name="T130" fmla="*/ 0 h 46"/>
              <a:gd name="T131" fmla="*/ 46 w 46"/>
              <a:gd name="T132" fmla="*/ 46 h 4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6" h="46">
                <a:moveTo>
                  <a:pt x="22" y="46"/>
                </a:moveTo>
                <a:lnTo>
                  <a:pt x="27" y="46"/>
                </a:lnTo>
                <a:lnTo>
                  <a:pt x="30" y="46"/>
                </a:lnTo>
                <a:lnTo>
                  <a:pt x="35" y="43"/>
                </a:lnTo>
                <a:lnTo>
                  <a:pt x="38" y="41"/>
                </a:lnTo>
                <a:lnTo>
                  <a:pt x="41" y="41"/>
                </a:lnTo>
                <a:lnTo>
                  <a:pt x="43" y="38"/>
                </a:lnTo>
                <a:lnTo>
                  <a:pt x="43" y="32"/>
                </a:lnTo>
                <a:lnTo>
                  <a:pt x="46" y="30"/>
                </a:lnTo>
                <a:lnTo>
                  <a:pt x="46" y="27"/>
                </a:lnTo>
                <a:lnTo>
                  <a:pt x="46" y="24"/>
                </a:lnTo>
                <a:lnTo>
                  <a:pt x="46" y="19"/>
                </a:lnTo>
                <a:lnTo>
                  <a:pt x="46" y="16"/>
                </a:lnTo>
                <a:lnTo>
                  <a:pt x="43" y="13"/>
                </a:lnTo>
                <a:lnTo>
                  <a:pt x="43" y="11"/>
                </a:lnTo>
                <a:lnTo>
                  <a:pt x="41" y="8"/>
                </a:lnTo>
                <a:lnTo>
                  <a:pt x="38" y="5"/>
                </a:lnTo>
                <a:lnTo>
                  <a:pt x="35" y="3"/>
                </a:lnTo>
                <a:lnTo>
                  <a:pt x="30" y="0"/>
                </a:lnTo>
                <a:lnTo>
                  <a:pt x="27" y="0"/>
                </a:lnTo>
                <a:lnTo>
                  <a:pt x="24" y="0"/>
                </a:lnTo>
                <a:lnTo>
                  <a:pt x="19" y="0"/>
                </a:lnTo>
                <a:lnTo>
                  <a:pt x="16" y="0"/>
                </a:lnTo>
                <a:lnTo>
                  <a:pt x="14" y="3"/>
                </a:lnTo>
                <a:lnTo>
                  <a:pt x="11" y="5"/>
                </a:lnTo>
                <a:lnTo>
                  <a:pt x="8" y="8"/>
                </a:lnTo>
                <a:lnTo>
                  <a:pt x="5" y="11"/>
                </a:lnTo>
                <a:lnTo>
                  <a:pt x="3" y="13"/>
                </a:lnTo>
                <a:lnTo>
                  <a:pt x="0" y="16"/>
                </a:lnTo>
                <a:lnTo>
                  <a:pt x="0" y="19"/>
                </a:lnTo>
                <a:lnTo>
                  <a:pt x="0" y="24"/>
                </a:lnTo>
                <a:lnTo>
                  <a:pt x="0" y="27"/>
                </a:lnTo>
                <a:lnTo>
                  <a:pt x="0" y="30"/>
                </a:lnTo>
                <a:lnTo>
                  <a:pt x="3" y="32"/>
                </a:lnTo>
                <a:lnTo>
                  <a:pt x="5" y="38"/>
                </a:lnTo>
                <a:lnTo>
                  <a:pt x="8" y="41"/>
                </a:lnTo>
                <a:lnTo>
                  <a:pt x="11" y="41"/>
                </a:lnTo>
                <a:lnTo>
                  <a:pt x="14" y="43"/>
                </a:lnTo>
                <a:lnTo>
                  <a:pt x="16" y="46"/>
                </a:lnTo>
                <a:lnTo>
                  <a:pt x="19" y="46"/>
                </a:lnTo>
                <a:lnTo>
                  <a:pt x="24" y="46"/>
                </a:lnTo>
                <a:lnTo>
                  <a:pt x="22" y="4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29" name="Freeform 356"/>
          <p:cNvSpPr>
            <a:spLocks noChangeArrowheads="1"/>
          </p:cNvSpPr>
          <p:nvPr/>
        </p:nvSpPr>
        <p:spPr bwMode="auto">
          <a:xfrm>
            <a:off x="2255839" y="3827464"/>
            <a:ext cx="79375" cy="79375"/>
          </a:xfrm>
          <a:custGeom>
            <a:avLst/>
            <a:gdLst>
              <a:gd name="T0" fmla="*/ 22 w 46"/>
              <a:gd name="T1" fmla="*/ 44 h 46"/>
              <a:gd name="T2" fmla="*/ 27 w 46"/>
              <a:gd name="T3" fmla="*/ 46 h 46"/>
              <a:gd name="T4" fmla="*/ 30 w 46"/>
              <a:gd name="T5" fmla="*/ 44 h 46"/>
              <a:gd name="T6" fmla="*/ 33 w 46"/>
              <a:gd name="T7" fmla="*/ 44 h 46"/>
              <a:gd name="T8" fmla="*/ 36 w 46"/>
              <a:gd name="T9" fmla="*/ 41 h 46"/>
              <a:gd name="T10" fmla="*/ 38 w 46"/>
              <a:gd name="T11" fmla="*/ 38 h 46"/>
              <a:gd name="T12" fmla="*/ 41 w 46"/>
              <a:gd name="T13" fmla="*/ 35 h 46"/>
              <a:gd name="T14" fmla="*/ 44 w 46"/>
              <a:gd name="T15" fmla="*/ 33 h 46"/>
              <a:gd name="T16" fmla="*/ 44 w 46"/>
              <a:gd name="T17" fmla="*/ 30 h 46"/>
              <a:gd name="T18" fmla="*/ 46 w 46"/>
              <a:gd name="T19" fmla="*/ 27 h 46"/>
              <a:gd name="T20" fmla="*/ 46 w 46"/>
              <a:gd name="T21" fmla="*/ 22 h 46"/>
              <a:gd name="T22" fmla="*/ 46 w 46"/>
              <a:gd name="T23" fmla="*/ 19 h 46"/>
              <a:gd name="T24" fmla="*/ 44 w 46"/>
              <a:gd name="T25" fmla="*/ 14 h 46"/>
              <a:gd name="T26" fmla="*/ 44 w 46"/>
              <a:gd name="T27" fmla="*/ 11 h 46"/>
              <a:gd name="T28" fmla="*/ 41 w 46"/>
              <a:gd name="T29" fmla="*/ 8 h 46"/>
              <a:gd name="T30" fmla="*/ 38 w 46"/>
              <a:gd name="T31" fmla="*/ 5 h 46"/>
              <a:gd name="T32" fmla="*/ 36 w 46"/>
              <a:gd name="T33" fmla="*/ 3 h 46"/>
              <a:gd name="T34" fmla="*/ 33 w 46"/>
              <a:gd name="T35" fmla="*/ 3 h 46"/>
              <a:gd name="T36" fmla="*/ 30 w 46"/>
              <a:gd name="T37" fmla="*/ 0 h 46"/>
              <a:gd name="T38" fmla="*/ 27 w 46"/>
              <a:gd name="T39" fmla="*/ 0 h 46"/>
              <a:gd name="T40" fmla="*/ 22 w 46"/>
              <a:gd name="T41" fmla="*/ 0 h 46"/>
              <a:gd name="T42" fmla="*/ 19 w 46"/>
              <a:gd name="T43" fmla="*/ 0 h 46"/>
              <a:gd name="T44" fmla="*/ 14 w 46"/>
              <a:gd name="T45" fmla="*/ 0 h 46"/>
              <a:gd name="T46" fmla="*/ 11 w 46"/>
              <a:gd name="T47" fmla="*/ 3 h 46"/>
              <a:gd name="T48" fmla="*/ 8 w 46"/>
              <a:gd name="T49" fmla="*/ 3 h 46"/>
              <a:gd name="T50" fmla="*/ 6 w 46"/>
              <a:gd name="T51" fmla="*/ 5 h 46"/>
              <a:gd name="T52" fmla="*/ 3 w 46"/>
              <a:gd name="T53" fmla="*/ 8 h 46"/>
              <a:gd name="T54" fmla="*/ 3 w 46"/>
              <a:gd name="T55" fmla="*/ 11 h 46"/>
              <a:gd name="T56" fmla="*/ 0 w 46"/>
              <a:gd name="T57" fmla="*/ 14 h 46"/>
              <a:gd name="T58" fmla="*/ 0 w 46"/>
              <a:gd name="T59" fmla="*/ 19 h 46"/>
              <a:gd name="T60" fmla="*/ 0 w 46"/>
              <a:gd name="T61" fmla="*/ 22 h 46"/>
              <a:gd name="T62" fmla="*/ 0 w 46"/>
              <a:gd name="T63" fmla="*/ 27 h 46"/>
              <a:gd name="T64" fmla="*/ 0 w 46"/>
              <a:gd name="T65" fmla="*/ 30 h 46"/>
              <a:gd name="T66" fmla="*/ 3 w 46"/>
              <a:gd name="T67" fmla="*/ 33 h 46"/>
              <a:gd name="T68" fmla="*/ 3 w 46"/>
              <a:gd name="T69" fmla="*/ 35 h 46"/>
              <a:gd name="T70" fmla="*/ 6 w 46"/>
              <a:gd name="T71" fmla="*/ 38 h 46"/>
              <a:gd name="T72" fmla="*/ 8 w 46"/>
              <a:gd name="T73" fmla="*/ 41 h 46"/>
              <a:gd name="T74" fmla="*/ 11 w 46"/>
              <a:gd name="T75" fmla="*/ 44 h 46"/>
              <a:gd name="T76" fmla="*/ 14 w 46"/>
              <a:gd name="T77" fmla="*/ 44 h 46"/>
              <a:gd name="T78" fmla="*/ 19 w 46"/>
              <a:gd name="T79" fmla="*/ 46 h 46"/>
              <a:gd name="T80" fmla="*/ 22 w 46"/>
              <a:gd name="T81" fmla="*/ 46 h 46"/>
              <a:gd name="T82" fmla="*/ 22 w 46"/>
              <a:gd name="T83" fmla="*/ 46 h 46"/>
              <a:gd name="T84" fmla="*/ 22 w 46"/>
              <a:gd name="T85" fmla="*/ 44 h 4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6"/>
              <a:gd name="T130" fmla="*/ 0 h 46"/>
              <a:gd name="T131" fmla="*/ 46 w 46"/>
              <a:gd name="T132" fmla="*/ 46 h 4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6" h="46">
                <a:moveTo>
                  <a:pt x="22" y="44"/>
                </a:moveTo>
                <a:lnTo>
                  <a:pt x="27" y="46"/>
                </a:lnTo>
                <a:lnTo>
                  <a:pt x="30" y="44"/>
                </a:lnTo>
                <a:lnTo>
                  <a:pt x="33" y="44"/>
                </a:lnTo>
                <a:lnTo>
                  <a:pt x="36" y="41"/>
                </a:lnTo>
                <a:lnTo>
                  <a:pt x="38" y="38"/>
                </a:lnTo>
                <a:lnTo>
                  <a:pt x="41" y="35"/>
                </a:lnTo>
                <a:lnTo>
                  <a:pt x="44" y="33"/>
                </a:lnTo>
                <a:lnTo>
                  <a:pt x="44" y="30"/>
                </a:lnTo>
                <a:lnTo>
                  <a:pt x="46" y="27"/>
                </a:lnTo>
                <a:lnTo>
                  <a:pt x="46" y="22"/>
                </a:lnTo>
                <a:lnTo>
                  <a:pt x="46" y="19"/>
                </a:lnTo>
                <a:lnTo>
                  <a:pt x="44" y="14"/>
                </a:lnTo>
                <a:lnTo>
                  <a:pt x="44" y="11"/>
                </a:lnTo>
                <a:lnTo>
                  <a:pt x="41" y="8"/>
                </a:lnTo>
                <a:lnTo>
                  <a:pt x="38" y="5"/>
                </a:lnTo>
                <a:lnTo>
                  <a:pt x="36" y="3"/>
                </a:lnTo>
                <a:lnTo>
                  <a:pt x="33" y="3"/>
                </a:lnTo>
                <a:lnTo>
                  <a:pt x="30" y="0"/>
                </a:lnTo>
                <a:lnTo>
                  <a:pt x="27" y="0"/>
                </a:lnTo>
                <a:lnTo>
                  <a:pt x="22" y="0"/>
                </a:lnTo>
                <a:lnTo>
                  <a:pt x="19" y="0"/>
                </a:lnTo>
                <a:lnTo>
                  <a:pt x="14" y="0"/>
                </a:lnTo>
                <a:lnTo>
                  <a:pt x="11" y="3"/>
                </a:lnTo>
                <a:lnTo>
                  <a:pt x="8" y="3"/>
                </a:lnTo>
                <a:lnTo>
                  <a:pt x="6" y="5"/>
                </a:lnTo>
                <a:lnTo>
                  <a:pt x="3" y="8"/>
                </a:lnTo>
                <a:lnTo>
                  <a:pt x="3" y="11"/>
                </a:lnTo>
                <a:lnTo>
                  <a:pt x="0" y="14"/>
                </a:lnTo>
                <a:lnTo>
                  <a:pt x="0" y="19"/>
                </a:lnTo>
                <a:lnTo>
                  <a:pt x="0" y="22"/>
                </a:lnTo>
                <a:lnTo>
                  <a:pt x="0" y="27"/>
                </a:lnTo>
                <a:lnTo>
                  <a:pt x="0" y="30"/>
                </a:lnTo>
                <a:lnTo>
                  <a:pt x="3" y="33"/>
                </a:lnTo>
                <a:lnTo>
                  <a:pt x="3" y="35"/>
                </a:lnTo>
                <a:lnTo>
                  <a:pt x="6" y="38"/>
                </a:lnTo>
                <a:lnTo>
                  <a:pt x="8" y="41"/>
                </a:lnTo>
                <a:lnTo>
                  <a:pt x="11" y="44"/>
                </a:lnTo>
                <a:lnTo>
                  <a:pt x="14" y="44"/>
                </a:lnTo>
                <a:lnTo>
                  <a:pt x="19" y="46"/>
                </a:lnTo>
                <a:lnTo>
                  <a:pt x="22" y="46"/>
                </a:lnTo>
                <a:lnTo>
                  <a:pt x="22" y="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7732" name="Text Box 359"/>
          <p:cNvSpPr txBox="1">
            <a:spLocks noChangeArrowheads="1"/>
          </p:cNvSpPr>
          <p:nvPr/>
        </p:nvSpPr>
        <p:spPr bwMode="auto">
          <a:xfrm>
            <a:off x="2592388" y="5105401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j</a:t>
            </a:r>
            <a:endParaRPr lang="zh-TW" altLang="en-GB" sz="2800" dirty="0">
              <a:solidFill>
                <a:srgbClr val="9966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67733" name="Text Box 360"/>
          <p:cNvSpPr txBox="1">
            <a:spLocks noChangeArrowheads="1"/>
          </p:cNvSpPr>
          <p:nvPr/>
        </p:nvSpPr>
        <p:spPr bwMode="auto">
          <a:xfrm>
            <a:off x="4878388" y="2819401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k</a:t>
            </a:r>
            <a:endParaRPr lang="zh-TW" altLang="en-GB" sz="2800" dirty="0">
              <a:solidFill>
                <a:srgbClr val="9966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67734" name="Text Box 361"/>
          <p:cNvSpPr txBox="1">
            <a:spLocks noChangeArrowheads="1"/>
          </p:cNvSpPr>
          <p:nvPr/>
        </p:nvSpPr>
        <p:spPr bwMode="auto">
          <a:xfrm>
            <a:off x="7011988" y="2819401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l</a:t>
            </a:r>
            <a:endParaRPr lang="zh-TW" altLang="en-GB" sz="2800" dirty="0">
              <a:solidFill>
                <a:srgbClr val="9966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67735" name="Text Box 362"/>
          <p:cNvSpPr txBox="1">
            <a:spLocks noChangeArrowheads="1"/>
          </p:cNvSpPr>
          <p:nvPr/>
        </p:nvSpPr>
        <p:spPr bwMode="auto">
          <a:xfrm>
            <a:off x="8916988" y="2819401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m</a:t>
            </a:r>
            <a:endParaRPr lang="zh-TW" altLang="en-GB" sz="2800" dirty="0">
              <a:solidFill>
                <a:srgbClr val="9966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67736" name="Text Box 363"/>
          <p:cNvSpPr txBox="1">
            <a:spLocks noChangeArrowheads="1"/>
          </p:cNvSpPr>
          <p:nvPr/>
        </p:nvSpPr>
        <p:spPr bwMode="auto">
          <a:xfrm>
            <a:off x="4116388" y="5867401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n</a:t>
            </a:r>
            <a:endParaRPr lang="zh-TW" altLang="en-GB" sz="2800" dirty="0">
              <a:solidFill>
                <a:srgbClr val="996633"/>
              </a:solidFill>
              <a:latin typeface="Wingdings" charset="2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4342253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dirty="0">
                <a:ea typeface="新細明體" charset="-120"/>
                <a:cs typeface="新細明體" charset="-120"/>
              </a:rPr>
              <a:t>Combined </a:t>
            </a:r>
            <a:r>
              <a:rPr lang="en-GB" altLang="zh-TW" dirty="0" err="1">
                <a:ea typeface="新細明體" charset="-120"/>
                <a:cs typeface="新細明體" charset="-120"/>
              </a:rPr>
              <a:t>Datapath</a:t>
            </a:r>
            <a:r>
              <a:rPr lang="en-GB" altLang="zh-TW" dirty="0">
                <a:ea typeface="新細明體" charset="-120"/>
                <a:cs typeface="新細明體" charset="-120"/>
              </a:rPr>
              <a:t> for Different Instr. Classes</a:t>
            </a:r>
          </a:p>
        </p:txBody>
      </p:sp>
      <p:sp>
        <p:nvSpPr>
          <p:cNvPr id="69639" name="Line 4"/>
          <p:cNvSpPr>
            <a:spLocks noChangeShapeType="1"/>
          </p:cNvSpPr>
          <p:nvPr/>
        </p:nvSpPr>
        <p:spPr bwMode="auto">
          <a:xfrm flipV="1">
            <a:off x="8697914" y="1409464"/>
            <a:ext cx="1587" cy="244475"/>
          </a:xfrm>
          <a:prstGeom prst="line">
            <a:avLst/>
          </a:prstGeom>
          <a:noFill/>
          <a:ln w="17640">
            <a:solidFill>
              <a:srgbClr val="EB75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0" name="Freeform 5"/>
          <p:cNvSpPr>
            <a:spLocks noChangeArrowheads="1"/>
          </p:cNvSpPr>
          <p:nvPr/>
        </p:nvSpPr>
        <p:spPr bwMode="auto">
          <a:xfrm>
            <a:off x="6975475" y="1828564"/>
            <a:ext cx="863600" cy="1203325"/>
          </a:xfrm>
          <a:custGeom>
            <a:avLst/>
            <a:gdLst>
              <a:gd name="T0" fmla="*/ 0 w 495"/>
              <a:gd name="T1" fmla="*/ 0 h 689"/>
              <a:gd name="T2" fmla="*/ 0 w 495"/>
              <a:gd name="T3" fmla="*/ 279 h 689"/>
              <a:gd name="T4" fmla="*/ 77 w 495"/>
              <a:gd name="T5" fmla="*/ 345 h 689"/>
              <a:gd name="T6" fmla="*/ 0 w 495"/>
              <a:gd name="T7" fmla="*/ 411 h 689"/>
              <a:gd name="T8" fmla="*/ 0 w 495"/>
              <a:gd name="T9" fmla="*/ 689 h 689"/>
              <a:gd name="T10" fmla="*/ 495 w 495"/>
              <a:gd name="T11" fmla="*/ 480 h 689"/>
              <a:gd name="T12" fmla="*/ 495 w 495"/>
              <a:gd name="T13" fmla="*/ 212 h 689"/>
              <a:gd name="T14" fmla="*/ 0 w 495"/>
              <a:gd name="T15" fmla="*/ 0 h 689"/>
              <a:gd name="T16" fmla="*/ 0 w 495"/>
              <a:gd name="T17" fmla="*/ 0 h 68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95"/>
              <a:gd name="T28" fmla="*/ 0 h 689"/>
              <a:gd name="T29" fmla="*/ 495 w 495"/>
              <a:gd name="T30" fmla="*/ 689 h 68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95" h="689">
                <a:moveTo>
                  <a:pt x="0" y="0"/>
                </a:moveTo>
                <a:lnTo>
                  <a:pt x="0" y="279"/>
                </a:lnTo>
                <a:lnTo>
                  <a:pt x="77" y="345"/>
                </a:lnTo>
                <a:lnTo>
                  <a:pt x="0" y="411"/>
                </a:lnTo>
                <a:lnTo>
                  <a:pt x="0" y="689"/>
                </a:lnTo>
                <a:lnTo>
                  <a:pt x="495" y="480"/>
                </a:lnTo>
                <a:lnTo>
                  <a:pt x="495" y="21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1" name="Freeform 6"/>
          <p:cNvSpPr>
            <a:spLocks noChangeArrowheads="1"/>
          </p:cNvSpPr>
          <p:nvPr/>
        </p:nvSpPr>
        <p:spPr bwMode="auto">
          <a:xfrm>
            <a:off x="6975475" y="1828564"/>
            <a:ext cx="863600" cy="1203325"/>
          </a:xfrm>
          <a:custGeom>
            <a:avLst/>
            <a:gdLst>
              <a:gd name="T0" fmla="*/ 0 w 495"/>
              <a:gd name="T1" fmla="*/ 0 h 689"/>
              <a:gd name="T2" fmla="*/ 0 w 495"/>
              <a:gd name="T3" fmla="*/ 279 h 689"/>
              <a:gd name="T4" fmla="*/ 77 w 495"/>
              <a:gd name="T5" fmla="*/ 345 h 689"/>
              <a:gd name="T6" fmla="*/ 0 w 495"/>
              <a:gd name="T7" fmla="*/ 411 h 689"/>
              <a:gd name="T8" fmla="*/ 0 w 495"/>
              <a:gd name="T9" fmla="*/ 689 h 689"/>
              <a:gd name="T10" fmla="*/ 495 w 495"/>
              <a:gd name="T11" fmla="*/ 480 h 689"/>
              <a:gd name="T12" fmla="*/ 495 w 495"/>
              <a:gd name="T13" fmla="*/ 212 h 689"/>
              <a:gd name="T14" fmla="*/ 0 w 495"/>
              <a:gd name="T15" fmla="*/ 0 h 689"/>
              <a:gd name="T16" fmla="*/ 0 w 495"/>
              <a:gd name="T17" fmla="*/ 0 h 68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95"/>
              <a:gd name="T28" fmla="*/ 0 h 689"/>
              <a:gd name="T29" fmla="*/ 495 w 495"/>
              <a:gd name="T30" fmla="*/ 689 h 68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95" h="689">
                <a:moveTo>
                  <a:pt x="0" y="0"/>
                </a:moveTo>
                <a:lnTo>
                  <a:pt x="0" y="279"/>
                </a:lnTo>
                <a:lnTo>
                  <a:pt x="77" y="345"/>
                </a:lnTo>
                <a:lnTo>
                  <a:pt x="0" y="411"/>
                </a:lnTo>
                <a:lnTo>
                  <a:pt x="0" y="689"/>
                </a:lnTo>
                <a:lnTo>
                  <a:pt x="495" y="480"/>
                </a:lnTo>
                <a:lnTo>
                  <a:pt x="495" y="212"/>
                </a:lnTo>
                <a:lnTo>
                  <a:pt x="0" y="0"/>
                </a:lnTo>
              </a:path>
            </a:pathLst>
          </a:custGeom>
          <a:noFill/>
          <a:ln w="1764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2" name="Line 7"/>
          <p:cNvSpPr>
            <a:spLocks noChangeShapeType="1"/>
          </p:cNvSpPr>
          <p:nvPr/>
        </p:nvSpPr>
        <p:spPr bwMode="auto">
          <a:xfrm flipH="1">
            <a:off x="7843838" y="2425463"/>
            <a:ext cx="660400" cy="4762"/>
          </a:xfrm>
          <a:prstGeom prst="line">
            <a:avLst/>
          </a:prstGeom>
          <a:noFill/>
          <a:ln w="3492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43" name="Freeform 8"/>
          <p:cNvSpPr>
            <a:spLocks noChangeArrowheads="1"/>
          </p:cNvSpPr>
          <p:nvPr/>
        </p:nvSpPr>
        <p:spPr bwMode="auto">
          <a:xfrm>
            <a:off x="8589964" y="1652350"/>
            <a:ext cx="225425" cy="889000"/>
          </a:xfrm>
          <a:custGeom>
            <a:avLst/>
            <a:gdLst>
              <a:gd name="T0" fmla="*/ 0 w 129"/>
              <a:gd name="T1" fmla="*/ 63 h 509"/>
              <a:gd name="T2" fmla="*/ 3 w 129"/>
              <a:gd name="T3" fmla="*/ 52 h 509"/>
              <a:gd name="T4" fmla="*/ 5 w 129"/>
              <a:gd name="T5" fmla="*/ 44 h 509"/>
              <a:gd name="T6" fmla="*/ 8 w 129"/>
              <a:gd name="T7" fmla="*/ 35 h 509"/>
              <a:gd name="T8" fmla="*/ 14 w 129"/>
              <a:gd name="T9" fmla="*/ 27 h 509"/>
              <a:gd name="T10" fmla="*/ 19 w 129"/>
              <a:gd name="T11" fmla="*/ 19 h 509"/>
              <a:gd name="T12" fmla="*/ 28 w 129"/>
              <a:gd name="T13" fmla="*/ 13 h 509"/>
              <a:gd name="T14" fmla="*/ 36 w 129"/>
              <a:gd name="T15" fmla="*/ 8 h 509"/>
              <a:gd name="T16" fmla="*/ 44 w 129"/>
              <a:gd name="T17" fmla="*/ 2 h 509"/>
              <a:gd name="T18" fmla="*/ 55 w 129"/>
              <a:gd name="T19" fmla="*/ 0 h 509"/>
              <a:gd name="T20" fmla="*/ 66 w 129"/>
              <a:gd name="T21" fmla="*/ 0 h 509"/>
              <a:gd name="T22" fmla="*/ 74 w 129"/>
              <a:gd name="T23" fmla="*/ 0 h 509"/>
              <a:gd name="T24" fmla="*/ 85 w 129"/>
              <a:gd name="T25" fmla="*/ 2 h 509"/>
              <a:gd name="T26" fmla="*/ 94 w 129"/>
              <a:gd name="T27" fmla="*/ 8 h 509"/>
              <a:gd name="T28" fmla="*/ 102 w 129"/>
              <a:gd name="T29" fmla="*/ 13 h 509"/>
              <a:gd name="T30" fmla="*/ 110 w 129"/>
              <a:gd name="T31" fmla="*/ 19 h 509"/>
              <a:gd name="T32" fmla="*/ 116 w 129"/>
              <a:gd name="T33" fmla="*/ 27 h 509"/>
              <a:gd name="T34" fmla="*/ 121 w 129"/>
              <a:gd name="T35" fmla="*/ 35 h 509"/>
              <a:gd name="T36" fmla="*/ 127 w 129"/>
              <a:gd name="T37" fmla="*/ 44 h 509"/>
              <a:gd name="T38" fmla="*/ 127 w 129"/>
              <a:gd name="T39" fmla="*/ 52 h 509"/>
              <a:gd name="T40" fmla="*/ 129 w 129"/>
              <a:gd name="T41" fmla="*/ 63 h 509"/>
              <a:gd name="T42" fmla="*/ 129 w 129"/>
              <a:gd name="T43" fmla="*/ 446 h 509"/>
              <a:gd name="T44" fmla="*/ 127 w 129"/>
              <a:gd name="T45" fmla="*/ 454 h 509"/>
              <a:gd name="T46" fmla="*/ 127 w 129"/>
              <a:gd name="T47" fmla="*/ 465 h 509"/>
              <a:gd name="T48" fmla="*/ 121 w 129"/>
              <a:gd name="T49" fmla="*/ 473 h 509"/>
              <a:gd name="T50" fmla="*/ 116 w 129"/>
              <a:gd name="T51" fmla="*/ 481 h 509"/>
              <a:gd name="T52" fmla="*/ 110 w 129"/>
              <a:gd name="T53" fmla="*/ 490 h 509"/>
              <a:gd name="T54" fmla="*/ 102 w 129"/>
              <a:gd name="T55" fmla="*/ 495 h 509"/>
              <a:gd name="T56" fmla="*/ 94 w 129"/>
              <a:gd name="T57" fmla="*/ 501 h 509"/>
              <a:gd name="T58" fmla="*/ 85 w 129"/>
              <a:gd name="T59" fmla="*/ 506 h 509"/>
              <a:gd name="T60" fmla="*/ 74 w 129"/>
              <a:gd name="T61" fmla="*/ 506 h 509"/>
              <a:gd name="T62" fmla="*/ 66 w 129"/>
              <a:gd name="T63" fmla="*/ 509 h 509"/>
              <a:gd name="T64" fmla="*/ 55 w 129"/>
              <a:gd name="T65" fmla="*/ 506 h 509"/>
              <a:gd name="T66" fmla="*/ 44 w 129"/>
              <a:gd name="T67" fmla="*/ 506 h 509"/>
              <a:gd name="T68" fmla="*/ 36 w 129"/>
              <a:gd name="T69" fmla="*/ 501 h 509"/>
              <a:gd name="T70" fmla="*/ 28 w 129"/>
              <a:gd name="T71" fmla="*/ 495 h 509"/>
              <a:gd name="T72" fmla="*/ 19 w 129"/>
              <a:gd name="T73" fmla="*/ 490 h 509"/>
              <a:gd name="T74" fmla="*/ 14 w 129"/>
              <a:gd name="T75" fmla="*/ 481 h 509"/>
              <a:gd name="T76" fmla="*/ 8 w 129"/>
              <a:gd name="T77" fmla="*/ 473 h 509"/>
              <a:gd name="T78" fmla="*/ 5 w 129"/>
              <a:gd name="T79" fmla="*/ 465 h 509"/>
              <a:gd name="T80" fmla="*/ 3 w 129"/>
              <a:gd name="T81" fmla="*/ 454 h 509"/>
              <a:gd name="T82" fmla="*/ 3 w 129"/>
              <a:gd name="T83" fmla="*/ 446 h 509"/>
              <a:gd name="T84" fmla="*/ 3 w 129"/>
              <a:gd name="T85" fmla="*/ 63 h 509"/>
              <a:gd name="T86" fmla="*/ 3 w 129"/>
              <a:gd name="T87" fmla="*/ 63 h 509"/>
              <a:gd name="T88" fmla="*/ 0 w 129"/>
              <a:gd name="T89" fmla="*/ 63 h 509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129"/>
              <a:gd name="T136" fmla="*/ 0 h 509"/>
              <a:gd name="T137" fmla="*/ 129 w 129"/>
              <a:gd name="T138" fmla="*/ 509 h 509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129" h="509">
                <a:moveTo>
                  <a:pt x="0" y="63"/>
                </a:moveTo>
                <a:lnTo>
                  <a:pt x="3" y="52"/>
                </a:lnTo>
                <a:lnTo>
                  <a:pt x="5" y="44"/>
                </a:lnTo>
                <a:lnTo>
                  <a:pt x="8" y="35"/>
                </a:lnTo>
                <a:lnTo>
                  <a:pt x="14" y="27"/>
                </a:lnTo>
                <a:lnTo>
                  <a:pt x="19" y="19"/>
                </a:lnTo>
                <a:lnTo>
                  <a:pt x="28" y="13"/>
                </a:lnTo>
                <a:lnTo>
                  <a:pt x="36" y="8"/>
                </a:lnTo>
                <a:lnTo>
                  <a:pt x="44" y="2"/>
                </a:lnTo>
                <a:lnTo>
                  <a:pt x="55" y="0"/>
                </a:lnTo>
                <a:lnTo>
                  <a:pt x="66" y="0"/>
                </a:lnTo>
                <a:lnTo>
                  <a:pt x="74" y="0"/>
                </a:lnTo>
                <a:lnTo>
                  <a:pt x="85" y="2"/>
                </a:lnTo>
                <a:lnTo>
                  <a:pt x="94" y="8"/>
                </a:lnTo>
                <a:lnTo>
                  <a:pt x="102" y="13"/>
                </a:lnTo>
                <a:lnTo>
                  <a:pt x="110" y="19"/>
                </a:lnTo>
                <a:lnTo>
                  <a:pt x="116" y="27"/>
                </a:lnTo>
                <a:lnTo>
                  <a:pt x="121" y="35"/>
                </a:lnTo>
                <a:lnTo>
                  <a:pt x="127" y="44"/>
                </a:lnTo>
                <a:lnTo>
                  <a:pt x="127" y="52"/>
                </a:lnTo>
                <a:lnTo>
                  <a:pt x="129" y="63"/>
                </a:lnTo>
                <a:lnTo>
                  <a:pt x="129" y="446"/>
                </a:lnTo>
                <a:lnTo>
                  <a:pt x="127" y="454"/>
                </a:lnTo>
                <a:lnTo>
                  <a:pt x="127" y="465"/>
                </a:lnTo>
                <a:lnTo>
                  <a:pt x="121" y="473"/>
                </a:lnTo>
                <a:lnTo>
                  <a:pt x="116" y="481"/>
                </a:lnTo>
                <a:lnTo>
                  <a:pt x="110" y="490"/>
                </a:lnTo>
                <a:lnTo>
                  <a:pt x="102" y="495"/>
                </a:lnTo>
                <a:lnTo>
                  <a:pt x="94" y="501"/>
                </a:lnTo>
                <a:lnTo>
                  <a:pt x="85" y="506"/>
                </a:lnTo>
                <a:lnTo>
                  <a:pt x="74" y="506"/>
                </a:lnTo>
                <a:lnTo>
                  <a:pt x="66" y="509"/>
                </a:lnTo>
                <a:lnTo>
                  <a:pt x="55" y="506"/>
                </a:lnTo>
                <a:lnTo>
                  <a:pt x="44" y="506"/>
                </a:lnTo>
                <a:lnTo>
                  <a:pt x="36" y="501"/>
                </a:lnTo>
                <a:lnTo>
                  <a:pt x="28" y="495"/>
                </a:lnTo>
                <a:lnTo>
                  <a:pt x="19" y="490"/>
                </a:lnTo>
                <a:lnTo>
                  <a:pt x="14" y="481"/>
                </a:lnTo>
                <a:lnTo>
                  <a:pt x="8" y="473"/>
                </a:lnTo>
                <a:lnTo>
                  <a:pt x="5" y="465"/>
                </a:lnTo>
                <a:lnTo>
                  <a:pt x="3" y="454"/>
                </a:lnTo>
                <a:lnTo>
                  <a:pt x="3" y="446"/>
                </a:lnTo>
                <a:lnTo>
                  <a:pt x="3" y="63"/>
                </a:lnTo>
                <a:lnTo>
                  <a:pt x="0" y="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44" name="Freeform 9"/>
          <p:cNvSpPr>
            <a:spLocks noChangeArrowheads="1"/>
          </p:cNvSpPr>
          <p:nvPr/>
        </p:nvSpPr>
        <p:spPr bwMode="auto">
          <a:xfrm>
            <a:off x="8589964" y="1652350"/>
            <a:ext cx="225425" cy="889000"/>
          </a:xfrm>
          <a:custGeom>
            <a:avLst/>
            <a:gdLst>
              <a:gd name="T0" fmla="*/ 0 w 129"/>
              <a:gd name="T1" fmla="*/ 63 h 509"/>
              <a:gd name="T2" fmla="*/ 3 w 129"/>
              <a:gd name="T3" fmla="*/ 52 h 509"/>
              <a:gd name="T4" fmla="*/ 5 w 129"/>
              <a:gd name="T5" fmla="*/ 44 h 509"/>
              <a:gd name="T6" fmla="*/ 8 w 129"/>
              <a:gd name="T7" fmla="*/ 35 h 509"/>
              <a:gd name="T8" fmla="*/ 14 w 129"/>
              <a:gd name="T9" fmla="*/ 27 h 509"/>
              <a:gd name="T10" fmla="*/ 19 w 129"/>
              <a:gd name="T11" fmla="*/ 19 h 509"/>
              <a:gd name="T12" fmla="*/ 28 w 129"/>
              <a:gd name="T13" fmla="*/ 13 h 509"/>
              <a:gd name="T14" fmla="*/ 36 w 129"/>
              <a:gd name="T15" fmla="*/ 8 h 509"/>
              <a:gd name="T16" fmla="*/ 44 w 129"/>
              <a:gd name="T17" fmla="*/ 2 h 509"/>
              <a:gd name="T18" fmla="*/ 55 w 129"/>
              <a:gd name="T19" fmla="*/ 0 h 509"/>
              <a:gd name="T20" fmla="*/ 66 w 129"/>
              <a:gd name="T21" fmla="*/ 0 h 509"/>
              <a:gd name="T22" fmla="*/ 74 w 129"/>
              <a:gd name="T23" fmla="*/ 0 h 509"/>
              <a:gd name="T24" fmla="*/ 85 w 129"/>
              <a:gd name="T25" fmla="*/ 2 h 509"/>
              <a:gd name="T26" fmla="*/ 94 w 129"/>
              <a:gd name="T27" fmla="*/ 8 h 509"/>
              <a:gd name="T28" fmla="*/ 102 w 129"/>
              <a:gd name="T29" fmla="*/ 13 h 509"/>
              <a:gd name="T30" fmla="*/ 110 w 129"/>
              <a:gd name="T31" fmla="*/ 19 h 509"/>
              <a:gd name="T32" fmla="*/ 116 w 129"/>
              <a:gd name="T33" fmla="*/ 27 h 509"/>
              <a:gd name="T34" fmla="*/ 121 w 129"/>
              <a:gd name="T35" fmla="*/ 35 h 509"/>
              <a:gd name="T36" fmla="*/ 127 w 129"/>
              <a:gd name="T37" fmla="*/ 44 h 509"/>
              <a:gd name="T38" fmla="*/ 127 w 129"/>
              <a:gd name="T39" fmla="*/ 52 h 509"/>
              <a:gd name="T40" fmla="*/ 129 w 129"/>
              <a:gd name="T41" fmla="*/ 63 h 509"/>
              <a:gd name="T42" fmla="*/ 129 w 129"/>
              <a:gd name="T43" fmla="*/ 446 h 509"/>
              <a:gd name="T44" fmla="*/ 127 w 129"/>
              <a:gd name="T45" fmla="*/ 454 h 509"/>
              <a:gd name="T46" fmla="*/ 127 w 129"/>
              <a:gd name="T47" fmla="*/ 465 h 509"/>
              <a:gd name="T48" fmla="*/ 121 w 129"/>
              <a:gd name="T49" fmla="*/ 473 h 509"/>
              <a:gd name="T50" fmla="*/ 116 w 129"/>
              <a:gd name="T51" fmla="*/ 481 h 509"/>
              <a:gd name="T52" fmla="*/ 110 w 129"/>
              <a:gd name="T53" fmla="*/ 490 h 509"/>
              <a:gd name="T54" fmla="*/ 102 w 129"/>
              <a:gd name="T55" fmla="*/ 495 h 509"/>
              <a:gd name="T56" fmla="*/ 94 w 129"/>
              <a:gd name="T57" fmla="*/ 501 h 509"/>
              <a:gd name="T58" fmla="*/ 85 w 129"/>
              <a:gd name="T59" fmla="*/ 506 h 509"/>
              <a:gd name="T60" fmla="*/ 74 w 129"/>
              <a:gd name="T61" fmla="*/ 506 h 509"/>
              <a:gd name="T62" fmla="*/ 66 w 129"/>
              <a:gd name="T63" fmla="*/ 509 h 509"/>
              <a:gd name="T64" fmla="*/ 55 w 129"/>
              <a:gd name="T65" fmla="*/ 506 h 509"/>
              <a:gd name="T66" fmla="*/ 44 w 129"/>
              <a:gd name="T67" fmla="*/ 506 h 509"/>
              <a:gd name="T68" fmla="*/ 36 w 129"/>
              <a:gd name="T69" fmla="*/ 501 h 509"/>
              <a:gd name="T70" fmla="*/ 28 w 129"/>
              <a:gd name="T71" fmla="*/ 495 h 509"/>
              <a:gd name="T72" fmla="*/ 19 w 129"/>
              <a:gd name="T73" fmla="*/ 490 h 509"/>
              <a:gd name="T74" fmla="*/ 14 w 129"/>
              <a:gd name="T75" fmla="*/ 481 h 509"/>
              <a:gd name="T76" fmla="*/ 8 w 129"/>
              <a:gd name="T77" fmla="*/ 473 h 509"/>
              <a:gd name="T78" fmla="*/ 5 w 129"/>
              <a:gd name="T79" fmla="*/ 465 h 509"/>
              <a:gd name="T80" fmla="*/ 3 w 129"/>
              <a:gd name="T81" fmla="*/ 454 h 509"/>
              <a:gd name="T82" fmla="*/ 3 w 129"/>
              <a:gd name="T83" fmla="*/ 446 h 509"/>
              <a:gd name="T84" fmla="*/ 3 w 129"/>
              <a:gd name="T85" fmla="*/ 63 h 509"/>
              <a:gd name="T86" fmla="*/ 3 w 129"/>
              <a:gd name="T87" fmla="*/ 63 h 509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29"/>
              <a:gd name="T133" fmla="*/ 0 h 509"/>
              <a:gd name="T134" fmla="*/ 129 w 129"/>
              <a:gd name="T135" fmla="*/ 509 h 509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29" h="509">
                <a:moveTo>
                  <a:pt x="0" y="63"/>
                </a:moveTo>
                <a:lnTo>
                  <a:pt x="3" y="52"/>
                </a:lnTo>
                <a:lnTo>
                  <a:pt x="5" y="44"/>
                </a:lnTo>
                <a:lnTo>
                  <a:pt x="8" y="35"/>
                </a:lnTo>
                <a:lnTo>
                  <a:pt x="14" y="27"/>
                </a:lnTo>
                <a:lnTo>
                  <a:pt x="19" y="19"/>
                </a:lnTo>
                <a:lnTo>
                  <a:pt x="28" y="13"/>
                </a:lnTo>
                <a:lnTo>
                  <a:pt x="36" y="8"/>
                </a:lnTo>
                <a:lnTo>
                  <a:pt x="44" y="2"/>
                </a:lnTo>
                <a:lnTo>
                  <a:pt x="55" y="0"/>
                </a:lnTo>
                <a:lnTo>
                  <a:pt x="66" y="0"/>
                </a:lnTo>
                <a:lnTo>
                  <a:pt x="74" y="0"/>
                </a:lnTo>
                <a:lnTo>
                  <a:pt x="85" y="2"/>
                </a:lnTo>
                <a:lnTo>
                  <a:pt x="94" y="8"/>
                </a:lnTo>
                <a:lnTo>
                  <a:pt x="102" y="13"/>
                </a:lnTo>
                <a:lnTo>
                  <a:pt x="110" y="19"/>
                </a:lnTo>
                <a:lnTo>
                  <a:pt x="116" y="27"/>
                </a:lnTo>
                <a:lnTo>
                  <a:pt x="121" y="35"/>
                </a:lnTo>
                <a:lnTo>
                  <a:pt x="127" y="44"/>
                </a:lnTo>
                <a:lnTo>
                  <a:pt x="127" y="52"/>
                </a:lnTo>
                <a:lnTo>
                  <a:pt x="129" y="63"/>
                </a:lnTo>
                <a:lnTo>
                  <a:pt x="129" y="446"/>
                </a:lnTo>
                <a:lnTo>
                  <a:pt x="127" y="454"/>
                </a:lnTo>
                <a:lnTo>
                  <a:pt x="127" y="465"/>
                </a:lnTo>
                <a:lnTo>
                  <a:pt x="121" y="473"/>
                </a:lnTo>
                <a:lnTo>
                  <a:pt x="116" y="481"/>
                </a:lnTo>
                <a:lnTo>
                  <a:pt x="110" y="490"/>
                </a:lnTo>
                <a:lnTo>
                  <a:pt x="102" y="495"/>
                </a:lnTo>
                <a:lnTo>
                  <a:pt x="94" y="501"/>
                </a:lnTo>
                <a:lnTo>
                  <a:pt x="85" y="506"/>
                </a:lnTo>
                <a:lnTo>
                  <a:pt x="74" y="506"/>
                </a:lnTo>
                <a:lnTo>
                  <a:pt x="66" y="509"/>
                </a:lnTo>
                <a:lnTo>
                  <a:pt x="55" y="506"/>
                </a:lnTo>
                <a:lnTo>
                  <a:pt x="44" y="506"/>
                </a:lnTo>
                <a:lnTo>
                  <a:pt x="36" y="501"/>
                </a:lnTo>
                <a:lnTo>
                  <a:pt x="28" y="495"/>
                </a:lnTo>
                <a:lnTo>
                  <a:pt x="19" y="490"/>
                </a:lnTo>
                <a:lnTo>
                  <a:pt x="14" y="481"/>
                </a:lnTo>
                <a:lnTo>
                  <a:pt x="8" y="473"/>
                </a:lnTo>
                <a:lnTo>
                  <a:pt x="5" y="465"/>
                </a:lnTo>
                <a:lnTo>
                  <a:pt x="3" y="454"/>
                </a:lnTo>
                <a:lnTo>
                  <a:pt x="3" y="446"/>
                </a:lnTo>
                <a:lnTo>
                  <a:pt x="3" y="63"/>
                </a:lnTo>
              </a:path>
            </a:pathLst>
          </a:custGeom>
          <a:solidFill>
            <a:srgbClr val="006600"/>
          </a:solidFill>
          <a:ln w="1764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45" name="Rectangle 10"/>
          <p:cNvSpPr>
            <a:spLocks noChangeArrowheads="1"/>
          </p:cNvSpPr>
          <p:nvPr/>
        </p:nvSpPr>
        <p:spPr bwMode="auto">
          <a:xfrm>
            <a:off x="7137401" y="2296876"/>
            <a:ext cx="936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9646" name="Rectangle 11"/>
          <p:cNvSpPr>
            <a:spLocks noChangeArrowheads="1"/>
          </p:cNvSpPr>
          <p:nvPr/>
        </p:nvSpPr>
        <p:spPr bwMode="auto">
          <a:xfrm>
            <a:off x="7243764" y="229687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9647" name="Rectangle 12"/>
          <p:cNvSpPr>
            <a:spLocks noChangeArrowheads="1"/>
          </p:cNvSpPr>
          <p:nvPr/>
        </p:nvSpPr>
        <p:spPr bwMode="auto">
          <a:xfrm>
            <a:off x="7334251" y="229687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9648" name="Rectangle 13"/>
          <p:cNvSpPr>
            <a:spLocks noChangeArrowheads="1"/>
          </p:cNvSpPr>
          <p:nvPr/>
        </p:nvSpPr>
        <p:spPr bwMode="auto">
          <a:xfrm>
            <a:off x="7527926" y="2271476"/>
            <a:ext cx="936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9649" name="Rectangle 14"/>
          <p:cNvSpPr>
            <a:spLocks noChangeArrowheads="1"/>
          </p:cNvSpPr>
          <p:nvPr/>
        </p:nvSpPr>
        <p:spPr bwMode="auto">
          <a:xfrm>
            <a:off x="7639051" y="227147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9650" name="Rectangle 15"/>
          <p:cNvSpPr>
            <a:spLocks noChangeArrowheads="1"/>
          </p:cNvSpPr>
          <p:nvPr/>
        </p:nvSpPr>
        <p:spPr bwMode="auto">
          <a:xfrm>
            <a:off x="7724775" y="2271476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9651" name="Rectangle 16"/>
          <p:cNvSpPr>
            <a:spLocks noChangeArrowheads="1"/>
          </p:cNvSpPr>
          <p:nvPr/>
        </p:nvSpPr>
        <p:spPr bwMode="auto">
          <a:xfrm>
            <a:off x="7839075" y="2271475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52" name="Rectangle 17"/>
          <p:cNvSpPr>
            <a:spLocks noChangeArrowheads="1"/>
          </p:cNvSpPr>
          <p:nvPr/>
        </p:nvSpPr>
        <p:spPr bwMode="auto">
          <a:xfrm>
            <a:off x="7402514" y="2387364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9653" name="Rectangle 18"/>
          <p:cNvSpPr>
            <a:spLocks noChangeArrowheads="1"/>
          </p:cNvSpPr>
          <p:nvPr/>
        </p:nvSpPr>
        <p:spPr bwMode="auto">
          <a:xfrm>
            <a:off x="7461251" y="238736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9654" name="Rectangle 19"/>
          <p:cNvSpPr>
            <a:spLocks noChangeArrowheads="1"/>
          </p:cNvSpPr>
          <p:nvPr/>
        </p:nvSpPr>
        <p:spPr bwMode="auto">
          <a:xfrm>
            <a:off x="7546975" y="2387364"/>
            <a:ext cx="7143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9655" name="Rectangle 20"/>
          <p:cNvSpPr>
            <a:spLocks noChangeArrowheads="1"/>
          </p:cNvSpPr>
          <p:nvPr/>
        </p:nvSpPr>
        <p:spPr bwMode="auto">
          <a:xfrm>
            <a:off x="7627939" y="238736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9656" name="Rectangle 21"/>
          <p:cNvSpPr>
            <a:spLocks noChangeArrowheads="1"/>
          </p:cNvSpPr>
          <p:nvPr/>
        </p:nvSpPr>
        <p:spPr bwMode="auto">
          <a:xfrm>
            <a:off x="7715250" y="2387364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9657" name="Rectangle 22"/>
          <p:cNvSpPr>
            <a:spLocks noChangeArrowheads="1"/>
          </p:cNvSpPr>
          <p:nvPr/>
        </p:nvSpPr>
        <p:spPr bwMode="auto">
          <a:xfrm>
            <a:off x="7753350" y="2387364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9658" name="Rectangle 23"/>
          <p:cNvSpPr>
            <a:spLocks noChangeArrowheads="1"/>
          </p:cNvSpPr>
          <p:nvPr/>
        </p:nvSpPr>
        <p:spPr bwMode="auto">
          <a:xfrm>
            <a:off x="8639175" y="1868250"/>
            <a:ext cx="1282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FFF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 b="1">
                <a:solidFill>
                  <a:srgbClr val="FFFFFF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69659" name="Rectangle 24"/>
          <p:cNvSpPr>
            <a:spLocks noChangeArrowheads="1"/>
          </p:cNvSpPr>
          <p:nvPr/>
        </p:nvSpPr>
        <p:spPr bwMode="auto">
          <a:xfrm>
            <a:off x="8769350" y="1868250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60" name="Rectangle 25"/>
          <p:cNvSpPr>
            <a:spLocks noChangeArrowheads="1"/>
          </p:cNvSpPr>
          <p:nvPr/>
        </p:nvSpPr>
        <p:spPr bwMode="auto">
          <a:xfrm>
            <a:off x="8658225" y="1984138"/>
            <a:ext cx="9457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FFF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 b="1">
                <a:solidFill>
                  <a:srgbClr val="FFFFFF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9661" name="Rectangle 26"/>
          <p:cNvSpPr>
            <a:spLocks noChangeArrowheads="1"/>
          </p:cNvSpPr>
          <p:nvPr/>
        </p:nvSpPr>
        <p:spPr bwMode="auto">
          <a:xfrm>
            <a:off x="8750300" y="1984138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62" name="Rectangle 27"/>
          <p:cNvSpPr>
            <a:spLocks noChangeArrowheads="1"/>
          </p:cNvSpPr>
          <p:nvPr/>
        </p:nvSpPr>
        <p:spPr bwMode="auto">
          <a:xfrm>
            <a:off x="8666163" y="2104788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FFF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 b="1">
                <a:solidFill>
                  <a:srgbClr val="FFFFFF"/>
                </a:solidFill>
                <a:latin typeface="Arial" charset="0"/>
                <a:ea typeface="新細明體" charset="-120"/>
              </a:rPr>
              <a:t>x</a:t>
            </a:r>
          </a:p>
        </p:txBody>
      </p:sp>
      <p:sp>
        <p:nvSpPr>
          <p:cNvPr id="69663" name="Freeform 28"/>
          <p:cNvSpPr>
            <a:spLocks noChangeArrowheads="1"/>
          </p:cNvSpPr>
          <p:nvPr/>
        </p:nvSpPr>
        <p:spPr bwMode="auto">
          <a:xfrm>
            <a:off x="5753101" y="1761889"/>
            <a:ext cx="2760663" cy="312737"/>
          </a:xfrm>
          <a:custGeom>
            <a:avLst/>
            <a:gdLst>
              <a:gd name="T0" fmla="*/ 1581 w 1581"/>
              <a:gd name="T1" fmla="*/ 0 h 179"/>
              <a:gd name="T2" fmla="*/ 0 w 1581"/>
              <a:gd name="T3" fmla="*/ 0 h 179"/>
              <a:gd name="T4" fmla="*/ 0 w 1581"/>
              <a:gd name="T5" fmla="*/ 179 h 179"/>
              <a:gd name="T6" fmla="*/ 0 60000 65536"/>
              <a:gd name="T7" fmla="*/ 0 60000 65536"/>
              <a:gd name="T8" fmla="*/ 0 60000 65536"/>
              <a:gd name="T9" fmla="*/ 0 w 1581"/>
              <a:gd name="T10" fmla="*/ 0 h 179"/>
              <a:gd name="T11" fmla="*/ 1581 w 1581"/>
              <a:gd name="T12" fmla="*/ 179 h 1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81" h="179">
                <a:moveTo>
                  <a:pt x="1581" y="0"/>
                </a:moveTo>
                <a:lnTo>
                  <a:pt x="0" y="0"/>
                </a:lnTo>
                <a:lnTo>
                  <a:pt x="0" y="179"/>
                </a:lnTo>
              </a:path>
            </a:pathLst>
          </a:custGeom>
          <a:noFill/>
          <a:ln w="3492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64" name="Line 29"/>
          <p:cNvSpPr>
            <a:spLocks noChangeShapeType="1"/>
          </p:cNvSpPr>
          <p:nvPr/>
        </p:nvSpPr>
        <p:spPr bwMode="auto">
          <a:xfrm flipH="1">
            <a:off x="3376613" y="2069864"/>
            <a:ext cx="3543300" cy="1587"/>
          </a:xfrm>
          <a:prstGeom prst="line">
            <a:avLst/>
          </a:prstGeom>
          <a:noFill/>
          <a:ln w="3492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665" name="Freeform 30"/>
          <p:cNvSpPr>
            <a:spLocks noChangeArrowheads="1"/>
          </p:cNvSpPr>
          <p:nvPr/>
        </p:nvSpPr>
        <p:spPr bwMode="auto">
          <a:xfrm>
            <a:off x="6267451" y="2458800"/>
            <a:ext cx="542925" cy="668338"/>
          </a:xfrm>
          <a:custGeom>
            <a:avLst/>
            <a:gdLst>
              <a:gd name="T0" fmla="*/ 154 w 311"/>
              <a:gd name="T1" fmla="*/ 383 h 383"/>
              <a:gd name="T2" fmla="*/ 182 w 311"/>
              <a:gd name="T3" fmla="*/ 380 h 383"/>
              <a:gd name="T4" fmla="*/ 204 w 311"/>
              <a:gd name="T5" fmla="*/ 375 h 383"/>
              <a:gd name="T6" fmla="*/ 226 w 311"/>
              <a:gd name="T7" fmla="*/ 361 h 383"/>
              <a:gd name="T8" fmla="*/ 248 w 311"/>
              <a:gd name="T9" fmla="*/ 347 h 383"/>
              <a:gd name="T10" fmla="*/ 264 w 311"/>
              <a:gd name="T11" fmla="*/ 328 h 383"/>
              <a:gd name="T12" fmla="*/ 281 w 311"/>
              <a:gd name="T13" fmla="*/ 306 h 383"/>
              <a:gd name="T14" fmla="*/ 295 w 311"/>
              <a:gd name="T15" fmla="*/ 281 h 383"/>
              <a:gd name="T16" fmla="*/ 303 w 311"/>
              <a:gd name="T17" fmla="*/ 253 h 383"/>
              <a:gd name="T18" fmla="*/ 308 w 311"/>
              <a:gd name="T19" fmla="*/ 223 h 383"/>
              <a:gd name="T20" fmla="*/ 311 w 311"/>
              <a:gd name="T21" fmla="*/ 190 h 383"/>
              <a:gd name="T22" fmla="*/ 308 w 311"/>
              <a:gd name="T23" fmla="*/ 160 h 383"/>
              <a:gd name="T24" fmla="*/ 303 w 311"/>
              <a:gd name="T25" fmla="*/ 130 h 383"/>
              <a:gd name="T26" fmla="*/ 295 w 311"/>
              <a:gd name="T27" fmla="*/ 102 h 383"/>
              <a:gd name="T28" fmla="*/ 281 w 311"/>
              <a:gd name="T29" fmla="*/ 77 h 383"/>
              <a:gd name="T30" fmla="*/ 264 w 311"/>
              <a:gd name="T31" fmla="*/ 55 h 383"/>
              <a:gd name="T32" fmla="*/ 248 w 311"/>
              <a:gd name="T33" fmla="*/ 36 h 383"/>
              <a:gd name="T34" fmla="*/ 226 w 311"/>
              <a:gd name="T35" fmla="*/ 19 h 383"/>
              <a:gd name="T36" fmla="*/ 204 w 311"/>
              <a:gd name="T37" fmla="*/ 8 h 383"/>
              <a:gd name="T38" fmla="*/ 182 w 311"/>
              <a:gd name="T39" fmla="*/ 3 h 383"/>
              <a:gd name="T40" fmla="*/ 157 w 311"/>
              <a:gd name="T41" fmla="*/ 0 h 383"/>
              <a:gd name="T42" fmla="*/ 129 w 311"/>
              <a:gd name="T43" fmla="*/ 3 h 383"/>
              <a:gd name="T44" fmla="*/ 107 w 311"/>
              <a:gd name="T45" fmla="*/ 8 h 383"/>
              <a:gd name="T46" fmla="*/ 85 w 311"/>
              <a:gd name="T47" fmla="*/ 19 h 383"/>
              <a:gd name="T48" fmla="*/ 63 w 311"/>
              <a:gd name="T49" fmla="*/ 36 h 383"/>
              <a:gd name="T50" fmla="*/ 47 w 311"/>
              <a:gd name="T51" fmla="*/ 55 h 383"/>
              <a:gd name="T52" fmla="*/ 30 w 311"/>
              <a:gd name="T53" fmla="*/ 77 h 383"/>
              <a:gd name="T54" fmla="*/ 17 w 311"/>
              <a:gd name="T55" fmla="*/ 102 h 383"/>
              <a:gd name="T56" fmla="*/ 8 w 311"/>
              <a:gd name="T57" fmla="*/ 130 h 383"/>
              <a:gd name="T58" fmla="*/ 3 w 311"/>
              <a:gd name="T59" fmla="*/ 160 h 383"/>
              <a:gd name="T60" fmla="*/ 0 w 311"/>
              <a:gd name="T61" fmla="*/ 190 h 383"/>
              <a:gd name="T62" fmla="*/ 3 w 311"/>
              <a:gd name="T63" fmla="*/ 223 h 383"/>
              <a:gd name="T64" fmla="*/ 8 w 311"/>
              <a:gd name="T65" fmla="*/ 253 h 383"/>
              <a:gd name="T66" fmla="*/ 17 w 311"/>
              <a:gd name="T67" fmla="*/ 281 h 383"/>
              <a:gd name="T68" fmla="*/ 30 w 311"/>
              <a:gd name="T69" fmla="*/ 306 h 383"/>
              <a:gd name="T70" fmla="*/ 47 w 311"/>
              <a:gd name="T71" fmla="*/ 328 h 383"/>
              <a:gd name="T72" fmla="*/ 63 w 311"/>
              <a:gd name="T73" fmla="*/ 347 h 383"/>
              <a:gd name="T74" fmla="*/ 85 w 311"/>
              <a:gd name="T75" fmla="*/ 361 h 383"/>
              <a:gd name="T76" fmla="*/ 107 w 311"/>
              <a:gd name="T77" fmla="*/ 375 h 383"/>
              <a:gd name="T78" fmla="*/ 129 w 311"/>
              <a:gd name="T79" fmla="*/ 380 h 383"/>
              <a:gd name="T80" fmla="*/ 157 w 311"/>
              <a:gd name="T81" fmla="*/ 383 h 383"/>
              <a:gd name="T82" fmla="*/ 157 w 311"/>
              <a:gd name="T83" fmla="*/ 383 h 383"/>
              <a:gd name="T84" fmla="*/ 154 w 311"/>
              <a:gd name="T85" fmla="*/ 383 h 383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11"/>
              <a:gd name="T130" fmla="*/ 0 h 383"/>
              <a:gd name="T131" fmla="*/ 311 w 311"/>
              <a:gd name="T132" fmla="*/ 383 h 383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11" h="383">
                <a:moveTo>
                  <a:pt x="154" y="383"/>
                </a:moveTo>
                <a:lnTo>
                  <a:pt x="182" y="380"/>
                </a:lnTo>
                <a:lnTo>
                  <a:pt x="204" y="375"/>
                </a:lnTo>
                <a:lnTo>
                  <a:pt x="226" y="361"/>
                </a:lnTo>
                <a:lnTo>
                  <a:pt x="248" y="347"/>
                </a:lnTo>
                <a:lnTo>
                  <a:pt x="264" y="328"/>
                </a:lnTo>
                <a:lnTo>
                  <a:pt x="281" y="306"/>
                </a:lnTo>
                <a:lnTo>
                  <a:pt x="295" y="281"/>
                </a:lnTo>
                <a:lnTo>
                  <a:pt x="303" y="253"/>
                </a:lnTo>
                <a:lnTo>
                  <a:pt x="308" y="223"/>
                </a:lnTo>
                <a:lnTo>
                  <a:pt x="311" y="190"/>
                </a:lnTo>
                <a:lnTo>
                  <a:pt x="308" y="160"/>
                </a:lnTo>
                <a:lnTo>
                  <a:pt x="303" y="130"/>
                </a:lnTo>
                <a:lnTo>
                  <a:pt x="295" y="102"/>
                </a:lnTo>
                <a:lnTo>
                  <a:pt x="281" y="77"/>
                </a:lnTo>
                <a:lnTo>
                  <a:pt x="264" y="55"/>
                </a:lnTo>
                <a:lnTo>
                  <a:pt x="248" y="36"/>
                </a:lnTo>
                <a:lnTo>
                  <a:pt x="226" y="19"/>
                </a:lnTo>
                <a:lnTo>
                  <a:pt x="204" y="8"/>
                </a:lnTo>
                <a:lnTo>
                  <a:pt x="182" y="3"/>
                </a:lnTo>
                <a:lnTo>
                  <a:pt x="157" y="0"/>
                </a:lnTo>
                <a:lnTo>
                  <a:pt x="129" y="3"/>
                </a:lnTo>
                <a:lnTo>
                  <a:pt x="107" y="8"/>
                </a:lnTo>
                <a:lnTo>
                  <a:pt x="85" y="19"/>
                </a:lnTo>
                <a:lnTo>
                  <a:pt x="63" y="36"/>
                </a:lnTo>
                <a:lnTo>
                  <a:pt x="47" y="55"/>
                </a:lnTo>
                <a:lnTo>
                  <a:pt x="30" y="77"/>
                </a:lnTo>
                <a:lnTo>
                  <a:pt x="17" y="102"/>
                </a:lnTo>
                <a:lnTo>
                  <a:pt x="8" y="130"/>
                </a:lnTo>
                <a:lnTo>
                  <a:pt x="3" y="160"/>
                </a:lnTo>
                <a:lnTo>
                  <a:pt x="0" y="190"/>
                </a:lnTo>
                <a:lnTo>
                  <a:pt x="3" y="223"/>
                </a:lnTo>
                <a:lnTo>
                  <a:pt x="8" y="253"/>
                </a:lnTo>
                <a:lnTo>
                  <a:pt x="17" y="281"/>
                </a:lnTo>
                <a:lnTo>
                  <a:pt x="30" y="306"/>
                </a:lnTo>
                <a:lnTo>
                  <a:pt x="47" y="328"/>
                </a:lnTo>
                <a:lnTo>
                  <a:pt x="63" y="347"/>
                </a:lnTo>
                <a:lnTo>
                  <a:pt x="85" y="361"/>
                </a:lnTo>
                <a:lnTo>
                  <a:pt x="107" y="375"/>
                </a:lnTo>
                <a:lnTo>
                  <a:pt x="129" y="380"/>
                </a:lnTo>
                <a:lnTo>
                  <a:pt x="157" y="383"/>
                </a:lnTo>
                <a:lnTo>
                  <a:pt x="154" y="3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66" name="Freeform 31"/>
          <p:cNvSpPr>
            <a:spLocks noChangeArrowheads="1"/>
          </p:cNvSpPr>
          <p:nvPr/>
        </p:nvSpPr>
        <p:spPr bwMode="auto">
          <a:xfrm>
            <a:off x="6267451" y="2458800"/>
            <a:ext cx="542925" cy="668338"/>
          </a:xfrm>
          <a:custGeom>
            <a:avLst/>
            <a:gdLst>
              <a:gd name="T0" fmla="*/ 154 w 311"/>
              <a:gd name="T1" fmla="*/ 383 h 383"/>
              <a:gd name="T2" fmla="*/ 182 w 311"/>
              <a:gd name="T3" fmla="*/ 380 h 383"/>
              <a:gd name="T4" fmla="*/ 204 w 311"/>
              <a:gd name="T5" fmla="*/ 375 h 383"/>
              <a:gd name="T6" fmla="*/ 226 w 311"/>
              <a:gd name="T7" fmla="*/ 361 h 383"/>
              <a:gd name="T8" fmla="*/ 248 w 311"/>
              <a:gd name="T9" fmla="*/ 347 h 383"/>
              <a:gd name="T10" fmla="*/ 264 w 311"/>
              <a:gd name="T11" fmla="*/ 328 h 383"/>
              <a:gd name="T12" fmla="*/ 281 w 311"/>
              <a:gd name="T13" fmla="*/ 306 h 383"/>
              <a:gd name="T14" fmla="*/ 295 w 311"/>
              <a:gd name="T15" fmla="*/ 281 h 383"/>
              <a:gd name="T16" fmla="*/ 303 w 311"/>
              <a:gd name="T17" fmla="*/ 253 h 383"/>
              <a:gd name="T18" fmla="*/ 308 w 311"/>
              <a:gd name="T19" fmla="*/ 223 h 383"/>
              <a:gd name="T20" fmla="*/ 311 w 311"/>
              <a:gd name="T21" fmla="*/ 190 h 383"/>
              <a:gd name="T22" fmla="*/ 308 w 311"/>
              <a:gd name="T23" fmla="*/ 160 h 383"/>
              <a:gd name="T24" fmla="*/ 303 w 311"/>
              <a:gd name="T25" fmla="*/ 130 h 383"/>
              <a:gd name="T26" fmla="*/ 295 w 311"/>
              <a:gd name="T27" fmla="*/ 102 h 383"/>
              <a:gd name="T28" fmla="*/ 281 w 311"/>
              <a:gd name="T29" fmla="*/ 77 h 383"/>
              <a:gd name="T30" fmla="*/ 264 w 311"/>
              <a:gd name="T31" fmla="*/ 55 h 383"/>
              <a:gd name="T32" fmla="*/ 248 w 311"/>
              <a:gd name="T33" fmla="*/ 36 h 383"/>
              <a:gd name="T34" fmla="*/ 226 w 311"/>
              <a:gd name="T35" fmla="*/ 19 h 383"/>
              <a:gd name="T36" fmla="*/ 204 w 311"/>
              <a:gd name="T37" fmla="*/ 8 h 383"/>
              <a:gd name="T38" fmla="*/ 182 w 311"/>
              <a:gd name="T39" fmla="*/ 3 h 383"/>
              <a:gd name="T40" fmla="*/ 157 w 311"/>
              <a:gd name="T41" fmla="*/ 0 h 383"/>
              <a:gd name="T42" fmla="*/ 129 w 311"/>
              <a:gd name="T43" fmla="*/ 3 h 383"/>
              <a:gd name="T44" fmla="*/ 107 w 311"/>
              <a:gd name="T45" fmla="*/ 8 h 383"/>
              <a:gd name="T46" fmla="*/ 85 w 311"/>
              <a:gd name="T47" fmla="*/ 19 h 383"/>
              <a:gd name="T48" fmla="*/ 63 w 311"/>
              <a:gd name="T49" fmla="*/ 36 h 383"/>
              <a:gd name="T50" fmla="*/ 47 w 311"/>
              <a:gd name="T51" fmla="*/ 55 h 383"/>
              <a:gd name="T52" fmla="*/ 30 w 311"/>
              <a:gd name="T53" fmla="*/ 77 h 383"/>
              <a:gd name="T54" fmla="*/ 17 w 311"/>
              <a:gd name="T55" fmla="*/ 102 h 383"/>
              <a:gd name="T56" fmla="*/ 8 w 311"/>
              <a:gd name="T57" fmla="*/ 130 h 383"/>
              <a:gd name="T58" fmla="*/ 3 w 311"/>
              <a:gd name="T59" fmla="*/ 160 h 383"/>
              <a:gd name="T60" fmla="*/ 0 w 311"/>
              <a:gd name="T61" fmla="*/ 190 h 383"/>
              <a:gd name="T62" fmla="*/ 3 w 311"/>
              <a:gd name="T63" fmla="*/ 223 h 383"/>
              <a:gd name="T64" fmla="*/ 8 w 311"/>
              <a:gd name="T65" fmla="*/ 253 h 383"/>
              <a:gd name="T66" fmla="*/ 17 w 311"/>
              <a:gd name="T67" fmla="*/ 281 h 383"/>
              <a:gd name="T68" fmla="*/ 30 w 311"/>
              <a:gd name="T69" fmla="*/ 306 h 383"/>
              <a:gd name="T70" fmla="*/ 47 w 311"/>
              <a:gd name="T71" fmla="*/ 328 h 383"/>
              <a:gd name="T72" fmla="*/ 63 w 311"/>
              <a:gd name="T73" fmla="*/ 347 h 383"/>
              <a:gd name="T74" fmla="*/ 85 w 311"/>
              <a:gd name="T75" fmla="*/ 361 h 383"/>
              <a:gd name="T76" fmla="*/ 107 w 311"/>
              <a:gd name="T77" fmla="*/ 375 h 383"/>
              <a:gd name="T78" fmla="*/ 129 w 311"/>
              <a:gd name="T79" fmla="*/ 380 h 383"/>
              <a:gd name="T80" fmla="*/ 157 w 311"/>
              <a:gd name="T81" fmla="*/ 383 h 383"/>
              <a:gd name="T82" fmla="*/ 157 w 311"/>
              <a:gd name="T83" fmla="*/ 383 h 38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11"/>
              <a:gd name="T127" fmla="*/ 0 h 383"/>
              <a:gd name="T128" fmla="*/ 311 w 311"/>
              <a:gd name="T129" fmla="*/ 383 h 38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11" h="383">
                <a:moveTo>
                  <a:pt x="154" y="383"/>
                </a:moveTo>
                <a:lnTo>
                  <a:pt x="182" y="380"/>
                </a:lnTo>
                <a:lnTo>
                  <a:pt x="204" y="375"/>
                </a:lnTo>
                <a:lnTo>
                  <a:pt x="226" y="361"/>
                </a:lnTo>
                <a:lnTo>
                  <a:pt x="248" y="347"/>
                </a:lnTo>
                <a:lnTo>
                  <a:pt x="264" y="328"/>
                </a:lnTo>
                <a:lnTo>
                  <a:pt x="281" y="306"/>
                </a:lnTo>
                <a:lnTo>
                  <a:pt x="295" y="281"/>
                </a:lnTo>
                <a:lnTo>
                  <a:pt x="303" y="253"/>
                </a:lnTo>
                <a:lnTo>
                  <a:pt x="308" y="223"/>
                </a:lnTo>
                <a:lnTo>
                  <a:pt x="311" y="190"/>
                </a:lnTo>
                <a:lnTo>
                  <a:pt x="308" y="160"/>
                </a:lnTo>
                <a:lnTo>
                  <a:pt x="303" y="130"/>
                </a:lnTo>
                <a:lnTo>
                  <a:pt x="295" y="102"/>
                </a:lnTo>
                <a:lnTo>
                  <a:pt x="281" y="77"/>
                </a:lnTo>
                <a:lnTo>
                  <a:pt x="264" y="55"/>
                </a:lnTo>
                <a:lnTo>
                  <a:pt x="248" y="36"/>
                </a:lnTo>
                <a:lnTo>
                  <a:pt x="226" y="19"/>
                </a:lnTo>
                <a:lnTo>
                  <a:pt x="204" y="8"/>
                </a:lnTo>
                <a:lnTo>
                  <a:pt x="182" y="3"/>
                </a:lnTo>
                <a:lnTo>
                  <a:pt x="157" y="0"/>
                </a:lnTo>
                <a:lnTo>
                  <a:pt x="129" y="3"/>
                </a:lnTo>
                <a:lnTo>
                  <a:pt x="107" y="8"/>
                </a:lnTo>
                <a:lnTo>
                  <a:pt x="85" y="19"/>
                </a:lnTo>
                <a:lnTo>
                  <a:pt x="63" y="36"/>
                </a:lnTo>
                <a:lnTo>
                  <a:pt x="47" y="55"/>
                </a:lnTo>
                <a:lnTo>
                  <a:pt x="30" y="77"/>
                </a:lnTo>
                <a:lnTo>
                  <a:pt x="17" y="102"/>
                </a:lnTo>
                <a:lnTo>
                  <a:pt x="8" y="130"/>
                </a:lnTo>
                <a:lnTo>
                  <a:pt x="3" y="160"/>
                </a:lnTo>
                <a:lnTo>
                  <a:pt x="0" y="190"/>
                </a:lnTo>
                <a:lnTo>
                  <a:pt x="3" y="223"/>
                </a:lnTo>
                <a:lnTo>
                  <a:pt x="8" y="253"/>
                </a:lnTo>
                <a:lnTo>
                  <a:pt x="17" y="281"/>
                </a:lnTo>
                <a:lnTo>
                  <a:pt x="30" y="306"/>
                </a:lnTo>
                <a:lnTo>
                  <a:pt x="47" y="328"/>
                </a:lnTo>
                <a:lnTo>
                  <a:pt x="63" y="347"/>
                </a:lnTo>
                <a:lnTo>
                  <a:pt x="85" y="361"/>
                </a:lnTo>
                <a:lnTo>
                  <a:pt x="107" y="375"/>
                </a:lnTo>
                <a:lnTo>
                  <a:pt x="129" y="380"/>
                </a:lnTo>
                <a:lnTo>
                  <a:pt x="157" y="383"/>
                </a:lnTo>
              </a:path>
            </a:pathLst>
          </a:custGeom>
          <a:solidFill>
            <a:srgbClr val="D1FFE8"/>
          </a:solidFill>
          <a:ln w="1764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67" name="Rectangle 32"/>
          <p:cNvSpPr>
            <a:spLocks noChangeArrowheads="1"/>
          </p:cNvSpPr>
          <p:nvPr/>
        </p:nvSpPr>
        <p:spPr bwMode="auto">
          <a:xfrm>
            <a:off x="6383338" y="2584214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9668" name="Rectangle 33"/>
          <p:cNvSpPr>
            <a:spLocks noChangeArrowheads="1"/>
          </p:cNvSpPr>
          <p:nvPr/>
        </p:nvSpPr>
        <p:spPr bwMode="auto">
          <a:xfrm>
            <a:off x="6488114" y="258421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h</a:t>
            </a:r>
          </a:p>
        </p:txBody>
      </p:sp>
      <p:sp>
        <p:nvSpPr>
          <p:cNvPr id="69669" name="Rectangle 34"/>
          <p:cNvSpPr>
            <a:spLocks noChangeArrowheads="1"/>
          </p:cNvSpPr>
          <p:nvPr/>
        </p:nvSpPr>
        <p:spPr bwMode="auto">
          <a:xfrm>
            <a:off x="6575425" y="2584214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9670" name="Rectangle 35"/>
          <p:cNvSpPr>
            <a:spLocks noChangeArrowheads="1"/>
          </p:cNvSpPr>
          <p:nvPr/>
        </p:nvSpPr>
        <p:spPr bwMode="auto">
          <a:xfrm>
            <a:off x="6611938" y="2584214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f</a:t>
            </a:r>
          </a:p>
        </p:txBody>
      </p:sp>
      <p:sp>
        <p:nvSpPr>
          <p:cNvPr id="69671" name="Rectangle 36"/>
          <p:cNvSpPr>
            <a:spLocks noChangeArrowheads="1"/>
          </p:cNvSpPr>
          <p:nvPr/>
        </p:nvSpPr>
        <p:spPr bwMode="auto">
          <a:xfrm>
            <a:off x="6656388" y="2584214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9672" name="Rectangle 37"/>
          <p:cNvSpPr>
            <a:spLocks noChangeArrowheads="1"/>
          </p:cNvSpPr>
          <p:nvPr/>
        </p:nvSpPr>
        <p:spPr bwMode="auto">
          <a:xfrm>
            <a:off x="6700839" y="2584213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73" name="Rectangle 38"/>
          <p:cNvSpPr>
            <a:spLocks noChangeArrowheads="1"/>
          </p:cNvSpPr>
          <p:nvPr/>
        </p:nvSpPr>
        <p:spPr bwMode="auto">
          <a:xfrm>
            <a:off x="6359525" y="2776301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9674" name="Rectangle 39"/>
          <p:cNvSpPr>
            <a:spLocks noChangeArrowheads="1"/>
          </p:cNvSpPr>
          <p:nvPr/>
        </p:nvSpPr>
        <p:spPr bwMode="auto">
          <a:xfrm>
            <a:off x="6394451" y="277630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9675" name="Rectangle 40"/>
          <p:cNvSpPr>
            <a:spLocks noChangeArrowheads="1"/>
          </p:cNvSpPr>
          <p:nvPr/>
        </p:nvSpPr>
        <p:spPr bwMode="auto">
          <a:xfrm>
            <a:off x="6477000" y="2776301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f</a:t>
            </a:r>
          </a:p>
        </p:txBody>
      </p:sp>
      <p:sp>
        <p:nvSpPr>
          <p:cNvPr id="69676" name="Rectangle 41"/>
          <p:cNvSpPr>
            <a:spLocks noChangeArrowheads="1"/>
          </p:cNvSpPr>
          <p:nvPr/>
        </p:nvSpPr>
        <p:spPr bwMode="auto">
          <a:xfrm>
            <a:off x="6527800" y="2776301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9677" name="Rectangle 42"/>
          <p:cNvSpPr>
            <a:spLocks noChangeArrowheads="1"/>
          </p:cNvSpPr>
          <p:nvPr/>
        </p:nvSpPr>
        <p:spPr bwMode="auto">
          <a:xfrm>
            <a:off x="6570663" y="2776301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1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9678" name="Rectangle 43"/>
          <p:cNvSpPr>
            <a:spLocks noChangeArrowheads="1"/>
          </p:cNvSpPr>
          <p:nvPr/>
        </p:nvSpPr>
        <p:spPr bwMode="auto">
          <a:xfrm>
            <a:off x="6613526" y="277630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69679" name="Line 44"/>
          <p:cNvSpPr>
            <a:spLocks noChangeShapeType="1"/>
          </p:cNvSpPr>
          <p:nvPr/>
        </p:nvSpPr>
        <p:spPr bwMode="auto">
          <a:xfrm>
            <a:off x="6805613" y="2782651"/>
            <a:ext cx="87312" cy="3175"/>
          </a:xfrm>
          <a:prstGeom prst="line">
            <a:avLst/>
          </a:prstGeom>
          <a:noFill/>
          <a:ln w="3492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9680" name="Group 45"/>
          <p:cNvGrpSpPr>
            <a:grpSpLocks/>
          </p:cNvGrpSpPr>
          <p:nvPr/>
        </p:nvGrpSpPr>
        <p:grpSpPr bwMode="auto">
          <a:xfrm>
            <a:off x="8153400" y="1347550"/>
            <a:ext cx="465138" cy="184150"/>
            <a:chOff x="4176" y="720"/>
            <a:chExt cx="293" cy="116"/>
          </a:xfrm>
        </p:grpSpPr>
        <p:sp>
          <p:nvSpPr>
            <p:cNvPr id="70057" name="Rectangle 46"/>
            <p:cNvSpPr>
              <a:spLocks noChangeArrowheads="1"/>
            </p:cNvSpPr>
            <p:nvPr/>
          </p:nvSpPr>
          <p:spPr bwMode="auto">
            <a:xfrm>
              <a:off x="4176" y="720"/>
              <a:ext cx="6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70058" name="Rectangle 47"/>
            <p:cNvSpPr>
              <a:spLocks noChangeArrowheads="1"/>
            </p:cNvSpPr>
            <p:nvPr/>
          </p:nvSpPr>
          <p:spPr bwMode="auto">
            <a:xfrm>
              <a:off x="4243" y="720"/>
              <a:ext cx="7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70059" name="Rectangle 48"/>
            <p:cNvSpPr>
              <a:spLocks noChangeArrowheads="1"/>
            </p:cNvSpPr>
            <p:nvPr/>
          </p:nvSpPr>
          <p:spPr bwMode="auto">
            <a:xfrm>
              <a:off x="4315" y="720"/>
              <a:ext cx="6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0060" name="Rectangle 49"/>
            <p:cNvSpPr>
              <a:spLocks noChangeArrowheads="1"/>
            </p:cNvSpPr>
            <p:nvPr/>
          </p:nvSpPr>
          <p:spPr bwMode="auto">
            <a:xfrm>
              <a:off x="4383" y="720"/>
              <a:ext cx="3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0061" name="Rectangle 50"/>
            <p:cNvSpPr>
              <a:spLocks noChangeArrowheads="1"/>
            </p:cNvSpPr>
            <p:nvPr/>
          </p:nvSpPr>
          <p:spPr bwMode="auto">
            <a:xfrm>
              <a:off x="4415" y="720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</p:grpSp>
      <p:sp>
        <p:nvSpPr>
          <p:cNvPr id="69681" name="Freeform 51"/>
          <p:cNvSpPr>
            <a:spLocks noChangeArrowheads="1"/>
          </p:cNvSpPr>
          <p:nvPr/>
        </p:nvSpPr>
        <p:spPr bwMode="auto">
          <a:xfrm>
            <a:off x="6884989" y="2069864"/>
            <a:ext cx="26987" cy="1587"/>
          </a:xfrm>
          <a:custGeom>
            <a:avLst/>
            <a:gdLst>
              <a:gd name="T0" fmla="*/ 16 w 16"/>
              <a:gd name="T1" fmla="*/ 0 h 1587"/>
              <a:gd name="T2" fmla="*/ 0 w 16"/>
              <a:gd name="T3" fmla="*/ 0 h 1587"/>
              <a:gd name="T4" fmla="*/ 16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82" name="Freeform 52"/>
          <p:cNvSpPr>
            <a:spLocks noChangeArrowheads="1"/>
          </p:cNvSpPr>
          <p:nvPr/>
        </p:nvSpPr>
        <p:spPr bwMode="auto">
          <a:xfrm>
            <a:off x="6884989" y="2025413"/>
            <a:ext cx="79375" cy="87312"/>
          </a:xfrm>
          <a:custGeom>
            <a:avLst/>
            <a:gdLst>
              <a:gd name="T0" fmla="*/ 0 w 46"/>
              <a:gd name="T1" fmla="*/ 0 h 50"/>
              <a:gd name="T2" fmla="*/ 0 w 46"/>
              <a:gd name="T3" fmla="*/ 50 h 50"/>
              <a:gd name="T4" fmla="*/ 46 w 46"/>
              <a:gd name="T5" fmla="*/ 25 h 50"/>
              <a:gd name="T6" fmla="*/ 0 w 46"/>
              <a:gd name="T7" fmla="*/ 3 h 50"/>
              <a:gd name="T8" fmla="*/ 0 w 46"/>
              <a:gd name="T9" fmla="*/ 3 h 50"/>
              <a:gd name="T10" fmla="*/ 0 w 46"/>
              <a:gd name="T11" fmla="*/ 0 h 5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6"/>
              <a:gd name="T19" fmla="*/ 0 h 50"/>
              <a:gd name="T20" fmla="*/ 46 w 46"/>
              <a:gd name="T21" fmla="*/ 50 h 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6" h="50">
                <a:moveTo>
                  <a:pt x="0" y="0"/>
                </a:moveTo>
                <a:lnTo>
                  <a:pt x="0" y="50"/>
                </a:lnTo>
                <a:lnTo>
                  <a:pt x="46" y="2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83" name="Freeform 53"/>
          <p:cNvSpPr>
            <a:spLocks noChangeArrowheads="1"/>
          </p:cNvSpPr>
          <p:nvPr/>
        </p:nvSpPr>
        <p:spPr bwMode="auto">
          <a:xfrm>
            <a:off x="8499476" y="1761889"/>
            <a:ext cx="28575" cy="1587"/>
          </a:xfrm>
          <a:custGeom>
            <a:avLst/>
            <a:gdLst>
              <a:gd name="T0" fmla="*/ 16 w 16"/>
              <a:gd name="T1" fmla="*/ 0 h 1587"/>
              <a:gd name="T2" fmla="*/ 0 w 16"/>
              <a:gd name="T3" fmla="*/ 0 h 1587"/>
              <a:gd name="T4" fmla="*/ 16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84" name="Freeform 54"/>
          <p:cNvSpPr>
            <a:spLocks noChangeArrowheads="1"/>
          </p:cNvSpPr>
          <p:nvPr/>
        </p:nvSpPr>
        <p:spPr bwMode="auto">
          <a:xfrm>
            <a:off x="8499476" y="1723788"/>
            <a:ext cx="80963" cy="82550"/>
          </a:xfrm>
          <a:custGeom>
            <a:avLst/>
            <a:gdLst>
              <a:gd name="T0" fmla="*/ 0 w 46"/>
              <a:gd name="T1" fmla="*/ 0 h 47"/>
              <a:gd name="T2" fmla="*/ 0 w 46"/>
              <a:gd name="T3" fmla="*/ 47 h 47"/>
              <a:gd name="T4" fmla="*/ 46 w 46"/>
              <a:gd name="T5" fmla="*/ 22 h 47"/>
              <a:gd name="T6" fmla="*/ 0 w 46"/>
              <a:gd name="T7" fmla="*/ 0 h 47"/>
              <a:gd name="T8" fmla="*/ 0 w 46"/>
              <a:gd name="T9" fmla="*/ 0 h 4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"/>
              <a:gd name="T16" fmla="*/ 0 h 47"/>
              <a:gd name="T17" fmla="*/ 46 w 46"/>
              <a:gd name="T18" fmla="*/ 47 h 47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" h="47">
                <a:moveTo>
                  <a:pt x="0" y="0"/>
                </a:moveTo>
                <a:lnTo>
                  <a:pt x="0" y="47"/>
                </a:lnTo>
                <a:lnTo>
                  <a:pt x="46" y="2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85" name="Freeform 55"/>
          <p:cNvSpPr>
            <a:spLocks noChangeArrowheads="1"/>
          </p:cNvSpPr>
          <p:nvPr/>
        </p:nvSpPr>
        <p:spPr bwMode="auto">
          <a:xfrm>
            <a:off x="8499476" y="2425464"/>
            <a:ext cx="28575" cy="1587"/>
          </a:xfrm>
          <a:custGeom>
            <a:avLst/>
            <a:gdLst>
              <a:gd name="T0" fmla="*/ 16 w 16"/>
              <a:gd name="T1" fmla="*/ 0 h 1587"/>
              <a:gd name="T2" fmla="*/ 0 w 16"/>
              <a:gd name="T3" fmla="*/ 0 h 1587"/>
              <a:gd name="T4" fmla="*/ 16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86" name="Freeform 56"/>
          <p:cNvSpPr>
            <a:spLocks noChangeArrowheads="1"/>
          </p:cNvSpPr>
          <p:nvPr/>
        </p:nvSpPr>
        <p:spPr bwMode="auto">
          <a:xfrm>
            <a:off x="8499476" y="2382601"/>
            <a:ext cx="80963" cy="87313"/>
          </a:xfrm>
          <a:custGeom>
            <a:avLst/>
            <a:gdLst>
              <a:gd name="T0" fmla="*/ 0 w 46"/>
              <a:gd name="T1" fmla="*/ 0 h 50"/>
              <a:gd name="T2" fmla="*/ 0 w 46"/>
              <a:gd name="T3" fmla="*/ 50 h 50"/>
              <a:gd name="T4" fmla="*/ 46 w 46"/>
              <a:gd name="T5" fmla="*/ 25 h 50"/>
              <a:gd name="T6" fmla="*/ 0 w 46"/>
              <a:gd name="T7" fmla="*/ 3 h 50"/>
              <a:gd name="T8" fmla="*/ 0 w 46"/>
              <a:gd name="T9" fmla="*/ 3 h 50"/>
              <a:gd name="T10" fmla="*/ 0 w 46"/>
              <a:gd name="T11" fmla="*/ 0 h 5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6"/>
              <a:gd name="T19" fmla="*/ 0 h 50"/>
              <a:gd name="T20" fmla="*/ 46 w 46"/>
              <a:gd name="T21" fmla="*/ 50 h 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6" h="50">
                <a:moveTo>
                  <a:pt x="0" y="0"/>
                </a:moveTo>
                <a:lnTo>
                  <a:pt x="0" y="50"/>
                </a:lnTo>
                <a:lnTo>
                  <a:pt x="46" y="2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87" name="Freeform 57"/>
          <p:cNvSpPr>
            <a:spLocks noChangeArrowheads="1"/>
          </p:cNvSpPr>
          <p:nvPr/>
        </p:nvSpPr>
        <p:spPr bwMode="auto">
          <a:xfrm>
            <a:off x="6172201" y="2782651"/>
            <a:ext cx="30163" cy="3175"/>
          </a:xfrm>
          <a:custGeom>
            <a:avLst/>
            <a:gdLst>
              <a:gd name="T0" fmla="*/ 17 w 17"/>
              <a:gd name="T1" fmla="*/ 0 h 2"/>
              <a:gd name="T2" fmla="*/ 0 w 17"/>
              <a:gd name="T3" fmla="*/ 2 h 2"/>
              <a:gd name="T4" fmla="*/ 17 w 17"/>
              <a:gd name="T5" fmla="*/ 0 h 2"/>
              <a:gd name="T6" fmla="*/ 0 60000 65536"/>
              <a:gd name="T7" fmla="*/ 0 60000 65536"/>
              <a:gd name="T8" fmla="*/ 0 60000 65536"/>
              <a:gd name="T9" fmla="*/ 0 w 17"/>
              <a:gd name="T10" fmla="*/ 0 h 2"/>
              <a:gd name="T11" fmla="*/ 17 w 17"/>
              <a:gd name="T12" fmla="*/ 2 h 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2">
                <a:moveTo>
                  <a:pt x="17" y="0"/>
                </a:moveTo>
                <a:lnTo>
                  <a:pt x="0" y="2"/>
                </a:lnTo>
                <a:lnTo>
                  <a:pt x="1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88" name="Freeform 58"/>
          <p:cNvSpPr>
            <a:spLocks noChangeArrowheads="1"/>
          </p:cNvSpPr>
          <p:nvPr/>
        </p:nvSpPr>
        <p:spPr bwMode="auto">
          <a:xfrm>
            <a:off x="6172200" y="2742963"/>
            <a:ext cx="82550" cy="80962"/>
          </a:xfrm>
          <a:custGeom>
            <a:avLst/>
            <a:gdLst>
              <a:gd name="T0" fmla="*/ 0 w 47"/>
              <a:gd name="T1" fmla="*/ 0 h 46"/>
              <a:gd name="T2" fmla="*/ 0 w 47"/>
              <a:gd name="T3" fmla="*/ 46 h 46"/>
              <a:gd name="T4" fmla="*/ 47 w 47"/>
              <a:gd name="T5" fmla="*/ 24 h 46"/>
              <a:gd name="T6" fmla="*/ 0 w 47"/>
              <a:gd name="T7" fmla="*/ 0 h 46"/>
              <a:gd name="T8" fmla="*/ 0 w 47"/>
              <a:gd name="T9" fmla="*/ 0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"/>
              <a:gd name="T16" fmla="*/ 0 h 46"/>
              <a:gd name="T17" fmla="*/ 47 w 47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" h="46">
                <a:moveTo>
                  <a:pt x="0" y="0"/>
                </a:moveTo>
                <a:lnTo>
                  <a:pt x="0" y="46"/>
                </a:lnTo>
                <a:lnTo>
                  <a:pt x="47" y="2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89" name="Freeform 59"/>
          <p:cNvSpPr>
            <a:spLocks noChangeArrowheads="1"/>
          </p:cNvSpPr>
          <p:nvPr/>
        </p:nvSpPr>
        <p:spPr bwMode="auto">
          <a:xfrm>
            <a:off x="6878639" y="2782651"/>
            <a:ext cx="28575" cy="3175"/>
          </a:xfrm>
          <a:custGeom>
            <a:avLst/>
            <a:gdLst>
              <a:gd name="T0" fmla="*/ 16 w 16"/>
              <a:gd name="T1" fmla="*/ 0 h 2"/>
              <a:gd name="T2" fmla="*/ 0 w 16"/>
              <a:gd name="T3" fmla="*/ 2 h 2"/>
              <a:gd name="T4" fmla="*/ 16 w 16"/>
              <a:gd name="T5" fmla="*/ 0 h 2"/>
              <a:gd name="T6" fmla="*/ 0 60000 65536"/>
              <a:gd name="T7" fmla="*/ 0 60000 65536"/>
              <a:gd name="T8" fmla="*/ 0 60000 65536"/>
              <a:gd name="T9" fmla="*/ 0 w 16"/>
              <a:gd name="T10" fmla="*/ 0 h 2"/>
              <a:gd name="T11" fmla="*/ 16 w 16"/>
              <a:gd name="T12" fmla="*/ 2 h 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2">
                <a:moveTo>
                  <a:pt x="16" y="0"/>
                </a:moveTo>
                <a:lnTo>
                  <a:pt x="0" y="2"/>
                </a:lnTo>
                <a:lnTo>
                  <a:pt x="1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90" name="Freeform 60"/>
          <p:cNvSpPr>
            <a:spLocks noChangeArrowheads="1"/>
          </p:cNvSpPr>
          <p:nvPr/>
        </p:nvSpPr>
        <p:spPr bwMode="auto">
          <a:xfrm>
            <a:off x="6878639" y="2742963"/>
            <a:ext cx="85725" cy="80962"/>
          </a:xfrm>
          <a:custGeom>
            <a:avLst/>
            <a:gdLst>
              <a:gd name="T0" fmla="*/ 0 w 49"/>
              <a:gd name="T1" fmla="*/ 0 h 46"/>
              <a:gd name="T2" fmla="*/ 0 w 49"/>
              <a:gd name="T3" fmla="*/ 46 h 46"/>
              <a:gd name="T4" fmla="*/ 49 w 49"/>
              <a:gd name="T5" fmla="*/ 24 h 46"/>
              <a:gd name="T6" fmla="*/ 0 w 49"/>
              <a:gd name="T7" fmla="*/ 0 h 46"/>
              <a:gd name="T8" fmla="*/ 0 w 49"/>
              <a:gd name="T9" fmla="*/ 0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9"/>
              <a:gd name="T16" fmla="*/ 0 h 46"/>
              <a:gd name="T17" fmla="*/ 49 w 49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9" h="46">
                <a:moveTo>
                  <a:pt x="0" y="0"/>
                </a:moveTo>
                <a:lnTo>
                  <a:pt x="0" y="46"/>
                </a:lnTo>
                <a:lnTo>
                  <a:pt x="49" y="2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91" name="Freeform 61"/>
          <p:cNvSpPr>
            <a:spLocks noChangeArrowheads="1"/>
          </p:cNvSpPr>
          <p:nvPr/>
        </p:nvSpPr>
        <p:spPr bwMode="auto">
          <a:xfrm>
            <a:off x="5711826" y="2031763"/>
            <a:ext cx="79375" cy="80962"/>
          </a:xfrm>
          <a:custGeom>
            <a:avLst/>
            <a:gdLst>
              <a:gd name="T0" fmla="*/ 22 w 46"/>
              <a:gd name="T1" fmla="*/ 47 h 47"/>
              <a:gd name="T2" fmla="*/ 27 w 46"/>
              <a:gd name="T3" fmla="*/ 47 h 47"/>
              <a:gd name="T4" fmla="*/ 30 w 46"/>
              <a:gd name="T5" fmla="*/ 47 h 47"/>
              <a:gd name="T6" fmla="*/ 35 w 46"/>
              <a:gd name="T7" fmla="*/ 44 h 47"/>
              <a:gd name="T8" fmla="*/ 38 w 46"/>
              <a:gd name="T9" fmla="*/ 44 h 47"/>
              <a:gd name="T10" fmla="*/ 41 w 46"/>
              <a:gd name="T11" fmla="*/ 41 h 47"/>
              <a:gd name="T12" fmla="*/ 44 w 46"/>
              <a:gd name="T13" fmla="*/ 39 h 47"/>
              <a:gd name="T14" fmla="*/ 44 w 46"/>
              <a:gd name="T15" fmla="*/ 36 h 47"/>
              <a:gd name="T16" fmla="*/ 46 w 46"/>
              <a:gd name="T17" fmla="*/ 30 h 47"/>
              <a:gd name="T18" fmla="*/ 46 w 46"/>
              <a:gd name="T19" fmla="*/ 28 h 47"/>
              <a:gd name="T20" fmla="*/ 46 w 46"/>
              <a:gd name="T21" fmla="*/ 25 h 47"/>
              <a:gd name="T22" fmla="*/ 46 w 46"/>
              <a:gd name="T23" fmla="*/ 19 h 47"/>
              <a:gd name="T24" fmla="*/ 46 w 46"/>
              <a:gd name="T25" fmla="*/ 17 h 47"/>
              <a:gd name="T26" fmla="*/ 44 w 46"/>
              <a:gd name="T27" fmla="*/ 14 h 47"/>
              <a:gd name="T28" fmla="*/ 44 w 46"/>
              <a:gd name="T29" fmla="*/ 11 h 47"/>
              <a:gd name="T30" fmla="*/ 41 w 46"/>
              <a:gd name="T31" fmla="*/ 8 h 47"/>
              <a:gd name="T32" fmla="*/ 38 w 46"/>
              <a:gd name="T33" fmla="*/ 6 h 47"/>
              <a:gd name="T34" fmla="*/ 35 w 46"/>
              <a:gd name="T35" fmla="*/ 3 h 47"/>
              <a:gd name="T36" fmla="*/ 30 w 46"/>
              <a:gd name="T37" fmla="*/ 3 h 47"/>
              <a:gd name="T38" fmla="*/ 27 w 46"/>
              <a:gd name="T39" fmla="*/ 0 h 47"/>
              <a:gd name="T40" fmla="*/ 24 w 46"/>
              <a:gd name="T41" fmla="*/ 0 h 47"/>
              <a:gd name="T42" fmla="*/ 19 w 46"/>
              <a:gd name="T43" fmla="*/ 0 h 47"/>
              <a:gd name="T44" fmla="*/ 16 w 46"/>
              <a:gd name="T45" fmla="*/ 3 h 47"/>
              <a:gd name="T46" fmla="*/ 13 w 46"/>
              <a:gd name="T47" fmla="*/ 3 h 47"/>
              <a:gd name="T48" fmla="*/ 11 w 46"/>
              <a:gd name="T49" fmla="*/ 6 h 47"/>
              <a:gd name="T50" fmla="*/ 8 w 46"/>
              <a:gd name="T51" fmla="*/ 8 h 47"/>
              <a:gd name="T52" fmla="*/ 5 w 46"/>
              <a:gd name="T53" fmla="*/ 11 h 47"/>
              <a:gd name="T54" fmla="*/ 2 w 46"/>
              <a:gd name="T55" fmla="*/ 14 h 47"/>
              <a:gd name="T56" fmla="*/ 2 w 46"/>
              <a:gd name="T57" fmla="*/ 17 h 47"/>
              <a:gd name="T58" fmla="*/ 0 w 46"/>
              <a:gd name="T59" fmla="*/ 19 h 47"/>
              <a:gd name="T60" fmla="*/ 0 w 46"/>
              <a:gd name="T61" fmla="*/ 25 h 47"/>
              <a:gd name="T62" fmla="*/ 0 w 46"/>
              <a:gd name="T63" fmla="*/ 28 h 47"/>
              <a:gd name="T64" fmla="*/ 2 w 46"/>
              <a:gd name="T65" fmla="*/ 30 h 47"/>
              <a:gd name="T66" fmla="*/ 2 w 46"/>
              <a:gd name="T67" fmla="*/ 36 h 47"/>
              <a:gd name="T68" fmla="*/ 5 w 46"/>
              <a:gd name="T69" fmla="*/ 39 h 47"/>
              <a:gd name="T70" fmla="*/ 8 w 46"/>
              <a:gd name="T71" fmla="*/ 41 h 47"/>
              <a:gd name="T72" fmla="*/ 11 w 46"/>
              <a:gd name="T73" fmla="*/ 44 h 47"/>
              <a:gd name="T74" fmla="*/ 13 w 46"/>
              <a:gd name="T75" fmla="*/ 44 h 47"/>
              <a:gd name="T76" fmla="*/ 16 w 46"/>
              <a:gd name="T77" fmla="*/ 47 h 47"/>
              <a:gd name="T78" fmla="*/ 19 w 46"/>
              <a:gd name="T79" fmla="*/ 47 h 47"/>
              <a:gd name="T80" fmla="*/ 24 w 46"/>
              <a:gd name="T81" fmla="*/ 47 h 47"/>
              <a:gd name="T82" fmla="*/ 24 w 46"/>
              <a:gd name="T83" fmla="*/ 47 h 47"/>
              <a:gd name="T84" fmla="*/ 22 w 46"/>
              <a:gd name="T85" fmla="*/ 47 h 47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6"/>
              <a:gd name="T130" fmla="*/ 0 h 47"/>
              <a:gd name="T131" fmla="*/ 46 w 46"/>
              <a:gd name="T132" fmla="*/ 47 h 47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6" h="47">
                <a:moveTo>
                  <a:pt x="22" y="47"/>
                </a:moveTo>
                <a:lnTo>
                  <a:pt x="27" y="47"/>
                </a:lnTo>
                <a:lnTo>
                  <a:pt x="30" y="47"/>
                </a:lnTo>
                <a:lnTo>
                  <a:pt x="35" y="44"/>
                </a:lnTo>
                <a:lnTo>
                  <a:pt x="38" y="44"/>
                </a:lnTo>
                <a:lnTo>
                  <a:pt x="41" y="41"/>
                </a:lnTo>
                <a:lnTo>
                  <a:pt x="44" y="39"/>
                </a:lnTo>
                <a:lnTo>
                  <a:pt x="44" y="36"/>
                </a:lnTo>
                <a:lnTo>
                  <a:pt x="46" y="30"/>
                </a:lnTo>
                <a:lnTo>
                  <a:pt x="46" y="28"/>
                </a:lnTo>
                <a:lnTo>
                  <a:pt x="46" y="25"/>
                </a:lnTo>
                <a:lnTo>
                  <a:pt x="46" y="19"/>
                </a:lnTo>
                <a:lnTo>
                  <a:pt x="46" y="17"/>
                </a:lnTo>
                <a:lnTo>
                  <a:pt x="44" y="14"/>
                </a:lnTo>
                <a:lnTo>
                  <a:pt x="44" y="11"/>
                </a:lnTo>
                <a:lnTo>
                  <a:pt x="41" y="8"/>
                </a:lnTo>
                <a:lnTo>
                  <a:pt x="38" y="6"/>
                </a:lnTo>
                <a:lnTo>
                  <a:pt x="35" y="3"/>
                </a:lnTo>
                <a:lnTo>
                  <a:pt x="30" y="3"/>
                </a:lnTo>
                <a:lnTo>
                  <a:pt x="27" y="0"/>
                </a:lnTo>
                <a:lnTo>
                  <a:pt x="24" y="0"/>
                </a:lnTo>
                <a:lnTo>
                  <a:pt x="19" y="0"/>
                </a:lnTo>
                <a:lnTo>
                  <a:pt x="16" y="3"/>
                </a:lnTo>
                <a:lnTo>
                  <a:pt x="13" y="3"/>
                </a:lnTo>
                <a:lnTo>
                  <a:pt x="11" y="6"/>
                </a:lnTo>
                <a:lnTo>
                  <a:pt x="8" y="8"/>
                </a:lnTo>
                <a:lnTo>
                  <a:pt x="5" y="11"/>
                </a:lnTo>
                <a:lnTo>
                  <a:pt x="2" y="14"/>
                </a:lnTo>
                <a:lnTo>
                  <a:pt x="2" y="17"/>
                </a:lnTo>
                <a:lnTo>
                  <a:pt x="0" y="19"/>
                </a:lnTo>
                <a:lnTo>
                  <a:pt x="0" y="25"/>
                </a:lnTo>
                <a:lnTo>
                  <a:pt x="0" y="28"/>
                </a:lnTo>
                <a:lnTo>
                  <a:pt x="2" y="30"/>
                </a:lnTo>
                <a:lnTo>
                  <a:pt x="2" y="36"/>
                </a:lnTo>
                <a:lnTo>
                  <a:pt x="5" y="39"/>
                </a:lnTo>
                <a:lnTo>
                  <a:pt x="8" y="41"/>
                </a:lnTo>
                <a:lnTo>
                  <a:pt x="11" y="44"/>
                </a:lnTo>
                <a:lnTo>
                  <a:pt x="13" y="44"/>
                </a:lnTo>
                <a:lnTo>
                  <a:pt x="16" y="47"/>
                </a:lnTo>
                <a:lnTo>
                  <a:pt x="19" y="47"/>
                </a:lnTo>
                <a:lnTo>
                  <a:pt x="24" y="47"/>
                </a:lnTo>
                <a:lnTo>
                  <a:pt x="22" y="47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93" name="Rectangle 63"/>
          <p:cNvSpPr>
            <a:spLocks noChangeArrowheads="1"/>
          </p:cNvSpPr>
          <p:nvPr/>
        </p:nvSpPr>
        <p:spPr bwMode="auto">
          <a:xfrm>
            <a:off x="2511426" y="232545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4</a:t>
            </a:r>
          </a:p>
        </p:txBody>
      </p:sp>
      <p:sp>
        <p:nvSpPr>
          <p:cNvPr id="69694" name="Freeform 64"/>
          <p:cNvSpPr>
            <a:spLocks noChangeArrowheads="1"/>
          </p:cNvSpPr>
          <p:nvPr/>
        </p:nvSpPr>
        <p:spPr bwMode="auto">
          <a:xfrm>
            <a:off x="2914651" y="1487251"/>
            <a:ext cx="479425" cy="1184275"/>
          </a:xfrm>
          <a:custGeom>
            <a:avLst/>
            <a:gdLst>
              <a:gd name="T0" fmla="*/ 0 w 274"/>
              <a:gd name="T1" fmla="*/ 0 h 677"/>
              <a:gd name="T2" fmla="*/ 3 w 274"/>
              <a:gd name="T3" fmla="*/ 275 h 677"/>
              <a:gd name="T4" fmla="*/ 71 w 274"/>
              <a:gd name="T5" fmla="*/ 340 h 677"/>
              <a:gd name="T6" fmla="*/ 3 w 274"/>
              <a:gd name="T7" fmla="*/ 405 h 677"/>
              <a:gd name="T8" fmla="*/ 3 w 274"/>
              <a:gd name="T9" fmla="*/ 677 h 677"/>
              <a:gd name="T10" fmla="*/ 274 w 274"/>
              <a:gd name="T11" fmla="*/ 471 h 677"/>
              <a:gd name="T12" fmla="*/ 274 w 274"/>
              <a:gd name="T13" fmla="*/ 210 h 677"/>
              <a:gd name="T14" fmla="*/ 3 w 274"/>
              <a:gd name="T15" fmla="*/ 3 h 677"/>
              <a:gd name="T16" fmla="*/ 3 w 274"/>
              <a:gd name="T17" fmla="*/ 3 h 67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74"/>
              <a:gd name="T28" fmla="*/ 0 h 677"/>
              <a:gd name="T29" fmla="*/ 274 w 274"/>
              <a:gd name="T30" fmla="*/ 677 h 677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74" h="677">
                <a:moveTo>
                  <a:pt x="0" y="0"/>
                </a:moveTo>
                <a:lnTo>
                  <a:pt x="3" y="275"/>
                </a:lnTo>
                <a:lnTo>
                  <a:pt x="71" y="340"/>
                </a:lnTo>
                <a:lnTo>
                  <a:pt x="3" y="405"/>
                </a:lnTo>
                <a:lnTo>
                  <a:pt x="3" y="677"/>
                </a:lnTo>
                <a:lnTo>
                  <a:pt x="274" y="471"/>
                </a:lnTo>
                <a:lnTo>
                  <a:pt x="274" y="210"/>
                </a:lnTo>
                <a:lnTo>
                  <a:pt x="3" y="3"/>
                </a:lnTo>
              </a:path>
            </a:pathLst>
          </a:custGeom>
          <a:noFill/>
          <a:ln w="1764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695" name="Rectangle 65"/>
          <p:cNvSpPr>
            <a:spLocks noChangeArrowheads="1"/>
          </p:cNvSpPr>
          <p:nvPr/>
        </p:nvSpPr>
        <p:spPr bwMode="auto">
          <a:xfrm>
            <a:off x="3071813" y="1973026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9696" name="Rectangle 66"/>
          <p:cNvSpPr>
            <a:spLocks noChangeArrowheads="1"/>
          </p:cNvSpPr>
          <p:nvPr/>
        </p:nvSpPr>
        <p:spPr bwMode="auto">
          <a:xfrm>
            <a:off x="3175001" y="197302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9697" name="Rectangle 67"/>
          <p:cNvSpPr>
            <a:spLocks noChangeArrowheads="1"/>
          </p:cNvSpPr>
          <p:nvPr/>
        </p:nvSpPr>
        <p:spPr bwMode="auto">
          <a:xfrm>
            <a:off x="3260726" y="197302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9698" name="Freeform 68"/>
          <p:cNvSpPr>
            <a:spLocks noChangeArrowheads="1"/>
          </p:cNvSpPr>
          <p:nvPr/>
        </p:nvSpPr>
        <p:spPr bwMode="auto">
          <a:xfrm>
            <a:off x="2820989" y="1730139"/>
            <a:ext cx="26987" cy="1587"/>
          </a:xfrm>
          <a:custGeom>
            <a:avLst/>
            <a:gdLst>
              <a:gd name="T0" fmla="*/ 16 w 16"/>
              <a:gd name="T1" fmla="*/ 0 h 1587"/>
              <a:gd name="T2" fmla="*/ 0 w 16"/>
              <a:gd name="T3" fmla="*/ 0 h 1587"/>
              <a:gd name="T4" fmla="*/ 16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699" name="Freeform 69"/>
          <p:cNvSpPr>
            <a:spLocks noChangeArrowheads="1"/>
          </p:cNvSpPr>
          <p:nvPr/>
        </p:nvSpPr>
        <p:spPr bwMode="auto">
          <a:xfrm>
            <a:off x="2820989" y="2428639"/>
            <a:ext cx="26987" cy="1587"/>
          </a:xfrm>
          <a:custGeom>
            <a:avLst/>
            <a:gdLst>
              <a:gd name="T0" fmla="*/ 16 w 16"/>
              <a:gd name="T1" fmla="*/ 0 h 1587"/>
              <a:gd name="T2" fmla="*/ 0 w 16"/>
              <a:gd name="T3" fmla="*/ 0 h 1587"/>
              <a:gd name="T4" fmla="*/ 16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000000"/>
          </a:solidFill>
          <a:ln w="93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9700" name="Freeform 70"/>
          <p:cNvSpPr>
            <a:spLocks/>
          </p:cNvSpPr>
          <p:nvPr/>
        </p:nvSpPr>
        <p:spPr bwMode="auto">
          <a:xfrm>
            <a:off x="1825625" y="1245950"/>
            <a:ext cx="7162800" cy="2819400"/>
          </a:xfrm>
          <a:custGeom>
            <a:avLst/>
            <a:gdLst>
              <a:gd name="T0" fmla="*/ 4416 w 4512"/>
              <a:gd name="T1" fmla="*/ 528 h 1776"/>
              <a:gd name="T2" fmla="*/ 4512 w 4512"/>
              <a:gd name="T3" fmla="*/ 528 h 1776"/>
              <a:gd name="T4" fmla="*/ 4512 w 4512"/>
              <a:gd name="T5" fmla="*/ 0 h 1776"/>
              <a:gd name="T6" fmla="*/ 0 w 4512"/>
              <a:gd name="T7" fmla="*/ 0 h 1776"/>
              <a:gd name="T8" fmla="*/ 0 w 4512"/>
              <a:gd name="T9" fmla="*/ 1776 h 1776"/>
              <a:gd name="T10" fmla="*/ 96 w 4512"/>
              <a:gd name="T11" fmla="*/ 1776 h 177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512"/>
              <a:gd name="T19" fmla="*/ 0 h 1776"/>
              <a:gd name="T20" fmla="*/ 4512 w 4512"/>
              <a:gd name="T21" fmla="*/ 1776 h 177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512" h="1776">
                <a:moveTo>
                  <a:pt x="4416" y="528"/>
                </a:moveTo>
                <a:lnTo>
                  <a:pt x="4512" y="528"/>
                </a:lnTo>
                <a:lnTo>
                  <a:pt x="4512" y="0"/>
                </a:lnTo>
                <a:lnTo>
                  <a:pt x="0" y="0"/>
                </a:lnTo>
                <a:lnTo>
                  <a:pt x="0" y="1776"/>
                </a:lnTo>
                <a:lnTo>
                  <a:pt x="96" y="1776"/>
                </a:lnTo>
              </a:path>
            </a:pathLst>
          </a:custGeom>
          <a:noFill/>
          <a:ln w="381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701" name="Freeform 71"/>
          <p:cNvSpPr>
            <a:spLocks/>
          </p:cNvSpPr>
          <p:nvPr/>
        </p:nvSpPr>
        <p:spPr bwMode="auto">
          <a:xfrm>
            <a:off x="2282825" y="1715850"/>
            <a:ext cx="630238" cy="2362200"/>
          </a:xfrm>
          <a:custGeom>
            <a:avLst/>
            <a:gdLst>
              <a:gd name="T0" fmla="*/ 0 w 384"/>
              <a:gd name="T1" fmla="*/ 1488 h 1488"/>
              <a:gd name="T2" fmla="*/ 0 w 384"/>
              <a:gd name="T3" fmla="*/ 0 h 1488"/>
              <a:gd name="T4" fmla="*/ 384 w 384"/>
              <a:gd name="T5" fmla="*/ 0 h 1488"/>
              <a:gd name="T6" fmla="*/ 0 60000 65536"/>
              <a:gd name="T7" fmla="*/ 0 60000 65536"/>
              <a:gd name="T8" fmla="*/ 0 60000 65536"/>
              <a:gd name="T9" fmla="*/ 0 w 384"/>
              <a:gd name="T10" fmla="*/ 0 h 1488"/>
              <a:gd name="T11" fmla="*/ 384 w 384"/>
              <a:gd name="T12" fmla="*/ 1488 h 14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4" h="1488">
                <a:moveTo>
                  <a:pt x="0" y="1488"/>
                </a:moveTo>
                <a:lnTo>
                  <a:pt x="0" y="0"/>
                </a:lnTo>
                <a:lnTo>
                  <a:pt x="384" y="0"/>
                </a:lnTo>
              </a:path>
            </a:pathLst>
          </a:custGeom>
          <a:noFill/>
          <a:ln w="3816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9702" name="Line 72"/>
          <p:cNvSpPr>
            <a:spLocks noChangeShapeType="1"/>
          </p:cNvSpPr>
          <p:nvPr/>
        </p:nvSpPr>
        <p:spPr bwMode="auto">
          <a:xfrm>
            <a:off x="2619375" y="2401650"/>
            <a:ext cx="304800" cy="1588"/>
          </a:xfrm>
          <a:prstGeom prst="line">
            <a:avLst/>
          </a:prstGeom>
          <a:noFill/>
          <a:ln w="38160">
            <a:solidFill>
              <a:srgbClr val="0000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9703" name="Text Box 73"/>
          <p:cNvSpPr txBox="1">
            <a:spLocks noChangeArrowheads="1"/>
          </p:cNvSpPr>
          <p:nvPr/>
        </p:nvSpPr>
        <p:spPr bwMode="auto">
          <a:xfrm>
            <a:off x="2592388" y="5309951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j</a:t>
            </a:r>
            <a:endParaRPr lang="zh-TW" altLang="en-GB" sz="2800" dirty="0">
              <a:solidFill>
                <a:srgbClr val="9966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69704" name="Text Box 74"/>
          <p:cNvSpPr txBox="1">
            <a:spLocks noChangeArrowheads="1"/>
          </p:cNvSpPr>
          <p:nvPr/>
        </p:nvSpPr>
        <p:spPr bwMode="auto">
          <a:xfrm>
            <a:off x="4878388" y="3023951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k</a:t>
            </a:r>
            <a:endParaRPr lang="zh-TW" altLang="en-GB" sz="2800" dirty="0">
              <a:solidFill>
                <a:srgbClr val="9966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69705" name="Text Box 75"/>
          <p:cNvSpPr txBox="1">
            <a:spLocks noChangeArrowheads="1"/>
          </p:cNvSpPr>
          <p:nvPr/>
        </p:nvSpPr>
        <p:spPr bwMode="auto">
          <a:xfrm>
            <a:off x="7011988" y="3023951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l</a:t>
            </a:r>
            <a:endParaRPr lang="zh-TW" altLang="en-GB" sz="2800" dirty="0">
              <a:solidFill>
                <a:srgbClr val="9966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69706" name="Text Box 76"/>
          <p:cNvSpPr txBox="1">
            <a:spLocks noChangeArrowheads="1"/>
          </p:cNvSpPr>
          <p:nvPr/>
        </p:nvSpPr>
        <p:spPr bwMode="auto">
          <a:xfrm>
            <a:off x="8916989" y="3023950"/>
            <a:ext cx="498475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zh-TW" altLang="en-GB" sz="2800">
                <a:solidFill>
                  <a:srgbClr val="996633"/>
                </a:solidFill>
                <a:latin typeface="Wingdings" charset="2"/>
                <a:ea typeface="新細明體" charset="-120"/>
              </a:rPr>
              <a:t></a:t>
            </a:r>
          </a:p>
        </p:txBody>
      </p:sp>
      <p:sp>
        <p:nvSpPr>
          <p:cNvPr id="69707" name="Text Box 77"/>
          <p:cNvSpPr txBox="1">
            <a:spLocks noChangeArrowheads="1"/>
          </p:cNvSpPr>
          <p:nvPr/>
        </p:nvSpPr>
        <p:spPr bwMode="auto">
          <a:xfrm>
            <a:off x="4116388" y="6071951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n</a:t>
            </a:r>
            <a:endParaRPr lang="zh-TW" altLang="en-GB" sz="2800" dirty="0">
              <a:solidFill>
                <a:srgbClr val="996633"/>
              </a:solidFill>
              <a:latin typeface="Wingdings" charset="2"/>
              <a:ea typeface="新細明體" charset="-120"/>
            </a:endParaRPr>
          </a:p>
        </p:txBody>
      </p:sp>
      <p:grpSp>
        <p:nvGrpSpPr>
          <p:cNvPr id="69708" name="Group 78"/>
          <p:cNvGrpSpPr>
            <a:grpSpLocks/>
          </p:cNvGrpSpPr>
          <p:nvPr/>
        </p:nvGrpSpPr>
        <p:grpSpPr bwMode="auto">
          <a:xfrm>
            <a:off x="1878013" y="2795351"/>
            <a:ext cx="4292600" cy="2436813"/>
            <a:chOff x="223" y="1632"/>
            <a:chExt cx="2704" cy="1535"/>
          </a:xfrm>
        </p:grpSpPr>
        <p:sp>
          <p:nvSpPr>
            <p:cNvPr id="70055" name="Freeform 79"/>
            <p:cNvSpPr>
              <a:spLocks noChangeArrowheads="1"/>
            </p:cNvSpPr>
            <p:nvPr/>
          </p:nvSpPr>
          <p:spPr bwMode="auto">
            <a:xfrm>
              <a:off x="223" y="2434"/>
              <a:ext cx="18" cy="1"/>
            </a:xfrm>
            <a:custGeom>
              <a:avLst/>
              <a:gdLst>
                <a:gd name="T0" fmla="*/ 16 w 16"/>
                <a:gd name="T1" fmla="*/ 0 h 1"/>
                <a:gd name="T2" fmla="*/ 0 w 16"/>
                <a:gd name="T3" fmla="*/ 0 h 1"/>
                <a:gd name="T4" fmla="*/ 16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56" name="Freeform 80"/>
            <p:cNvSpPr>
              <a:spLocks noChangeArrowheads="1"/>
            </p:cNvSpPr>
            <p:nvPr/>
          </p:nvSpPr>
          <p:spPr bwMode="auto">
            <a:xfrm>
              <a:off x="2826" y="1632"/>
              <a:ext cx="102" cy="1536"/>
            </a:xfrm>
            <a:custGeom>
              <a:avLst/>
              <a:gdLst>
                <a:gd name="T0" fmla="*/ 0 w 69"/>
                <a:gd name="T1" fmla="*/ 1041 h 1041"/>
                <a:gd name="T2" fmla="*/ 0 w 69"/>
                <a:gd name="T3" fmla="*/ 0 h 1041"/>
                <a:gd name="T4" fmla="*/ 69 w 69"/>
                <a:gd name="T5" fmla="*/ 0 h 1041"/>
                <a:gd name="T6" fmla="*/ 0 60000 65536"/>
                <a:gd name="T7" fmla="*/ 0 60000 65536"/>
                <a:gd name="T8" fmla="*/ 0 60000 65536"/>
                <a:gd name="T9" fmla="*/ 0 w 69"/>
                <a:gd name="T10" fmla="*/ 0 h 1041"/>
                <a:gd name="T11" fmla="*/ 69 w 69"/>
                <a:gd name="T12" fmla="*/ 1041 h 10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" h="1041">
                  <a:moveTo>
                    <a:pt x="0" y="1041"/>
                  </a:moveTo>
                  <a:lnTo>
                    <a:pt x="0" y="0"/>
                  </a:lnTo>
                  <a:lnTo>
                    <a:pt x="69" y="0"/>
                  </a:lnTo>
                </a:path>
              </a:pathLst>
            </a:custGeom>
            <a:noFill/>
            <a:ln w="3492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9709" name="Group 81"/>
          <p:cNvGrpSpPr>
            <a:grpSpLocks/>
          </p:cNvGrpSpPr>
          <p:nvPr/>
        </p:nvGrpSpPr>
        <p:grpSpPr bwMode="auto">
          <a:xfrm>
            <a:off x="1971675" y="3506551"/>
            <a:ext cx="8418514" cy="3011488"/>
            <a:chOff x="282" y="2080"/>
            <a:chExt cx="5303" cy="1897"/>
          </a:xfrm>
        </p:grpSpPr>
        <p:sp>
          <p:nvSpPr>
            <p:cNvPr id="69711" name="Line 82"/>
            <p:cNvSpPr>
              <a:spLocks noChangeShapeType="1"/>
            </p:cNvSpPr>
            <p:nvPr/>
          </p:nvSpPr>
          <p:spPr bwMode="auto">
            <a:xfrm flipV="1">
              <a:off x="5334" y="2562"/>
              <a:ext cx="1" cy="141"/>
            </a:xfrm>
            <a:prstGeom prst="line">
              <a:avLst/>
            </a:prstGeom>
            <a:noFill/>
            <a:ln w="1764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12" name="Line 83"/>
            <p:cNvSpPr>
              <a:spLocks noChangeShapeType="1"/>
            </p:cNvSpPr>
            <p:nvPr/>
          </p:nvSpPr>
          <p:spPr bwMode="auto">
            <a:xfrm>
              <a:off x="4646" y="2185"/>
              <a:ext cx="1" cy="228"/>
            </a:xfrm>
            <a:prstGeom prst="line">
              <a:avLst/>
            </a:prstGeom>
            <a:noFill/>
            <a:ln w="1764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13" name="Line 84"/>
            <p:cNvSpPr>
              <a:spLocks noChangeShapeType="1"/>
            </p:cNvSpPr>
            <p:nvPr/>
          </p:nvSpPr>
          <p:spPr bwMode="auto">
            <a:xfrm flipV="1">
              <a:off x="4682" y="3408"/>
              <a:ext cx="1" cy="214"/>
            </a:xfrm>
            <a:prstGeom prst="line">
              <a:avLst/>
            </a:prstGeom>
            <a:noFill/>
            <a:ln w="1764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14" name="Line 85"/>
            <p:cNvSpPr>
              <a:spLocks noChangeShapeType="1"/>
            </p:cNvSpPr>
            <p:nvPr/>
          </p:nvSpPr>
          <p:spPr bwMode="auto">
            <a:xfrm flipV="1">
              <a:off x="3270" y="2558"/>
              <a:ext cx="1" cy="143"/>
            </a:xfrm>
            <a:prstGeom prst="line">
              <a:avLst/>
            </a:prstGeom>
            <a:noFill/>
            <a:ln w="1764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15" name="Line 86"/>
            <p:cNvSpPr>
              <a:spLocks noChangeShapeType="1"/>
            </p:cNvSpPr>
            <p:nvPr/>
          </p:nvSpPr>
          <p:spPr bwMode="auto">
            <a:xfrm flipV="1">
              <a:off x="3710" y="2208"/>
              <a:ext cx="1" cy="227"/>
            </a:xfrm>
            <a:prstGeom prst="line">
              <a:avLst/>
            </a:prstGeom>
            <a:noFill/>
            <a:ln w="25560">
              <a:solidFill>
                <a:srgbClr val="F3AA61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16" name="Line 87"/>
            <p:cNvSpPr>
              <a:spLocks noChangeShapeType="1"/>
            </p:cNvSpPr>
            <p:nvPr/>
          </p:nvSpPr>
          <p:spPr bwMode="auto">
            <a:xfrm flipV="1">
              <a:off x="2313" y="3180"/>
              <a:ext cx="3" cy="119"/>
            </a:xfrm>
            <a:prstGeom prst="line">
              <a:avLst/>
            </a:prstGeom>
            <a:noFill/>
            <a:ln w="1764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17" name="Freeform 88"/>
            <p:cNvSpPr>
              <a:spLocks noChangeArrowheads="1"/>
            </p:cNvSpPr>
            <p:nvPr/>
          </p:nvSpPr>
          <p:spPr bwMode="auto">
            <a:xfrm>
              <a:off x="1275" y="2263"/>
              <a:ext cx="933" cy="1319"/>
            </a:xfrm>
            <a:custGeom>
              <a:avLst/>
              <a:gdLst>
                <a:gd name="T0" fmla="*/ 456 w 1016"/>
                <a:gd name="T1" fmla="*/ 0 h 1198"/>
                <a:gd name="T2" fmla="*/ 0 w 1016"/>
                <a:gd name="T3" fmla="*/ 0 h 1198"/>
                <a:gd name="T4" fmla="*/ 0 w 1016"/>
                <a:gd name="T5" fmla="*/ 1198 h 1198"/>
                <a:gd name="T6" fmla="*/ 1016 w 1016"/>
                <a:gd name="T7" fmla="*/ 1198 h 11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16"/>
                <a:gd name="T13" fmla="*/ 0 h 1198"/>
                <a:gd name="T14" fmla="*/ 1016 w 1016"/>
                <a:gd name="T15" fmla="*/ 1198 h 11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16" h="1198">
                  <a:moveTo>
                    <a:pt x="456" y="0"/>
                  </a:moveTo>
                  <a:lnTo>
                    <a:pt x="0" y="0"/>
                  </a:lnTo>
                  <a:lnTo>
                    <a:pt x="0" y="1198"/>
                  </a:lnTo>
                  <a:lnTo>
                    <a:pt x="1016" y="1198"/>
                  </a:lnTo>
                </a:path>
              </a:pathLst>
            </a:custGeom>
            <a:noFill/>
            <a:ln w="3492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18" name="Line 89"/>
            <p:cNvSpPr>
              <a:spLocks noChangeShapeType="1"/>
            </p:cNvSpPr>
            <p:nvPr/>
          </p:nvSpPr>
          <p:spPr bwMode="auto">
            <a:xfrm flipH="1">
              <a:off x="2760" y="2488"/>
              <a:ext cx="718" cy="2"/>
            </a:xfrm>
            <a:prstGeom prst="line">
              <a:avLst/>
            </a:prstGeom>
            <a:noFill/>
            <a:ln w="3492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19" name="Line 90"/>
            <p:cNvSpPr>
              <a:spLocks noChangeShapeType="1"/>
            </p:cNvSpPr>
            <p:nvPr/>
          </p:nvSpPr>
          <p:spPr bwMode="auto">
            <a:xfrm flipH="1">
              <a:off x="2760" y="2765"/>
              <a:ext cx="418" cy="3"/>
            </a:xfrm>
            <a:prstGeom prst="line">
              <a:avLst/>
            </a:prstGeom>
            <a:noFill/>
            <a:ln w="3492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20" name="Freeform 91"/>
            <p:cNvSpPr>
              <a:spLocks noChangeArrowheads="1"/>
            </p:cNvSpPr>
            <p:nvPr/>
          </p:nvSpPr>
          <p:spPr bwMode="auto">
            <a:xfrm>
              <a:off x="2596" y="3098"/>
              <a:ext cx="343" cy="484"/>
            </a:xfrm>
            <a:custGeom>
              <a:avLst/>
              <a:gdLst>
                <a:gd name="T0" fmla="*/ 0 w 370"/>
                <a:gd name="T1" fmla="*/ 438 h 440"/>
                <a:gd name="T2" fmla="*/ 250 w 370"/>
                <a:gd name="T3" fmla="*/ 440 h 440"/>
                <a:gd name="T4" fmla="*/ 250 w 370"/>
                <a:gd name="T5" fmla="*/ 0 h 440"/>
                <a:gd name="T6" fmla="*/ 253 w 370"/>
                <a:gd name="T7" fmla="*/ 0 h 440"/>
                <a:gd name="T8" fmla="*/ 264 w 370"/>
                <a:gd name="T9" fmla="*/ 0 h 440"/>
                <a:gd name="T10" fmla="*/ 277 w 370"/>
                <a:gd name="T11" fmla="*/ 0 h 440"/>
                <a:gd name="T12" fmla="*/ 294 w 370"/>
                <a:gd name="T13" fmla="*/ 0 h 440"/>
                <a:gd name="T14" fmla="*/ 310 w 370"/>
                <a:gd name="T15" fmla="*/ 0 h 440"/>
                <a:gd name="T16" fmla="*/ 329 w 370"/>
                <a:gd name="T17" fmla="*/ 0 h 440"/>
                <a:gd name="T18" fmla="*/ 345 w 370"/>
                <a:gd name="T19" fmla="*/ 0 h 440"/>
                <a:gd name="T20" fmla="*/ 356 w 370"/>
                <a:gd name="T21" fmla="*/ 0 h 440"/>
                <a:gd name="T22" fmla="*/ 367 w 370"/>
                <a:gd name="T23" fmla="*/ 0 h 440"/>
                <a:gd name="T24" fmla="*/ 370 w 370"/>
                <a:gd name="T25" fmla="*/ 0 h 44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70"/>
                <a:gd name="T40" fmla="*/ 0 h 440"/>
                <a:gd name="T41" fmla="*/ 370 w 370"/>
                <a:gd name="T42" fmla="*/ 440 h 44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70" h="440">
                  <a:moveTo>
                    <a:pt x="0" y="438"/>
                  </a:moveTo>
                  <a:lnTo>
                    <a:pt x="250" y="440"/>
                  </a:lnTo>
                  <a:lnTo>
                    <a:pt x="250" y="0"/>
                  </a:lnTo>
                  <a:lnTo>
                    <a:pt x="253" y="0"/>
                  </a:lnTo>
                  <a:lnTo>
                    <a:pt x="264" y="0"/>
                  </a:lnTo>
                  <a:lnTo>
                    <a:pt x="277" y="0"/>
                  </a:lnTo>
                  <a:lnTo>
                    <a:pt x="294" y="0"/>
                  </a:lnTo>
                  <a:lnTo>
                    <a:pt x="310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56" y="0"/>
                  </a:lnTo>
                  <a:lnTo>
                    <a:pt x="367" y="0"/>
                  </a:lnTo>
                  <a:lnTo>
                    <a:pt x="370" y="0"/>
                  </a:lnTo>
                </a:path>
              </a:pathLst>
            </a:custGeom>
            <a:noFill/>
            <a:ln w="3492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21" name="Line 92"/>
            <p:cNvSpPr>
              <a:spLocks noChangeShapeType="1"/>
            </p:cNvSpPr>
            <p:nvPr/>
          </p:nvSpPr>
          <p:spPr bwMode="auto">
            <a:xfrm flipH="1" flipV="1">
              <a:off x="2077" y="3534"/>
              <a:ext cx="56" cy="94"/>
            </a:xfrm>
            <a:prstGeom prst="line">
              <a:avLst/>
            </a:prstGeom>
            <a:noFill/>
            <a:ln w="1764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22" name="Freeform 93"/>
            <p:cNvSpPr>
              <a:spLocks noChangeArrowheads="1"/>
            </p:cNvSpPr>
            <p:nvPr/>
          </p:nvSpPr>
          <p:spPr bwMode="auto">
            <a:xfrm>
              <a:off x="282" y="2242"/>
              <a:ext cx="153" cy="386"/>
            </a:xfrm>
            <a:custGeom>
              <a:avLst/>
              <a:gdLst>
                <a:gd name="T0" fmla="*/ 139 w 139"/>
                <a:gd name="T1" fmla="*/ 350 h 350"/>
                <a:gd name="T2" fmla="*/ 139 w 139"/>
                <a:gd name="T3" fmla="*/ 0 h 350"/>
                <a:gd name="T4" fmla="*/ 0 w 139"/>
                <a:gd name="T5" fmla="*/ 0 h 350"/>
                <a:gd name="T6" fmla="*/ 0 w 139"/>
                <a:gd name="T7" fmla="*/ 350 h 350"/>
                <a:gd name="T8" fmla="*/ 139 w 139"/>
                <a:gd name="T9" fmla="*/ 350 h 350"/>
                <a:gd name="T10" fmla="*/ 139 w 139"/>
                <a:gd name="T11" fmla="*/ 350 h 3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9"/>
                <a:gd name="T19" fmla="*/ 0 h 350"/>
                <a:gd name="T20" fmla="*/ 139 w 139"/>
                <a:gd name="T21" fmla="*/ 350 h 35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9" h="350">
                  <a:moveTo>
                    <a:pt x="139" y="350"/>
                  </a:moveTo>
                  <a:lnTo>
                    <a:pt x="139" y="0"/>
                  </a:lnTo>
                  <a:lnTo>
                    <a:pt x="0" y="0"/>
                  </a:lnTo>
                  <a:lnTo>
                    <a:pt x="0" y="350"/>
                  </a:lnTo>
                  <a:lnTo>
                    <a:pt x="139" y="3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23" name="Freeform 94"/>
            <p:cNvSpPr>
              <a:spLocks noChangeArrowheads="1"/>
            </p:cNvSpPr>
            <p:nvPr/>
          </p:nvSpPr>
          <p:spPr bwMode="auto">
            <a:xfrm>
              <a:off x="282" y="2242"/>
              <a:ext cx="153" cy="386"/>
            </a:xfrm>
            <a:custGeom>
              <a:avLst/>
              <a:gdLst>
                <a:gd name="T0" fmla="*/ 139 w 139"/>
                <a:gd name="T1" fmla="*/ 350 h 350"/>
                <a:gd name="T2" fmla="*/ 139 w 139"/>
                <a:gd name="T3" fmla="*/ 0 h 350"/>
                <a:gd name="T4" fmla="*/ 0 w 139"/>
                <a:gd name="T5" fmla="*/ 0 h 350"/>
                <a:gd name="T6" fmla="*/ 0 w 139"/>
                <a:gd name="T7" fmla="*/ 350 h 350"/>
                <a:gd name="T8" fmla="*/ 139 w 139"/>
                <a:gd name="T9" fmla="*/ 350 h 350"/>
                <a:gd name="T10" fmla="*/ 139 w 139"/>
                <a:gd name="T11" fmla="*/ 350 h 35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39"/>
                <a:gd name="T19" fmla="*/ 0 h 350"/>
                <a:gd name="T20" fmla="*/ 139 w 139"/>
                <a:gd name="T21" fmla="*/ 350 h 35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39" h="350">
                  <a:moveTo>
                    <a:pt x="139" y="350"/>
                  </a:moveTo>
                  <a:lnTo>
                    <a:pt x="139" y="0"/>
                  </a:lnTo>
                  <a:lnTo>
                    <a:pt x="0" y="0"/>
                  </a:lnTo>
                  <a:lnTo>
                    <a:pt x="0" y="350"/>
                  </a:lnTo>
                  <a:lnTo>
                    <a:pt x="139" y="350"/>
                  </a:lnTo>
                </a:path>
              </a:pathLst>
            </a:custGeom>
            <a:noFill/>
            <a:ln w="176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24" name="Rectangle 95"/>
            <p:cNvSpPr>
              <a:spLocks noChangeArrowheads="1"/>
            </p:cNvSpPr>
            <p:nvPr/>
          </p:nvSpPr>
          <p:spPr bwMode="auto">
            <a:xfrm>
              <a:off x="300" y="2366"/>
              <a:ext cx="5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69725" name="Rectangle 96"/>
            <p:cNvSpPr>
              <a:spLocks noChangeArrowheads="1"/>
            </p:cNvSpPr>
            <p:nvPr/>
          </p:nvSpPr>
          <p:spPr bwMode="auto">
            <a:xfrm>
              <a:off x="366" y="2366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69726" name="Freeform 97"/>
            <p:cNvSpPr>
              <a:spLocks noChangeArrowheads="1"/>
            </p:cNvSpPr>
            <p:nvPr/>
          </p:nvSpPr>
          <p:spPr bwMode="auto">
            <a:xfrm>
              <a:off x="581" y="2164"/>
              <a:ext cx="631" cy="982"/>
            </a:xfrm>
            <a:custGeom>
              <a:avLst/>
              <a:gdLst>
                <a:gd name="T0" fmla="*/ 573 w 573"/>
                <a:gd name="T1" fmla="*/ 889 h 892"/>
                <a:gd name="T2" fmla="*/ 573 w 573"/>
                <a:gd name="T3" fmla="*/ 0 h 892"/>
                <a:gd name="T4" fmla="*/ 0 w 573"/>
                <a:gd name="T5" fmla="*/ 0 h 892"/>
                <a:gd name="T6" fmla="*/ 0 w 573"/>
                <a:gd name="T7" fmla="*/ 892 h 892"/>
                <a:gd name="T8" fmla="*/ 573 w 573"/>
                <a:gd name="T9" fmla="*/ 892 h 892"/>
                <a:gd name="T10" fmla="*/ 573 w 573"/>
                <a:gd name="T11" fmla="*/ 892 h 892"/>
                <a:gd name="T12" fmla="*/ 573 w 573"/>
                <a:gd name="T13" fmla="*/ 889 h 8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73"/>
                <a:gd name="T22" fmla="*/ 0 h 892"/>
                <a:gd name="T23" fmla="*/ 573 w 573"/>
                <a:gd name="T24" fmla="*/ 892 h 89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73" h="892">
                  <a:moveTo>
                    <a:pt x="573" y="889"/>
                  </a:moveTo>
                  <a:lnTo>
                    <a:pt x="573" y="0"/>
                  </a:lnTo>
                  <a:lnTo>
                    <a:pt x="0" y="0"/>
                  </a:lnTo>
                  <a:lnTo>
                    <a:pt x="0" y="892"/>
                  </a:lnTo>
                  <a:lnTo>
                    <a:pt x="573" y="892"/>
                  </a:lnTo>
                  <a:lnTo>
                    <a:pt x="573" y="88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27" name="Freeform 98"/>
            <p:cNvSpPr>
              <a:spLocks noChangeArrowheads="1"/>
            </p:cNvSpPr>
            <p:nvPr/>
          </p:nvSpPr>
          <p:spPr bwMode="auto">
            <a:xfrm>
              <a:off x="581" y="2164"/>
              <a:ext cx="631" cy="982"/>
            </a:xfrm>
            <a:custGeom>
              <a:avLst/>
              <a:gdLst>
                <a:gd name="T0" fmla="*/ 573 w 573"/>
                <a:gd name="T1" fmla="*/ 889 h 892"/>
                <a:gd name="T2" fmla="*/ 573 w 573"/>
                <a:gd name="T3" fmla="*/ 0 h 892"/>
                <a:gd name="T4" fmla="*/ 0 w 573"/>
                <a:gd name="T5" fmla="*/ 0 h 892"/>
                <a:gd name="T6" fmla="*/ 0 w 573"/>
                <a:gd name="T7" fmla="*/ 892 h 892"/>
                <a:gd name="T8" fmla="*/ 573 w 573"/>
                <a:gd name="T9" fmla="*/ 892 h 892"/>
                <a:gd name="T10" fmla="*/ 573 w 573"/>
                <a:gd name="T11" fmla="*/ 892 h 8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73"/>
                <a:gd name="T19" fmla="*/ 0 h 892"/>
                <a:gd name="T20" fmla="*/ 573 w 573"/>
                <a:gd name="T21" fmla="*/ 892 h 89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73" h="892">
                  <a:moveTo>
                    <a:pt x="573" y="889"/>
                  </a:moveTo>
                  <a:lnTo>
                    <a:pt x="573" y="0"/>
                  </a:lnTo>
                  <a:lnTo>
                    <a:pt x="0" y="0"/>
                  </a:lnTo>
                  <a:lnTo>
                    <a:pt x="0" y="892"/>
                  </a:lnTo>
                  <a:lnTo>
                    <a:pt x="573" y="892"/>
                  </a:lnTo>
                </a:path>
              </a:pathLst>
            </a:custGeom>
            <a:noFill/>
            <a:ln w="1764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28" name="Rectangle 99"/>
            <p:cNvSpPr>
              <a:spLocks noChangeArrowheads="1"/>
            </p:cNvSpPr>
            <p:nvPr/>
          </p:nvSpPr>
          <p:spPr bwMode="auto">
            <a:xfrm>
              <a:off x="678" y="2900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9729" name="Rectangle 100"/>
            <p:cNvSpPr>
              <a:spLocks noChangeArrowheads="1"/>
            </p:cNvSpPr>
            <p:nvPr/>
          </p:nvSpPr>
          <p:spPr bwMode="auto">
            <a:xfrm>
              <a:off x="709" y="290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69730" name="Rectangle 101"/>
            <p:cNvSpPr>
              <a:spLocks noChangeArrowheads="1"/>
            </p:cNvSpPr>
            <p:nvPr/>
          </p:nvSpPr>
          <p:spPr bwMode="auto">
            <a:xfrm>
              <a:off x="763" y="2900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9731" name="Rectangle 102"/>
            <p:cNvSpPr>
              <a:spLocks noChangeArrowheads="1"/>
            </p:cNvSpPr>
            <p:nvPr/>
          </p:nvSpPr>
          <p:spPr bwMode="auto">
            <a:xfrm>
              <a:off x="814" y="2900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732" name="Rectangle 103"/>
            <p:cNvSpPr>
              <a:spLocks noChangeArrowheads="1"/>
            </p:cNvSpPr>
            <p:nvPr/>
          </p:nvSpPr>
          <p:spPr bwMode="auto">
            <a:xfrm>
              <a:off x="840" y="2900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733" name="Rectangle 104"/>
            <p:cNvSpPr>
              <a:spLocks noChangeArrowheads="1"/>
            </p:cNvSpPr>
            <p:nvPr/>
          </p:nvSpPr>
          <p:spPr bwMode="auto">
            <a:xfrm>
              <a:off x="874" y="290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69734" name="Rectangle 105"/>
            <p:cNvSpPr>
              <a:spLocks noChangeArrowheads="1"/>
            </p:cNvSpPr>
            <p:nvPr/>
          </p:nvSpPr>
          <p:spPr bwMode="auto">
            <a:xfrm>
              <a:off x="931" y="2900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69735" name="Rectangle 106"/>
            <p:cNvSpPr>
              <a:spLocks noChangeArrowheads="1"/>
            </p:cNvSpPr>
            <p:nvPr/>
          </p:nvSpPr>
          <p:spPr bwMode="auto">
            <a:xfrm>
              <a:off x="978" y="2900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736" name="Rectangle 107"/>
            <p:cNvSpPr>
              <a:spLocks noChangeArrowheads="1"/>
            </p:cNvSpPr>
            <p:nvPr/>
          </p:nvSpPr>
          <p:spPr bwMode="auto">
            <a:xfrm>
              <a:off x="1009" y="2900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9737" name="Rectangle 108"/>
            <p:cNvSpPr>
              <a:spLocks noChangeArrowheads="1"/>
            </p:cNvSpPr>
            <p:nvPr/>
          </p:nvSpPr>
          <p:spPr bwMode="auto">
            <a:xfrm>
              <a:off x="1029" y="290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69738" name="Rectangle 109"/>
            <p:cNvSpPr>
              <a:spLocks noChangeArrowheads="1"/>
            </p:cNvSpPr>
            <p:nvPr/>
          </p:nvSpPr>
          <p:spPr bwMode="auto">
            <a:xfrm>
              <a:off x="1087" y="290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69739" name="Rectangle 110"/>
            <p:cNvSpPr>
              <a:spLocks noChangeArrowheads="1"/>
            </p:cNvSpPr>
            <p:nvPr/>
          </p:nvSpPr>
          <p:spPr bwMode="auto">
            <a:xfrm>
              <a:off x="1141" y="290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40" name="Rectangle 111"/>
            <p:cNvSpPr>
              <a:spLocks noChangeArrowheads="1"/>
            </p:cNvSpPr>
            <p:nvPr/>
          </p:nvSpPr>
          <p:spPr bwMode="auto">
            <a:xfrm>
              <a:off x="744" y="3014"/>
              <a:ext cx="7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69741" name="Rectangle 112"/>
            <p:cNvSpPr>
              <a:spLocks noChangeArrowheads="1"/>
            </p:cNvSpPr>
            <p:nvPr/>
          </p:nvSpPr>
          <p:spPr bwMode="auto">
            <a:xfrm>
              <a:off x="829" y="301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742" name="Rectangle 113"/>
            <p:cNvSpPr>
              <a:spLocks noChangeArrowheads="1"/>
            </p:cNvSpPr>
            <p:nvPr/>
          </p:nvSpPr>
          <p:spPr bwMode="auto">
            <a:xfrm>
              <a:off x="885" y="3014"/>
              <a:ext cx="7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69743" name="Rectangle 114"/>
            <p:cNvSpPr>
              <a:spLocks noChangeArrowheads="1"/>
            </p:cNvSpPr>
            <p:nvPr/>
          </p:nvSpPr>
          <p:spPr bwMode="auto">
            <a:xfrm>
              <a:off x="967" y="301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69744" name="Rectangle 115"/>
            <p:cNvSpPr>
              <a:spLocks noChangeArrowheads="1"/>
            </p:cNvSpPr>
            <p:nvPr/>
          </p:nvSpPr>
          <p:spPr bwMode="auto">
            <a:xfrm>
              <a:off x="1023" y="3014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745" name="Rectangle 116"/>
            <p:cNvSpPr>
              <a:spLocks noChangeArrowheads="1"/>
            </p:cNvSpPr>
            <p:nvPr/>
          </p:nvSpPr>
          <p:spPr bwMode="auto">
            <a:xfrm>
              <a:off x="1057" y="3014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69746" name="Rectangle 117"/>
            <p:cNvSpPr>
              <a:spLocks noChangeArrowheads="1"/>
            </p:cNvSpPr>
            <p:nvPr/>
          </p:nvSpPr>
          <p:spPr bwMode="auto">
            <a:xfrm>
              <a:off x="611" y="2329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747" name="Rectangle 118"/>
            <p:cNvSpPr>
              <a:spLocks noChangeArrowheads="1"/>
            </p:cNvSpPr>
            <p:nvPr/>
          </p:nvSpPr>
          <p:spPr bwMode="auto">
            <a:xfrm>
              <a:off x="683" y="232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748" name="Rectangle 119"/>
            <p:cNvSpPr>
              <a:spLocks noChangeArrowheads="1"/>
            </p:cNvSpPr>
            <p:nvPr/>
          </p:nvSpPr>
          <p:spPr bwMode="auto">
            <a:xfrm>
              <a:off x="740" y="232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749" name="Rectangle 120"/>
            <p:cNvSpPr>
              <a:spLocks noChangeArrowheads="1"/>
            </p:cNvSpPr>
            <p:nvPr/>
          </p:nvSpPr>
          <p:spPr bwMode="auto">
            <a:xfrm>
              <a:off x="794" y="232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750" name="Rectangle 121"/>
            <p:cNvSpPr>
              <a:spLocks noChangeArrowheads="1"/>
            </p:cNvSpPr>
            <p:nvPr/>
          </p:nvSpPr>
          <p:spPr bwMode="auto">
            <a:xfrm>
              <a:off x="850" y="232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51" name="Rectangle 122"/>
            <p:cNvSpPr>
              <a:spLocks noChangeArrowheads="1"/>
            </p:cNvSpPr>
            <p:nvPr/>
          </p:nvSpPr>
          <p:spPr bwMode="auto">
            <a:xfrm>
              <a:off x="611" y="243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752" name="Rectangle 123"/>
            <p:cNvSpPr>
              <a:spLocks noChangeArrowheads="1"/>
            </p:cNvSpPr>
            <p:nvPr/>
          </p:nvSpPr>
          <p:spPr bwMode="auto">
            <a:xfrm>
              <a:off x="667" y="243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753" name="Rectangle 124"/>
            <p:cNvSpPr>
              <a:spLocks noChangeArrowheads="1"/>
            </p:cNvSpPr>
            <p:nvPr/>
          </p:nvSpPr>
          <p:spPr bwMode="auto">
            <a:xfrm>
              <a:off x="721" y="243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754" name="Rectangle 125"/>
            <p:cNvSpPr>
              <a:spLocks noChangeArrowheads="1"/>
            </p:cNvSpPr>
            <p:nvPr/>
          </p:nvSpPr>
          <p:spPr bwMode="auto">
            <a:xfrm>
              <a:off x="778" y="2439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755" name="Rectangle 126"/>
            <p:cNvSpPr>
              <a:spLocks noChangeArrowheads="1"/>
            </p:cNvSpPr>
            <p:nvPr/>
          </p:nvSpPr>
          <p:spPr bwMode="auto">
            <a:xfrm>
              <a:off x="812" y="243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756" name="Rectangle 127"/>
            <p:cNvSpPr>
              <a:spLocks noChangeArrowheads="1"/>
            </p:cNvSpPr>
            <p:nvPr/>
          </p:nvSpPr>
          <p:spPr bwMode="auto">
            <a:xfrm>
              <a:off x="865" y="2439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9757" name="Rectangle 128"/>
            <p:cNvSpPr>
              <a:spLocks noChangeArrowheads="1"/>
            </p:cNvSpPr>
            <p:nvPr/>
          </p:nvSpPr>
          <p:spPr bwMode="auto">
            <a:xfrm>
              <a:off x="916" y="2439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9758" name="Rectangle 129"/>
            <p:cNvSpPr>
              <a:spLocks noChangeArrowheads="1"/>
            </p:cNvSpPr>
            <p:nvPr/>
          </p:nvSpPr>
          <p:spPr bwMode="auto">
            <a:xfrm>
              <a:off x="724" y="2598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9759" name="Rectangle 130"/>
            <p:cNvSpPr>
              <a:spLocks noChangeArrowheads="1"/>
            </p:cNvSpPr>
            <p:nvPr/>
          </p:nvSpPr>
          <p:spPr bwMode="auto">
            <a:xfrm>
              <a:off x="751" y="259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69760" name="Rectangle 131"/>
            <p:cNvSpPr>
              <a:spLocks noChangeArrowheads="1"/>
            </p:cNvSpPr>
            <p:nvPr/>
          </p:nvSpPr>
          <p:spPr bwMode="auto">
            <a:xfrm>
              <a:off x="808" y="2598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9761" name="Rectangle 132"/>
            <p:cNvSpPr>
              <a:spLocks noChangeArrowheads="1"/>
            </p:cNvSpPr>
            <p:nvPr/>
          </p:nvSpPr>
          <p:spPr bwMode="auto">
            <a:xfrm>
              <a:off x="858" y="2598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762" name="Rectangle 133"/>
            <p:cNvSpPr>
              <a:spLocks noChangeArrowheads="1"/>
            </p:cNvSpPr>
            <p:nvPr/>
          </p:nvSpPr>
          <p:spPr bwMode="auto">
            <a:xfrm>
              <a:off x="886" y="2598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763" name="Rectangle 134"/>
            <p:cNvSpPr>
              <a:spLocks noChangeArrowheads="1"/>
            </p:cNvSpPr>
            <p:nvPr/>
          </p:nvSpPr>
          <p:spPr bwMode="auto">
            <a:xfrm>
              <a:off x="919" y="259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69764" name="Rectangle 135"/>
            <p:cNvSpPr>
              <a:spLocks noChangeArrowheads="1"/>
            </p:cNvSpPr>
            <p:nvPr/>
          </p:nvSpPr>
          <p:spPr bwMode="auto">
            <a:xfrm>
              <a:off x="976" y="2598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69765" name="Rectangle 136"/>
            <p:cNvSpPr>
              <a:spLocks noChangeArrowheads="1"/>
            </p:cNvSpPr>
            <p:nvPr/>
          </p:nvSpPr>
          <p:spPr bwMode="auto">
            <a:xfrm>
              <a:off x="1023" y="2598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766" name="Rectangle 137"/>
            <p:cNvSpPr>
              <a:spLocks noChangeArrowheads="1"/>
            </p:cNvSpPr>
            <p:nvPr/>
          </p:nvSpPr>
          <p:spPr bwMode="auto">
            <a:xfrm>
              <a:off x="1050" y="2598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9767" name="Rectangle 138"/>
            <p:cNvSpPr>
              <a:spLocks noChangeArrowheads="1"/>
            </p:cNvSpPr>
            <p:nvPr/>
          </p:nvSpPr>
          <p:spPr bwMode="auto">
            <a:xfrm>
              <a:off x="1075" y="259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69768" name="Rectangle 139"/>
            <p:cNvSpPr>
              <a:spLocks noChangeArrowheads="1"/>
            </p:cNvSpPr>
            <p:nvPr/>
          </p:nvSpPr>
          <p:spPr bwMode="auto">
            <a:xfrm>
              <a:off x="1129" y="259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69769" name="Line 140"/>
            <p:cNvSpPr>
              <a:spLocks noChangeShapeType="1"/>
            </p:cNvSpPr>
            <p:nvPr/>
          </p:nvSpPr>
          <p:spPr bwMode="auto">
            <a:xfrm flipH="1">
              <a:off x="5063" y="2772"/>
              <a:ext cx="158" cy="1"/>
            </a:xfrm>
            <a:prstGeom prst="line">
              <a:avLst/>
            </a:prstGeom>
            <a:noFill/>
            <a:ln w="3492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70" name="Freeform 141"/>
            <p:cNvSpPr>
              <a:spLocks noChangeArrowheads="1"/>
            </p:cNvSpPr>
            <p:nvPr/>
          </p:nvSpPr>
          <p:spPr bwMode="auto">
            <a:xfrm>
              <a:off x="4230" y="2406"/>
              <a:ext cx="832" cy="996"/>
            </a:xfrm>
            <a:custGeom>
              <a:avLst/>
              <a:gdLst>
                <a:gd name="T0" fmla="*/ 753 w 756"/>
                <a:gd name="T1" fmla="*/ 905 h 905"/>
                <a:gd name="T2" fmla="*/ 756 w 756"/>
                <a:gd name="T3" fmla="*/ 0 h 905"/>
                <a:gd name="T4" fmla="*/ 0 w 756"/>
                <a:gd name="T5" fmla="*/ 0 h 905"/>
                <a:gd name="T6" fmla="*/ 0 w 756"/>
                <a:gd name="T7" fmla="*/ 905 h 905"/>
                <a:gd name="T8" fmla="*/ 756 w 756"/>
                <a:gd name="T9" fmla="*/ 905 h 905"/>
                <a:gd name="T10" fmla="*/ 756 w 756"/>
                <a:gd name="T11" fmla="*/ 905 h 905"/>
                <a:gd name="T12" fmla="*/ 753 w 756"/>
                <a:gd name="T13" fmla="*/ 905 h 9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56"/>
                <a:gd name="T22" fmla="*/ 0 h 905"/>
                <a:gd name="T23" fmla="*/ 756 w 756"/>
                <a:gd name="T24" fmla="*/ 905 h 90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56" h="905">
                  <a:moveTo>
                    <a:pt x="753" y="905"/>
                  </a:moveTo>
                  <a:lnTo>
                    <a:pt x="756" y="0"/>
                  </a:lnTo>
                  <a:lnTo>
                    <a:pt x="0" y="0"/>
                  </a:lnTo>
                  <a:lnTo>
                    <a:pt x="0" y="905"/>
                  </a:lnTo>
                  <a:lnTo>
                    <a:pt x="756" y="905"/>
                  </a:lnTo>
                  <a:lnTo>
                    <a:pt x="753" y="9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71" name="Freeform 142"/>
            <p:cNvSpPr>
              <a:spLocks noChangeArrowheads="1"/>
            </p:cNvSpPr>
            <p:nvPr/>
          </p:nvSpPr>
          <p:spPr bwMode="auto">
            <a:xfrm>
              <a:off x="4230" y="2406"/>
              <a:ext cx="832" cy="996"/>
            </a:xfrm>
            <a:custGeom>
              <a:avLst/>
              <a:gdLst>
                <a:gd name="T0" fmla="*/ 753 w 756"/>
                <a:gd name="T1" fmla="*/ 905 h 905"/>
                <a:gd name="T2" fmla="*/ 756 w 756"/>
                <a:gd name="T3" fmla="*/ 0 h 905"/>
                <a:gd name="T4" fmla="*/ 0 w 756"/>
                <a:gd name="T5" fmla="*/ 0 h 905"/>
                <a:gd name="T6" fmla="*/ 0 w 756"/>
                <a:gd name="T7" fmla="*/ 905 h 905"/>
                <a:gd name="T8" fmla="*/ 756 w 756"/>
                <a:gd name="T9" fmla="*/ 905 h 905"/>
                <a:gd name="T10" fmla="*/ 756 w 756"/>
                <a:gd name="T11" fmla="*/ 905 h 9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56"/>
                <a:gd name="T19" fmla="*/ 0 h 905"/>
                <a:gd name="T20" fmla="*/ 756 w 756"/>
                <a:gd name="T21" fmla="*/ 905 h 9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56" h="905">
                  <a:moveTo>
                    <a:pt x="753" y="905"/>
                  </a:moveTo>
                  <a:lnTo>
                    <a:pt x="756" y="0"/>
                  </a:lnTo>
                  <a:lnTo>
                    <a:pt x="0" y="0"/>
                  </a:lnTo>
                  <a:lnTo>
                    <a:pt x="0" y="905"/>
                  </a:lnTo>
                  <a:lnTo>
                    <a:pt x="756" y="905"/>
                  </a:lnTo>
                </a:path>
              </a:pathLst>
            </a:custGeom>
            <a:noFill/>
            <a:ln w="1764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72" name="Line 143"/>
            <p:cNvSpPr>
              <a:spLocks noChangeShapeType="1"/>
            </p:cNvSpPr>
            <p:nvPr/>
          </p:nvSpPr>
          <p:spPr bwMode="auto">
            <a:xfrm flipH="1">
              <a:off x="3340" y="2930"/>
              <a:ext cx="140" cy="4"/>
            </a:xfrm>
            <a:prstGeom prst="line">
              <a:avLst/>
            </a:prstGeom>
            <a:noFill/>
            <a:ln w="3492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73" name="Freeform 144"/>
            <p:cNvSpPr>
              <a:spLocks noChangeArrowheads="1"/>
            </p:cNvSpPr>
            <p:nvPr/>
          </p:nvSpPr>
          <p:spPr bwMode="auto">
            <a:xfrm>
              <a:off x="3024" y="2768"/>
              <a:ext cx="1155" cy="452"/>
            </a:xfrm>
            <a:custGeom>
              <a:avLst/>
              <a:gdLst>
                <a:gd name="T0" fmla="*/ 1187 w 1187"/>
                <a:gd name="T1" fmla="*/ 410 h 410"/>
                <a:gd name="T2" fmla="*/ 0 w 1187"/>
                <a:gd name="T3" fmla="*/ 410 h 410"/>
                <a:gd name="T4" fmla="*/ 0 w 1187"/>
                <a:gd name="T5" fmla="*/ 0 h 410"/>
                <a:gd name="T6" fmla="*/ 0 60000 65536"/>
                <a:gd name="T7" fmla="*/ 0 60000 65536"/>
                <a:gd name="T8" fmla="*/ 0 60000 65536"/>
                <a:gd name="T9" fmla="*/ 0 w 1187"/>
                <a:gd name="T10" fmla="*/ 0 h 410"/>
                <a:gd name="T11" fmla="*/ 1187 w 1187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87" h="410">
                  <a:moveTo>
                    <a:pt x="1187" y="410"/>
                  </a:moveTo>
                  <a:lnTo>
                    <a:pt x="0" y="410"/>
                  </a:lnTo>
                  <a:lnTo>
                    <a:pt x="0" y="0"/>
                  </a:lnTo>
                </a:path>
              </a:pathLst>
            </a:custGeom>
            <a:noFill/>
            <a:ln w="3492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74" name="Line 145"/>
            <p:cNvSpPr>
              <a:spLocks noChangeShapeType="1"/>
            </p:cNvSpPr>
            <p:nvPr/>
          </p:nvSpPr>
          <p:spPr bwMode="auto">
            <a:xfrm>
              <a:off x="435" y="2434"/>
              <a:ext cx="95" cy="1"/>
            </a:xfrm>
            <a:prstGeom prst="line">
              <a:avLst/>
            </a:prstGeom>
            <a:noFill/>
            <a:ln w="3492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775" name="Freeform 146"/>
            <p:cNvSpPr>
              <a:spLocks noChangeArrowheads="1"/>
            </p:cNvSpPr>
            <p:nvPr/>
          </p:nvSpPr>
          <p:spPr bwMode="auto">
            <a:xfrm>
              <a:off x="2256" y="3264"/>
              <a:ext cx="399" cy="585"/>
            </a:xfrm>
            <a:custGeom>
              <a:avLst/>
              <a:gdLst>
                <a:gd name="T0" fmla="*/ 180 w 362"/>
                <a:gd name="T1" fmla="*/ 532 h 532"/>
                <a:gd name="T2" fmla="*/ 212 w 362"/>
                <a:gd name="T3" fmla="*/ 529 h 532"/>
                <a:gd name="T4" fmla="*/ 239 w 362"/>
                <a:gd name="T5" fmla="*/ 519 h 532"/>
                <a:gd name="T6" fmla="*/ 264 w 362"/>
                <a:gd name="T7" fmla="*/ 502 h 532"/>
                <a:gd name="T8" fmla="*/ 288 w 362"/>
                <a:gd name="T9" fmla="*/ 481 h 532"/>
                <a:gd name="T10" fmla="*/ 310 w 362"/>
                <a:gd name="T11" fmla="*/ 456 h 532"/>
                <a:gd name="T12" fmla="*/ 329 w 362"/>
                <a:gd name="T13" fmla="*/ 423 h 532"/>
                <a:gd name="T14" fmla="*/ 343 w 362"/>
                <a:gd name="T15" fmla="*/ 388 h 532"/>
                <a:gd name="T16" fmla="*/ 354 w 362"/>
                <a:gd name="T17" fmla="*/ 350 h 532"/>
                <a:gd name="T18" fmla="*/ 362 w 362"/>
                <a:gd name="T19" fmla="*/ 309 h 532"/>
                <a:gd name="T20" fmla="*/ 362 w 362"/>
                <a:gd name="T21" fmla="*/ 266 h 532"/>
                <a:gd name="T22" fmla="*/ 362 w 362"/>
                <a:gd name="T23" fmla="*/ 222 h 532"/>
                <a:gd name="T24" fmla="*/ 354 w 362"/>
                <a:gd name="T25" fmla="*/ 182 h 532"/>
                <a:gd name="T26" fmla="*/ 343 w 362"/>
                <a:gd name="T27" fmla="*/ 144 h 532"/>
                <a:gd name="T28" fmla="*/ 329 w 362"/>
                <a:gd name="T29" fmla="*/ 108 h 532"/>
                <a:gd name="T30" fmla="*/ 310 w 362"/>
                <a:gd name="T31" fmla="*/ 78 h 532"/>
                <a:gd name="T32" fmla="*/ 288 w 362"/>
                <a:gd name="T33" fmla="*/ 51 h 532"/>
                <a:gd name="T34" fmla="*/ 264 w 362"/>
                <a:gd name="T35" fmla="*/ 29 h 532"/>
                <a:gd name="T36" fmla="*/ 239 w 362"/>
                <a:gd name="T37" fmla="*/ 13 h 532"/>
                <a:gd name="T38" fmla="*/ 212 w 362"/>
                <a:gd name="T39" fmla="*/ 2 h 532"/>
                <a:gd name="T40" fmla="*/ 182 w 362"/>
                <a:gd name="T41" fmla="*/ 0 h 532"/>
                <a:gd name="T42" fmla="*/ 152 w 362"/>
                <a:gd name="T43" fmla="*/ 2 h 532"/>
                <a:gd name="T44" fmla="*/ 125 w 362"/>
                <a:gd name="T45" fmla="*/ 13 h 532"/>
                <a:gd name="T46" fmla="*/ 98 w 362"/>
                <a:gd name="T47" fmla="*/ 29 h 532"/>
                <a:gd name="T48" fmla="*/ 74 w 362"/>
                <a:gd name="T49" fmla="*/ 51 h 532"/>
                <a:gd name="T50" fmla="*/ 55 w 362"/>
                <a:gd name="T51" fmla="*/ 78 h 532"/>
                <a:gd name="T52" fmla="*/ 36 w 362"/>
                <a:gd name="T53" fmla="*/ 108 h 532"/>
                <a:gd name="T54" fmla="*/ 22 w 362"/>
                <a:gd name="T55" fmla="*/ 144 h 532"/>
                <a:gd name="T56" fmla="*/ 11 w 362"/>
                <a:gd name="T57" fmla="*/ 182 h 532"/>
                <a:gd name="T58" fmla="*/ 3 w 362"/>
                <a:gd name="T59" fmla="*/ 222 h 532"/>
                <a:gd name="T60" fmla="*/ 0 w 362"/>
                <a:gd name="T61" fmla="*/ 266 h 532"/>
                <a:gd name="T62" fmla="*/ 3 w 362"/>
                <a:gd name="T63" fmla="*/ 309 h 532"/>
                <a:gd name="T64" fmla="*/ 11 w 362"/>
                <a:gd name="T65" fmla="*/ 350 h 532"/>
                <a:gd name="T66" fmla="*/ 22 w 362"/>
                <a:gd name="T67" fmla="*/ 388 h 532"/>
                <a:gd name="T68" fmla="*/ 36 w 362"/>
                <a:gd name="T69" fmla="*/ 423 h 532"/>
                <a:gd name="T70" fmla="*/ 55 w 362"/>
                <a:gd name="T71" fmla="*/ 456 h 532"/>
                <a:gd name="T72" fmla="*/ 74 w 362"/>
                <a:gd name="T73" fmla="*/ 481 h 532"/>
                <a:gd name="T74" fmla="*/ 98 w 362"/>
                <a:gd name="T75" fmla="*/ 502 h 532"/>
                <a:gd name="T76" fmla="*/ 125 w 362"/>
                <a:gd name="T77" fmla="*/ 519 h 532"/>
                <a:gd name="T78" fmla="*/ 152 w 362"/>
                <a:gd name="T79" fmla="*/ 529 h 532"/>
                <a:gd name="T80" fmla="*/ 182 w 362"/>
                <a:gd name="T81" fmla="*/ 532 h 532"/>
                <a:gd name="T82" fmla="*/ 182 w 362"/>
                <a:gd name="T83" fmla="*/ 532 h 53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62"/>
                <a:gd name="T127" fmla="*/ 0 h 532"/>
                <a:gd name="T128" fmla="*/ 362 w 362"/>
                <a:gd name="T129" fmla="*/ 532 h 532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62" h="532">
                  <a:moveTo>
                    <a:pt x="180" y="532"/>
                  </a:moveTo>
                  <a:lnTo>
                    <a:pt x="212" y="529"/>
                  </a:lnTo>
                  <a:lnTo>
                    <a:pt x="239" y="519"/>
                  </a:lnTo>
                  <a:lnTo>
                    <a:pt x="264" y="502"/>
                  </a:lnTo>
                  <a:lnTo>
                    <a:pt x="288" y="481"/>
                  </a:lnTo>
                  <a:lnTo>
                    <a:pt x="310" y="456"/>
                  </a:lnTo>
                  <a:lnTo>
                    <a:pt x="329" y="423"/>
                  </a:lnTo>
                  <a:lnTo>
                    <a:pt x="343" y="388"/>
                  </a:lnTo>
                  <a:lnTo>
                    <a:pt x="354" y="350"/>
                  </a:lnTo>
                  <a:lnTo>
                    <a:pt x="362" y="309"/>
                  </a:lnTo>
                  <a:lnTo>
                    <a:pt x="362" y="266"/>
                  </a:lnTo>
                  <a:lnTo>
                    <a:pt x="362" y="222"/>
                  </a:lnTo>
                  <a:lnTo>
                    <a:pt x="354" y="182"/>
                  </a:lnTo>
                  <a:lnTo>
                    <a:pt x="343" y="144"/>
                  </a:lnTo>
                  <a:lnTo>
                    <a:pt x="329" y="108"/>
                  </a:lnTo>
                  <a:lnTo>
                    <a:pt x="310" y="78"/>
                  </a:lnTo>
                  <a:lnTo>
                    <a:pt x="288" y="51"/>
                  </a:lnTo>
                  <a:lnTo>
                    <a:pt x="264" y="29"/>
                  </a:lnTo>
                  <a:lnTo>
                    <a:pt x="239" y="13"/>
                  </a:lnTo>
                  <a:lnTo>
                    <a:pt x="212" y="2"/>
                  </a:lnTo>
                  <a:lnTo>
                    <a:pt x="182" y="0"/>
                  </a:lnTo>
                  <a:lnTo>
                    <a:pt x="152" y="2"/>
                  </a:lnTo>
                  <a:lnTo>
                    <a:pt x="125" y="13"/>
                  </a:lnTo>
                  <a:lnTo>
                    <a:pt x="98" y="29"/>
                  </a:lnTo>
                  <a:lnTo>
                    <a:pt x="74" y="51"/>
                  </a:lnTo>
                  <a:lnTo>
                    <a:pt x="55" y="78"/>
                  </a:lnTo>
                  <a:lnTo>
                    <a:pt x="36" y="108"/>
                  </a:lnTo>
                  <a:lnTo>
                    <a:pt x="22" y="144"/>
                  </a:lnTo>
                  <a:lnTo>
                    <a:pt x="11" y="182"/>
                  </a:lnTo>
                  <a:lnTo>
                    <a:pt x="3" y="222"/>
                  </a:lnTo>
                  <a:lnTo>
                    <a:pt x="0" y="266"/>
                  </a:lnTo>
                  <a:lnTo>
                    <a:pt x="3" y="309"/>
                  </a:lnTo>
                  <a:lnTo>
                    <a:pt x="11" y="350"/>
                  </a:lnTo>
                  <a:lnTo>
                    <a:pt x="22" y="388"/>
                  </a:lnTo>
                  <a:lnTo>
                    <a:pt x="36" y="423"/>
                  </a:lnTo>
                  <a:lnTo>
                    <a:pt x="55" y="456"/>
                  </a:lnTo>
                  <a:lnTo>
                    <a:pt x="74" y="481"/>
                  </a:lnTo>
                  <a:lnTo>
                    <a:pt x="98" y="502"/>
                  </a:lnTo>
                  <a:lnTo>
                    <a:pt x="125" y="519"/>
                  </a:lnTo>
                  <a:lnTo>
                    <a:pt x="152" y="529"/>
                  </a:lnTo>
                  <a:lnTo>
                    <a:pt x="182" y="532"/>
                  </a:lnTo>
                </a:path>
              </a:pathLst>
            </a:custGeom>
            <a:solidFill>
              <a:srgbClr val="FFFFFF"/>
            </a:solidFill>
            <a:ln w="17640">
              <a:solidFill>
                <a:srgbClr val="6666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69776" name="Group 147"/>
            <p:cNvGrpSpPr>
              <a:grpSpLocks/>
            </p:cNvGrpSpPr>
            <p:nvPr/>
          </p:nvGrpSpPr>
          <p:grpSpPr bwMode="auto">
            <a:xfrm>
              <a:off x="2044" y="3412"/>
              <a:ext cx="103" cy="105"/>
              <a:chOff x="2044" y="3412"/>
              <a:chExt cx="103" cy="105"/>
            </a:xfrm>
          </p:grpSpPr>
          <p:sp>
            <p:nvSpPr>
              <p:cNvPr id="70053" name="Rectangle 148"/>
              <p:cNvSpPr>
                <a:spLocks noChangeArrowheads="1"/>
              </p:cNvSpPr>
              <p:nvPr/>
            </p:nvSpPr>
            <p:spPr bwMode="auto">
              <a:xfrm>
                <a:off x="2044" y="3412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666666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666666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70054" name="Rectangle 149"/>
              <p:cNvSpPr>
                <a:spLocks noChangeArrowheads="1"/>
              </p:cNvSpPr>
              <p:nvPr/>
            </p:nvSpPr>
            <p:spPr bwMode="auto">
              <a:xfrm>
                <a:off x="2098" y="3412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666666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666666"/>
                    </a:solidFill>
                    <a:latin typeface="Arial" charset="0"/>
                    <a:ea typeface="新細明體" charset="-120"/>
                  </a:rPr>
                  <a:t>6</a:t>
                </a:r>
              </a:p>
            </p:txBody>
          </p:sp>
        </p:grpSp>
        <p:sp>
          <p:nvSpPr>
            <p:cNvPr id="69777" name="Line 150"/>
            <p:cNvSpPr>
              <a:spLocks noChangeShapeType="1"/>
            </p:cNvSpPr>
            <p:nvPr/>
          </p:nvSpPr>
          <p:spPr bwMode="auto">
            <a:xfrm flipH="1" flipV="1">
              <a:off x="3676" y="2280"/>
              <a:ext cx="77" cy="83"/>
            </a:xfrm>
            <a:prstGeom prst="line">
              <a:avLst/>
            </a:prstGeom>
            <a:noFill/>
            <a:ln w="1764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9778" name="Group 151"/>
            <p:cNvGrpSpPr>
              <a:grpSpLocks/>
            </p:cNvGrpSpPr>
            <p:nvPr/>
          </p:nvGrpSpPr>
          <p:grpSpPr bwMode="auto">
            <a:xfrm>
              <a:off x="2666" y="3412"/>
              <a:ext cx="103" cy="214"/>
              <a:chOff x="2666" y="3412"/>
              <a:chExt cx="103" cy="214"/>
            </a:xfrm>
          </p:grpSpPr>
          <p:sp>
            <p:nvSpPr>
              <p:cNvPr id="70050" name="Line 152"/>
              <p:cNvSpPr>
                <a:spLocks noChangeShapeType="1"/>
              </p:cNvSpPr>
              <p:nvPr/>
            </p:nvSpPr>
            <p:spPr bwMode="auto">
              <a:xfrm flipH="1" flipV="1">
                <a:off x="2698" y="3534"/>
                <a:ext cx="56" cy="94"/>
              </a:xfrm>
              <a:prstGeom prst="line">
                <a:avLst/>
              </a:prstGeom>
              <a:noFill/>
              <a:ln w="17640">
                <a:solidFill>
                  <a:srgbClr val="666666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051" name="Rectangle 153"/>
              <p:cNvSpPr>
                <a:spLocks noChangeArrowheads="1"/>
              </p:cNvSpPr>
              <p:nvPr/>
            </p:nvSpPr>
            <p:spPr bwMode="auto">
              <a:xfrm>
                <a:off x="2666" y="3412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666666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666666"/>
                    </a:solidFill>
                    <a:latin typeface="Arial" charset="0"/>
                    <a:ea typeface="新細明體" charset="-120"/>
                  </a:rPr>
                  <a:t>3</a:t>
                </a:r>
              </a:p>
            </p:txBody>
          </p:sp>
          <p:sp>
            <p:nvSpPr>
              <p:cNvPr id="70052" name="Rectangle 154"/>
              <p:cNvSpPr>
                <a:spLocks noChangeArrowheads="1"/>
              </p:cNvSpPr>
              <p:nvPr/>
            </p:nvSpPr>
            <p:spPr bwMode="auto">
              <a:xfrm>
                <a:off x="2720" y="3412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666666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666666"/>
                    </a:solidFill>
                    <a:latin typeface="Arial" charset="0"/>
                    <a:ea typeface="新細明體" charset="-120"/>
                  </a:rPr>
                  <a:t>2</a:t>
                </a:r>
              </a:p>
            </p:txBody>
          </p:sp>
        </p:grpSp>
        <p:sp>
          <p:nvSpPr>
            <p:cNvPr id="69779" name="Freeform 155"/>
            <p:cNvSpPr>
              <a:spLocks noChangeArrowheads="1"/>
            </p:cNvSpPr>
            <p:nvPr/>
          </p:nvSpPr>
          <p:spPr bwMode="auto">
            <a:xfrm>
              <a:off x="5268" y="2706"/>
              <a:ext cx="137" cy="499"/>
            </a:xfrm>
            <a:custGeom>
              <a:avLst/>
              <a:gdLst>
                <a:gd name="T0" fmla="*/ 0 w 125"/>
                <a:gd name="T1" fmla="*/ 63 h 454"/>
                <a:gd name="T2" fmla="*/ 0 w 125"/>
                <a:gd name="T3" fmla="*/ 52 h 454"/>
                <a:gd name="T4" fmla="*/ 3 w 125"/>
                <a:gd name="T5" fmla="*/ 44 h 454"/>
                <a:gd name="T6" fmla="*/ 8 w 125"/>
                <a:gd name="T7" fmla="*/ 33 h 454"/>
                <a:gd name="T8" fmla="*/ 14 w 125"/>
                <a:gd name="T9" fmla="*/ 25 h 454"/>
                <a:gd name="T10" fmla="*/ 19 w 125"/>
                <a:gd name="T11" fmla="*/ 19 h 454"/>
                <a:gd name="T12" fmla="*/ 27 w 125"/>
                <a:gd name="T13" fmla="*/ 11 h 454"/>
                <a:gd name="T14" fmla="*/ 35 w 125"/>
                <a:gd name="T15" fmla="*/ 8 h 454"/>
                <a:gd name="T16" fmla="*/ 44 w 125"/>
                <a:gd name="T17" fmla="*/ 3 h 454"/>
                <a:gd name="T18" fmla="*/ 52 w 125"/>
                <a:gd name="T19" fmla="*/ 0 h 454"/>
                <a:gd name="T20" fmla="*/ 63 w 125"/>
                <a:gd name="T21" fmla="*/ 0 h 454"/>
                <a:gd name="T22" fmla="*/ 74 w 125"/>
                <a:gd name="T23" fmla="*/ 0 h 454"/>
                <a:gd name="T24" fmla="*/ 82 w 125"/>
                <a:gd name="T25" fmla="*/ 3 h 454"/>
                <a:gd name="T26" fmla="*/ 93 w 125"/>
                <a:gd name="T27" fmla="*/ 8 h 454"/>
                <a:gd name="T28" fmla="*/ 101 w 125"/>
                <a:gd name="T29" fmla="*/ 11 h 454"/>
                <a:gd name="T30" fmla="*/ 106 w 125"/>
                <a:gd name="T31" fmla="*/ 19 h 454"/>
                <a:gd name="T32" fmla="*/ 114 w 125"/>
                <a:gd name="T33" fmla="*/ 25 h 454"/>
                <a:gd name="T34" fmla="*/ 120 w 125"/>
                <a:gd name="T35" fmla="*/ 33 h 454"/>
                <a:gd name="T36" fmla="*/ 122 w 125"/>
                <a:gd name="T37" fmla="*/ 44 h 454"/>
                <a:gd name="T38" fmla="*/ 125 w 125"/>
                <a:gd name="T39" fmla="*/ 52 h 454"/>
                <a:gd name="T40" fmla="*/ 125 w 125"/>
                <a:gd name="T41" fmla="*/ 63 h 454"/>
                <a:gd name="T42" fmla="*/ 125 w 125"/>
                <a:gd name="T43" fmla="*/ 391 h 454"/>
                <a:gd name="T44" fmla="*/ 125 w 125"/>
                <a:gd name="T45" fmla="*/ 402 h 454"/>
                <a:gd name="T46" fmla="*/ 122 w 125"/>
                <a:gd name="T47" fmla="*/ 413 h 454"/>
                <a:gd name="T48" fmla="*/ 120 w 125"/>
                <a:gd name="T49" fmla="*/ 421 h 454"/>
                <a:gd name="T50" fmla="*/ 114 w 125"/>
                <a:gd name="T51" fmla="*/ 429 h 454"/>
                <a:gd name="T52" fmla="*/ 106 w 125"/>
                <a:gd name="T53" fmla="*/ 438 h 454"/>
                <a:gd name="T54" fmla="*/ 101 w 125"/>
                <a:gd name="T55" fmla="*/ 443 h 454"/>
                <a:gd name="T56" fmla="*/ 93 w 125"/>
                <a:gd name="T57" fmla="*/ 448 h 454"/>
                <a:gd name="T58" fmla="*/ 82 w 125"/>
                <a:gd name="T59" fmla="*/ 451 h 454"/>
                <a:gd name="T60" fmla="*/ 74 w 125"/>
                <a:gd name="T61" fmla="*/ 454 h 454"/>
                <a:gd name="T62" fmla="*/ 63 w 125"/>
                <a:gd name="T63" fmla="*/ 454 h 454"/>
                <a:gd name="T64" fmla="*/ 52 w 125"/>
                <a:gd name="T65" fmla="*/ 454 h 454"/>
                <a:gd name="T66" fmla="*/ 44 w 125"/>
                <a:gd name="T67" fmla="*/ 451 h 454"/>
                <a:gd name="T68" fmla="*/ 35 w 125"/>
                <a:gd name="T69" fmla="*/ 448 h 454"/>
                <a:gd name="T70" fmla="*/ 27 w 125"/>
                <a:gd name="T71" fmla="*/ 443 h 454"/>
                <a:gd name="T72" fmla="*/ 19 w 125"/>
                <a:gd name="T73" fmla="*/ 438 h 454"/>
                <a:gd name="T74" fmla="*/ 14 w 125"/>
                <a:gd name="T75" fmla="*/ 429 h 454"/>
                <a:gd name="T76" fmla="*/ 8 w 125"/>
                <a:gd name="T77" fmla="*/ 421 h 454"/>
                <a:gd name="T78" fmla="*/ 3 w 125"/>
                <a:gd name="T79" fmla="*/ 413 h 454"/>
                <a:gd name="T80" fmla="*/ 0 w 125"/>
                <a:gd name="T81" fmla="*/ 402 h 454"/>
                <a:gd name="T82" fmla="*/ 0 w 125"/>
                <a:gd name="T83" fmla="*/ 391 h 454"/>
                <a:gd name="T84" fmla="*/ 0 w 125"/>
                <a:gd name="T85" fmla="*/ 63 h 454"/>
                <a:gd name="T86" fmla="*/ 0 w 125"/>
                <a:gd name="T87" fmla="*/ 63 h 4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5"/>
                <a:gd name="T133" fmla="*/ 0 h 454"/>
                <a:gd name="T134" fmla="*/ 125 w 125"/>
                <a:gd name="T135" fmla="*/ 454 h 45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5" h="454">
                  <a:moveTo>
                    <a:pt x="0" y="63"/>
                  </a:moveTo>
                  <a:lnTo>
                    <a:pt x="0" y="52"/>
                  </a:lnTo>
                  <a:lnTo>
                    <a:pt x="3" y="44"/>
                  </a:lnTo>
                  <a:lnTo>
                    <a:pt x="8" y="33"/>
                  </a:lnTo>
                  <a:lnTo>
                    <a:pt x="14" y="25"/>
                  </a:lnTo>
                  <a:lnTo>
                    <a:pt x="19" y="19"/>
                  </a:lnTo>
                  <a:lnTo>
                    <a:pt x="27" y="11"/>
                  </a:lnTo>
                  <a:lnTo>
                    <a:pt x="35" y="8"/>
                  </a:lnTo>
                  <a:lnTo>
                    <a:pt x="44" y="3"/>
                  </a:lnTo>
                  <a:lnTo>
                    <a:pt x="52" y="0"/>
                  </a:lnTo>
                  <a:lnTo>
                    <a:pt x="63" y="0"/>
                  </a:lnTo>
                  <a:lnTo>
                    <a:pt x="74" y="0"/>
                  </a:lnTo>
                  <a:lnTo>
                    <a:pt x="82" y="3"/>
                  </a:lnTo>
                  <a:lnTo>
                    <a:pt x="93" y="8"/>
                  </a:lnTo>
                  <a:lnTo>
                    <a:pt x="101" y="11"/>
                  </a:lnTo>
                  <a:lnTo>
                    <a:pt x="106" y="19"/>
                  </a:lnTo>
                  <a:lnTo>
                    <a:pt x="114" y="25"/>
                  </a:lnTo>
                  <a:lnTo>
                    <a:pt x="120" y="33"/>
                  </a:lnTo>
                  <a:lnTo>
                    <a:pt x="122" y="44"/>
                  </a:lnTo>
                  <a:lnTo>
                    <a:pt x="125" y="52"/>
                  </a:lnTo>
                  <a:lnTo>
                    <a:pt x="125" y="63"/>
                  </a:lnTo>
                  <a:lnTo>
                    <a:pt x="125" y="391"/>
                  </a:lnTo>
                  <a:lnTo>
                    <a:pt x="125" y="402"/>
                  </a:lnTo>
                  <a:lnTo>
                    <a:pt x="122" y="413"/>
                  </a:lnTo>
                  <a:lnTo>
                    <a:pt x="120" y="421"/>
                  </a:lnTo>
                  <a:lnTo>
                    <a:pt x="114" y="429"/>
                  </a:lnTo>
                  <a:lnTo>
                    <a:pt x="106" y="438"/>
                  </a:lnTo>
                  <a:lnTo>
                    <a:pt x="101" y="443"/>
                  </a:lnTo>
                  <a:lnTo>
                    <a:pt x="93" y="448"/>
                  </a:lnTo>
                  <a:lnTo>
                    <a:pt x="82" y="451"/>
                  </a:lnTo>
                  <a:lnTo>
                    <a:pt x="74" y="454"/>
                  </a:lnTo>
                  <a:lnTo>
                    <a:pt x="63" y="454"/>
                  </a:lnTo>
                  <a:lnTo>
                    <a:pt x="52" y="454"/>
                  </a:lnTo>
                  <a:lnTo>
                    <a:pt x="44" y="451"/>
                  </a:lnTo>
                  <a:lnTo>
                    <a:pt x="35" y="448"/>
                  </a:lnTo>
                  <a:lnTo>
                    <a:pt x="27" y="443"/>
                  </a:lnTo>
                  <a:lnTo>
                    <a:pt x="19" y="438"/>
                  </a:lnTo>
                  <a:lnTo>
                    <a:pt x="14" y="429"/>
                  </a:lnTo>
                  <a:lnTo>
                    <a:pt x="8" y="421"/>
                  </a:lnTo>
                  <a:lnTo>
                    <a:pt x="3" y="413"/>
                  </a:lnTo>
                  <a:lnTo>
                    <a:pt x="0" y="402"/>
                  </a:lnTo>
                  <a:lnTo>
                    <a:pt x="0" y="391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80" name="Freeform 156"/>
            <p:cNvSpPr>
              <a:spLocks noChangeArrowheads="1"/>
            </p:cNvSpPr>
            <p:nvPr/>
          </p:nvSpPr>
          <p:spPr bwMode="auto">
            <a:xfrm>
              <a:off x="5268" y="2706"/>
              <a:ext cx="137" cy="499"/>
            </a:xfrm>
            <a:custGeom>
              <a:avLst/>
              <a:gdLst>
                <a:gd name="T0" fmla="*/ 0 w 125"/>
                <a:gd name="T1" fmla="*/ 63 h 454"/>
                <a:gd name="T2" fmla="*/ 0 w 125"/>
                <a:gd name="T3" fmla="*/ 52 h 454"/>
                <a:gd name="T4" fmla="*/ 3 w 125"/>
                <a:gd name="T5" fmla="*/ 44 h 454"/>
                <a:gd name="T6" fmla="*/ 8 w 125"/>
                <a:gd name="T7" fmla="*/ 33 h 454"/>
                <a:gd name="T8" fmla="*/ 14 w 125"/>
                <a:gd name="T9" fmla="*/ 25 h 454"/>
                <a:gd name="T10" fmla="*/ 19 w 125"/>
                <a:gd name="T11" fmla="*/ 19 h 454"/>
                <a:gd name="T12" fmla="*/ 27 w 125"/>
                <a:gd name="T13" fmla="*/ 11 h 454"/>
                <a:gd name="T14" fmla="*/ 35 w 125"/>
                <a:gd name="T15" fmla="*/ 8 h 454"/>
                <a:gd name="T16" fmla="*/ 44 w 125"/>
                <a:gd name="T17" fmla="*/ 3 h 454"/>
                <a:gd name="T18" fmla="*/ 52 w 125"/>
                <a:gd name="T19" fmla="*/ 0 h 454"/>
                <a:gd name="T20" fmla="*/ 63 w 125"/>
                <a:gd name="T21" fmla="*/ 0 h 454"/>
                <a:gd name="T22" fmla="*/ 74 w 125"/>
                <a:gd name="T23" fmla="*/ 0 h 454"/>
                <a:gd name="T24" fmla="*/ 82 w 125"/>
                <a:gd name="T25" fmla="*/ 3 h 454"/>
                <a:gd name="T26" fmla="*/ 93 w 125"/>
                <a:gd name="T27" fmla="*/ 8 h 454"/>
                <a:gd name="T28" fmla="*/ 101 w 125"/>
                <a:gd name="T29" fmla="*/ 11 h 454"/>
                <a:gd name="T30" fmla="*/ 106 w 125"/>
                <a:gd name="T31" fmla="*/ 19 h 454"/>
                <a:gd name="T32" fmla="*/ 114 w 125"/>
                <a:gd name="T33" fmla="*/ 25 h 454"/>
                <a:gd name="T34" fmla="*/ 120 w 125"/>
                <a:gd name="T35" fmla="*/ 33 h 454"/>
                <a:gd name="T36" fmla="*/ 122 w 125"/>
                <a:gd name="T37" fmla="*/ 44 h 454"/>
                <a:gd name="T38" fmla="*/ 125 w 125"/>
                <a:gd name="T39" fmla="*/ 52 h 454"/>
                <a:gd name="T40" fmla="*/ 125 w 125"/>
                <a:gd name="T41" fmla="*/ 63 h 454"/>
                <a:gd name="T42" fmla="*/ 125 w 125"/>
                <a:gd name="T43" fmla="*/ 391 h 454"/>
                <a:gd name="T44" fmla="*/ 125 w 125"/>
                <a:gd name="T45" fmla="*/ 402 h 454"/>
                <a:gd name="T46" fmla="*/ 122 w 125"/>
                <a:gd name="T47" fmla="*/ 413 h 454"/>
                <a:gd name="T48" fmla="*/ 120 w 125"/>
                <a:gd name="T49" fmla="*/ 421 h 454"/>
                <a:gd name="T50" fmla="*/ 114 w 125"/>
                <a:gd name="T51" fmla="*/ 429 h 454"/>
                <a:gd name="T52" fmla="*/ 106 w 125"/>
                <a:gd name="T53" fmla="*/ 438 h 454"/>
                <a:gd name="T54" fmla="*/ 101 w 125"/>
                <a:gd name="T55" fmla="*/ 443 h 454"/>
                <a:gd name="T56" fmla="*/ 93 w 125"/>
                <a:gd name="T57" fmla="*/ 448 h 454"/>
                <a:gd name="T58" fmla="*/ 82 w 125"/>
                <a:gd name="T59" fmla="*/ 451 h 454"/>
                <a:gd name="T60" fmla="*/ 74 w 125"/>
                <a:gd name="T61" fmla="*/ 454 h 454"/>
                <a:gd name="T62" fmla="*/ 63 w 125"/>
                <a:gd name="T63" fmla="*/ 454 h 454"/>
                <a:gd name="T64" fmla="*/ 52 w 125"/>
                <a:gd name="T65" fmla="*/ 454 h 454"/>
                <a:gd name="T66" fmla="*/ 44 w 125"/>
                <a:gd name="T67" fmla="*/ 451 h 454"/>
                <a:gd name="T68" fmla="*/ 35 w 125"/>
                <a:gd name="T69" fmla="*/ 448 h 454"/>
                <a:gd name="T70" fmla="*/ 27 w 125"/>
                <a:gd name="T71" fmla="*/ 443 h 454"/>
                <a:gd name="T72" fmla="*/ 19 w 125"/>
                <a:gd name="T73" fmla="*/ 438 h 454"/>
                <a:gd name="T74" fmla="*/ 14 w 125"/>
                <a:gd name="T75" fmla="*/ 429 h 454"/>
                <a:gd name="T76" fmla="*/ 8 w 125"/>
                <a:gd name="T77" fmla="*/ 421 h 454"/>
                <a:gd name="T78" fmla="*/ 3 w 125"/>
                <a:gd name="T79" fmla="*/ 413 h 454"/>
                <a:gd name="T80" fmla="*/ 0 w 125"/>
                <a:gd name="T81" fmla="*/ 402 h 454"/>
                <a:gd name="T82" fmla="*/ 0 w 125"/>
                <a:gd name="T83" fmla="*/ 391 h 454"/>
                <a:gd name="T84" fmla="*/ 0 w 125"/>
                <a:gd name="T85" fmla="*/ 63 h 454"/>
                <a:gd name="T86" fmla="*/ 0 w 125"/>
                <a:gd name="T87" fmla="*/ 63 h 4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5"/>
                <a:gd name="T133" fmla="*/ 0 h 454"/>
                <a:gd name="T134" fmla="*/ 125 w 125"/>
                <a:gd name="T135" fmla="*/ 454 h 45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5" h="454">
                  <a:moveTo>
                    <a:pt x="0" y="63"/>
                  </a:moveTo>
                  <a:lnTo>
                    <a:pt x="0" y="52"/>
                  </a:lnTo>
                  <a:lnTo>
                    <a:pt x="3" y="44"/>
                  </a:lnTo>
                  <a:lnTo>
                    <a:pt x="8" y="33"/>
                  </a:lnTo>
                  <a:lnTo>
                    <a:pt x="14" y="25"/>
                  </a:lnTo>
                  <a:lnTo>
                    <a:pt x="19" y="19"/>
                  </a:lnTo>
                  <a:lnTo>
                    <a:pt x="27" y="11"/>
                  </a:lnTo>
                  <a:lnTo>
                    <a:pt x="35" y="8"/>
                  </a:lnTo>
                  <a:lnTo>
                    <a:pt x="44" y="3"/>
                  </a:lnTo>
                  <a:lnTo>
                    <a:pt x="52" y="0"/>
                  </a:lnTo>
                  <a:lnTo>
                    <a:pt x="63" y="0"/>
                  </a:lnTo>
                  <a:lnTo>
                    <a:pt x="74" y="0"/>
                  </a:lnTo>
                  <a:lnTo>
                    <a:pt x="82" y="3"/>
                  </a:lnTo>
                  <a:lnTo>
                    <a:pt x="93" y="8"/>
                  </a:lnTo>
                  <a:lnTo>
                    <a:pt x="101" y="11"/>
                  </a:lnTo>
                  <a:lnTo>
                    <a:pt x="106" y="19"/>
                  </a:lnTo>
                  <a:lnTo>
                    <a:pt x="114" y="25"/>
                  </a:lnTo>
                  <a:lnTo>
                    <a:pt x="120" y="33"/>
                  </a:lnTo>
                  <a:lnTo>
                    <a:pt x="122" y="44"/>
                  </a:lnTo>
                  <a:lnTo>
                    <a:pt x="125" y="52"/>
                  </a:lnTo>
                  <a:lnTo>
                    <a:pt x="125" y="63"/>
                  </a:lnTo>
                  <a:lnTo>
                    <a:pt x="125" y="391"/>
                  </a:lnTo>
                  <a:lnTo>
                    <a:pt x="125" y="402"/>
                  </a:lnTo>
                  <a:lnTo>
                    <a:pt x="122" y="413"/>
                  </a:lnTo>
                  <a:lnTo>
                    <a:pt x="120" y="421"/>
                  </a:lnTo>
                  <a:lnTo>
                    <a:pt x="114" y="429"/>
                  </a:lnTo>
                  <a:lnTo>
                    <a:pt x="106" y="438"/>
                  </a:lnTo>
                  <a:lnTo>
                    <a:pt x="101" y="443"/>
                  </a:lnTo>
                  <a:lnTo>
                    <a:pt x="93" y="448"/>
                  </a:lnTo>
                  <a:lnTo>
                    <a:pt x="82" y="451"/>
                  </a:lnTo>
                  <a:lnTo>
                    <a:pt x="74" y="454"/>
                  </a:lnTo>
                  <a:lnTo>
                    <a:pt x="63" y="454"/>
                  </a:lnTo>
                  <a:lnTo>
                    <a:pt x="52" y="454"/>
                  </a:lnTo>
                  <a:lnTo>
                    <a:pt x="44" y="451"/>
                  </a:lnTo>
                  <a:lnTo>
                    <a:pt x="35" y="448"/>
                  </a:lnTo>
                  <a:lnTo>
                    <a:pt x="27" y="443"/>
                  </a:lnTo>
                  <a:lnTo>
                    <a:pt x="19" y="438"/>
                  </a:lnTo>
                  <a:lnTo>
                    <a:pt x="14" y="429"/>
                  </a:lnTo>
                  <a:lnTo>
                    <a:pt x="8" y="421"/>
                  </a:lnTo>
                  <a:lnTo>
                    <a:pt x="3" y="413"/>
                  </a:lnTo>
                  <a:lnTo>
                    <a:pt x="0" y="402"/>
                  </a:lnTo>
                  <a:lnTo>
                    <a:pt x="0" y="391"/>
                  </a:lnTo>
                  <a:lnTo>
                    <a:pt x="0" y="63"/>
                  </a:lnTo>
                </a:path>
              </a:pathLst>
            </a:custGeom>
            <a:solidFill>
              <a:srgbClr val="006600"/>
            </a:solidFill>
            <a:ln w="17640">
              <a:solidFill>
                <a:srgbClr val="6666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81" name="Freeform 157"/>
            <p:cNvSpPr>
              <a:spLocks noChangeArrowheads="1"/>
            </p:cNvSpPr>
            <p:nvPr/>
          </p:nvSpPr>
          <p:spPr bwMode="auto">
            <a:xfrm>
              <a:off x="3201" y="2697"/>
              <a:ext cx="140" cy="470"/>
            </a:xfrm>
            <a:custGeom>
              <a:avLst/>
              <a:gdLst>
                <a:gd name="T0" fmla="*/ 0 w 127"/>
                <a:gd name="T1" fmla="*/ 62 h 427"/>
                <a:gd name="T2" fmla="*/ 2 w 127"/>
                <a:gd name="T3" fmla="*/ 54 h 427"/>
                <a:gd name="T4" fmla="*/ 5 w 127"/>
                <a:gd name="T5" fmla="*/ 43 h 427"/>
                <a:gd name="T6" fmla="*/ 8 w 127"/>
                <a:gd name="T7" fmla="*/ 35 h 427"/>
                <a:gd name="T8" fmla="*/ 13 w 127"/>
                <a:gd name="T9" fmla="*/ 27 h 427"/>
                <a:gd name="T10" fmla="*/ 21 w 127"/>
                <a:gd name="T11" fmla="*/ 19 h 427"/>
                <a:gd name="T12" fmla="*/ 27 w 127"/>
                <a:gd name="T13" fmla="*/ 14 h 427"/>
                <a:gd name="T14" fmla="*/ 35 w 127"/>
                <a:gd name="T15" fmla="*/ 8 h 427"/>
                <a:gd name="T16" fmla="*/ 46 w 127"/>
                <a:gd name="T17" fmla="*/ 5 h 427"/>
                <a:gd name="T18" fmla="*/ 54 w 127"/>
                <a:gd name="T19" fmla="*/ 3 h 427"/>
                <a:gd name="T20" fmla="*/ 65 w 127"/>
                <a:gd name="T21" fmla="*/ 0 h 427"/>
                <a:gd name="T22" fmla="*/ 76 w 127"/>
                <a:gd name="T23" fmla="*/ 3 h 427"/>
                <a:gd name="T24" fmla="*/ 84 w 127"/>
                <a:gd name="T25" fmla="*/ 5 h 427"/>
                <a:gd name="T26" fmla="*/ 92 w 127"/>
                <a:gd name="T27" fmla="*/ 8 h 427"/>
                <a:gd name="T28" fmla="*/ 100 w 127"/>
                <a:gd name="T29" fmla="*/ 14 h 427"/>
                <a:gd name="T30" fmla="*/ 108 w 127"/>
                <a:gd name="T31" fmla="*/ 19 h 427"/>
                <a:gd name="T32" fmla="*/ 114 w 127"/>
                <a:gd name="T33" fmla="*/ 27 h 427"/>
                <a:gd name="T34" fmla="*/ 119 w 127"/>
                <a:gd name="T35" fmla="*/ 35 h 427"/>
                <a:gd name="T36" fmla="*/ 125 w 127"/>
                <a:gd name="T37" fmla="*/ 43 h 427"/>
                <a:gd name="T38" fmla="*/ 127 w 127"/>
                <a:gd name="T39" fmla="*/ 54 h 427"/>
                <a:gd name="T40" fmla="*/ 127 w 127"/>
                <a:gd name="T41" fmla="*/ 65 h 427"/>
                <a:gd name="T42" fmla="*/ 127 w 127"/>
                <a:gd name="T43" fmla="*/ 364 h 427"/>
                <a:gd name="T44" fmla="*/ 127 w 127"/>
                <a:gd name="T45" fmla="*/ 375 h 427"/>
                <a:gd name="T46" fmla="*/ 125 w 127"/>
                <a:gd name="T47" fmla="*/ 386 h 427"/>
                <a:gd name="T48" fmla="*/ 119 w 127"/>
                <a:gd name="T49" fmla="*/ 394 h 427"/>
                <a:gd name="T50" fmla="*/ 114 w 127"/>
                <a:gd name="T51" fmla="*/ 402 h 427"/>
                <a:gd name="T52" fmla="*/ 108 w 127"/>
                <a:gd name="T53" fmla="*/ 410 h 427"/>
                <a:gd name="T54" fmla="*/ 100 w 127"/>
                <a:gd name="T55" fmla="*/ 416 h 427"/>
                <a:gd name="T56" fmla="*/ 92 w 127"/>
                <a:gd name="T57" fmla="*/ 421 h 427"/>
                <a:gd name="T58" fmla="*/ 84 w 127"/>
                <a:gd name="T59" fmla="*/ 424 h 427"/>
                <a:gd name="T60" fmla="*/ 76 w 127"/>
                <a:gd name="T61" fmla="*/ 427 h 427"/>
                <a:gd name="T62" fmla="*/ 65 w 127"/>
                <a:gd name="T63" fmla="*/ 427 h 427"/>
                <a:gd name="T64" fmla="*/ 54 w 127"/>
                <a:gd name="T65" fmla="*/ 427 h 427"/>
                <a:gd name="T66" fmla="*/ 46 w 127"/>
                <a:gd name="T67" fmla="*/ 424 h 427"/>
                <a:gd name="T68" fmla="*/ 35 w 127"/>
                <a:gd name="T69" fmla="*/ 421 h 427"/>
                <a:gd name="T70" fmla="*/ 27 w 127"/>
                <a:gd name="T71" fmla="*/ 416 h 427"/>
                <a:gd name="T72" fmla="*/ 21 w 127"/>
                <a:gd name="T73" fmla="*/ 410 h 427"/>
                <a:gd name="T74" fmla="*/ 13 w 127"/>
                <a:gd name="T75" fmla="*/ 402 h 427"/>
                <a:gd name="T76" fmla="*/ 8 w 127"/>
                <a:gd name="T77" fmla="*/ 394 h 427"/>
                <a:gd name="T78" fmla="*/ 5 w 127"/>
                <a:gd name="T79" fmla="*/ 386 h 427"/>
                <a:gd name="T80" fmla="*/ 2 w 127"/>
                <a:gd name="T81" fmla="*/ 375 h 427"/>
                <a:gd name="T82" fmla="*/ 2 w 127"/>
                <a:gd name="T83" fmla="*/ 364 h 427"/>
                <a:gd name="T84" fmla="*/ 2 w 127"/>
                <a:gd name="T85" fmla="*/ 65 h 427"/>
                <a:gd name="T86" fmla="*/ 2 w 127"/>
                <a:gd name="T87" fmla="*/ 65 h 427"/>
                <a:gd name="T88" fmla="*/ 0 w 127"/>
                <a:gd name="T89" fmla="*/ 62 h 427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27"/>
                <a:gd name="T136" fmla="*/ 0 h 427"/>
                <a:gd name="T137" fmla="*/ 127 w 127"/>
                <a:gd name="T138" fmla="*/ 427 h 427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27" h="427">
                  <a:moveTo>
                    <a:pt x="0" y="62"/>
                  </a:moveTo>
                  <a:lnTo>
                    <a:pt x="2" y="54"/>
                  </a:lnTo>
                  <a:lnTo>
                    <a:pt x="5" y="43"/>
                  </a:lnTo>
                  <a:lnTo>
                    <a:pt x="8" y="35"/>
                  </a:lnTo>
                  <a:lnTo>
                    <a:pt x="13" y="27"/>
                  </a:lnTo>
                  <a:lnTo>
                    <a:pt x="21" y="19"/>
                  </a:lnTo>
                  <a:lnTo>
                    <a:pt x="27" y="14"/>
                  </a:lnTo>
                  <a:lnTo>
                    <a:pt x="35" y="8"/>
                  </a:lnTo>
                  <a:lnTo>
                    <a:pt x="46" y="5"/>
                  </a:lnTo>
                  <a:lnTo>
                    <a:pt x="54" y="3"/>
                  </a:lnTo>
                  <a:lnTo>
                    <a:pt x="65" y="0"/>
                  </a:lnTo>
                  <a:lnTo>
                    <a:pt x="76" y="3"/>
                  </a:lnTo>
                  <a:lnTo>
                    <a:pt x="84" y="5"/>
                  </a:lnTo>
                  <a:lnTo>
                    <a:pt x="92" y="8"/>
                  </a:lnTo>
                  <a:lnTo>
                    <a:pt x="100" y="14"/>
                  </a:lnTo>
                  <a:lnTo>
                    <a:pt x="108" y="19"/>
                  </a:lnTo>
                  <a:lnTo>
                    <a:pt x="114" y="27"/>
                  </a:lnTo>
                  <a:lnTo>
                    <a:pt x="119" y="35"/>
                  </a:lnTo>
                  <a:lnTo>
                    <a:pt x="125" y="43"/>
                  </a:lnTo>
                  <a:lnTo>
                    <a:pt x="127" y="54"/>
                  </a:lnTo>
                  <a:lnTo>
                    <a:pt x="127" y="65"/>
                  </a:lnTo>
                  <a:lnTo>
                    <a:pt x="127" y="364"/>
                  </a:lnTo>
                  <a:lnTo>
                    <a:pt x="127" y="375"/>
                  </a:lnTo>
                  <a:lnTo>
                    <a:pt x="125" y="386"/>
                  </a:lnTo>
                  <a:lnTo>
                    <a:pt x="119" y="394"/>
                  </a:lnTo>
                  <a:lnTo>
                    <a:pt x="114" y="402"/>
                  </a:lnTo>
                  <a:lnTo>
                    <a:pt x="108" y="410"/>
                  </a:lnTo>
                  <a:lnTo>
                    <a:pt x="100" y="416"/>
                  </a:lnTo>
                  <a:lnTo>
                    <a:pt x="92" y="421"/>
                  </a:lnTo>
                  <a:lnTo>
                    <a:pt x="84" y="424"/>
                  </a:lnTo>
                  <a:lnTo>
                    <a:pt x="76" y="427"/>
                  </a:lnTo>
                  <a:lnTo>
                    <a:pt x="65" y="427"/>
                  </a:lnTo>
                  <a:lnTo>
                    <a:pt x="54" y="427"/>
                  </a:lnTo>
                  <a:lnTo>
                    <a:pt x="46" y="424"/>
                  </a:lnTo>
                  <a:lnTo>
                    <a:pt x="35" y="421"/>
                  </a:lnTo>
                  <a:lnTo>
                    <a:pt x="27" y="416"/>
                  </a:lnTo>
                  <a:lnTo>
                    <a:pt x="21" y="410"/>
                  </a:lnTo>
                  <a:lnTo>
                    <a:pt x="13" y="402"/>
                  </a:lnTo>
                  <a:lnTo>
                    <a:pt x="8" y="394"/>
                  </a:lnTo>
                  <a:lnTo>
                    <a:pt x="5" y="386"/>
                  </a:lnTo>
                  <a:lnTo>
                    <a:pt x="2" y="375"/>
                  </a:lnTo>
                  <a:lnTo>
                    <a:pt x="2" y="364"/>
                  </a:lnTo>
                  <a:lnTo>
                    <a:pt x="2" y="65"/>
                  </a:lnTo>
                  <a:lnTo>
                    <a:pt x="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82" name="Freeform 158"/>
            <p:cNvSpPr>
              <a:spLocks noChangeArrowheads="1"/>
            </p:cNvSpPr>
            <p:nvPr/>
          </p:nvSpPr>
          <p:spPr bwMode="auto">
            <a:xfrm>
              <a:off x="3201" y="2697"/>
              <a:ext cx="140" cy="470"/>
            </a:xfrm>
            <a:custGeom>
              <a:avLst/>
              <a:gdLst>
                <a:gd name="T0" fmla="*/ 0 w 127"/>
                <a:gd name="T1" fmla="*/ 62 h 427"/>
                <a:gd name="T2" fmla="*/ 2 w 127"/>
                <a:gd name="T3" fmla="*/ 54 h 427"/>
                <a:gd name="T4" fmla="*/ 5 w 127"/>
                <a:gd name="T5" fmla="*/ 43 h 427"/>
                <a:gd name="T6" fmla="*/ 8 w 127"/>
                <a:gd name="T7" fmla="*/ 35 h 427"/>
                <a:gd name="T8" fmla="*/ 13 w 127"/>
                <a:gd name="T9" fmla="*/ 27 h 427"/>
                <a:gd name="T10" fmla="*/ 21 w 127"/>
                <a:gd name="T11" fmla="*/ 19 h 427"/>
                <a:gd name="T12" fmla="*/ 27 w 127"/>
                <a:gd name="T13" fmla="*/ 14 h 427"/>
                <a:gd name="T14" fmla="*/ 35 w 127"/>
                <a:gd name="T15" fmla="*/ 8 h 427"/>
                <a:gd name="T16" fmla="*/ 46 w 127"/>
                <a:gd name="T17" fmla="*/ 5 h 427"/>
                <a:gd name="T18" fmla="*/ 54 w 127"/>
                <a:gd name="T19" fmla="*/ 3 h 427"/>
                <a:gd name="T20" fmla="*/ 65 w 127"/>
                <a:gd name="T21" fmla="*/ 0 h 427"/>
                <a:gd name="T22" fmla="*/ 76 w 127"/>
                <a:gd name="T23" fmla="*/ 3 h 427"/>
                <a:gd name="T24" fmla="*/ 84 w 127"/>
                <a:gd name="T25" fmla="*/ 5 h 427"/>
                <a:gd name="T26" fmla="*/ 92 w 127"/>
                <a:gd name="T27" fmla="*/ 8 h 427"/>
                <a:gd name="T28" fmla="*/ 100 w 127"/>
                <a:gd name="T29" fmla="*/ 14 h 427"/>
                <a:gd name="T30" fmla="*/ 108 w 127"/>
                <a:gd name="T31" fmla="*/ 19 h 427"/>
                <a:gd name="T32" fmla="*/ 114 w 127"/>
                <a:gd name="T33" fmla="*/ 27 h 427"/>
                <a:gd name="T34" fmla="*/ 119 w 127"/>
                <a:gd name="T35" fmla="*/ 35 h 427"/>
                <a:gd name="T36" fmla="*/ 125 w 127"/>
                <a:gd name="T37" fmla="*/ 43 h 427"/>
                <a:gd name="T38" fmla="*/ 127 w 127"/>
                <a:gd name="T39" fmla="*/ 54 h 427"/>
                <a:gd name="T40" fmla="*/ 127 w 127"/>
                <a:gd name="T41" fmla="*/ 65 h 427"/>
                <a:gd name="T42" fmla="*/ 127 w 127"/>
                <a:gd name="T43" fmla="*/ 364 h 427"/>
                <a:gd name="T44" fmla="*/ 127 w 127"/>
                <a:gd name="T45" fmla="*/ 375 h 427"/>
                <a:gd name="T46" fmla="*/ 125 w 127"/>
                <a:gd name="T47" fmla="*/ 386 h 427"/>
                <a:gd name="T48" fmla="*/ 119 w 127"/>
                <a:gd name="T49" fmla="*/ 394 h 427"/>
                <a:gd name="T50" fmla="*/ 114 w 127"/>
                <a:gd name="T51" fmla="*/ 402 h 427"/>
                <a:gd name="T52" fmla="*/ 108 w 127"/>
                <a:gd name="T53" fmla="*/ 410 h 427"/>
                <a:gd name="T54" fmla="*/ 100 w 127"/>
                <a:gd name="T55" fmla="*/ 416 h 427"/>
                <a:gd name="T56" fmla="*/ 92 w 127"/>
                <a:gd name="T57" fmla="*/ 421 h 427"/>
                <a:gd name="T58" fmla="*/ 84 w 127"/>
                <a:gd name="T59" fmla="*/ 424 h 427"/>
                <a:gd name="T60" fmla="*/ 76 w 127"/>
                <a:gd name="T61" fmla="*/ 427 h 427"/>
                <a:gd name="T62" fmla="*/ 65 w 127"/>
                <a:gd name="T63" fmla="*/ 427 h 427"/>
                <a:gd name="T64" fmla="*/ 54 w 127"/>
                <a:gd name="T65" fmla="*/ 427 h 427"/>
                <a:gd name="T66" fmla="*/ 46 w 127"/>
                <a:gd name="T67" fmla="*/ 424 h 427"/>
                <a:gd name="T68" fmla="*/ 35 w 127"/>
                <a:gd name="T69" fmla="*/ 421 h 427"/>
                <a:gd name="T70" fmla="*/ 27 w 127"/>
                <a:gd name="T71" fmla="*/ 416 h 427"/>
                <a:gd name="T72" fmla="*/ 21 w 127"/>
                <a:gd name="T73" fmla="*/ 410 h 427"/>
                <a:gd name="T74" fmla="*/ 13 w 127"/>
                <a:gd name="T75" fmla="*/ 402 h 427"/>
                <a:gd name="T76" fmla="*/ 8 w 127"/>
                <a:gd name="T77" fmla="*/ 394 h 427"/>
                <a:gd name="T78" fmla="*/ 5 w 127"/>
                <a:gd name="T79" fmla="*/ 386 h 427"/>
                <a:gd name="T80" fmla="*/ 2 w 127"/>
                <a:gd name="T81" fmla="*/ 375 h 427"/>
                <a:gd name="T82" fmla="*/ 2 w 127"/>
                <a:gd name="T83" fmla="*/ 364 h 427"/>
                <a:gd name="T84" fmla="*/ 2 w 127"/>
                <a:gd name="T85" fmla="*/ 65 h 427"/>
                <a:gd name="T86" fmla="*/ 2 w 127"/>
                <a:gd name="T87" fmla="*/ 65 h 427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7"/>
                <a:gd name="T133" fmla="*/ 0 h 427"/>
                <a:gd name="T134" fmla="*/ 127 w 127"/>
                <a:gd name="T135" fmla="*/ 427 h 427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7" h="427">
                  <a:moveTo>
                    <a:pt x="0" y="62"/>
                  </a:moveTo>
                  <a:lnTo>
                    <a:pt x="2" y="54"/>
                  </a:lnTo>
                  <a:lnTo>
                    <a:pt x="5" y="43"/>
                  </a:lnTo>
                  <a:lnTo>
                    <a:pt x="8" y="35"/>
                  </a:lnTo>
                  <a:lnTo>
                    <a:pt x="13" y="27"/>
                  </a:lnTo>
                  <a:lnTo>
                    <a:pt x="21" y="19"/>
                  </a:lnTo>
                  <a:lnTo>
                    <a:pt x="27" y="14"/>
                  </a:lnTo>
                  <a:lnTo>
                    <a:pt x="35" y="8"/>
                  </a:lnTo>
                  <a:lnTo>
                    <a:pt x="46" y="5"/>
                  </a:lnTo>
                  <a:lnTo>
                    <a:pt x="54" y="3"/>
                  </a:lnTo>
                  <a:lnTo>
                    <a:pt x="65" y="0"/>
                  </a:lnTo>
                  <a:lnTo>
                    <a:pt x="76" y="3"/>
                  </a:lnTo>
                  <a:lnTo>
                    <a:pt x="84" y="5"/>
                  </a:lnTo>
                  <a:lnTo>
                    <a:pt x="92" y="8"/>
                  </a:lnTo>
                  <a:lnTo>
                    <a:pt x="100" y="14"/>
                  </a:lnTo>
                  <a:lnTo>
                    <a:pt x="108" y="19"/>
                  </a:lnTo>
                  <a:lnTo>
                    <a:pt x="114" y="27"/>
                  </a:lnTo>
                  <a:lnTo>
                    <a:pt x="119" y="35"/>
                  </a:lnTo>
                  <a:lnTo>
                    <a:pt x="125" y="43"/>
                  </a:lnTo>
                  <a:lnTo>
                    <a:pt x="127" y="54"/>
                  </a:lnTo>
                  <a:lnTo>
                    <a:pt x="127" y="65"/>
                  </a:lnTo>
                  <a:lnTo>
                    <a:pt x="127" y="364"/>
                  </a:lnTo>
                  <a:lnTo>
                    <a:pt x="127" y="375"/>
                  </a:lnTo>
                  <a:lnTo>
                    <a:pt x="125" y="386"/>
                  </a:lnTo>
                  <a:lnTo>
                    <a:pt x="119" y="394"/>
                  </a:lnTo>
                  <a:lnTo>
                    <a:pt x="114" y="402"/>
                  </a:lnTo>
                  <a:lnTo>
                    <a:pt x="108" y="410"/>
                  </a:lnTo>
                  <a:lnTo>
                    <a:pt x="100" y="416"/>
                  </a:lnTo>
                  <a:lnTo>
                    <a:pt x="92" y="421"/>
                  </a:lnTo>
                  <a:lnTo>
                    <a:pt x="84" y="424"/>
                  </a:lnTo>
                  <a:lnTo>
                    <a:pt x="76" y="427"/>
                  </a:lnTo>
                  <a:lnTo>
                    <a:pt x="65" y="427"/>
                  </a:lnTo>
                  <a:lnTo>
                    <a:pt x="54" y="427"/>
                  </a:lnTo>
                  <a:lnTo>
                    <a:pt x="46" y="424"/>
                  </a:lnTo>
                  <a:lnTo>
                    <a:pt x="35" y="421"/>
                  </a:lnTo>
                  <a:lnTo>
                    <a:pt x="27" y="416"/>
                  </a:lnTo>
                  <a:lnTo>
                    <a:pt x="21" y="410"/>
                  </a:lnTo>
                  <a:lnTo>
                    <a:pt x="13" y="402"/>
                  </a:lnTo>
                  <a:lnTo>
                    <a:pt x="8" y="394"/>
                  </a:lnTo>
                  <a:lnTo>
                    <a:pt x="5" y="386"/>
                  </a:lnTo>
                  <a:lnTo>
                    <a:pt x="2" y="375"/>
                  </a:lnTo>
                  <a:lnTo>
                    <a:pt x="2" y="364"/>
                  </a:lnTo>
                  <a:lnTo>
                    <a:pt x="2" y="65"/>
                  </a:lnTo>
                </a:path>
              </a:pathLst>
            </a:custGeom>
            <a:solidFill>
              <a:srgbClr val="006600"/>
            </a:solidFill>
            <a:ln w="17640">
              <a:solidFill>
                <a:srgbClr val="666666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83" name="Freeform 159"/>
            <p:cNvSpPr>
              <a:spLocks noChangeArrowheads="1"/>
            </p:cNvSpPr>
            <p:nvPr/>
          </p:nvSpPr>
          <p:spPr bwMode="auto">
            <a:xfrm>
              <a:off x="1822" y="2080"/>
              <a:ext cx="939" cy="1098"/>
            </a:xfrm>
            <a:custGeom>
              <a:avLst/>
              <a:gdLst>
                <a:gd name="T0" fmla="*/ 851 w 853"/>
                <a:gd name="T1" fmla="*/ 995 h 997"/>
                <a:gd name="T2" fmla="*/ 853 w 853"/>
                <a:gd name="T3" fmla="*/ 0 h 997"/>
                <a:gd name="T4" fmla="*/ 0 w 853"/>
                <a:gd name="T5" fmla="*/ 0 h 997"/>
                <a:gd name="T6" fmla="*/ 0 w 853"/>
                <a:gd name="T7" fmla="*/ 997 h 997"/>
                <a:gd name="T8" fmla="*/ 853 w 853"/>
                <a:gd name="T9" fmla="*/ 997 h 997"/>
                <a:gd name="T10" fmla="*/ 853 w 853"/>
                <a:gd name="T11" fmla="*/ 997 h 997"/>
                <a:gd name="T12" fmla="*/ 851 w 853"/>
                <a:gd name="T13" fmla="*/ 995 h 99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853"/>
                <a:gd name="T22" fmla="*/ 0 h 997"/>
                <a:gd name="T23" fmla="*/ 853 w 853"/>
                <a:gd name="T24" fmla="*/ 997 h 99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853" h="997">
                  <a:moveTo>
                    <a:pt x="851" y="995"/>
                  </a:moveTo>
                  <a:lnTo>
                    <a:pt x="853" y="0"/>
                  </a:lnTo>
                  <a:lnTo>
                    <a:pt x="0" y="0"/>
                  </a:lnTo>
                  <a:lnTo>
                    <a:pt x="0" y="997"/>
                  </a:lnTo>
                  <a:lnTo>
                    <a:pt x="853" y="997"/>
                  </a:lnTo>
                  <a:lnTo>
                    <a:pt x="851" y="99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84" name="Freeform 160"/>
            <p:cNvSpPr>
              <a:spLocks noChangeArrowheads="1"/>
            </p:cNvSpPr>
            <p:nvPr/>
          </p:nvSpPr>
          <p:spPr bwMode="auto">
            <a:xfrm>
              <a:off x="1822" y="2080"/>
              <a:ext cx="939" cy="1098"/>
            </a:xfrm>
            <a:custGeom>
              <a:avLst/>
              <a:gdLst>
                <a:gd name="T0" fmla="*/ 851 w 853"/>
                <a:gd name="T1" fmla="*/ 995 h 997"/>
                <a:gd name="T2" fmla="*/ 853 w 853"/>
                <a:gd name="T3" fmla="*/ 0 h 997"/>
                <a:gd name="T4" fmla="*/ 0 w 853"/>
                <a:gd name="T5" fmla="*/ 0 h 997"/>
                <a:gd name="T6" fmla="*/ 0 w 853"/>
                <a:gd name="T7" fmla="*/ 997 h 997"/>
                <a:gd name="T8" fmla="*/ 853 w 853"/>
                <a:gd name="T9" fmla="*/ 997 h 997"/>
                <a:gd name="T10" fmla="*/ 853 w 853"/>
                <a:gd name="T11" fmla="*/ 997 h 9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53"/>
                <a:gd name="T19" fmla="*/ 0 h 997"/>
                <a:gd name="T20" fmla="*/ 853 w 853"/>
                <a:gd name="T21" fmla="*/ 997 h 99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53" h="997">
                  <a:moveTo>
                    <a:pt x="851" y="995"/>
                  </a:moveTo>
                  <a:lnTo>
                    <a:pt x="853" y="0"/>
                  </a:lnTo>
                  <a:lnTo>
                    <a:pt x="0" y="0"/>
                  </a:lnTo>
                  <a:lnTo>
                    <a:pt x="0" y="997"/>
                  </a:lnTo>
                  <a:lnTo>
                    <a:pt x="853" y="997"/>
                  </a:lnTo>
                </a:path>
              </a:pathLst>
            </a:custGeom>
            <a:noFill/>
            <a:ln w="1764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785" name="Rectangle 161"/>
            <p:cNvSpPr>
              <a:spLocks noChangeArrowheads="1"/>
            </p:cNvSpPr>
            <p:nvPr/>
          </p:nvSpPr>
          <p:spPr bwMode="auto">
            <a:xfrm>
              <a:off x="2265" y="2120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786" name="Rectangle 162"/>
            <p:cNvSpPr>
              <a:spLocks noChangeArrowheads="1"/>
            </p:cNvSpPr>
            <p:nvPr/>
          </p:nvSpPr>
          <p:spPr bwMode="auto">
            <a:xfrm>
              <a:off x="2339" y="212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787" name="Rectangle 163"/>
            <p:cNvSpPr>
              <a:spLocks noChangeArrowheads="1"/>
            </p:cNvSpPr>
            <p:nvPr/>
          </p:nvSpPr>
          <p:spPr bwMode="auto">
            <a:xfrm>
              <a:off x="2392" y="2120"/>
              <a:ext cx="5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69788" name="Rectangle 164"/>
            <p:cNvSpPr>
              <a:spLocks noChangeArrowheads="1"/>
            </p:cNvSpPr>
            <p:nvPr/>
          </p:nvSpPr>
          <p:spPr bwMode="auto">
            <a:xfrm>
              <a:off x="2451" y="2120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9789" name="Rectangle 165"/>
            <p:cNvSpPr>
              <a:spLocks noChangeArrowheads="1"/>
            </p:cNvSpPr>
            <p:nvPr/>
          </p:nvSpPr>
          <p:spPr bwMode="auto">
            <a:xfrm>
              <a:off x="2472" y="2120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9790" name="Rectangle 166"/>
            <p:cNvSpPr>
              <a:spLocks noChangeArrowheads="1"/>
            </p:cNvSpPr>
            <p:nvPr/>
          </p:nvSpPr>
          <p:spPr bwMode="auto">
            <a:xfrm>
              <a:off x="2521" y="2120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791" name="Rectangle 167"/>
            <p:cNvSpPr>
              <a:spLocks noChangeArrowheads="1"/>
            </p:cNvSpPr>
            <p:nvPr/>
          </p:nvSpPr>
          <p:spPr bwMode="auto">
            <a:xfrm>
              <a:off x="2549" y="212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792" name="Rectangle 168"/>
            <p:cNvSpPr>
              <a:spLocks noChangeArrowheads="1"/>
            </p:cNvSpPr>
            <p:nvPr/>
          </p:nvSpPr>
          <p:spPr bwMode="auto">
            <a:xfrm>
              <a:off x="2602" y="2120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793" name="Rectangle 169"/>
            <p:cNvSpPr>
              <a:spLocks noChangeArrowheads="1"/>
            </p:cNvSpPr>
            <p:nvPr/>
          </p:nvSpPr>
          <p:spPr bwMode="auto">
            <a:xfrm>
              <a:off x="2639" y="2120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9794" name="Rectangle 170"/>
            <p:cNvSpPr>
              <a:spLocks noChangeArrowheads="1"/>
            </p:cNvSpPr>
            <p:nvPr/>
          </p:nvSpPr>
          <p:spPr bwMode="auto">
            <a:xfrm>
              <a:off x="1850" y="2673"/>
              <a:ext cx="8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69795" name="Rectangle 171"/>
            <p:cNvSpPr>
              <a:spLocks noChangeArrowheads="1"/>
            </p:cNvSpPr>
            <p:nvPr/>
          </p:nvSpPr>
          <p:spPr bwMode="auto">
            <a:xfrm>
              <a:off x="1945" y="2673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796" name="Rectangle 172"/>
            <p:cNvSpPr>
              <a:spLocks noChangeArrowheads="1"/>
            </p:cNvSpPr>
            <p:nvPr/>
          </p:nvSpPr>
          <p:spPr bwMode="auto">
            <a:xfrm>
              <a:off x="1982" y="2673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9797" name="Rectangle 173"/>
            <p:cNvSpPr>
              <a:spLocks noChangeArrowheads="1"/>
            </p:cNvSpPr>
            <p:nvPr/>
          </p:nvSpPr>
          <p:spPr bwMode="auto">
            <a:xfrm>
              <a:off x="2001" y="2673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798" name="Rectangle 174"/>
            <p:cNvSpPr>
              <a:spLocks noChangeArrowheads="1"/>
            </p:cNvSpPr>
            <p:nvPr/>
          </p:nvSpPr>
          <p:spPr bwMode="auto">
            <a:xfrm>
              <a:off x="2028" y="267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799" name="Rectangle 175"/>
            <p:cNvSpPr>
              <a:spLocks noChangeArrowheads="1"/>
            </p:cNvSpPr>
            <p:nvPr/>
          </p:nvSpPr>
          <p:spPr bwMode="auto">
            <a:xfrm>
              <a:off x="2085" y="2673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800" name="Rectangle 176"/>
            <p:cNvSpPr>
              <a:spLocks noChangeArrowheads="1"/>
            </p:cNvSpPr>
            <p:nvPr/>
          </p:nvSpPr>
          <p:spPr bwMode="auto">
            <a:xfrm>
              <a:off x="1852" y="2778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801" name="Rectangle 177"/>
            <p:cNvSpPr>
              <a:spLocks noChangeArrowheads="1"/>
            </p:cNvSpPr>
            <p:nvPr/>
          </p:nvSpPr>
          <p:spPr bwMode="auto">
            <a:xfrm>
              <a:off x="1885" y="277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802" name="Rectangle 178"/>
            <p:cNvSpPr>
              <a:spLocks noChangeArrowheads="1"/>
            </p:cNvSpPr>
            <p:nvPr/>
          </p:nvSpPr>
          <p:spPr bwMode="auto">
            <a:xfrm>
              <a:off x="1941" y="2778"/>
              <a:ext cx="5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69803" name="Rectangle 179"/>
            <p:cNvSpPr>
              <a:spLocks noChangeArrowheads="1"/>
            </p:cNvSpPr>
            <p:nvPr/>
          </p:nvSpPr>
          <p:spPr bwMode="auto">
            <a:xfrm>
              <a:off x="1996" y="2778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9804" name="Rectangle 180"/>
            <p:cNvSpPr>
              <a:spLocks noChangeArrowheads="1"/>
            </p:cNvSpPr>
            <p:nvPr/>
          </p:nvSpPr>
          <p:spPr bwMode="auto">
            <a:xfrm>
              <a:off x="2020" y="2778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9805" name="Rectangle 181"/>
            <p:cNvSpPr>
              <a:spLocks noChangeArrowheads="1"/>
            </p:cNvSpPr>
            <p:nvPr/>
          </p:nvSpPr>
          <p:spPr bwMode="auto">
            <a:xfrm>
              <a:off x="2067" y="2778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806" name="Rectangle 182"/>
            <p:cNvSpPr>
              <a:spLocks noChangeArrowheads="1"/>
            </p:cNvSpPr>
            <p:nvPr/>
          </p:nvSpPr>
          <p:spPr bwMode="auto">
            <a:xfrm>
              <a:off x="2094" y="277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807" name="Rectangle 183"/>
            <p:cNvSpPr>
              <a:spLocks noChangeArrowheads="1"/>
            </p:cNvSpPr>
            <p:nvPr/>
          </p:nvSpPr>
          <p:spPr bwMode="auto">
            <a:xfrm>
              <a:off x="2150" y="2778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808" name="Rectangle 184"/>
            <p:cNvSpPr>
              <a:spLocks noChangeArrowheads="1"/>
            </p:cNvSpPr>
            <p:nvPr/>
          </p:nvSpPr>
          <p:spPr bwMode="auto">
            <a:xfrm>
              <a:off x="1850" y="2937"/>
              <a:ext cx="8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69809" name="Rectangle 185"/>
            <p:cNvSpPr>
              <a:spLocks noChangeArrowheads="1"/>
            </p:cNvSpPr>
            <p:nvPr/>
          </p:nvSpPr>
          <p:spPr bwMode="auto">
            <a:xfrm>
              <a:off x="1945" y="2937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810" name="Rectangle 186"/>
            <p:cNvSpPr>
              <a:spLocks noChangeArrowheads="1"/>
            </p:cNvSpPr>
            <p:nvPr/>
          </p:nvSpPr>
          <p:spPr bwMode="auto">
            <a:xfrm>
              <a:off x="1982" y="2937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9811" name="Rectangle 187"/>
            <p:cNvSpPr>
              <a:spLocks noChangeArrowheads="1"/>
            </p:cNvSpPr>
            <p:nvPr/>
          </p:nvSpPr>
          <p:spPr bwMode="auto">
            <a:xfrm>
              <a:off x="2001" y="2937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812" name="Rectangle 188"/>
            <p:cNvSpPr>
              <a:spLocks noChangeArrowheads="1"/>
            </p:cNvSpPr>
            <p:nvPr/>
          </p:nvSpPr>
          <p:spPr bwMode="auto">
            <a:xfrm>
              <a:off x="2028" y="293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813" name="Rectangle 189"/>
            <p:cNvSpPr>
              <a:spLocks noChangeArrowheads="1"/>
            </p:cNvSpPr>
            <p:nvPr/>
          </p:nvSpPr>
          <p:spPr bwMode="auto">
            <a:xfrm>
              <a:off x="2085" y="2937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814" name="Rectangle 190"/>
            <p:cNvSpPr>
              <a:spLocks noChangeArrowheads="1"/>
            </p:cNvSpPr>
            <p:nvPr/>
          </p:nvSpPr>
          <p:spPr bwMode="auto">
            <a:xfrm>
              <a:off x="1852" y="304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815" name="Rectangle 191"/>
            <p:cNvSpPr>
              <a:spLocks noChangeArrowheads="1"/>
            </p:cNvSpPr>
            <p:nvPr/>
          </p:nvSpPr>
          <p:spPr bwMode="auto">
            <a:xfrm>
              <a:off x="1908" y="304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816" name="Rectangle 192"/>
            <p:cNvSpPr>
              <a:spLocks noChangeArrowheads="1"/>
            </p:cNvSpPr>
            <p:nvPr/>
          </p:nvSpPr>
          <p:spPr bwMode="auto">
            <a:xfrm>
              <a:off x="1962" y="3044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817" name="Rectangle 193"/>
            <p:cNvSpPr>
              <a:spLocks noChangeArrowheads="1"/>
            </p:cNvSpPr>
            <p:nvPr/>
          </p:nvSpPr>
          <p:spPr bwMode="auto">
            <a:xfrm>
              <a:off x="1989" y="304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818" name="Rectangle 194"/>
            <p:cNvSpPr>
              <a:spLocks noChangeArrowheads="1"/>
            </p:cNvSpPr>
            <p:nvPr/>
          </p:nvSpPr>
          <p:spPr bwMode="auto">
            <a:xfrm>
              <a:off x="2505" y="2383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819" name="Rectangle 195"/>
            <p:cNvSpPr>
              <a:spLocks noChangeArrowheads="1"/>
            </p:cNvSpPr>
            <p:nvPr/>
          </p:nvSpPr>
          <p:spPr bwMode="auto">
            <a:xfrm>
              <a:off x="2576" y="238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820" name="Rectangle 196"/>
            <p:cNvSpPr>
              <a:spLocks noChangeArrowheads="1"/>
            </p:cNvSpPr>
            <p:nvPr/>
          </p:nvSpPr>
          <p:spPr bwMode="auto">
            <a:xfrm>
              <a:off x="2633" y="238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821" name="Rectangle 197"/>
            <p:cNvSpPr>
              <a:spLocks noChangeArrowheads="1"/>
            </p:cNvSpPr>
            <p:nvPr/>
          </p:nvSpPr>
          <p:spPr bwMode="auto">
            <a:xfrm>
              <a:off x="2686" y="238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822" name="Rectangle 198"/>
            <p:cNvSpPr>
              <a:spLocks noChangeArrowheads="1"/>
            </p:cNvSpPr>
            <p:nvPr/>
          </p:nvSpPr>
          <p:spPr bwMode="auto">
            <a:xfrm>
              <a:off x="2743" y="2383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823" name="Rectangle 199"/>
            <p:cNvSpPr>
              <a:spLocks noChangeArrowheads="1"/>
            </p:cNvSpPr>
            <p:nvPr/>
          </p:nvSpPr>
          <p:spPr bwMode="auto">
            <a:xfrm>
              <a:off x="2443" y="249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824" name="Rectangle 200"/>
            <p:cNvSpPr>
              <a:spLocks noChangeArrowheads="1"/>
            </p:cNvSpPr>
            <p:nvPr/>
          </p:nvSpPr>
          <p:spPr bwMode="auto">
            <a:xfrm>
              <a:off x="2498" y="249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825" name="Rectangle 201"/>
            <p:cNvSpPr>
              <a:spLocks noChangeArrowheads="1"/>
            </p:cNvSpPr>
            <p:nvPr/>
          </p:nvSpPr>
          <p:spPr bwMode="auto">
            <a:xfrm>
              <a:off x="2554" y="2497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826" name="Rectangle 202"/>
            <p:cNvSpPr>
              <a:spLocks noChangeArrowheads="1"/>
            </p:cNvSpPr>
            <p:nvPr/>
          </p:nvSpPr>
          <p:spPr bwMode="auto">
            <a:xfrm>
              <a:off x="2582" y="249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827" name="Rectangle 203"/>
            <p:cNvSpPr>
              <a:spLocks noChangeArrowheads="1"/>
            </p:cNvSpPr>
            <p:nvPr/>
          </p:nvSpPr>
          <p:spPr bwMode="auto">
            <a:xfrm>
              <a:off x="2638" y="2497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69828" name="Rectangle 204"/>
            <p:cNvSpPr>
              <a:spLocks noChangeArrowheads="1"/>
            </p:cNvSpPr>
            <p:nvPr/>
          </p:nvSpPr>
          <p:spPr bwMode="auto">
            <a:xfrm>
              <a:off x="2665" y="249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69829" name="Rectangle 205"/>
            <p:cNvSpPr>
              <a:spLocks noChangeArrowheads="1"/>
            </p:cNvSpPr>
            <p:nvPr/>
          </p:nvSpPr>
          <p:spPr bwMode="auto">
            <a:xfrm>
              <a:off x="2505" y="2662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830" name="Rectangle 206"/>
            <p:cNvSpPr>
              <a:spLocks noChangeArrowheads="1"/>
            </p:cNvSpPr>
            <p:nvPr/>
          </p:nvSpPr>
          <p:spPr bwMode="auto">
            <a:xfrm>
              <a:off x="2576" y="2662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831" name="Rectangle 207"/>
            <p:cNvSpPr>
              <a:spLocks noChangeArrowheads="1"/>
            </p:cNvSpPr>
            <p:nvPr/>
          </p:nvSpPr>
          <p:spPr bwMode="auto">
            <a:xfrm>
              <a:off x="2633" y="2662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832" name="Rectangle 208"/>
            <p:cNvSpPr>
              <a:spLocks noChangeArrowheads="1"/>
            </p:cNvSpPr>
            <p:nvPr/>
          </p:nvSpPr>
          <p:spPr bwMode="auto">
            <a:xfrm>
              <a:off x="2686" y="2662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833" name="Rectangle 209"/>
            <p:cNvSpPr>
              <a:spLocks noChangeArrowheads="1"/>
            </p:cNvSpPr>
            <p:nvPr/>
          </p:nvSpPr>
          <p:spPr bwMode="auto">
            <a:xfrm>
              <a:off x="2743" y="2662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834" name="Rectangle 210"/>
            <p:cNvSpPr>
              <a:spLocks noChangeArrowheads="1"/>
            </p:cNvSpPr>
            <p:nvPr/>
          </p:nvSpPr>
          <p:spPr bwMode="auto">
            <a:xfrm>
              <a:off x="2443" y="2775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835" name="Rectangle 211"/>
            <p:cNvSpPr>
              <a:spLocks noChangeArrowheads="1"/>
            </p:cNvSpPr>
            <p:nvPr/>
          </p:nvSpPr>
          <p:spPr bwMode="auto">
            <a:xfrm>
              <a:off x="2498" y="2775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836" name="Rectangle 212"/>
            <p:cNvSpPr>
              <a:spLocks noChangeArrowheads="1"/>
            </p:cNvSpPr>
            <p:nvPr/>
          </p:nvSpPr>
          <p:spPr bwMode="auto">
            <a:xfrm>
              <a:off x="2554" y="2775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837" name="Rectangle 213"/>
            <p:cNvSpPr>
              <a:spLocks noChangeArrowheads="1"/>
            </p:cNvSpPr>
            <p:nvPr/>
          </p:nvSpPr>
          <p:spPr bwMode="auto">
            <a:xfrm>
              <a:off x="2582" y="2775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838" name="Rectangle 214"/>
            <p:cNvSpPr>
              <a:spLocks noChangeArrowheads="1"/>
            </p:cNvSpPr>
            <p:nvPr/>
          </p:nvSpPr>
          <p:spPr bwMode="auto">
            <a:xfrm>
              <a:off x="2638" y="2775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69839" name="Rectangle 215"/>
            <p:cNvSpPr>
              <a:spLocks noChangeArrowheads="1"/>
            </p:cNvSpPr>
            <p:nvPr/>
          </p:nvSpPr>
          <p:spPr bwMode="auto">
            <a:xfrm>
              <a:off x="2665" y="2775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69840" name="Rectangle 216"/>
            <p:cNvSpPr>
              <a:spLocks noChangeArrowheads="1"/>
            </p:cNvSpPr>
            <p:nvPr/>
          </p:nvSpPr>
          <p:spPr bwMode="auto">
            <a:xfrm>
              <a:off x="1852" y="2167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841" name="Rectangle 217"/>
            <p:cNvSpPr>
              <a:spLocks noChangeArrowheads="1"/>
            </p:cNvSpPr>
            <p:nvPr/>
          </p:nvSpPr>
          <p:spPr bwMode="auto">
            <a:xfrm>
              <a:off x="1924" y="216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842" name="Rectangle 218"/>
            <p:cNvSpPr>
              <a:spLocks noChangeArrowheads="1"/>
            </p:cNvSpPr>
            <p:nvPr/>
          </p:nvSpPr>
          <p:spPr bwMode="auto">
            <a:xfrm>
              <a:off x="1981" y="216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843" name="Rectangle 219"/>
            <p:cNvSpPr>
              <a:spLocks noChangeArrowheads="1"/>
            </p:cNvSpPr>
            <p:nvPr/>
          </p:nvSpPr>
          <p:spPr bwMode="auto">
            <a:xfrm>
              <a:off x="2035" y="216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844" name="Rectangle 220"/>
            <p:cNvSpPr>
              <a:spLocks noChangeArrowheads="1"/>
            </p:cNvSpPr>
            <p:nvPr/>
          </p:nvSpPr>
          <p:spPr bwMode="auto">
            <a:xfrm>
              <a:off x="2092" y="2167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845" name="Rectangle 221"/>
            <p:cNvSpPr>
              <a:spLocks noChangeArrowheads="1"/>
            </p:cNvSpPr>
            <p:nvPr/>
          </p:nvSpPr>
          <p:spPr bwMode="auto">
            <a:xfrm>
              <a:off x="1852" y="2272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846" name="Rectangle 222"/>
            <p:cNvSpPr>
              <a:spLocks noChangeArrowheads="1"/>
            </p:cNvSpPr>
            <p:nvPr/>
          </p:nvSpPr>
          <p:spPr bwMode="auto">
            <a:xfrm>
              <a:off x="1885" y="2272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847" name="Rectangle 223"/>
            <p:cNvSpPr>
              <a:spLocks noChangeArrowheads="1"/>
            </p:cNvSpPr>
            <p:nvPr/>
          </p:nvSpPr>
          <p:spPr bwMode="auto">
            <a:xfrm>
              <a:off x="1941" y="2272"/>
              <a:ext cx="5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69848" name="Rectangle 224"/>
            <p:cNvSpPr>
              <a:spLocks noChangeArrowheads="1"/>
            </p:cNvSpPr>
            <p:nvPr/>
          </p:nvSpPr>
          <p:spPr bwMode="auto">
            <a:xfrm>
              <a:off x="1996" y="2272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9849" name="Rectangle 225"/>
            <p:cNvSpPr>
              <a:spLocks noChangeArrowheads="1"/>
            </p:cNvSpPr>
            <p:nvPr/>
          </p:nvSpPr>
          <p:spPr bwMode="auto">
            <a:xfrm>
              <a:off x="2020" y="2272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9850" name="Rectangle 226"/>
            <p:cNvSpPr>
              <a:spLocks noChangeArrowheads="1"/>
            </p:cNvSpPr>
            <p:nvPr/>
          </p:nvSpPr>
          <p:spPr bwMode="auto">
            <a:xfrm>
              <a:off x="2067" y="2272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851" name="Rectangle 227"/>
            <p:cNvSpPr>
              <a:spLocks noChangeArrowheads="1"/>
            </p:cNvSpPr>
            <p:nvPr/>
          </p:nvSpPr>
          <p:spPr bwMode="auto">
            <a:xfrm>
              <a:off x="2094" y="2272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852" name="Rectangle 228"/>
            <p:cNvSpPr>
              <a:spLocks noChangeArrowheads="1"/>
            </p:cNvSpPr>
            <p:nvPr/>
          </p:nvSpPr>
          <p:spPr bwMode="auto">
            <a:xfrm>
              <a:off x="2150" y="2272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853" name="Rectangle 229"/>
            <p:cNvSpPr>
              <a:spLocks noChangeArrowheads="1"/>
            </p:cNvSpPr>
            <p:nvPr/>
          </p:nvSpPr>
          <p:spPr bwMode="auto">
            <a:xfrm>
              <a:off x="2183" y="2272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69854" name="Rectangle 230"/>
            <p:cNvSpPr>
              <a:spLocks noChangeArrowheads="1"/>
            </p:cNvSpPr>
            <p:nvPr/>
          </p:nvSpPr>
          <p:spPr bwMode="auto">
            <a:xfrm>
              <a:off x="2211" y="2272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69855" name="Rectangle 231"/>
            <p:cNvSpPr>
              <a:spLocks noChangeArrowheads="1"/>
            </p:cNvSpPr>
            <p:nvPr/>
          </p:nvSpPr>
          <p:spPr bwMode="auto">
            <a:xfrm>
              <a:off x="1858" y="2428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856" name="Rectangle 232"/>
            <p:cNvSpPr>
              <a:spLocks noChangeArrowheads="1"/>
            </p:cNvSpPr>
            <p:nvPr/>
          </p:nvSpPr>
          <p:spPr bwMode="auto">
            <a:xfrm>
              <a:off x="1930" y="242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857" name="Rectangle 233"/>
            <p:cNvSpPr>
              <a:spLocks noChangeArrowheads="1"/>
            </p:cNvSpPr>
            <p:nvPr/>
          </p:nvSpPr>
          <p:spPr bwMode="auto">
            <a:xfrm>
              <a:off x="1987" y="242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858" name="Rectangle 234"/>
            <p:cNvSpPr>
              <a:spLocks noChangeArrowheads="1"/>
            </p:cNvSpPr>
            <p:nvPr/>
          </p:nvSpPr>
          <p:spPr bwMode="auto">
            <a:xfrm>
              <a:off x="2041" y="242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859" name="Rectangle 235"/>
            <p:cNvSpPr>
              <a:spLocks noChangeArrowheads="1"/>
            </p:cNvSpPr>
            <p:nvPr/>
          </p:nvSpPr>
          <p:spPr bwMode="auto">
            <a:xfrm>
              <a:off x="2097" y="2428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860" name="Rectangle 236"/>
            <p:cNvSpPr>
              <a:spLocks noChangeArrowheads="1"/>
            </p:cNvSpPr>
            <p:nvPr/>
          </p:nvSpPr>
          <p:spPr bwMode="auto">
            <a:xfrm>
              <a:off x="1857" y="2533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861" name="Rectangle 237"/>
            <p:cNvSpPr>
              <a:spLocks noChangeArrowheads="1"/>
            </p:cNvSpPr>
            <p:nvPr/>
          </p:nvSpPr>
          <p:spPr bwMode="auto">
            <a:xfrm>
              <a:off x="1891" y="253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862" name="Rectangle 238"/>
            <p:cNvSpPr>
              <a:spLocks noChangeArrowheads="1"/>
            </p:cNvSpPr>
            <p:nvPr/>
          </p:nvSpPr>
          <p:spPr bwMode="auto">
            <a:xfrm>
              <a:off x="1947" y="2533"/>
              <a:ext cx="5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69863" name="Rectangle 239"/>
            <p:cNvSpPr>
              <a:spLocks noChangeArrowheads="1"/>
            </p:cNvSpPr>
            <p:nvPr/>
          </p:nvSpPr>
          <p:spPr bwMode="auto">
            <a:xfrm>
              <a:off x="2002" y="2533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9864" name="Rectangle 240"/>
            <p:cNvSpPr>
              <a:spLocks noChangeArrowheads="1"/>
            </p:cNvSpPr>
            <p:nvPr/>
          </p:nvSpPr>
          <p:spPr bwMode="auto">
            <a:xfrm>
              <a:off x="2026" y="2533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9865" name="Rectangle 241"/>
            <p:cNvSpPr>
              <a:spLocks noChangeArrowheads="1"/>
            </p:cNvSpPr>
            <p:nvPr/>
          </p:nvSpPr>
          <p:spPr bwMode="auto">
            <a:xfrm>
              <a:off x="2072" y="2533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866" name="Rectangle 242"/>
            <p:cNvSpPr>
              <a:spLocks noChangeArrowheads="1"/>
            </p:cNvSpPr>
            <p:nvPr/>
          </p:nvSpPr>
          <p:spPr bwMode="auto">
            <a:xfrm>
              <a:off x="2104" y="253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867" name="Rectangle 243"/>
            <p:cNvSpPr>
              <a:spLocks noChangeArrowheads="1"/>
            </p:cNvSpPr>
            <p:nvPr/>
          </p:nvSpPr>
          <p:spPr bwMode="auto">
            <a:xfrm>
              <a:off x="2157" y="2533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868" name="Rectangle 244"/>
            <p:cNvSpPr>
              <a:spLocks noChangeArrowheads="1"/>
            </p:cNvSpPr>
            <p:nvPr/>
          </p:nvSpPr>
          <p:spPr bwMode="auto">
            <a:xfrm>
              <a:off x="2189" y="2533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69869" name="Rectangle 245"/>
            <p:cNvSpPr>
              <a:spLocks noChangeArrowheads="1"/>
            </p:cNvSpPr>
            <p:nvPr/>
          </p:nvSpPr>
          <p:spPr bwMode="auto">
            <a:xfrm>
              <a:off x="2217" y="253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69870" name="Freeform 246"/>
            <p:cNvSpPr>
              <a:spLocks noChangeArrowheads="1"/>
            </p:cNvSpPr>
            <p:nvPr/>
          </p:nvSpPr>
          <p:spPr bwMode="auto">
            <a:xfrm>
              <a:off x="1664" y="2972"/>
              <a:ext cx="3825" cy="1005"/>
            </a:xfrm>
            <a:custGeom>
              <a:avLst/>
              <a:gdLst>
                <a:gd name="T0" fmla="*/ 3399 w 3475"/>
                <a:gd name="T1" fmla="*/ 0 h 913"/>
                <a:gd name="T2" fmla="*/ 3475 w 3475"/>
                <a:gd name="T3" fmla="*/ 0 h 913"/>
                <a:gd name="T4" fmla="*/ 3475 w 3475"/>
                <a:gd name="T5" fmla="*/ 913 h 913"/>
                <a:gd name="T6" fmla="*/ 0 w 3475"/>
                <a:gd name="T7" fmla="*/ 913 h 913"/>
                <a:gd name="T8" fmla="*/ 0 w 3475"/>
                <a:gd name="T9" fmla="*/ 65 h 913"/>
                <a:gd name="T10" fmla="*/ 95 w 3475"/>
                <a:gd name="T11" fmla="*/ 65 h 9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475"/>
                <a:gd name="T19" fmla="*/ 0 h 913"/>
                <a:gd name="T20" fmla="*/ 3475 w 3475"/>
                <a:gd name="T21" fmla="*/ 913 h 91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475" h="913">
                  <a:moveTo>
                    <a:pt x="3399" y="0"/>
                  </a:moveTo>
                  <a:lnTo>
                    <a:pt x="3475" y="0"/>
                  </a:lnTo>
                  <a:lnTo>
                    <a:pt x="3475" y="913"/>
                  </a:lnTo>
                  <a:lnTo>
                    <a:pt x="0" y="913"/>
                  </a:lnTo>
                  <a:lnTo>
                    <a:pt x="0" y="65"/>
                  </a:lnTo>
                  <a:lnTo>
                    <a:pt x="95" y="65"/>
                  </a:lnTo>
                </a:path>
              </a:pathLst>
            </a:custGeom>
            <a:noFill/>
            <a:ln w="3492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871" name="Line 247"/>
            <p:cNvSpPr>
              <a:spLocks noChangeShapeType="1"/>
            </p:cNvSpPr>
            <p:nvPr/>
          </p:nvSpPr>
          <p:spPr bwMode="auto">
            <a:xfrm flipH="1">
              <a:off x="1277" y="2784"/>
              <a:ext cx="501" cy="1"/>
            </a:xfrm>
            <a:prstGeom prst="line">
              <a:avLst/>
            </a:prstGeom>
            <a:noFill/>
            <a:ln w="3492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9872" name="Group 248"/>
            <p:cNvGrpSpPr>
              <a:grpSpLocks/>
            </p:cNvGrpSpPr>
            <p:nvPr/>
          </p:nvGrpSpPr>
          <p:grpSpPr bwMode="auto">
            <a:xfrm>
              <a:off x="2304" y="3456"/>
              <a:ext cx="292" cy="217"/>
              <a:chOff x="2304" y="3456"/>
              <a:chExt cx="292" cy="217"/>
            </a:xfrm>
          </p:grpSpPr>
          <p:sp>
            <p:nvSpPr>
              <p:cNvPr id="70039" name="Rectangle 249"/>
              <p:cNvSpPr>
                <a:spLocks noChangeArrowheads="1"/>
              </p:cNvSpPr>
              <p:nvPr/>
            </p:nvSpPr>
            <p:spPr bwMode="auto">
              <a:xfrm>
                <a:off x="2362" y="3456"/>
                <a:ext cx="59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666666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666666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0040" name="Rectangle 250"/>
              <p:cNvSpPr>
                <a:spLocks noChangeArrowheads="1"/>
              </p:cNvSpPr>
              <p:nvPr/>
            </p:nvSpPr>
            <p:spPr bwMode="auto">
              <a:xfrm>
                <a:off x="2426" y="3456"/>
                <a:ext cx="2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666666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666666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0041" name="Rectangle 251"/>
              <p:cNvSpPr>
                <a:spLocks noChangeArrowheads="1"/>
              </p:cNvSpPr>
              <p:nvPr/>
            </p:nvSpPr>
            <p:spPr bwMode="auto">
              <a:xfrm>
                <a:off x="2446" y="3456"/>
                <a:ext cx="51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666666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666666"/>
                    </a:solidFill>
                    <a:latin typeface="Arial" charset="0"/>
                    <a:ea typeface="新細明體" charset="-120"/>
                  </a:rPr>
                  <a:t>g</a:t>
                </a:r>
              </a:p>
            </p:txBody>
          </p:sp>
          <p:sp>
            <p:nvSpPr>
              <p:cNvPr id="70042" name="Rectangle 252"/>
              <p:cNvSpPr>
                <a:spLocks noChangeArrowheads="1"/>
              </p:cNvSpPr>
              <p:nvPr/>
            </p:nvSpPr>
            <p:spPr bwMode="auto">
              <a:xfrm>
                <a:off x="2505" y="3456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666666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666666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0043" name="Rectangle 253"/>
              <p:cNvSpPr>
                <a:spLocks noChangeArrowheads="1"/>
              </p:cNvSpPr>
              <p:nvPr/>
            </p:nvSpPr>
            <p:spPr bwMode="auto">
              <a:xfrm>
                <a:off x="2559" y="3456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044" name="Rectangle 254"/>
              <p:cNvSpPr>
                <a:spLocks noChangeArrowheads="1"/>
              </p:cNvSpPr>
              <p:nvPr/>
            </p:nvSpPr>
            <p:spPr bwMode="auto">
              <a:xfrm>
                <a:off x="2304" y="3566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666666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666666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0045" name="Rectangle 255"/>
              <p:cNvSpPr>
                <a:spLocks noChangeArrowheads="1"/>
              </p:cNvSpPr>
              <p:nvPr/>
            </p:nvSpPr>
            <p:spPr bwMode="auto">
              <a:xfrm>
                <a:off x="2362" y="3566"/>
                <a:ext cx="4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666666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666666"/>
                    </a:solidFill>
                    <a:latin typeface="Arial" charset="0"/>
                    <a:ea typeface="新細明體" charset="-120"/>
                  </a:rPr>
                  <a:t>x</a:t>
                </a:r>
              </a:p>
            </p:txBody>
          </p:sp>
          <p:sp>
            <p:nvSpPr>
              <p:cNvPr id="70046" name="Rectangle 256"/>
              <p:cNvSpPr>
                <a:spLocks noChangeArrowheads="1"/>
              </p:cNvSpPr>
              <p:nvPr/>
            </p:nvSpPr>
            <p:spPr bwMode="auto">
              <a:xfrm>
                <a:off x="2408" y="3566"/>
                <a:ext cx="24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666666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666666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0047" name="Rectangle 257"/>
              <p:cNvSpPr>
                <a:spLocks noChangeArrowheads="1"/>
              </p:cNvSpPr>
              <p:nvPr/>
            </p:nvSpPr>
            <p:spPr bwMode="auto">
              <a:xfrm>
                <a:off x="2436" y="3566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666666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666666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0048" name="Rectangle 258"/>
              <p:cNvSpPr>
                <a:spLocks noChangeArrowheads="1"/>
              </p:cNvSpPr>
              <p:nvPr/>
            </p:nvSpPr>
            <p:spPr bwMode="auto">
              <a:xfrm>
                <a:off x="2493" y="3566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666666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666666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0049" name="Rectangle 259"/>
              <p:cNvSpPr>
                <a:spLocks noChangeArrowheads="1"/>
              </p:cNvSpPr>
              <p:nvPr/>
            </p:nvSpPr>
            <p:spPr bwMode="auto">
              <a:xfrm>
                <a:off x="2546" y="3566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666666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666666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</p:grpSp>
        <p:sp>
          <p:nvSpPr>
            <p:cNvPr id="69873" name="Freeform 260"/>
            <p:cNvSpPr>
              <a:spLocks noChangeArrowheads="1"/>
            </p:cNvSpPr>
            <p:nvPr/>
          </p:nvSpPr>
          <p:spPr bwMode="auto">
            <a:xfrm>
              <a:off x="3506" y="2338"/>
              <a:ext cx="509" cy="744"/>
            </a:xfrm>
            <a:custGeom>
              <a:avLst/>
              <a:gdLst>
                <a:gd name="T0" fmla="*/ 0 w 462"/>
                <a:gd name="T1" fmla="*/ 0 h 676"/>
                <a:gd name="T2" fmla="*/ 0 w 462"/>
                <a:gd name="T3" fmla="*/ 274 h 676"/>
                <a:gd name="T4" fmla="*/ 70 w 462"/>
                <a:gd name="T5" fmla="*/ 340 h 676"/>
                <a:gd name="T6" fmla="*/ 0 w 462"/>
                <a:gd name="T7" fmla="*/ 405 h 676"/>
                <a:gd name="T8" fmla="*/ 0 w 462"/>
                <a:gd name="T9" fmla="*/ 676 h 676"/>
                <a:gd name="T10" fmla="*/ 462 w 462"/>
                <a:gd name="T11" fmla="*/ 470 h 676"/>
                <a:gd name="T12" fmla="*/ 462 w 462"/>
                <a:gd name="T13" fmla="*/ 209 h 676"/>
                <a:gd name="T14" fmla="*/ 0 w 462"/>
                <a:gd name="T15" fmla="*/ 3 h 676"/>
                <a:gd name="T16" fmla="*/ 0 w 462"/>
                <a:gd name="T17" fmla="*/ 3 h 676"/>
                <a:gd name="T18" fmla="*/ 0 w 462"/>
                <a:gd name="T19" fmla="*/ 0 h 67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462"/>
                <a:gd name="T31" fmla="*/ 0 h 676"/>
                <a:gd name="T32" fmla="*/ 462 w 462"/>
                <a:gd name="T33" fmla="*/ 676 h 67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462" h="676">
                  <a:moveTo>
                    <a:pt x="0" y="0"/>
                  </a:moveTo>
                  <a:lnTo>
                    <a:pt x="0" y="274"/>
                  </a:lnTo>
                  <a:lnTo>
                    <a:pt x="70" y="340"/>
                  </a:lnTo>
                  <a:lnTo>
                    <a:pt x="0" y="405"/>
                  </a:lnTo>
                  <a:lnTo>
                    <a:pt x="0" y="676"/>
                  </a:lnTo>
                  <a:lnTo>
                    <a:pt x="462" y="470"/>
                  </a:lnTo>
                  <a:lnTo>
                    <a:pt x="462" y="209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874" name="Freeform 261"/>
            <p:cNvSpPr>
              <a:spLocks noChangeArrowheads="1"/>
            </p:cNvSpPr>
            <p:nvPr/>
          </p:nvSpPr>
          <p:spPr bwMode="auto">
            <a:xfrm>
              <a:off x="3506" y="2338"/>
              <a:ext cx="509" cy="744"/>
            </a:xfrm>
            <a:custGeom>
              <a:avLst/>
              <a:gdLst>
                <a:gd name="T0" fmla="*/ 0 w 462"/>
                <a:gd name="T1" fmla="*/ 0 h 676"/>
                <a:gd name="T2" fmla="*/ 0 w 462"/>
                <a:gd name="T3" fmla="*/ 274 h 676"/>
                <a:gd name="T4" fmla="*/ 70 w 462"/>
                <a:gd name="T5" fmla="*/ 340 h 676"/>
                <a:gd name="T6" fmla="*/ 0 w 462"/>
                <a:gd name="T7" fmla="*/ 405 h 676"/>
                <a:gd name="T8" fmla="*/ 0 w 462"/>
                <a:gd name="T9" fmla="*/ 676 h 676"/>
                <a:gd name="T10" fmla="*/ 462 w 462"/>
                <a:gd name="T11" fmla="*/ 470 h 676"/>
                <a:gd name="T12" fmla="*/ 462 w 462"/>
                <a:gd name="T13" fmla="*/ 209 h 676"/>
                <a:gd name="T14" fmla="*/ 0 w 462"/>
                <a:gd name="T15" fmla="*/ 3 h 676"/>
                <a:gd name="T16" fmla="*/ 0 w 462"/>
                <a:gd name="T17" fmla="*/ 3 h 6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62"/>
                <a:gd name="T28" fmla="*/ 0 h 676"/>
                <a:gd name="T29" fmla="*/ 462 w 462"/>
                <a:gd name="T30" fmla="*/ 676 h 67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62" h="676">
                  <a:moveTo>
                    <a:pt x="0" y="0"/>
                  </a:moveTo>
                  <a:lnTo>
                    <a:pt x="0" y="274"/>
                  </a:lnTo>
                  <a:lnTo>
                    <a:pt x="70" y="340"/>
                  </a:lnTo>
                  <a:lnTo>
                    <a:pt x="0" y="405"/>
                  </a:lnTo>
                  <a:lnTo>
                    <a:pt x="0" y="676"/>
                  </a:lnTo>
                  <a:lnTo>
                    <a:pt x="462" y="470"/>
                  </a:lnTo>
                  <a:lnTo>
                    <a:pt x="462" y="209"/>
                  </a:lnTo>
                  <a:lnTo>
                    <a:pt x="0" y="3"/>
                  </a:lnTo>
                </a:path>
              </a:pathLst>
            </a:custGeom>
            <a:noFill/>
            <a:ln w="1764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875" name="Rectangle 262"/>
            <p:cNvSpPr>
              <a:spLocks noChangeArrowheads="1"/>
            </p:cNvSpPr>
            <p:nvPr/>
          </p:nvSpPr>
          <p:spPr bwMode="auto">
            <a:xfrm>
              <a:off x="3817" y="2664"/>
              <a:ext cx="5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876" name="Rectangle 263"/>
            <p:cNvSpPr>
              <a:spLocks noChangeArrowheads="1"/>
            </p:cNvSpPr>
            <p:nvPr/>
          </p:nvSpPr>
          <p:spPr bwMode="auto">
            <a:xfrm>
              <a:off x="3886" y="266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69877" name="Rectangle 264"/>
            <p:cNvSpPr>
              <a:spLocks noChangeArrowheads="1"/>
            </p:cNvSpPr>
            <p:nvPr/>
          </p:nvSpPr>
          <p:spPr bwMode="auto">
            <a:xfrm>
              <a:off x="3940" y="2664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69878" name="Rectangle 265"/>
            <p:cNvSpPr>
              <a:spLocks noChangeArrowheads="1"/>
            </p:cNvSpPr>
            <p:nvPr/>
          </p:nvSpPr>
          <p:spPr bwMode="auto">
            <a:xfrm>
              <a:off x="4012" y="266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879" name="Rectangle 266"/>
            <p:cNvSpPr>
              <a:spLocks noChangeArrowheads="1"/>
            </p:cNvSpPr>
            <p:nvPr/>
          </p:nvSpPr>
          <p:spPr bwMode="auto">
            <a:xfrm>
              <a:off x="3739" y="2751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880" name="Rectangle 267"/>
            <p:cNvSpPr>
              <a:spLocks noChangeArrowheads="1"/>
            </p:cNvSpPr>
            <p:nvPr/>
          </p:nvSpPr>
          <p:spPr bwMode="auto">
            <a:xfrm>
              <a:off x="3773" y="2751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881" name="Rectangle 268"/>
            <p:cNvSpPr>
              <a:spLocks noChangeArrowheads="1"/>
            </p:cNvSpPr>
            <p:nvPr/>
          </p:nvSpPr>
          <p:spPr bwMode="auto">
            <a:xfrm>
              <a:off x="3829" y="2751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9882" name="Rectangle 269"/>
            <p:cNvSpPr>
              <a:spLocks noChangeArrowheads="1"/>
            </p:cNvSpPr>
            <p:nvPr/>
          </p:nvSpPr>
          <p:spPr bwMode="auto">
            <a:xfrm>
              <a:off x="3880" y="2751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69883" name="Rectangle 270"/>
            <p:cNvSpPr>
              <a:spLocks noChangeArrowheads="1"/>
            </p:cNvSpPr>
            <p:nvPr/>
          </p:nvSpPr>
          <p:spPr bwMode="auto">
            <a:xfrm>
              <a:off x="3934" y="2751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69884" name="Rectangle 271"/>
            <p:cNvSpPr>
              <a:spLocks noChangeArrowheads="1"/>
            </p:cNvSpPr>
            <p:nvPr/>
          </p:nvSpPr>
          <p:spPr bwMode="auto">
            <a:xfrm>
              <a:off x="3957" y="2751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885" name="Rectangle 272"/>
            <p:cNvSpPr>
              <a:spLocks noChangeArrowheads="1"/>
            </p:cNvSpPr>
            <p:nvPr/>
          </p:nvSpPr>
          <p:spPr bwMode="auto">
            <a:xfrm>
              <a:off x="3799" y="2547"/>
              <a:ext cx="5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Z</a:t>
              </a:r>
            </a:p>
          </p:txBody>
        </p:sp>
        <p:sp>
          <p:nvSpPr>
            <p:cNvPr id="69886" name="Rectangle 273"/>
            <p:cNvSpPr>
              <a:spLocks noChangeArrowheads="1"/>
            </p:cNvSpPr>
            <p:nvPr/>
          </p:nvSpPr>
          <p:spPr bwMode="auto">
            <a:xfrm>
              <a:off x="3859" y="254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887" name="Rectangle 274"/>
            <p:cNvSpPr>
              <a:spLocks noChangeArrowheads="1"/>
            </p:cNvSpPr>
            <p:nvPr/>
          </p:nvSpPr>
          <p:spPr bwMode="auto">
            <a:xfrm>
              <a:off x="3915" y="2547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888" name="Rectangle 275"/>
            <p:cNvSpPr>
              <a:spLocks noChangeArrowheads="1"/>
            </p:cNvSpPr>
            <p:nvPr/>
          </p:nvSpPr>
          <p:spPr bwMode="auto">
            <a:xfrm>
              <a:off x="3949" y="254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69889" name="Rectangle 276"/>
            <p:cNvSpPr>
              <a:spLocks noChangeArrowheads="1"/>
            </p:cNvSpPr>
            <p:nvPr/>
          </p:nvSpPr>
          <p:spPr bwMode="auto">
            <a:xfrm>
              <a:off x="4663" y="2972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890" name="Rectangle 277"/>
            <p:cNvSpPr>
              <a:spLocks noChangeArrowheads="1"/>
            </p:cNvSpPr>
            <p:nvPr/>
          </p:nvSpPr>
          <p:spPr bwMode="auto">
            <a:xfrm>
              <a:off x="4735" y="2972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891" name="Rectangle 278"/>
            <p:cNvSpPr>
              <a:spLocks noChangeArrowheads="1"/>
            </p:cNvSpPr>
            <p:nvPr/>
          </p:nvSpPr>
          <p:spPr bwMode="auto">
            <a:xfrm>
              <a:off x="4791" y="2972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892" name="Rectangle 279"/>
            <p:cNvSpPr>
              <a:spLocks noChangeArrowheads="1"/>
            </p:cNvSpPr>
            <p:nvPr/>
          </p:nvSpPr>
          <p:spPr bwMode="auto">
            <a:xfrm>
              <a:off x="4820" y="2972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893" name="Rectangle 280"/>
            <p:cNvSpPr>
              <a:spLocks noChangeArrowheads="1"/>
            </p:cNvSpPr>
            <p:nvPr/>
          </p:nvSpPr>
          <p:spPr bwMode="auto">
            <a:xfrm>
              <a:off x="4876" y="2972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894" name="Rectangle 281"/>
            <p:cNvSpPr>
              <a:spLocks noChangeArrowheads="1"/>
            </p:cNvSpPr>
            <p:nvPr/>
          </p:nvSpPr>
          <p:spPr bwMode="auto">
            <a:xfrm>
              <a:off x="4594" y="3085"/>
              <a:ext cx="7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69895" name="Rectangle 282"/>
            <p:cNvSpPr>
              <a:spLocks noChangeArrowheads="1"/>
            </p:cNvSpPr>
            <p:nvPr/>
          </p:nvSpPr>
          <p:spPr bwMode="auto">
            <a:xfrm>
              <a:off x="4675" y="3085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896" name="Rectangle 283"/>
            <p:cNvSpPr>
              <a:spLocks noChangeArrowheads="1"/>
            </p:cNvSpPr>
            <p:nvPr/>
          </p:nvSpPr>
          <p:spPr bwMode="auto">
            <a:xfrm>
              <a:off x="4732" y="3085"/>
              <a:ext cx="7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69897" name="Rectangle 284"/>
            <p:cNvSpPr>
              <a:spLocks noChangeArrowheads="1"/>
            </p:cNvSpPr>
            <p:nvPr/>
          </p:nvSpPr>
          <p:spPr bwMode="auto">
            <a:xfrm>
              <a:off x="4816" y="3085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69898" name="Rectangle 285"/>
            <p:cNvSpPr>
              <a:spLocks noChangeArrowheads="1"/>
            </p:cNvSpPr>
            <p:nvPr/>
          </p:nvSpPr>
          <p:spPr bwMode="auto">
            <a:xfrm>
              <a:off x="4869" y="3085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899" name="Rectangle 286"/>
            <p:cNvSpPr>
              <a:spLocks noChangeArrowheads="1"/>
            </p:cNvSpPr>
            <p:nvPr/>
          </p:nvSpPr>
          <p:spPr bwMode="auto">
            <a:xfrm>
              <a:off x="4903" y="3085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69900" name="Rectangle 287"/>
            <p:cNvSpPr>
              <a:spLocks noChangeArrowheads="1"/>
            </p:cNvSpPr>
            <p:nvPr/>
          </p:nvSpPr>
          <p:spPr bwMode="auto">
            <a:xfrm>
              <a:off x="4263" y="2694"/>
              <a:ext cx="5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901" name="Rectangle 288"/>
            <p:cNvSpPr>
              <a:spLocks noChangeArrowheads="1"/>
            </p:cNvSpPr>
            <p:nvPr/>
          </p:nvSpPr>
          <p:spPr bwMode="auto">
            <a:xfrm>
              <a:off x="4329" y="269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902" name="Rectangle 289"/>
            <p:cNvSpPr>
              <a:spLocks noChangeArrowheads="1"/>
            </p:cNvSpPr>
            <p:nvPr/>
          </p:nvSpPr>
          <p:spPr bwMode="auto">
            <a:xfrm>
              <a:off x="4383" y="269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903" name="Rectangle 290"/>
            <p:cNvSpPr>
              <a:spLocks noChangeArrowheads="1"/>
            </p:cNvSpPr>
            <p:nvPr/>
          </p:nvSpPr>
          <p:spPr bwMode="auto">
            <a:xfrm>
              <a:off x="4439" y="2694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904" name="Rectangle 291"/>
            <p:cNvSpPr>
              <a:spLocks noChangeArrowheads="1"/>
            </p:cNvSpPr>
            <p:nvPr/>
          </p:nvSpPr>
          <p:spPr bwMode="auto">
            <a:xfrm>
              <a:off x="4472" y="2694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905" name="Rectangle 292"/>
            <p:cNvSpPr>
              <a:spLocks noChangeArrowheads="1"/>
            </p:cNvSpPr>
            <p:nvPr/>
          </p:nvSpPr>
          <p:spPr bwMode="auto">
            <a:xfrm>
              <a:off x="4526" y="2694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9906" name="Rectangle 293"/>
            <p:cNvSpPr>
              <a:spLocks noChangeArrowheads="1"/>
            </p:cNvSpPr>
            <p:nvPr/>
          </p:nvSpPr>
          <p:spPr bwMode="auto">
            <a:xfrm>
              <a:off x="4577" y="2694"/>
              <a:ext cx="4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9907" name="Rectangle 294"/>
            <p:cNvSpPr>
              <a:spLocks noChangeArrowheads="1"/>
            </p:cNvSpPr>
            <p:nvPr/>
          </p:nvSpPr>
          <p:spPr bwMode="auto">
            <a:xfrm>
              <a:off x="4261" y="3116"/>
              <a:ext cx="8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69908" name="Rectangle 295"/>
            <p:cNvSpPr>
              <a:spLocks noChangeArrowheads="1"/>
            </p:cNvSpPr>
            <p:nvPr/>
          </p:nvSpPr>
          <p:spPr bwMode="auto">
            <a:xfrm>
              <a:off x="4354" y="3116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909" name="Rectangle 296"/>
            <p:cNvSpPr>
              <a:spLocks noChangeArrowheads="1"/>
            </p:cNvSpPr>
            <p:nvPr/>
          </p:nvSpPr>
          <p:spPr bwMode="auto">
            <a:xfrm>
              <a:off x="4388" y="3116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9910" name="Rectangle 297"/>
            <p:cNvSpPr>
              <a:spLocks noChangeArrowheads="1"/>
            </p:cNvSpPr>
            <p:nvPr/>
          </p:nvSpPr>
          <p:spPr bwMode="auto">
            <a:xfrm>
              <a:off x="4412" y="3116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911" name="Rectangle 298"/>
            <p:cNvSpPr>
              <a:spLocks noChangeArrowheads="1"/>
            </p:cNvSpPr>
            <p:nvPr/>
          </p:nvSpPr>
          <p:spPr bwMode="auto">
            <a:xfrm>
              <a:off x="4440" y="311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912" name="Rectangle 299"/>
            <p:cNvSpPr>
              <a:spLocks noChangeArrowheads="1"/>
            </p:cNvSpPr>
            <p:nvPr/>
          </p:nvSpPr>
          <p:spPr bwMode="auto">
            <a:xfrm>
              <a:off x="4493" y="3116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13" name="Rectangle 300"/>
            <p:cNvSpPr>
              <a:spLocks noChangeArrowheads="1"/>
            </p:cNvSpPr>
            <p:nvPr/>
          </p:nvSpPr>
          <p:spPr bwMode="auto">
            <a:xfrm>
              <a:off x="4263" y="323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914" name="Rectangle 301"/>
            <p:cNvSpPr>
              <a:spLocks noChangeArrowheads="1"/>
            </p:cNvSpPr>
            <p:nvPr/>
          </p:nvSpPr>
          <p:spPr bwMode="auto">
            <a:xfrm>
              <a:off x="4317" y="323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915" name="Rectangle 302"/>
            <p:cNvSpPr>
              <a:spLocks noChangeArrowheads="1"/>
            </p:cNvSpPr>
            <p:nvPr/>
          </p:nvSpPr>
          <p:spPr bwMode="auto">
            <a:xfrm>
              <a:off x="4373" y="3230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916" name="Rectangle 303"/>
            <p:cNvSpPr>
              <a:spLocks noChangeArrowheads="1"/>
            </p:cNvSpPr>
            <p:nvPr/>
          </p:nvSpPr>
          <p:spPr bwMode="auto">
            <a:xfrm>
              <a:off x="4400" y="3230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917" name="Line 304"/>
            <p:cNvSpPr>
              <a:spLocks noChangeShapeType="1"/>
            </p:cNvSpPr>
            <p:nvPr/>
          </p:nvSpPr>
          <p:spPr bwMode="auto">
            <a:xfrm flipH="1">
              <a:off x="4086" y="2763"/>
              <a:ext cx="109" cy="1"/>
            </a:xfrm>
            <a:prstGeom prst="line">
              <a:avLst/>
            </a:prstGeom>
            <a:noFill/>
            <a:ln w="3492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918" name="Rectangle 305"/>
            <p:cNvSpPr>
              <a:spLocks noChangeArrowheads="1"/>
            </p:cNvSpPr>
            <p:nvPr/>
          </p:nvSpPr>
          <p:spPr bwMode="auto">
            <a:xfrm>
              <a:off x="4801" y="2667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919" name="Rectangle 306"/>
            <p:cNvSpPr>
              <a:spLocks noChangeArrowheads="1"/>
            </p:cNvSpPr>
            <p:nvPr/>
          </p:nvSpPr>
          <p:spPr bwMode="auto">
            <a:xfrm>
              <a:off x="4874" y="266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920" name="Rectangle 307"/>
            <p:cNvSpPr>
              <a:spLocks noChangeArrowheads="1"/>
            </p:cNvSpPr>
            <p:nvPr/>
          </p:nvSpPr>
          <p:spPr bwMode="auto">
            <a:xfrm>
              <a:off x="4926" y="266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921" name="Rectangle 308"/>
            <p:cNvSpPr>
              <a:spLocks noChangeArrowheads="1"/>
            </p:cNvSpPr>
            <p:nvPr/>
          </p:nvSpPr>
          <p:spPr bwMode="auto">
            <a:xfrm>
              <a:off x="4984" y="2667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922" name="Rectangle 309"/>
            <p:cNvSpPr>
              <a:spLocks noChangeArrowheads="1"/>
            </p:cNvSpPr>
            <p:nvPr/>
          </p:nvSpPr>
          <p:spPr bwMode="auto">
            <a:xfrm>
              <a:off x="5038" y="2667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23" name="Rectangle 310"/>
            <p:cNvSpPr>
              <a:spLocks noChangeArrowheads="1"/>
            </p:cNvSpPr>
            <p:nvPr/>
          </p:nvSpPr>
          <p:spPr bwMode="auto">
            <a:xfrm>
              <a:off x="4831" y="277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924" name="Rectangle 311"/>
            <p:cNvSpPr>
              <a:spLocks noChangeArrowheads="1"/>
            </p:cNvSpPr>
            <p:nvPr/>
          </p:nvSpPr>
          <p:spPr bwMode="auto">
            <a:xfrm>
              <a:off x="4885" y="277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925" name="Rectangle 312"/>
            <p:cNvSpPr>
              <a:spLocks noChangeArrowheads="1"/>
            </p:cNvSpPr>
            <p:nvPr/>
          </p:nvSpPr>
          <p:spPr bwMode="auto">
            <a:xfrm>
              <a:off x="4941" y="2778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926" name="Rectangle 313"/>
            <p:cNvSpPr>
              <a:spLocks noChangeArrowheads="1"/>
            </p:cNvSpPr>
            <p:nvPr/>
          </p:nvSpPr>
          <p:spPr bwMode="auto">
            <a:xfrm>
              <a:off x="4968" y="277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927" name="Rectangle 314"/>
            <p:cNvSpPr>
              <a:spLocks noChangeArrowheads="1"/>
            </p:cNvSpPr>
            <p:nvPr/>
          </p:nvSpPr>
          <p:spPr bwMode="auto">
            <a:xfrm>
              <a:off x="5295" y="2829"/>
              <a:ext cx="8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69928" name="Rectangle 315"/>
            <p:cNvSpPr>
              <a:spLocks noChangeArrowheads="1"/>
            </p:cNvSpPr>
            <p:nvPr/>
          </p:nvSpPr>
          <p:spPr bwMode="auto">
            <a:xfrm>
              <a:off x="5379" y="2829"/>
              <a:ext cx="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29" name="Rectangle 316"/>
            <p:cNvSpPr>
              <a:spLocks noChangeArrowheads="1"/>
            </p:cNvSpPr>
            <p:nvPr/>
          </p:nvSpPr>
          <p:spPr bwMode="auto">
            <a:xfrm>
              <a:off x="5309" y="2904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69930" name="Rectangle 317"/>
            <p:cNvSpPr>
              <a:spLocks noChangeArrowheads="1"/>
            </p:cNvSpPr>
            <p:nvPr/>
          </p:nvSpPr>
          <p:spPr bwMode="auto">
            <a:xfrm>
              <a:off x="5363" y="2904"/>
              <a:ext cx="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31" name="Rectangle 318"/>
            <p:cNvSpPr>
              <a:spLocks noChangeArrowheads="1"/>
            </p:cNvSpPr>
            <p:nvPr/>
          </p:nvSpPr>
          <p:spPr bwMode="auto">
            <a:xfrm>
              <a:off x="5313" y="2979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69932" name="Line 319"/>
            <p:cNvSpPr>
              <a:spLocks noChangeShapeType="1"/>
            </p:cNvSpPr>
            <p:nvPr/>
          </p:nvSpPr>
          <p:spPr bwMode="auto">
            <a:xfrm>
              <a:off x="1279" y="2530"/>
              <a:ext cx="498" cy="2"/>
            </a:xfrm>
            <a:prstGeom prst="line">
              <a:avLst/>
            </a:prstGeom>
            <a:noFill/>
            <a:ln w="3492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933" name="Line 320"/>
            <p:cNvSpPr>
              <a:spLocks noChangeShapeType="1"/>
            </p:cNvSpPr>
            <p:nvPr/>
          </p:nvSpPr>
          <p:spPr bwMode="auto">
            <a:xfrm flipH="1">
              <a:off x="4014" y="2763"/>
              <a:ext cx="74" cy="1"/>
            </a:xfrm>
            <a:prstGeom prst="line">
              <a:avLst/>
            </a:prstGeom>
            <a:noFill/>
            <a:ln w="3492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934" name="Freeform 321"/>
            <p:cNvSpPr>
              <a:spLocks noChangeArrowheads="1"/>
            </p:cNvSpPr>
            <p:nvPr/>
          </p:nvSpPr>
          <p:spPr bwMode="auto">
            <a:xfrm>
              <a:off x="4083" y="2763"/>
              <a:ext cx="1134" cy="906"/>
            </a:xfrm>
            <a:custGeom>
              <a:avLst/>
              <a:gdLst>
                <a:gd name="T0" fmla="*/ 1030 w 1030"/>
                <a:gd name="T1" fmla="*/ 339 h 823"/>
                <a:gd name="T2" fmla="*/ 976 w 1030"/>
                <a:gd name="T3" fmla="*/ 339 h 823"/>
                <a:gd name="T4" fmla="*/ 976 w 1030"/>
                <a:gd name="T5" fmla="*/ 823 h 823"/>
                <a:gd name="T6" fmla="*/ 0 w 1030"/>
                <a:gd name="T7" fmla="*/ 823 h 823"/>
                <a:gd name="T8" fmla="*/ 0 w 1030"/>
                <a:gd name="T9" fmla="*/ 0 h 8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0"/>
                <a:gd name="T16" fmla="*/ 0 h 823"/>
                <a:gd name="T17" fmla="*/ 1030 w 1030"/>
                <a:gd name="T18" fmla="*/ 823 h 82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0" h="823">
                  <a:moveTo>
                    <a:pt x="1030" y="339"/>
                  </a:moveTo>
                  <a:lnTo>
                    <a:pt x="976" y="339"/>
                  </a:lnTo>
                  <a:lnTo>
                    <a:pt x="976" y="823"/>
                  </a:lnTo>
                  <a:lnTo>
                    <a:pt x="0" y="823"/>
                  </a:lnTo>
                  <a:lnTo>
                    <a:pt x="0" y="0"/>
                  </a:lnTo>
                </a:path>
              </a:pathLst>
            </a:custGeom>
            <a:noFill/>
            <a:ln w="3492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35" name="Line 322"/>
            <p:cNvSpPr>
              <a:spLocks noChangeShapeType="1"/>
            </p:cNvSpPr>
            <p:nvPr/>
          </p:nvSpPr>
          <p:spPr bwMode="auto">
            <a:xfrm>
              <a:off x="1213" y="2658"/>
              <a:ext cx="62" cy="3"/>
            </a:xfrm>
            <a:prstGeom prst="line">
              <a:avLst/>
            </a:prstGeom>
            <a:noFill/>
            <a:ln w="3492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936" name="Freeform 323"/>
            <p:cNvSpPr>
              <a:spLocks noChangeArrowheads="1"/>
            </p:cNvSpPr>
            <p:nvPr/>
          </p:nvSpPr>
          <p:spPr bwMode="auto">
            <a:xfrm>
              <a:off x="4107" y="2598"/>
              <a:ext cx="37" cy="36"/>
            </a:xfrm>
            <a:custGeom>
              <a:avLst/>
              <a:gdLst>
                <a:gd name="T0" fmla="*/ 0 w 33"/>
                <a:gd name="T1" fmla="*/ 0 h 33"/>
                <a:gd name="T2" fmla="*/ 0 w 33"/>
                <a:gd name="T3" fmla="*/ 33 h 33"/>
                <a:gd name="T4" fmla="*/ 33 w 33"/>
                <a:gd name="T5" fmla="*/ 17 h 33"/>
                <a:gd name="T6" fmla="*/ 0 w 33"/>
                <a:gd name="T7" fmla="*/ 0 h 33"/>
                <a:gd name="T8" fmla="*/ 0 w 33"/>
                <a:gd name="T9" fmla="*/ 0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3"/>
                <a:gd name="T16" fmla="*/ 0 h 33"/>
                <a:gd name="T17" fmla="*/ 33 w 33"/>
                <a:gd name="T18" fmla="*/ 33 h 3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3" h="33">
                  <a:moveTo>
                    <a:pt x="0" y="0"/>
                  </a:moveTo>
                  <a:lnTo>
                    <a:pt x="0" y="33"/>
                  </a:lnTo>
                  <a:lnTo>
                    <a:pt x="33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37" name="Line 324"/>
            <p:cNvSpPr>
              <a:spLocks noChangeShapeType="1"/>
            </p:cNvSpPr>
            <p:nvPr/>
          </p:nvSpPr>
          <p:spPr bwMode="auto">
            <a:xfrm>
              <a:off x="4008" y="2617"/>
              <a:ext cx="108" cy="1"/>
            </a:xfrm>
            <a:prstGeom prst="line">
              <a:avLst/>
            </a:prstGeom>
            <a:noFill/>
            <a:ln w="1764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938" name="Rectangle 325"/>
            <p:cNvSpPr>
              <a:spLocks noChangeArrowheads="1"/>
            </p:cNvSpPr>
            <p:nvPr/>
          </p:nvSpPr>
          <p:spPr bwMode="auto">
            <a:xfrm>
              <a:off x="3231" y="2789"/>
              <a:ext cx="8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69939" name="Rectangle 326"/>
            <p:cNvSpPr>
              <a:spLocks noChangeArrowheads="1"/>
            </p:cNvSpPr>
            <p:nvPr/>
          </p:nvSpPr>
          <p:spPr bwMode="auto">
            <a:xfrm>
              <a:off x="3315" y="2789"/>
              <a:ext cx="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0" name="Rectangle 327"/>
            <p:cNvSpPr>
              <a:spLocks noChangeArrowheads="1"/>
            </p:cNvSpPr>
            <p:nvPr/>
          </p:nvSpPr>
          <p:spPr bwMode="auto">
            <a:xfrm>
              <a:off x="3243" y="2864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69941" name="Rectangle 328"/>
            <p:cNvSpPr>
              <a:spLocks noChangeArrowheads="1"/>
            </p:cNvSpPr>
            <p:nvPr/>
          </p:nvSpPr>
          <p:spPr bwMode="auto">
            <a:xfrm>
              <a:off x="3300" y="2864"/>
              <a:ext cx="1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2" name="Rectangle 329"/>
            <p:cNvSpPr>
              <a:spLocks noChangeArrowheads="1"/>
            </p:cNvSpPr>
            <p:nvPr/>
          </p:nvSpPr>
          <p:spPr bwMode="auto">
            <a:xfrm>
              <a:off x="3249" y="2939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69943" name="Freeform 330"/>
            <p:cNvSpPr>
              <a:spLocks noChangeArrowheads="1"/>
            </p:cNvSpPr>
            <p:nvPr/>
          </p:nvSpPr>
          <p:spPr bwMode="auto">
            <a:xfrm>
              <a:off x="477" y="2415"/>
              <a:ext cx="36" cy="36"/>
            </a:xfrm>
            <a:custGeom>
              <a:avLst/>
              <a:gdLst>
                <a:gd name="T0" fmla="*/ 16 w 32"/>
                <a:gd name="T1" fmla="*/ 33 h 33"/>
                <a:gd name="T2" fmla="*/ 19 w 32"/>
                <a:gd name="T3" fmla="*/ 33 h 33"/>
                <a:gd name="T4" fmla="*/ 21 w 32"/>
                <a:gd name="T5" fmla="*/ 33 h 33"/>
                <a:gd name="T6" fmla="*/ 24 w 32"/>
                <a:gd name="T7" fmla="*/ 33 h 33"/>
                <a:gd name="T8" fmla="*/ 27 w 32"/>
                <a:gd name="T9" fmla="*/ 30 h 33"/>
                <a:gd name="T10" fmla="*/ 29 w 32"/>
                <a:gd name="T11" fmla="*/ 30 h 33"/>
                <a:gd name="T12" fmla="*/ 29 w 32"/>
                <a:gd name="T13" fmla="*/ 28 h 33"/>
                <a:gd name="T14" fmla="*/ 32 w 32"/>
                <a:gd name="T15" fmla="*/ 25 h 33"/>
                <a:gd name="T16" fmla="*/ 32 w 32"/>
                <a:gd name="T17" fmla="*/ 22 h 33"/>
                <a:gd name="T18" fmla="*/ 32 w 32"/>
                <a:gd name="T19" fmla="*/ 20 h 33"/>
                <a:gd name="T20" fmla="*/ 32 w 32"/>
                <a:gd name="T21" fmla="*/ 17 h 33"/>
                <a:gd name="T22" fmla="*/ 32 w 32"/>
                <a:gd name="T23" fmla="*/ 14 h 33"/>
                <a:gd name="T24" fmla="*/ 32 w 32"/>
                <a:gd name="T25" fmla="*/ 11 h 33"/>
                <a:gd name="T26" fmla="*/ 32 w 32"/>
                <a:gd name="T27" fmla="*/ 9 h 33"/>
                <a:gd name="T28" fmla="*/ 29 w 32"/>
                <a:gd name="T29" fmla="*/ 9 h 33"/>
                <a:gd name="T30" fmla="*/ 29 w 32"/>
                <a:gd name="T31" fmla="*/ 6 h 33"/>
                <a:gd name="T32" fmla="*/ 27 w 32"/>
                <a:gd name="T33" fmla="*/ 3 h 33"/>
                <a:gd name="T34" fmla="*/ 24 w 32"/>
                <a:gd name="T35" fmla="*/ 3 h 33"/>
                <a:gd name="T36" fmla="*/ 21 w 32"/>
                <a:gd name="T37" fmla="*/ 0 h 33"/>
                <a:gd name="T38" fmla="*/ 19 w 32"/>
                <a:gd name="T39" fmla="*/ 0 h 33"/>
                <a:gd name="T40" fmla="*/ 16 w 32"/>
                <a:gd name="T41" fmla="*/ 0 h 33"/>
                <a:gd name="T42" fmla="*/ 13 w 32"/>
                <a:gd name="T43" fmla="*/ 0 h 33"/>
                <a:gd name="T44" fmla="*/ 10 w 32"/>
                <a:gd name="T45" fmla="*/ 0 h 33"/>
                <a:gd name="T46" fmla="*/ 8 w 32"/>
                <a:gd name="T47" fmla="*/ 3 h 33"/>
                <a:gd name="T48" fmla="*/ 8 w 32"/>
                <a:gd name="T49" fmla="*/ 3 h 33"/>
                <a:gd name="T50" fmla="*/ 5 w 32"/>
                <a:gd name="T51" fmla="*/ 6 h 33"/>
                <a:gd name="T52" fmla="*/ 2 w 32"/>
                <a:gd name="T53" fmla="*/ 9 h 33"/>
                <a:gd name="T54" fmla="*/ 2 w 32"/>
                <a:gd name="T55" fmla="*/ 9 h 33"/>
                <a:gd name="T56" fmla="*/ 0 w 32"/>
                <a:gd name="T57" fmla="*/ 11 h 33"/>
                <a:gd name="T58" fmla="*/ 0 w 32"/>
                <a:gd name="T59" fmla="*/ 14 h 33"/>
                <a:gd name="T60" fmla="*/ 0 w 32"/>
                <a:gd name="T61" fmla="*/ 17 h 33"/>
                <a:gd name="T62" fmla="*/ 0 w 32"/>
                <a:gd name="T63" fmla="*/ 20 h 33"/>
                <a:gd name="T64" fmla="*/ 0 w 32"/>
                <a:gd name="T65" fmla="*/ 22 h 33"/>
                <a:gd name="T66" fmla="*/ 2 w 32"/>
                <a:gd name="T67" fmla="*/ 25 h 33"/>
                <a:gd name="T68" fmla="*/ 2 w 32"/>
                <a:gd name="T69" fmla="*/ 28 h 33"/>
                <a:gd name="T70" fmla="*/ 5 w 32"/>
                <a:gd name="T71" fmla="*/ 30 h 33"/>
                <a:gd name="T72" fmla="*/ 8 w 32"/>
                <a:gd name="T73" fmla="*/ 30 h 33"/>
                <a:gd name="T74" fmla="*/ 8 w 32"/>
                <a:gd name="T75" fmla="*/ 33 h 33"/>
                <a:gd name="T76" fmla="*/ 10 w 32"/>
                <a:gd name="T77" fmla="*/ 33 h 33"/>
                <a:gd name="T78" fmla="*/ 13 w 32"/>
                <a:gd name="T79" fmla="*/ 33 h 33"/>
                <a:gd name="T80" fmla="*/ 16 w 32"/>
                <a:gd name="T81" fmla="*/ 33 h 33"/>
                <a:gd name="T82" fmla="*/ 16 w 32"/>
                <a:gd name="T83" fmla="*/ 33 h 3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2"/>
                <a:gd name="T127" fmla="*/ 0 h 33"/>
                <a:gd name="T128" fmla="*/ 32 w 32"/>
                <a:gd name="T129" fmla="*/ 33 h 3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2" h="33">
                  <a:moveTo>
                    <a:pt x="16" y="33"/>
                  </a:moveTo>
                  <a:lnTo>
                    <a:pt x="19" y="33"/>
                  </a:lnTo>
                  <a:lnTo>
                    <a:pt x="21" y="33"/>
                  </a:lnTo>
                  <a:lnTo>
                    <a:pt x="24" y="33"/>
                  </a:lnTo>
                  <a:lnTo>
                    <a:pt x="27" y="30"/>
                  </a:lnTo>
                  <a:lnTo>
                    <a:pt x="29" y="30"/>
                  </a:lnTo>
                  <a:lnTo>
                    <a:pt x="29" y="28"/>
                  </a:lnTo>
                  <a:lnTo>
                    <a:pt x="32" y="25"/>
                  </a:lnTo>
                  <a:lnTo>
                    <a:pt x="32" y="22"/>
                  </a:lnTo>
                  <a:lnTo>
                    <a:pt x="32" y="20"/>
                  </a:lnTo>
                  <a:lnTo>
                    <a:pt x="32" y="17"/>
                  </a:lnTo>
                  <a:lnTo>
                    <a:pt x="32" y="14"/>
                  </a:lnTo>
                  <a:lnTo>
                    <a:pt x="32" y="11"/>
                  </a:lnTo>
                  <a:lnTo>
                    <a:pt x="32" y="9"/>
                  </a:lnTo>
                  <a:lnTo>
                    <a:pt x="29" y="9"/>
                  </a:lnTo>
                  <a:lnTo>
                    <a:pt x="29" y="6"/>
                  </a:lnTo>
                  <a:lnTo>
                    <a:pt x="27" y="3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3" y="0"/>
                  </a:lnTo>
                  <a:lnTo>
                    <a:pt x="10" y="0"/>
                  </a:lnTo>
                  <a:lnTo>
                    <a:pt x="8" y="3"/>
                  </a:lnTo>
                  <a:lnTo>
                    <a:pt x="5" y="6"/>
                  </a:lnTo>
                  <a:lnTo>
                    <a:pt x="2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2" y="25"/>
                  </a:lnTo>
                  <a:lnTo>
                    <a:pt x="2" y="28"/>
                  </a:lnTo>
                  <a:lnTo>
                    <a:pt x="5" y="30"/>
                  </a:lnTo>
                  <a:lnTo>
                    <a:pt x="8" y="30"/>
                  </a:lnTo>
                  <a:lnTo>
                    <a:pt x="8" y="33"/>
                  </a:lnTo>
                  <a:lnTo>
                    <a:pt x="10" y="33"/>
                  </a:lnTo>
                  <a:lnTo>
                    <a:pt x="13" y="33"/>
                  </a:lnTo>
                  <a:lnTo>
                    <a:pt x="16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4" name="Freeform 331"/>
            <p:cNvSpPr>
              <a:spLocks noChangeArrowheads="1"/>
            </p:cNvSpPr>
            <p:nvPr/>
          </p:nvSpPr>
          <p:spPr bwMode="auto">
            <a:xfrm>
              <a:off x="1258" y="2640"/>
              <a:ext cx="38" cy="39"/>
            </a:xfrm>
            <a:custGeom>
              <a:avLst/>
              <a:gdLst>
                <a:gd name="T0" fmla="*/ 16 w 35"/>
                <a:gd name="T1" fmla="*/ 33 h 36"/>
                <a:gd name="T2" fmla="*/ 19 w 35"/>
                <a:gd name="T3" fmla="*/ 36 h 36"/>
                <a:gd name="T4" fmla="*/ 21 w 35"/>
                <a:gd name="T5" fmla="*/ 33 h 36"/>
                <a:gd name="T6" fmla="*/ 24 w 35"/>
                <a:gd name="T7" fmla="*/ 33 h 36"/>
                <a:gd name="T8" fmla="*/ 27 w 35"/>
                <a:gd name="T9" fmla="*/ 33 h 36"/>
                <a:gd name="T10" fmla="*/ 30 w 35"/>
                <a:gd name="T11" fmla="*/ 30 h 36"/>
                <a:gd name="T12" fmla="*/ 30 w 35"/>
                <a:gd name="T13" fmla="*/ 27 h 36"/>
                <a:gd name="T14" fmla="*/ 32 w 35"/>
                <a:gd name="T15" fmla="*/ 25 h 36"/>
                <a:gd name="T16" fmla="*/ 32 w 35"/>
                <a:gd name="T17" fmla="*/ 25 h 36"/>
                <a:gd name="T18" fmla="*/ 32 w 35"/>
                <a:gd name="T19" fmla="*/ 22 h 36"/>
                <a:gd name="T20" fmla="*/ 35 w 35"/>
                <a:gd name="T21" fmla="*/ 19 h 36"/>
                <a:gd name="T22" fmla="*/ 32 w 35"/>
                <a:gd name="T23" fmla="*/ 17 h 36"/>
                <a:gd name="T24" fmla="*/ 32 w 35"/>
                <a:gd name="T25" fmla="*/ 14 h 36"/>
                <a:gd name="T26" fmla="*/ 32 w 35"/>
                <a:gd name="T27" fmla="*/ 11 h 36"/>
                <a:gd name="T28" fmla="*/ 30 w 35"/>
                <a:gd name="T29" fmla="*/ 8 h 36"/>
                <a:gd name="T30" fmla="*/ 30 w 35"/>
                <a:gd name="T31" fmla="*/ 6 h 36"/>
                <a:gd name="T32" fmla="*/ 27 w 35"/>
                <a:gd name="T33" fmla="*/ 6 h 36"/>
                <a:gd name="T34" fmla="*/ 24 w 35"/>
                <a:gd name="T35" fmla="*/ 3 h 36"/>
                <a:gd name="T36" fmla="*/ 21 w 35"/>
                <a:gd name="T37" fmla="*/ 3 h 36"/>
                <a:gd name="T38" fmla="*/ 19 w 35"/>
                <a:gd name="T39" fmla="*/ 3 h 36"/>
                <a:gd name="T40" fmla="*/ 16 w 35"/>
                <a:gd name="T41" fmla="*/ 0 h 36"/>
                <a:gd name="T42" fmla="*/ 13 w 35"/>
                <a:gd name="T43" fmla="*/ 3 h 36"/>
                <a:gd name="T44" fmla="*/ 11 w 35"/>
                <a:gd name="T45" fmla="*/ 3 h 36"/>
                <a:gd name="T46" fmla="*/ 11 w 35"/>
                <a:gd name="T47" fmla="*/ 3 h 36"/>
                <a:gd name="T48" fmla="*/ 8 w 35"/>
                <a:gd name="T49" fmla="*/ 6 h 36"/>
                <a:gd name="T50" fmla="*/ 5 w 35"/>
                <a:gd name="T51" fmla="*/ 6 h 36"/>
                <a:gd name="T52" fmla="*/ 2 w 35"/>
                <a:gd name="T53" fmla="*/ 8 h 36"/>
                <a:gd name="T54" fmla="*/ 2 w 35"/>
                <a:gd name="T55" fmla="*/ 11 h 36"/>
                <a:gd name="T56" fmla="*/ 2 w 35"/>
                <a:gd name="T57" fmla="*/ 14 h 36"/>
                <a:gd name="T58" fmla="*/ 0 w 35"/>
                <a:gd name="T59" fmla="*/ 17 h 36"/>
                <a:gd name="T60" fmla="*/ 0 w 35"/>
                <a:gd name="T61" fmla="*/ 19 h 36"/>
                <a:gd name="T62" fmla="*/ 0 w 35"/>
                <a:gd name="T63" fmla="*/ 22 h 36"/>
                <a:gd name="T64" fmla="*/ 2 w 35"/>
                <a:gd name="T65" fmla="*/ 25 h 36"/>
                <a:gd name="T66" fmla="*/ 2 w 35"/>
                <a:gd name="T67" fmla="*/ 25 h 36"/>
                <a:gd name="T68" fmla="*/ 2 w 35"/>
                <a:gd name="T69" fmla="*/ 27 h 36"/>
                <a:gd name="T70" fmla="*/ 5 w 35"/>
                <a:gd name="T71" fmla="*/ 30 h 36"/>
                <a:gd name="T72" fmla="*/ 8 w 35"/>
                <a:gd name="T73" fmla="*/ 33 h 36"/>
                <a:gd name="T74" fmla="*/ 11 w 35"/>
                <a:gd name="T75" fmla="*/ 33 h 36"/>
                <a:gd name="T76" fmla="*/ 11 w 35"/>
                <a:gd name="T77" fmla="*/ 33 h 36"/>
                <a:gd name="T78" fmla="*/ 13 w 35"/>
                <a:gd name="T79" fmla="*/ 36 h 36"/>
                <a:gd name="T80" fmla="*/ 16 w 35"/>
                <a:gd name="T81" fmla="*/ 36 h 36"/>
                <a:gd name="T82" fmla="*/ 16 w 35"/>
                <a:gd name="T83" fmla="*/ 36 h 36"/>
                <a:gd name="T84" fmla="*/ 16 w 35"/>
                <a:gd name="T85" fmla="*/ 33 h 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5"/>
                <a:gd name="T130" fmla="*/ 0 h 36"/>
                <a:gd name="T131" fmla="*/ 35 w 35"/>
                <a:gd name="T132" fmla="*/ 36 h 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5" h="36">
                  <a:moveTo>
                    <a:pt x="16" y="33"/>
                  </a:moveTo>
                  <a:lnTo>
                    <a:pt x="19" y="36"/>
                  </a:lnTo>
                  <a:lnTo>
                    <a:pt x="21" y="33"/>
                  </a:lnTo>
                  <a:lnTo>
                    <a:pt x="24" y="33"/>
                  </a:lnTo>
                  <a:lnTo>
                    <a:pt x="27" y="33"/>
                  </a:lnTo>
                  <a:lnTo>
                    <a:pt x="30" y="30"/>
                  </a:lnTo>
                  <a:lnTo>
                    <a:pt x="30" y="27"/>
                  </a:lnTo>
                  <a:lnTo>
                    <a:pt x="32" y="25"/>
                  </a:lnTo>
                  <a:lnTo>
                    <a:pt x="32" y="22"/>
                  </a:lnTo>
                  <a:lnTo>
                    <a:pt x="35" y="19"/>
                  </a:lnTo>
                  <a:lnTo>
                    <a:pt x="32" y="17"/>
                  </a:lnTo>
                  <a:lnTo>
                    <a:pt x="32" y="14"/>
                  </a:lnTo>
                  <a:lnTo>
                    <a:pt x="32" y="11"/>
                  </a:lnTo>
                  <a:lnTo>
                    <a:pt x="30" y="8"/>
                  </a:lnTo>
                  <a:lnTo>
                    <a:pt x="30" y="6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19" y="3"/>
                  </a:lnTo>
                  <a:lnTo>
                    <a:pt x="16" y="0"/>
                  </a:lnTo>
                  <a:lnTo>
                    <a:pt x="13" y="3"/>
                  </a:lnTo>
                  <a:lnTo>
                    <a:pt x="11" y="3"/>
                  </a:lnTo>
                  <a:lnTo>
                    <a:pt x="8" y="6"/>
                  </a:lnTo>
                  <a:lnTo>
                    <a:pt x="5" y="6"/>
                  </a:lnTo>
                  <a:lnTo>
                    <a:pt x="2" y="8"/>
                  </a:lnTo>
                  <a:lnTo>
                    <a:pt x="2" y="11"/>
                  </a:lnTo>
                  <a:lnTo>
                    <a:pt x="2" y="14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2" y="25"/>
                  </a:lnTo>
                  <a:lnTo>
                    <a:pt x="2" y="27"/>
                  </a:lnTo>
                  <a:lnTo>
                    <a:pt x="5" y="30"/>
                  </a:lnTo>
                  <a:lnTo>
                    <a:pt x="8" y="33"/>
                  </a:lnTo>
                  <a:lnTo>
                    <a:pt x="11" y="33"/>
                  </a:lnTo>
                  <a:lnTo>
                    <a:pt x="13" y="36"/>
                  </a:lnTo>
                  <a:lnTo>
                    <a:pt x="16" y="36"/>
                  </a:lnTo>
                  <a:lnTo>
                    <a:pt x="16" y="3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45" name="Rectangle 332"/>
            <p:cNvSpPr>
              <a:spLocks noChangeArrowheads="1"/>
            </p:cNvSpPr>
            <p:nvPr/>
          </p:nvSpPr>
          <p:spPr bwMode="auto">
            <a:xfrm>
              <a:off x="3593" y="2643"/>
              <a:ext cx="5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946" name="Rectangle 333"/>
            <p:cNvSpPr>
              <a:spLocks noChangeArrowheads="1"/>
            </p:cNvSpPr>
            <p:nvPr/>
          </p:nvSpPr>
          <p:spPr bwMode="auto">
            <a:xfrm>
              <a:off x="3658" y="2643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69947" name="Rectangle 334"/>
            <p:cNvSpPr>
              <a:spLocks noChangeArrowheads="1"/>
            </p:cNvSpPr>
            <p:nvPr/>
          </p:nvSpPr>
          <p:spPr bwMode="auto">
            <a:xfrm>
              <a:off x="3717" y="2643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69948" name="Rectangle 335"/>
            <p:cNvSpPr>
              <a:spLocks noChangeArrowheads="1"/>
            </p:cNvSpPr>
            <p:nvPr/>
          </p:nvSpPr>
          <p:spPr bwMode="auto">
            <a:xfrm>
              <a:off x="1897" y="3209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949" name="Rectangle 336"/>
            <p:cNvSpPr>
              <a:spLocks noChangeArrowheads="1"/>
            </p:cNvSpPr>
            <p:nvPr/>
          </p:nvSpPr>
          <p:spPr bwMode="auto">
            <a:xfrm>
              <a:off x="1969" y="320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950" name="Rectangle 337"/>
            <p:cNvSpPr>
              <a:spLocks noChangeArrowheads="1"/>
            </p:cNvSpPr>
            <p:nvPr/>
          </p:nvSpPr>
          <p:spPr bwMode="auto">
            <a:xfrm>
              <a:off x="2026" y="3209"/>
              <a:ext cx="51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69951" name="Rectangle 338"/>
            <p:cNvSpPr>
              <a:spLocks noChangeArrowheads="1"/>
            </p:cNvSpPr>
            <p:nvPr/>
          </p:nvSpPr>
          <p:spPr bwMode="auto">
            <a:xfrm>
              <a:off x="2077" y="3209"/>
              <a:ext cx="8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69952" name="Rectangle 339"/>
            <p:cNvSpPr>
              <a:spLocks noChangeArrowheads="1"/>
            </p:cNvSpPr>
            <p:nvPr/>
          </p:nvSpPr>
          <p:spPr bwMode="auto">
            <a:xfrm>
              <a:off x="2175" y="3209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953" name="Rectangle 340"/>
            <p:cNvSpPr>
              <a:spLocks noChangeArrowheads="1"/>
            </p:cNvSpPr>
            <p:nvPr/>
          </p:nvSpPr>
          <p:spPr bwMode="auto">
            <a:xfrm>
              <a:off x="2209" y="3209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9954" name="Rectangle 341"/>
            <p:cNvSpPr>
              <a:spLocks noChangeArrowheads="1"/>
            </p:cNvSpPr>
            <p:nvPr/>
          </p:nvSpPr>
          <p:spPr bwMode="auto">
            <a:xfrm>
              <a:off x="2229" y="3209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955" name="Rectangle 342"/>
            <p:cNvSpPr>
              <a:spLocks noChangeArrowheads="1"/>
            </p:cNvSpPr>
            <p:nvPr/>
          </p:nvSpPr>
          <p:spPr bwMode="auto">
            <a:xfrm>
              <a:off x="2259" y="320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956" name="Rectangle 343"/>
            <p:cNvSpPr>
              <a:spLocks noChangeArrowheads="1"/>
            </p:cNvSpPr>
            <p:nvPr/>
          </p:nvSpPr>
          <p:spPr bwMode="auto">
            <a:xfrm>
              <a:off x="3766" y="2176"/>
              <a:ext cx="5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957" name="Rectangle 344"/>
            <p:cNvSpPr>
              <a:spLocks noChangeArrowheads="1"/>
            </p:cNvSpPr>
            <p:nvPr/>
          </p:nvSpPr>
          <p:spPr bwMode="auto">
            <a:xfrm>
              <a:off x="3832" y="217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69958" name="Rectangle 345"/>
            <p:cNvSpPr>
              <a:spLocks noChangeArrowheads="1"/>
            </p:cNvSpPr>
            <p:nvPr/>
          </p:nvSpPr>
          <p:spPr bwMode="auto">
            <a:xfrm>
              <a:off x="3889" y="2176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69959" name="Rectangle 346"/>
            <p:cNvSpPr>
              <a:spLocks noChangeArrowheads="1"/>
            </p:cNvSpPr>
            <p:nvPr/>
          </p:nvSpPr>
          <p:spPr bwMode="auto">
            <a:xfrm>
              <a:off x="3960" y="2176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69960" name="Rectangle 347"/>
            <p:cNvSpPr>
              <a:spLocks noChangeArrowheads="1"/>
            </p:cNvSpPr>
            <p:nvPr/>
          </p:nvSpPr>
          <p:spPr bwMode="auto">
            <a:xfrm>
              <a:off x="3987" y="217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69961" name="Rectangle 348"/>
            <p:cNvSpPr>
              <a:spLocks noChangeArrowheads="1"/>
            </p:cNvSpPr>
            <p:nvPr/>
          </p:nvSpPr>
          <p:spPr bwMode="auto">
            <a:xfrm>
              <a:off x="4045" y="217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69962" name="Rectangle 349"/>
            <p:cNvSpPr>
              <a:spLocks noChangeArrowheads="1"/>
            </p:cNvSpPr>
            <p:nvPr/>
          </p:nvSpPr>
          <p:spPr bwMode="auto">
            <a:xfrm>
              <a:off x="4099" y="217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963" name="Rectangle 350"/>
            <p:cNvSpPr>
              <a:spLocks noChangeArrowheads="1"/>
            </p:cNvSpPr>
            <p:nvPr/>
          </p:nvSpPr>
          <p:spPr bwMode="auto">
            <a:xfrm>
              <a:off x="4154" y="2176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964" name="Rectangle 351"/>
            <p:cNvSpPr>
              <a:spLocks noChangeArrowheads="1"/>
            </p:cNvSpPr>
            <p:nvPr/>
          </p:nvSpPr>
          <p:spPr bwMode="auto">
            <a:xfrm>
              <a:off x="4188" y="217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965" name="Rectangle 352"/>
            <p:cNvSpPr>
              <a:spLocks noChangeArrowheads="1"/>
            </p:cNvSpPr>
            <p:nvPr/>
          </p:nvSpPr>
          <p:spPr bwMode="auto">
            <a:xfrm>
              <a:off x="4244" y="2176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966" name="Rectangle 353"/>
            <p:cNvSpPr>
              <a:spLocks noChangeArrowheads="1"/>
            </p:cNvSpPr>
            <p:nvPr/>
          </p:nvSpPr>
          <p:spPr bwMode="auto">
            <a:xfrm>
              <a:off x="4271" y="2176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9967" name="Rectangle 354"/>
            <p:cNvSpPr>
              <a:spLocks noChangeArrowheads="1"/>
            </p:cNvSpPr>
            <p:nvPr/>
          </p:nvSpPr>
          <p:spPr bwMode="auto">
            <a:xfrm>
              <a:off x="4292" y="217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69968" name="Rectangle 355"/>
            <p:cNvSpPr>
              <a:spLocks noChangeArrowheads="1"/>
            </p:cNvSpPr>
            <p:nvPr/>
          </p:nvSpPr>
          <p:spPr bwMode="auto">
            <a:xfrm>
              <a:off x="4350" y="217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69969" name="Rectangle 356"/>
            <p:cNvSpPr>
              <a:spLocks noChangeArrowheads="1"/>
            </p:cNvSpPr>
            <p:nvPr/>
          </p:nvSpPr>
          <p:spPr bwMode="auto">
            <a:xfrm>
              <a:off x="3587" y="2228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69970" name="Rectangle 357"/>
            <p:cNvSpPr>
              <a:spLocks noChangeArrowheads="1"/>
            </p:cNvSpPr>
            <p:nvPr/>
          </p:nvSpPr>
          <p:spPr bwMode="auto">
            <a:xfrm>
              <a:off x="4209" y="3466"/>
              <a:ext cx="73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69971" name="Rectangle 358"/>
            <p:cNvSpPr>
              <a:spLocks noChangeArrowheads="1"/>
            </p:cNvSpPr>
            <p:nvPr/>
          </p:nvSpPr>
          <p:spPr bwMode="auto">
            <a:xfrm>
              <a:off x="4290" y="346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972" name="Rectangle 359"/>
            <p:cNvSpPr>
              <a:spLocks noChangeArrowheads="1"/>
            </p:cNvSpPr>
            <p:nvPr/>
          </p:nvSpPr>
          <p:spPr bwMode="auto">
            <a:xfrm>
              <a:off x="4345" y="3466"/>
              <a:ext cx="7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69973" name="Rectangle 360"/>
            <p:cNvSpPr>
              <a:spLocks noChangeArrowheads="1"/>
            </p:cNvSpPr>
            <p:nvPr/>
          </p:nvSpPr>
          <p:spPr bwMode="auto">
            <a:xfrm>
              <a:off x="4430" y="3466"/>
              <a:ext cx="6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974" name="Rectangle 361"/>
            <p:cNvSpPr>
              <a:spLocks noChangeArrowheads="1"/>
            </p:cNvSpPr>
            <p:nvPr/>
          </p:nvSpPr>
          <p:spPr bwMode="auto">
            <a:xfrm>
              <a:off x="4503" y="346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975" name="Rectangle 362"/>
            <p:cNvSpPr>
              <a:spLocks noChangeArrowheads="1"/>
            </p:cNvSpPr>
            <p:nvPr/>
          </p:nvSpPr>
          <p:spPr bwMode="auto">
            <a:xfrm>
              <a:off x="4557" y="346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9976" name="Rectangle 363"/>
            <p:cNvSpPr>
              <a:spLocks noChangeArrowheads="1"/>
            </p:cNvSpPr>
            <p:nvPr/>
          </p:nvSpPr>
          <p:spPr bwMode="auto">
            <a:xfrm>
              <a:off x="4613" y="346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9977" name="Rectangle 364"/>
            <p:cNvSpPr>
              <a:spLocks noChangeArrowheads="1"/>
            </p:cNvSpPr>
            <p:nvPr/>
          </p:nvSpPr>
          <p:spPr bwMode="auto">
            <a:xfrm>
              <a:off x="4705" y="2249"/>
              <a:ext cx="73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69978" name="Rectangle 365"/>
            <p:cNvSpPr>
              <a:spLocks noChangeArrowheads="1"/>
            </p:cNvSpPr>
            <p:nvPr/>
          </p:nvSpPr>
          <p:spPr bwMode="auto">
            <a:xfrm>
              <a:off x="4787" y="224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9979" name="Rectangle 366"/>
            <p:cNvSpPr>
              <a:spLocks noChangeArrowheads="1"/>
            </p:cNvSpPr>
            <p:nvPr/>
          </p:nvSpPr>
          <p:spPr bwMode="auto">
            <a:xfrm>
              <a:off x="4842" y="2249"/>
              <a:ext cx="75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69980" name="Rectangle 367"/>
            <p:cNvSpPr>
              <a:spLocks noChangeArrowheads="1"/>
            </p:cNvSpPr>
            <p:nvPr/>
          </p:nvSpPr>
          <p:spPr bwMode="auto">
            <a:xfrm>
              <a:off x="4924" y="2249"/>
              <a:ext cx="8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69981" name="Rectangle 368"/>
            <p:cNvSpPr>
              <a:spLocks noChangeArrowheads="1"/>
            </p:cNvSpPr>
            <p:nvPr/>
          </p:nvSpPr>
          <p:spPr bwMode="auto">
            <a:xfrm>
              <a:off x="5020" y="2249"/>
              <a:ext cx="3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982" name="Rectangle 369"/>
            <p:cNvSpPr>
              <a:spLocks noChangeArrowheads="1"/>
            </p:cNvSpPr>
            <p:nvPr/>
          </p:nvSpPr>
          <p:spPr bwMode="auto">
            <a:xfrm>
              <a:off x="5053" y="2249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9983" name="Rectangle 370"/>
            <p:cNvSpPr>
              <a:spLocks noChangeArrowheads="1"/>
            </p:cNvSpPr>
            <p:nvPr/>
          </p:nvSpPr>
          <p:spPr bwMode="auto">
            <a:xfrm>
              <a:off x="5075" y="2249"/>
              <a:ext cx="24" cy="1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984" name="Rectangle 371"/>
            <p:cNvSpPr>
              <a:spLocks noChangeArrowheads="1"/>
            </p:cNvSpPr>
            <p:nvPr/>
          </p:nvSpPr>
          <p:spPr bwMode="auto">
            <a:xfrm>
              <a:off x="5104" y="2249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3AA61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F3AA61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grpSp>
          <p:nvGrpSpPr>
            <p:cNvPr id="69985" name="Group 372"/>
            <p:cNvGrpSpPr>
              <a:grpSpLocks/>
            </p:cNvGrpSpPr>
            <p:nvPr/>
          </p:nvGrpSpPr>
          <p:grpSpPr bwMode="auto">
            <a:xfrm>
              <a:off x="2903" y="2533"/>
              <a:ext cx="346" cy="116"/>
              <a:chOff x="2903" y="2533"/>
              <a:chExt cx="346" cy="116"/>
            </a:xfrm>
          </p:grpSpPr>
          <p:sp>
            <p:nvSpPr>
              <p:cNvPr id="70033" name="Rectangle 373"/>
              <p:cNvSpPr>
                <a:spLocks noChangeArrowheads="1"/>
              </p:cNvSpPr>
              <p:nvPr/>
            </p:nvSpPr>
            <p:spPr bwMode="auto">
              <a:xfrm>
                <a:off x="2903" y="2533"/>
                <a:ext cx="70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0034" name="Rectangle 374"/>
              <p:cNvSpPr>
                <a:spLocks noChangeArrowheads="1"/>
              </p:cNvSpPr>
              <p:nvPr/>
            </p:nvSpPr>
            <p:spPr bwMode="auto">
              <a:xfrm>
                <a:off x="2968" y="2533"/>
                <a:ext cx="60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70035" name="Rectangle 375"/>
              <p:cNvSpPr>
                <a:spLocks noChangeArrowheads="1"/>
              </p:cNvSpPr>
              <p:nvPr/>
            </p:nvSpPr>
            <p:spPr bwMode="auto">
              <a:xfrm>
                <a:off x="3024" y="2533"/>
                <a:ext cx="70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0036" name="Rectangle 376"/>
              <p:cNvSpPr>
                <a:spLocks noChangeArrowheads="1"/>
              </p:cNvSpPr>
              <p:nvPr/>
            </p:nvSpPr>
            <p:spPr bwMode="auto">
              <a:xfrm>
                <a:off x="3097" y="2533"/>
                <a:ext cx="65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0037" name="Rectangle 377"/>
              <p:cNvSpPr>
                <a:spLocks noChangeArrowheads="1"/>
              </p:cNvSpPr>
              <p:nvPr/>
            </p:nvSpPr>
            <p:spPr bwMode="auto">
              <a:xfrm>
                <a:off x="3162" y="2533"/>
                <a:ext cx="37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0038" name="Rectangle 378"/>
              <p:cNvSpPr>
                <a:spLocks noChangeArrowheads="1"/>
              </p:cNvSpPr>
              <p:nvPr/>
            </p:nvSpPr>
            <p:spPr bwMode="auto">
              <a:xfrm>
                <a:off x="3195" y="2533"/>
                <a:ext cx="54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</p:grpSp>
        <p:grpSp>
          <p:nvGrpSpPr>
            <p:cNvPr id="69986" name="Group 379"/>
            <p:cNvGrpSpPr>
              <a:grpSpLocks/>
            </p:cNvGrpSpPr>
            <p:nvPr/>
          </p:nvGrpSpPr>
          <p:grpSpPr bwMode="auto">
            <a:xfrm>
              <a:off x="5091" y="2425"/>
              <a:ext cx="494" cy="116"/>
              <a:chOff x="5091" y="2425"/>
              <a:chExt cx="494" cy="116"/>
            </a:xfrm>
          </p:grpSpPr>
          <p:sp>
            <p:nvSpPr>
              <p:cNvPr id="70025" name="Rectangle 380"/>
              <p:cNvSpPr>
                <a:spLocks noChangeArrowheads="1"/>
              </p:cNvSpPr>
              <p:nvPr/>
            </p:nvSpPr>
            <p:spPr bwMode="auto">
              <a:xfrm>
                <a:off x="5091" y="2425"/>
                <a:ext cx="81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M</a:t>
                </a:r>
              </a:p>
            </p:txBody>
          </p:sp>
          <p:sp>
            <p:nvSpPr>
              <p:cNvPr id="70026" name="Rectangle 381"/>
              <p:cNvSpPr>
                <a:spLocks noChangeArrowheads="1"/>
              </p:cNvSpPr>
              <p:nvPr/>
            </p:nvSpPr>
            <p:spPr bwMode="auto">
              <a:xfrm>
                <a:off x="5174" y="2425"/>
                <a:ext cx="54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0027" name="Rectangle 382"/>
              <p:cNvSpPr>
                <a:spLocks noChangeArrowheads="1"/>
              </p:cNvSpPr>
              <p:nvPr/>
            </p:nvSpPr>
            <p:spPr bwMode="auto">
              <a:xfrm>
                <a:off x="5231" y="2425"/>
                <a:ext cx="86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m</a:t>
                </a:r>
              </a:p>
            </p:txBody>
          </p:sp>
          <p:sp>
            <p:nvSpPr>
              <p:cNvPr id="70028" name="Rectangle 383"/>
              <p:cNvSpPr>
                <a:spLocks noChangeArrowheads="1"/>
              </p:cNvSpPr>
              <p:nvPr/>
            </p:nvSpPr>
            <p:spPr bwMode="auto">
              <a:xfrm>
                <a:off x="5313" y="2425"/>
                <a:ext cx="32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0029" name="Rectangle 384"/>
              <p:cNvSpPr>
                <a:spLocks noChangeArrowheads="1"/>
              </p:cNvSpPr>
              <p:nvPr/>
            </p:nvSpPr>
            <p:spPr bwMode="auto">
              <a:xfrm>
                <a:off x="5342" y="2425"/>
                <a:ext cx="60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70030" name="Rectangle 385"/>
              <p:cNvSpPr>
                <a:spLocks noChangeArrowheads="1"/>
              </p:cNvSpPr>
              <p:nvPr/>
            </p:nvSpPr>
            <p:spPr bwMode="auto">
              <a:xfrm>
                <a:off x="5396" y="2425"/>
                <a:ext cx="70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0031" name="Rectangle 386"/>
              <p:cNvSpPr>
                <a:spLocks noChangeArrowheads="1"/>
              </p:cNvSpPr>
              <p:nvPr/>
            </p:nvSpPr>
            <p:spPr bwMode="auto">
              <a:xfrm>
                <a:off x="5467" y="2425"/>
                <a:ext cx="54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0032" name="Rectangle 387"/>
              <p:cNvSpPr>
                <a:spLocks noChangeArrowheads="1"/>
              </p:cNvSpPr>
              <p:nvPr/>
            </p:nvSpPr>
            <p:spPr bwMode="auto">
              <a:xfrm>
                <a:off x="5525" y="2425"/>
                <a:ext cx="60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CD33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CD3333"/>
                    </a:solidFill>
                    <a:latin typeface="Arial" charset="0"/>
                    <a:ea typeface="新細明體" charset="-120"/>
                  </a:rPr>
                  <a:t>g</a:t>
                </a:r>
              </a:p>
            </p:txBody>
          </p:sp>
        </p:grpSp>
        <p:sp>
          <p:nvSpPr>
            <p:cNvPr id="69987" name="Freeform 388"/>
            <p:cNvSpPr>
              <a:spLocks noChangeArrowheads="1"/>
            </p:cNvSpPr>
            <p:nvPr/>
          </p:nvSpPr>
          <p:spPr bwMode="auto">
            <a:xfrm>
              <a:off x="1768" y="2263"/>
              <a:ext cx="19" cy="1"/>
            </a:xfrm>
            <a:custGeom>
              <a:avLst/>
              <a:gdLst>
                <a:gd name="T0" fmla="*/ 17 w 17"/>
                <a:gd name="T1" fmla="*/ 0 h 1"/>
                <a:gd name="T2" fmla="*/ 0 w 17"/>
                <a:gd name="T3" fmla="*/ 0 h 1"/>
                <a:gd name="T4" fmla="*/ 17 w 17"/>
                <a:gd name="T5" fmla="*/ 0 h 1"/>
                <a:gd name="T6" fmla="*/ 0 60000 65536"/>
                <a:gd name="T7" fmla="*/ 0 60000 65536"/>
                <a:gd name="T8" fmla="*/ 0 60000 65536"/>
                <a:gd name="T9" fmla="*/ 0 w 17"/>
                <a:gd name="T10" fmla="*/ 0 h 1"/>
                <a:gd name="T11" fmla="*/ 17 w 1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">
                  <a:moveTo>
                    <a:pt x="17" y="0"/>
                  </a:moveTo>
                  <a:lnTo>
                    <a:pt x="0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88" name="Freeform 389"/>
            <p:cNvSpPr>
              <a:spLocks noChangeArrowheads="1"/>
            </p:cNvSpPr>
            <p:nvPr/>
          </p:nvSpPr>
          <p:spPr bwMode="auto">
            <a:xfrm>
              <a:off x="1768" y="2236"/>
              <a:ext cx="51" cy="54"/>
            </a:xfrm>
            <a:custGeom>
              <a:avLst/>
              <a:gdLst>
                <a:gd name="T0" fmla="*/ 0 w 46"/>
                <a:gd name="T1" fmla="*/ 0 h 49"/>
                <a:gd name="T2" fmla="*/ 0 w 46"/>
                <a:gd name="T3" fmla="*/ 49 h 49"/>
                <a:gd name="T4" fmla="*/ 46 w 46"/>
                <a:gd name="T5" fmla="*/ 25 h 49"/>
                <a:gd name="T6" fmla="*/ 0 w 46"/>
                <a:gd name="T7" fmla="*/ 3 h 49"/>
                <a:gd name="T8" fmla="*/ 0 w 46"/>
                <a:gd name="T9" fmla="*/ 3 h 49"/>
                <a:gd name="T10" fmla="*/ 0 w 46"/>
                <a:gd name="T11" fmla="*/ 0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"/>
                <a:gd name="T19" fmla="*/ 0 h 49"/>
                <a:gd name="T20" fmla="*/ 46 w 46"/>
                <a:gd name="T21" fmla="*/ 49 h 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" h="49">
                  <a:moveTo>
                    <a:pt x="0" y="0"/>
                  </a:moveTo>
                  <a:lnTo>
                    <a:pt x="0" y="49"/>
                  </a:lnTo>
                  <a:lnTo>
                    <a:pt x="46" y="25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89" name="Freeform 390"/>
            <p:cNvSpPr>
              <a:spLocks noChangeArrowheads="1"/>
            </p:cNvSpPr>
            <p:nvPr/>
          </p:nvSpPr>
          <p:spPr bwMode="auto">
            <a:xfrm>
              <a:off x="521" y="2434"/>
              <a:ext cx="19" cy="1"/>
            </a:xfrm>
            <a:custGeom>
              <a:avLst/>
              <a:gdLst>
                <a:gd name="T0" fmla="*/ 17 w 17"/>
                <a:gd name="T1" fmla="*/ 0 h 1"/>
                <a:gd name="T2" fmla="*/ 0 w 17"/>
                <a:gd name="T3" fmla="*/ 0 h 1"/>
                <a:gd name="T4" fmla="*/ 17 w 17"/>
                <a:gd name="T5" fmla="*/ 0 h 1"/>
                <a:gd name="T6" fmla="*/ 0 60000 65536"/>
                <a:gd name="T7" fmla="*/ 0 60000 65536"/>
                <a:gd name="T8" fmla="*/ 0 60000 65536"/>
                <a:gd name="T9" fmla="*/ 0 w 17"/>
                <a:gd name="T10" fmla="*/ 0 h 1"/>
                <a:gd name="T11" fmla="*/ 17 w 1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">
                  <a:moveTo>
                    <a:pt x="17" y="0"/>
                  </a:moveTo>
                  <a:lnTo>
                    <a:pt x="0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90" name="Freeform 391"/>
            <p:cNvSpPr>
              <a:spLocks noChangeArrowheads="1"/>
            </p:cNvSpPr>
            <p:nvPr/>
          </p:nvSpPr>
          <p:spPr bwMode="auto">
            <a:xfrm>
              <a:off x="521" y="2406"/>
              <a:ext cx="52" cy="54"/>
            </a:xfrm>
            <a:custGeom>
              <a:avLst/>
              <a:gdLst>
                <a:gd name="T0" fmla="*/ 0 w 47"/>
                <a:gd name="T1" fmla="*/ 0 h 49"/>
                <a:gd name="T2" fmla="*/ 0 w 47"/>
                <a:gd name="T3" fmla="*/ 49 h 49"/>
                <a:gd name="T4" fmla="*/ 47 w 47"/>
                <a:gd name="T5" fmla="*/ 25 h 49"/>
                <a:gd name="T6" fmla="*/ 0 w 47"/>
                <a:gd name="T7" fmla="*/ 0 h 49"/>
                <a:gd name="T8" fmla="*/ 0 w 47"/>
                <a:gd name="T9" fmla="*/ 0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7"/>
                <a:gd name="T16" fmla="*/ 0 h 49"/>
                <a:gd name="T17" fmla="*/ 47 w 47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7" h="49">
                  <a:moveTo>
                    <a:pt x="0" y="0"/>
                  </a:moveTo>
                  <a:lnTo>
                    <a:pt x="0" y="49"/>
                  </a:lnTo>
                  <a:lnTo>
                    <a:pt x="47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91" name="Freeform 392"/>
            <p:cNvSpPr>
              <a:spLocks noChangeArrowheads="1"/>
            </p:cNvSpPr>
            <p:nvPr/>
          </p:nvSpPr>
          <p:spPr bwMode="auto">
            <a:xfrm>
              <a:off x="1768" y="2532"/>
              <a:ext cx="19" cy="3"/>
            </a:xfrm>
            <a:custGeom>
              <a:avLst/>
              <a:gdLst>
                <a:gd name="T0" fmla="*/ 17 w 17"/>
                <a:gd name="T1" fmla="*/ 0 h 3"/>
                <a:gd name="T2" fmla="*/ 0 w 17"/>
                <a:gd name="T3" fmla="*/ 3 h 3"/>
                <a:gd name="T4" fmla="*/ 17 w 17"/>
                <a:gd name="T5" fmla="*/ 0 h 3"/>
                <a:gd name="T6" fmla="*/ 0 60000 65536"/>
                <a:gd name="T7" fmla="*/ 0 60000 65536"/>
                <a:gd name="T8" fmla="*/ 0 60000 65536"/>
                <a:gd name="T9" fmla="*/ 0 w 17"/>
                <a:gd name="T10" fmla="*/ 0 h 3"/>
                <a:gd name="T11" fmla="*/ 17 w 17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3">
                  <a:moveTo>
                    <a:pt x="17" y="0"/>
                  </a:moveTo>
                  <a:lnTo>
                    <a:pt x="0" y="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92" name="Freeform 393"/>
            <p:cNvSpPr>
              <a:spLocks noChangeArrowheads="1"/>
            </p:cNvSpPr>
            <p:nvPr/>
          </p:nvSpPr>
          <p:spPr bwMode="auto">
            <a:xfrm>
              <a:off x="1768" y="2509"/>
              <a:ext cx="51" cy="50"/>
            </a:xfrm>
            <a:custGeom>
              <a:avLst/>
              <a:gdLst>
                <a:gd name="T0" fmla="*/ 0 w 46"/>
                <a:gd name="T1" fmla="*/ 0 h 46"/>
                <a:gd name="T2" fmla="*/ 0 w 46"/>
                <a:gd name="T3" fmla="*/ 46 h 46"/>
                <a:gd name="T4" fmla="*/ 46 w 46"/>
                <a:gd name="T5" fmla="*/ 24 h 46"/>
                <a:gd name="T6" fmla="*/ 0 w 46"/>
                <a:gd name="T7" fmla="*/ 0 h 46"/>
                <a:gd name="T8" fmla="*/ 0 w 46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46"/>
                <a:gd name="T17" fmla="*/ 46 w 46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46">
                  <a:moveTo>
                    <a:pt x="0" y="0"/>
                  </a:moveTo>
                  <a:lnTo>
                    <a:pt x="0" y="46"/>
                  </a:lnTo>
                  <a:lnTo>
                    <a:pt x="46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93" name="Freeform 394"/>
            <p:cNvSpPr>
              <a:spLocks noChangeArrowheads="1"/>
            </p:cNvSpPr>
            <p:nvPr/>
          </p:nvSpPr>
          <p:spPr bwMode="auto">
            <a:xfrm>
              <a:off x="1768" y="2781"/>
              <a:ext cx="19" cy="3"/>
            </a:xfrm>
            <a:custGeom>
              <a:avLst/>
              <a:gdLst>
                <a:gd name="T0" fmla="*/ 17 w 17"/>
                <a:gd name="T1" fmla="*/ 0 h 3"/>
                <a:gd name="T2" fmla="*/ 0 w 17"/>
                <a:gd name="T3" fmla="*/ 3 h 3"/>
                <a:gd name="T4" fmla="*/ 17 w 17"/>
                <a:gd name="T5" fmla="*/ 0 h 3"/>
                <a:gd name="T6" fmla="*/ 0 60000 65536"/>
                <a:gd name="T7" fmla="*/ 0 60000 65536"/>
                <a:gd name="T8" fmla="*/ 0 60000 65536"/>
                <a:gd name="T9" fmla="*/ 0 w 17"/>
                <a:gd name="T10" fmla="*/ 0 h 3"/>
                <a:gd name="T11" fmla="*/ 17 w 17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3">
                  <a:moveTo>
                    <a:pt x="17" y="0"/>
                  </a:moveTo>
                  <a:lnTo>
                    <a:pt x="0" y="3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94" name="Freeform 395"/>
            <p:cNvSpPr>
              <a:spLocks noChangeArrowheads="1"/>
            </p:cNvSpPr>
            <p:nvPr/>
          </p:nvSpPr>
          <p:spPr bwMode="auto">
            <a:xfrm>
              <a:off x="1768" y="2756"/>
              <a:ext cx="51" cy="51"/>
            </a:xfrm>
            <a:custGeom>
              <a:avLst/>
              <a:gdLst>
                <a:gd name="T0" fmla="*/ 0 w 46"/>
                <a:gd name="T1" fmla="*/ 0 h 46"/>
                <a:gd name="T2" fmla="*/ 0 w 46"/>
                <a:gd name="T3" fmla="*/ 46 h 46"/>
                <a:gd name="T4" fmla="*/ 46 w 46"/>
                <a:gd name="T5" fmla="*/ 25 h 46"/>
                <a:gd name="T6" fmla="*/ 0 w 46"/>
                <a:gd name="T7" fmla="*/ 0 h 46"/>
                <a:gd name="T8" fmla="*/ 0 w 46"/>
                <a:gd name="T9" fmla="*/ 0 h 4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46"/>
                <a:gd name="T17" fmla="*/ 46 w 46"/>
                <a:gd name="T18" fmla="*/ 46 h 4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46">
                  <a:moveTo>
                    <a:pt x="0" y="0"/>
                  </a:moveTo>
                  <a:lnTo>
                    <a:pt x="0" y="46"/>
                  </a:lnTo>
                  <a:lnTo>
                    <a:pt x="46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95" name="Freeform 396"/>
            <p:cNvSpPr>
              <a:spLocks noChangeArrowheads="1"/>
            </p:cNvSpPr>
            <p:nvPr/>
          </p:nvSpPr>
          <p:spPr bwMode="auto">
            <a:xfrm>
              <a:off x="3151" y="2765"/>
              <a:ext cx="18" cy="1"/>
            </a:xfrm>
            <a:custGeom>
              <a:avLst/>
              <a:gdLst>
                <a:gd name="T0" fmla="*/ 16 w 16"/>
                <a:gd name="T1" fmla="*/ 0 h 1"/>
                <a:gd name="T2" fmla="*/ 0 w 16"/>
                <a:gd name="T3" fmla="*/ 0 h 1"/>
                <a:gd name="T4" fmla="*/ 16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96" name="Freeform 397"/>
            <p:cNvSpPr>
              <a:spLocks noChangeArrowheads="1"/>
            </p:cNvSpPr>
            <p:nvPr/>
          </p:nvSpPr>
          <p:spPr bwMode="auto">
            <a:xfrm>
              <a:off x="3148" y="2739"/>
              <a:ext cx="54" cy="54"/>
            </a:xfrm>
            <a:custGeom>
              <a:avLst/>
              <a:gdLst>
                <a:gd name="T0" fmla="*/ 0 w 49"/>
                <a:gd name="T1" fmla="*/ 0 h 49"/>
                <a:gd name="T2" fmla="*/ 3 w 49"/>
                <a:gd name="T3" fmla="*/ 49 h 49"/>
                <a:gd name="T4" fmla="*/ 49 w 49"/>
                <a:gd name="T5" fmla="*/ 24 h 49"/>
                <a:gd name="T6" fmla="*/ 3 w 49"/>
                <a:gd name="T7" fmla="*/ 3 h 49"/>
                <a:gd name="T8" fmla="*/ 3 w 49"/>
                <a:gd name="T9" fmla="*/ 3 h 49"/>
                <a:gd name="T10" fmla="*/ 0 w 49"/>
                <a:gd name="T11" fmla="*/ 0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"/>
                <a:gd name="T19" fmla="*/ 0 h 49"/>
                <a:gd name="T20" fmla="*/ 49 w 49"/>
                <a:gd name="T21" fmla="*/ 49 h 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" h="49">
                  <a:moveTo>
                    <a:pt x="0" y="0"/>
                  </a:moveTo>
                  <a:lnTo>
                    <a:pt x="3" y="49"/>
                  </a:lnTo>
                  <a:lnTo>
                    <a:pt x="49" y="24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97" name="Freeform 398"/>
            <p:cNvSpPr>
              <a:spLocks noChangeArrowheads="1"/>
            </p:cNvSpPr>
            <p:nvPr/>
          </p:nvSpPr>
          <p:spPr bwMode="auto">
            <a:xfrm>
              <a:off x="3151" y="3098"/>
              <a:ext cx="18" cy="1"/>
            </a:xfrm>
            <a:custGeom>
              <a:avLst/>
              <a:gdLst>
                <a:gd name="T0" fmla="*/ 16 w 16"/>
                <a:gd name="T1" fmla="*/ 0 h 1"/>
                <a:gd name="T2" fmla="*/ 0 w 16"/>
                <a:gd name="T3" fmla="*/ 0 h 1"/>
                <a:gd name="T4" fmla="*/ 16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98" name="Freeform 399"/>
            <p:cNvSpPr>
              <a:spLocks noChangeArrowheads="1"/>
            </p:cNvSpPr>
            <p:nvPr/>
          </p:nvSpPr>
          <p:spPr bwMode="auto">
            <a:xfrm>
              <a:off x="3148" y="3071"/>
              <a:ext cx="54" cy="54"/>
            </a:xfrm>
            <a:custGeom>
              <a:avLst/>
              <a:gdLst>
                <a:gd name="T0" fmla="*/ 0 w 49"/>
                <a:gd name="T1" fmla="*/ 0 h 49"/>
                <a:gd name="T2" fmla="*/ 3 w 49"/>
                <a:gd name="T3" fmla="*/ 49 h 49"/>
                <a:gd name="T4" fmla="*/ 49 w 49"/>
                <a:gd name="T5" fmla="*/ 24 h 49"/>
                <a:gd name="T6" fmla="*/ 3 w 49"/>
                <a:gd name="T7" fmla="*/ 0 h 49"/>
                <a:gd name="T8" fmla="*/ 3 w 49"/>
                <a:gd name="T9" fmla="*/ 0 h 49"/>
                <a:gd name="T10" fmla="*/ 0 w 49"/>
                <a:gd name="T11" fmla="*/ 0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"/>
                <a:gd name="T19" fmla="*/ 0 h 49"/>
                <a:gd name="T20" fmla="*/ 49 w 49"/>
                <a:gd name="T21" fmla="*/ 49 h 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" h="49">
                  <a:moveTo>
                    <a:pt x="0" y="0"/>
                  </a:moveTo>
                  <a:lnTo>
                    <a:pt x="3" y="49"/>
                  </a:lnTo>
                  <a:lnTo>
                    <a:pt x="49" y="24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999" name="Freeform 400"/>
            <p:cNvSpPr>
              <a:spLocks noChangeArrowheads="1"/>
            </p:cNvSpPr>
            <p:nvPr/>
          </p:nvSpPr>
          <p:spPr bwMode="auto">
            <a:xfrm>
              <a:off x="3453" y="2934"/>
              <a:ext cx="17" cy="1"/>
            </a:xfrm>
            <a:custGeom>
              <a:avLst/>
              <a:gdLst>
                <a:gd name="T0" fmla="*/ 16 w 16"/>
                <a:gd name="T1" fmla="*/ 0 h 1"/>
                <a:gd name="T2" fmla="*/ 0 w 16"/>
                <a:gd name="T3" fmla="*/ 0 h 1"/>
                <a:gd name="T4" fmla="*/ 16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00" name="Freeform 401"/>
            <p:cNvSpPr>
              <a:spLocks noChangeArrowheads="1"/>
            </p:cNvSpPr>
            <p:nvPr/>
          </p:nvSpPr>
          <p:spPr bwMode="auto">
            <a:xfrm>
              <a:off x="3449" y="2906"/>
              <a:ext cx="54" cy="51"/>
            </a:xfrm>
            <a:custGeom>
              <a:avLst/>
              <a:gdLst>
                <a:gd name="T0" fmla="*/ 0 w 49"/>
                <a:gd name="T1" fmla="*/ 0 h 46"/>
                <a:gd name="T2" fmla="*/ 3 w 49"/>
                <a:gd name="T3" fmla="*/ 46 h 46"/>
                <a:gd name="T4" fmla="*/ 49 w 49"/>
                <a:gd name="T5" fmla="*/ 25 h 46"/>
                <a:gd name="T6" fmla="*/ 3 w 49"/>
                <a:gd name="T7" fmla="*/ 0 h 46"/>
                <a:gd name="T8" fmla="*/ 3 w 49"/>
                <a:gd name="T9" fmla="*/ 0 h 46"/>
                <a:gd name="T10" fmla="*/ 0 w 49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"/>
                <a:gd name="T19" fmla="*/ 0 h 46"/>
                <a:gd name="T20" fmla="*/ 49 w 49"/>
                <a:gd name="T21" fmla="*/ 46 h 4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" h="46">
                  <a:moveTo>
                    <a:pt x="0" y="0"/>
                  </a:moveTo>
                  <a:lnTo>
                    <a:pt x="3" y="46"/>
                  </a:lnTo>
                  <a:lnTo>
                    <a:pt x="49" y="25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01" name="Freeform 402"/>
            <p:cNvSpPr>
              <a:spLocks noChangeArrowheads="1"/>
            </p:cNvSpPr>
            <p:nvPr/>
          </p:nvSpPr>
          <p:spPr bwMode="auto">
            <a:xfrm>
              <a:off x="3453" y="2490"/>
              <a:ext cx="17" cy="1"/>
            </a:xfrm>
            <a:custGeom>
              <a:avLst/>
              <a:gdLst>
                <a:gd name="T0" fmla="*/ 16 w 16"/>
                <a:gd name="T1" fmla="*/ 0 h 1"/>
                <a:gd name="T2" fmla="*/ 0 w 16"/>
                <a:gd name="T3" fmla="*/ 0 h 1"/>
                <a:gd name="T4" fmla="*/ 16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02" name="Freeform 403"/>
            <p:cNvSpPr>
              <a:spLocks noChangeArrowheads="1"/>
            </p:cNvSpPr>
            <p:nvPr/>
          </p:nvSpPr>
          <p:spPr bwMode="auto">
            <a:xfrm>
              <a:off x="3449" y="2464"/>
              <a:ext cx="54" cy="53"/>
            </a:xfrm>
            <a:custGeom>
              <a:avLst/>
              <a:gdLst>
                <a:gd name="T0" fmla="*/ 0 w 49"/>
                <a:gd name="T1" fmla="*/ 0 h 49"/>
                <a:gd name="T2" fmla="*/ 3 w 49"/>
                <a:gd name="T3" fmla="*/ 49 h 49"/>
                <a:gd name="T4" fmla="*/ 49 w 49"/>
                <a:gd name="T5" fmla="*/ 24 h 49"/>
                <a:gd name="T6" fmla="*/ 3 w 49"/>
                <a:gd name="T7" fmla="*/ 3 h 49"/>
                <a:gd name="T8" fmla="*/ 3 w 49"/>
                <a:gd name="T9" fmla="*/ 3 h 49"/>
                <a:gd name="T10" fmla="*/ 0 w 49"/>
                <a:gd name="T11" fmla="*/ 0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"/>
                <a:gd name="T19" fmla="*/ 0 h 49"/>
                <a:gd name="T20" fmla="*/ 49 w 49"/>
                <a:gd name="T21" fmla="*/ 49 h 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" h="49">
                  <a:moveTo>
                    <a:pt x="0" y="0"/>
                  </a:moveTo>
                  <a:lnTo>
                    <a:pt x="3" y="49"/>
                  </a:lnTo>
                  <a:lnTo>
                    <a:pt x="49" y="24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03" name="Freeform 404"/>
            <p:cNvSpPr>
              <a:spLocks noChangeArrowheads="1"/>
            </p:cNvSpPr>
            <p:nvPr/>
          </p:nvSpPr>
          <p:spPr bwMode="auto">
            <a:xfrm>
              <a:off x="4170" y="2763"/>
              <a:ext cx="18" cy="1"/>
            </a:xfrm>
            <a:custGeom>
              <a:avLst/>
              <a:gdLst>
                <a:gd name="T0" fmla="*/ 16 w 16"/>
                <a:gd name="T1" fmla="*/ 0 h 1"/>
                <a:gd name="T2" fmla="*/ 0 w 16"/>
                <a:gd name="T3" fmla="*/ 0 h 1"/>
                <a:gd name="T4" fmla="*/ 16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04" name="Freeform 405"/>
            <p:cNvSpPr>
              <a:spLocks noChangeArrowheads="1"/>
            </p:cNvSpPr>
            <p:nvPr/>
          </p:nvSpPr>
          <p:spPr bwMode="auto">
            <a:xfrm>
              <a:off x="4170" y="2735"/>
              <a:ext cx="54" cy="54"/>
            </a:xfrm>
            <a:custGeom>
              <a:avLst/>
              <a:gdLst>
                <a:gd name="T0" fmla="*/ 0 w 49"/>
                <a:gd name="T1" fmla="*/ 0 h 49"/>
                <a:gd name="T2" fmla="*/ 0 w 49"/>
                <a:gd name="T3" fmla="*/ 49 h 49"/>
                <a:gd name="T4" fmla="*/ 49 w 49"/>
                <a:gd name="T5" fmla="*/ 25 h 49"/>
                <a:gd name="T6" fmla="*/ 0 w 49"/>
                <a:gd name="T7" fmla="*/ 0 h 49"/>
                <a:gd name="T8" fmla="*/ 0 w 49"/>
                <a:gd name="T9" fmla="*/ 0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"/>
                <a:gd name="T16" fmla="*/ 0 h 49"/>
                <a:gd name="T17" fmla="*/ 49 w 49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" h="49">
                  <a:moveTo>
                    <a:pt x="0" y="0"/>
                  </a:moveTo>
                  <a:lnTo>
                    <a:pt x="0" y="49"/>
                  </a:lnTo>
                  <a:lnTo>
                    <a:pt x="49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05" name="Freeform 406"/>
            <p:cNvSpPr>
              <a:spLocks noChangeArrowheads="1"/>
            </p:cNvSpPr>
            <p:nvPr/>
          </p:nvSpPr>
          <p:spPr bwMode="auto">
            <a:xfrm>
              <a:off x="4173" y="3220"/>
              <a:ext cx="18" cy="1"/>
            </a:xfrm>
            <a:custGeom>
              <a:avLst/>
              <a:gdLst>
                <a:gd name="T0" fmla="*/ 16 w 16"/>
                <a:gd name="T1" fmla="*/ 0 h 1"/>
                <a:gd name="T2" fmla="*/ 0 w 16"/>
                <a:gd name="T3" fmla="*/ 0 h 1"/>
                <a:gd name="T4" fmla="*/ 16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06" name="Freeform 407"/>
            <p:cNvSpPr>
              <a:spLocks noChangeArrowheads="1"/>
            </p:cNvSpPr>
            <p:nvPr/>
          </p:nvSpPr>
          <p:spPr bwMode="auto">
            <a:xfrm>
              <a:off x="4170" y="3193"/>
              <a:ext cx="54" cy="54"/>
            </a:xfrm>
            <a:custGeom>
              <a:avLst/>
              <a:gdLst>
                <a:gd name="T0" fmla="*/ 0 w 49"/>
                <a:gd name="T1" fmla="*/ 0 h 49"/>
                <a:gd name="T2" fmla="*/ 3 w 49"/>
                <a:gd name="T3" fmla="*/ 49 h 49"/>
                <a:gd name="T4" fmla="*/ 49 w 49"/>
                <a:gd name="T5" fmla="*/ 24 h 49"/>
                <a:gd name="T6" fmla="*/ 3 w 49"/>
                <a:gd name="T7" fmla="*/ 3 h 49"/>
                <a:gd name="T8" fmla="*/ 3 w 49"/>
                <a:gd name="T9" fmla="*/ 3 h 49"/>
                <a:gd name="T10" fmla="*/ 0 w 49"/>
                <a:gd name="T11" fmla="*/ 0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"/>
                <a:gd name="T19" fmla="*/ 0 h 49"/>
                <a:gd name="T20" fmla="*/ 49 w 49"/>
                <a:gd name="T21" fmla="*/ 49 h 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" h="49">
                  <a:moveTo>
                    <a:pt x="0" y="0"/>
                  </a:moveTo>
                  <a:lnTo>
                    <a:pt x="3" y="49"/>
                  </a:lnTo>
                  <a:lnTo>
                    <a:pt x="49" y="24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07" name="Freeform 408"/>
            <p:cNvSpPr>
              <a:spLocks noChangeArrowheads="1"/>
            </p:cNvSpPr>
            <p:nvPr/>
          </p:nvSpPr>
          <p:spPr bwMode="auto">
            <a:xfrm>
              <a:off x="5211" y="2772"/>
              <a:ext cx="18" cy="1"/>
            </a:xfrm>
            <a:custGeom>
              <a:avLst/>
              <a:gdLst>
                <a:gd name="T0" fmla="*/ 16 w 16"/>
                <a:gd name="T1" fmla="*/ 0 h 1"/>
                <a:gd name="T2" fmla="*/ 0 w 16"/>
                <a:gd name="T3" fmla="*/ 0 h 1"/>
                <a:gd name="T4" fmla="*/ 16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08" name="Freeform 409"/>
            <p:cNvSpPr>
              <a:spLocks noChangeArrowheads="1"/>
            </p:cNvSpPr>
            <p:nvPr/>
          </p:nvSpPr>
          <p:spPr bwMode="auto">
            <a:xfrm>
              <a:off x="5208" y="2744"/>
              <a:ext cx="54" cy="54"/>
            </a:xfrm>
            <a:custGeom>
              <a:avLst/>
              <a:gdLst>
                <a:gd name="T0" fmla="*/ 0 w 49"/>
                <a:gd name="T1" fmla="*/ 0 h 49"/>
                <a:gd name="T2" fmla="*/ 3 w 49"/>
                <a:gd name="T3" fmla="*/ 49 h 49"/>
                <a:gd name="T4" fmla="*/ 49 w 49"/>
                <a:gd name="T5" fmla="*/ 25 h 49"/>
                <a:gd name="T6" fmla="*/ 3 w 49"/>
                <a:gd name="T7" fmla="*/ 3 h 49"/>
                <a:gd name="T8" fmla="*/ 3 w 49"/>
                <a:gd name="T9" fmla="*/ 3 h 49"/>
                <a:gd name="T10" fmla="*/ 0 w 49"/>
                <a:gd name="T11" fmla="*/ 0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"/>
                <a:gd name="T19" fmla="*/ 0 h 49"/>
                <a:gd name="T20" fmla="*/ 49 w 49"/>
                <a:gd name="T21" fmla="*/ 49 h 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" h="49">
                  <a:moveTo>
                    <a:pt x="0" y="0"/>
                  </a:moveTo>
                  <a:lnTo>
                    <a:pt x="3" y="49"/>
                  </a:lnTo>
                  <a:lnTo>
                    <a:pt x="49" y="25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09" name="Freeform 410"/>
            <p:cNvSpPr>
              <a:spLocks noChangeArrowheads="1"/>
            </p:cNvSpPr>
            <p:nvPr/>
          </p:nvSpPr>
          <p:spPr bwMode="auto">
            <a:xfrm>
              <a:off x="5208" y="3136"/>
              <a:ext cx="18" cy="1"/>
            </a:xfrm>
            <a:custGeom>
              <a:avLst/>
              <a:gdLst>
                <a:gd name="T0" fmla="*/ 16 w 16"/>
                <a:gd name="T1" fmla="*/ 0 h 1"/>
                <a:gd name="T2" fmla="*/ 0 w 16"/>
                <a:gd name="T3" fmla="*/ 0 h 1"/>
                <a:gd name="T4" fmla="*/ 16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10" name="Freeform 411"/>
            <p:cNvSpPr>
              <a:spLocks noChangeArrowheads="1"/>
            </p:cNvSpPr>
            <p:nvPr/>
          </p:nvSpPr>
          <p:spPr bwMode="auto">
            <a:xfrm>
              <a:off x="5208" y="3110"/>
              <a:ext cx="54" cy="54"/>
            </a:xfrm>
            <a:custGeom>
              <a:avLst/>
              <a:gdLst>
                <a:gd name="T0" fmla="*/ 0 w 49"/>
                <a:gd name="T1" fmla="*/ 0 h 49"/>
                <a:gd name="T2" fmla="*/ 0 w 49"/>
                <a:gd name="T3" fmla="*/ 49 h 49"/>
                <a:gd name="T4" fmla="*/ 49 w 49"/>
                <a:gd name="T5" fmla="*/ 24 h 49"/>
                <a:gd name="T6" fmla="*/ 0 w 49"/>
                <a:gd name="T7" fmla="*/ 3 h 49"/>
                <a:gd name="T8" fmla="*/ 0 w 49"/>
                <a:gd name="T9" fmla="*/ 3 h 49"/>
                <a:gd name="T10" fmla="*/ 0 w 49"/>
                <a:gd name="T11" fmla="*/ 0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"/>
                <a:gd name="T19" fmla="*/ 0 h 49"/>
                <a:gd name="T20" fmla="*/ 49 w 49"/>
                <a:gd name="T21" fmla="*/ 49 h 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" h="49">
                  <a:moveTo>
                    <a:pt x="0" y="0"/>
                  </a:moveTo>
                  <a:lnTo>
                    <a:pt x="0" y="49"/>
                  </a:lnTo>
                  <a:lnTo>
                    <a:pt x="49" y="24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11" name="Freeform 412"/>
            <p:cNvSpPr>
              <a:spLocks noChangeArrowheads="1"/>
            </p:cNvSpPr>
            <p:nvPr/>
          </p:nvSpPr>
          <p:spPr bwMode="auto">
            <a:xfrm>
              <a:off x="1768" y="3044"/>
              <a:ext cx="19" cy="1"/>
            </a:xfrm>
            <a:custGeom>
              <a:avLst/>
              <a:gdLst>
                <a:gd name="T0" fmla="*/ 17 w 17"/>
                <a:gd name="T1" fmla="*/ 0 h 1"/>
                <a:gd name="T2" fmla="*/ 0 w 17"/>
                <a:gd name="T3" fmla="*/ 0 h 1"/>
                <a:gd name="T4" fmla="*/ 17 w 17"/>
                <a:gd name="T5" fmla="*/ 0 h 1"/>
                <a:gd name="T6" fmla="*/ 0 60000 65536"/>
                <a:gd name="T7" fmla="*/ 0 60000 65536"/>
                <a:gd name="T8" fmla="*/ 0 60000 65536"/>
                <a:gd name="T9" fmla="*/ 0 w 17"/>
                <a:gd name="T10" fmla="*/ 0 h 1"/>
                <a:gd name="T11" fmla="*/ 17 w 1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" h="1">
                  <a:moveTo>
                    <a:pt x="17" y="0"/>
                  </a:moveTo>
                  <a:lnTo>
                    <a:pt x="0" y="0"/>
                  </a:lnTo>
                  <a:lnTo>
                    <a:pt x="17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12" name="Freeform 413"/>
            <p:cNvSpPr>
              <a:spLocks noChangeArrowheads="1"/>
            </p:cNvSpPr>
            <p:nvPr/>
          </p:nvSpPr>
          <p:spPr bwMode="auto">
            <a:xfrm>
              <a:off x="1768" y="3017"/>
              <a:ext cx="51" cy="54"/>
            </a:xfrm>
            <a:custGeom>
              <a:avLst/>
              <a:gdLst>
                <a:gd name="T0" fmla="*/ 0 w 46"/>
                <a:gd name="T1" fmla="*/ 0 h 49"/>
                <a:gd name="T2" fmla="*/ 0 w 46"/>
                <a:gd name="T3" fmla="*/ 49 h 49"/>
                <a:gd name="T4" fmla="*/ 46 w 46"/>
                <a:gd name="T5" fmla="*/ 24 h 49"/>
                <a:gd name="T6" fmla="*/ 0 w 46"/>
                <a:gd name="T7" fmla="*/ 2 h 49"/>
                <a:gd name="T8" fmla="*/ 0 w 46"/>
                <a:gd name="T9" fmla="*/ 2 h 49"/>
                <a:gd name="T10" fmla="*/ 0 w 46"/>
                <a:gd name="T11" fmla="*/ 0 h 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6"/>
                <a:gd name="T19" fmla="*/ 0 h 49"/>
                <a:gd name="T20" fmla="*/ 46 w 46"/>
                <a:gd name="T21" fmla="*/ 49 h 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6" h="49">
                  <a:moveTo>
                    <a:pt x="0" y="0"/>
                  </a:moveTo>
                  <a:lnTo>
                    <a:pt x="0" y="49"/>
                  </a:lnTo>
                  <a:lnTo>
                    <a:pt x="46" y="24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0013" name="Group 414"/>
            <p:cNvGrpSpPr>
              <a:grpSpLocks/>
            </p:cNvGrpSpPr>
            <p:nvPr/>
          </p:nvGrpSpPr>
          <p:grpSpPr bwMode="auto">
            <a:xfrm>
              <a:off x="2193" y="3555"/>
              <a:ext cx="50" cy="53"/>
              <a:chOff x="2193" y="3555"/>
              <a:chExt cx="50" cy="53"/>
            </a:xfrm>
          </p:grpSpPr>
          <p:sp>
            <p:nvSpPr>
              <p:cNvPr id="70023" name="Freeform 415"/>
              <p:cNvSpPr>
                <a:spLocks noChangeArrowheads="1"/>
              </p:cNvSpPr>
              <p:nvPr/>
            </p:nvSpPr>
            <p:spPr bwMode="auto">
              <a:xfrm>
                <a:off x="2193" y="3582"/>
                <a:ext cx="18" cy="1"/>
              </a:xfrm>
              <a:custGeom>
                <a:avLst/>
                <a:gdLst>
                  <a:gd name="T0" fmla="*/ 16 w 16"/>
                  <a:gd name="T1" fmla="*/ 0 h 1"/>
                  <a:gd name="T2" fmla="*/ 0 w 16"/>
                  <a:gd name="T3" fmla="*/ 0 h 1"/>
                  <a:gd name="T4" fmla="*/ 16 w 1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6"/>
                  <a:gd name="T10" fmla="*/ 0 h 1"/>
                  <a:gd name="T11" fmla="*/ 16 w 1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" h="1">
                    <a:moveTo>
                      <a:pt x="16" y="0"/>
                    </a:moveTo>
                    <a:lnTo>
                      <a:pt x="0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0024" name="Freeform 416"/>
              <p:cNvSpPr>
                <a:spLocks noChangeArrowheads="1"/>
              </p:cNvSpPr>
              <p:nvPr/>
            </p:nvSpPr>
            <p:spPr bwMode="auto">
              <a:xfrm>
                <a:off x="2193" y="3555"/>
                <a:ext cx="51" cy="54"/>
              </a:xfrm>
              <a:custGeom>
                <a:avLst/>
                <a:gdLst>
                  <a:gd name="T0" fmla="*/ 0 w 46"/>
                  <a:gd name="T1" fmla="*/ 0 h 49"/>
                  <a:gd name="T2" fmla="*/ 0 w 46"/>
                  <a:gd name="T3" fmla="*/ 49 h 49"/>
                  <a:gd name="T4" fmla="*/ 46 w 46"/>
                  <a:gd name="T5" fmla="*/ 24 h 49"/>
                  <a:gd name="T6" fmla="*/ 0 w 46"/>
                  <a:gd name="T7" fmla="*/ 0 h 49"/>
                  <a:gd name="T8" fmla="*/ 0 w 46"/>
                  <a:gd name="T9" fmla="*/ 0 h 4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6"/>
                  <a:gd name="T16" fmla="*/ 0 h 49"/>
                  <a:gd name="T17" fmla="*/ 46 w 46"/>
                  <a:gd name="T18" fmla="*/ 49 h 4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6" h="49">
                    <a:moveTo>
                      <a:pt x="0" y="0"/>
                    </a:moveTo>
                    <a:lnTo>
                      <a:pt x="0" y="49"/>
                    </a:lnTo>
                    <a:lnTo>
                      <a:pt x="46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66666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70014" name="Freeform 417"/>
            <p:cNvSpPr>
              <a:spLocks noChangeArrowheads="1"/>
            </p:cNvSpPr>
            <p:nvPr/>
          </p:nvSpPr>
          <p:spPr bwMode="auto">
            <a:xfrm>
              <a:off x="1254" y="2505"/>
              <a:ext cx="51" cy="51"/>
            </a:xfrm>
            <a:custGeom>
              <a:avLst/>
              <a:gdLst>
                <a:gd name="T0" fmla="*/ 22 w 46"/>
                <a:gd name="T1" fmla="*/ 46 h 46"/>
                <a:gd name="T2" fmla="*/ 27 w 46"/>
                <a:gd name="T3" fmla="*/ 46 h 46"/>
                <a:gd name="T4" fmla="*/ 30 w 46"/>
                <a:gd name="T5" fmla="*/ 46 h 46"/>
                <a:gd name="T6" fmla="*/ 35 w 46"/>
                <a:gd name="T7" fmla="*/ 43 h 46"/>
                <a:gd name="T8" fmla="*/ 38 w 46"/>
                <a:gd name="T9" fmla="*/ 43 h 46"/>
                <a:gd name="T10" fmla="*/ 41 w 46"/>
                <a:gd name="T11" fmla="*/ 41 h 46"/>
                <a:gd name="T12" fmla="*/ 43 w 46"/>
                <a:gd name="T13" fmla="*/ 38 h 46"/>
                <a:gd name="T14" fmla="*/ 43 w 46"/>
                <a:gd name="T15" fmla="*/ 35 h 46"/>
                <a:gd name="T16" fmla="*/ 46 w 46"/>
                <a:gd name="T17" fmla="*/ 33 h 46"/>
                <a:gd name="T18" fmla="*/ 46 w 46"/>
                <a:gd name="T19" fmla="*/ 27 h 46"/>
                <a:gd name="T20" fmla="*/ 46 w 46"/>
                <a:gd name="T21" fmla="*/ 24 h 46"/>
                <a:gd name="T22" fmla="*/ 46 w 46"/>
                <a:gd name="T23" fmla="*/ 19 h 46"/>
                <a:gd name="T24" fmla="*/ 46 w 46"/>
                <a:gd name="T25" fmla="*/ 16 h 46"/>
                <a:gd name="T26" fmla="*/ 43 w 46"/>
                <a:gd name="T27" fmla="*/ 14 h 46"/>
                <a:gd name="T28" fmla="*/ 43 w 46"/>
                <a:gd name="T29" fmla="*/ 11 h 46"/>
                <a:gd name="T30" fmla="*/ 41 w 46"/>
                <a:gd name="T31" fmla="*/ 8 h 46"/>
                <a:gd name="T32" fmla="*/ 38 w 46"/>
                <a:gd name="T33" fmla="*/ 5 h 46"/>
                <a:gd name="T34" fmla="*/ 35 w 46"/>
                <a:gd name="T35" fmla="*/ 3 h 46"/>
                <a:gd name="T36" fmla="*/ 30 w 46"/>
                <a:gd name="T37" fmla="*/ 3 h 46"/>
                <a:gd name="T38" fmla="*/ 27 w 46"/>
                <a:gd name="T39" fmla="*/ 0 h 46"/>
                <a:gd name="T40" fmla="*/ 24 w 46"/>
                <a:gd name="T41" fmla="*/ 0 h 46"/>
                <a:gd name="T42" fmla="*/ 19 w 46"/>
                <a:gd name="T43" fmla="*/ 0 h 46"/>
                <a:gd name="T44" fmla="*/ 16 w 46"/>
                <a:gd name="T45" fmla="*/ 3 h 46"/>
                <a:gd name="T46" fmla="*/ 14 w 46"/>
                <a:gd name="T47" fmla="*/ 3 h 46"/>
                <a:gd name="T48" fmla="*/ 11 w 46"/>
                <a:gd name="T49" fmla="*/ 5 h 46"/>
                <a:gd name="T50" fmla="*/ 8 w 46"/>
                <a:gd name="T51" fmla="*/ 8 h 46"/>
                <a:gd name="T52" fmla="*/ 5 w 46"/>
                <a:gd name="T53" fmla="*/ 11 h 46"/>
                <a:gd name="T54" fmla="*/ 3 w 46"/>
                <a:gd name="T55" fmla="*/ 14 h 46"/>
                <a:gd name="T56" fmla="*/ 0 w 46"/>
                <a:gd name="T57" fmla="*/ 16 h 46"/>
                <a:gd name="T58" fmla="*/ 0 w 46"/>
                <a:gd name="T59" fmla="*/ 19 h 46"/>
                <a:gd name="T60" fmla="*/ 0 w 46"/>
                <a:gd name="T61" fmla="*/ 24 h 46"/>
                <a:gd name="T62" fmla="*/ 0 w 46"/>
                <a:gd name="T63" fmla="*/ 27 h 46"/>
                <a:gd name="T64" fmla="*/ 0 w 46"/>
                <a:gd name="T65" fmla="*/ 33 h 46"/>
                <a:gd name="T66" fmla="*/ 3 w 46"/>
                <a:gd name="T67" fmla="*/ 35 h 46"/>
                <a:gd name="T68" fmla="*/ 5 w 46"/>
                <a:gd name="T69" fmla="*/ 38 h 46"/>
                <a:gd name="T70" fmla="*/ 8 w 46"/>
                <a:gd name="T71" fmla="*/ 41 h 46"/>
                <a:gd name="T72" fmla="*/ 11 w 46"/>
                <a:gd name="T73" fmla="*/ 43 h 46"/>
                <a:gd name="T74" fmla="*/ 14 w 46"/>
                <a:gd name="T75" fmla="*/ 43 h 46"/>
                <a:gd name="T76" fmla="*/ 16 w 46"/>
                <a:gd name="T77" fmla="*/ 46 h 46"/>
                <a:gd name="T78" fmla="*/ 19 w 46"/>
                <a:gd name="T79" fmla="*/ 46 h 46"/>
                <a:gd name="T80" fmla="*/ 24 w 46"/>
                <a:gd name="T81" fmla="*/ 46 h 46"/>
                <a:gd name="T82" fmla="*/ 24 w 46"/>
                <a:gd name="T83" fmla="*/ 46 h 46"/>
                <a:gd name="T84" fmla="*/ 22 w 46"/>
                <a:gd name="T85" fmla="*/ 46 h 4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6"/>
                <a:gd name="T130" fmla="*/ 0 h 46"/>
                <a:gd name="T131" fmla="*/ 46 w 46"/>
                <a:gd name="T132" fmla="*/ 46 h 4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6" h="46">
                  <a:moveTo>
                    <a:pt x="22" y="46"/>
                  </a:moveTo>
                  <a:lnTo>
                    <a:pt x="27" y="46"/>
                  </a:lnTo>
                  <a:lnTo>
                    <a:pt x="30" y="46"/>
                  </a:lnTo>
                  <a:lnTo>
                    <a:pt x="35" y="43"/>
                  </a:lnTo>
                  <a:lnTo>
                    <a:pt x="38" y="43"/>
                  </a:lnTo>
                  <a:lnTo>
                    <a:pt x="41" y="41"/>
                  </a:lnTo>
                  <a:lnTo>
                    <a:pt x="43" y="38"/>
                  </a:lnTo>
                  <a:lnTo>
                    <a:pt x="43" y="35"/>
                  </a:lnTo>
                  <a:lnTo>
                    <a:pt x="46" y="33"/>
                  </a:lnTo>
                  <a:lnTo>
                    <a:pt x="46" y="27"/>
                  </a:lnTo>
                  <a:lnTo>
                    <a:pt x="46" y="24"/>
                  </a:lnTo>
                  <a:lnTo>
                    <a:pt x="46" y="19"/>
                  </a:lnTo>
                  <a:lnTo>
                    <a:pt x="46" y="16"/>
                  </a:lnTo>
                  <a:lnTo>
                    <a:pt x="43" y="14"/>
                  </a:lnTo>
                  <a:lnTo>
                    <a:pt x="43" y="11"/>
                  </a:lnTo>
                  <a:lnTo>
                    <a:pt x="41" y="8"/>
                  </a:lnTo>
                  <a:lnTo>
                    <a:pt x="38" y="5"/>
                  </a:lnTo>
                  <a:lnTo>
                    <a:pt x="35" y="3"/>
                  </a:lnTo>
                  <a:lnTo>
                    <a:pt x="30" y="3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19" y="0"/>
                  </a:lnTo>
                  <a:lnTo>
                    <a:pt x="16" y="3"/>
                  </a:lnTo>
                  <a:lnTo>
                    <a:pt x="14" y="3"/>
                  </a:lnTo>
                  <a:lnTo>
                    <a:pt x="11" y="5"/>
                  </a:lnTo>
                  <a:lnTo>
                    <a:pt x="8" y="8"/>
                  </a:lnTo>
                  <a:lnTo>
                    <a:pt x="5" y="11"/>
                  </a:lnTo>
                  <a:lnTo>
                    <a:pt x="3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33"/>
                  </a:lnTo>
                  <a:lnTo>
                    <a:pt x="3" y="35"/>
                  </a:lnTo>
                  <a:lnTo>
                    <a:pt x="5" y="38"/>
                  </a:lnTo>
                  <a:lnTo>
                    <a:pt x="8" y="41"/>
                  </a:lnTo>
                  <a:lnTo>
                    <a:pt x="11" y="43"/>
                  </a:lnTo>
                  <a:lnTo>
                    <a:pt x="14" y="43"/>
                  </a:lnTo>
                  <a:lnTo>
                    <a:pt x="16" y="46"/>
                  </a:lnTo>
                  <a:lnTo>
                    <a:pt x="19" y="46"/>
                  </a:lnTo>
                  <a:lnTo>
                    <a:pt x="24" y="46"/>
                  </a:lnTo>
                  <a:lnTo>
                    <a:pt x="22" y="46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15" name="Freeform 418"/>
            <p:cNvSpPr>
              <a:spLocks noChangeArrowheads="1"/>
            </p:cNvSpPr>
            <p:nvPr/>
          </p:nvSpPr>
          <p:spPr bwMode="auto">
            <a:xfrm>
              <a:off x="1254" y="2756"/>
              <a:ext cx="51" cy="54"/>
            </a:xfrm>
            <a:custGeom>
              <a:avLst/>
              <a:gdLst>
                <a:gd name="T0" fmla="*/ 22 w 46"/>
                <a:gd name="T1" fmla="*/ 46 h 49"/>
                <a:gd name="T2" fmla="*/ 27 w 46"/>
                <a:gd name="T3" fmla="*/ 46 h 49"/>
                <a:gd name="T4" fmla="*/ 30 w 46"/>
                <a:gd name="T5" fmla="*/ 46 h 49"/>
                <a:gd name="T6" fmla="*/ 35 w 46"/>
                <a:gd name="T7" fmla="*/ 46 h 49"/>
                <a:gd name="T8" fmla="*/ 38 w 46"/>
                <a:gd name="T9" fmla="*/ 44 h 49"/>
                <a:gd name="T10" fmla="*/ 41 w 46"/>
                <a:gd name="T11" fmla="*/ 41 h 49"/>
                <a:gd name="T12" fmla="*/ 43 w 46"/>
                <a:gd name="T13" fmla="*/ 38 h 49"/>
                <a:gd name="T14" fmla="*/ 43 w 46"/>
                <a:gd name="T15" fmla="*/ 36 h 49"/>
                <a:gd name="T16" fmla="*/ 46 w 46"/>
                <a:gd name="T17" fmla="*/ 33 h 49"/>
                <a:gd name="T18" fmla="*/ 46 w 46"/>
                <a:gd name="T19" fmla="*/ 27 h 49"/>
                <a:gd name="T20" fmla="*/ 46 w 46"/>
                <a:gd name="T21" fmla="*/ 25 h 49"/>
                <a:gd name="T22" fmla="*/ 46 w 46"/>
                <a:gd name="T23" fmla="*/ 22 h 49"/>
                <a:gd name="T24" fmla="*/ 46 w 46"/>
                <a:gd name="T25" fmla="*/ 17 h 49"/>
                <a:gd name="T26" fmla="*/ 43 w 46"/>
                <a:gd name="T27" fmla="*/ 14 h 49"/>
                <a:gd name="T28" fmla="*/ 43 w 46"/>
                <a:gd name="T29" fmla="*/ 11 h 49"/>
                <a:gd name="T30" fmla="*/ 41 w 46"/>
                <a:gd name="T31" fmla="*/ 8 h 49"/>
                <a:gd name="T32" fmla="*/ 38 w 46"/>
                <a:gd name="T33" fmla="*/ 6 h 49"/>
                <a:gd name="T34" fmla="*/ 35 w 46"/>
                <a:gd name="T35" fmla="*/ 3 h 49"/>
                <a:gd name="T36" fmla="*/ 30 w 46"/>
                <a:gd name="T37" fmla="*/ 3 h 49"/>
                <a:gd name="T38" fmla="*/ 27 w 46"/>
                <a:gd name="T39" fmla="*/ 3 h 49"/>
                <a:gd name="T40" fmla="*/ 24 w 46"/>
                <a:gd name="T41" fmla="*/ 0 h 49"/>
                <a:gd name="T42" fmla="*/ 19 w 46"/>
                <a:gd name="T43" fmla="*/ 3 h 49"/>
                <a:gd name="T44" fmla="*/ 16 w 46"/>
                <a:gd name="T45" fmla="*/ 3 h 49"/>
                <a:gd name="T46" fmla="*/ 14 w 46"/>
                <a:gd name="T47" fmla="*/ 3 h 49"/>
                <a:gd name="T48" fmla="*/ 11 w 46"/>
                <a:gd name="T49" fmla="*/ 6 h 49"/>
                <a:gd name="T50" fmla="*/ 8 w 46"/>
                <a:gd name="T51" fmla="*/ 8 h 49"/>
                <a:gd name="T52" fmla="*/ 5 w 46"/>
                <a:gd name="T53" fmla="*/ 11 h 49"/>
                <a:gd name="T54" fmla="*/ 3 w 46"/>
                <a:gd name="T55" fmla="*/ 14 h 49"/>
                <a:gd name="T56" fmla="*/ 0 w 46"/>
                <a:gd name="T57" fmla="*/ 17 h 49"/>
                <a:gd name="T58" fmla="*/ 0 w 46"/>
                <a:gd name="T59" fmla="*/ 22 h 49"/>
                <a:gd name="T60" fmla="*/ 0 w 46"/>
                <a:gd name="T61" fmla="*/ 25 h 49"/>
                <a:gd name="T62" fmla="*/ 0 w 46"/>
                <a:gd name="T63" fmla="*/ 27 h 49"/>
                <a:gd name="T64" fmla="*/ 0 w 46"/>
                <a:gd name="T65" fmla="*/ 33 h 49"/>
                <a:gd name="T66" fmla="*/ 3 w 46"/>
                <a:gd name="T67" fmla="*/ 36 h 49"/>
                <a:gd name="T68" fmla="*/ 5 w 46"/>
                <a:gd name="T69" fmla="*/ 38 h 49"/>
                <a:gd name="T70" fmla="*/ 8 w 46"/>
                <a:gd name="T71" fmla="*/ 41 h 49"/>
                <a:gd name="T72" fmla="*/ 11 w 46"/>
                <a:gd name="T73" fmla="*/ 44 h 49"/>
                <a:gd name="T74" fmla="*/ 14 w 46"/>
                <a:gd name="T75" fmla="*/ 46 h 49"/>
                <a:gd name="T76" fmla="*/ 16 w 46"/>
                <a:gd name="T77" fmla="*/ 46 h 49"/>
                <a:gd name="T78" fmla="*/ 19 w 46"/>
                <a:gd name="T79" fmla="*/ 46 h 49"/>
                <a:gd name="T80" fmla="*/ 24 w 46"/>
                <a:gd name="T81" fmla="*/ 49 h 49"/>
                <a:gd name="T82" fmla="*/ 24 w 46"/>
                <a:gd name="T83" fmla="*/ 49 h 49"/>
                <a:gd name="T84" fmla="*/ 22 w 46"/>
                <a:gd name="T85" fmla="*/ 46 h 4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6"/>
                <a:gd name="T130" fmla="*/ 0 h 49"/>
                <a:gd name="T131" fmla="*/ 46 w 46"/>
                <a:gd name="T132" fmla="*/ 49 h 4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6" h="49">
                  <a:moveTo>
                    <a:pt x="22" y="46"/>
                  </a:moveTo>
                  <a:lnTo>
                    <a:pt x="27" y="46"/>
                  </a:lnTo>
                  <a:lnTo>
                    <a:pt x="30" y="46"/>
                  </a:lnTo>
                  <a:lnTo>
                    <a:pt x="35" y="46"/>
                  </a:lnTo>
                  <a:lnTo>
                    <a:pt x="38" y="44"/>
                  </a:lnTo>
                  <a:lnTo>
                    <a:pt x="41" y="41"/>
                  </a:lnTo>
                  <a:lnTo>
                    <a:pt x="43" y="38"/>
                  </a:lnTo>
                  <a:lnTo>
                    <a:pt x="43" y="36"/>
                  </a:lnTo>
                  <a:lnTo>
                    <a:pt x="46" y="33"/>
                  </a:lnTo>
                  <a:lnTo>
                    <a:pt x="46" y="27"/>
                  </a:lnTo>
                  <a:lnTo>
                    <a:pt x="46" y="25"/>
                  </a:lnTo>
                  <a:lnTo>
                    <a:pt x="46" y="22"/>
                  </a:lnTo>
                  <a:lnTo>
                    <a:pt x="46" y="17"/>
                  </a:lnTo>
                  <a:lnTo>
                    <a:pt x="43" y="14"/>
                  </a:lnTo>
                  <a:lnTo>
                    <a:pt x="43" y="11"/>
                  </a:lnTo>
                  <a:lnTo>
                    <a:pt x="41" y="8"/>
                  </a:lnTo>
                  <a:lnTo>
                    <a:pt x="38" y="6"/>
                  </a:lnTo>
                  <a:lnTo>
                    <a:pt x="35" y="3"/>
                  </a:lnTo>
                  <a:lnTo>
                    <a:pt x="30" y="3"/>
                  </a:lnTo>
                  <a:lnTo>
                    <a:pt x="27" y="3"/>
                  </a:lnTo>
                  <a:lnTo>
                    <a:pt x="24" y="0"/>
                  </a:lnTo>
                  <a:lnTo>
                    <a:pt x="19" y="3"/>
                  </a:lnTo>
                  <a:lnTo>
                    <a:pt x="16" y="3"/>
                  </a:lnTo>
                  <a:lnTo>
                    <a:pt x="14" y="3"/>
                  </a:lnTo>
                  <a:lnTo>
                    <a:pt x="11" y="6"/>
                  </a:lnTo>
                  <a:lnTo>
                    <a:pt x="8" y="8"/>
                  </a:lnTo>
                  <a:lnTo>
                    <a:pt x="5" y="11"/>
                  </a:lnTo>
                  <a:lnTo>
                    <a:pt x="3" y="14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33"/>
                  </a:lnTo>
                  <a:lnTo>
                    <a:pt x="3" y="36"/>
                  </a:lnTo>
                  <a:lnTo>
                    <a:pt x="5" y="38"/>
                  </a:lnTo>
                  <a:lnTo>
                    <a:pt x="8" y="41"/>
                  </a:lnTo>
                  <a:lnTo>
                    <a:pt x="11" y="44"/>
                  </a:lnTo>
                  <a:lnTo>
                    <a:pt x="14" y="46"/>
                  </a:lnTo>
                  <a:lnTo>
                    <a:pt x="16" y="46"/>
                  </a:lnTo>
                  <a:lnTo>
                    <a:pt x="19" y="46"/>
                  </a:lnTo>
                  <a:lnTo>
                    <a:pt x="24" y="49"/>
                  </a:lnTo>
                  <a:lnTo>
                    <a:pt x="22" y="46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16" name="Freeform 419"/>
            <p:cNvSpPr>
              <a:spLocks noChangeArrowheads="1"/>
            </p:cNvSpPr>
            <p:nvPr/>
          </p:nvSpPr>
          <p:spPr bwMode="auto">
            <a:xfrm>
              <a:off x="2994" y="2736"/>
              <a:ext cx="52" cy="51"/>
            </a:xfrm>
            <a:custGeom>
              <a:avLst/>
              <a:gdLst>
                <a:gd name="T0" fmla="*/ 22 w 47"/>
                <a:gd name="T1" fmla="*/ 46 h 46"/>
                <a:gd name="T2" fmla="*/ 28 w 47"/>
                <a:gd name="T3" fmla="*/ 46 h 46"/>
                <a:gd name="T4" fmla="*/ 30 w 47"/>
                <a:gd name="T5" fmla="*/ 46 h 46"/>
                <a:gd name="T6" fmla="*/ 36 w 47"/>
                <a:gd name="T7" fmla="*/ 43 h 46"/>
                <a:gd name="T8" fmla="*/ 38 w 47"/>
                <a:gd name="T9" fmla="*/ 40 h 46"/>
                <a:gd name="T10" fmla="*/ 41 w 47"/>
                <a:gd name="T11" fmla="*/ 38 h 46"/>
                <a:gd name="T12" fmla="*/ 44 w 47"/>
                <a:gd name="T13" fmla="*/ 35 h 46"/>
                <a:gd name="T14" fmla="*/ 44 w 47"/>
                <a:gd name="T15" fmla="*/ 32 h 46"/>
                <a:gd name="T16" fmla="*/ 47 w 47"/>
                <a:gd name="T17" fmla="*/ 30 h 46"/>
                <a:gd name="T18" fmla="*/ 47 w 47"/>
                <a:gd name="T19" fmla="*/ 27 h 46"/>
                <a:gd name="T20" fmla="*/ 47 w 47"/>
                <a:gd name="T21" fmla="*/ 21 h 46"/>
                <a:gd name="T22" fmla="*/ 47 w 47"/>
                <a:gd name="T23" fmla="*/ 19 h 46"/>
                <a:gd name="T24" fmla="*/ 47 w 47"/>
                <a:gd name="T25" fmla="*/ 16 h 46"/>
                <a:gd name="T26" fmla="*/ 44 w 47"/>
                <a:gd name="T27" fmla="*/ 11 h 46"/>
                <a:gd name="T28" fmla="*/ 44 w 47"/>
                <a:gd name="T29" fmla="*/ 8 h 46"/>
                <a:gd name="T30" fmla="*/ 41 w 47"/>
                <a:gd name="T31" fmla="*/ 5 h 46"/>
                <a:gd name="T32" fmla="*/ 38 w 47"/>
                <a:gd name="T33" fmla="*/ 5 h 46"/>
                <a:gd name="T34" fmla="*/ 36 w 47"/>
                <a:gd name="T35" fmla="*/ 2 h 46"/>
                <a:gd name="T36" fmla="*/ 30 w 47"/>
                <a:gd name="T37" fmla="*/ 0 h 46"/>
                <a:gd name="T38" fmla="*/ 28 w 47"/>
                <a:gd name="T39" fmla="*/ 0 h 46"/>
                <a:gd name="T40" fmla="*/ 25 w 47"/>
                <a:gd name="T41" fmla="*/ 0 h 46"/>
                <a:gd name="T42" fmla="*/ 19 w 47"/>
                <a:gd name="T43" fmla="*/ 0 h 46"/>
                <a:gd name="T44" fmla="*/ 17 w 47"/>
                <a:gd name="T45" fmla="*/ 0 h 46"/>
                <a:gd name="T46" fmla="*/ 14 w 47"/>
                <a:gd name="T47" fmla="*/ 2 h 46"/>
                <a:gd name="T48" fmla="*/ 11 w 47"/>
                <a:gd name="T49" fmla="*/ 5 h 46"/>
                <a:gd name="T50" fmla="*/ 9 w 47"/>
                <a:gd name="T51" fmla="*/ 5 h 46"/>
                <a:gd name="T52" fmla="*/ 6 w 47"/>
                <a:gd name="T53" fmla="*/ 8 h 46"/>
                <a:gd name="T54" fmla="*/ 3 w 47"/>
                <a:gd name="T55" fmla="*/ 11 h 46"/>
                <a:gd name="T56" fmla="*/ 3 w 47"/>
                <a:gd name="T57" fmla="*/ 16 h 46"/>
                <a:gd name="T58" fmla="*/ 0 w 47"/>
                <a:gd name="T59" fmla="*/ 19 h 46"/>
                <a:gd name="T60" fmla="*/ 0 w 47"/>
                <a:gd name="T61" fmla="*/ 21 h 46"/>
                <a:gd name="T62" fmla="*/ 0 w 47"/>
                <a:gd name="T63" fmla="*/ 27 h 46"/>
                <a:gd name="T64" fmla="*/ 3 w 47"/>
                <a:gd name="T65" fmla="*/ 30 h 46"/>
                <a:gd name="T66" fmla="*/ 3 w 47"/>
                <a:gd name="T67" fmla="*/ 32 h 46"/>
                <a:gd name="T68" fmla="*/ 6 w 47"/>
                <a:gd name="T69" fmla="*/ 35 h 46"/>
                <a:gd name="T70" fmla="*/ 9 w 47"/>
                <a:gd name="T71" fmla="*/ 38 h 46"/>
                <a:gd name="T72" fmla="*/ 11 w 47"/>
                <a:gd name="T73" fmla="*/ 40 h 46"/>
                <a:gd name="T74" fmla="*/ 14 w 47"/>
                <a:gd name="T75" fmla="*/ 43 h 46"/>
                <a:gd name="T76" fmla="*/ 17 w 47"/>
                <a:gd name="T77" fmla="*/ 46 h 46"/>
                <a:gd name="T78" fmla="*/ 19 w 47"/>
                <a:gd name="T79" fmla="*/ 46 h 46"/>
                <a:gd name="T80" fmla="*/ 25 w 47"/>
                <a:gd name="T81" fmla="*/ 46 h 46"/>
                <a:gd name="T82" fmla="*/ 25 w 47"/>
                <a:gd name="T83" fmla="*/ 46 h 46"/>
                <a:gd name="T84" fmla="*/ 22 w 47"/>
                <a:gd name="T85" fmla="*/ 46 h 4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7"/>
                <a:gd name="T130" fmla="*/ 0 h 46"/>
                <a:gd name="T131" fmla="*/ 47 w 47"/>
                <a:gd name="T132" fmla="*/ 46 h 4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7" h="46">
                  <a:moveTo>
                    <a:pt x="22" y="46"/>
                  </a:moveTo>
                  <a:lnTo>
                    <a:pt x="28" y="46"/>
                  </a:lnTo>
                  <a:lnTo>
                    <a:pt x="30" y="46"/>
                  </a:lnTo>
                  <a:lnTo>
                    <a:pt x="36" y="43"/>
                  </a:lnTo>
                  <a:lnTo>
                    <a:pt x="38" y="40"/>
                  </a:lnTo>
                  <a:lnTo>
                    <a:pt x="41" y="38"/>
                  </a:lnTo>
                  <a:lnTo>
                    <a:pt x="44" y="35"/>
                  </a:lnTo>
                  <a:lnTo>
                    <a:pt x="44" y="32"/>
                  </a:lnTo>
                  <a:lnTo>
                    <a:pt x="47" y="30"/>
                  </a:lnTo>
                  <a:lnTo>
                    <a:pt x="47" y="27"/>
                  </a:lnTo>
                  <a:lnTo>
                    <a:pt x="47" y="21"/>
                  </a:lnTo>
                  <a:lnTo>
                    <a:pt x="47" y="19"/>
                  </a:lnTo>
                  <a:lnTo>
                    <a:pt x="47" y="16"/>
                  </a:lnTo>
                  <a:lnTo>
                    <a:pt x="44" y="11"/>
                  </a:lnTo>
                  <a:lnTo>
                    <a:pt x="44" y="8"/>
                  </a:lnTo>
                  <a:lnTo>
                    <a:pt x="41" y="5"/>
                  </a:lnTo>
                  <a:lnTo>
                    <a:pt x="38" y="5"/>
                  </a:lnTo>
                  <a:lnTo>
                    <a:pt x="36" y="2"/>
                  </a:lnTo>
                  <a:lnTo>
                    <a:pt x="30" y="0"/>
                  </a:lnTo>
                  <a:lnTo>
                    <a:pt x="28" y="0"/>
                  </a:lnTo>
                  <a:lnTo>
                    <a:pt x="25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2"/>
                  </a:lnTo>
                  <a:lnTo>
                    <a:pt x="11" y="5"/>
                  </a:lnTo>
                  <a:lnTo>
                    <a:pt x="9" y="5"/>
                  </a:lnTo>
                  <a:lnTo>
                    <a:pt x="6" y="8"/>
                  </a:lnTo>
                  <a:lnTo>
                    <a:pt x="3" y="11"/>
                  </a:lnTo>
                  <a:lnTo>
                    <a:pt x="3" y="16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7"/>
                  </a:lnTo>
                  <a:lnTo>
                    <a:pt x="3" y="30"/>
                  </a:lnTo>
                  <a:lnTo>
                    <a:pt x="3" y="32"/>
                  </a:lnTo>
                  <a:lnTo>
                    <a:pt x="6" y="35"/>
                  </a:lnTo>
                  <a:lnTo>
                    <a:pt x="9" y="38"/>
                  </a:lnTo>
                  <a:lnTo>
                    <a:pt x="11" y="40"/>
                  </a:lnTo>
                  <a:lnTo>
                    <a:pt x="14" y="43"/>
                  </a:lnTo>
                  <a:lnTo>
                    <a:pt x="17" y="46"/>
                  </a:lnTo>
                  <a:lnTo>
                    <a:pt x="19" y="46"/>
                  </a:lnTo>
                  <a:lnTo>
                    <a:pt x="25" y="46"/>
                  </a:lnTo>
                  <a:lnTo>
                    <a:pt x="22" y="46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17" name="Freeform 420"/>
            <p:cNvSpPr>
              <a:spLocks noChangeArrowheads="1"/>
            </p:cNvSpPr>
            <p:nvPr/>
          </p:nvSpPr>
          <p:spPr bwMode="auto">
            <a:xfrm>
              <a:off x="4057" y="2742"/>
              <a:ext cx="50" cy="51"/>
            </a:xfrm>
            <a:custGeom>
              <a:avLst/>
              <a:gdLst>
                <a:gd name="T0" fmla="*/ 22 w 46"/>
                <a:gd name="T1" fmla="*/ 43 h 46"/>
                <a:gd name="T2" fmla="*/ 27 w 46"/>
                <a:gd name="T3" fmla="*/ 46 h 46"/>
                <a:gd name="T4" fmla="*/ 32 w 46"/>
                <a:gd name="T5" fmla="*/ 43 h 46"/>
                <a:gd name="T6" fmla="*/ 35 w 46"/>
                <a:gd name="T7" fmla="*/ 43 h 46"/>
                <a:gd name="T8" fmla="*/ 38 w 46"/>
                <a:gd name="T9" fmla="*/ 40 h 46"/>
                <a:gd name="T10" fmla="*/ 41 w 46"/>
                <a:gd name="T11" fmla="*/ 38 h 46"/>
                <a:gd name="T12" fmla="*/ 43 w 46"/>
                <a:gd name="T13" fmla="*/ 35 h 46"/>
                <a:gd name="T14" fmla="*/ 43 w 46"/>
                <a:gd name="T15" fmla="*/ 32 h 46"/>
                <a:gd name="T16" fmla="*/ 46 w 46"/>
                <a:gd name="T17" fmla="*/ 30 h 46"/>
                <a:gd name="T18" fmla="*/ 46 w 46"/>
                <a:gd name="T19" fmla="*/ 27 h 46"/>
                <a:gd name="T20" fmla="*/ 46 w 46"/>
                <a:gd name="T21" fmla="*/ 21 h 46"/>
                <a:gd name="T22" fmla="*/ 46 w 46"/>
                <a:gd name="T23" fmla="*/ 19 h 46"/>
                <a:gd name="T24" fmla="*/ 46 w 46"/>
                <a:gd name="T25" fmla="*/ 16 h 46"/>
                <a:gd name="T26" fmla="*/ 43 w 46"/>
                <a:gd name="T27" fmla="*/ 11 h 46"/>
                <a:gd name="T28" fmla="*/ 43 w 46"/>
                <a:gd name="T29" fmla="*/ 8 h 46"/>
                <a:gd name="T30" fmla="*/ 41 w 46"/>
                <a:gd name="T31" fmla="*/ 5 h 46"/>
                <a:gd name="T32" fmla="*/ 38 w 46"/>
                <a:gd name="T33" fmla="*/ 2 h 46"/>
                <a:gd name="T34" fmla="*/ 35 w 46"/>
                <a:gd name="T35" fmla="*/ 2 h 46"/>
                <a:gd name="T36" fmla="*/ 32 w 46"/>
                <a:gd name="T37" fmla="*/ 0 h 46"/>
                <a:gd name="T38" fmla="*/ 27 w 46"/>
                <a:gd name="T39" fmla="*/ 0 h 46"/>
                <a:gd name="T40" fmla="*/ 24 w 46"/>
                <a:gd name="T41" fmla="*/ 0 h 46"/>
                <a:gd name="T42" fmla="*/ 19 w 46"/>
                <a:gd name="T43" fmla="*/ 0 h 46"/>
                <a:gd name="T44" fmla="*/ 16 w 46"/>
                <a:gd name="T45" fmla="*/ 0 h 46"/>
                <a:gd name="T46" fmla="*/ 13 w 46"/>
                <a:gd name="T47" fmla="*/ 2 h 46"/>
                <a:gd name="T48" fmla="*/ 11 w 46"/>
                <a:gd name="T49" fmla="*/ 2 h 46"/>
                <a:gd name="T50" fmla="*/ 8 w 46"/>
                <a:gd name="T51" fmla="*/ 5 h 46"/>
                <a:gd name="T52" fmla="*/ 5 w 46"/>
                <a:gd name="T53" fmla="*/ 8 h 46"/>
                <a:gd name="T54" fmla="*/ 2 w 46"/>
                <a:gd name="T55" fmla="*/ 11 h 46"/>
                <a:gd name="T56" fmla="*/ 2 w 46"/>
                <a:gd name="T57" fmla="*/ 16 h 46"/>
                <a:gd name="T58" fmla="*/ 0 w 46"/>
                <a:gd name="T59" fmla="*/ 19 h 46"/>
                <a:gd name="T60" fmla="*/ 0 w 46"/>
                <a:gd name="T61" fmla="*/ 21 h 46"/>
                <a:gd name="T62" fmla="*/ 0 w 46"/>
                <a:gd name="T63" fmla="*/ 27 h 46"/>
                <a:gd name="T64" fmla="*/ 2 w 46"/>
                <a:gd name="T65" fmla="*/ 30 h 46"/>
                <a:gd name="T66" fmla="*/ 2 w 46"/>
                <a:gd name="T67" fmla="*/ 32 h 46"/>
                <a:gd name="T68" fmla="*/ 5 w 46"/>
                <a:gd name="T69" fmla="*/ 35 h 46"/>
                <a:gd name="T70" fmla="*/ 8 w 46"/>
                <a:gd name="T71" fmla="*/ 38 h 46"/>
                <a:gd name="T72" fmla="*/ 11 w 46"/>
                <a:gd name="T73" fmla="*/ 40 h 46"/>
                <a:gd name="T74" fmla="*/ 13 w 46"/>
                <a:gd name="T75" fmla="*/ 43 h 46"/>
                <a:gd name="T76" fmla="*/ 16 w 46"/>
                <a:gd name="T77" fmla="*/ 43 h 46"/>
                <a:gd name="T78" fmla="*/ 19 w 46"/>
                <a:gd name="T79" fmla="*/ 46 h 46"/>
                <a:gd name="T80" fmla="*/ 24 w 46"/>
                <a:gd name="T81" fmla="*/ 46 h 46"/>
                <a:gd name="T82" fmla="*/ 24 w 46"/>
                <a:gd name="T83" fmla="*/ 46 h 46"/>
                <a:gd name="T84" fmla="*/ 22 w 46"/>
                <a:gd name="T85" fmla="*/ 43 h 4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6"/>
                <a:gd name="T130" fmla="*/ 0 h 46"/>
                <a:gd name="T131" fmla="*/ 46 w 46"/>
                <a:gd name="T132" fmla="*/ 46 h 4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6" h="46">
                  <a:moveTo>
                    <a:pt x="22" y="43"/>
                  </a:moveTo>
                  <a:lnTo>
                    <a:pt x="27" y="46"/>
                  </a:lnTo>
                  <a:lnTo>
                    <a:pt x="32" y="43"/>
                  </a:lnTo>
                  <a:lnTo>
                    <a:pt x="35" y="43"/>
                  </a:lnTo>
                  <a:lnTo>
                    <a:pt x="38" y="40"/>
                  </a:lnTo>
                  <a:lnTo>
                    <a:pt x="41" y="38"/>
                  </a:lnTo>
                  <a:lnTo>
                    <a:pt x="43" y="35"/>
                  </a:lnTo>
                  <a:lnTo>
                    <a:pt x="43" y="32"/>
                  </a:lnTo>
                  <a:lnTo>
                    <a:pt x="46" y="30"/>
                  </a:lnTo>
                  <a:lnTo>
                    <a:pt x="46" y="27"/>
                  </a:lnTo>
                  <a:lnTo>
                    <a:pt x="46" y="21"/>
                  </a:lnTo>
                  <a:lnTo>
                    <a:pt x="46" y="19"/>
                  </a:lnTo>
                  <a:lnTo>
                    <a:pt x="46" y="16"/>
                  </a:lnTo>
                  <a:lnTo>
                    <a:pt x="43" y="11"/>
                  </a:lnTo>
                  <a:lnTo>
                    <a:pt x="43" y="8"/>
                  </a:lnTo>
                  <a:lnTo>
                    <a:pt x="41" y="5"/>
                  </a:lnTo>
                  <a:lnTo>
                    <a:pt x="38" y="2"/>
                  </a:lnTo>
                  <a:lnTo>
                    <a:pt x="35" y="2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11" y="2"/>
                  </a:lnTo>
                  <a:lnTo>
                    <a:pt x="8" y="5"/>
                  </a:lnTo>
                  <a:lnTo>
                    <a:pt x="5" y="8"/>
                  </a:lnTo>
                  <a:lnTo>
                    <a:pt x="2" y="11"/>
                  </a:lnTo>
                  <a:lnTo>
                    <a:pt x="2" y="16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0" y="27"/>
                  </a:lnTo>
                  <a:lnTo>
                    <a:pt x="2" y="30"/>
                  </a:lnTo>
                  <a:lnTo>
                    <a:pt x="2" y="32"/>
                  </a:lnTo>
                  <a:lnTo>
                    <a:pt x="5" y="35"/>
                  </a:lnTo>
                  <a:lnTo>
                    <a:pt x="8" y="38"/>
                  </a:lnTo>
                  <a:lnTo>
                    <a:pt x="11" y="40"/>
                  </a:lnTo>
                  <a:lnTo>
                    <a:pt x="13" y="43"/>
                  </a:lnTo>
                  <a:lnTo>
                    <a:pt x="16" y="43"/>
                  </a:lnTo>
                  <a:lnTo>
                    <a:pt x="19" y="46"/>
                  </a:lnTo>
                  <a:lnTo>
                    <a:pt x="24" y="46"/>
                  </a:lnTo>
                  <a:lnTo>
                    <a:pt x="22" y="43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18" name="Freeform 421"/>
            <p:cNvSpPr>
              <a:spLocks noChangeArrowheads="1"/>
            </p:cNvSpPr>
            <p:nvPr/>
          </p:nvSpPr>
          <p:spPr bwMode="auto">
            <a:xfrm>
              <a:off x="1254" y="2634"/>
              <a:ext cx="51" cy="51"/>
            </a:xfrm>
            <a:custGeom>
              <a:avLst/>
              <a:gdLst>
                <a:gd name="T0" fmla="*/ 22 w 46"/>
                <a:gd name="T1" fmla="*/ 46 h 46"/>
                <a:gd name="T2" fmla="*/ 27 w 46"/>
                <a:gd name="T3" fmla="*/ 46 h 46"/>
                <a:gd name="T4" fmla="*/ 30 w 46"/>
                <a:gd name="T5" fmla="*/ 46 h 46"/>
                <a:gd name="T6" fmla="*/ 35 w 46"/>
                <a:gd name="T7" fmla="*/ 43 h 46"/>
                <a:gd name="T8" fmla="*/ 38 w 46"/>
                <a:gd name="T9" fmla="*/ 41 h 46"/>
                <a:gd name="T10" fmla="*/ 41 w 46"/>
                <a:gd name="T11" fmla="*/ 41 h 46"/>
                <a:gd name="T12" fmla="*/ 43 w 46"/>
                <a:gd name="T13" fmla="*/ 38 h 46"/>
                <a:gd name="T14" fmla="*/ 43 w 46"/>
                <a:gd name="T15" fmla="*/ 32 h 46"/>
                <a:gd name="T16" fmla="*/ 46 w 46"/>
                <a:gd name="T17" fmla="*/ 30 h 46"/>
                <a:gd name="T18" fmla="*/ 46 w 46"/>
                <a:gd name="T19" fmla="*/ 27 h 46"/>
                <a:gd name="T20" fmla="*/ 46 w 46"/>
                <a:gd name="T21" fmla="*/ 24 h 46"/>
                <a:gd name="T22" fmla="*/ 46 w 46"/>
                <a:gd name="T23" fmla="*/ 19 h 46"/>
                <a:gd name="T24" fmla="*/ 46 w 46"/>
                <a:gd name="T25" fmla="*/ 16 h 46"/>
                <a:gd name="T26" fmla="*/ 43 w 46"/>
                <a:gd name="T27" fmla="*/ 13 h 46"/>
                <a:gd name="T28" fmla="*/ 43 w 46"/>
                <a:gd name="T29" fmla="*/ 11 h 46"/>
                <a:gd name="T30" fmla="*/ 41 w 46"/>
                <a:gd name="T31" fmla="*/ 8 h 46"/>
                <a:gd name="T32" fmla="*/ 38 w 46"/>
                <a:gd name="T33" fmla="*/ 5 h 46"/>
                <a:gd name="T34" fmla="*/ 35 w 46"/>
                <a:gd name="T35" fmla="*/ 3 h 46"/>
                <a:gd name="T36" fmla="*/ 30 w 46"/>
                <a:gd name="T37" fmla="*/ 0 h 46"/>
                <a:gd name="T38" fmla="*/ 27 w 46"/>
                <a:gd name="T39" fmla="*/ 0 h 46"/>
                <a:gd name="T40" fmla="*/ 24 w 46"/>
                <a:gd name="T41" fmla="*/ 0 h 46"/>
                <a:gd name="T42" fmla="*/ 19 w 46"/>
                <a:gd name="T43" fmla="*/ 0 h 46"/>
                <a:gd name="T44" fmla="*/ 16 w 46"/>
                <a:gd name="T45" fmla="*/ 0 h 46"/>
                <a:gd name="T46" fmla="*/ 14 w 46"/>
                <a:gd name="T47" fmla="*/ 3 h 46"/>
                <a:gd name="T48" fmla="*/ 11 w 46"/>
                <a:gd name="T49" fmla="*/ 5 h 46"/>
                <a:gd name="T50" fmla="*/ 8 w 46"/>
                <a:gd name="T51" fmla="*/ 8 h 46"/>
                <a:gd name="T52" fmla="*/ 5 w 46"/>
                <a:gd name="T53" fmla="*/ 11 h 46"/>
                <a:gd name="T54" fmla="*/ 3 w 46"/>
                <a:gd name="T55" fmla="*/ 13 h 46"/>
                <a:gd name="T56" fmla="*/ 0 w 46"/>
                <a:gd name="T57" fmla="*/ 16 h 46"/>
                <a:gd name="T58" fmla="*/ 0 w 46"/>
                <a:gd name="T59" fmla="*/ 19 h 46"/>
                <a:gd name="T60" fmla="*/ 0 w 46"/>
                <a:gd name="T61" fmla="*/ 24 h 46"/>
                <a:gd name="T62" fmla="*/ 0 w 46"/>
                <a:gd name="T63" fmla="*/ 27 h 46"/>
                <a:gd name="T64" fmla="*/ 0 w 46"/>
                <a:gd name="T65" fmla="*/ 30 h 46"/>
                <a:gd name="T66" fmla="*/ 3 w 46"/>
                <a:gd name="T67" fmla="*/ 32 h 46"/>
                <a:gd name="T68" fmla="*/ 5 w 46"/>
                <a:gd name="T69" fmla="*/ 38 h 46"/>
                <a:gd name="T70" fmla="*/ 8 w 46"/>
                <a:gd name="T71" fmla="*/ 41 h 46"/>
                <a:gd name="T72" fmla="*/ 11 w 46"/>
                <a:gd name="T73" fmla="*/ 41 h 46"/>
                <a:gd name="T74" fmla="*/ 14 w 46"/>
                <a:gd name="T75" fmla="*/ 43 h 46"/>
                <a:gd name="T76" fmla="*/ 16 w 46"/>
                <a:gd name="T77" fmla="*/ 46 h 46"/>
                <a:gd name="T78" fmla="*/ 19 w 46"/>
                <a:gd name="T79" fmla="*/ 46 h 46"/>
                <a:gd name="T80" fmla="*/ 24 w 46"/>
                <a:gd name="T81" fmla="*/ 46 h 46"/>
                <a:gd name="T82" fmla="*/ 24 w 46"/>
                <a:gd name="T83" fmla="*/ 46 h 46"/>
                <a:gd name="T84" fmla="*/ 22 w 46"/>
                <a:gd name="T85" fmla="*/ 46 h 4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6"/>
                <a:gd name="T130" fmla="*/ 0 h 46"/>
                <a:gd name="T131" fmla="*/ 46 w 46"/>
                <a:gd name="T132" fmla="*/ 46 h 4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6" h="46">
                  <a:moveTo>
                    <a:pt x="22" y="46"/>
                  </a:moveTo>
                  <a:lnTo>
                    <a:pt x="27" y="46"/>
                  </a:lnTo>
                  <a:lnTo>
                    <a:pt x="30" y="46"/>
                  </a:lnTo>
                  <a:lnTo>
                    <a:pt x="35" y="43"/>
                  </a:lnTo>
                  <a:lnTo>
                    <a:pt x="38" y="41"/>
                  </a:lnTo>
                  <a:lnTo>
                    <a:pt x="41" y="41"/>
                  </a:lnTo>
                  <a:lnTo>
                    <a:pt x="43" y="38"/>
                  </a:lnTo>
                  <a:lnTo>
                    <a:pt x="43" y="32"/>
                  </a:lnTo>
                  <a:lnTo>
                    <a:pt x="46" y="30"/>
                  </a:lnTo>
                  <a:lnTo>
                    <a:pt x="46" y="27"/>
                  </a:lnTo>
                  <a:lnTo>
                    <a:pt x="46" y="24"/>
                  </a:lnTo>
                  <a:lnTo>
                    <a:pt x="46" y="19"/>
                  </a:lnTo>
                  <a:lnTo>
                    <a:pt x="46" y="16"/>
                  </a:lnTo>
                  <a:lnTo>
                    <a:pt x="43" y="13"/>
                  </a:lnTo>
                  <a:lnTo>
                    <a:pt x="43" y="11"/>
                  </a:lnTo>
                  <a:lnTo>
                    <a:pt x="41" y="8"/>
                  </a:lnTo>
                  <a:lnTo>
                    <a:pt x="38" y="5"/>
                  </a:lnTo>
                  <a:lnTo>
                    <a:pt x="35" y="3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3"/>
                  </a:lnTo>
                  <a:lnTo>
                    <a:pt x="11" y="5"/>
                  </a:lnTo>
                  <a:lnTo>
                    <a:pt x="8" y="8"/>
                  </a:lnTo>
                  <a:lnTo>
                    <a:pt x="5" y="11"/>
                  </a:lnTo>
                  <a:lnTo>
                    <a:pt x="3" y="13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30"/>
                  </a:lnTo>
                  <a:lnTo>
                    <a:pt x="3" y="32"/>
                  </a:lnTo>
                  <a:lnTo>
                    <a:pt x="5" y="38"/>
                  </a:lnTo>
                  <a:lnTo>
                    <a:pt x="8" y="41"/>
                  </a:lnTo>
                  <a:lnTo>
                    <a:pt x="11" y="41"/>
                  </a:lnTo>
                  <a:lnTo>
                    <a:pt x="14" y="43"/>
                  </a:lnTo>
                  <a:lnTo>
                    <a:pt x="16" y="46"/>
                  </a:lnTo>
                  <a:lnTo>
                    <a:pt x="19" y="46"/>
                  </a:lnTo>
                  <a:lnTo>
                    <a:pt x="24" y="46"/>
                  </a:lnTo>
                  <a:lnTo>
                    <a:pt x="22" y="4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19" name="Freeform 422"/>
            <p:cNvSpPr>
              <a:spLocks noChangeArrowheads="1"/>
            </p:cNvSpPr>
            <p:nvPr/>
          </p:nvSpPr>
          <p:spPr bwMode="auto">
            <a:xfrm>
              <a:off x="459" y="2410"/>
              <a:ext cx="50" cy="50"/>
            </a:xfrm>
            <a:custGeom>
              <a:avLst/>
              <a:gdLst>
                <a:gd name="T0" fmla="*/ 22 w 46"/>
                <a:gd name="T1" fmla="*/ 44 h 46"/>
                <a:gd name="T2" fmla="*/ 27 w 46"/>
                <a:gd name="T3" fmla="*/ 46 h 46"/>
                <a:gd name="T4" fmla="*/ 30 w 46"/>
                <a:gd name="T5" fmla="*/ 44 h 46"/>
                <a:gd name="T6" fmla="*/ 33 w 46"/>
                <a:gd name="T7" fmla="*/ 44 h 46"/>
                <a:gd name="T8" fmla="*/ 36 w 46"/>
                <a:gd name="T9" fmla="*/ 41 h 46"/>
                <a:gd name="T10" fmla="*/ 38 w 46"/>
                <a:gd name="T11" fmla="*/ 38 h 46"/>
                <a:gd name="T12" fmla="*/ 41 w 46"/>
                <a:gd name="T13" fmla="*/ 35 h 46"/>
                <a:gd name="T14" fmla="*/ 44 w 46"/>
                <a:gd name="T15" fmla="*/ 33 h 46"/>
                <a:gd name="T16" fmla="*/ 44 w 46"/>
                <a:gd name="T17" fmla="*/ 30 h 46"/>
                <a:gd name="T18" fmla="*/ 46 w 46"/>
                <a:gd name="T19" fmla="*/ 27 h 46"/>
                <a:gd name="T20" fmla="*/ 46 w 46"/>
                <a:gd name="T21" fmla="*/ 22 h 46"/>
                <a:gd name="T22" fmla="*/ 46 w 46"/>
                <a:gd name="T23" fmla="*/ 19 h 46"/>
                <a:gd name="T24" fmla="*/ 44 w 46"/>
                <a:gd name="T25" fmla="*/ 14 h 46"/>
                <a:gd name="T26" fmla="*/ 44 w 46"/>
                <a:gd name="T27" fmla="*/ 11 h 46"/>
                <a:gd name="T28" fmla="*/ 41 w 46"/>
                <a:gd name="T29" fmla="*/ 8 h 46"/>
                <a:gd name="T30" fmla="*/ 38 w 46"/>
                <a:gd name="T31" fmla="*/ 5 h 46"/>
                <a:gd name="T32" fmla="*/ 36 w 46"/>
                <a:gd name="T33" fmla="*/ 3 h 46"/>
                <a:gd name="T34" fmla="*/ 33 w 46"/>
                <a:gd name="T35" fmla="*/ 3 h 46"/>
                <a:gd name="T36" fmla="*/ 30 w 46"/>
                <a:gd name="T37" fmla="*/ 0 h 46"/>
                <a:gd name="T38" fmla="*/ 27 w 46"/>
                <a:gd name="T39" fmla="*/ 0 h 46"/>
                <a:gd name="T40" fmla="*/ 22 w 46"/>
                <a:gd name="T41" fmla="*/ 0 h 46"/>
                <a:gd name="T42" fmla="*/ 19 w 46"/>
                <a:gd name="T43" fmla="*/ 0 h 46"/>
                <a:gd name="T44" fmla="*/ 14 w 46"/>
                <a:gd name="T45" fmla="*/ 0 h 46"/>
                <a:gd name="T46" fmla="*/ 11 w 46"/>
                <a:gd name="T47" fmla="*/ 3 h 46"/>
                <a:gd name="T48" fmla="*/ 8 w 46"/>
                <a:gd name="T49" fmla="*/ 3 h 46"/>
                <a:gd name="T50" fmla="*/ 6 w 46"/>
                <a:gd name="T51" fmla="*/ 5 h 46"/>
                <a:gd name="T52" fmla="*/ 3 w 46"/>
                <a:gd name="T53" fmla="*/ 8 h 46"/>
                <a:gd name="T54" fmla="*/ 3 w 46"/>
                <a:gd name="T55" fmla="*/ 11 h 46"/>
                <a:gd name="T56" fmla="*/ 0 w 46"/>
                <a:gd name="T57" fmla="*/ 14 h 46"/>
                <a:gd name="T58" fmla="*/ 0 w 46"/>
                <a:gd name="T59" fmla="*/ 19 h 46"/>
                <a:gd name="T60" fmla="*/ 0 w 46"/>
                <a:gd name="T61" fmla="*/ 22 h 46"/>
                <a:gd name="T62" fmla="*/ 0 w 46"/>
                <a:gd name="T63" fmla="*/ 27 h 46"/>
                <a:gd name="T64" fmla="*/ 0 w 46"/>
                <a:gd name="T65" fmla="*/ 30 h 46"/>
                <a:gd name="T66" fmla="*/ 3 w 46"/>
                <a:gd name="T67" fmla="*/ 33 h 46"/>
                <a:gd name="T68" fmla="*/ 3 w 46"/>
                <a:gd name="T69" fmla="*/ 35 h 46"/>
                <a:gd name="T70" fmla="*/ 6 w 46"/>
                <a:gd name="T71" fmla="*/ 38 h 46"/>
                <a:gd name="T72" fmla="*/ 8 w 46"/>
                <a:gd name="T73" fmla="*/ 41 h 46"/>
                <a:gd name="T74" fmla="*/ 11 w 46"/>
                <a:gd name="T75" fmla="*/ 44 h 46"/>
                <a:gd name="T76" fmla="*/ 14 w 46"/>
                <a:gd name="T77" fmla="*/ 44 h 46"/>
                <a:gd name="T78" fmla="*/ 19 w 46"/>
                <a:gd name="T79" fmla="*/ 46 h 46"/>
                <a:gd name="T80" fmla="*/ 22 w 46"/>
                <a:gd name="T81" fmla="*/ 46 h 46"/>
                <a:gd name="T82" fmla="*/ 22 w 46"/>
                <a:gd name="T83" fmla="*/ 46 h 46"/>
                <a:gd name="T84" fmla="*/ 22 w 46"/>
                <a:gd name="T85" fmla="*/ 44 h 4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6"/>
                <a:gd name="T130" fmla="*/ 0 h 46"/>
                <a:gd name="T131" fmla="*/ 46 w 46"/>
                <a:gd name="T132" fmla="*/ 46 h 4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6" h="46">
                  <a:moveTo>
                    <a:pt x="22" y="44"/>
                  </a:moveTo>
                  <a:lnTo>
                    <a:pt x="27" y="46"/>
                  </a:lnTo>
                  <a:lnTo>
                    <a:pt x="30" y="44"/>
                  </a:lnTo>
                  <a:lnTo>
                    <a:pt x="33" y="44"/>
                  </a:lnTo>
                  <a:lnTo>
                    <a:pt x="36" y="41"/>
                  </a:lnTo>
                  <a:lnTo>
                    <a:pt x="38" y="38"/>
                  </a:lnTo>
                  <a:lnTo>
                    <a:pt x="41" y="35"/>
                  </a:lnTo>
                  <a:lnTo>
                    <a:pt x="44" y="33"/>
                  </a:lnTo>
                  <a:lnTo>
                    <a:pt x="44" y="30"/>
                  </a:lnTo>
                  <a:lnTo>
                    <a:pt x="46" y="27"/>
                  </a:lnTo>
                  <a:lnTo>
                    <a:pt x="46" y="22"/>
                  </a:lnTo>
                  <a:lnTo>
                    <a:pt x="46" y="19"/>
                  </a:lnTo>
                  <a:lnTo>
                    <a:pt x="44" y="14"/>
                  </a:lnTo>
                  <a:lnTo>
                    <a:pt x="44" y="11"/>
                  </a:lnTo>
                  <a:lnTo>
                    <a:pt x="41" y="8"/>
                  </a:lnTo>
                  <a:lnTo>
                    <a:pt x="38" y="5"/>
                  </a:lnTo>
                  <a:lnTo>
                    <a:pt x="36" y="3"/>
                  </a:lnTo>
                  <a:lnTo>
                    <a:pt x="33" y="3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4" y="0"/>
                  </a:lnTo>
                  <a:lnTo>
                    <a:pt x="11" y="3"/>
                  </a:lnTo>
                  <a:lnTo>
                    <a:pt x="8" y="3"/>
                  </a:lnTo>
                  <a:lnTo>
                    <a:pt x="6" y="5"/>
                  </a:lnTo>
                  <a:lnTo>
                    <a:pt x="3" y="8"/>
                  </a:lnTo>
                  <a:lnTo>
                    <a:pt x="3" y="11"/>
                  </a:lnTo>
                  <a:lnTo>
                    <a:pt x="0" y="14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0" y="27"/>
                  </a:lnTo>
                  <a:lnTo>
                    <a:pt x="0" y="30"/>
                  </a:lnTo>
                  <a:lnTo>
                    <a:pt x="3" y="33"/>
                  </a:lnTo>
                  <a:lnTo>
                    <a:pt x="3" y="35"/>
                  </a:lnTo>
                  <a:lnTo>
                    <a:pt x="6" y="38"/>
                  </a:lnTo>
                  <a:lnTo>
                    <a:pt x="8" y="41"/>
                  </a:lnTo>
                  <a:lnTo>
                    <a:pt x="11" y="44"/>
                  </a:lnTo>
                  <a:lnTo>
                    <a:pt x="14" y="44"/>
                  </a:lnTo>
                  <a:lnTo>
                    <a:pt x="19" y="46"/>
                  </a:lnTo>
                  <a:lnTo>
                    <a:pt x="22" y="46"/>
                  </a:lnTo>
                  <a:lnTo>
                    <a:pt x="22" y="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20" name="Rectangle 423"/>
            <p:cNvSpPr>
              <a:spLocks noChangeArrowheads="1"/>
            </p:cNvSpPr>
            <p:nvPr/>
          </p:nvSpPr>
          <p:spPr bwMode="auto">
            <a:xfrm>
              <a:off x="1296" y="2208"/>
              <a:ext cx="432" cy="9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021" name="Line 424"/>
            <p:cNvSpPr>
              <a:spLocks noChangeShapeType="1"/>
            </p:cNvSpPr>
            <p:nvPr/>
          </p:nvSpPr>
          <p:spPr bwMode="auto">
            <a:xfrm>
              <a:off x="1266" y="2262"/>
              <a:ext cx="518" cy="2"/>
            </a:xfrm>
            <a:prstGeom prst="line">
              <a:avLst/>
            </a:prstGeom>
            <a:noFill/>
            <a:ln w="3492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022" name="Line 425"/>
            <p:cNvSpPr>
              <a:spLocks noChangeShapeType="1"/>
            </p:cNvSpPr>
            <p:nvPr/>
          </p:nvSpPr>
          <p:spPr bwMode="auto">
            <a:xfrm flipH="1">
              <a:off x="2831" y="3097"/>
              <a:ext cx="338" cy="2"/>
            </a:xfrm>
            <a:prstGeom prst="line">
              <a:avLst/>
            </a:prstGeom>
            <a:noFill/>
            <a:ln w="4140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002" name="AutoShape 426"/>
          <p:cNvSpPr>
            <a:spLocks noChangeArrowheads="1"/>
          </p:cNvSpPr>
          <p:nvPr/>
        </p:nvSpPr>
        <p:spPr bwMode="auto">
          <a:xfrm>
            <a:off x="8229600" y="2947750"/>
            <a:ext cx="2438400" cy="1066800"/>
          </a:xfrm>
          <a:prstGeom prst="wedgeRectCallout">
            <a:avLst>
              <a:gd name="adj1" fmla="val -24023"/>
              <a:gd name="adj2" fmla="val -89583"/>
            </a:avLst>
          </a:prstGeom>
          <a:solidFill>
            <a:srgbClr val="FFFF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spcBef>
                <a:spcPts val="400"/>
              </a:spcBef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 b="1" dirty="0">
                <a:solidFill>
                  <a:srgbClr val="CD3333"/>
                </a:solidFill>
                <a:latin typeface="Tahoma" charset="0"/>
                <a:ea typeface="新細明體" charset="-120"/>
              </a:rPr>
              <a:t>Select the next PC</a:t>
            </a:r>
            <a:r>
              <a:rPr lang="en-GB" altLang="zh-TW" sz="1600" dirty="0">
                <a:solidFill>
                  <a:srgbClr val="402000"/>
                </a:solidFill>
                <a:latin typeface="Tahoma" charset="0"/>
                <a:ea typeface="新細明體" charset="-120"/>
              </a:rPr>
              <a:t>:</a:t>
            </a:r>
          </a:p>
          <a:p>
            <a:pPr>
              <a:spcBef>
                <a:spcPts val="400"/>
              </a:spcBef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 dirty="0">
                <a:solidFill>
                  <a:srgbClr val="000000"/>
                </a:solidFill>
                <a:latin typeface="Tahoma" charset="0"/>
                <a:ea typeface="新細明體" charset="-120"/>
              </a:rPr>
              <a:t>Either </a:t>
            </a:r>
            <a:r>
              <a:rPr lang="en-GB" altLang="zh-TW" sz="1600" dirty="0">
                <a:solidFill>
                  <a:srgbClr val="3333CC"/>
                </a:solidFill>
                <a:latin typeface="Tahoma" charset="0"/>
                <a:ea typeface="新細明體" charset="-120"/>
              </a:rPr>
              <a:t>PC+4</a:t>
            </a:r>
            <a:r>
              <a:rPr lang="en-GB" altLang="zh-TW" sz="1600" dirty="0">
                <a:solidFill>
                  <a:srgbClr val="000000"/>
                </a:solidFill>
                <a:latin typeface="Tahoma" charset="0"/>
                <a:ea typeface="新細明體" charset="-120"/>
              </a:rPr>
              <a:t> or </a:t>
            </a:r>
            <a:r>
              <a:rPr lang="en-GB" altLang="zh-TW" sz="1600" dirty="0">
                <a:solidFill>
                  <a:srgbClr val="3333CC"/>
                </a:solidFill>
                <a:latin typeface="Tahoma" charset="0"/>
                <a:ea typeface="新細明體" charset="-120"/>
              </a:rPr>
              <a:t>branch target address</a:t>
            </a:r>
          </a:p>
        </p:txBody>
      </p:sp>
    </p:spTree>
    <p:extLst>
      <p:ext uri="{BB962C8B-B14F-4D97-AF65-F5344CB8AC3E}">
        <p14:creationId xmlns:p14="http://schemas.microsoft.com/office/powerpoint/2010/main" val="2176911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sz="3200" dirty="0">
                <a:ea typeface="新細明體" charset="-120"/>
                <a:cs typeface="新細明體" charset="-120"/>
              </a:rPr>
              <a:t>Full </a:t>
            </a:r>
            <a:r>
              <a:rPr lang="en-GB" altLang="zh-TW" sz="3200" dirty="0" err="1">
                <a:ea typeface="新細明體" charset="-120"/>
                <a:cs typeface="新細明體" charset="-120"/>
              </a:rPr>
              <a:t>Datapath</a:t>
            </a:r>
            <a:r>
              <a:rPr lang="en-GB" altLang="zh-TW" sz="3200" dirty="0">
                <a:ea typeface="新細明體" charset="-120"/>
                <a:cs typeface="新細明體" charset="-120"/>
              </a:rPr>
              <a:t>: </a:t>
            </a:r>
            <a:r>
              <a:rPr lang="en-GB" altLang="zh-TW" sz="3200" dirty="0" err="1">
                <a:ea typeface="新細明體" charset="-120"/>
                <a:cs typeface="新細明體" charset="-120"/>
              </a:rPr>
              <a:t>Muxing</a:t>
            </a:r>
            <a:r>
              <a:rPr lang="en-GB" altLang="zh-TW" sz="3200" dirty="0">
                <a:ea typeface="新細明體" charset="-120"/>
                <a:cs typeface="新細明體" charset="-120"/>
              </a:rPr>
              <a:t> Two Possible Destination Registers</a:t>
            </a:r>
          </a:p>
        </p:txBody>
      </p:sp>
      <p:grpSp>
        <p:nvGrpSpPr>
          <p:cNvPr id="71687" name="Group 3"/>
          <p:cNvGrpSpPr>
            <a:grpSpLocks/>
          </p:cNvGrpSpPr>
          <p:nvPr/>
        </p:nvGrpSpPr>
        <p:grpSpPr bwMode="auto">
          <a:xfrm>
            <a:off x="1825626" y="1109241"/>
            <a:ext cx="7162801" cy="3911601"/>
            <a:chOff x="190" y="656"/>
            <a:chExt cx="4512" cy="2464"/>
          </a:xfrm>
        </p:grpSpPr>
        <p:sp>
          <p:nvSpPr>
            <p:cNvPr id="72044" name="Freeform 4"/>
            <p:cNvSpPr>
              <a:spLocks noChangeArrowheads="1"/>
            </p:cNvSpPr>
            <p:nvPr/>
          </p:nvSpPr>
          <p:spPr bwMode="auto">
            <a:xfrm>
              <a:off x="2832" y="1626"/>
              <a:ext cx="137" cy="1494"/>
            </a:xfrm>
            <a:custGeom>
              <a:avLst/>
              <a:gdLst>
                <a:gd name="T0" fmla="*/ 0 w 69"/>
                <a:gd name="T1" fmla="*/ 1041 h 1041"/>
                <a:gd name="T2" fmla="*/ 0 w 69"/>
                <a:gd name="T3" fmla="*/ 0 h 1041"/>
                <a:gd name="T4" fmla="*/ 69 w 69"/>
                <a:gd name="T5" fmla="*/ 0 h 1041"/>
                <a:gd name="T6" fmla="*/ 0 60000 65536"/>
                <a:gd name="T7" fmla="*/ 0 60000 65536"/>
                <a:gd name="T8" fmla="*/ 0 60000 65536"/>
                <a:gd name="T9" fmla="*/ 0 w 69"/>
                <a:gd name="T10" fmla="*/ 0 h 1041"/>
                <a:gd name="T11" fmla="*/ 69 w 69"/>
                <a:gd name="T12" fmla="*/ 1041 h 10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" h="1041">
                  <a:moveTo>
                    <a:pt x="0" y="1041"/>
                  </a:moveTo>
                  <a:lnTo>
                    <a:pt x="0" y="0"/>
                  </a:lnTo>
                  <a:lnTo>
                    <a:pt x="69" y="0"/>
                  </a:lnTo>
                </a:path>
              </a:pathLst>
            </a:custGeom>
            <a:noFill/>
            <a:ln w="3492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72045" name="Group 5"/>
            <p:cNvGrpSpPr>
              <a:grpSpLocks/>
            </p:cNvGrpSpPr>
            <p:nvPr/>
          </p:nvGrpSpPr>
          <p:grpSpPr bwMode="auto">
            <a:xfrm>
              <a:off x="190" y="656"/>
              <a:ext cx="4512" cy="1784"/>
              <a:chOff x="190" y="656"/>
              <a:chExt cx="4512" cy="1784"/>
            </a:xfrm>
          </p:grpSpPr>
          <p:sp>
            <p:nvSpPr>
              <p:cNvPr id="72047" name="Line 6"/>
              <p:cNvSpPr>
                <a:spLocks noChangeShapeType="1"/>
              </p:cNvSpPr>
              <p:nvPr/>
            </p:nvSpPr>
            <p:spPr bwMode="auto">
              <a:xfrm flipV="1">
                <a:off x="4519" y="759"/>
                <a:ext cx="1" cy="154"/>
              </a:xfrm>
              <a:prstGeom prst="line">
                <a:avLst/>
              </a:prstGeom>
              <a:noFill/>
              <a:ln w="17640">
                <a:solidFill>
                  <a:srgbClr val="EB7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48" name="Freeform 7"/>
              <p:cNvSpPr>
                <a:spLocks noChangeArrowheads="1"/>
              </p:cNvSpPr>
              <p:nvPr/>
            </p:nvSpPr>
            <p:spPr bwMode="auto">
              <a:xfrm>
                <a:off x="3434" y="1023"/>
                <a:ext cx="544" cy="758"/>
              </a:xfrm>
              <a:custGeom>
                <a:avLst/>
                <a:gdLst>
                  <a:gd name="T0" fmla="*/ 0 w 495"/>
                  <a:gd name="T1" fmla="*/ 0 h 689"/>
                  <a:gd name="T2" fmla="*/ 0 w 495"/>
                  <a:gd name="T3" fmla="*/ 279 h 689"/>
                  <a:gd name="T4" fmla="*/ 77 w 495"/>
                  <a:gd name="T5" fmla="*/ 345 h 689"/>
                  <a:gd name="T6" fmla="*/ 0 w 495"/>
                  <a:gd name="T7" fmla="*/ 411 h 689"/>
                  <a:gd name="T8" fmla="*/ 0 w 495"/>
                  <a:gd name="T9" fmla="*/ 689 h 689"/>
                  <a:gd name="T10" fmla="*/ 495 w 495"/>
                  <a:gd name="T11" fmla="*/ 480 h 689"/>
                  <a:gd name="T12" fmla="*/ 495 w 495"/>
                  <a:gd name="T13" fmla="*/ 212 h 689"/>
                  <a:gd name="T14" fmla="*/ 0 w 495"/>
                  <a:gd name="T15" fmla="*/ 0 h 689"/>
                  <a:gd name="T16" fmla="*/ 0 w 495"/>
                  <a:gd name="T17" fmla="*/ 0 h 68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95"/>
                  <a:gd name="T28" fmla="*/ 0 h 689"/>
                  <a:gd name="T29" fmla="*/ 495 w 495"/>
                  <a:gd name="T30" fmla="*/ 689 h 68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95" h="689">
                    <a:moveTo>
                      <a:pt x="0" y="0"/>
                    </a:moveTo>
                    <a:lnTo>
                      <a:pt x="0" y="279"/>
                    </a:lnTo>
                    <a:lnTo>
                      <a:pt x="77" y="345"/>
                    </a:lnTo>
                    <a:lnTo>
                      <a:pt x="0" y="411"/>
                    </a:lnTo>
                    <a:lnTo>
                      <a:pt x="0" y="689"/>
                    </a:lnTo>
                    <a:lnTo>
                      <a:pt x="495" y="480"/>
                    </a:lnTo>
                    <a:lnTo>
                      <a:pt x="495" y="21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49" name="Freeform 8"/>
              <p:cNvSpPr>
                <a:spLocks noChangeArrowheads="1"/>
              </p:cNvSpPr>
              <p:nvPr/>
            </p:nvSpPr>
            <p:spPr bwMode="auto">
              <a:xfrm>
                <a:off x="3434" y="1023"/>
                <a:ext cx="544" cy="758"/>
              </a:xfrm>
              <a:custGeom>
                <a:avLst/>
                <a:gdLst>
                  <a:gd name="T0" fmla="*/ 0 w 495"/>
                  <a:gd name="T1" fmla="*/ 0 h 689"/>
                  <a:gd name="T2" fmla="*/ 0 w 495"/>
                  <a:gd name="T3" fmla="*/ 279 h 689"/>
                  <a:gd name="T4" fmla="*/ 77 w 495"/>
                  <a:gd name="T5" fmla="*/ 345 h 689"/>
                  <a:gd name="T6" fmla="*/ 0 w 495"/>
                  <a:gd name="T7" fmla="*/ 411 h 689"/>
                  <a:gd name="T8" fmla="*/ 0 w 495"/>
                  <a:gd name="T9" fmla="*/ 689 h 689"/>
                  <a:gd name="T10" fmla="*/ 495 w 495"/>
                  <a:gd name="T11" fmla="*/ 480 h 689"/>
                  <a:gd name="T12" fmla="*/ 495 w 495"/>
                  <a:gd name="T13" fmla="*/ 212 h 689"/>
                  <a:gd name="T14" fmla="*/ 0 w 495"/>
                  <a:gd name="T15" fmla="*/ 0 h 689"/>
                  <a:gd name="T16" fmla="*/ 0 w 495"/>
                  <a:gd name="T17" fmla="*/ 0 h 68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495"/>
                  <a:gd name="T28" fmla="*/ 0 h 689"/>
                  <a:gd name="T29" fmla="*/ 495 w 495"/>
                  <a:gd name="T30" fmla="*/ 689 h 68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495" h="689">
                    <a:moveTo>
                      <a:pt x="0" y="0"/>
                    </a:moveTo>
                    <a:lnTo>
                      <a:pt x="0" y="279"/>
                    </a:lnTo>
                    <a:lnTo>
                      <a:pt x="77" y="345"/>
                    </a:lnTo>
                    <a:lnTo>
                      <a:pt x="0" y="411"/>
                    </a:lnTo>
                    <a:lnTo>
                      <a:pt x="0" y="689"/>
                    </a:lnTo>
                    <a:lnTo>
                      <a:pt x="495" y="480"/>
                    </a:lnTo>
                    <a:lnTo>
                      <a:pt x="495" y="212"/>
                    </a:lnTo>
                    <a:lnTo>
                      <a:pt x="0" y="0"/>
                    </a:lnTo>
                  </a:path>
                </a:pathLst>
              </a:custGeom>
              <a:noFill/>
              <a:ln w="1764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50" name="Line 9"/>
              <p:cNvSpPr>
                <a:spLocks noChangeShapeType="1"/>
              </p:cNvSpPr>
              <p:nvPr/>
            </p:nvSpPr>
            <p:spPr bwMode="auto">
              <a:xfrm flipH="1">
                <a:off x="3981" y="1399"/>
                <a:ext cx="416" cy="3"/>
              </a:xfrm>
              <a:prstGeom prst="line">
                <a:avLst/>
              </a:prstGeom>
              <a:noFill/>
              <a:ln w="3492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51" name="Freeform 10"/>
              <p:cNvSpPr>
                <a:spLocks noChangeArrowheads="1"/>
              </p:cNvSpPr>
              <p:nvPr/>
            </p:nvSpPr>
            <p:spPr bwMode="auto">
              <a:xfrm>
                <a:off x="4451" y="912"/>
                <a:ext cx="142" cy="560"/>
              </a:xfrm>
              <a:custGeom>
                <a:avLst/>
                <a:gdLst>
                  <a:gd name="T0" fmla="*/ 0 w 129"/>
                  <a:gd name="T1" fmla="*/ 63 h 509"/>
                  <a:gd name="T2" fmla="*/ 3 w 129"/>
                  <a:gd name="T3" fmla="*/ 52 h 509"/>
                  <a:gd name="T4" fmla="*/ 5 w 129"/>
                  <a:gd name="T5" fmla="*/ 44 h 509"/>
                  <a:gd name="T6" fmla="*/ 8 w 129"/>
                  <a:gd name="T7" fmla="*/ 35 h 509"/>
                  <a:gd name="T8" fmla="*/ 14 w 129"/>
                  <a:gd name="T9" fmla="*/ 27 h 509"/>
                  <a:gd name="T10" fmla="*/ 19 w 129"/>
                  <a:gd name="T11" fmla="*/ 19 h 509"/>
                  <a:gd name="T12" fmla="*/ 28 w 129"/>
                  <a:gd name="T13" fmla="*/ 13 h 509"/>
                  <a:gd name="T14" fmla="*/ 36 w 129"/>
                  <a:gd name="T15" fmla="*/ 8 h 509"/>
                  <a:gd name="T16" fmla="*/ 44 w 129"/>
                  <a:gd name="T17" fmla="*/ 2 h 509"/>
                  <a:gd name="T18" fmla="*/ 55 w 129"/>
                  <a:gd name="T19" fmla="*/ 0 h 509"/>
                  <a:gd name="T20" fmla="*/ 66 w 129"/>
                  <a:gd name="T21" fmla="*/ 0 h 509"/>
                  <a:gd name="T22" fmla="*/ 74 w 129"/>
                  <a:gd name="T23" fmla="*/ 0 h 509"/>
                  <a:gd name="T24" fmla="*/ 85 w 129"/>
                  <a:gd name="T25" fmla="*/ 2 h 509"/>
                  <a:gd name="T26" fmla="*/ 94 w 129"/>
                  <a:gd name="T27" fmla="*/ 8 h 509"/>
                  <a:gd name="T28" fmla="*/ 102 w 129"/>
                  <a:gd name="T29" fmla="*/ 13 h 509"/>
                  <a:gd name="T30" fmla="*/ 110 w 129"/>
                  <a:gd name="T31" fmla="*/ 19 h 509"/>
                  <a:gd name="T32" fmla="*/ 116 w 129"/>
                  <a:gd name="T33" fmla="*/ 27 h 509"/>
                  <a:gd name="T34" fmla="*/ 121 w 129"/>
                  <a:gd name="T35" fmla="*/ 35 h 509"/>
                  <a:gd name="T36" fmla="*/ 127 w 129"/>
                  <a:gd name="T37" fmla="*/ 44 h 509"/>
                  <a:gd name="T38" fmla="*/ 127 w 129"/>
                  <a:gd name="T39" fmla="*/ 52 h 509"/>
                  <a:gd name="T40" fmla="*/ 129 w 129"/>
                  <a:gd name="T41" fmla="*/ 63 h 509"/>
                  <a:gd name="T42" fmla="*/ 129 w 129"/>
                  <a:gd name="T43" fmla="*/ 446 h 509"/>
                  <a:gd name="T44" fmla="*/ 127 w 129"/>
                  <a:gd name="T45" fmla="*/ 454 h 509"/>
                  <a:gd name="T46" fmla="*/ 127 w 129"/>
                  <a:gd name="T47" fmla="*/ 465 h 509"/>
                  <a:gd name="T48" fmla="*/ 121 w 129"/>
                  <a:gd name="T49" fmla="*/ 473 h 509"/>
                  <a:gd name="T50" fmla="*/ 116 w 129"/>
                  <a:gd name="T51" fmla="*/ 481 h 509"/>
                  <a:gd name="T52" fmla="*/ 110 w 129"/>
                  <a:gd name="T53" fmla="*/ 490 h 509"/>
                  <a:gd name="T54" fmla="*/ 102 w 129"/>
                  <a:gd name="T55" fmla="*/ 495 h 509"/>
                  <a:gd name="T56" fmla="*/ 94 w 129"/>
                  <a:gd name="T57" fmla="*/ 501 h 509"/>
                  <a:gd name="T58" fmla="*/ 85 w 129"/>
                  <a:gd name="T59" fmla="*/ 506 h 509"/>
                  <a:gd name="T60" fmla="*/ 74 w 129"/>
                  <a:gd name="T61" fmla="*/ 506 h 509"/>
                  <a:gd name="T62" fmla="*/ 66 w 129"/>
                  <a:gd name="T63" fmla="*/ 509 h 509"/>
                  <a:gd name="T64" fmla="*/ 55 w 129"/>
                  <a:gd name="T65" fmla="*/ 506 h 509"/>
                  <a:gd name="T66" fmla="*/ 44 w 129"/>
                  <a:gd name="T67" fmla="*/ 506 h 509"/>
                  <a:gd name="T68" fmla="*/ 36 w 129"/>
                  <a:gd name="T69" fmla="*/ 501 h 509"/>
                  <a:gd name="T70" fmla="*/ 28 w 129"/>
                  <a:gd name="T71" fmla="*/ 495 h 509"/>
                  <a:gd name="T72" fmla="*/ 19 w 129"/>
                  <a:gd name="T73" fmla="*/ 490 h 509"/>
                  <a:gd name="T74" fmla="*/ 14 w 129"/>
                  <a:gd name="T75" fmla="*/ 481 h 509"/>
                  <a:gd name="T76" fmla="*/ 8 w 129"/>
                  <a:gd name="T77" fmla="*/ 473 h 509"/>
                  <a:gd name="T78" fmla="*/ 5 w 129"/>
                  <a:gd name="T79" fmla="*/ 465 h 509"/>
                  <a:gd name="T80" fmla="*/ 3 w 129"/>
                  <a:gd name="T81" fmla="*/ 454 h 509"/>
                  <a:gd name="T82" fmla="*/ 3 w 129"/>
                  <a:gd name="T83" fmla="*/ 446 h 509"/>
                  <a:gd name="T84" fmla="*/ 3 w 129"/>
                  <a:gd name="T85" fmla="*/ 63 h 509"/>
                  <a:gd name="T86" fmla="*/ 3 w 129"/>
                  <a:gd name="T87" fmla="*/ 63 h 509"/>
                  <a:gd name="T88" fmla="*/ 0 w 129"/>
                  <a:gd name="T89" fmla="*/ 63 h 50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29"/>
                  <a:gd name="T136" fmla="*/ 0 h 509"/>
                  <a:gd name="T137" fmla="*/ 129 w 129"/>
                  <a:gd name="T138" fmla="*/ 509 h 50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29" h="509">
                    <a:moveTo>
                      <a:pt x="0" y="63"/>
                    </a:moveTo>
                    <a:lnTo>
                      <a:pt x="3" y="52"/>
                    </a:lnTo>
                    <a:lnTo>
                      <a:pt x="5" y="44"/>
                    </a:lnTo>
                    <a:lnTo>
                      <a:pt x="8" y="35"/>
                    </a:lnTo>
                    <a:lnTo>
                      <a:pt x="14" y="27"/>
                    </a:lnTo>
                    <a:lnTo>
                      <a:pt x="19" y="19"/>
                    </a:lnTo>
                    <a:lnTo>
                      <a:pt x="28" y="13"/>
                    </a:lnTo>
                    <a:lnTo>
                      <a:pt x="36" y="8"/>
                    </a:lnTo>
                    <a:lnTo>
                      <a:pt x="44" y="2"/>
                    </a:lnTo>
                    <a:lnTo>
                      <a:pt x="55" y="0"/>
                    </a:lnTo>
                    <a:lnTo>
                      <a:pt x="66" y="0"/>
                    </a:lnTo>
                    <a:lnTo>
                      <a:pt x="74" y="0"/>
                    </a:lnTo>
                    <a:lnTo>
                      <a:pt x="85" y="2"/>
                    </a:lnTo>
                    <a:lnTo>
                      <a:pt x="94" y="8"/>
                    </a:lnTo>
                    <a:lnTo>
                      <a:pt x="102" y="13"/>
                    </a:lnTo>
                    <a:lnTo>
                      <a:pt x="110" y="19"/>
                    </a:lnTo>
                    <a:lnTo>
                      <a:pt x="116" y="27"/>
                    </a:lnTo>
                    <a:lnTo>
                      <a:pt x="121" y="35"/>
                    </a:lnTo>
                    <a:lnTo>
                      <a:pt x="127" y="44"/>
                    </a:lnTo>
                    <a:lnTo>
                      <a:pt x="127" y="52"/>
                    </a:lnTo>
                    <a:lnTo>
                      <a:pt x="129" y="63"/>
                    </a:lnTo>
                    <a:lnTo>
                      <a:pt x="129" y="446"/>
                    </a:lnTo>
                    <a:lnTo>
                      <a:pt x="127" y="454"/>
                    </a:lnTo>
                    <a:lnTo>
                      <a:pt x="127" y="465"/>
                    </a:lnTo>
                    <a:lnTo>
                      <a:pt x="121" y="473"/>
                    </a:lnTo>
                    <a:lnTo>
                      <a:pt x="116" y="481"/>
                    </a:lnTo>
                    <a:lnTo>
                      <a:pt x="110" y="490"/>
                    </a:lnTo>
                    <a:lnTo>
                      <a:pt x="102" y="495"/>
                    </a:lnTo>
                    <a:lnTo>
                      <a:pt x="94" y="501"/>
                    </a:lnTo>
                    <a:lnTo>
                      <a:pt x="85" y="506"/>
                    </a:lnTo>
                    <a:lnTo>
                      <a:pt x="74" y="506"/>
                    </a:lnTo>
                    <a:lnTo>
                      <a:pt x="66" y="509"/>
                    </a:lnTo>
                    <a:lnTo>
                      <a:pt x="55" y="506"/>
                    </a:lnTo>
                    <a:lnTo>
                      <a:pt x="44" y="506"/>
                    </a:lnTo>
                    <a:lnTo>
                      <a:pt x="36" y="501"/>
                    </a:lnTo>
                    <a:lnTo>
                      <a:pt x="28" y="495"/>
                    </a:lnTo>
                    <a:lnTo>
                      <a:pt x="19" y="490"/>
                    </a:lnTo>
                    <a:lnTo>
                      <a:pt x="14" y="481"/>
                    </a:lnTo>
                    <a:lnTo>
                      <a:pt x="8" y="473"/>
                    </a:lnTo>
                    <a:lnTo>
                      <a:pt x="5" y="465"/>
                    </a:lnTo>
                    <a:lnTo>
                      <a:pt x="3" y="454"/>
                    </a:lnTo>
                    <a:lnTo>
                      <a:pt x="3" y="446"/>
                    </a:lnTo>
                    <a:lnTo>
                      <a:pt x="3" y="63"/>
                    </a:lnTo>
                    <a:lnTo>
                      <a:pt x="0" y="6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52" name="Freeform 11"/>
              <p:cNvSpPr>
                <a:spLocks noChangeArrowheads="1"/>
              </p:cNvSpPr>
              <p:nvPr/>
            </p:nvSpPr>
            <p:spPr bwMode="auto">
              <a:xfrm>
                <a:off x="4451" y="912"/>
                <a:ext cx="142" cy="560"/>
              </a:xfrm>
              <a:custGeom>
                <a:avLst/>
                <a:gdLst>
                  <a:gd name="T0" fmla="*/ 0 w 129"/>
                  <a:gd name="T1" fmla="*/ 63 h 509"/>
                  <a:gd name="T2" fmla="*/ 3 w 129"/>
                  <a:gd name="T3" fmla="*/ 52 h 509"/>
                  <a:gd name="T4" fmla="*/ 5 w 129"/>
                  <a:gd name="T5" fmla="*/ 44 h 509"/>
                  <a:gd name="T6" fmla="*/ 8 w 129"/>
                  <a:gd name="T7" fmla="*/ 35 h 509"/>
                  <a:gd name="T8" fmla="*/ 14 w 129"/>
                  <a:gd name="T9" fmla="*/ 27 h 509"/>
                  <a:gd name="T10" fmla="*/ 19 w 129"/>
                  <a:gd name="T11" fmla="*/ 19 h 509"/>
                  <a:gd name="T12" fmla="*/ 28 w 129"/>
                  <a:gd name="T13" fmla="*/ 13 h 509"/>
                  <a:gd name="T14" fmla="*/ 36 w 129"/>
                  <a:gd name="T15" fmla="*/ 8 h 509"/>
                  <a:gd name="T16" fmla="*/ 44 w 129"/>
                  <a:gd name="T17" fmla="*/ 2 h 509"/>
                  <a:gd name="T18" fmla="*/ 55 w 129"/>
                  <a:gd name="T19" fmla="*/ 0 h 509"/>
                  <a:gd name="T20" fmla="*/ 66 w 129"/>
                  <a:gd name="T21" fmla="*/ 0 h 509"/>
                  <a:gd name="T22" fmla="*/ 74 w 129"/>
                  <a:gd name="T23" fmla="*/ 0 h 509"/>
                  <a:gd name="T24" fmla="*/ 85 w 129"/>
                  <a:gd name="T25" fmla="*/ 2 h 509"/>
                  <a:gd name="T26" fmla="*/ 94 w 129"/>
                  <a:gd name="T27" fmla="*/ 8 h 509"/>
                  <a:gd name="T28" fmla="*/ 102 w 129"/>
                  <a:gd name="T29" fmla="*/ 13 h 509"/>
                  <a:gd name="T30" fmla="*/ 110 w 129"/>
                  <a:gd name="T31" fmla="*/ 19 h 509"/>
                  <a:gd name="T32" fmla="*/ 116 w 129"/>
                  <a:gd name="T33" fmla="*/ 27 h 509"/>
                  <a:gd name="T34" fmla="*/ 121 w 129"/>
                  <a:gd name="T35" fmla="*/ 35 h 509"/>
                  <a:gd name="T36" fmla="*/ 127 w 129"/>
                  <a:gd name="T37" fmla="*/ 44 h 509"/>
                  <a:gd name="T38" fmla="*/ 127 w 129"/>
                  <a:gd name="T39" fmla="*/ 52 h 509"/>
                  <a:gd name="T40" fmla="*/ 129 w 129"/>
                  <a:gd name="T41" fmla="*/ 63 h 509"/>
                  <a:gd name="T42" fmla="*/ 129 w 129"/>
                  <a:gd name="T43" fmla="*/ 446 h 509"/>
                  <a:gd name="T44" fmla="*/ 127 w 129"/>
                  <a:gd name="T45" fmla="*/ 454 h 509"/>
                  <a:gd name="T46" fmla="*/ 127 w 129"/>
                  <a:gd name="T47" fmla="*/ 465 h 509"/>
                  <a:gd name="T48" fmla="*/ 121 w 129"/>
                  <a:gd name="T49" fmla="*/ 473 h 509"/>
                  <a:gd name="T50" fmla="*/ 116 w 129"/>
                  <a:gd name="T51" fmla="*/ 481 h 509"/>
                  <a:gd name="T52" fmla="*/ 110 w 129"/>
                  <a:gd name="T53" fmla="*/ 490 h 509"/>
                  <a:gd name="T54" fmla="*/ 102 w 129"/>
                  <a:gd name="T55" fmla="*/ 495 h 509"/>
                  <a:gd name="T56" fmla="*/ 94 w 129"/>
                  <a:gd name="T57" fmla="*/ 501 h 509"/>
                  <a:gd name="T58" fmla="*/ 85 w 129"/>
                  <a:gd name="T59" fmla="*/ 506 h 509"/>
                  <a:gd name="T60" fmla="*/ 74 w 129"/>
                  <a:gd name="T61" fmla="*/ 506 h 509"/>
                  <a:gd name="T62" fmla="*/ 66 w 129"/>
                  <a:gd name="T63" fmla="*/ 509 h 509"/>
                  <a:gd name="T64" fmla="*/ 55 w 129"/>
                  <a:gd name="T65" fmla="*/ 506 h 509"/>
                  <a:gd name="T66" fmla="*/ 44 w 129"/>
                  <a:gd name="T67" fmla="*/ 506 h 509"/>
                  <a:gd name="T68" fmla="*/ 36 w 129"/>
                  <a:gd name="T69" fmla="*/ 501 h 509"/>
                  <a:gd name="T70" fmla="*/ 28 w 129"/>
                  <a:gd name="T71" fmla="*/ 495 h 509"/>
                  <a:gd name="T72" fmla="*/ 19 w 129"/>
                  <a:gd name="T73" fmla="*/ 490 h 509"/>
                  <a:gd name="T74" fmla="*/ 14 w 129"/>
                  <a:gd name="T75" fmla="*/ 481 h 509"/>
                  <a:gd name="T76" fmla="*/ 8 w 129"/>
                  <a:gd name="T77" fmla="*/ 473 h 509"/>
                  <a:gd name="T78" fmla="*/ 5 w 129"/>
                  <a:gd name="T79" fmla="*/ 465 h 509"/>
                  <a:gd name="T80" fmla="*/ 3 w 129"/>
                  <a:gd name="T81" fmla="*/ 454 h 509"/>
                  <a:gd name="T82" fmla="*/ 3 w 129"/>
                  <a:gd name="T83" fmla="*/ 446 h 509"/>
                  <a:gd name="T84" fmla="*/ 3 w 129"/>
                  <a:gd name="T85" fmla="*/ 63 h 509"/>
                  <a:gd name="T86" fmla="*/ 3 w 129"/>
                  <a:gd name="T87" fmla="*/ 63 h 50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29"/>
                  <a:gd name="T133" fmla="*/ 0 h 509"/>
                  <a:gd name="T134" fmla="*/ 129 w 129"/>
                  <a:gd name="T135" fmla="*/ 509 h 50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29" h="509">
                    <a:moveTo>
                      <a:pt x="0" y="63"/>
                    </a:moveTo>
                    <a:lnTo>
                      <a:pt x="3" y="52"/>
                    </a:lnTo>
                    <a:lnTo>
                      <a:pt x="5" y="44"/>
                    </a:lnTo>
                    <a:lnTo>
                      <a:pt x="8" y="35"/>
                    </a:lnTo>
                    <a:lnTo>
                      <a:pt x="14" y="27"/>
                    </a:lnTo>
                    <a:lnTo>
                      <a:pt x="19" y="19"/>
                    </a:lnTo>
                    <a:lnTo>
                      <a:pt x="28" y="13"/>
                    </a:lnTo>
                    <a:lnTo>
                      <a:pt x="36" y="8"/>
                    </a:lnTo>
                    <a:lnTo>
                      <a:pt x="44" y="2"/>
                    </a:lnTo>
                    <a:lnTo>
                      <a:pt x="55" y="0"/>
                    </a:lnTo>
                    <a:lnTo>
                      <a:pt x="66" y="0"/>
                    </a:lnTo>
                    <a:lnTo>
                      <a:pt x="74" y="0"/>
                    </a:lnTo>
                    <a:lnTo>
                      <a:pt x="85" y="2"/>
                    </a:lnTo>
                    <a:lnTo>
                      <a:pt x="94" y="8"/>
                    </a:lnTo>
                    <a:lnTo>
                      <a:pt x="102" y="13"/>
                    </a:lnTo>
                    <a:lnTo>
                      <a:pt x="110" y="19"/>
                    </a:lnTo>
                    <a:lnTo>
                      <a:pt x="116" y="27"/>
                    </a:lnTo>
                    <a:lnTo>
                      <a:pt x="121" y="35"/>
                    </a:lnTo>
                    <a:lnTo>
                      <a:pt x="127" y="44"/>
                    </a:lnTo>
                    <a:lnTo>
                      <a:pt x="127" y="52"/>
                    </a:lnTo>
                    <a:lnTo>
                      <a:pt x="129" y="63"/>
                    </a:lnTo>
                    <a:lnTo>
                      <a:pt x="129" y="446"/>
                    </a:lnTo>
                    <a:lnTo>
                      <a:pt x="127" y="454"/>
                    </a:lnTo>
                    <a:lnTo>
                      <a:pt x="127" y="465"/>
                    </a:lnTo>
                    <a:lnTo>
                      <a:pt x="121" y="473"/>
                    </a:lnTo>
                    <a:lnTo>
                      <a:pt x="116" y="481"/>
                    </a:lnTo>
                    <a:lnTo>
                      <a:pt x="110" y="490"/>
                    </a:lnTo>
                    <a:lnTo>
                      <a:pt x="102" y="495"/>
                    </a:lnTo>
                    <a:lnTo>
                      <a:pt x="94" y="501"/>
                    </a:lnTo>
                    <a:lnTo>
                      <a:pt x="85" y="506"/>
                    </a:lnTo>
                    <a:lnTo>
                      <a:pt x="74" y="506"/>
                    </a:lnTo>
                    <a:lnTo>
                      <a:pt x="66" y="509"/>
                    </a:lnTo>
                    <a:lnTo>
                      <a:pt x="55" y="506"/>
                    </a:lnTo>
                    <a:lnTo>
                      <a:pt x="44" y="506"/>
                    </a:lnTo>
                    <a:lnTo>
                      <a:pt x="36" y="501"/>
                    </a:lnTo>
                    <a:lnTo>
                      <a:pt x="28" y="495"/>
                    </a:lnTo>
                    <a:lnTo>
                      <a:pt x="19" y="490"/>
                    </a:lnTo>
                    <a:lnTo>
                      <a:pt x="14" y="481"/>
                    </a:lnTo>
                    <a:lnTo>
                      <a:pt x="8" y="473"/>
                    </a:lnTo>
                    <a:lnTo>
                      <a:pt x="5" y="465"/>
                    </a:lnTo>
                    <a:lnTo>
                      <a:pt x="3" y="454"/>
                    </a:lnTo>
                    <a:lnTo>
                      <a:pt x="3" y="446"/>
                    </a:lnTo>
                    <a:lnTo>
                      <a:pt x="3" y="63"/>
                    </a:lnTo>
                  </a:path>
                </a:pathLst>
              </a:custGeom>
              <a:solidFill>
                <a:srgbClr val="006600"/>
              </a:solidFill>
              <a:ln w="176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53" name="Rectangle 12"/>
              <p:cNvSpPr>
                <a:spLocks noChangeArrowheads="1"/>
              </p:cNvSpPr>
              <p:nvPr/>
            </p:nvSpPr>
            <p:spPr bwMode="auto">
              <a:xfrm>
                <a:off x="3536" y="1318"/>
                <a:ext cx="59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2054" name="Rectangle 13"/>
              <p:cNvSpPr>
                <a:spLocks noChangeArrowheads="1"/>
              </p:cNvSpPr>
              <p:nvPr/>
            </p:nvSpPr>
            <p:spPr bwMode="auto">
              <a:xfrm>
                <a:off x="3603" y="1318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2055" name="Rectangle 14"/>
              <p:cNvSpPr>
                <a:spLocks noChangeArrowheads="1"/>
              </p:cNvSpPr>
              <p:nvPr/>
            </p:nvSpPr>
            <p:spPr bwMode="auto">
              <a:xfrm>
                <a:off x="3660" y="1318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2056" name="Rectangle 15"/>
              <p:cNvSpPr>
                <a:spLocks noChangeArrowheads="1"/>
              </p:cNvSpPr>
              <p:nvPr/>
            </p:nvSpPr>
            <p:spPr bwMode="auto">
              <a:xfrm>
                <a:off x="3782" y="1302"/>
                <a:ext cx="59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2057" name="Rectangle 16"/>
              <p:cNvSpPr>
                <a:spLocks noChangeArrowheads="1"/>
              </p:cNvSpPr>
              <p:nvPr/>
            </p:nvSpPr>
            <p:spPr bwMode="auto">
              <a:xfrm>
                <a:off x="3852" y="1302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72058" name="Rectangle 17"/>
              <p:cNvSpPr>
                <a:spLocks noChangeArrowheads="1"/>
              </p:cNvSpPr>
              <p:nvPr/>
            </p:nvSpPr>
            <p:spPr bwMode="auto">
              <a:xfrm>
                <a:off x="3906" y="1302"/>
                <a:ext cx="64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2059" name="Rectangle 18"/>
              <p:cNvSpPr>
                <a:spLocks noChangeArrowheads="1"/>
              </p:cNvSpPr>
              <p:nvPr/>
            </p:nvSpPr>
            <p:spPr bwMode="auto">
              <a:xfrm>
                <a:off x="3978" y="1302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60" name="Rectangle 19"/>
              <p:cNvSpPr>
                <a:spLocks noChangeArrowheads="1"/>
              </p:cNvSpPr>
              <p:nvPr/>
            </p:nvSpPr>
            <p:spPr bwMode="auto">
              <a:xfrm>
                <a:off x="3703" y="1375"/>
                <a:ext cx="3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2061" name="Rectangle 20"/>
              <p:cNvSpPr>
                <a:spLocks noChangeArrowheads="1"/>
              </p:cNvSpPr>
              <p:nvPr/>
            </p:nvSpPr>
            <p:spPr bwMode="auto">
              <a:xfrm>
                <a:off x="3740" y="1375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2062" name="Rectangle 21"/>
              <p:cNvSpPr>
                <a:spLocks noChangeArrowheads="1"/>
              </p:cNvSpPr>
              <p:nvPr/>
            </p:nvSpPr>
            <p:spPr bwMode="auto">
              <a:xfrm>
                <a:off x="3794" y="1375"/>
                <a:ext cx="45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2063" name="Rectangle 22"/>
              <p:cNvSpPr>
                <a:spLocks noChangeArrowheads="1"/>
              </p:cNvSpPr>
              <p:nvPr/>
            </p:nvSpPr>
            <p:spPr bwMode="auto">
              <a:xfrm>
                <a:off x="3845" y="1375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2064" name="Rectangle 23"/>
              <p:cNvSpPr>
                <a:spLocks noChangeArrowheads="1"/>
              </p:cNvSpPr>
              <p:nvPr/>
            </p:nvSpPr>
            <p:spPr bwMode="auto">
              <a:xfrm>
                <a:off x="3900" y="1375"/>
                <a:ext cx="2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72065" name="Rectangle 24"/>
              <p:cNvSpPr>
                <a:spLocks noChangeArrowheads="1"/>
              </p:cNvSpPr>
              <p:nvPr/>
            </p:nvSpPr>
            <p:spPr bwMode="auto">
              <a:xfrm>
                <a:off x="3924" y="1375"/>
                <a:ext cx="24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2066" name="Rectangle 25"/>
              <p:cNvSpPr>
                <a:spLocks noChangeArrowheads="1"/>
              </p:cNvSpPr>
              <p:nvPr/>
            </p:nvSpPr>
            <p:spPr bwMode="auto">
              <a:xfrm>
                <a:off x="4482" y="1048"/>
                <a:ext cx="81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M</a:t>
                </a:r>
              </a:p>
            </p:txBody>
          </p:sp>
          <p:sp>
            <p:nvSpPr>
              <p:cNvPr id="72067" name="Rectangle 26"/>
              <p:cNvSpPr>
                <a:spLocks noChangeArrowheads="1"/>
              </p:cNvSpPr>
              <p:nvPr/>
            </p:nvSpPr>
            <p:spPr bwMode="auto">
              <a:xfrm>
                <a:off x="4564" y="1048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68" name="Rectangle 27"/>
              <p:cNvSpPr>
                <a:spLocks noChangeArrowheads="1"/>
              </p:cNvSpPr>
              <p:nvPr/>
            </p:nvSpPr>
            <p:spPr bwMode="auto">
              <a:xfrm>
                <a:off x="4494" y="1121"/>
                <a:ext cx="60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2069" name="Rectangle 28"/>
              <p:cNvSpPr>
                <a:spLocks noChangeArrowheads="1"/>
              </p:cNvSpPr>
              <p:nvPr/>
            </p:nvSpPr>
            <p:spPr bwMode="auto">
              <a:xfrm>
                <a:off x="4552" y="1121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70" name="Rectangle 29"/>
              <p:cNvSpPr>
                <a:spLocks noChangeArrowheads="1"/>
              </p:cNvSpPr>
              <p:nvPr/>
            </p:nvSpPr>
            <p:spPr bwMode="auto">
              <a:xfrm>
                <a:off x="4499" y="1197"/>
                <a:ext cx="54" cy="1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2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x</a:t>
                </a:r>
              </a:p>
            </p:txBody>
          </p:sp>
          <p:sp>
            <p:nvSpPr>
              <p:cNvPr id="72071" name="Freeform 30"/>
              <p:cNvSpPr>
                <a:spLocks noChangeArrowheads="1"/>
              </p:cNvSpPr>
              <p:nvPr/>
            </p:nvSpPr>
            <p:spPr bwMode="auto">
              <a:xfrm>
                <a:off x="2664" y="981"/>
                <a:ext cx="1739" cy="197"/>
              </a:xfrm>
              <a:custGeom>
                <a:avLst/>
                <a:gdLst>
                  <a:gd name="T0" fmla="*/ 1581 w 1581"/>
                  <a:gd name="T1" fmla="*/ 0 h 179"/>
                  <a:gd name="T2" fmla="*/ 0 w 1581"/>
                  <a:gd name="T3" fmla="*/ 0 h 179"/>
                  <a:gd name="T4" fmla="*/ 0 w 1581"/>
                  <a:gd name="T5" fmla="*/ 179 h 179"/>
                  <a:gd name="T6" fmla="*/ 0 60000 65536"/>
                  <a:gd name="T7" fmla="*/ 0 60000 65536"/>
                  <a:gd name="T8" fmla="*/ 0 60000 65536"/>
                  <a:gd name="T9" fmla="*/ 0 w 1581"/>
                  <a:gd name="T10" fmla="*/ 0 h 179"/>
                  <a:gd name="T11" fmla="*/ 1581 w 1581"/>
                  <a:gd name="T12" fmla="*/ 179 h 17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81" h="179">
                    <a:moveTo>
                      <a:pt x="1581" y="0"/>
                    </a:moveTo>
                    <a:lnTo>
                      <a:pt x="0" y="0"/>
                    </a:lnTo>
                    <a:lnTo>
                      <a:pt x="0" y="179"/>
                    </a:lnTo>
                  </a:path>
                </a:pathLst>
              </a:custGeom>
              <a:noFill/>
              <a:ln w="3492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72" name="Line 31"/>
              <p:cNvSpPr>
                <a:spLocks noChangeShapeType="1"/>
              </p:cNvSpPr>
              <p:nvPr/>
            </p:nvSpPr>
            <p:spPr bwMode="auto">
              <a:xfrm flipH="1">
                <a:off x="1167" y="1175"/>
                <a:ext cx="2232" cy="1"/>
              </a:xfrm>
              <a:prstGeom prst="line">
                <a:avLst/>
              </a:prstGeom>
              <a:noFill/>
              <a:ln w="3492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073" name="Freeform 32"/>
              <p:cNvSpPr>
                <a:spLocks noChangeArrowheads="1"/>
              </p:cNvSpPr>
              <p:nvPr/>
            </p:nvSpPr>
            <p:spPr bwMode="auto">
              <a:xfrm>
                <a:off x="2988" y="1420"/>
                <a:ext cx="342" cy="421"/>
              </a:xfrm>
              <a:custGeom>
                <a:avLst/>
                <a:gdLst>
                  <a:gd name="T0" fmla="*/ 154 w 311"/>
                  <a:gd name="T1" fmla="*/ 383 h 383"/>
                  <a:gd name="T2" fmla="*/ 182 w 311"/>
                  <a:gd name="T3" fmla="*/ 380 h 383"/>
                  <a:gd name="T4" fmla="*/ 204 w 311"/>
                  <a:gd name="T5" fmla="*/ 375 h 383"/>
                  <a:gd name="T6" fmla="*/ 226 w 311"/>
                  <a:gd name="T7" fmla="*/ 361 h 383"/>
                  <a:gd name="T8" fmla="*/ 248 w 311"/>
                  <a:gd name="T9" fmla="*/ 347 h 383"/>
                  <a:gd name="T10" fmla="*/ 264 w 311"/>
                  <a:gd name="T11" fmla="*/ 328 h 383"/>
                  <a:gd name="T12" fmla="*/ 281 w 311"/>
                  <a:gd name="T13" fmla="*/ 306 h 383"/>
                  <a:gd name="T14" fmla="*/ 295 w 311"/>
                  <a:gd name="T15" fmla="*/ 281 h 383"/>
                  <a:gd name="T16" fmla="*/ 303 w 311"/>
                  <a:gd name="T17" fmla="*/ 253 h 383"/>
                  <a:gd name="T18" fmla="*/ 308 w 311"/>
                  <a:gd name="T19" fmla="*/ 223 h 383"/>
                  <a:gd name="T20" fmla="*/ 311 w 311"/>
                  <a:gd name="T21" fmla="*/ 190 h 383"/>
                  <a:gd name="T22" fmla="*/ 308 w 311"/>
                  <a:gd name="T23" fmla="*/ 160 h 383"/>
                  <a:gd name="T24" fmla="*/ 303 w 311"/>
                  <a:gd name="T25" fmla="*/ 130 h 383"/>
                  <a:gd name="T26" fmla="*/ 295 w 311"/>
                  <a:gd name="T27" fmla="*/ 102 h 383"/>
                  <a:gd name="T28" fmla="*/ 281 w 311"/>
                  <a:gd name="T29" fmla="*/ 77 h 383"/>
                  <a:gd name="T30" fmla="*/ 264 w 311"/>
                  <a:gd name="T31" fmla="*/ 55 h 383"/>
                  <a:gd name="T32" fmla="*/ 248 w 311"/>
                  <a:gd name="T33" fmla="*/ 36 h 383"/>
                  <a:gd name="T34" fmla="*/ 226 w 311"/>
                  <a:gd name="T35" fmla="*/ 19 h 383"/>
                  <a:gd name="T36" fmla="*/ 204 w 311"/>
                  <a:gd name="T37" fmla="*/ 8 h 383"/>
                  <a:gd name="T38" fmla="*/ 182 w 311"/>
                  <a:gd name="T39" fmla="*/ 3 h 383"/>
                  <a:gd name="T40" fmla="*/ 157 w 311"/>
                  <a:gd name="T41" fmla="*/ 0 h 383"/>
                  <a:gd name="T42" fmla="*/ 129 w 311"/>
                  <a:gd name="T43" fmla="*/ 3 h 383"/>
                  <a:gd name="T44" fmla="*/ 107 w 311"/>
                  <a:gd name="T45" fmla="*/ 8 h 383"/>
                  <a:gd name="T46" fmla="*/ 85 w 311"/>
                  <a:gd name="T47" fmla="*/ 19 h 383"/>
                  <a:gd name="T48" fmla="*/ 63 w 311"/>
                  <a:gd name="T49" fmla="*/ 36 h 383"/>
                  <a:gd name="T50" fmla="*/ 47 w 311"/>
                  <a:gd name="T51" fmla="*/ 55 h 383"/>
                  <a:gd name="T52" fmla="*/ 30 w 311"/>
                  <a:gd name="T53" fmla="*/ 77 h 383"/>
                  <a:gd name="T54" fmla="*/ 17 w 311"/>
                  <a:gd name="T55" fmla="*/ 102 h 383"/>
                  <a:gd name="T56" fmla="*/ 8 w 311"/>
                  <a:gd name="T57" fmla="*/ 130 h 383"/>
                  <a:gd name="T58" fmla="*/ 3 w 311"/>
                  <a:gd name="T59" fmla="*/ 160 h 383"/>
                  <a:gd name="T60" fmla="*/ 0 w 311"/>
                  <a:gd name="T61" fmla="*/ 190 h 383"/>
                  <a:gd name="T62" fmla="*/ 3 w 311"/>
                  <a:gd name="T63" fmla="*/ 223 h 383"/>
                  <a:gd name="T64" fmla="*/ 8 w 311"/>
                  <a:gd name="T65" fmla="*/ 253 h 383"/>
                  <a:gd name="T66" fmla="*/ 17 w 311"/>
                  <a:gd name="T67" fmla="*/ 281 h 383"/>
                  <a:gd name="T68" fmla="*/ 30 w 311"/>
                  <a:gd name="T69" fmla="*/ 306 h 383"/>
                  <a:gd name="T70" fmla="*/ 47 w 311"/>
                  <a:gd name="T71" fmla="*/ 328 h 383"/>
                  <a:gd name="T72" fmla="*/ 63 w 311"/>
                  <a:gd name="T73" fmla="*/ 347 h 383"/>
                  <a:gd name="T74" fmla="*/ 85 w 311"/>
                  <a:gd name="T75" fmla="*/ 361 h 383"/>
                  <a:gd name="T76" fmla="*/ 107 w 311"/>
                  <a:gd name="T77" fmla="*/ 375 h 383"/>
                  <a:gd name="T78" fmla="*/ 129 w 311"/>
                  <a:gd name="T79" fmla="*/ 380 h 383"/>
                  <a:gd name="T80" fmla="*/ 157 w 311"/>
                  <a:gd name="T81" fmla="*/ 383 h 383"/>
                  <a:gd name="T82" fmla="*/ 157 w 311"/>
                  <a:gd name="T83" fmla="*/ 383 h 383"/>
                  <a:gd name="T84" fmla="*/ 154 w 311"/>
                  <a:gd name="T85" fmla="*/ 383 h 383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311"/>
                  <a:gd name="T130" fmla="*/ 0 h 383"/>
                  <a:gd name="T131" fmla="*/ 311 w 311"/>
                  <a:gd name="T132" fmla="*/ 383 h 383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311" h="383">
                    <a:moveTo>
                      <a:pt x="154" y="383"/>
                    </a:moveTo>
                    <a:lnTo>
                      <a:pt x="182" y="380"/>
                    </a:lnTo>
                    <a:lnTo>
                      <a:pt x="204" y="375"/>
                    </a:lnTo>
                    <a:lnTo>
                      <a:pt x="226" y="361"/>
                    </a:lnTo>
                    <a:lnTo>
                      <a:pt x="248" y="347"/>
                    </a:lnTo>
                    <a:lnTo>
                      <a:pt x="264" y="328"/>
                    </a:lnTo>
                    <a:lnTo>
                      <a:pt x="281" y="306"/>
                    </a:lnTo>
                    <a:lnTo>
                      <a:pt x="295" y="281"/>
                    </a:lnTo>
                    <a:lnTo>
                      <a:pt x="303" y="253"/>
                    </a:lnTo>
                    <a:lnTo>
                      <a:pt x="308" y="223"/>
                    </a:lnTo>
                    <a:lnTo>
                      <a:pt x="311" y="190"/>
                    </a:lnTo>
                    <a:lnTo>
                      <a:pt x="308" y="160"/>
                    </a:lnTo>
                    <a:lnTo>
                      <a:pt x="303" y="130"/>
                    </a:lnTo>
                    <a:lnTo>
                      <a:pt x="295" y="102"/>
                    </a:lnTo>
                    <a:lnTo>
                      <a:pt x="281" y="77"/>
                    </a:lnTo>
                    <a:lnTo>
                      <a:pt x="264" y="55"/>
                    </a:lnTo>
                    <a:lnTo>
                      <a:pt x="248" y="36"/>
                    </a:lnTo>
                    <a:lnTo>
                      <a:pt x="226" y="19"/>
                    </a:lnTo>
                    <a:lnTo>
                      <a:pt x="204" y="8"/>
                    </a:lnTo>
                    <a:lnTo>
                      <a:pt x="182" y="3"/>
                    </a:lnTo>
                    <a:lnTo>
                      <a:pt x="157" y="0"/>
                    </a:lnTo>
                    <a:lnTo>
                      <a:pt x="129" y="3"/>
                    </a:lnTo>
                    <a:lnTo>
                      <a:pt x="107" y="8"/>
                    </a:lnTo>
                    <a:lnTo>
                      <a:pt x="85" y="19"/>
                    </a:lnTo>
                    <a:lnTo>
                      <a:pt x="63" y="36"/>
                    </a:lnTo>
                    <a:lnTo>
                      <a:pt x="47" y="55"/>
                    </a:lnTo>
                    <a:lnTo>
                      <a:pt x="30" y="77"/>
                    </a:lnTo>
                    <a:lnTo>
                      <a:pt x="17" y="102"/>
                    </a:lnTo>
                    <a:lnTo>
                      <a:pt x="8" y="130"/>
                    </a:lnTo>
                    <a:lnTo>
                      <a:pt x="3" y="160"/>
                    </a:lnTo>
                    <a:lnTo>
                      <a:pt x="0" y="190"/>
                    </a:lnTo>
                    <a:lnTo>
                      <a:pt x="3" y="223"/>
                    </a:lnTo>
                    <a:lnTo>
                      <a:pt x="8" y="253"/>
                    </a:lnTo>
                    <a:lnTo>
                      <a:pt x="17" y="281"/>
                    </a:lnTo>
                    <a:lnTo>
                      <a:pt x="30" y="306"/>
                    </a:lnTo>
                    <a:lnTo>
                      <a:pt x="47" y="328"/>
                    </a:lnTo>
                    <a:lnTo>
                      <a:pt x="63" y="347"/>
                    </a:lnTo>
                    <a:lnTo>
                      <a:pt x="85" y="361"/>
                    </a:lnTo>
                    <a:lnTo>
                      <a:pt x="107" y="375"/>
                    </a:lnTo>
                    <a:lnTo>
                      <a:pt x="129" y="380"/>
                    </a:lnTo>
                    <a:lnTo>
                      <a:pt x="157" y="383"/>
                    </a:lnTo>
                    <a:lnTo>
                      <a:pt x="154" y="38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74" name="Freeform 33"/>
              <p:cNvSpPr>
                <a:spLocks noChangeArrowheads="1"/>
              </p:cNvSpPr>
              <p:nvPr/>
            </p:nvSpPr>
            <p:spPr bwMode="auto">
              <a:xfrm>
                <a:off x="2988" y="1420"/>
                <a:ext cx="342" cy="421"/>
              </a:xfrm>
              <a:custGeom>
                <a:avLst/>
                <a:gdLst>
                  <a:gd name="T0" fmla="*/ 154 w 311"/>
                  <a:gd name="T1" fmla="*/ 383 h 383"/>
                  <a:gd name="T2" fmla="*/ 182 w 311"/>
                  <a:gd name="T3" fmla="*/ 380 h 383"/>
                  <a:gd name="T4" fmla="*/ 204 w 311"/>
                  <a:gd name="T5" fmla="*/ 375 h 383"/>
                  <a:gd name="T6" fmla="*/ 226 w 311"/>
                  <a:gd name="T7" fmla="*/ 361 h 383"/>
                  <a:gd name="T8" fmla="*/ 248 w 311"/>
                  <a:gd name="T9" fmla="*/ 347 h 383"/>
                  <a:gd name="T10" fmla="*/ 264 w 311"/>
                  <a:gd name="T11" fmla="*/ 328 h 383"/>
                  <a:gd name="T12" fmla="*/ 281 w 311"/>
                  <a:gd name="T13" fmla="*/ 306 h 383"/>
                  <a:gd name="T14" fmla="*/ 295 w 311"/>
                  <a:gd name="T15" fmla="*/ 281 h 383"/>
                  <a:gd name="T16" fmla="*/ 303 w 311"/>
                  <a:gd name="T17" fmla="*/ 253 h 383"/>
                  <a:gd name="T18" fmla="*/ 308 w 311"/>
                  <a:gd name="T19" fmla="*/ 223 h 383"/>
                  <a:gd name="T20" fmla="*/ 311 w 311"/>
                  <a:gd name="T21" fmla="*/ 190 h 383"/>
                  <a:gd name="T22" fmla="*/ 308 w 311"/>
                  <a:gd name="T23" fmla="*/ 160 h 383"/>
                  <a:gd name="T24" fmla="*/ 303 w 311"/>
                  <a:gd name="T25" fmla="*/ 130 h 383"/>
                  <a:gd name="T26" fmla="*/ 295 w 311"/>
                  <a:gd name="T27" fmla="*/ 102 h 383"/>
                  <a:gd name="T28" fmla="*/ 281 w 311"/>
                  <a:gd name="T29" fmla="*/ 77 h 383"/>
                  <a:gd name="T30" fmla="*/ 264 w 311"/>
                  <a:gd name="T31" fmla="*/ 55 h 383"/>
                  <a:gd name="T32" fmla="*/ 248 w 311"/>
                  <a:gd name="T33" fmla="*/ 36 h 383"/>
                  <a:gd name="T34" fmla="*/ 226 w 311"/>
                  <a:gd name="T35" fmla="*/ 19 h 383"/>
                  <a:gd name="T36" fmla="*/ 204 w 311"/>
                  <a:gd name="T37" fmla="*/ 8 h 383"/>
                  <a:gd name="T38" fmla="*/ 182 w 311"/>
                  <a:gd name="T39" fmla="*/ 3 h 383"/>
                  <a:gd name="T40" fmla="*/ 157 w 311"/>
                  <a:gd name="T41" fmla="*/ 0 h 383"/>
                  <a:gd name="T42" fmla="*/ 129 w 311"/>
                  <a:gd name="T43" fmla="*/ 3 h 383"/>
                  <a:gd name="T44" fmla="*/ 107 w 311"/>
                  <a:gd name="T45" fmla="*/ 8 h 383"/>
                  <a:gd name="T46" fmla="*/ 85 w 311"/>
                  <a:gd name="T47" fmla="*/ 19 h 383"/>
                  <a:gd name="T48" fmla="*/ 63 w 311"/>
                  <a:gd name="T49" fmla="*/ 36 h 383"/>
                  <a:gd name="T50" fmla="*/ 47 w 311"/>
                  <a:gd name="T51" fmla="*/ 55 h 383"/>
                  <a:gd name="T52" fmla="*/ 30 w 311"/>
                  <a:gd name="T53" fmla="*/ 77 h 383"/>
                  <a:gd name="T54" fmla="*/ 17 w 311"/>
                  <a:gd name="T55" fmla="*/ 102 h 383"/>
                  <a:gd name="T56" fmla="*/ 8 w 311"/>
                  <a:gd name="T57" fmla="*/ 130 h 383"/>
                  <a:gd name="T58" fmla="*/ 3 w 311"/>
                  <a:gd name="T59" fmla="*/ 160 h 383"/>
                  <a:gd name="T60" fmla="*/ 0 w 311"/>
                  <a:gd name="T61" fmla="*/ 190 h 383"/>
                  <a:gd name="T62" fmla="*/ 3 w 311"/>
                  <a:gd name="T63" fmla="*/ 223 h 383"/>
                  <a:gd name="T64" fmla="*/ 8 w 311"/>
                  <a:gd name="T65" fmla="*/ 253 h 383"/>
                  <a:gd name="T66" fmla="*/ 17 w 311"/>
                  <a:gd name="T67" fmla="*/ 281 h 383"/>
                  <a:gd name="T68" fmla="*/ 30 w 311"/>
                  <a:gd name="T69" fmla="*/ 306 h 383"/>
                  <a:gd name="T70" fmla="*/ 47 w 311"/>
                  <a:gd name="T71" fmla="*/ 328 h 383"/>
                  <a:gd name="T72" fmla="*/ 63 w 311"/>
                  <a:gd name="T73" fmla="*/ 347 h 383"/>
                  <a:gd name="T74" fmla="*/ 85 w 311"/>
                  <a:gd name="T75" fmla="*/ 361 h 383"/>
                  <a:gd name="T76" fmla="*/ 107 w 311"/>
                  <a:gd name="T77" fmla="*/ 375 h 383"/>
                  <a:gd name="T78" fmla="*/ 129 w 311"/>
                  <a:gd name="T79" fmla="*/ 380 h 383"/>
                  <a:gd name="T80" fmla="*/ 157 w 311"/>
                  <a:gd name="T81" fmla="*/ 383 h 383"/>
                  <a:gd name="T82" fmla="*/ 157 w 311"/>
                  <a:gd name="T83" fmla="*/ 383 h 383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311"/>
                  <a:gd name="T127" fmla="*/ 0 h 383"/>
                  <a:gd name="T128" fmla="*/ 311 w 311"/>
                  <a:gd name="T129" fmla="*/ 383 h 383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311" h="383">
                    <a:moveTo>
                      <a:pt x="154" y="383"/>
                    </a:moveTo>
                    <a:lnTo>
                      <a:pt x="182" y="380"/>
                    </a:lnTo>
                    <a:lnTo>
                      <a:pt x="204" y="375"/>
                    </a:lnTo>
                    <a:lnTo>
                      <a:pt x="226" y="361"/>
                    </a:lnTo>
                    <a:lnTo>
                      <a:pt x="248" y="347"/>
                    </a:lnTo>
                    <a:lnTo>
                      <a:pt x="264" y="328"/>
                    </a:lnTo>
                    <a:lnTo>
                      <a:pt x="281" y="306"/>
                    </a:lnTo>
                    <a:lnTo>
                      <a:pt x="295" y="281"/>
                    </a:lnTo>
                    <a:lnTo>
                      <a:pt x="303" y="253"/>
                    </a:lnTo>
                    <a:lnTo>
                      <a:pt x="308" y="223"/>
                    </a:lnTo>
                    <a:lnTo>
                      <a:pt x="311" y="190"/>
                    </a:lnTo>
                    <a:lnTo>
                      <a:pt x="308" y="160"/>
                    </a:lnTo>
                    <a:lnTo>
                      <a:pt x="303" y="130"/>
                    </a:lnTo>
                    <a:lnTo>
                      <a:pt x="295" y="102"/>
                    </a:lnTo>
                    <a:lnTo>
                      <a:pt x="281" y="77"/>
                    </a:lnTo>
                    <a:lnTo>
                      <a:pt x="264" y="55"/>
                    </a:lnTo>
                    <a:lnTo>
                      <a:pt x="248" y="36"/>
                    </a:lnTo>
                    <a:lnTo>
                      <a:pt x="226" y="19"/>
                    </a:lnTo>
                    <a:lnTo>
                      <a:pt x="204" y="8"/>
                    </a:lnTo>
                    <a:lnTo>
                      <a:pt x="182" y="3"/>
                    </a:lnTo>
                    <a:lnTo>
                      <a:pt x="157" y="0"/>
                    </a:lnTo>
                    <a:lnTo>
                      <a:pt x="129" y="3"/>
                    </a:lnTo>
                    <a:lnTo>
                      <a:pt x="107" y="8"/>
                    </a:lnTo>
                    <a:lnTo>
                      <a:pt x="85" y="19"/>
                    </a:lnTo>
                    <a:lnTo>
                      <a:pt x="63" y="36"/>
                    </a:lnTo>
                    <a:lnTo>
                      <a:pt x="47" y="55"/>
                    </a:lnTo>
                    <a:lnTo>
                      <a:pt x="30" y="77"/>
                    </a:lnTo>
                    <a:lnTo>
                      <a:pt x="17" y="102"/>
                    </a:lnTo>
                    <a:lnTo>
                      <a:pt x="8" y="130"/>
                    </a:lnTo>
                    <a:lnTo>
                      <a:pt x="3" y="160"/>
                    </a:lnTo>
                    <a:lnTo>
                      <a:pt x="0" y="190"/>
                    </a:lnTo>
                    <a:lnTo>
                      <a:pt x="3" y="223"/>
                    </a:lnTo>
                    <a:lnTo>
                      <a:pt x="8" y="253"/>
                    </a:lnTo>
                    <a:lnTo>
                      <a:pt x="17" y="281"/>
                    </a:lnTo>
                    <a:lnTo>
                      <a:pt x="30" y="306"/>
                    </a:lnTo>
                    <a:lnTo>
                      <a:pt x="47" y="328"/>
                    </a:lnTo>
                    <a:lnTo>
                      <a:pt x="63" y="347"/>
                    </a:lnTo>
                    <a:lnTo>
                      <a:pt x="85" y="361"/>
                    </a:lnTo>
                    <a:lnTo>
                      <a:pt x="107" y="375"/>
                    </a:lnTo>
                    <a:lnTo>
                      <a:pt x="129" y="380"/>
                    </a:lnTo>
                    <a:lnTo>
                      <a:pt x="157" y="383"/>
                    </a:lnTo>
                  </a:path>
                </a:pathLst>
              </a:custGeom>
              <a:solidFill>
                <a:srgbClr val="D1FFE8"/>
              </a:solidFill>
              <a:ln w="1764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75" name="Rectangle 34"/>
              <p:cNvSpPr>
                <a:spLocks noChangeArrowheads="1"/>
              </p:cNvSpPr>
              <p:nvPr/>
            </p:nvSpPr>
            <p:spPr bwMode="auto">
              <a:xfrm>
                <a:off x="3061" y="1499"/>
                <a:ext cx="59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2076" name="Rectangle 35"/>
              <p:cNvSpPr>
                <a:spLocks noChangeArrowheads="1"/>
              </p:cNvSpPr>
              <p:nvPr/>
            </p:nvSpPr>
            <p:spPr bwMode="auto">
              <a:xfrm>
                <a:off x="3127" y="1499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h</a:t>
                </a:r>
              </a:p>
            </p:txBody>
          </p:sp>
          <p:sp>
            <p:nvSpPr>
              <p:cNvPr id="72077" name="Rectangle 36"/>
              <p:cNvSpPr>
                <a:spLocks noChangeArrowheads="1"/>
              </p:cNvSpPr>
              <p:nvPr/>
            </p:nvSpPr>
            <p:spPr bwMode="auto">
              <a:xfrm>
                <a:off x="3182" y="1499"/>
                <a:ext cx="2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2078" name="Rectangle 37"/>
              <p:cNvSpPr>
                <a:spLocks noChangeArrowheads="1"/>
              </p:cNvSpPr>
              <p:nvPr/>
            </p:nvSpPr>
            <p:spPr bwMode="auto">
              <a:xfrm>
                <a:off x="3205" y="1499"/>
                <a:ext cx="24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f</a:t>
                </a:r>
              </a:p>
            </p:txBody>
          </p:sp>
          <p:sp>
            <p:nvSpPr>
              <p:cNvPr id="72079" name="Rectangle 38"/>
              <p:cNvSpPr>
                <a:spLocks noChangeArrowheads="1"/>
              </p:cNvSpPr>
              <p:nvPr/>
            </p:nvSpPr>
            <p:spPr bwMode="auto">
              <a:xfrm>
                <a:off x="3233" y="1499"/>
                <a:ext cx="24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2080" name="Rectangle 39"/>
              <p:cNvSpPr>
                <a:spLocks noChangeArrowheads="1"/>
              </p:cNvSpPr>
              <p:nvPr/>
            </p:nvSpPr>
            <p:spPr bwMode="auto">
              <a:xfrm>
                <a:off x="3261" y="1499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81" name="Rectangle 40"/>
              <p:cNvSpPr>
                <a:spLocks noChangeArrowheads="1"/>
              </p:cNvSpPr>
              <p:nvPr/>
            </p:nvSpPr>
            <p:spPr bwMode="auto">
              <a:xfrm>
                <a:off x="3046" y="1620"/>
                <a:ext cx="2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72082" name="Rectangle 41"/>
              <p:cNvSpPr>
                <a:spLocks noChangeArrowheads="1"/>
              </p:cNvSpPr>
              <p:nvPr/>
            </p:nvSpPr>
            <p:spPr bwMode="auto">
              <a:xfrm>
                <a:off x="3068" y="1620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2083" name="Rectangle 42"/>
              <p:cNvSpPr>
                <a:spLocks noChangeArrowheads="1"/>
              </p:cNvSpPr>
              <p:nvPr/>
            </p:nvSpPr>
            <p:spPr bwMode="auto">
              <a:xfrm>
                <a:off x="3120" y="1620"/>
                <a:ext cx="24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f</a:t>
                </a:r>
              </a:p>
            </p:txBody>
          </p:sp>
          <p:sp>
            <p:nvSpPr>
              <p:cNvPr id="72084" name="Rectangle 43"/>
              <p:cNvSpPr>
                <a:spLocks noChangeArrowheads="1"/>
              </p:cNvSpPr>
              <p:nvPr/>
            </p:nvSpPr>
            <p:spPr bwMode="auto">
              <a:xfrm>
                <a:off x="3152" y="1620"/>
                <a:ext cx="24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2085" name="Rectangle 44"/>
              <p:cNvSpPr>
                <a:spLocks noChangeArrowheads="1"/>
              </p:cNvSpPr>
              <p:nvPr/>
            </p:nvSpPr>
            <p:spPr bwMode="auto">
              <a:xfrm>
                <a:off x="3179" y="1620"/>
                <a:ext cx="24" cy="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2086" name="Rectangle 45"/>
              <p:cNvSpPr>
                <a:spLocks noChangeArrowheads="1"/>
              </p:cNvSpPr>
              <p:nvPr/>
            </p:nvSpPr>
            <p:spPr bwMode="auto">
              <a:xfrm>
                <a:off x="3206" y="1620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2</a:t>
                </a:r>
              </a:p>
            </p:txBody>
          </p:sp>
          <p:sp>
            <p:nvSpPr>
              <p:cNvPr id="72087" name="Line 46"/>
              <p:cNvSpPr>
                <a:spLocks noChangeShapeType="1"/>
              </p:cNvSpPr>
              <p:nvPr/>
            </p:nvSpPr>
            <p:spPr bwMode="auto">
              <a:xfrm>
                <a:off x="3327" y="1624"/>
                <a:ext cx="55" cy="2"/>
              </a:xfrm>
              <a:prstGeom prst="line">
                <a:avLst/>
              </a:prstGeom>
              <a:noFill/>
              <a:ln w="3492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72088" name="Group 47"/>
              <p:cNvGrpSpPr>
                <a:grpSpLocks/>
              </p:cNvGrpSpPr>
              <p:nvPr/>
            </p:nvGrpSpPr>
            <p:grpSpPr bwMode="auto">
              <a:xfrm>
                <a:off x="4176" y="720"/>
                <a:ext cx="293" cy="116"/>
                <a:chOff x="4176" y="720"/>
                <a:chExt cx="293" cy="116"/>
              </a:xfrm>
            </p:grpSpPr>
            <p:sp>
              <p:nvSpPr>
                <p:cNvPr id="72110" name="Rectangle 48"/>
                <p:cNvSpPr>
                  <a:spLocks noChangeArrowheads="1"/>
                </p:cNvSpPr>
                <p:nvPr/>
              </p:nvSpPr>
              <p:spPr bwMode="auto">
                <a:xfrm>
                  <a:off x="4176" y="720"/>
                  <a:ext cx="65" cy="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>
                      <a:srgbClr val="CD3333"/>
                    </a:buCl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altLang="zh-TW" sz="1200" b="1">
                      <a:solidFill>
                        <a:srgbClr val="CD3333"/>
                      </a:solidFill>
                      <a:latin typeface="Arial" charset="0"/>
                      <a:ea typeface="新細明體" charset="-120"/>
                    </a:rPr>
                    <a:t>P</a:t>
                  </a:r>
                </a:p>
              </p:txBody>
            </p:sp>
            <p:sp>
              <p:nvSpPr>
                <p:cNvPr id="72111" name="Rectangle 49"/>
                <p:cNvSpPr>
                  <a:spLocks noChangeArrowheads="1"/>
                </p:cNvSpPr>
                <p:nvPr/>
              </p:nvSpPr>
              <p:spPr bwMode="auto">
                <a:xfrm>
                  <a:off x="4243" y="720"/>
                  <a:ext cx="70" cy="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>
                      <a:srgbClr val="CD3333"/>
                    </a:buCl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altLang="zh-TW" sz="1200" b="1">
                      <a:solidFill>
                        <a:srgbClr val="CD3333"/>
                      </a:solidFill>
                      <a:latin typeface="Arial" charset="0"/>
                      <a:ea typeface="新細明體" charset="-120"/>
                    </a:rPr>
                    <a:t>C</a:t>
                  </a:r>
                </a:p>
              </p:txBody>
            </p:sp>
            <p:sp>
              <p:nvSpPr>
                <p:cNvPr id="72112" name="Rectangle 50"/>
                <p:cNvSpPr>
                  <a:spLocks noChangeArrowheads="1"/>
                </p:cNvSpPr>
                <p:nvPr/>
              </p:nvSpPr>
              <p:spPr bwMode="auto">
                <a:xfrm>
                  <a:off x="4315" y="720"/>
                  <a:ext cx="65" cy="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>
                      <a:srgbClr val="CD3333"/>
                    </a:buCl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altLang="zh-TW" sz="1200" b="1">
                      <a:solidFill>
                        <a:srgbClr val="CD3333"/>
                      </a:solidFill>
                      <a:latin typeface="Arial" charset="0"/>
                      <a:ea typeface="新細明體" charset="-120"/>
                    </a:rPr>
                    <a:t>S</a:t>
                  </a:r>
                </a:p>
              </p:txBody>
            </p:sp>
            <p:sp>
              <p:nvSpPr>
                <p:cNvPr id="72113" name="Rectangle 51"/>
                <p:cNvSpPr>
                  <a:spLocks noChangeArrowheads="1"/>
                </p:cNvSpPr>
                <p:nvPr/>
              </p:nvSpPr>
              <p:spPr bwMode="auto">
                <a:xfrm>
                  <a:off x="4383" y="720"/>
                  <a:ext cx="37" cy="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>
                      <a:srgbClr val="CD3333"/>
                    </a:buCl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altLang="zh-TW" sz="1200" b="1">
                      <a:solidFill>
                        <a:srgbClr val="CD3333"/>
                      </a:solidFill>
                      <a:latin typeface="Arial" charset="0"/>
                      <a:ea typeface="新細明體" charset="-120"/>
                    </a:rPr>
                    <a:t>r</a:t>
                  </a:r>
                </a:p>
              </p:txBody>
            </p:sp>
            <p:sp>
              <p:nvSpPr>
                <p:cNvPr id="72114" name="Rectangle 52"/>
                <p:cNvSpPr>
                  <a:spLocks noChangeArrowheads="1"/>
                </p:cNvSpPr>
                <p:nvPr/>
              </p:nvSpPr>
              <p:spPr bwMode="auto">
                <a:xfrm>
                  <a:off x="4415" y="720"/>
                  <a:ext cx="54" cy="11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=""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>
                  <a:spAutoFit/>
                </a:bodyPr>
                <a:lstStyle/>
                <a:p>
                  <a:pPr>
                    <a:buClr>
                      <a:srgbClr val="CD3333"/>
                    </a:buCl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GB" altLang="zh-TW" sz="1200" b="1">
                      <a:solidFill>
                        <a:srgbClr val="CD3333"/>
                      </a:solidFill>
                      <a:latin typeface="Arial" charset="0"/>
                      <a:ea typeface="新細明體" charset="-120"/>
                    </a:rPr>
                    <a:t>c</a:t>
                  </a:r>
                </a:p>
              </p:txBody>
            </p:sp>
          </p:grpSp>
          <p:sp>
            <p:nvSpPr>
              <p:cNvPr id="72089" name="Freeform 53"/>
              <p:cNvSpPr>
                <a:spLocks noChangeArrowheads="1"/>
              </p:cNvSpPr>
              <p:nvPr/>
            </p:nvSpPr>
            <p:spPr bwMode="auto">
              <a:xfrm>
                <a:off x="3377" y="1175"/>
                <a:ext cx="17" cy="1"/>
              </a:xfrm>
              <a:custGeom>
                <a:avLst/>
                <a:gdLst>
                  <a:gd name="T0" fmla="*/ 16 w 16"/>
                  <a:gd name="T1" fmla="*/ 0 h 1"/>
                  <a:gd name="T2" fmla="*/ 0 w 16"/>
                  <a:gd name="T3" fmla="*/ 0 h 1"/>
                  <a:gd name="T4" fmla="*/ 16 w 1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6"/>
                  <a:gd name="T10" fmla="*/ 0 h 1"/>
                  <a:gd name="T11" fmla="*/ 16 w 1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" h="1">
                    <a:moveTo>
                      <a:pt x="16" y="0"/>
                    </a:moveTo>
                    <a:lnTo>
                      <a:pt x="0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90" name="Freeform 54"/>
              <p:cNvSpPr>
                <a:spLocks noChangeArrowheads="1"/>
              </p:cNvSpPr>
              <p:nvPr/>
            </p:nvSpPr>
            <p:spPr bwMode="auto">
              <a:xfrm>
                <a:off x="3377" y="1147"/>
                <a:ext cx="50" cy="55"/>
              </a:xfrm>
              <a:custGeom>
                <a:avLst/>
                <a:gdLst>
                  <a:gd name="T0" fmla="*/ 0 w 46"/>
                  <a:gd name="T1" fmla="*/ 0 h 50"/>
                  <a:gd name="T2" fmla="*/ 0 w 46"/>
                  <a:gd name="T3" fmla="*/ 50 h 50"/>
                  <a:gd name="T4" fmla="*/ 46 w 46"/>
                  <a:gd name="T5" fmla="*/ 25 h 50"/>
                  <a:gd name="T6" fmla="*/ 0 w 46"/>
                  <a:gd name="T7" fmla="*/ 3 h 50"/>
                  <a:gd name="T8" fmla="*/ 0 w 46"/>
                  <a:gd name="T9" fmla="*/ 3 h 50"/>
                  <a:gd name="T10" fmla="*/ 0 w 46"/>
                  <a:gd name="T11" fmla="*/ 0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"/>
                  <a:gd name="T19" fmla="*/ 0 h 50"/>
                  <a:gd name="T20" fmla="*/ 46 w 46"/>
                  <a:gd name="T21" fmla="*/ 50 h 5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" h="50">
                    <a:moveTo>
                      <a:pt x="0" y="0"/>
                    </a:moveTo>
                    <a:lnTo>
                      <a:pt x="0" y="50"/>
                    </a:lnTo>
                    <a:lnTo>
                      <a:pt x="46" y="2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91" name="Freeform 55"/>
              <p:cNvSpPr>
                <a:spLocks noChangeArrowheads="1"/>
              </p:cNvSpPr>
              <p:nvPr/>
            </p:nvSpPr>
            <p:spPr bwMode="auto">
              <a:xfrm>
                <a:off x="4394" y="981"/>
                <a:ext cx="18" cy="1"/>
              </a:xfrm>
              <a:custGeom>
                <a:avLst/>
                <a:gdLst>
                  <a:gd name="T0" fmla="*/ 16 w 16"/>
                  <a:gd name="T1" fmla="*/ 0 h 1"/>
                  <a:gd name="T2" fmla="*/ 0 w 16"/>
                  <a:gd name="T3" fmla="*/ 0 h 1"/>
                  <a:gd name="T4" fmla="*/ 16 w 1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6"/>
                  <a:gd name="T10" fmla="*/ 0 h 1"/>
                  <a:gd name="T11" fmla="*/ 16 w 1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" h="1">
                    <a:moveTo>
                      <a:pt x="16" y="0"/>
                    </a:moveTo>
                    <a:lnTo>
                      <a:pt x="0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92" name="Freeform 56"/>
              <p:cNvSpPr>
                <a:spLocks noChangeArrowheads="1"/>
              </p:cNvSpPr>
              <p:nvPr/>
            </p:nvSpPr>
            <p:spPr bwMode="auto">
              <a:xfrm>
                <a:off x="4394" y="957"/>
                <a:ext cx="51" cy="52"/>
              </a:xfrm>
              <a:custGeom>
                <a:avLst/>
                <a:gdLst>
                  <a:gd name="T0" fmla="*/ 0 w 46"/>
                  <a:gd name="T1" fmla="*/ 0 h 47"/>
                  <a:gd name="T2" fmla="*/ 0 w 46"/>
                  <a:gd name="T3" fmla="*/ 47 h 47"/>
                  <a:gd name="T4" fmla="*/ 46 w 46"/>
                  <a:gd name="T5" fmla="*/ 22 h 47"/>
                  <a:gd name="T6" fmla="*/ 0 w 46"/>
                  <a:gd name="T7" fmla="*/ 0 h 47"/>
                  <a:gd name="T8" fmla="*/ 0 w 46"/>
                  <a:gd name="T9" fmla="*/ 0 h 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6"/>
                  <a:gd name="T16" fmla="*/ 0 h 47"/>
                  <a:gd name="T17" fmla="*/ 46 w 46"/>
                  <a:gd name="T18" fmla="*/ 47 h 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6" h="47">
                    <a:moveTo>
                      <a:pt x="0" y="0"/>
                    </a:moveTo>
                    <a:lnTo>
                      <a:pt x="0" y="47"/>
                    </a:lnTo>
                    <a:lnTo>
                      <a:pt x="46" y="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93" name="Freeform 57"/>
              <p:cNvSpPr>
                <a:spLocks noChangeArrowheads="1"/>
              </p:cNvSpPr>
              <p:nvPr/>
            </p:nvSpPr>
            <p:spPr bwMode="auto">
              <a:xfrm>
                <a:off x="4394" y="1399"/>
                <a:ext cx="18" cy="1"/>
              </a:xfrm>
              <a:custGeom>
                <a:avLst/>
                <a:gdLst>
                  <a:gd name="T0" fmla="*/ 16 w 16"/>
                  <a:gd name="T1" fmla="*/ 0 h 1"/>
                  <a:gd name="T2" fmla="*/ 0 w 16"/>
                  <a:gd name="T3" fmla="*/ 0 h 1"/>
                  <a:gd name="T4" fmla="*/ 16 w 1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6"/>
                  <a:gd name="T10" fmla="*/ 0 h 1"/>
                  <a:gd name="T11" fmla="*/ 16 w 1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" h="1">
                    <a:moveTo>
                      <a:pt x="16" y="0"/>
                    </a:moveTo>
                    <a:lnTo>
                      <a:pt x="0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94" name="Freeform 58"/>
              <p:cNvSpPr>
                <a:spLocks noChangeArrowheads="1"/>
              </p:cNvSpPr>
              <p:nvPr/>
            </p:nvSpPr>
            <p:spPr bwMode="auto">
              <a:xfrm>
                <a:off x="4394" y="1372"/>
                <a:ext cx="51" cy="55"/>
              </a:xfrm>
              <a:custGeom>
                <a:avLst/>
                <a:gdLst>
                  <a:gd name="T0" fmla="*/ 0 w 46"/>
                  <a:gd name="T1" fmla="*/ 0 h 50"/>
                  <a:gd name="T2" fmla="*/ 0 w 46"/>
                  <a:gd name="T3" fmla="*/ 50 h 50"/>
                  <a:gd name="T4" fmla="*/ 46 w 46"/>
                  <a:gd name="T5" fmla="*/ 25 h 50"/>
                  <a:gd name="T6" fmla="*/ 0 w 46"/>
                  <a:gd name="T7" fmla="*/ 3 h 50"/>
                  <a:gd name="T8" fmla="*/ 0 w 46"/>
                  <a:gd name="T9" fmla="*/ 3 h 50"/>
                  <a:gd name="T10" fmla="*/ 0 w 46"/>
                  <a:gd name="T11" fmla="*/ 0 h 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6"/>
                  <a:gd name="T19" fmla="*/ 0 h 50"/>
                  <a:gd name="T20" fmla="*/ 46 w 46"/>
                  <a:gd name="T21" fmla="*/ 50 h 5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6" h="50">
                    <a:moveTo>
                      <a:pt x="0" y="0"/>
                    </a:moveTo>
                    <a:lnTo>
                      <a:pt x="0" y="50"/>
                    </a:lnTo>
                    <a:lnTo>
                      <a:pt x="46" y="25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95" name="Freeform 59"/>
              <p:cNvSpPr>
                <a:spLocks noChangeArrowheads="1"/>
              </p:cNvSpPr>
              <p:nvPr/>
            </p:nvSpPr>
            <p:spPr bwMode="auto">
              <a:xfrm>
                <a:off x="2928" y="1624"/>
                <a:ext cx="19" cy="2"/>
              </a:xfrm>
              <a:custGeom>
                <a:avLst/>
                <a:gdLst>
                  <a:gd name="T0" fmla="*/ 17 w 17"/>
                  <a:gd name="T1" fmla="*/ 0 h 2"/>
                  <a:gd name="T2" fmla="*/ 0 w 17"/>
                  <a:gd name="T3" fmla="*/ 2 h 2"/>
                  <a:gd name="T4" fmla="*/ 17 w 17"/>
                  <a:gd name="T5" fmla="*/ 0 h 2"/>
                  <a:gd name="T6" fmla="*/ 0 60000 65536"/>
                  <a:gd name="T7" fmla="*/ 0 60000 65536"/>
                  <a:gd name="T8" fmla="*/ 0 60000 65536"/>
                  <a:gd name="T9" fmla="*/ 0 w 17"/>
                  <a:gd name="T10" fmla="*/ 0 h 2"/>
                  <a:gd name="T11" fmla="*/ 17 w 17"/>
                  <a:gd name="T12" fmla="*/ 2 h 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" h="2">
                    <a:moveTo>
                      <a:pt x="17" y="0"/>
                    </a:moveTo>
                    <a:lnTo>
                      <a:pt x="0" y="2"/>
                    </a:lnTo>
                    <a:lnTo>
                      <a:pt x="1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96" name="Freeform 60"/>
              <p:cNvSpPr>
                <a:spLocks noChangeArrowheads="1"/>
              </p:cNvSpPr>
              <p:nvPr/>
            </p:nvSpPr>
            <p:spPr bwMode="auto">
              <a:xfrm>
                <a:off x="2928" y="1599"/>
                <a:ext cx="52" cy="51"/>
              </a:xfrm>
              <a:custGeom>
                <a:avLst/>
                <a:gdLst>
                  <a:gd name="T0" fmla="*/ 0 w 47"/>
                  <a:gd name="T1" fmla="*/ 0 h 46"/>
                  <a:gd name="T2" fmla="*/ 0 w 47"/>
                  <a:gd name="T3" fmla="*/ 46 h 46"/>
                  <a:gd name="T4" fmla="*/ 47 w 47"/>
                  <a:gd name="T5" fmla="*/ 24 h 46"/>
                  <a:gd name="T6" fmla="*/ 0 w 47"/>
                  <a:gd name="T7" fmla="*/ 0 h 46"/>
                  <a:gd name="T8" fmla="*/ 0 w 47"/>
                  <a:gd name="T9" fmla="*/ 0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7"/>
                  <a:gd name="T16" fmla="*/ 0 h 46"/>
                  <a:gd name="T17" fmla="*/ 47 w 47"/>
                  <a:gd name="T18" fmla="*/ 46 h 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7" h="46">
                    <a:moveTo>
                      <a:pt x="0" y="0"/>
                    </a:moveTo>
                    <a:lnTo>
                      <a:pt x="0" y="46"/>
                    </a:lnTo>
                    <a:lnTo>
                      <a:pt x="47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97" name="Freeform 61"/>
              <p:cNvSpPr>
                <a:spLocks noChangeArrowheads="1"/>
              </p:cNvSpPr>
              <p:nvPr/>
            </p:nvSpPr>
            <p:spPr bwMode="auto">
              <a:xfrm>
                <a:off x="3373" y="1624"/>
                <a:ext cx="18" cy="2"/>
              </a:xfrm>
              <a:custGeom>
                <a:avLst/>
                <a:gdLst>
                  <a:gd name="T0" fmla="*/ 16 w 16"/>
                  <a:gd name="T1" fmla="*/ 0 h 2"/>
                  <a:gd name="T2" fmla="*/ 0 w 16"/>
                  <a:gd name="T3" fmla="*/ 2 h 2"/>
                  <a:gd name="T4" fmla="*/ 16 w 16"/>
                  <a:gd name="T5" fmla="*/ 0 h 2"/>
                  <a:gd name="T6" fmla="*/ 0 60000 65536"/>
                  <a:gd name="T7" fmla="*/ 0 60000 65536"/>
                  <a:gd name="T8" fmla="*/ 0 60000 65536"/>
                  <a:gd name="T9" fmla="*/ 0 w 16"/>
                  <a:gd name="T10" fmla="*/ 0 h 2"/>
                  <a:gd name="T11" fmla="*/ 16 w 16"/>
                  <a:gd name="T12" fmla="*/ 2 h 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" h="2">
                    <a:moveTo>
                      <a:pt x="16" y="0"/>
                    </a:moveTo>
                    <a:lnTo>
                      <a:pt x="0" y="2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98" name="Freeform 62"/>
              <p:cNvSpPr>
                <a:spLocks noChangeArrowheads="1"/>
              </p:cNvSpPr>
              <p:nvPr/>
            </p:nvSpPr>
            <p:spPr bwMode="auto">
              <a:xfrm>
                <a:off x="3373" y="1599"/>
                <a:ext cx="54" cy="51"/>
              </a:xfrm>
              <a:custGeom>
                <a:avLst/>
                <a:gdLst>
                  <a:gd name="T0" fmla="*/ 0 w 49"/>
                  <a:gd name="T1" fmla="*/ 0 h 46"/>
                  <a:gd name="T2" fmla="*/ 0 w 49"/>
                  <a:gd name="T3" fmla="*/ 46 h 46"/>
                  <a:gd name="T4" fmla="*/ 49 w 49"/>
                  <a:gd name="T5" fmla="*/ 24 h 46"/>
                  <a:gd name="T6" fmla="*/ 0 w 49"/>
                  <a:gd name="T7" fmla="*/ 0 h 46"/>
                  <a:gd name="T8" fmla="*/ 0 w 49"/>
                  <a:gd name="T9" fmla="*/ 0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9"/>
                  <a:gd name="T16" fmla="*/ 0 h 46"/>
                  <a:gd name="T17" fmla="*/ 49 w 49"/>
                  <a:gd name="T18" fmla="*/ 46 h 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9" h="46">
                    <a:moveTo>
                      <a:pt x="0" y="0"/>
                    </a:moveTo>
                    <a:lnTo>
                      <a:pt x="0" y="46"/>
                    </a:lnTo>
                    <a:lnTo>
                      <a:pt x="49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099" name="Freeform 63"/>
              <p:cNvSpPr>
                <a:spLocks noChangeArrowheads="1"/>
              </p:cNvSpPr>
              <p:nvPr/>
            </p:nvSpPr>
            <p:spPr bwMode="auto">
              <a:xfrm>
                <a:off x="2638" y="1151"/>
                <a:ext cx="50" cy="51"/>
              </a:xfrm>
              <a:custGeom>
                <a:avLst/>
                <a:gdLst>
                  <a:gd name="T0" fmla="*/ 22 w 46"/>
                  <a:gd name="T1" fmla="*/ 47 h 47"/>
                  <a:gd name="T2" fmla="*/ 27 w 46"/>
                  <a:gd name="T3" fmla="*/ 47 h 47"/>
                  <a:gd name="T4" fmla="*/ 30 w 46"/>
                  <a:gd name="T5" fmla="*/ 47 h 47"/>
                  <a:gd name="T6" fmla="*/ 35 w 46"/>
                  <a:gd name="T7" fmla="*/ 44 h 47"/>
                  <a:gd name="T8" fmla="*/ 38 w 46"/>
                  <a:gd name="T9" fmla="*/ 44 h 47"/>
                  <a:gd name="T10" fmla="*/ 41 w 46"/>
                  <a:gd name="T11" fmla="*/ 41 h 47"/>
                  <a:gd name="T12" fmla="*/ 44 w 46"/>
                  <a:gd name="T13" fmla="*/ 39 h 47"/>
                  <a:gd name="T14" fmla="*/ 44 w 46"/>
                  <a:gd name="T15" fmla="*/ 36 h 47"/>
                  <a:gd name="T16" fmla="*/ 46 w 46"/>
                  <a:gd name="T17" fmla="*/ 30 h 47"/>
                  <a:gd name="T18" fmla="*/ 46 w 46"/>
                  <a:gd name="T19" fmla="*/ 28 h 47"/>
                  <a:gd name="T20" fmla="*/ 46 w 46"/>
                  <a:gd name="T21" fmla="*/ 25 h 47"/>
                  <a:gd name="T22" fmla="*/ 46 w 46"/>
                  <a:gd name="T23" fmla="*/ 19 h 47"/>
                  <a:gd name="T24" fmla="*/ 46 w 46"/>
                  <a:gd name="T25" fmla="*/ 17 h 47"/>
                  <a:gd name="T26" fmla="*/ 44 w 46"/>
                  <a:gd name="T27" fmla="*/ 14 h 47"/>
                  <a:gd name="T28" fmla="*/ 44 w 46"/>
                  <a:gd name="T29" fmla="*/ 11 h 47"/>
                  <a:gd name="T30" fmla="*/ 41 w 46"/>
                  <a:gd name="T31" fmla="*/ 8 h 47"/>
                  <a:gd name="T32" fmla="*/ 38 w 46"/>
                  <a:gd name="T33" fmla="*/ 6 h 47"/>
                  <a:gd name="T34" fmla="*/ 35 w 46"/>
                  <a:gd name="T35" fmla="*/ 3 h 47"/>
                  <a:gd name="T36" fmla="*/ 30 w 46"/>
                  <a:gd name="T37" fmla="*/ 3 h 47"/>
                  <a:gd name="T38" fmla="*/ 27 w 46"/>
                  <a:gd name="T39" fmla="*/ 0 h 47"/>
                  <a:gd name="T40" fmla="*/ 24 w 46"/>
                  <a:gd name="T41" fmla="*/ 0 h 47"/>
                  <a:gd name="T42" fmla="*/ 19 w 46"/>
                  <a:gd name="T43" fmla="*/ 0 h 47"/>
                  <a:gd name="T44" fmla="*/ 16 w 46"/>
                  <a:gd name="T45" fmla="*/ 3 h 47"/>
                  <a:gd name="T46" fmla="*/ 13 w 46"/>
                  <a:gd name="T47" fmla="*/ 3 h 47"/>
                  <a:gd name="T48" fmla="*/ 11 w 46"/>
                  <a:gd name="T49" fmla="*/ 6 h 47"/>
                  <a:gd name="T50" fmla="*/ 8 w 46"/>
                  <a:gd name="T51" fmla="*/ 8 h 47"/>
                  <a:gd name="T52" fmla="*/ 5 w 46"/>
                  <a:gd name="T53" fmla="*/ 11 h 47"/>
                  <a:gd name="T54" fmla="*/ 2 w 46"/>
                  <a:gd name="T55" fmla="*/ 14 h 47"/>
                  <a:gd name="T56" fmla="*/ 2 w 46"/>
                  <a:gd name="T57" fmla="*/ 17 h 47"/>
                  <a:gd name="T58" fmla="*/ 0 w 46"/>
                  <a:gd name="T59" fmla="*/ 19 h 47"/>
                  <a:gd name="T60" fmla="*/ 0 w 46"/>
                  <a:gd name="T61" fmla="*/ 25 h 47"/>
                  <a:gd name="T62" fmla="*/ 0 w 46"/>
                  <a:gd name="T63" fmla="*/ 28 h 47"/>
                  <a:gd name="T64" fmla="*/ 2 w 46"/>
                  <a:gd name="T65" fmla="*/ 30 h 47"/>
                  <a:gd name="T66" fmla="*/ 2 w 46"/>
                  <a:gd name="T67" fmla="*/ 36 h 47"/>
                  <a:gd name="T68" fmla="*/ 5 w 46"/>
                  <a:gd name="T69" fmla="*/ 39 h 47"/>
                  <a:gd name="T70" fmla="*/ 8 w 46"/>
                  <a:gd name="T71" fmla="*/ 41 h 47"/>
                  <a:gd name="T72" fmla="*/ 11 w 46"/>
                  <a:gd name="T73" fmla="*/ 44 h 47"/>
                  <a:gd name="T74" fmla="*/ 13 w 46"/>
                  <a:gd name="T75" fmla="*/ 44 h 47"/>
                  <a:gd name="T76" fmla="*/ 16 w 46"/>
                  <a:gd name="T77" fmla="*/ 47 h 47"/>
                  <a:gd name="T78" fmla="*/ 19 w 46"/>
                  <a:gd name="T79" fmla="*/ 47 h 47"/>
                  <a:gd name="T80" fmla="*/ 24 w 46"/>
                  <a:gd name="T81" fmla="*/ 47 h 47"/>
                  <a:gd name="T82" fmla="*/ 24 w 46"/>
                  <a:gd name="T83" fmla="*/ 47 h 47"/>
                  <a:gd name="T84" fmla="*/ 22 w 46"/>
                  <a:gd name="T85" fmla="*/ 47 h 47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46"/>
                  <a:gd name="T130" fmla="*/ 0 h 47"/>
                  <a:gd name="T131" fmla="*/ 46 w 46"/>
                  <a:gd name="T132" fmla="*/ 47 h 47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46" h="47">
                    <a:moveTo>
                      <a:pt x="22" y="47"/>
                    </a:moveTo>
                    <a:lnTo>
                      <a:pt x="27" y="47"/>
                    </a:lnTo>
                    <a:lnTo>
                      <a:pt x="30" y="47"/>
                    </a:lnTo>
                    <a:lnTo>
                      <a:pt x="35" y="44"/>
                    </a:lnTo>
                    <a:lnTo>
                      <a:pt x="38" y="44"/>
                    </a:lnTo>
                    <a:lnTo>
                      <a:pt x="41" y="41"/>
                    </a:lnTo>
                    <a:lnTo>
                      <a:pt x="44" y="39"/>
                    </a:lnTo>
                    <a:lnTo>
                      <a:pt x="44" y="36"/>
                    </a:lnTo>
                    <a:lnTo>
                      <a:pt x="46" y="30"/>
                    </a:lnTo>
                    <a:lnTo>
                      <a:pt x="46" y="28"/>
                    </a:lnTo>
                    <a:lnTo>
                      <a:pt x="46" y="25"/>
                    </a:lnTo>
                    <a:lnTo>
                      <a:pt x="46" y="19"/>
                    </a:lnTo>
                    <a:lnTo>
                      <a:pt x="46" y="17"/>
                    </a:lnTo>
                    <a:lnTo>
                      <a:pt x="44" y="14"/>
                    </a:lnTo>
                    <a:lnTo>
                      <a:pt x="44" y="11"/>
                    </a:lnTo>
                    <a:lnTo>
                      <a:pt x="41" y="8"/>
                    </a:lnTo>
                    <a:lnTo>
                      <a:pt x="38" y="6"/>
                    </a:lnTo>
                    <a:lnTo>
                      <a:pt x="35" y="3"/>
                    </a:lnTo>
                    <a:lnTo>
                      <a:pt x="30" y="3"/>
                    </a:lnTo>
                    <a:lnTo>
                      <a:pt x="27" y="0"/>
                    </a:lnTo>
                    <a:lnTo>
                      <a:pt x="24" y="0"/>
                    </a:lnTo>
                    <a:lnTo>
                      <a:pt x="19" y="0"/>
                    </a:lnTo>
                    <a:lnTo>
                      <a:pt x="16" y="3"/>
                    </a:lnTo>
                    <a:lnTo>
                      <a:pt x="13" y="3"/>
                    </a:lnTo>
                    <a:lnTo>
                      <a:pt x="11" y="6"/>
                    </a:lnTo>
                    <a:lnTo>
                      <a:pt x="8" y="8"/>
                    </a:lnTo>
                    <a:lnTo>
                      <a:pt x="5" y="11"/>
                    </a:lnTo>
                    <a:lnTo>
                      <a:pt x="2" y="14"/>
                    </a:lnTo>
                    <a:lnTo>
                      <a:pt x="2" y="17"/>
                    </a:lnTo>
                    <a:lnTo>
                      <a:pt x="0" y="19"/>
                    </a:lnTo>
                    <a:lnTo>
                      <a:pt x="0" y="25"/>
                    </a:lnTo>
                    <a:lnTo>
                      <a:pt x="0" y="28"/>
                    </a:lnTo>
                    <a:lnTo>
                      <a:pt x="2" y="30"/>
                    </a:lnTo>
                    <a:lnTo>
                      <a:pt x="2" y="36"/>
                    </a:lnTo>
                    <a:lnTo>
                      <a:pt x="5" y="39"/>
                    </a:lnTo>
                    <a:lnTo>
                      <a:pt x="8" y="41"/>
                    </a:lnTo>
                    <a:lnTo>
                      <a:pt x="11" y="44"/>
                    </a:lnTo>
                    <a:lnTo>
                      <a:pt x="13" y="44"/>
                    </a:lnTo>
                    <a:lnTo>
                      <a:pt x="16" y="47"/>
                    </a:lnTo>
                    <a:lnTo>
                      <a:pt x="19" y="47"/>
                    </a:lnTo>
                    <a:lnTo>
                      <a:pt x="24" y="47"/>
                    </a:lnTo>
                    <a:lnTo>
                      <a:pt x="22" y="4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00" name="Rectangle 64"/>
              <p:cNvSpPr>
                <a:spLocks noChangeArrowheads="1"/>
              </p:cNvSpPr>
              <p:nvPr/>
            </p:nvSpPr>
            <p:spPr bwMode="auto">
              <a:xfrm>
                <a:off x="622" y="1336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4</a:t>
                </a:r>
              </a:p>
            </p:txBody>
          </p:sp>
          <p:sp>
            <p:nvSpPr>
              <p:cNvPr id="72101" name="Freeform 65"/>
              <p:cNvSpPr>
                <a:spLocks noChangeArrowheads="1"/>
              </p:cNvSpPr>
              <p:nvPr/>
            </p:nvSpPr>
            <p:spPr bwMode="auto">
              <a:xfrm>
                <a:off x="876" y="808"/>
                <a:ext cx="302" cy="746"/>
              </a:xfrm>
              <a:custGeom>
                <a:avLst/>
                <a:gdLst>
                  <a:gd name="T0" fmla="*/ 0 w 274"/>
                  <a:gd name="T1" fmla="*/ 0 h 677"/>
                  <a:gd name="T2" fmla="*/ 3 w 274"/>
                  <a:gd name="T3" fmla="*/ 275 h 677"/>
                  <a:gd name="T4" fmla="*/ 71 w 274"/>
                  <a:gd name="T5" fmla="*/ 340 h 677"/>
                  <a:gd name="T6" fmla="*/ 3 w 274"/>
                  <a:gd name="T7" fmla="*/ 405 h 677"/>
                  <a:gd name="T8" fmla="*/ 3 w 274"/>
                  <a:gd name="T9" fmla="*/ 677 h 677"/>
                  <a:gd name="T10" fmla="*/ 274 w 274"/>
                  <a:gd name="T11" fmla="*/ 471 h 677"/>
                  <a:gd name="T12" fmla="*/ 274 w 274"/>
                  <a:gd name="T13" fmla="*/ 210 h 677"/>
                  <a:gd name="T14" fmla="*/ 3 w 274"/>
                  <a:gd name="T15" fmla="*/ 3 h 677"/>
                  <a:gd name="T16" fmla="*/ 3 w 274"/>
                  <a:gd name="T17" fmla="*/ 3 h 67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74"/>
                  <a:gd name="T28" fmla="*/ 0 h 677"/>
                  <a:gd name="T29" fmla="*/ 274 w 274"/>
                  <a:gd name="T30" fmla="*/ 677 h 67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74" h="677">
                    <a:moveTo>
                      <a:pt x="0" y="0"/>
                    </a:moveTo>
                    <a:lnTo>
                      <a:pt x="3" y="275"/>
                    </a:lnTo>
                    <a:lnTo>
                      <a:pt x="71" y="340"/>
                    </a:lnTo>
                    <a:lnTo>
                      <a:pt x="3" y="405"/>
                    </a:lnTo>
                    <a:lnTo>
                      <a:pt x="3" y="677"/>
                    </a:lnTo>
                    <a:lnTo>
                      <a:pt x="274" y="471"/>
                    </a:lnTo>
                    <a:lnTo>
                      <a:pt x="274" y="210"/>
                    </a:lnTo>
                    <a:lnTo>
                      <a:pt x="3" y="3"/>
                    </a:lnTo>
                  </a:path>
                </a:pathLst>
              </a:custGeom>
              <a:noFill/>
              <a:ln w="1764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02" name="Rectangle 66"/>
              <p:cNvSpPr>
                <a:spLocks noChangeArrowheads="1"/>
              </p:cNvSpPr>
              <p:nvPr/>
            </p:nvSpPr>
            <p:spPr bwMode="auto">
              <a:xfrm>
                <a:off x="975" y="1114"/>
                <a:ext cx="59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2103" name="Rectangle 67"/>
              <p:cNvSpPr>
                <a:spLocks noChangeArrowheads="1"/>
              </p:cNvSpPr>
              <p:nvPr/>
            </p:nvSpPr>
            <p:spPr bwMode="auto">
              <a:xfrm>
                <a:off x="1040" y="1114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2104" name="Rectangle 68"/>
              <p:cNvSpPr>
                <a:spLocks noChangeArrowheads="1"/>
              </p:cNvSpPr>
              <p:nvPr/>
            </p:nvSpPr>
            <p:spPr bwMode="auto">
              <a:xfrm>
                <a:off x="1094" y="1114"/>
                <a:ext cx="50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11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2105" name="Freeform 69"/>
              <p:cNvSpPr>
                <a:spLocks noChangeArrowheads="1"/>
              </p:cNvSpPr>
              <p:nvPr/>
            </p:nvSpPr>
            <p:spPr bwMode="auto">
              <a:xfrm>
                <a:off x="817" y="961"/>
                <a:ext cx="17" cy="1"/>
              </a:xfrm>
              <a:custGeom>
                <a:avLst/>
                <a:gdLst>
                  <a:gd name="T0" fmla="*/ 16 w 16"/>
                  <a:gd name="T1" fmla="*/ 0 h 1"/>
                  <a:gd name="T2" fmla="*/ 0 w 16"/>
                  <a:gd name="T3" fmla="*/ 0 h 1"/>
                  <a:gd name="T4" fmla="*/ 16 w 1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6"/>
                  <a:gd name="T10" fmla="*/ 0 h 1"/>
                  <a:gd name="T11" fmla="*/ 16 w 1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" h="1">
                    <a:moveTo>
                      <a:pt x="16" y="0"/>
                    </a:moveTo>
                    <a:lnTo>
                      <a:pt x="0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06" name="Freeform 70"/>
              <p:cNvSpPr>
                <a:spLocks noChangeArrowheads="1"/>
              </p:cNvSpPr>
              <p:nvPr/>
            </p:nvSpPr>
            <p:spPr bwMode="auto">
              <a:xfrm>
                <a:off x="817" y="1401"/>
                <a:ext cx="17" cy="1"/>
              </a:xfrm>
              <a:custGeom>
                <a:avLst/>
                <a:gdLst>
                  <a:gd name="T0" fmla="*/ 16 w 16"/>
                  <a:gd name="T1" fmla="*/ 0 h 1"/>
                  <a:gd name="T2" fmla="*/ 0 w 16"/>
                  <a:gd name="T3" fmla="*/ 0 h 1"/>
                  <a:gd name="T4" fmla="*/ 16 w 1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6"/>
                  <a:gd name="T10" fmla="*/ 0 h 1"/>
                  <a:gd name="T11" fmla="*/ 16 w 1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" h="1">
                    <a:moveTo>
                      <a:pt x="16" y="0"/>
                    </a:moveTo>
                    <a:lnTo>
                      <a:pt x="0" y="0"/>
                    </a:lnTo>
                    <a:lnTo>
                      <a:pt x="16" y="0"/>
                    </a:lnTo>
                    <a:close/>
                  </a:path>
                </a:pathLst>
              </a:custGeom>
              <a:solidFill>
                <a:srgbClr val="000000"/>
              </a:solidFill>
              <a:ln w="936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07" name="Freeform 71"/>
              <p:cNvSpPr>
                <a:spLocks/>
              </p:cNvSpPr>
              <p:nvPr/>
            </p:nvSpPr>
            <p:spPr bwMode="auto">
              <a:xfrm>
                <a:off x="190" y="656"/>
                <a:ext cx="4512" cy="1776"/>
              </a:xfrm>
              <a:custGeom>
                <a:avLst/>
                <a:gdLst>
                  <a:gd name="T0" fmla="*/ 4416 w 4512"/>
                  <a:gd name="T1" fmla="*/ 528 h 1776"/>
                  <a:gd name="T2" fmla="*/ 4512 w 4512"/>
                  <a:gd name="T3" fmla="*/ 528 h 1776"/>
                  <a:gd name="T4" fmla="*/ 4512 w 4512"/>
                  <a:gd name="T5" fmla="*/ 0 h 1776"/>
                  <a:gd name="T6" fmla="*/ 0 w 4512"/>
                  <a:gd name="T7" fmla="*/ 0 h 1776"/>
                  <a:gd name="T8" fmla="*/ 0 w 4512"/>
                  <a:gd name="T9" fmla="*/ 1776 h 1776"/>
                  <a:gd name="T10" fmla="*/ 96 w 4512"/>
                  <a:gd name="T11" fmla="*/ 1776 h 177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512"/>
                  <a:gd name="T19" fmla="*/ 0 h 1776"/>
                  <a:gd name="T20" fmla="*/ 4512 w 4512"/>
                  <a:gd name="T21" fmla="*/ 1776 h 177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512" h="1776">
                    <a:moveTo>
                      <a:pt x="4416" y="528"/>
                    </a:moveTo>
                    <a:lnTo>
                      <a:pt x="4512" y="528"/>
                    </a:lnTo>
                    <a:lnTo>
                      <a:pt x="4512" y="0"/>
                    </a:lnTo>
                    <a:lnTo>
                      <a:pt x="0" y="0"/>
                    </a:lnTo>
                    <a:lnTo>
                      <a:pt x="0" y="1776"/>
                    </a:lnTo>
                    <a:lnTo>
                      <a:pt x="96" y="1776"/>
                    </a:lnTo>
                  </a:path>
                </a:pathLst>
              </a:custGeom>
              <a:noFill/>
              <a:ln w="3816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08" name="Freeform 72"/>
              <p:cNvSpPr>
                <a:spLocks/>
              </p:cNvSpPr>
              <p:nvPr/>
            </p:nvSpPr>
            <p:spPr bwMode="auto">
              <a:xfrm>
                <a:off x="478" y="952"/>
                <a:ext cx="397" cy="1488"/>
              </a:xfrm>
              <a:custGeom>
                <a:avLst/>
                <a:gdLst>
                  <a:gd name="T0" fmla="*/ 0 w 384"/>
                  <a:gd name="T1" fmla="*/ 1488 h 1488"/>
                  <a:gd name="T2" fmla="*/ 0 w 384"/>
                  <a:gd name="T3" fmla="*/ 0 h 1488"/>
                  <a:gd name="T4" fmla="*/ 384 w 384"/>
                  <a:gd name="T5" fmla="*/ 0 h 1488"/>
                  <a:gd name="T6" fmla="*/ 0 60000 65536"/>
                  <a:gd name="T7" fmla="*/ 0 60000 65536"/>
                  <a:gd name="T8" fmla="*/ 0 60000 65536"/>
                  <a:gd name="T9" fmla="*/ 0 w 384"/>
                  <a:gd name="T10" fmla="*/ 0 h 1488"/>
                  <a:gd name="T11" fmla="*/ 384 w 384"/>
                  <a:gd name="T12" fmla="*/ 1488 h 14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4" h="1488">
                    <a:moveTo>
                      <a:pt x="0" y="1488"/>
                    </a:moveTo>
                    <a:lnTo>
                      <a:pt x="0" y="0"/>
                    </a:lnTo>
                    <a:lnTo>
                      <a:pt x="384" y="0"/>
                    </a:lnTo>
                  </a:path>
                </a:pathLst>
              </a:custGeom>
              <a:noFill/>
              <a:ln w="3816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109" name="Line 73"/>
              <p:cNvSpPr>
                <a:spLocks noChangeShapeType="1"/>
              </p:cNvSpPr>
              <p:nvPr/>
            </p:nvSpPr>
            <p:spPr bwMode="auto">
              <a:xfrm>
                <a:off x="690" y="1384"/>
                <a:ext cx="192" cy="1"/>
              </a:xfrm>
              <a:prstGeom prst="line">
                <a:avLst/>
              </a:prstGeom>
              <a:noFill/>
              <a:ln w="38160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2046" name="Freeform 74"/>
            <p:cNvSpPr>
              <a:spLocks noChangeArrowheads="1"/>
            </p:cNvSpPr>
            <p:nvPr/>
          </p:nvSpPr>
          <p:spPr bwMode="auto">
            <a:xfrm>
              <a:off x="223" y="2434"/>
              <a:ext cx="18" cy="1"/>
            </a:xfrm>
            <a:custGeom>
              <a:avLst/>
              <a:gdLst>
                <a:gd name="T0" fmla="*/ 16 w 16"/>
                <a:gd name="T1" fmla="*/ 0 h 1"/>
                <a:gd name="T2" fmla="*/ 0 w 16"/>
                <a:gd name="T3" fmla="*/ 0 h 1"/>
                <a:gd name="T4" fmla="*/ 16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688" name="Freeform 76"/>
          <p:cNvSpPr>
            <a:spLocks noChangeArrowheads="1"/>
          </p:cNvSpPr>
          <p:nvPr/>
        </p:nvSpPr>
        <p:spPr bwMode="auto">
          <a:xfrm>
            <a:off x="5645151" y="4985915"/>
            <a:ext cx="544513" cy="768350"/>
          </a:xfrm>
          <a:custGeom>
            <a:avLst/>
            <a:gdLst>
              <a:gd name="T0" fmla="*/ 0 w 370"/>
              <a:gd name="T1" fmla="*/ 438 h 440"/>
              <a:gd name="T2" fmla="*/ 250 w 370"/>
              <a:gd name="T3" fmla="*/ 440 h 440"/>
              <a:gd name="T4" fmla="*/ 250 w 370"/>
              <a:gd name="T5" fmla="*/ 0 h 440"/>
              <a:gd name="T6" fmla="*/ 253 w 370"/>
              <a:gd name="T7" fmla="*/ 0 h 440"/>
              <a:gd name="T8" fmla="*/ 264 w 370"/>
              <a:gd name="T9" fmla="*/ 0 h 440"/>
              <a:gd name="T10" fmla="*/ 277 w 370"/>
              <a:gd name="T11" fmla="*/ 0 h 440"/>
              <a:gd name="T12" fmla="*/ 294 w 370"/>
              <a:gd name="T13" fmla="*/ 0 h 440"/>
              <a:gd name="T14" fmla="*/ 310 w 370"/>
              <a:gd name="T15" fmla="*/ 0 h 440"/>
              <a:gd name="T16" fmla="*/ 329 w 370"/>
              <a:gd name="T17" fmla="*/ 0 h 440"/>
              <a:gd name="T18" fmla="*/ 345 w 370"/>
              <a:gd name="T19" fmla="*/ 0 h 440"/>
              <a:gd name="T20" fmla="*/ 356 w 370"/>
              <a:gd name="T21" fmla="*/ 0 h 440"/>
              <a:gd name="T22" fmla="*/ 367 w 370"/>
              <a:gd name="T23" fmla="*/ 0 h 440"/>
              <a:gd name="T24" fmla="*/ 370 w 370"/>
              <a:gd name="T25" fmla="*/ 0 h 44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370"/>
              <a:gd name="T40" fmla="*/ 0 h 440"/>
              <a:gd name="T41" fmla="*/ 370 w 370"/>
              <a:gd name="T42" fmla="*/ 440 h 440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370" h="440">
                <a:moveTo>
                  <a:pt x="0" y="438"/>
                </a:moveTo>
                <a:lnTo>
                  <a:pt x="250" y="440"/>
                </a:lnTo>
                <a:lnTo>
                  <a:pt x="250" y="0"/>
                </a:lnTo>
                <a:lnTo>
                  <a:pt x="253" y="0"/>
                </a:lnTo>
                <a:lnTo>
                  <a:pt x="264" y="0"/>
                </a:lnTo>
                <a:lnTo>
                  <a:pt x="277" y="0"/>
                </a:lnTo>
                <a:lnTo>
                  <a:pt x="294" y="0"/>
                </a:lnTo>
                <a:lnTo>
                  <a:pt x="310" y="0"/>
                </a:lnTo>
                <a:lnTo>
                  <a:pt x="329" y="0"/>
                </a:lnTo>
                <a:lnTo>
                  <a:pt x="345" y="0"/>
                </a:lnTo>
                <a:lnTo>
                  <a:pt x="356" y="0"/>
                </a:lnTo>
                <a:lnTo>
                  <a:pt x="367" y="0"/>
                </a:lnTo>
                <a:lnTo>
                  <a:pt x="370" y="0"/>
                </a:lnTo>
              </a:path>
            </a:pathLst>
          </a:custGeom>
          <a:noFill/>
          <a:ln w="3492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89" name="Line 77"/>
          <p:cNvSpPr>
            <a:spLocks noChangeShapeType="1"/>
          </p:cNvSpPr>
          <p:nvPr/>
        </p:nvSpPr>
        <p:spPr bwMode="auto">
          <a:xfrm flipH="1">
            <a:off x="4037013" y="4487440"/>
            <a:ext cx="309562" cy="1588"/>
          </a:xfrm>
          <a:prstGeom prst="line">
            <a:avLst/>
          </a:prstGeom>
          <a:noFill/>
          <a:ln w="3492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0" name="Line 78"/>
          <p:cNvSpPr>
            <a:spLocks noChangeShapeType="1"/>
          </p:cNvSpPr>
          <p:nvPr/>
        </p:nvSpPr>
        <p:spPr bwMode="auto">
          <a:xfrm flipV="1">
            <a:off x="9991725" y="4135015"/>
            <a:ext cx="1588" cy="223838"/>
          </a:xfrm>
          <a:prstGeom prst="line">
            <a:avLst/>
          </a:prstGeom>
          <a:noFill/>
          <a:ln w="17640">
            <a:solidFill>
              <a:srgbClr val="EB75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1" name="Line 79"/>
          <p:cNvSpPr>
            <a:spLocks noChangeShapeType="1"/>
          </p:cNvSpPr>
          <p:nvPr/>
        </p:nvSpPr>
        <p:spPr bwMode="auto">
          <a:xfrm>
            <a:off x="8899525" y="3536528"/>
            <a:ext cx="1588" cy="361950"/>
          </a:xfrm>
          <a:prstGeom prst="line">
            <a:avLst/>
          </a:prstGeom>
          <a:noFill/>
          <a:ln w="17640">
            <a:solidFill>
              <a:srgbClr val="EB75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2" name="Line 80"/>
          <p:cNvSpPr>
            <a:spLocks noChangeShapeType="1"/>
          </p:cNvSpPr>
          <p:nvPr/>
        </p:nvSpPr>
        <p:spPr bwMode="auto">
          <a:xfrm flipV="1">
            <a:off x="8956675" y="5478041"/>
            <a:ext cx="1588" cy="339725"/>
          </a:xfrm>
          <a:prstGeom prst="line">
            <a:avLst/>
          </a:prstGeom>
          <a:noFill/>
          <a:ln w="17640">
            <a:solidFill>
              <a:srgbClr val="EB75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3" name="Line 81"/>
          <p:cNvSpPr>
            <a:spLocks noChangeShapeType="1"/>
          </p:cNvSpPr>
          <p:nvPr/>
        </p:nvSpPr>
        <p:spPr bwMode="auto">
          <a:xfrm flipV="1">
            <a:off x="6715125" y="4128666"/>
            <a:ext cx="1588" cy="227013"/>
          </a:xfrm>
          <a:prstGeom prst="line">
            <a:avLst/>
          </a:prstGeom>
          <a:noFill/>
          <a:ln w="17640">
            <a:solidFill>
              <a:srgbClr val="EB75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4" name="Line 82"/>
          <p:cNvSpPr>
            <a:spLocks noChangeShapeType="1"/>
          </p:cNvSpPr>
          <p:nvPr/>
        </p:nvSpPr>
        <p:spPr bwMode="auto">
          <a:xfrm flipV="1">
            <a:off x="7413625" y="3573041"/>
            <a:ext cx="1588" cy="360363"/>
          </a:xfrm>
          <a:prstGeom prst="line">
            <a:avLst/>
          </a:prstGeom>
          <a:noFill/>
          <a:ln w="25560">
            <a:solidFill>
              <a:srgbClr val="F3AA61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5" name="Line 83"/>
          <p:cNvSpPr>
            <a:spLocks noChangeShapeType="1"/>
          </p:cNvSpPr>
          <p:nvPr/>
        </p:nvSpPr>
        <p:spPr bwMode="auto">
          <a:xfrm flipV="1">
            <a:off x="5195888" y="5116091"/>
            <a:ext cx="4762" cy="188913"/>
          </a:xfrm>
          <a:prstGeom prst="line">
            <a:avLst/>
          </a:prstGeom>
          <a:noFill/>
          <a:ln w="17640">
            <a:solidFill>
              <a:srgbClr val="EB75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6" name="Line 84"/>
          <p:cNvSpPr>
            <a:spLocks noChangeShapeType="1"/>
          </p:cNvSpPr>
          <p:nvPr/>
        </p:nvSpPr>
        <p:spPr bwMode="auto">
          <a:xfrm flipH="1">
            <a:off x="5905501" y="4017541"/>
            <a:ext cx="1139825" cy="3175"/>
          </a:xfrm>
          <a:prstGeom prst="line">
            <a:avLst/>
          </a:prstGeom>
          <a:noFill/>
          <a:ln w="3492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7" name="Line 85"/>
          <p:cNvSpPr>
            <a:spLocks noChangeShapeType="1"/>
          </p:cNvSpPr>
          <p:nvPr/>
        </p:nvSpPr>
        <p:spPr bwMode="auto">
          <a:xfrm flipH="1">
            <a:off x="5905501" y="4457278"/>
            <a:ext cx="663575" cy="4762"/>
          </a:xfrm>
          <a:prstGeom prst="line">
            <a:avLst/>
          </a:prstGeom>
          <a:noFill/>
          <a:ln w="3492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698" name="Freeform 86"/>
          <p:cNvSpPr>
            <a:spLocks noChangeArrowheads="1"/>
          </p:cNvSpPr>
          <p:nvPr/>
        </p:nvSpPr>
        <p:spPr bwMode="auto">
          <a:xfrm>
            <a:off x="1971675" y="3627016"/>
            <a:ext cx="242888" cy="612775"/>
          </a:xfrm>
          <a:custGeom>
            <a:avLst/>
            <a:gdLst>
              <a:gd name="T0" fmla="*/ 139 w 139"/>
              <a:gd name="T1" fmla="*/ 350 h 350"/>
              <a:gd name="T2" fmla="*/ 139 w 139"/>
              <a:gd name="T3" fmla="*/ 0 h 350"/>
              <a:gd name="T4" fmla="*/ 0 w 139"/>
              <a:gd name="T5" fmla="*/ 0 h 350"/>
              <a:gd name="T6" fmla="*/ 0 w 139"/>
              <a:gd name="T7" fmla="*/ 350 h 350"/>
              <a:gd name="T8" fmla="*/ 139 w 139"/>
              <a:gd name="T9" fmla="*/ 350 h 350"/>
              <a:gd name="T10" fmla="*/ 139 w 139"/>
              <a:gd name="T11" fmla="*/ 350 h 35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9"/>
              <a:gd name="T19" fmla="*/ 0 h 350"/>
              <a:gd name="T20" fmla="*/ 139 w 139"/>
              <a:gd name="T21" fmla="*/ 350 h 3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9" h="350">
                <a:moveTo>
                  <a:pt x="139" y="350"/>
                </a:moveTo>
                <a:lnTo>
                  <a:pt x="139" y="0"/>
                </a:lnTo>
                <a:lnTo>
                  <a:pt x="0" y="0"/>
                </a:lnTo>
                <a:lnTo>
                  <a:pt x="0" y="350"/>
                </a:lnTo>
                <a:lnTo>
                  <a:pt x="139" y="35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699" name="Freeform 87"/>
          <p:cNvSpPr>
            <a:spLocks noChangeArrowheads="1"/>
          </p:cNvSpPr>
          <p:nvPr/>
        </p:nvSpPr>
        <p:spPr bwMode="auto">
          <a:xfrm>
            <a:off x="1971675" y="3627016"/>
            <a:ext cx="242888" cy="612775"/>
          </a:xfrm>
          <a:custGeom>
            <a:avLst/>
            <a:gdLst>
              <a:gd name="T0" fmla="*/ 139 w 139"/>
              <a:gd name="T1" fmla="*/ 350 h 350"/>
              <a:gd name="T2" fmla="*/ 139 w 139"/>
              <a:gd name="T3" fmla="*/ 0 h 350"/>
              <a:gd name="T4" fmla="*/ 0 w 139"/>
              <a:gd name="T5" fmla="*/ 0 h 350"/>
              <a:gd name="T6" fmla="*/ 0 w 139"/>
              <a:gd name="T7" fmla="*/ 350 h 350"/>
              <a:gd name="T8" fmla="*/ 139 w 139"/>
              <a:gd name="T9" fmla="*/ 350 h 350"/>
              <a:gd name="T10" fmla="*/ 139 w 139"/>
              <a:gd name="T11" fmla="*/ 350 h 35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39"/>
              <a:gd name="T19" fmla="*/ 0 h 350"/>
              <a:gd name="T20" fmla="*/ 139 w 139"/>
              <a:gd name="T21" fmla="*/ 350 h 3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39" h="350">
                <a:moveTo>
                  <a:pt x="139" y="350"/>
                </a:moveTo>
                <a:lnTo>
                  <a:pt x="139" y="0"/>
                </a:lnTo>
                <a:lnTo>
                  <a:pt x="0" y="0"/>
                </a:lnTo>
                <a:lnTo>
                  <a:pt x="0" y="350"/>
                </a:lnTo>
                <a:lnTo>
                  <a:pt x="139" y="350"/>
                </a:lnTo>
              </a:path>
            </a:pathLst>
          </a:custGeom>
          <a:noFill/>
          <a:ln w="1764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00" name="Rectangle 88"/>
          <p:cNvSpPr>
            <a:spLocks noChangeArrowheads="1"/>
          </p:cNvSpPr>
          <p:nvPr/>
        </p:nvSpPr>
        <p:spPr bwMode="auto">
          <a:xfrm>
            <a:off x="2000251" y="3823866"/>
            <a:ext cx="936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P</a:t>
            </a:r>
          </a:p>
        </p:txBody>
      </p:sp>
      <p:sp>
        <p:nvSpPr>
          <p:cNvPr id="71701" name="Rectangle 89"/>
          <p:cNvSpPr>
            <a:spLocks noChangeArrowheads="1"/>
          </p:cNvSpPr>
          <p:nvPr/>
        </p:nvSpPr>
        <p:spPr bwMode="auto">
          <a:xfrm>
            <a:off x="2105025" y="3823866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71702" name="Freeform 90"/>
          <p:cNvSpPr>
            <a:spLocks noChangeArrowheads="1"/>
          </p:cNvSpPr>
          <p:nvPr/>
        </p:nvSpPr>
        <p:spPr bwMode="auto">
          <a:xfrm>
            <a:off x="2446338" y="3503191"/>
            <a:ext cx="1001712" cy="1558925"/>
          </a:xfrm>
          <a:custGeom>
            <a:avLst/>
            <a:gdLst>
              <a:gd name="T0" fmla="*/ 573 w 573"/>
              <a:gd name="T1" fmla="*/ 889 h 892"/>
              <a:gd name="T2" fmla="*/ 573 w 573"/>
              <a:gd name="T3" fmla="*/ 0 h 892"/>
              <a:gd name="T4" fmla="*/ 0 w 573"/>
              <a:gd name="T5" fmla="*/ 0 h 892"/>
              <a:gd name="T6" fmla="*/ 0 w 573"/>
              <a:gd name="T7" fmla="*/ 892 h 892"/>
              <a:gd name="T8" fmla="*/ 573 w 573"/>
              <a:gd name="T9" fmla="*/ 892 h 892"/>
              <a:gd name="T10" fmla="*/ 573 w 573"/>
              <a:gd name="T11" fmla="*/ 892 h 892"/>
              <a:gd name="T12" fmla="*/ 573 w 573"/>
              <a:gd name="T13" fmla="*/ 889 h 89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573"/>
              <a:gd name="T22" fmla="*/ 0 h 892"/>
              <a:gd name="T23" fmla="*/ 573 w 573"/>
              <a:gd name="T24" fmla="*/ 892 h 892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573" h="892">
                <a:moveTo>
                  <a:pt x="573" y="889"/>
                </a:moveTo>
                <a:lnTo>
                  <a:pt x="573" y="0"/>
                </a:lnTo>
                <a:lnTo>
                  <a:pt x="0" y="0"/>
                </a:lnTo>
                <a:lnTo>
                  <a:pt x="0" y="892"/>
                </a:lnTo>
                <a:lnTo>
                  <a:pt x="573" y="892"/>
                </a:lnTo>
                <a:lnTo>
                  <a:pt x="573" y="88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03" name="Freeform 91"/>
          <p:cNvSpPr>
            <a:spLocks noChangeArrowheads="1"/>
          </p:cNvSpPr>
          <p:nvPr/>
        </p:nvSpPr>
        <p:spPr bwMode="auto">
          <a:xfrm>
            <a:off x="2446338" y="3503191"/>
            <a:ext cx="1001712" cy="1558925"/>
          </a:xfrm>
          <a:custGeom>
            <a:avLst/>
            <a:gdLst>
              <a:gd name="T0" fmla="*/ 573 w 573"/>
              <a:gd name="T1" fmla="*/ 889 h 892"/>
              <a:gd name="T2" fmla="*/ 573 w 573"/>
              <a:gd name="T3" fmla="*/ 0 h 892"/>
              <a:gd name="T4" fmla="*/ 0 w 573"/>
              <a:gd name="T5" fmla="*/ 0 h 892"/>
              <a:gd name="T6" fmla="*/ 0 w 573"/>
              <a:gd name="T7" fmla="*/ 892 h 892"/>
              <a:gd name="T8" fmla="*/ 573 w 573"/>
              <a:gd name="T9" fmla="*/ 892 h 892"/>
              <a:gd name="T10" fmla="*/ 573 w 573"/>
              <a:gd name="T11" fmla="*/ 892 h 89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573"/>
              <a:gd name="T19" fmla="*/ 0 h 892"/>
              <a:gd name="T20" fmla="*/ 573 w 573"/>
              <a:gd name="T21" fmla="*/ 892 h 892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573" h="892">
                <a:moveTo>
                  <a:pt x="573" y="889"/>
                </a:moveTo>
                <a:lnTo>
                  <a:pt x="573" y="0"/>
                </a:lnTo>
                <a:lnTo>
                  <a:pt x="0" y="0"/>
                </a:lnTo>
                <a:lnTo>
                  <a:pt x="0" y="892"/>
                </a:lnTo>
                <a:lnTo>
                  <a:pt x="573" y="892"/>
                </a:lnTo>
              </a:path>
            </a:pathLst>
          </a:custGeom>
          <a:noFill/>
          <a:ln w="1764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04" name="Rectangle 92"/>
          <p:cNvSpPr>
            <a:spLocks noChangeArrowheads="1"/>
          </p:cNvSpPr>
          <p:nvPr/>
        </p:nvSpPr>
        <p:spPr bwMode="auto">
          <a:xfrm>
            <a:off x="2600325" y="4671591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71705" name="Rectangle 93"/>
          <p:cNvSpPr>
            <a:spLocks noChangeArrowheads="1"/>
          </p:cNvSpPr>
          <p:nvPr/>
        </p:nvSpPr>
        <p:spPr bwMode="auto">
          <a:xfrm>
            <a:off x="2649539" y="467159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71706" name="Rectangle 94"/>
          <p:cNvSpPr>
            <a:spLocks noChangeArrowheads="1"/>
          </p:cNvSpPr>
          <p:nvPr/>
        </p:nvSpPr>
        <p:spPr bwMode="auto">
          <a:xfrm>
            <a:off x="2735264" y="4671591"/>
            <a:ext cx="7143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71707" name="Rectangle 95"/>
          <p:cNvSpPr>
            <a:spLocks noChangeArrowheads="1"/>
          </p:cNvSpPr>
          <p:nvPr/>
        </p:nvSpPr>
        <p:spPr bwMode="auto">
          <a:xfrm>
            <a:off x="2816225" y="4671591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708" name="Rectangle 96"/>
          <p:cNvSpPr>
            <a:spLocks noChangeArrowheads="1"/>
          </p:cNvSpPr>
          <p:nvPr/>
        </p:nvSpPr>
        <p:spPr bwMode="auto">
          <a:xfrm>
            <a:off x="2857501" y="4671591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709" name="Rectangle 97"/>
          <p:cNvSpPr>
            <a:spLocks noChangeArrowheads="1"/>
          </p:cNvSpPr>
          <p:nvPr/>
        </p:nvSpPr>
        <p:spPr bwMode="auto">
          <a:xfrm>
            <a:off x="2911476" y="467159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71710" name="Rectangle 98"/>
          <p:cNvSpPr>
            <a:spLocks noChangeArrowheads="1"/>
          </p:cNvSpPr>
          <p:nvPr/>
        </p:nvSpPr>
        <p:spPr bwMode="auto">
          <a:xfrm>
            <a:off x="3001964" y="4671591"/>
            <a:ext cx="7143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71711" name="Rectangle 99"/>
          <p:cNvSpPr>
            <a:spLocks noChangeArrowheads="1"/>
          </p:cNvSpPr>
          <p:nvPr/>
        </p:nvSpPr>
        <p:spPr bwMode="auto">
          <a:xfrm>
            <a:off x="3076575" y="4671591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712" name="Rectangle 100"/>
          <p:cNvSpPr>
            <a:spLocks noChangeArrowheads="1"/>
          </p:cNvSpPr>
          <p:nvPr/>
        </p:nvSpPr>
        <p:spPr bwMode="auto">
          <a:xfrm>
            <a:off x="3125788" y="4671591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71713" name="Rectangle 101"/>
          <p:cNvSpPr>
            <a:spLocks noChangeArrowheads="1"/>
          </p:cNvSpPr>
          <p:nvPr/>
        </p:nvSpPr>
        <p:spPr bwMode="auto">
          <a:xfrm>
            <a:off x="3157539" y="467159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71714" name="Rectangle 102"/>
          <p:cNvSpPr>
            <a:spLocks noChangeArrowheads="1"/>
          </p:cNvSpPr>
          <p:nvPr/>
        </p:nvSpPr>
        <p:spPr bwMode="auto">
          <a:xfrm>
            <a:off x="3249614" y="467159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71715" name="Rectangle 103"/>
          <p:cNvSpPr>
            <a:spLocks noChangeArrowheads="1"/>
          </p:cNvSpPr>
          <p:nvPr/>
        </p:nvSpPr>
        <p:spPr bwMode="auto">
          <a:xfrm>
            <a:off x="3335339" y="4671590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16" name="Rectangle 104"/>
          <p:cNvSpPr>
            <a:spLocks noChangeArrowheads="1"/>
          </p:cNvSpPr>
          <p:nvPr/>
        </p:nvSpPr>
        <p:spPr bwMode="auto">
          <a:xfrm>
            <a:off x="2705100" y="4852566"/>
            <a:ext cx="11588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71717" name="Rectangle 105"/>
          <p:cNvSpPr>
            <a:spLocks noChangeArrowheads="1"/>
          </p:cNvSpPr>
          <p:nvPr/>
        </p:nvSpPr>
        <p:spPr bwMode="auto">
          <a:xfrm>
            <a:off x="2840039" y="485256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718" name="Rectangle 106"/>
          <p:cNvSpPr>
            <a:spLocks noChangeArrowheads="1"/>
          </p:cNvSpPr>
          <p:nvPr/>
        </p:nvSpPr>
        <p:spPr bwMode="auto">
          <a:xfrm>
            <a:off x="2928938" y="4852566"/>
            <a:ext cx="11702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71719" name="Rectangle 107"/>
          <p:cNvSpPr>
            <a:spLocks noChangeArrowheads="1"/>
          </p:cNvSpPr>
          <p:nvPr/>
        </p:nvSpPr>
        <p:spPr bwMode="auto">
          <a:xfrm>
            <a:off x="3059114" y="485256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71720" name="Rectangle 108"/>
          <p:cNvSpPr>
            <a:spLocks noChangeArrowheads="1"/>
          </p:cNvSpPr>
          <p:nvPr/>
        </p:nvSpPr>
        <p:spPr bwMode="auto">
          <a:xfrm>
            <a:off x="3148014" y="4852566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721" name="Rectangle 109"/>
          <p:cNvSpPr>
            <a:spLocks noChangeArrowheads="1"/>
          </p:cNvSpPr>
          <p:nvPr/>
        </p:nvSpPr>
        <p:spPr bwMode="auto">
          <a:xfrm>
            <a:off x="3201988" y="4852566"/>
            <a:ext cx="698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y</a:t>
            </a:r>
          </a:p>
        </p:txBody>
      </p:sp>
      <p:sp>
        <p:nvSpPr>
          <p:cNvPr id="71722" name="Rectangle 110"/>
          <p:cNvSpPr>
            <a:spLocks noChangeArrowheads="1"/>
          </p:cNvSpPr>
          <p:nvPr/>
        </p:nvSpPr>
        <p:spPr bwMode="auto">
          <a:xfrm>
            <a:off x="2493963" y="3765129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723" name="Rectangle 111"/>
          <p:cNvSpPr>
            <a:spLocks noChangeArrowheads="1"/>
          </p:cNvSpPr>
          <p:nvPr/>
        </p:nvSpPr>
        <p:spPr bwMode="auto">
          <a:xfrm>
            <a:off x="2608264" y="376512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724" name="Rectangle 112"/>
          <p:cNvSpPr>
            <a:spLocks noChangeArrowheads="1"/>
          </p:cNvSpPr>
          <p:nvPr/>
        </p:nvSpPr>
        <p:spPr bwMode="auto">
          <a:xfrm>
            <a:off x="2698751" y="376512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725" name="Rectangle 113"/>
          <p:cNvSpPr>
            <a:spLocks noChangeArrowheads="1"/>
          </p:cNvSpPr>
          <p:nvPr/>
        </p:nvSpPr>
        <p:spPr bwMode="auto">
          <a:xfrm>
            <a:off x="2784476" y="376512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726" name="Rectangle 114"/>
          <p:cNvSpPr>
            <a:spLocks noChangeArrowheads="1"/>
          </p:cNvSpPr>
          <p:nvPr/>
        </p:nvSpPr>
        <p:spPr bwMode="auto">
          <a:xfrm>
            <a:off x="2873375" y="3765128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27" name="Rectangle 115"/>
          <p:cNvSpPr>
            <a:spLocks noChangeArrowheads="1"/>
          </p:cNvSpPr>
          <p:nvPr/>
        </p:nvSpPr>
        <p:spPr bwMode="auto">
          <a:xfrm>
            <a:off x="2493964" y="39397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728" name="Rectangle 116"/>
          <p:cNvSpPr>
            <a:spLocks noChangeArrowheads="1"/>
          </p:cNvSpPr>
          <p:nvPr/>
        </p:nvSpPr>
        <p:spPr bwMode="auto">
          <a:xfrm>
            <a:off x="2582864" y="39397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729" name="Rectangle 117"/>
          <p:cNvSpPr>
            <a:spLocks noChangeArrowheads="1"/>
          </p:cNvSpPr>
          <p:nvPr/>
        </p:nvSpPr>
        <p:spPr bwMode="auto">
          <a:xfrm>
            <a:off x="2668589" y="39397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730" name="Rectangle 118"/>
          <p:cNvSpPr>
            <a:spLocks noChangeArrowheads="1"/>
          </p:cNvSpPr>
          <p:nvPr/>
        </p:nvSpPr>
        <p:spPr bwMode="auto">
          <a:xfrm>
            <a:off x="2759076" y="3939754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731" name="Rectangle 119"/>
          <p:cNvSpPr>
            <a:spLocks noChangeArrowheads="1"/>
          </p:cNvSpPr>
          <p:nvPr/>
        </p:nvSpPr>
        <p:spPr bwMode="auto">
          <a:xfrm>
            <a:off x="2813051" y="39397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732" name="Rectangle 120"/>
          <p:cNvSpPr>
            <a:spLocks noChangeArrowheads="1"/>
          </p:cNvSpPr>
          <p:nvPr/>
        </p:nvSpPr>
        <p:spPr bwMode="auto">
          <a:xfrm>
            <a:off x="2897189" y="3939754"/>
            <a:ext cx="7143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71733" name="Rectangle 121"/>
          <p:cNvSpPr>
            <a:spLocks noChangeArrowheads="1"/>
          </p:cNvSpPr>
          <p:nvPr/>
        </p:nvSpPr>
        <p:spPr bwMode="auto">
          <a:xfrm>
            <a:off x="2978150" y="3939754"/>
            <a:ext cx="7143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71734" name="Rectangle 122"/>
          <p:cNvSpPr>
            <a:spLocks noChangeArrowheads="1"/>
          </p:cNvSpPr>
          <p:nvPr/>
        </p:nvSpPr>
        <p:spPr bwMode="auto">
          <a:xfrm>
            <a:off x="2673350" y="4192166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71735" name="Rectangle 123"/>
          <p:cNvSpPr>
            <a:spLocks noChangeArrowheads="1"/>
          </p:cNvSpPr>
          <p:nvPr/>
        </p:nvSpPr>
        <p:spPr bwMode="auto">
          <a:xfrm>
            <a:off x="2716214" y="419216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71736" name="Rectangle 124"/>
          <p:cNvSpPr>
            <a:spLocks noChangeArrowheads="1"/>
          </p:cNvSpPr>
          <p:nvPr/>
        </p:nvSpPr>
        <p:spPr bwMode="auto">
          <a:xfrm>
            <a:off x="2806700" y="4192166"/>
            <a:ext cx="7143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71737" name="Rectangle 125"/>
          <p:cNvSpPr>
            <a:spLocks noChangeArrowheads="1"/>
          </p:cNvSpPr>
          <p:nvPr/>
        </p:nvSpPr>
        <p:spPr bwMode="auto">
          <a:xfrm>
            <a:off x="2886075" y="4192166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738" name="Rectangle 126"/>
          <p:cNvSpPr>
            <a:spLocks noChangeArrowheads="1"/>
          </p:cNvSpPr>
          <p:nvPr/>
        </p:nvSpPr>
        <p:spPr bwMode="auto">
          <a:xfrm>
            <a:off x="2930526" y="4192166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739" name="Rectangle 127"/>
          <p:cNvSpPr>
            <a:spLocks noChangeArrowheads="1"/>
          </p:cNvSpPr>
          <p:nvPr/>
        </p:nvSpPr>
        <p:spPr bwMode="auto">
          <a:xfrm>
            <a:off x="2982914" y="419216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71740" name="Rectangle 128"/>
          <p:cNvSpPr>
            <a:spLocks noChangeArrowheads="1"/>
          </p:cNvSpPr>
          <p:nvPr/>
        </p:nvSpPr>
        <p:spPr bwMode="auto">
          <a:xfrm>
            <a:off x="3073400" y="4192166"/>
            <a:ext cx="7143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71741" name="Rectangle 129"/>
          <p:cNvSpPr>
            <a:spLocks noChangeArrowheads="1"/>
          </p:cNvSpPr>
          <p:nvPr/>
        </p:nvSpPr>
        <p:spPr bwMode="auto">
          <a:xfrm>
            <a:off x="3148013" y="4192166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742" name="Rectangle 130"/>
          <p:cNvSpPr>
            <a:spLocks noChangeArrowheads="1"/>
          </p:cNvSpPr>
          <p:nvPr/>
        </p:nvSpPr>
        <p:spPr bwMode="auto">
          <a:xfrm>
            <a:off x="3190875" y="4192166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71743" name="Rectangle 131"/>
          <p:cNvSpPr>
            <a:spLocks noChangeArrowheads="1"/>
          </p:cNvSpPr>
          <p:nvPr/>
        </p:nvSpPr>
        <p:spPr bwMode="auto">
          <a:xfrm>
            <a:off x="3230564" y="419216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71744" name="Rectangle 132"/>
          <p:cNvSpPr>
            <a:spLocks noChangeArrowheads="1"/>
          </p:cNvSpPr>
          <p:nvPr/>
        </p:nvSpPr>
        <p:spPr bwMode="auto">
          <a:xfrm>
            <a:off x="3316289" y="419216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71745" name="Line 133"/>
          <p:cNvSpPr>
            <a:spLocks noChangeShapeType="1"/>
          </p:cNvSpPr>
          <p:nvPr/>
        </p:nvSpPr>
        <p:spPr bwMode="auto">
          <a:xfrm flipH="1">
            <a:off x="9561514" y="4468390"/>
            <a:ext cx="250825" cy="1588"/>
          </a:xfrm>
          <a:prstGeom prst="line">
            <a:avLst/>
          </a:prstGeom>
          <a:noFill/>
          <a:ln w="3492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46" name="Freeform 134"/>
          <p:cNvSpPr>
            <a:spLocks noChangeArrowheads="1"/>
          </p:cNvSpPr>
          <p:nvPr/>
        </p:nvSpPr>
        <p:spPr bwMode="auto">
          <a:xfrm>
            <a:off x="8239125" y="3887365"/>
            <a:ext cx="1320800" cy="1581150"/>
          </a:xfrm>
          <a:custGeom>
            <a:avLst/>
            <a:gdLst>
              <a:gd name="T0" fmla="*/ 753 w 756"/>
              <a:gd name="T1" fmla="*/ 905 h 905"/>
              <a:gd name="T2" fmla="*/ 756 w 756"/>
              <a:gd name="T3" fmla="*/ 0 h 905"/>
              <a:gd name="T4" fmla="*/ 0 w 756"/>
              <a:gd name="T5" fmla="*/ 0 h 905"/>
              <a:gd name="T6" fmla="*/ 0 w 756"/>
              <a:gd name="T7" fmla="*/ 905 h 905"/>
              <a:gd name="T8" fmla="*/ 756 w 756"/>
              <a:gd name="T9" fmla="*/ 905 h 905"/>
              <a:gd name="T10" fmla="*/ 756 w 756"/>
              <a:gd name="T11" fmla="*/ 905 h 905"/>
              <a:gd name="T12" fmla="*/ 753 w 756"/>
              <a:gd name="T13" fmla="*/ 905 h 90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56"/>
              <a:gd name="T22" fmla="*/ 0 h 905"/>
              <a:gd name="T23" fmla="*/ 756 w 756"/>
              <a:gd name="T24" fmla="*/ 905 h 905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56" h="905">
                <a:moveTo>
                  <a:pt x="753" y="905"/>
                </a:moveTo>
                <a:lnTo>
                  <a:pt x="756" y="0"/>
                </a:lnTo>
                <a:lnTo>
                  <a:pt x="0" y="0"/>
                </a:lnTo>
                <a:lnTo>
                  <a:pt x="0" y="905"/>
                </a:lnTo>
                <a:lnTo>
                  <a:pt x="756" y="905"/>
                </a:lnTo>
                <a:lnTo>
                  <a:pt x="753" y="90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47" name="Freeform 135"/>
          <p:cNvSpPr>
            <a:spLocks noChangeArrowheads="1"/>
          </p:cNvSpPr>
          <p:nvPr/>
        </p:nvSpPr>
        <p:spPr bwMode="auto">
          <a:xfrm>
            <a:off x="8239125" y="3887365"/>
            <a:ext cx="1320800" cy="1581150"/>
          </a:xfrm>
          <a:custGeom>
            <a:avLst/>
            <a:gdLst>
              <a:gd name="T0" fmla="*/ 753 w 756"/>
              <a:gd name="T1" fmla="*/ 905 h 905"/>
              <a:gd name="T2" fmla="*/ 756 w 756"/>
              <a:gd name="T3" fmla="*/ 0 h 905"/>
              <a:gd name="T4" fmla="*/ 0 w 756"/>
              <a:gd name="T5" fmla="*/ 0 h 905"/>
              <a:gd name="T6" fmla="*/ 0 w 756"/>
              <a:gd name="T7" fmla="*/ 905 h 905"/>
              <a:gd name="T8" fmla="*/ 756 w 756"/>
              <a:gd name="T9" fmla="*/ 905 h 905"/>
              <a:gd name="T10" fmla="*/ 756 w 756"/>
              <a:gd name="T11" fmla="*/ 905 h 90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756"/>
              <a:gd name="T19" fmla="*/ 0 h 905"/>
              <a:gd name="T20" fmla="*/ 756 w 756"/>
              <a:gd name="T21" fmla="*/ 905 h 905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756" h="905">
                <a:moveTo>
                  <a:pt x="753" y="905"/>
                </a:moveTo>
                <a:lnTo>
                  <a:pt x="756" y="0"/>
                </a:lnTo>
                <a:lnTo>
                  <a:pt x="0" y="0"/>
                </a:lnTo>
                <a:lnTo>
                  <a:pt x="0" y="905"/>
                </a:lnTo>
                <a:lnTo>
                  <a:pt x="756" y="905"/>
                </a:lnTo>
              </a:path>
            </a:pathLst>
          </a:custGeom>
          <a:noFill/>
          <a:ln w="1764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48" name="Line 136"/>
          <p:cNvSpPr>
            <a:spLocks noChangeShapeType="1"/>
          </p:cNvSpPr>
          <p:nvPr/>
        </p:nvSpPr>
        <p:spPr bwMode="auto">
          <a:xfrm flipH="1">
            <a:off x="6826250" y="4719215"/>
            <a:ext cx="222250" cy="6350"/>
          </a:xfrm>
          <a:prstGeom prst="line">
            <a:avLst/>
          </a:prstGeom>
          <a:noFill/>
          <a:ln w="3492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49" name="Line 137"/>
          <p:cNvSpPr>
            <a:spLocks noChangeShapeType="1"/>
          </p:cNvSpPr>
          <p:nvPr/>
        </p:nvSpPr>
        <p:spPr bwMode="auto">
          <a:xfrm>
            <a:off x="2214563" y="3931815"/>
            <a:ext cx="150812" cy="1588"/>
          </a:xfrm>
          <a:prstGeom prst="line">
            <a:avLst/>
          </a:prstGeom>
          <a:noFill/>
          <a:ln w="3492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50" name="Line 138"/>
          <p:cNvSpPr>
            <a:spLocks noChangeShapeType="1"/>
          </p:cNvSpPr>
          <p:nvPr/>
        </p:nvSpPr>
        <p:spPr bwMode="auto">
          <a:xfrm flipH="1" flipV="1">
            <a:off x="7359650" y="3687341"/>
            <a:ext cx="122238" cy="131763"/>
          </a:xfrm>
          <a:prstGeom prst="line">
            <a:avLst/>
          </a:prstGeom>
          <a:noFill/>
          <a:ln w="17640">
            <a:solidFill>
              <a:srgbClr val="EB75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751" name="Freeform 139"/>
          <p:cNvSpPr>
            <a:spLocks noChangeArrowheads="1"/>
          </p:cNvSpPr>
          <p:nvPr/>
        </p:nvSpPr>
        <p:spPr bwMode="auto">
          <a:xfrm>
            <a:off x="9886950" y="4363616"/>
            <a:ext cx="217488" cy="792163"/>
          </a:xfrm>
          <a:custGeom>
            <a:avLst/>
            <a:gdLst>
              <a:gd name="T0" fmla="*/ 0 w 125"/>
              <a:gd name="T1" fmla="*/ 63 h 454"/>
              <a:gd name="T2" fmla="*/ 0 w 125"/>
              <a:gd name="T3" fmla="*/ 52 h 454"/>
              <a:gd name="T4" fmla="*/ 3 w 125"/>
              <a:gd name="T5" fmla="*/ 44 h 454"/>
              <a:gd name="T6" fmla="*/ 8 w 125"/>
              <a:gd name="T7" fmla="*/ 33 h 454"/>
              <a:gd name="T8" fmla="*/ 14 w 125"/>
              <a:gd name="T9" fmla="*/ 25 h 454"/>
              <a:gd name="T10" fmla="*/ 19 w 125"/>
              <a:gd name="T11" fmla="*/ 19 h 454"/>
              <a:gd name="T12" fmla="*/ 27 w 125"/>
              <a:gd name="T13" fmla="*/ 11 h 454"/>
              <a:gd name="T14" fmla="*/ 35 w 125"/>
              <a:gd name="T15" fmla="*/ 8 h 454"/>
              <a:gd name="T16" fmla="*/ 44 w 125"/>
              <a:gd name="T17" fmla="*/ 3 h 454"/>
              <a:gd name="T18" fmla="*/ 52 w 125"/>
              <a:gd name="T19" fmla="*/ 0 h 454"/>
              <a:gd name="T20" fmla="*/ 63 w 125"/>
              <a:gd name="T21" fmla="*/ 0 h 454"/>
              <a:gd name="T22" fmla="*/ 74 w 125"/>
              <a:gd name="T23" fmla="*/ 0 h 454"/>
              <a:gd name="T24" fmla="*/ 82 w 125"/>
              <a:gd name="T25" fmla="*/ 3 h 454"/>
              <a:gd name="T26" fmla="*/ 93 w 125"/>
              <a:gd name="T27" fmla="*/ 8 h 454"/>
              <a:gd name="T28" fmla="*/ 101 w 125"/>
              <a:gd name="T29" fmla="*/ 11 h 454"/>
              <a:gd name="T30" fmla="*/ 106 w 125"/>
              <a:gd name="T31" fmla="*/ 19 h 454"/>
              <a:gd name="T32" fmla="*/ 114 w 125"/>
              <a:gd name="T33" fmla="*/ 25 h 454"/>
              <a:gd name="T34" fmla="*/ 120 w 125"/>
              <a:gd name="T35" fmla="*/ 33 h 454"/>
              <a:gd name="T36" fmla="*/ 122 w 125"/>
              <a:gd name="T37" fmla="*/ 44 h 454"/>
              <a:gd name="T38" fmla="*/ 125 w 125"/>
              <a:gd name="T39" fmla="*/ 52 h 454"/>
              <a:gd name="T40" fmla="*/ 125 w 125"/>
              <a:gd name="T41" fmla="*/ 63 h 454"/>
              <a:gd name="T42" fmla="*/ 125 w 125"/>
              <a:gd name="T43" fmla="*/ 391 h 454"/>
              <a:gd name="T44" fmla="*/ 125 w 125"/>
              <a:gd name="T45" fmla="*/ 402 h 454"/>
              <a:gd name="T46" fmla="*/ 122 w 125"/>
              <a:gd name="T47" fmla="*/ 413 h 454"/>
              <a:gd name="T48" fmla="*/ 120 w 125"/>
              <a:gd name="T49" fmla="*/ 421 h 454"/>
              <a:gd name="T50" fmla="*/ 114 w 125"/>
              <a:gd name="T51" fmla="*/ 429 h 454"/>
              <a:gd name="T52" fmla="*/ 106 w 125"/>
              <a:gd name="T53" fmla="*/ 438 h 454"/>
              <a:gd name="T54" fmla="*/ 101 w 125"/>
              <a:gd name="T55" fmla="*/ 443 h 454"/>
              <a:gd name="T56" fmla="*/ 93 w 125"/>
              <a:gd name="T57" fmla="*/ 448 h 454"/>
              <a:gd name="T58" fmla="*/ 82 w 125"/>
              <a:gd name="T59" fmla="*/ 451 h 454"/>
              <a:gd name="T60" fmla="*/ 74 w 125"/>
              <a:gd name="T61" fmla="*/ 454 h 454"/>
              <a:gd name="T62" fmla="*/ 63 w 125"/>
              <a:gd name="T63" fmla="*/ 454 h 454"/>
              <a:gd name="T64" fmla="*/ 52 w 125"/>
              <a:gd name="T65" fmla="*/ 454 h 454"/>
              <a:gd name="T66" fmla="*/ 44 w 125"/>
              <a:gd name="T67" fmla="*/ 451 h 454"/>
              <a:gd name="T68" fmla="*/ 35 w 125"/>
              <a:gd name="T69" fmla="*/ 448 h 454"/>
              <a:gd name="T70" fmla="*/ 27 w 125"/>
              <a:gd name="T71" fmla="*/ 443 h 454"/>
              <a:gd name="T72" fmla="*/ 19 w 125"/>
              <a:gd name="T73" fmla="*/ 438 h 454"/>
              <a:gd name="T74" fmla="*/ 14 w 125"/>
              <a:gd name="T75" fmla="*/ 429 h 454"/>
              <a:gd name="T76" fmla="*/ 8 w 125"/>
              <a:gd name="T77" fmla="*/ 421 h 454"/>
              <a:gd name="T78" fmla="*/ 3 w 125"/>
              <a:gd name="T79" fmla="*/ 413 h 454"/>
              <a:gd name="T80" fmla="*/ 0 w 125"/>
              <a:gd name="T81" fmla="*/ 402 h 454"/>
              <a:gd name="T82" fmla="*/ 0 w 125"/>
              <a:gd name="T83" fmla="*/ 391 h 454"/>
              <a:gd name="T84" fmla="*/ 0 w 125"/>
              <a:gd name="T85" fmla="*/ 63 h 454"/>
              <a:gd name="T86" fmla="*/ 0 w 125"/>
              <a:gd name="T87" fmla="*/ 63 h 454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25"/>
              <a:gd name="T133" fmla="*/ 0 h 454"/>
              <a:gd name="T134" fmla="*/ 125 w 125"/>
              <a:gd name="T135" fmla="*/ 454 h 454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25" h="454">
                <a:moveTo>
                  <a:pt x="0" y="63"/>
                </a:moveTo>
                <a:lnTo>
                  <a:pt x="0" y="52"/>
                </a:lnTo>
                <a:lnTo>
                  <a:pt x="3" y="44"/>
                </a:lnTo>
                <a:lnTo>
                  <a:pt x="8" y="33"/>
                </a:lnTo>
                <a:lnTo>
                  <a:pt x="14" y="25"/>
                </a:lnTo>
                <a:lnTo>
                  <a:pt x="19" y="19"/>
                </a:lnTo>
                <a:lnTo>
                  <a:pt x="27" y="11"/>
                </a:lnTo>
                <a:lnTo>
                  <a:pt x="35" y="8"/>
                </a:lnTo>
                <a:lnTo>
                  <a:pt x="44" y="3"/>
                </a:lnTo>
                <a:lnTo>
                  <a:pt x="52" y="0"/>
                </a:lnTo>
                <a:lnTo>
                  <a:pt x="63" y="0"/>
                </a:lnTo>
                <a:lnTo>
                  <a:pt x="74" y="0"/>
                </a:lnTo>
                <a:lnTo>
                  <a:pt x="82" y="3"/>
                </a:lnTo>
                <a:lnTo>
                  <a:pt x="93" y="8"/>
                </a:lnTo>
                <a:lnTo>
                  <a:pt x="101" y="11"/>
                </a:lnTo>
                <a:lnTo>
                  <a:pt x="106" y="19"/>
                </a:lnTo>
                <a:lnTo>
                  <a:pt x="114" y="25"/>
                </a:lnTo>
                <a:lnTo>
                  <a:pt x="120" y="33"/>
                </a:lnTo>
                <a:lnTo>
                  <a:pt x="122" y="44"/>
                </a:lnTo>
                <a:lnTo>
                  <a:pt x="125" y="52"/>
                </a:lnTo>
                <a:lnTo>
                  <a:pt x="125" y="63"/>
                </a:lnTo>
                <a:lnTo>
                  <a:pt x="125" y="391"/>
                </a:lnTo>
                <a:lnTo>
                  <a:pt x="125" y="402"/>
                </a:lnTo>
                <a:lnTo>
                  <a:pt x="122" y="413"/>
                </a:lnTo>
                <a:lnTo>
                  <a:pt x="120" y="421"/>
                </a:lnTo>
                <a:lnTo>
                  <a:pt x="114" y="429"/>
                </a:lnTo>
                <a:lnTo>
                  <a:pt x="106" y="438"/>
                </a:lnTo>
                <a:lnTo>
                  <a:pt x="101" y="443"/>
                </a:lnTo>
                <a:lnTo>
                  <a:pt x="93" y="448"/>
                </a:lnTo>
                <a:lnTo>
                  <a:pt x="82" y="451"/>
                </a:lnTo>
                <a:lnTo>
                  <a:pt x="74" y="454"/>
                </a:lnTo>
                <a:lnTo>
                  <a:pt x="63" y="454"/>
                </a:lnTo>
                <a:lnTo>
                  <a:pt x="52" y="454"/>
                </a:lnTo>
                <a:lnTo>
                  <a:pt x="44" y="451"/>
                </a:lnTo>
                <a:lnTo>
                  <a:pt x="35" y="448"/>
                </a:lnTo>
                <a:lnTo>
                  <a:pt x="27" y="443"/>
                </a:lnTo>
                <a:lnTo>
                  <a:pt x="19" y="438"/>
                </a:lnTo>
                <a:lnTo>
                  <a:pt x="14" y="429"/>
                </a:lnTo>
                <a:lnTo>
                  <a:pt x="8" y="421"/>
                </a:lnTo>
                <a:lnTo>
                  <a:pt x="3" y="413"/>
                </a:lnTo>
                <a:lnTo>
                  <a:pt x="0" y="402"/>
                </a:lnTo>
                <a:lnTo>
                  <a:pt x="0" y="391"/>
                </a:lnTo>
                <a:lnTo>
                  <a:pt x="0" y="6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52" name="Freeform 140"/>
          <p:cNvSpPr>
            <a:spLocks noChangeArrowheads="1"/>
          </p:cNvSpPr>
          <p:nvPr/>
        </p:nvSpPr>
        <p:spPr bwMode="auto">
          <a:xfrm>
            <a:off x="9886950" y="4363616"/>
            <a:ext cx="217488" cy="792163"/>
          </a:xfrm>
          <a:custGeom>
            <a:avLst/>
            <a:gdLst>
              <a:gd name="T0" fmla="*/ 0 w 125"/>
              <a:gd name="T1" fmla="*/ 63 h 454"/>
              <a:gd name="T2" fmla="*/ 0 w 125"/>
              <a:gd name="T3" fmla="*/ 52 h 454"/>
              <a:gd name="T4" fmla="*/ 3 w 125"/>
              <a:gd name="T5" fmla="*/ 44 h 454"/>
              <a:gd name="T6" fmla="*/ 8 w 125"/>
              <a:gd name="T7" fmla="*/ 33 h 454"/>
              <a:gd name="T8" fmla="*/ 14 w 125"/>
              <a:gd name="T9" fmla="*/ 25 h 454"/>
              <a:gd name="T10" fmla="*/ 19 w 125"/>
              <a:gd name="T11" fmla="*/ 19 h 454"/>
              <a:gd name="T12" fmla="*/ 27 w 125"/>
              <a:gd name="T13" fmla="*/ 11 h 454"/>
              <a:gd name="T14" fmla="*/ 35 w 125"/>
              <a:gd name="T15" fmla="*/ 8 h 454"/>
              <a:gd name="T16" fmla="*/ 44 w 125"/>
              <a:gd name="T17" fmla="*/ 3 h 454"/>
              <a:gd name="T18" fmla="*/ 52 w 125"/>
              <a:gd name="T19" fmla="*/ 0 h 454"/>
              <a:gd name="T20" fmla="*/ 63 w 125"/>
              <a:gd name="T21" fmla="*/ 0 h 454"/>
              <a:gd name="T22" fmla="*/ 74 w 125"/>
              <a:gd name="T23" fmla="*/ 0 h 454"/>
              <a:gd name="T24" fmla="*/ 82 w 125"/>
              <a:gd name="T25" fmla="*/ 3 h 454"/>
              <a:gd name="T26" fmla="*/ 93 w 125"/>
              <a:gd name="T27" fmla="*/ 8 h 454"/>
              <a:gd name="T28" fmla="*/ 101 w 125"/>
              <a:gd name="T29" fmla="*/ 11 h 454"/>
              <a:gd name="T30" fmla="*/ 106 w 125"/>
              <a:gd name="T31" fmla="*/ 19 h 454"/>
              <a:gd name="T32" fmla="*/ 114 w 125"/>
              <a:gd name="T33" fmla="*/ 25 h 454"/>
              <a:gd name="T34" fmla="*/ 120 w 125"/>
              <a:gd name="T35" fmla="*/ 33 h 454"/>
              <a:gd name="T36" fmla="*/ 122 w 125"/>
              <a:gd name="T37" fmla="*/ 44 h 454"/>
              <a:gd name="T38" fmla="*/ 125 w 125"/>
              <a:gd name="T39" fmla="*/ 52 h 454"/>
              <a:gd name="T40" fmla="*/ 125 w 125"/>
              <a:gd name="T41" fmla="*/ 63 h 454"/>
              <a:gd name="T42" fmla="*/ 125 w 125"/>
              <a:gd name="T43" fmla="*/ 391 h 454"/>
              <a:gd name="T44" fmla="*/ 125 w 125"/>
              <a:gd name="T45" fmla="*/ 402 h 454"/>
              <a:gd name="T46" fmla="*/ 122 w 125"/>
              <a:gd name="T47" fmla="*/ 413 h 454"/>
              <a:gd name="T48" fmla="*/ 120 w 125"/>
              <a:gd name="T49" fmla="*/ 421 h 454"/>
              <a:gd name="T50" fmla="*/ 114 w 125"/>
              <a:gd name="T51" fmla="*/ 429 h 454"/>
              <a:gd name="T52" fmla="*/ 106 w 125"/>
              <a:gd name="T53" fmla="*/ 438 h 454"/>
              <a:gd name="T54" fmla="*/ 101 w 125"/>
              <a:gd name="T55" fmla="*/ 443 h 454"/>
              <a:gd name="T56" fmla="*/ 93 w 125"/>
              <a:gd name="T57" fmla="*/ 448 h 454"/>
              <a:gd name="T58" fmla="*/ 82 w 125"/>
              <a:gd name="T59" fmla="*/ 451 h 454"/>
              <a:gd name="T60" fmla="*/ 74 w 125"/>
              <a:gd name="T61" fmla="*/ 454 h 454"/>
              <a:gd name="T62" fmla="*/ 63 w 125"/>
              <a:gd name="T63" fmla="*/ 454 h 454"/>
              <a:gd name="T64" fmla="*/ 52 w 125"/>
              <a:gd name="T65" fmla="*/ 454 h 454"/>
              <a:gd name="T66" fmla="*/ 44 w 125"/>
              <a:gd name="T67" fmla="*/ 451 h 454"/>
              <a:gd name="T68" fmla="*/ 35 w 125"/>
              <a:gd name="T69" fmla="*/ 448 h 454"/>
              <a:gd name="T70" fmla="*/ 27 w 125"/>
              <a:gd name="T71" fmla="*/ 443 h 454"/>
              <a:gd name="T72" fmla="*/ 19 w 125"/>
              <a:gd name="T73" fmla="*/ 438 h 454"/>
              <a:gd name="T74" fmla="*/ 14 w 125"/>
              <a:gd name="T75" fmla="*/ 429 h 454"/>
              <a:gd name="T76" fmla="*/ 8 w 125"/>
              <a:gd name="T77" fmla="*/ 421 h 454"/>
              <a:gd name="T78" fmla="*/ 3 w 125"/>
              <a:gd name="T79" fmla="*/ 413 h 454"/>
              <a:gd name="T80" fmla="*/ 0 w 125"/>
              <a:gd name="T81" fmla="*/ 402 h 454"/>
              <a:gd name="T82" fmla="*/ 0 w 125"/>
              <a:gd name="T83" fmla="*/ 391 h 454"/>
              <a:gd name="T84" fmla="*/ 0 w 125"/>
              <a:gd name="T85" fmla="*/ 63 h 454"/>
              <a:gd name="T86" fmla="*/ 0 w 125"/>
              <a:gd name="T87" fmla="*/ 63 h 454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25"/>
              <a:gd name="T133" fmla="*/ 0 h 454"/>
              <a:gd name="T134" fmla="*/ 125 w 125"/>
              <a:gd name="T135" fmla="*/ 454 h 454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25" h="454">
                <a:moveTo>
                  <a:pt x="0" y="63"/>
                </a:moveTo>
                <a:lnTo>
                  <a:pt x="0" y="52"/>
                </a:lnTo>
                <a:lnTo>
                  <a:pt x="3" y="44"/>
                </a:lnTo>
                <a:lnTo>
                  <a:pt x="8" y="33"/>
                </a:lnTo>
                <a:lnTo>
                  <a:pt x="14" y="25"/>
                </a:lnTo>
                <a:lnTo>
                  <a:pt x="19" y="19"/>
                </a:lnTo>
                <a:lnTo>
                  <a:pt x="27" y="11"/>
                </a:lnTo>
                <a:lnTo>
                  <a:pt x="35" y="8"/>
                </a:lnTo>
                <a:lnTo>
                  <a:pt x="44" y="3"/>
                </a:lnTo>
                <a:lnTo>
                  <a:pt x="52" y="0"/>
                </a:lnTo>
                <a:lnTo>
                  <a:pt x="63" y="0"/>
                </a:lnTo>
                <a:lnTo>
                  <a:pt x="74" y="0"/>
                </a:lnTo>
                <a:lnTo>
                  <a:pt x="82" y="3"/>
                </a:lnTo>
                <a:lnTo>
                  <a:pt x="93" y="8"/>
                </a:lnTo>
                <a:lnTo>
                  <a:pt x="101" y="11"/>
                </a:lnTo>
                <a:lnTo>
                  <a:pt x="106" y="19"/>
                </a:lnTo>
                <a:lnTo>
                  <a:pt x="114" y="25"/>
                </a:lnTo>
                <a:lnTo>
                  <a:pt x="120" y="33"/>
                </a:lnTo>
                <a:lnTo>
                  <a:pt x="122" y="44"/>
                </a:lnTo>
                <a:lnTo>
                  <a:pt x="125" y="52"/>
                </a:lnTo>
                <a:lnTo>
                  <a:pt x="125" y="63"/>
                </a:lnTo>
                <a:lnTo>
                  <a:pt x="125" y="391"/>
                </a:lnTo>
                <a:lnTo>
                  <a:pt x="125" y="402"/>
                </a:lnTo>
                <a:lnTo>
                  <a:pt x="122" y="413"/>
                </a:lnTo>
                <a:lnTo>
                  <a:pt x="120" y="421"/>
                </a:lnTo>
                <a:lnTo>
                  <a:pt x="114" y="429"/>
                </a:lnTo>
                <a:lnTo>
                  <a:pt x="106" y="438"/>
                </a:lnTo>
                <a:lnTo>
                  <a:pt x="101" y="443"/>
                </a:lnTo>
                <a:lnTo>
                  <a:pt x="93" y="448"/>
                </a:lnTo>
                <a:lnTo>
                  <a:pt x="82" y="451"/>
                </a:lnTo>
                <a:lnTo>
                  <a:pt x="74" y="454"/>
                </a:lnTo>
                <a:lnTo>
                  <a:pt x="63" y="454"/>
                </a:lnTo>
                <a:lnTo>
                  <a:pt x="52" y="454"/>
                </a:lnTo>
                <a:lnTo>
                  <a:pt x="44" y="451"/>
                </a:lnTo>
                <a:lnTo>
                  <a:pt x="35" y="448"/>
                </a:lnTo>
                <a:lnTo>
                  <a:pt x="27" y="443"/>
                </a:lnTo>
                <a:lnTo>
                  <a:pt x="19" y="438"/>
                </a:lnTo>
                <a:lnTo>
                  <a:pt x="14" y="429"/>
                </a:lnTo>
                <a:lnTo>
                  <a:pt x="8" y="421"/>
                </a:lnTo>
                <a:lnTo>
                  <a:pt x="3" y="413"/>
                </a:lnTo>
                <a:lnTo>
                  <a:pt x="0" y="402"/>
                </a:lnTo>
                <a:lnTo>
                  <a:pt x="0" y="391"/>
                </a:lnTo>
                <a:lnTo>
                  <a:pt x="0" y="63"/>
                </a:lnTo>
              </a:path>
            </a:pathLst>
          </a:custGeom>
          <a:solidFill>
            <a:srgbClr val="006600"/>
          </a:solidFill>
          <a:ln w="17640">
            <a:solidFill>
              <a:srgbClr val="6666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53" name="Freeform 141"/>
          <p:cNvSpPr>
            <a:spLocks noChangeArrowheads="1"/>
          </p:cNvSpPr>
          <p:nvPr/>
        </p:nvSpPr>
        <p:spPr bwMode="auto">
          <a:xfrm>
            <a:off x="6605588" y="4349329"/>
            <a:ext cx="222250" cy="746125"/>
          </a:xfrm>
          <a:custGeom>
            <a:avLst/>
            <a:gdLst>
              <a:gd name="T0" fmla="*/ 0 w 127"/>
              <a:gd name="T1" fmla="*/ 62 h 427"/>
              <a:gd name="T2" fmla="*/ 2 w 127"/>
              <a:gd name="T3" fmla="*/ 54 h 427"/>
              <a:gd name="T4" fmla="*/ 5 w 127"/>
              <a:gd name="T5" fmla="*/ 43 h 427"/>
              <a:gd name="T6" fmla="*/ 8 w 127"/>
              <a:gd name="T7" fmla="*/ 35 h 427"/>
              <a:gd name="T8" fmla="*/ 13 w 127"/>
              <a:gd name="T9" fmla="*/ 27 h 427"/>
              <a:gd name="T10" fmla="*/ 21 w 127"/>
              <a:gd name="T11" fmla="*/ 19 h 427"/>
              <a:gd name="T12" fmla="*/ 27 w 127"/>
              <a:gd name="T13" fmla="*/ 14 h 427"/>
              <a:gd name="T14" fmla="*/ 35 w 127"/>
              <a:gd name="T15" fmla="*/ 8 h 427"/>
              <a:gd name="T16" fmla="*/ 46 w 127"/>
              <a:gd name="T17" fmla="*/ 5 h 427"/>
              <a:gd name="T18" fmla="*/ 54 w 127"/>
              <a:gd name="T19" fmla="*/ 3 h 427"/>
              <a:gd name="T20" fmla="*/ 65 w 127"/>
              <a:gd name="T21" fmla="*/ 0 h 427"/>
              <a:gd name="T22" fmla="*/ 76 w 127"/>
              <a:gd name="T23" fmla="*/ 3 h 427"/>
              <a:gd name="T24" fmla="*/ 84 w 127"/>
              <a:gd name="T25" fmla="*/ 5 h 427"/>
              <a:gd name="T26" fmla="*/ 92 w 127"/>
              <a:gd name="T27" fmla="*/ 8 h 427"/>
              <a:gd name="T28" fmla="*/ 100 w 127"/>
              <a:gd name="T29" fmla="*/ 14 h 427"/>
              <a:gd name="T30" fmla="*/ 108 w 127"/>
              <a:gd name="T31" fmla="*/ 19 h 427"/>
              <a:gd name="T32" fmla="*/ 114 w 127"/>
              <a:gd name="T33" fmla="*/ 27 h 427"/>
              <a:gd name="T34" fmla="*/ 119 w 127"/>
              <a:gd name="T35" fmla="*/ 35 h 427"/>
              <a:gd name="T36" fmla="*/ 125 w 127"/>
              <a:gd name="T37" fmla="*/ 43 h 427"/>
              <a:gd name="T38" fmla="*/ 127 w 127"/>
              <a:gd name="T39" fmla="*/ 54 h 427"/>
              <a:gd name="T40" fmla="*/ 127 w 127"/>
              <a:gd name="T41" fmla="*/ 65 h 427"/>
              <a:gd name="T42" fmla="*/ 127 w 127"/>
              <a:gd name="T43" fmla="*/ 364 h 427"/>
              <a:gd name="T44" fmla="*/ 127 w 127"/>
              <a:gd name="T45" fmla="*/ 375 h 427"/>
              <a:gd name="T46" fmla="*/ 125 w 127"/>
              <a:gd name="T47" fmla="*/ 386 h 427"/>
              <a:gd name="T48" fmla="*/ 119 w 127"/>
              <a:gd name="T49" fmla="*/ 394 h 427"/>
              <a:gd name="T50" fmla="*/ 114 w 127"/>
              <a:gd name="T51" fmla="*/ 402 h 427"/>
              <a:gd name="T52" fmla="*/ 108 w 127"/>
              <a:gd name="T53" fmla="*/ 410 h 427"/>
              <a:gd name="T54" fmla="*/ 100 w 127"/>
              <a:gd name="T55" fmla="*/ 416 h 427"/>
              <a:gd name="T56" fmla="*/ 92 w 127"/>
              <a:gd name="T57" fmla="*/ 421 h 427"/>
              <a:gd name="T58" fmla="*/ 84 w 127"/>
              <a:gd name="T59" fmla="*/ 424 h 427"/>
              <a:gd name="T60" fmla="*/ 76 w 127"/>
              <a:gd name="T61" fmla="*/ 427 h 427"/>
              <a:gd name="T62" fmla="*/ 65 w 127"/>
              <a:gd name="T63" fmla="*/ 427 h 427"/>
              <a:gd name="T64" fmla="*/ 54 w 127"/>
              <a:gd name="T65" fmla="*/ 427 h 427"/>
              <a:gd name="T66" fmla="*/ 46 w 127"/>
              <a:gd name="T67" fmla="*/ 424 h 427"/>
              <a:gd name="T68" fmla="*/ 35 w 127"/>
              <a:gd name="T69" fmla="*/ 421 h 427"/>
              <a:gd name="T70" fmla="*/ 27 w 127"/>
              <a:gd name="T71" fmla="*/ 416 h 427"/>
              <a:gd name="T72" fmla="*/ 21 w 127"/>
              <a:gd name="T73" fmla="*/ 410 h 427"/>
              <a:gd name="T74" fmla="*/ 13 w 127"/>
              <a:gd name="T75" fmla="*/ 402 h 427"/>
              <a:gd name="T76" fmla="*/ 8 w 127"/>
              <a:gd name="T77" fmla="*/ 394 h 427"/>
              <a:gd name="T78" fmla="*/ 5 w 127"/>
              <a:gd name="T79" fmla="*/ 386 h 427"/>
              <a:gd name="T80" fmla="*/ 2 w 127"/>
              <a:gd name="T81" fmla="*/ 375 h 427"/>
              <a:gd name="T82" fmla="*/ 2 w 127"/>
              <a:gd name="T83" fmla="*/ 364 h 427"/>
              <a:gd name="T84" fmla="*/ 2 w 127"/>
              <a:gd name="T85" fmla="*/ 65 h 427"/>
              <a:gd name="T86" fmla="*/ 2 w 127"/>
              <a:gd name="T87" fmla="*/ 65 h 427"/>
              <a:gd name="T88" fmla="*/ 0 w 127"/>
              <a:gd name="T89" fmla="*/ 62 h 42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127"/>
              <a:gd name="T136" fmla="*/ 0 h 427"/>
              <a:gd name="T137" fmla="*/ 127 w 127"/>
              <a:gd name="T138" fmla="*/ 427 h 427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127" h="427">
                <a:moveTo>
                  <a:pt x="0" y="62"/>
                </a:moveTo>
                <a:lnTo>
                  <a:pt x="2" y="54"/>
                </a:lnTo>
                <a:lnTo>
                  <a:pt x="5" y="43"/>
                </a:lnTo>
                <a:lnTo>
                  <a:pt x="8" y="35"/>
                </a:lnTo>
                <a:lnTo>
                  <a:pt x="13" y="27"/>
                </a:lnTo>
                <a:lnTo>
                  <a:pt x="21" y="19"/>
                </a:lnTo>
                <a:lnTo>
                  <a:pt x="27" y="14"/>
                </a:lnTo>
                <a:lnTo>
                  <a:pt x="35" y="8"/>
                </a:lnTo>
                <a:lnTo>
                  <a:pt x="46" y="5"/>
                </a:lnTo>
                <a:lnTo>
                  <a:pt x="54" y="3"/>
                </a:lnTo>
                <a:lnTo>
                  <a:pt x="65" y="0"/>
                </a:lnTo>
                <a:lnTo>
                  <a:pt x="76" y="3"/>
                </a:lnTo>
                <a:lnTo>
                  <a:pt x="84" y="5"/>
                </a:lnTo>
                <a:lnTo>
                  <a:pt x="92" y="8"/>
                </a:lnTo>
                <a:lnTo>
                  <a:pt x="100" y="14"/>
                </a:lnTo>
                <a:lnTo>
                  <a:pt x="108" y="19"/>
                </a:lnTo>
                <a:lnTo>
                  <a:pt x="114" y="27"/>
                </a:lnTo>
                <a:lnTo>
                  <a:pt x="119" y="35"/>
                </a:lnTo>
                <a:lnTo>
                  <a:pt x="125" y="43"/>
                </a:lnTo>
                <a:lnTo>
                  <a:pt x="127" y="54"/>
                </a:lnTo>
                <a:lnTo>
                  <a:pt x="127" y="65"/>
                </a:lnTo>
                <a:lnTo>
                  <a:pt x="127" y="364"/>
                </a:lnTo>
                <a:lnTo>
                  <a:pt x="127" y="375"/>
                </a:lnTo>
                <a:lnTo>
                  <a:pt x="125" y="386"/>
                </a:lnTo>
                <a:lnTo>
                  <a:pt x="119" y="394"/>
                </a:lnTo>
                <a:lnTo>
                  <a:pt x="114" y="402"/>
                </a:lnTo>
                <a:lnTo>
                  <a:pt x="108" y="410"/>
                </a:lnTo>
                <a:lnTo>
                  <a:pt x="100" y="416"/>
                </a:lnTo>
                <a:lnTo>
                  <a:pt x="92" y="421"/>
                </a:lnTo>
                <a:lnTo>
                  <a:pt x="84" y="424"/>
                </a:lnTo>
                <a:lnTo>
                  <a:pt x="76" y="427"/>
                </a:lnTo>
                <a:lnTo>
                  <a:pt x="65" y="427"/>
                </a:lnTo>
                <a:lnTo>
                  <a:pt x="54" y="427"/>
                </a:lnTo>
                <a:lnTo>
                  <a:pt x="46" y="424"/>
                </a:lnTo>
                <a:lnTo>
                  <a:pt x="35" y="421"/>
                </a:lnTo>
                <a:lnTo>
                  <a:pt x="27" y="416"/>
                </a:lnTo>
                <a:lnTo>
                  <a:pt x="21" y="410"/>
                </a:lnTo>
                <a:lnTo>
                  <a:pt x="13" y="402"/>
                </a:lnTo>
                <a:lnTo>
                  <a:pt x="8" y="394"/>
                </a:lnTo>
                <a:lnTo>
                  <a:pt x="5" y="386"/>
                </a:lnTo>
                <a:lnTo>
                  <a:pt x="2" y="375"/>
                </a:lnTo>
                <a:lnTo>
                  <a:pt x="2" y="364"/>
                </a:lnTo>
                <a:lnTo>
                  <a:pt x="2" y="65"/>
                </a:lnTo>
                <a:lnTo>
                  <a:pt x="0" y="6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54" name="Freeform 142"/>
          <p:cNvSpPr>
            <a:spLocks noChangeArrowheads="1"/>
          </p:cNvSpPr>
          <p:nvPr/>
        </p:nvSpPr>
        <p:spPr bwMode="auto">
          <a:xfrm>
            <a:off x="6605588" y="4349329"/>
            <a:ext cx="222250" cy="746125"/>
          </a:xfrm>
          <a:custGeom>
            <a:avLst/>
            <a:gdLst>
              <a:gd name="T0" fmla="*/ 0 w 127"/>
              <a:gd name="T1" fmla="*/ 62 h 427"/>
              <a:gd name="T2" fmla="*/ 2 w 127"/>
              <a:gd name="T3" fmla="*/ 54 h 427"/>
              <a:gd name="T4" fmla="*/ 5 w 127"/>
              <a:gd name="T5" fmla="*/ 43 h 427"/>
              <a:gd name="T6" fmla="*/ 8 w 127"/>
              <a:gd name="T7" fmla="*/ 35 h 427"/>
              <a:gd name="T8" fmla="*/ 13 w 127"/>
              <a:gd name="T9" fmla="*/ 27 h 427"/>
              <a:gd name="T10" fmla="*/ 21 w 127"/>
              <a:gd name="T11" fmla="*/ 19 h 427"/>
              <a:gd name="T12" fmla="*/ 27 w 127"/>
              <a:gd name="T13" fmla="*/ 14 h 427"/>
              <a:gd name="T14" fmla="*/ 35 w 127"/>
              <a:gd name="T15" fmla="*/ 8 h 427"/>
              <a:gd name="T16" fmla="*/ 46 w 127"/>
              <a:gd name="T17" fmla="*/ 5 h 427"/>
              <a:gd name="T18" fmla="*/ 54 w 127"/>
              <a:gd name="T19" fmla="*/ 3 h 427"/>
              <a:gd name="T20" fmla="*/ 65 w 127"/>
              <a:gd name="T21" fmla="*/ 0 h 427"/>
              <a:gd name="T22" fmla="*/ 76 w 127"/>
              <a:gd name="T23" fmla="*/ 3 h 427"/>
              <a:gd name="T24" fmla="*/ 84 w 127"/>
              <a:gd name="T25" fmla="*/ 5 h 427"/>
              <a:gd name="T26" fmla="*/ 92 w 127"/>
              <a:gd name="T27" fmla="*/ 8 h 427"/>
              <a:gd name="T28" fmla="*/ 100 w 127"/>
              <a:gd name="T29" fmla="*/ 14 h 427"/>
              <a:gd name="T30" fmla="*/ 108 w 127"/>
              <a:gd name="T31" fmla="*/ 19 h 427"/>
              <a:gd name="T32" fmla="*/ 114 w 127"/>
              <a:gd name="T33" fmla="*/ 27 h 427"/>
              <a:gd name="T34" fmla="*/ 119 w 127"/>
              <a:gd name="T35" fmla="*/ 35 h 427"/>
              <a:gd name="T36" fmla="*/ 125 w 127"/>
              <a:gd name="T37" fmla="*/ 43 h 427"/>
              <a:gd name="T38" fmla="*/ 127 w 127"/>
              <a:gd name="T39" fmla="*/ 54 h 427"/>
              <a:gd name="T40" fmla="*/ 127 w 127"/>
              <a:gd name="T41" fmla="*/ 65 h 427"/>
              <a:gd name="T42" fmla="*/ 127 w 127"/>
              <a:gd name="T43" fmla="*/ 364 h 427"/>
              <a:gd name="T44" fmla="*/ 127 w 127"/>
              <a:gd name="T45" fmla="*/ 375 h 427"/>
              <a:gd name="T46" fmla="*/ 125 w 127"/>
              <a:gd name="T47" fmla="*/ 386 h 427"/>
              <a:gd name="T48" fmla="*/ 119 w 127"/>
              <a:gd name="T49" fmla="*/ 394 h 427"/>
              <a:gd name="T50" fmla="*/ 114 w 127"/>
              <a:gd name="T51" fmla="*/ 402 h 427"/>
              <a:gd name="T52" fmla="*/ 108 w 127"/>
              <a:gd name="T53" fmla="*/ 410 h 427"/>
              <a:gd name="T54" fmla="*/ 100 w 127"/>
              <a:gd name="T55" fmla="*/ 416 h 427"/>
              <a:gd name="T56" fmla="*/ 92 w 127"/>
              <a:gd name="T57" fmla="*/ 421 h 427"/>
              <a:gd name="T58" fmla="*/ 84 w 127"/>
              <a:gd name="T59" fmla="*/ 424 h 427"/>
              <a:gd name="T60" fmla="*/ 76 w 127"/>
              <a:gd name="T61" fmla="*/ 427 h 427"/>
              <a:gd name="T62" fmla="*/ 65 w 127"/>
              <a:gd name="T63" fmla="*/ 427 h 427"/>
              <a:gd name="T64" fmla="*/ 54 w 127"/>
              <a:gd name="T65" fmla="*/ 427 h 427"/>
              <a:gd name="T66" fmla="*/ 46 w 127"/>
              <a:gd name="T67" fmla="*/ 424 h 427"/>
              <a:gd name="T68" fmla="*/ 35 w 127"/>
              <a:gd name="T69" fmla="*/ 421 h 427"/>
              <a:gd name="T70" fmla="*/ 27 w 127"/>
              <a:gd name="T71" fmla="*/ 416 h 427"/>
              <a:gd name="T72" fmla="*/ 21 w 127"/>
              <a:gd name="T73" fmla="*/ 410 h 427"/>
              <a:gd name="T74" fmla="*/ 13 w 127"/>
              <a:gd name="T75" fmla="*/ 402 h 427"/>
              <a:gd name="T76" fmla="*/ 8 w 127"/>
              <a:gd name="T77" fmla="*/ 394 h 427"/>
              <a:gd name="T78" fmla="*/ 5 w 127"/>
              <a:gd name="T79" fmla="*/ 386 h 427"/>
              <a:gd name="T80" fmla="*/ 2 w 127"/>
              <a:gd name="T81" fmla="*/ 375 h 427"/>
              <a:gd name="T82" fmla="*/ 2 w 127"/>
              <a:gd name="T83" fmla="*/ 364 h 427"/>
              <a:gd name="T84" fmla="*/ 2 w 127"/>
              <a:gd name="T85" fmla="*/ 65 h 427"/>
              <a:gd name="T86" fmla="*/ 2 w 127"/>
              <a:gd name="T87" fmla="*/ 65 h 427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27"/>
              <a:gd name="T133" fmla="*/ 0 h 427"/>
              <a:gd name="T134" fmla="*/ 127 w 127"/>
              <a:gd name="T135" fmla="*/ 427 h 427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27" h="427">
                <a:moveTo>
                  <a:pt x="0" y="62"/>
                </a:moveTo>
                <a:lnTo>
                  <a:pt x="2" y="54"/>
                </a:lnTo>
                <a:lnTo>
                  <a:pt x="5" y="43"/>
                </a:lnTo>
                <a:lnTo>
                  <a:pt x="8" y="35"/>
                </a:lnTo>
                <a:lnTo>
                  <a:pt x="13" y="27"/>
                </a:lnTo>
                <a:lnTo>
                  <a:pt x="21" y="19"/>
                </a:lnTo>
                <a:lnTo>
                  <a:pt x="27" y="14"/>
                </a:lnTo>
                <a:lnTo>
                  <a:pt x="35" y="8"/>
                </a:lnTo>
                <a:lnTo>
                  <a:pt x="46" y="5"/>
                </a:lnTo>
                <a:lnTo>
                  <a:pt x="54" y="3"/>
                </a:lnTo>
                <a:lnTo>
                  <a:pt x="65" y="0"/>
                </a:lnTo>
                <a:lnTo>
                  <a:pt x="76" y="3"/>
                </a:lnTo>
                <a:lnTo>
                  <a:pt x="84" y="5"/>
                </a:lnTo>
                <a:lnTo>
                  <a:pt x="92" y="8"/>
                </a:lnTo>
                <a:lnTo>
                  <a:pt x="100" y="14"/>
                </a:lnTo>
                <a:lnTo>
                  <a:pt x="108" y="19"/>
                </a:lnTo>
                <a:lnTo>
                  <a:pt x="114" y="27"/>
                </a:lnTo>
                <a:lnTo>
                  <a:pt x="119" y="35"/>
                </a:lnTo>
                <a:lnTo>
                  <a:pt x="125" y="43"/>
                </a:lnTo>
                <a:lnTo>
                  <a:pt x="127" y="54"/>
                </a:lnTo>
                <a:lnTo>
                  <a:pt x="127" y="65"/>
                </a:lnTo>
                <a:lnTo>
                  <a:pt x="127" y="364"/>
                </a:lnTo>
                <a:lnTo>
                  <a:pt x="127" y="375"/>
                </a:lnTo>
                <a:lnTo>
                  <a:pt x="125" y="386"/>
                </a:lnTo>
                <a:lnTo>
                  <a:pt x="119" y="394"/>
                </a:lnTo>
                <a:lnTo>
                  <a:pt x="114" y="402"/>
                </a:lnTo>
                <a:lnTo>
                  <a:pt x="108" y="410"/>
                </a:lnTo>
                <a:lnTo>
                  <a:pt x="100" y="416"/>
                </a:lnTo>
                <a:lnTo>
                  <a:pt x="92" y="421"/>
                </a:lnTo>
                <a:lnTo>
                  <a:pt x="84" y="424"/>
                </a:lnTo>
                <a:lnTo>
                  <a:pt x="76" y="427"/>
                </a:lnTo>
                <a:lnTo>
                  <a:pt x="65" y="427"/>
                </a:lnTo>
                <a:lnTo>
                  <a:pt x="54" y="427"/>
                </a:lnTo>
                <a:lnTo>
                  <a:pt x="46" y="424"/>
                </a:lnTo>
                <a:lnTo>
                  <a:pt x="35" y="421"/>
                </a:lnTo>
                <a:lnTo>
                  <a:pt x="27" y="416"/>
                </a:lnTo>
                <a:lnTo>
                  <a:pt x="21" y="410"/>
                </a:lnTo>
                <a:lnTo>
                  <a:pt x="13" y="402"/>
                </a:lnTo>
                <a:lnTo>
                  <a:pt x="8" y="394"/>
                </a:lnTo>
                <a:lnTo>
                  <a:pt x="5" y="386"/>
                </a:lnTo>
                <a:lnTo>
                  <a:pt x="2" y="375"/>
                </a:lnTo>
                <a:lnTo>
                  <a:pt x="2" y="364"/>
                </a:lnTo>
                <a:lnTo>
                  <a:pt x="2" y="65"/>
                </a:lnTo>
              </a:path>
            </a:pathLst>
          </a:custGeom>
          <a:solidFill>
            <a:srgbClr val="006600"/>
          </a:solidFill>
          <a:ln w="17640">
            <a:solidFill>
              <a:srgbClr val="6666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1755" name="Freeform 143"/>
          <p:cNvSpPr>
            <a:spLocks noChangeArrowheads="1"/>
          </p:cNvSpPr>
          <p:nvPr/>
        </p:nvSpPr>
        <p:spPr bwMode="auto">
          <a:xfrm>
            <a:off x="4416426" y="3369841"/>
            <a:ext cx="1490663" cy="1743075"/>
          </a:xfrm>
          <a:custGeom>
            <a:avLst/>
            <a:gdLst>
              <a:gd name="T0" fmla="*/ 851 w 853"/>
              <a:gd name="T1" fmla="*/ 995 h 997"/>
              <a:gd name="T2" fmla="*/ 853 w 853"/>
              <a:gd name="T3" fmla="*/ 0 h 997"/>
              <a:gd name="T4" fmla="*/ 0 w 853"/>
              <a:gd name="T5" fmla="*/ 0 h 997"/>
              <a:gd name="T6" fmla="*/ 0 w 853"/>
              <a:gd name="T7" fmla="*/ 997 h 997"/>
              <a:gd name="T8" fmla="*/ 853 w 853"/>
              <a:gd name="T9" fmla="*/ 997 h 997"/>
              <a:gd name="T10" fmla="*/ 853 w 853"/>
              <a:gd name="T11" fmla="*/ 997 h 997"/>
              <a:gd name="T12" fmla="*/ 851 w 853"/>
              <a:gd name="T13" fmla="*/ 995 h 9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853"/>
              <a:gd name="T22" fmla="*/ 0 h 997"/>
              <a:gd name="T23" fmla="*/ 853 w 853"/>
              <a:gd name="T24" fmla="*/ 997 h 99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853" h="997">
                <a:moveTo>
                  <a:pt x="851" y="995"/>
                </a:moveTo>
                <a:lnTo>
                  <a:pt x="853" y="0"/>
                </a:lnTo>
                <a:lnTo>
                  <a:pt x="0" y="0"/>
                </a:lnTo>
                <a:lnTo>
                  <a:pt x="0" y="997"/>
                </a:lnTo>
                <a:lnTo>
                  <a:pt x="853" y="997"/>
                </a:lnTo>
                <a:lnTo>
                  <a:pt x="851" y="99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56" name="Freeform 144"/>
          <p:cNvSpPr>
            <a:spLocks noChangeArrowheads="1"/>
          </p:cNvSpPr>
          <p:nvPr/>
        </p:nvSpPr>
        <p:spPr bwMode="auto">
          <a:xfrm>
            <a:off x="4416426" y="3369841"/>
            <a:ext cx="1490663" cy="1743075"/>
          </a:xfrm>
          <a:custGeom>
            <a:avLst/>
            <a:gdLst>
              <a:gd name="T0" fmla="*/ 851 w 853"/>
              <a:gd name="T1" fmla="*/ 995 h 997"/>
              <a:gd name="T2" fmla="*/ 853 w 853"/>
              <a:gd name="T3" fmla="*/ 0 h 997"/>
              <a:gd name="T4" fmla="*/ 0 w 853"/>
              <a:gd name="T5" fmla="*/ 0 h 997"/>
              <a:gd name="T6" fmla="*/ 0 w 853"/>
              <a:gd name="T7" fmla="*/ 997 h 997"/>
              <a:gd name="T8" fmla="*/ 853 w 853"/>
              <a:gd name="T9" fmla="*/ 997 h 997"/>
              <a:gd name="T10" fmla="*/ 853 w 853"/>
              <a:gd name="T11" fmla="*/ 997 h 99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853"/>
              <a:gd name="T19" fmla="*/ 0 h 997"/>
              <a:gd name="T20" fmla="*/ 853 w 853"/>
              <a:gd name="T21" fmla="*/ 997 h 99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853" h="997">
                <a:moveTo>
                  <a:pt x="851" y="995"/>
                </a:moveTo>
                <a:lnTo>
                  <a:pt x="853" y="0"/>
                </a:lnTo>
                <a:lnTo>
                  <a:pt x="0" y="0"/>
                </a:lnTo>
                <a:lnTo>
                  <a:pt x="0" y="997"/>
                </a:lnTo>
                <a:lnTo>
                  <a:pt x="853" y="997"/>
                </a:lnTo>
              </a:path>
            </a:pathLst>
          </a:custGeom>
          <a:noFill/>
          <a:ln w="1764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57" name="Rectangle 145"/>
          <p:cNvSpPr>
            <a:spLocks noChangeArrowheads="1"/>
          </p:cNvSpPr>
          <p:nvPr/>
        </p:nvSpPr>
        <p:spPr bwMode="auto">
          <a:xfrm>
            <a:off x="5119688" y="3433341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758" name="Rectangle 146"/>
          <p:cNvSpPr>
            <a:spLocks noChangeArrowheads="1"/>
          </p:cNvSpPr>
          <p:nvPr/>
        </p:nvSpPr>
        <p:spPr bwMode="auto">
          <a:xfrm>
            <a:off x="5237164" y="343334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759" name="Rectangle 147"/>
          <p:cNvSpPr>
            <a:spLocks noChangeArrowheads="1"/>
          </p:cNvSpPr>
          <p:nvPr/>
        </p:nvSpPr>
        <p:spPr bwMode="auto">
          <a:xfrm>
            <a:off x="5321300" y="3433341"/>
            <a:ext cx="7778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71760" name="Rectangle 148"/>
          <p:cNvSpPr>
            <a:spLocks noChangeArrowheads="1"/>
          </p:cNvSpPr>
          <p:nvPr/>
        </p:nvSpPr>
        <p:spPr bwMode="auto">
          <a:xfrm>
            <a:off x="5414963" y="3433341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71761" name="Rectangle 149"/>
          <p:cNvSpPr>
            <a:spLocks noChangeArrowheads="1"/>
          </p:cNvSpPr>
          <p:nvPr/>
        </p:nvSpPr>
        <p:spPr bwMode="auto">
          <a:xfrm>
            <a:off x="5448300" y="3433341"/>
            <a:ext cx="7143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71762" name="Rectangle 150"/>
          <p:cNvSpPr>
            <a:spLocks noChangeArrowheads="1"/>
          </p:cNvSpPr>
          <p:nvPr/>
        </p:nvSpPr>
        <p:spPr bwMode="auto">
          <a:xfrm>
            <a:off x="5526088" y="3433341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763" name="Rectangle 151"/>
          <p:cNvSpPr>
            <a:spLocks noChangeArrowheads="1"/>
          </p:cNvSpPr>
          <p:nvPr/>
        </p:nvSpPr>
        <p:spPr bwMode="auto">
          <a:xfrm>
            <a:off x="5570539" y="343334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764" name="Rectangle 152"/>
          <p:cNvSpPr>
            <a:spLocks noChangeArrowheads="1"/>
          </p:cNvSpPr>
          <p:nvPr/>
        </p:nvSpPr>
        <p:spPr bwMode="auto">
          <a:xfrm>
            <a:off x="5654676" y="3433341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765" name="Rectangle 153"/>
          <p:cNvSpPr>
            <a:spLocks noChangeArrowheads="1"/>
          </p:cNvSpPr>
          <p:nvPr/>
        </p:nvSpPr>
        <p:spPr bwMode="auto">
          <a:xfrm>
            <a:off x="5713414" y="3433341"/>
            <a:ext cx="7143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71766" name="Rectangle 154"/>
          <p:cNvSpPr>
            <a:spLocks noChangeArrowheads="1"/>
          </p:cNvSpPr>
          <p:nvPr/>
        </p:nvSpPr>
        <p:spPr bwMode="auto">
          <a:xfrm>
            <a:off x="4460876" y="4311229"/>
            <a:ext cx="1317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71767" name="Rectangle 155"/>
          <p:cNvSpPr>
            <a:spLocks noChangeArrowheads="1"/>
          </p:cNvSpPr>
          <p:nvPr/>
        </p:nvSpPr>
        <p:spPr bwMode="auto">
          <a:xfrm>
            <a:off x="4611689" y="4311229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768" name="Rectangle 156"/>
          <p:cNvSpPr>
            <a:spLocks noChangeArrowheads="1"/>
          </p:cNvSpPr>
          <p:nvPr/>
        </p:nvSpPr>
        <p:spPr bwMode="auto">
          <a:xfrm>
            <a:off x="4670425" y="4311229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71769" name="Rectangle 157"/>
          <p:cNvSpPr>
            <a:spLocks noChangeArrowheads="1"/>
          </p:cNvSpPr>
          <p:nvPr/>
        </p:nvSpPr>
        <p:spPr bwMode="auto">
          <a:xfrm>
            <a:off x="4700588" y="4311229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770" name="Rectangle 158"/>
          <p:cNvSpPr>
            <a:spLocks noChangeArrowheads="1"/>
          </p:cNvSpPr>
          <p:nvPr/>
        </p:nvSpPr>
        <p:spPr bwMode="auto">
          <a:xfrm>
            <a:off x="4743451" y="431122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771" name="Rectangle 159"/>
          <p:cNvSpPr>
            <a:spLocks noChangeArrowheads="1"/>
          </p:cNvSpPr>
          <p:nvPr/>
        </p:nvSpPr>
        <p:spPr bwMode="auto">
          <a:xfrm>
            <a:off x="4833939" y="4311228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72" name="Rectangle 160"/>
          <p:cNvSpPr>
            <a:spLocks noChangeArrowheads="1"/>
          </p:cNvSpPr>
          <p:nvPr/>
        </p:nvSpPr>
        <p:spPr bwMode="auto">
          <a:xfrm>
            <a:off x="4464051" y="4477916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773" name="Rectangle 161"/>
          <p:cNvSpPr>
            <a:spLocks noChangeArrowheads="1"/>
          </p:cNvSpPr>
          <p:nvPr/>
        </p:nvSpPr>
        <p:spPr bwMode="auto">
          <a:xfrm>
            <a:off x="4516439" y="447791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774" name="Rectangle 162"/>
          <p:cNvSpPr>
            <a:spLocks noChangeArrowheads="1"/>
          </p:cNvSpPr>
          <p:nvPr/>
        </p:nvSpPr>
        <p:spPr bwMode="auto">
          <a:xfrm>
            <a:off x="4605338" y="4477916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71775" name="Rectangle 163"/>
          <p:cNvSpPr>
            <a:spLocks noChangeArrowheads="1"/>
          </p:cNvSpPr>
          <p:nvPr/>
        </p:nvSpPr>
        <p:spPr bwMode="auto">
          <a:xfrm>
            <a:off x="4692650" y="4477916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71776" name="Rectangle 164"/>
          <p:cNvSpPr>
            <a:spLocks noChangeArrowheads="1"/>
          </p:cNvSpPr>
          <p:nvPr/>
        </p:nvSpPr>
        <p:spPr bwMode="auto">
          <a:xfrm>
            <a:off x="4730750" y="4477916"/>
            <a:ext cx="7143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71777" name="Rectangle 165"/>
          <p:cNvSpPr>
            <a:spLocks noChangeArrowheads="1"/>
          </p:cNvSpPr>
          <p:nvPr/>
        </p:nvSpPr>
        <p:spPr bwMode="auto">
          <a:xfrm>
            <a:off x="4805363" y="4477916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778" name="Rectangle 166"/>
          <p:cNvSpPr>
            <a:spLocks noChangeArrowheads="1"/>
          </p:cNvSpPr>
          <p:nvPr/>
        </p:nvSpPr>
        <p:spPr bwMode="auto">
          <a:xfrm>
            <a:off x="4848226" y="447791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779" name="Rectangle 167"/>
          <p:cNvSpPr>
            <a:spLocks noChangeArrowheads="1"/>
          </p:cNvSpPr>
          <p:nvPr/>
        </p:nvSpPr>
        <p:spPr bwMode="auto">
          <a:xfrm>
            <a:off x="4937126" y="4477916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780" name="Rectangle 168"/>
          <p:cNvSpPr>
            <a:spLocks noChangeArrowheads="1"/>
          </p:cNvSpPr>
          <p:nvPr/>
        </p:nvSpPr>
        <p:spPr bwMode="auto">
          <a:xfrm>
            <a:off x="4460876" y="4730329"/>
            <a:ext cx="1317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71781" name="Rectangle 169"/>
          <p:cNvSpPr>
            <a:spLocks noChangeArrowheads="1"/>
          </p:cNvSpPr>
          <p:nvPr/>
        </p:nvSpPr>
        <p:spPr bwMode="auto">
          <a:xfrm>
            <a:off x="4611689" y="4730329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782" name="Rectangle 170"/>
          <p:cNvSpPr>
            <a:spLocks noChangeArrowheads="1"/>
          </p:cNvSpPr>
          <p:nvPr/>
        </p:nvSpPr>
        <p:spPr bwMode="auto">
          <a:xfrm>
            <a:off x="4670425" y="4730329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71783" name="Rectangle 171"/>
          <p:cNvSpPr>
            <a:spLocks noChangeArrowheads="1"/>
          </p:cNvSpPr>
          <p:nvPr/>
        </p:nvSpPr>
        <p:spPr bwMode="auto">
          <a:xfrm>
            <a:off x="4700588" y="4730329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784" name="Rectangle 172"/>
          <p:cNvSpPr>
            <a:spLocks noChangeArrowheads="1"/>
          </p:cNvSpPr>
          <p:nvPr/>
        </p:nvSpPr>
        <p:spPr bwMode="auto">
          <a:xfrm>
            <a:off x="4743451" y="473032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785" name="Rectangle 173"/>
          <p:cNvSpPr>
            <a:spLocks noChangeArrowheads="1"/>
          </p:cNvSpPr>
          <p:nvPr/>
        </p:nvSpPr>
        <p:spPr bwMode="auto">
          <a:xfrm>
            <a:off x="4833939" y="4730328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86" name="Rectangle 174"/>
          <p:cNvSpPr>
            <a:spLocks noChangeArrowheads="1"/>
          </p:cNvSpPr>
          <p:nvPr/>
        </p:nvSpPr>
        <p:spPr bwMode="auto">
          <a:xfrm>
            <a:off x="4464051" y="490019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787" name="Rectangle 175"/>
          <p:cNvSpPr>
            <a:spLocks noChangeArrowheads="1"/>
          </p:cNvSpPr>
          <p:nvPr/>
        </p:nvSpPr>
        <p:spPr bwMode="auto">
          <a:xfrm>
            <a:off x="4552951" y="490019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788" name="Rectangle 176"/>
          <p:cNvSpPr>
            <a:spLocks noChangeArrowheads="1"/>
          </p:cNvSpPr>
          <p:nvPr/>
        </p:nvSpPr>
        <p:spPr bwMode="auto">
          <a:xfrm>
            <a:off x="4638675" y="4900191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789" name="Rectangle 177"/>
          <p:cNvSpPr>
            <a:spLocks noChangeArrowheads="1"/>
          </p:cNvSpPr>
          <p:nvPr/>
        </p:nvSpPr>
        <p:spPr bwMode="auto">
          <a:xfrm>
            <a:off x="4681539" y="490019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790" name="Rectangle 178"/>
          <p:cNvSpPr>
            <a:spLocks noChangeArrowheads="1"/>
          </p:cNvSpPr>
          <p:nvPr/>
        </p:nvSpPr>
        <p:spPr bwMode="auto">
          <a:xfrm>
            <a:off x="5500688" y="3850854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791" name="Rectangle 179"/>
          <p:cNvSpPr>
            <a:spLocks noChangeArrowheads="1"/>
          </p:cNvSpPr>
          <p:nvPr/>
        </p:nvSpPr>
        <p:spPr bwMode="auto">
          <a:xfrm>
            <a:off x="5613401" y="38508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792" name="Rectangle 180"/>
          <p:cNvSpPr>
            <a:spLocks noChangeArrowheads="1"/>
          </p:cNvSpPr>
          <p:nvPr/>
        </p:nvSpPr>
        <p:spPr bwMode="auto">
          <a:xfrm>
            <a:off x="5703889" y="38508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793" name="Rectangle 181"/>
          <p:cNvSpPr>
            <a:spLocks noChangeArrowheads="1"/>
          </p:cNvSpPr>
          <p:nvPr/>
        </p:nvSpPr>
        <p:spPr bwMode="auto">
          <a:xfrm>
            <a:off x="5788026" y="38508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794" name="Rectangle 182"/>
          <p:cNvSpPr>
            <a:spLocks noChangeArrowheads="1"/>
          </p:cNvSpPr>
          <p:nvPr/>
        </p:nvSpPr>
        <p:spPr bwMode="auto">
          <a:xfrm>
            <a:off x="5878514" y="3850853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95" name="Rectangle 183"/>
          <p:cNvSpPr>
            <a:spLocks noChangeArrowheads="1"/>
          </p:cNvSpPr>
          <p:nvPr/>
        </p:nvSpPr>
        <p:spPr bwMode="auto">
          <a:xfrm>
            <a:off x="5402264" y="403182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796" name="Rectangle 184"/>
          <p:cNvSpPr>
            <a:spLocks noChangeArrowheads="1"/>
          </p:cNvSpPr>
          <p:nvPr/>
        </p:nvSpPr>
        <p:spPr bwMode="auto">
          <a:xfrm>
            <a:off x="5489576" y="403182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797" name="Rectangle 185"/>
          <p:cNvSpPr>
            <a:spLocks noChangeArrowheads="1"/>
          </p:cNvSpPr>
          <p:nvPr/>
        </p:nvSpPr>
        <p:spPr bwMode="auto">
          <a:xfrm>
            <a:off x="5578475" y="4031829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798" name="Rectangle 186"/>
          <p:cNvSpPr>
            <a:spLocks noChangeArrowheads="1"/>
          </p:cNvSpPr>
          <p:nvPr/>
        </p:nvSpPr>
        <p:spPr bwMode="auto">
          <a:xfrm>
            <a:off x="5622926" y="403182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799" name="Rectangle 187"/>
          <p:cNvSpPr>
            <a:spLocks noChangeArrowheads="1"/>
          </p:cNvSpPr>
          <p:nvPr/>
        </p:nvSpPr>
        <p:spPr bwMode="auto">
          <a:xfrm>
            <a:off x="5711825" y="4031829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100">
                <a:solidFill>
                  <a:srgbClr val="666666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71800" name="Rectangle 188"/>
          <p:cNvSpPr>
            <a:spLocks noChangeArrowheads="1"/>
          </p:cNvSpPr>
          <p:nvPr/>
        </p:nvSpPr>
        <p:spPr bwMode="auto">
          <a:xfrm>
            <a:off x="5754689" y="403182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71801" name="Rectangle 189"/>
          <p:cNvSpPr>
            <a:spLocks noChangeArrowheads="1"/>
          </p:cNvSpPr>
          <p:nvPr/>
        </p:nvSpPr>
        <p:spPr bwMode="auto">
          <a:xfrm>
            <a:off x="5500688" y="4293766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802" name="Rectangle 190"/>
          <p:cNvSpPr>
            <a:spLocks noChangeArrowheads="1"/>
          </p:cNvSpPr>
          <p:nvPr/>
        </p:nvSpPr>
        <p:spPr bwMode="auto">
          <a:xfrm>
            <a:off x="5613401" y="429376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803" name="Rectangle 191"/>
          <p:cNvSpPr>
            <a:spLocks noChangeArrowheads="1"/>
          </p:cNvSpPr>
          <p:nvPr/>
        </p:nvSpPr>
        <p:spPr bwMode="auto">
          <a:xfrm>
            <a:off x="5703889" y="429376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804" name="Rectangle 192"/>
          <p:cNvSpPr>
            <a:spLocks noChangeArrowheads="1"/>
          </p:cNvSpPr>
          <p:nvPr/>
        </p:nvSpPr>
        <p:spPr bwMode="auto">
          <a:xfrm>
            <a:off x="5788026" y="429376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805" name="Rectangle 193"/>
          <p:cNvSpPr>
            <a:spLocks noChangeArrowheads="1"/>
          </p:cNvSpPr>
          <p:nvPr/>
        </p:nvSpPr>
        <p:spPr bwMode="auto">
          <a:xfrm>
            <a:off x="5878514" y="4293765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06" name="Rectangle 194"/>
          <p:cNvSpPr>
            <a:spLocks noChangeArrowheads="1"/>
          </p:cNvSpPr>
          <p:nvPr/>
        </p:nvSpPr>
        <p:spPr bwMode="auto">
          <a:xfrm>
            <a:off x="5402264" y="44731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807" name="Rectangle 195"/>
          <p:cNvSpPr>
            <a:spLocks noChangeArrowheads="1"/>
          </p:cNvSpPr>
          <p:nvPr/>
        </p:nvSpPr>
        <p:spPr bwMode="auto">
          <a:xfrm>
            <a:off x="5489576" y="44731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808" name="Rectangle 196"/>
          <p:cNvSpPr>
            <a:spLocks noChangeArrowheads="1"/>
          </p:cNvSpPr>
          <p:nvPr/>
        </p:nvSpPr>
        <p:spPr bwMode="auto">
          <a:xfrm>
            <a:off x="5578475" y="4473154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809" name="Rectangle 197"/>
          <p:cNvSpPr>
            <a:spLocks noChangeArrowheads="1"/>
          </p:cNvSpPr>
          <p:nvPr/>
        </p:nvSpPr>
        <p:spPr bwMode="auto">
          <a:xfrm>
            <a:off x="5622926" y="44731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810" name="Rectangle 198"/>
          <p:cNvSpPr>
            <a:spLocks noChangeArrowheads="1"/>
          </p:cNvSpPr>
          <p:nvPr/>
        </p:nvSpPr>
        <p:spPr bwMode="auto">
          <a:xfrm>
            <a:off x="5711825" y="4473154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100">
                <a:solidFill>
                  <a:srgbClr val="666666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71811" name="Rectangle 199"/>
          <p:cNvSpPr>
            <a:spLocks noChangeArrowheads="1"/>
          </p:cNvSpPr>
          <p:nvPr/>
        </p:nvSpPr>
        <p:spPr bwMode="auto">
          <a:xfrm>
            <a:off x="5754689" y="44731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71812" name="Rectangle 200"/>
          <p:cNvSpPr>
            <a:spLocks noChangeArrowheads="1"/>
          </p:cNvSpPr>
          <p:nvPr/>
        </p:nvSpPr>
        <p:spPr bwMode="auto">
          <a:xfrm>
            <a:off x="4464050" y="3507954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813" name="Rectangle 201"/>
          <p:cNvSpPr>
            <a:spLocks noChangeArrowheads="1"/>
          </p:cNvSpPr>
          <p:nvPr/>
        </p:nvSpPr>
        <p:spPr bwMode="auto">
          <a:xfrm>
            <a:off x="4578351" y="35079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814" name="Rectangle 202"/>
          <p:cNvSpPr>
            <a:spLocks noChangeArrowheads="1"/>
          </p:cNvSpPr>
          <p:nvPr/>
        </p:nvSpPr>
        <p:spPr bwMode="auto">
          <a:xfrm>
            <a:off x="4668839" y="35079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815" name="Rectangle 203"/>
          <p:cNvSpPr>
            <a:spLocks noChangeArrowheads="1"/>
          </p:cNvSpPr>
          <p:nvPr/>
        </p:nvSpPr>
        <p:spPr bwMode="auto">
          <a:xfrm>
            <a:off x="4754564" y="35079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816" name="Rectangle 204"/>
          <p:cNvSpPr>
            <a:spLocks noChangeArrowheads="1"/>
          </p:cNvSpPr>
          <p:nvPr/>
        </p:nvSpPr>
        <p:spPr bwMode="auto">
          <a:xfrm>
            <a:off x="4845050" y="3507953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17" name="Rectangle 205"/>
          <p:cNvSpPr>
            <a:spLocks noChangeArrowheads="1"/>
          </p:cNvSpPr>
          <p:nvPr/>
        </p:nvSpPr>
        <p:spPr bwMode="auto">
          <a:xfrm>
            <a:off x="4464051" y="3674641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818" name="Rectangle 206"/>
          <p:cNvSpPr>
            <a:spLocks noChangeArrowheads="1"/>
          </p:cNvSpPr>
          <p:nvPr/>
        </p:nvSpPr>
        <p:spPr bwMode="auto">
          <a:xfrm>
            <a:off x="4516439" y="367464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819" name="Rectangle 207"/>
          <p:cNvSpPr>
            <a:spLocks noChangeArrowheads="1"/>
          </p:cNvSpPr>
          <p:nvPr/>
        </p:nvSpPr>
        <p:spPr bwMode="auto">
          <a:xfrm>
            <a:off x="4605338" y="3674641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71820" name="Rectangle 208"/>
          <p:cNvSpPr>
            <a:spLocks noChangeArrowheads="1"/>
          </p:cNvSpPr>
          <p:nvPr/>
        </p:nvSpPr>
        <p:spPr bwMode="auto">
          <a:xfrm>
            <a:off x="4692650" y="3674641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71821" name="Rectangle 209"/>
          <p:cNvSpPr>
            <a:spLocks noChangeArrowheads="1"/>
          </p:cNvSpPr>
          <p:nvPr/>
        </p:nvSpPr>
        <p:spPr bwMode="auto">
          <a:xfrm>
            <a:off x="4730750" y="3674641"/>
            <a:ext cx="7143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71822" name="Rectangle 210"/>
          <p:cNvSpPr>
            <a:spLocks noChangeArrowheads="1"/>
          </p:cNvSpPr>
          <p:nvPr/>
        </p:nvSpPr>
        <p:spPr bwMode="auto">
          <a:xfrm>
            <a:off x="4805363" y="3674641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823" name="Rectangle 211"/>
          <p:cNvSpPr>
            <a:spLocks noChangeArrowheads="1"/>
          </p:cNvSpPr>
          <p:nvPr/>
        </p:nvSpPr>
        <p:spPr bwMode="auto">
          <a:xfrm>
            <a:off x="4848226" y="367464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824" name="Rectangle 212"/>
          <p:cNvSpPr>
            <a:spLocks noChangeArrowheads="1"/>
          </p:cNvSpPr>
          <p:nvPr/>
        </p:nvSpPr>
        <p:spPr bwMode="auto">
          <a:xfrm>
            <a:off x="4937126" y="3674641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825" name="Rectangle 213"/>
          <p:cNvSpPr>
            <a:spLocks noChangeArrowheads="1"/>
          </p:cNvSpPr>
          <p:nvPr/>
        </p:nvSpPr>
        <p:spPr bwMode="auto">
          <a:xfrm>
            <a:off x="4989513" y="3674641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100">
                <a:solidFill>
                  <a:srgbClr val="666666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71826" name="Rectangle 214"/>
          <p:cNvSpPr>
            <a:spLocks noChangeArrowheads="1"/>
          </p:cNvSpPr>
          <p:nvPr/>
        </p:nvSpPr>
        <p:spPr bwMode="auto">
          <a:xfrm>
            <a:off x="5033964" y="367464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71827" name="Rectangle 215"/>
          <p:cNvSpPr>
            <a:spLocks noChangeArrowheads="1"/>
          </p:cNvSpPr>
          <p:nvPr/>
        </p:nvSpPr>
        <p:spPr bwMode="auto">
          <a:xfrm>
            <a:off x="4473575" y="3922291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828" name="Rectangle 216"/>
          <p:cNvSpPr>
            <a:spLocks noChangeArrowheads="1"/>
          </p:cNvSpPr>
          <p:nvPr/>
        </p:nvSpPr>
        <p:spPr bwMode="auto">
          <a:xfrm>
            <a:off x="4587876" y="392229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829" name="Rectangle 217"/>
          <p:cNvSpPr>
            <a:spLocks noChangeArrowheads="1"/>
          </p:cNvSpPr>
          <p:nvPr/>
        </p:nvSpPr>
        <p:spPr bwMode="auto">
          <a:xfrm>
            <a:off x="4678364" y="392229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830" name="Rectangle 218"/>
          <p:cNvSpPr>
            <a:spLocks noChangeArrowheads="1"/>
          </p:cNvSpPr>
          <p:nvPr/>
        </p:nvSpPr>
        <p:spPr bwMode="auto">
          <a:xfrm>
            <a:off x="4764089" y="392229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831" name="Rectangle 219"/>
          <p:cNvSpPr>
            <a:spLocks noChangeArrowheads="1"/>
          </p:cNvSpPr>
          <p:nvPr/>
        </p:nvSpPr>
        <p:spPr bwMode="auto">
          <a:xfrm>
            <a:off x="4852989" y="3922290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32" name="Rectangle 220"/>
          <p:cNvSpPr>
            <a:spLocks noChangeArrowheads="1"/>
          </p:cNvSpPr>
          <p:nvPr/>
        </p:nvSpPr>
        <p:spPr bwMode="auto">
          <a:xfrm>
            <a:off x="4471989" y="4088979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833" name="Rectangle 221"/>
          <p:cNvSpPr>
            <a:spLocks noChangeArrowheads="1"/>
          </p:cNvSpPr>
          <p:nvPr/>
        </p:nvSpPr>
        <p:spPr bwMode="auto">
          <a:xfrm>
            <a:off x="4525964" y="408897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834" name="Rectangle 222"/>
          <p:cNvSpPr>
            <a:spLocks noChangeArrowheads="1"/>
          </p:cNvSpPr>
          <p:nvPr/>
        </p:nvSpPr>
        <p:spPr bwMode="auto">
          <a:xfrm>
            <a:off x="4614863" y="4088979"/>
            <a:ext cx="7854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71835" name="Rectangle 223"/>
          <p:cNvSpPr>
            <a:spLocks noChangeArrowheads="1"/>
          </p:cNvSpPr>
          <p:nvPr/>
        </p:nvSpPr>
        <p:spPr bwMode="auto">
          <a:xfrm>
            <a:off x="4702175" y="4088979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71836" name="Rectangle 224"/>
          <p:cNvSpPr>
            <a:spLocks noChangeArrowheads="1"/>
          </p:cNvSpPr>
          <p:nvPr/>
        </p:nvSpPr>
        <p:spPr bwMode="auto">
          <a:xfrm>
            <a:off x="4740275" y="4088979"/>
            <a:ext cx="7143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71837" name="Rectangle 225"/>
          <p:cNvSpPr>
            <a:spLocks noChangeArrowheads="1"/>
          </p:cNvSpPr>
          <p:nvPr/>
        </p:nvSpPr>
        <p:spPr bwMode="auto">
          <a:xfrm>
            <a:off x="4813300" y="4088979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838" name="Rectangle 226"/>
          <p:cNvSpPr>
            <a:spLocks noChangeArrowheads="1"/>
          </p:cNvSpPr>
          <p:nvPr/>
        </p:nvSpPr>
        <p:spPr bwMode="auto">
          <a:xfrm>
            <a:off x="4864101" y="408897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839" name="Rectangle 227"/>
          <p:cNvSpPr>
            <a:spLocks noChangeArrowheads="1"/>
          </p:cNvSpPr>
          <p:nvPr/>
        </p:nvSpPr>
        <p:spPr bwMode="auto">
          <a:xfrm>
            <a:off x="4948239" y="4088979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840" name="Rectangle 228"/>
          <p:cNvSpPr>
            <a:spLocks noChangeArrowheads="1"/>
          </p:cNvSpPr>
          <p:nvPr/>
        </p:nvSpPr>
        <p:spPr bwMode="auto">
          <a:xfrm>
            <a:off x="4999038" y="4088979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100">
                <a:solidFill>
                  <a:srgbClr val="666666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71841" name="Rectangle 229"/>
          <p:cNvSpPr>
            <a:spLocks noChangeArrowheads="1"/>
          </p:cNvSpPr>
          <p:nvPr/>
        </p:nvSpPr>
        <p:spPr bwMode="auto">
          <a:xfrm>
            <a:off x="5043489" y="408897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71842" name="Freeform 230"/>
          <p:cNvSpPr>
            <a:spLocks noChangeArrowheads="1"/>
          </p:cNvSpPr>
          <p:nvPr/>
        </p:nvSpPr>
        <p:spPr bwMode="auto">
          <a:xfrm>
            <a:off x="4165600" y="4785890"/>
            <a:ext cx="6072188" cy="1595438"/>
          </a:xfrm>
          <a:custGeom>
            <a:avLst/>
            <a:gdLst>
              <a:gd name="T0" fmla="*/ 3399 w 3475"/>
              <a:gd name="T1" fmla="*/ 0 h 913"/>
              <a:gd name="T2" fmla="*/ 3475 w 3475"/>
              <a:gd name="T3" fmla="*/ 0 h 913"/>
              <a:gd name="T4" fmla="*/ 3475 w 3475"/>
              <a:gd name="T5" fmla="*/ 913 h 913"/>
              <a:gd name="T6" fmla="*/ 0 w 3475"/>
              <a:gd name="T7" fmla="*/ 913 h 913"/>
              <a:gd name="T8" fmla="*/ 0 w 3475"/>
              <a:gd name="T9" fmla="*/ 65 h 913"/>
              <a:gd name="T10" fmla="*/ 95 w 3475"/>
              <a:gd name="T11" fmla="*/ 65 h 91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475"/>
              <a:gd name="T19" fmla="*/ 0 h 913"/>
              <a:gd name="T20" fmla="*/ 3475 w 3475"/>
              <a:gd name="T21" fmla="*/ 913 h 91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475" h="913">
                <a:moveTo>
                  <a:pt x="3399" y="0"/>
                </a:moveTo>
                <a:lnTo>
                  <a:pt x="3475" y="0"/>
                </a:lnTo>
                <a:lnTo>
                  <a:pt x="3475" y="913"/>
                </a:lnTo>
                <a:lnTo>
                  <a:pt x="0" y="913"/>
                </a:lnTo>
                <a:lnTo>
                  <a:pt x="0" y="65"/>
                </a:lnTo>
                <a:lnTo>
                  <a:pt x="95" y="65"/>
                </a:lnTo>
              </a:path>
            </a:pathLst>
          </a:custGeom>
          <a:noFill/>
          <a:ln w="3492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43" name="Freeform 231"/>
          <p:cNvSpPr>
            <a:spLocks noChangeArrowheads="1"/>
          </p:cNvSpPr>
          <p:nvPr/>
        </p:nvSpPr>
        <p:spPr bwMode="auto">
          <a:xfrm>
            <a:off x="7089775" y="3779415"/>
            <a:ext cx="808038" cy="1181100"/>
          </a:xfrm>
          <a:custGeom>
            <a:avLst/>
            <a:gdLst>
              <a:gd name="T0" fmla="*/ 0 w 462"/>
              <a:gd name="T1" fmla="*/ 0 h 676"/>
              <a:gd name="T2" fmla="*/ 0 w 462"/>
              <a:gd name="T3" fmla="*/ 274 h 676"/>
              <a:gd name="T4" fmla="*/ 70 w 462"/>
              <a:gd name="T5" fmla="*/ 340 h 676"/>
              <a:gd name="T6" fmla="*/ 0 w 462"/>
              <a:gd name="T7" fmla="*/ 405 h 676"/>
              <a:gd name="T8" fmla="*/ 0 w 462"/>
              <a:gd name="T9" fmla="*/ 676 h 676"/>
              <a:gd name="T10" fmla="*/ 462 w 462"/>
              <a:gd name="T11" fmla="*/ 470 h 676"/>
              <a:gd name="T12" fmla="*/ 462 w 462"/>
              <a:gd name="T13" fmla="*/ 209 h 676"/>
              <a:gd name="T14" fmla="*/ 0 w 462"/>
              <a:gd name="T15" fmla="*/ 3 h 676"/>
              <a:gd name="T16" fmla="*/ 0 w 462"/>
              <a:gd name="T17" fmla="*/ 3 h 676"/>
              <a:gd name="T18" fmla="*/ 0 w 462"/>
              <a:gd name="T19" fmla="*/ 0 h 67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462"/>
              <a:gd name="T31" fmla="*/ 0 h 676"/>
              <a:gd name="T32" fmla="*/ 462 w 462"/>
              <a:gd name="T33" fmla="*/ 676 h 67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462" h="676">
                <a:moveTo>
                  <a:pt x="0" y="0"/>
                </a:moveTo>
                <a:lnTo>
                  <a:pt x="0" y="274"/>
                </a:lnTo>
                <a:lnTo>
                  <a:pt x="70" y="340"/>
                </a:lnTo>
                <a:lnTo>
                  <a:pt x="0" y="405"/>
                </a:lnTo>
                <a:lnTo>
                  <a:pt x="0" y="676"/>
                </a:lnTo>
                <a:lnTo>
                  <a:pt x="462" y="470"/>
                </a:lnTo>
                <a:lnTo>
                  <a:pt x="462" y="209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44" name="Freeform 232"/>
          <p:cNvSpPr>
            <a:spLocks noChangeArrowheads="1"/>
          </p:cNvSpPr>
          <p:nvPr/>
        </p:nvSpPr>
        <p:spPr bwMode="auto">
          <a:xfrm>
            <a:off x="7089775" y="3779415"/>
            <a:ext cx="808038" cy="1181100"/>
          </a:xfrm>
          <a:custGeom>
            <a:avLst/>
            <a:gdLst>
              <a:gd name="T0" fmla="*/ 0 w 462"/>
              <a:gd name="T1" fmla="*/ 0 h 676"/>
              <a:gd name="T2" fmla="*/ 0 w 462"/>
              <a:gd name="T3" fmla="*/ 274 h 676"/>
              <a:gd name="T4" fmla="*/ 70 w 462"/>
              <a:gd name="T5" fmla="*/ 340 h 676"/>
              <a:gd name="T6" fmla="*/ 0 w 462"/>
              <a:gd name="T7" fmla="*/ 405 h 676"/>
              <a:gd name="T8" fmla="*/ 0 w 462"/>
              <a:gd name="T9" fmla="*/ 676 h 676"/>
              <a:gd name="T10" fmla="*/ 462 w 462"/>
              <a:gd name="T11" fmla="*/ 470 h 676"/>
              <a:gd name="T12" fmla="*/ 462 w 462"/>
              <a:gd name="T13" fmla="*/ 209 h 676"/>
              <a:gd name="T14" fmla="*/ 0 w 462"/>
              <a:gd name="T15" fmla="*/ 3 h 676"/>
              <a:gd name="T16" fmla="*/ 0 w 462"/>
              <a:gd name="T17" fmla="*/ 3 h 67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62"/>
              <a:gd name="T28" fmla="*/ 0 h 676"/>
              <a:gd name="T29" fmla="*/ 462 w 462"/>
              <a:gd name="T30" fmla="*/ 676 h 67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62" h="676">
                <a:moveTo>
                  <a:pt x="0" y="0"/>
                </a:moveTo>
                <a:lnTo>
                  <a:pt x="0" y="274"/>
                </a:lnTo>
                <a:lnTo>
                  <a:pt x="70" y="340"/>
                </a:lnTo>
                <a:lnTo>
                  <a:pt x="0" y="405"/>
                </a:lnTo>
                <a:lnTo>
                  <a:pt x="0" y="676"/>
                </a:lnTo>
                <a:lnTo>
                  <a:pt x="462" y="470"/>
                </a:lnTo>
                <a:lnTo>
                  <a:pt x="462" y="209"/>
                </a:lnTo>
                <a:lnTo>
                  <a:pt x="0" y="3"/>
                </a:lnTo>
              </a:path>
            </a:pathLst>
          </a:custGeom>
          <a:noFill/>
          <a:ln w="1764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45" name="Rectangle 233"/>
          <p:cNvSpPr>
            <a:spLocks noChangeArrowheads="1"/>
          </p:cNvSpPr>
          <p:nvPr/>
        </p:nvSpPr>
        <p:spPr bwMode="auto">
          <a:xfrm>
            <a:off x="7583488" y="4296941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846" name="Rectangle 234"/>
          <p:cNvSpPr>
            <a:spLocks noChangeArrowheads="1"/>
          </p:cNvSpPr>
          <p:nvPr/>
        </p:nvSpPr>
        <p:spPr bwMode="auto">
          <a:xfrm>
            <a:off x="7693026" y="429694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71847" name="Rectangle 235"/>
          <p:cNvSpPr>
            <a:spLocks noChangeArrowheads="1"/>
          </p:cNvSpPr>
          <p:nvPr/>
        </p:nvSpPr>
        <p:spPr bwMode="auto">
          <a:xfrm>
            <a:off x="7778750" y="4296941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71848" name="Rectangle 236"/>
          <p:cNvSpPr>
            <a:spLocks noChangeArrowheads="1"/>
          </p:cNvSpPr>
          <p:nvPr/>
        </p:nvSpPr>
        <p:spPr bwMode="auto">
          <a:xfrm>
            <a:off x="7893050" y="4296940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49" name="Rectangle 237"/>
          <p:cNvSpPr>
            <a:spLocks noChangeArrowheads="1"/>
          </p:cNvSpPr>
          <p:nvPr/>
        </p:nvSpPr>
        <p:spPr bwMode="auto">
          <a:xfrm>
            <a:off x="7459664" y="4435054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850" name="Rectangle 238"/>
          <p:cNvSpPr>
            <a:spLocks noChangeArrowheads="1"/>
          </p:cNvSpPr>
          <p:nvPr/>
        </p:nvSpPr>
        <p:spPr bwMode="auto">
          <a:xfrm>
            <a:off x="7513639" y="44350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851" name="Rectangle 239"/>
          <p:cNvSpPr>
            <a:spLocks noChangeArrowheads="1"/>
          </p:cNvSpPr>
          <p:nvPr/>
        </p:nvSpPr>
        <p:spPr bwMode="auto">
          <a:xfrm>
            <a:off x="7602539" y="4435054"/>
            <a:ext cx="7143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71852" name="Rectangle 240"/>
          <p:cNvSpPr>
            <a:spLocks noChangeArrowheads="1"/>
          </p:cNvSpPr>
          <p:nvPr/>
        </p:nvSpPr>
        <p:spPr bwMode="auto">
          <a:xfrm>
            <a:off x="7683501" y="443505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71853" name="Rectangle 241"/>
          <p:cNvSpPr>
            <a:spLocks noChangeArrowheads="1"/>
          </p:cNvSpPr>
          <p:nvPr/>
        </p:nvSpPr>
        <p:spPr bwMode="auto">
          <a:xfrm>
            <a:off x="7769225" y="4435054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71854" name="Rectangle 242"/>
          <p:cNvSpPr>
            <a:spLocks noChangeArrowheads="1"/>
          </p:cNvSpPr>
          <p:nvPr/>
        </p:nvSpPr>
        <p:spPr bwMode="auto">
          <a:xfrm>
            <a:off x="7805738" y="4435054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855" name="Rectangle 243"/>
          <p:cNvSpPr>
            <a:spLocks noChangeArrowheads="1"/>
          </p:cNvSpPr>
          <p:nvPr/>
        </p:nvSpPr>
        <p:spPr bwMode="auto">
          <a:xfrm>
            <a:off x="7554914" y="4111204"/>
            <a:ext cx="857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Z</a:t>
            </a:r>
          </a:p>
        </p:txBody>
      </p:sp>
      <p:sp>
        <p:nvSpPr>
          <p:cNvPr id="71856" name="Rectangle 244"/>
          <p:cNvSpPr>
            <a:spLocks noChangeArrowheads="1"/>
          </p:cNvSpPr>
          <p:nvPr/>
        </p:nvSpPr>
        <p:spPr bwMode="auto">
          <a:xfrm>
            <a:off x="7650164" y="411120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857" name="Rectangle 245"/>
          <p:cNvSpPr>
            <a:spLocks noChangeArrowheads="1"/>
          </p:cNvSpPr>
          <p:nvPr/>
        </p:nvSpPr>
        <p:spPr bwMode="auto">
          <a:xfrm>
            <a:off x="7739064" y="4111204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858" name="Rectangle 246"/>
          <p:cNvSpPr>
            <a:spLocks noChangeArrowheads="1"/>
          </p:cNvSpPr>
          <p:nvPr/>
        </p:nvSpPr>
        <p:spPr bwMode="auto">
          <a:xfrm>
            <a:off x="7793039" y="411120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71859" name="Rectangle 247"/>
          <p:cNvSpPr>
            <a:spLocks noChangeArrowheads="1"/>
          </p:cNvSpPr>
          <p:nvPr/>
        </p:nvSpPr>
        <p:spPr bwMode="auto">
          <a:xfrm>
            <a:off x="8926513" y="4785891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860" name="Rectangle 248"/>
          <p:cNvSpPr>
            <a:spLocks noChangeArrowheads="1"/>
          </p:cNvSpPr>
          <p:nvPr/>
        </p:nvSpPr>
        <p:spPr bwMode="auto">
          <a:xfrm>
            <a:off x="9040814" y="478589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861" name="Rectangle 249"/>
          <p:cNvSpPr>
            <a:spLocks noChangeArrowheads="1"/>
          </p:cNvSpPr>
          <p:nvPr/>
        </p:nvSpPr>
        <p:spPr bwMode="auto">
          <a:xfrm>
            <a:off x="9129713" y="4785891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862" name="Rectangle 250"/>
          <p:cNvSpPr>
            <a:spLocks noChangeArrowheads="1"/>
          </p:cNvSpPr>
          <p:nvPr/>
        </p:nvSpPr>
        <p:spPr bwMode="auto">
          <a:xfrm>
            <a:off x="9175751" y="478589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863" name="Rectangle 251"/>
          <p:cNvSpPr>
            <a:spLocks noChangeArrowheads="1"/>
          </p:cNvSpPr>
          <p:nvPr/>
        </p:nvSpPr>
        <p:spPr bwMode="auto">
          <a:xfrm>
            <a:off x="9264650" y="4785890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64" name="Rectangle 252"/>
          <p:cNvSpPr>
            <a:spLocks noChangeArrowheads="1"/>
          </p:cNvSpPr>
          <p:nvPr/>
        </p:nvSpPr>
        <p:spPr bwMode="auto">
          <a:xfrm>
            <a:off x="8816975" y="4965279"/>
            <a:ext cx="11588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71865" name="Rectangle 253"/>
          <p:cNvSpPr>
            <a:spLocks noChangeArrowheads="1"/>
          </p:cNvSpPr>
          <p:nvPr/>
        </p:nvSpPr>
        <p:spPr bwMode="auto">
          <a:xfrm>
            <a:off x="8945564" y="496527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866" name="Rectangle 254"/>
          <p:cNvSpPr>
            <a:spLocks noChangeArrowheads="1"/>
          </p:cNvSpPr>
          <p:nvPr/>
        </p:nvSpPr>
        <p:spPr bwMode="auto">
          <a:xfrm>
            <a:off x="9036050" y="4965279"/>
            <a:ext cx="11588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71867" name="Rectangle 255"/>
          <p:cNvSpPr>
            <a:spLocks noChangeArrowheads="1"/>
          </p:cNvSpPr>
          <p:nvPr/>
        </p:nvSpPr>
        <p:spPr bwMode="auto">
          <a:xfrm>
            <a:off x="9169401" y="496527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71868" name="Rectangle 256"/>
          <p:cNvSpPr>
            <a:spLocks noChangeArrowheads="1"/>
          </p:cNvSpPr>
          <p:nvPr/>
        </p:nvSpPr>
        <p:spPr bwMode="auto">
          <a:xfrm>
            <a:off x="9253539" y="4965279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869" name="Rectangle 257"/>
          <p:cNvSpPr>
            <a:spLocks noChangeArrowheads="1"/>
          </p:cNvSpPr>
          <p:nvPr/>
        </p:nvSpPr>
        <p:spPr bwMode="auto">
          <a:xfrm>
            <a:off x="9307513" y="4965279"/>
            <a:ext cx="698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y</a:t>
            </a:r>
          </a:p>
        </p:txBody>
      </p:sp>
      <p:sp>
        <p:nvSpPr>
          <p:cNvPr id="71870" name="Rectangle 258"/>
          <p:cNvSpPr>
            <a:spLocks noChangeArrowheads="1"/>
          </p:cNvSpPr>
          <p:nvPr/>
        </p:nvSpPr>
        <p:spPr bwMode="auto">
          <a:xfrm>
            <a:off x="8291513" y="4344566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871" name="Rectangle 259"/>
          <p:cNvSpPr>
            <a:spLocks noChangeArrowheads="1"/>
          </p:cNvSpPr>
          <p:nvPr/>
        </p:nvSpPr>
        <p:spPr bwMode="auto">
          <a:xfrm>
            <a:off x="8396289" y="434456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872" name="Rectangle 260"/>
          <p:cNvSpPr>
            <a:spLocks noChangeArrowheads="1"/>
          </p:cNvSpPr>
          <p:nvPr/>
        </p:nvSpPr>
        <p:spPr bwMode="auto">
          <a:xfrm>
            <a:off x="8482014" y="434456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873" name="Rectangle 261"/>
          <p:cNvSpPr>
            <a:spLocks noChangeArrowheads="1"/>
          </p:cNvSpPr>
          <p:nvPr/>
        </p:nvSpPr>
        <p:spPr bwMode="auto">
          <a:xfrm>
            <a:off x="8570914" y="4344566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874" name="Rectangle 262"/>
          <p:cNvSpPr>
            <a:spLocks noChangeArrowheads="1"/>
          </p:cNvSpPr>
          <p:nvPr/>
        </p:nvSpPr>
        <p:spPr bwMode="auto">
          <a:xfrm>
            <a:off x="8623301" y="434456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875" name="Rectangle 263"/>
          <p:cNvSpPr>
            <a:spLocks noChangeArrowheads="1"/>
          </p:cNvSpPr>
          <p:nvPr/>
        </p:nvSpPr>
        <p:spPr bwMode="auto">
          <a:xfrm>
            <a:off x="8709025" y="4344566"/>
            <a:ext cx="7143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71876" name="Rectangle 264"/>
          <p:cNvSpPr>
            <a:spLocks noChangeArrowheads="1"/>
          </p:cNvSpPr>
          <p:nvPr/>
        </p:nvSpPr>
        <p:spPr bwMode="auto">
          <a:xfrm>
            <a:off x="8789989" y="4344566"/>
            <a:ext cx="71437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71877" name="Rectangle 265"/>
          <p:cNvSpPr>
            <a:spLocks noChangeArrowheads="1"/>
          </p:cNvSpPr>
          <p:nvPr/>
        </p:nvSpPr>
        <p:spPr bwMode="auto">
          <a:xfrm>
            <a:off x="8288338" y="5014491"/>
            <a:ext cx="13305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71878" name="Rectangle 266"/>
          <p:cNvSpPr>
            <a:spLocks noChangeArrowheads="1"/>
          </p:cNvSpPr>
          <p:nvPr/>
        </p:nvSpPr>
        <p:spPr bwMode="auto">
          <a:xfrm>
            <a:off x="8435976" y="5014491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879" name="Rectangle 267"/>
          <p:cNvSpPr>
            <a:spLocks noChangeArrowheads="1"/>
          </p:cNvSpPr>
          <p:nvPr/>
        </p:nvSpPr>
        <p:spPr bwMode="auto">
          <a:xfrm>
            <a:off x="8489950" y="5014491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71880" name="Rectangle 268"/>
          <p:cNvSpPr>
            <a:spLocks noChangeArrowheads="1"/>
          </p:cNvSpPr>
          <p:nvPr/>
        </p:nvSpPr>
        <p:spPr bwMode="auto">
          <a:xfrm>
            <a:off x="8528050" y="5014491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881" name="Rectangle 269"/>
          <p:cNvSpPr>
            <a:spLocks noChangeArrowheads="1"/>
          </p:cNvSpPr>
          <p:nvPr/>
        </p:nvSpPr>
        <p:spPr bwMode="auto">
          <a:xfrm>
            <a:off x="8572501" y="501449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882" name="Rectangle 270"/>
          <p:cNvSpPr>
            <a:spLocks noChangeArrowheads="1"/>
          </p:cNvSpPr>
          <p:nvPr/>
        </p:nvSpPr>
        <p:spPr bwMode="auto">
          <a:xfrm>
            <a:off x="8656639" y="5014490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83" name="Rectangle 271"/>
          <p:cNvSpPr>
            <a:spLocks noChangeArrowheads="1"/>
          </p:cNvSpPr>
          <p:nvPr/>
        </p:nvSpPr>
        <p:spPr bwMode="auto">
          <a:xfrm>
            <a:off x="8291514" y="519546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884" name="Rectangle 272"/>
          <p:cNvSpPr>
            <a:spLocks noChangeArrowheads="1"/>
          </p:cNvSpPr>
          <p:nvPr/>
        </p:nvSpPr>
        <p:spPr bwMode="auto">
          <a:xfrm>
            <a:off x="8377239" y="519546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885" name="Rectangle 273"/>
          <p:cNvSpPr>
            <a:spLocks noChangeArrowheads="1"/>
          </p:cNvSpPr>
          <p:nvPr/>
        </p:nvSpPr>
        <p:spPr bwMode="auto">
          <a:xfrm>
            <a:off x="8466138" y="5195466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886" name="Rectangle 274"/>
          <p:cNvSpPr>
            <a:spLocks noChangeArrowheads="1"/>
          </p:cNvSpPr>
          <p:nvPr/>
        </p:nvSpPr>
        <p:spPr bwMode="auto">
          <a:xfrm>
            <a:off x="8509001" y="519546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887" name="Line 275"/>
          <p:cNvSpPr>
            <a:spLocks noChangeShapeType="1"/>
          </p:cNvSpPr>
          <p:nvPr/>
        </p:nvSpPr>
        <p:spPr bwMode="auto">
          <a:xfrm flipH="1">
            <a:off x="8010525" y="4454104"/>
            <a:ext cx="173038" cy="1587"/>
          </a:xfrm>
          <a:prstGeom prst="line">
            <a:avLst/>
          </a:prstGeom>
          <a:noFill/>
          <a:ln w="3492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88" name="Rectangle 276"/>
          <p:cNvSpPr>
            <a:spLocks noChangeArrowheads="1"/>
          </p:cNvSpPr>
          <p:nvPr/>
        </p:nvSpPr>
        <p:spPr bwMode="auto">
          <a:xfrm>
            <a:off x="9145588" y="4301704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889" name="Rectangle 277"/>
          <p:cNvSpPr>
            <a:spLocks noChangeArrowheads="1"/>
          </p:cNvSpPr>
          <p:nvPr/>
        </p:nvSpPr>
        <p:spPr bwMode="auto">
          <a:xfrm>
            <a:off x="9261476" y="430170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890" name="Rectangle 278"/>
          <p:cNvSpPr>
            <a:spLocks noChangeArrowheads="1"/>
          </p:cNvSpPr>
          <p:nvPr/>
        </p:nvSpPr>
        <p:spPr bwMode="auto">
          <a:xfrm>
            <a:off x="9344026" y="430170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891" name="Rectangle 279"/>
          <p:cNvSpPr>
            <a:spLocks noChangeArrowheads="1"/>
          </p:cNvSpPr>
          <p:nvPr/>
        </p:nvSpPr>
        <p:spPr bwMode="auto">
          <a:xfrm>
            <a:off x="9436101" y="430170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892" name="Rectangle 280"/>
          <p:cNvSpPr>
            <a:spLocks noChangeArrowheads="1"/>
          </p:cNvSpPr>
          <p:nvPr/>
        </p:nvSpPr>
        <p:spPr bwMode="auto">
          <a:xfrm>
            <a:off x="9521825" y="4301703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93" name="Rectangle 281"/>
          <p:cNvSpPr>
            <a:spLocks noChangeArrowheads="1"/>
          </p:cNvSpPr>
          <p:nvPr/>
        </p:nvSpPr>
        <p:spPr bwMode="auto">
          <a:xfrm>
            <a:off x="9193214" y="447791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894" name="Rectangle 282"/>
          <p:cNvSpPr>
            <a:spLocks noChangeArrowheads="1"/>
          </p:cNvSpPr>
          <p:nvPr/>
        </p:nvSpPr>
        <p:spPr bwMode="auto">
          <a:xfrm>
            <a:off x="9278939" y="447791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895" name="Rectangle 283"/>
          <p:cNvSpPr>
            <a:spLocks noChangeArrowheads="1"/>
          </p:cNvSpPr>
          <p:nvPr/>
        </p:nvSpPr>
        <p:spPr bwMode="auto">
          <a:xfrm>
            <a:off x="9367838" y="4477916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896" name="Rectangle 284"/>
          <p:cNvSpPr>
            <a:spLocks noChangeArrowheads="1"/>
          </p:cNvSpPr>
          <p:nvPr/>
        </p:nvSpPr>
        <p:spPr bwMode="auto">
          <a:xfrm>
            <a:off x="9410701" y="447791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897" name="Rectangle 285"/>
          <p:cNvSpPr>
            <a:spLocks noChangeArrowheads="1"/>
          </p:cNvSpPr>
          <p:nvPr/>
        </p:nvSpPr>
        <p:spPr bwMode="auto">
          <a:xfrm>
            <a:off x="9929813" y="4558878"/>
            <a:ext cx="1282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FFF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 b="1">
                <a:solidFill>
                  <a:srgbClr val="FFFFFF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71898" name="Rectangle 286"/>
          <p:cNvSpPr>
            <a:spLocks noChangeArrowheads="1"/>
          </p:cNvSpPr>
          <p:nvPr/>
        </p:nvSpPr>
        <p:spPr bwMode="auto">
          <a:xfrm>
            <a:off x="10063164" y="4558878"/>
            <a:ext cx="15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99" name="Rectangle 287"/>
          <p:cNvSpPr>
            <a:spLocks noChangeArrowheads="1"/>
          </p:cNvSpPr>
          <p:nvPr/>
        </p:nvSpPr>
        <p:spPr bwMode="auto">
          <a:xfrm>
            <a:off x="9952038" y="4677940"/>
            <a:ext cx="9457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FFF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 b="1">
                <a:solidFill>
                  <a:srgbClr val="FFFFFF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71900" name="Rectangle 288"/>
          <p:cNvSpPr>
            <a:spLocks noChangeArrowheads="1"/>
          </p:cNvSpPr>
          <p:nvPr/>
        </p:nvSpPr>
        <p:spPr bwMode="auto">
          <a:xfrm>
            <a:off x="10037764" y="4677941"/>
            <a:ext cx="158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01" name="Rectangle 289"/>
          <p:cNvSpPr>
            <a:spLocks noChangeArrowheads="1"/>
          </p:cNvSpPr>
          <p:nvPr/>
        </p:nvSpPr>
        <p:spPr bwMode="auto">
          <a:xfrm>
            <a:off x="9958388" y="479700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FFF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 b="1">
                <a:solidFill>
                  <a:srgbClr val="FFFFFF"/>
                </a:solidFill>
                <a:latin typeface="Arial" charset="0"/>
                <a:ea typeface="新細明體" charset="-120"/>
              </a:rPr>
              <a:t>x</a:t>
            </a:r>
          </a:p>
        </p:txBody>
      </p:sp>
      <p:sp>
        <p:nvSpPr>
          <p:cNvPr id="71902" name="Line 290"/>
          <p:cNvSpPr>
            <a:spLocks noChangeShapeType="1"/>
          </p:cNvSpPr>
          <p:nvPr/>
        </p:nvSpPr>
        <p:spPr bwMode="auto">
          <a:xfrm>
            <a:off x="3554414" y="4084216"/>
            <a:ext cx="790575" cy="3175"/>
          </a:xfrm>
          <a:prstGeom prst="line">
            <a:avLst/>
          </a:prstGeom>
          <a:noFill/>
          <a:ln w="3492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03" name="Line 291"/>
          <p:cNvSpPr>
            <a:spLocks noChangeShapeType="1"/>
          </p:cNvSpPr>
          <p:nvPr/>
        </p:nvSpPr>
        <p:spPr bwMode="auto">
          <a:xfrm flipH="1">
            <a:off x="7896226" y="4454104"/>
            <a:ext cx="117475" cy="1587"/>
          </a:xfrm>
          <a:prstGeom prst="line">
            <a:avLst/>
          </a:prstGeom>
          <a:noFill/>
          <a:ln w="3492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04" name="Freeform 292"/>
          <p:cNvSpPr>
            <a:spLocks noChangeArrowheads="1"/>
          </p:cNvSpPr>
          <p:nvPr/>
        </p:nvSpPr>
        <p:spPr bwMode="auto">
          <a:xfrm>
            <a:off x="8005764" y="4454104"/>
            <a:ext cx="1800225" cy="1438275"/>
          </a:xfrm>
          <a:custGeom>
            <a:avLst/>
            <a:gdLst>
              <a:gd name="T0" fmla="*/ 1030 w 1030"/>
              <a:gd name="T1" fmla="*/ 339 h 823"/>
              <a:gd name="T2" fmla="*/ 976 w 1030"/>
              <a:gd name="T3" fmla="*/ 339 h 823"/>
              <a:gd name="T4" fmla="*/ 976 w 1030"/>
              <a:gd name="T5" fmla="*/ 823 h 823"/>
              <a:gd name="T6" fmla="*/ 0 w 1030"/>
              <a:gd name="T7" fmla="*/ 823 h 823"/>
              <a:gd name="T8" fmla="*/ 0 w 1030"/>
              <a:gd name="T9" fmla="*/ 0 h 82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30"/>
              <a:gd name="T16" fmla="*/ 0 h 823"/>
              <a:gd name="T17" fmla="*/ 1030 w 1030"/>
              <a:gd name="T18" fmla="*/ 823 h 82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30" h="823">
                <a:moveTo>
                  <a:pt x="1030" y="339"/>
                </a:moveTo>
                <a:lnTo>
                  <a:pt x="976" y="339"/>
                </a:lnTo>
                <a:lnTo>
                  <a:pt x="976" y="823"/>
                </a:lnTo>
                <a:lnTo>
                  <a:pt x="0" y="823"/>
                </a:lnTo>
                <a:lnTo>
                  <a:pt x="0" y="0"/>
                </a:lnTo>
              </a:path>
            </a:pathLst>
          </a:custGeom>
          <a:noFill/>
          <a:ln w="3492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05" name="Line 293"/>
          <p:cNvSpPr>
            <a:spLocks noChangeShapeType="1"/>
          </p:cNvSpPr>
          <p:nvPr/>
        </p:nvSpPr>
        <p:spPr bwMode="auto">
          <a:xfrm>
            <a:off x="3449639" y="4287416"/>
            <a:ext cx="98425" cy="4763"/>
          </a:xfrm>
          <a:prstGeom prst="line">
            <a:avLst/>
          </a:prstGeom>
          <a:noFill/>
          <a:ln w="3492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06" name="Freeform 294"/>
          <p:cNvSpPr>
            <a:spLocks noChangeArrowheads="1"/>
          </p:cNvSpPr>
          <p:nvPr/>
        </p:nvSpPr>
        <p:spPr bwMode="auto">
          <a:xfrm>
            <a:off x="8043864" y="4192165"/>
            <a:ext cx="58737" cy="57150"/>
          </a:xfrm>
          <a:custGeom>
            <a:avLst/>
            <a:gdLst>
              <a:gd name="T0" fmla="*/ 0 w 33"/>
              <a:gd name="T1" fmla="*/ 0 h 33"/>
              <a:gd name="T2" fmla="*/ 0 w 33"/>
              <a:gd name="T3" fmla="*/ 33 h 33"/>
              <a:gd name="T4" fmla="*/ 33 w 33"/>
              <a:gd name="T5" fmla="*/ 17 h 33"/>
              <a:gd name="T6" fmla="*/ 0 w 33"/>
              <a:gd name="T7" fmla="*/ 0 h 33"/>
              <a:gd name="T8" fmla="*/ 0 w 33"/>
              <a:gd name="T9" fmla="*/ 0 h 3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3"/>
              <a:gd name="T16" fmla="*/ 0 h 33"/>
              <a:gd name="T17" fmla="*/ 33 w 33"/>
              <a:gd name="T18" fmla="*/ 33 h 3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3" h="33">
                <a:moveTo>
                  <a:pt x="0" y="0"/>
                </a:moveTo>
                <a:lnTo>
                  <a:pt x="0" y="33"/>
                </a:lnTo>
                <a:lnTo>
                  <a:pt x="33" y="17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07" name="Line 295"/>
          <p:cNvSpPr>
            <a:spLocks noChangeShapeType="1"/>
          </p:cNvSpPr>
          <p:nvPr/>
        </p:nvSpPr>
        <p:spPr bwMode="auto">
          <a:xfrm>
            <a:off x="7886700" y="4222329"/>
            <a:ext cx="171450" cy="1587"/>
          </a:xfrm>
          <a:prstGeom prst="line">
            <a:avLst/>
          </a:prstGeom>
          <a:noFill/>
          <a:ln w="1764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08" name="Rectangle 296"/>
          <p:cNvSpPr>
            <a:spLocks noChangeArrowheads="1"/>
          </p:cNvSpPr>
          <p:nvPr/>
        </p:nvSpPr>
        <p:spPr bwMode="auto">
          <a:xfrm>
            <a:off x="6653213" y="4495378"/>
            <a:ext cx="12824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FFF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 b="1">
                <a:solidFill>
                  <a:srgbClr val="FFFFFF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71909" name="Rectangle 297"/>
          <p:cNvSpPr>
            <a:spLocks noChangeArrowheads="1"/>
          </p:cNvSpPr>
          <p:nvPr/>
        </p:nvSpPr>
        <p:spPr bwMode="auto">
          <a:xfrm>
            <a:off x="6786564" y="4495378"/>
            <a:ext cx="1587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10" name="Rectangle 298"/>
          <p:cNvSpPr>
            <a:spLocks noChangeArrowheads="1"/>
          </p:cNvSpPr>
          <p:nvPr/>
        </p:nvSpPr>
        <p:spPr bwMode="auto">
          <a:xfrm>
            <a:off x="6672263" y="4614440"/>
            <a:ext cx="94578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FFF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 b="1">
                <a:solidFill>
                  <a:srgbClr val="FFFFFF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71911" name="Rectangle 299"/>
          <p:cNvSpPr>
            <a:spLocks noChangeArrowheads="1"/>
          </p:cNvSpPr>
          <p:nvPr/>
        </p:nvSpPr>
        <p:spPr bwMode="auto">
          <a:xfrm>
            <a:off x="6762750" y="4614441"/>
            <a:ext cx="1588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12" name="Rectangle 300"/>
          <p:cNvSpPr>
            <a:spLocks noChangeArrowheads="1"/>
          </p:cNvSpPr>
          <p:nvPr/>
        </p:nvSpPr>
        <p:spPr bwMode="auto">
          <a:xfrm>
            <a:off x="6681788" y="4733503"/>
            <a:ext cx="8496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FFFFF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200" b="1">
                <a:solidFill>
                  <a:srgbClr val="FFFFFF"/>
                </a:solidFill>
                <a:latin typeface="Arial" charset="0"/>
                <a:ea typeface="新細明體" charset="-120"/>
              </a:rPr>
              <a:t>x</a:t>
            </a:r>
          </a:p>
        </p:txBody>
      </p:sp>
      <p:sp>
        <p:nvSpPr>
          <p:cNvPr id="71913" name="Freeform 301"/>
          <p:cNvSpPr>
            <a:spLocks noChangeArrowheads="1"/>
          </p:cNvSpPr>
          <p:nvPr/>
        </p:nvSpPr>
        <p:spPr bwMode="auto">
          <a:xfrm>
            <a:off x="2281238" y="3901653"/>
            <a:ext cx="57150" cy="57150"/>
          </a:xfrm>
          <a:custGeom>
            <a:avLst/>
            <a:gdLst>
              <a:gd name="T0" fmla="*/ 16 w 32"/>
              <a:gd name="T1" fmla="*/ 33 h 33"/>
              <a:gd name="T2" fmla="*/ 19 w 32"/>
              <a:gd name="T3" fmla="*/ 33 h 33"/>
              <a:gd name="T4" fmla="*/ 21 w 32"/>
              <a:gd name="T5" fmla="*/ 33 h 33"/>
              <a:gd name="T6" fmla="*/ 24 w 32"/>
              <a:gd name="T7" fmla="*/ 33 h 33"/>
              <a:gd name="T8" fmla="*/ 27 w 32"/>
              <a:gd name="T9" fmla="*/ 30 h 33"/>
              <a:gd name="T10" fmla="*/ 29 w 32"/>
              <a:gd name="T11" fmla="*/ 30 h 33"/>
              <a:gd name="T12" fmla="*/ 29 w 32"/>
              <a:gd name="T13" fmla="*/ 28 h 33"/>
              <a:gd name="T14" fmla="*/ 32 w 32"/>
              <a:gd name="T15" fmla="*/ 25 h 33"/>
              <a:gd name="T16" fmla="*/ 32 w 32"/>
              <a:gd name="T17" fmla="*/ 22 h 33"/>
              <a:gd name="T18" fmla="*/ 32 w 32"/>
              <a:gd name="T19" fmla="*/ 20 h 33"/>
              <a:gd name="T20" fmla="*/ 32 w 32"/>
              <a:gd name="T21" fmla="*/ 17 h 33"/>
              <a:gd name="T22" fmla="*/ 32 w 32"/>
              <a:gd name="T23" fmla="*/ 14 h 33"/>
              <a:gd name="T24" fmla="*/ 32 w 32"/>
              <a:gd name="T25" fmla="*/ 11 h 33"/>
              <a:gd name="T26" fmla="*/ 32 w 32"/>
              <a:gd name="T27" fmla="*/ 9 h 33"/>
              <a:gd name="T28" fmla="*/ 29 w 32"/>
              <a:gd name="T29" fmla="*/ 9 h 33"/>
              <a:gd name="T30" fmla="*/ 29 w 32"/>
              <a:gd name="T31" fmla="*/ 6 h 33"/>
              <a:gd name="T32" fmla="*/ 27 w 32"/>
              <a:gd name="T33" fmla="*/ 3 h 33"/>
              <a:gd name="T34" fmla="*/ 24 w 32"/>
              <a:gd name="T35" fmla="*/ 3 h 33"/>
              <a:gd name="T36" fmla="*/ 21 w 32"/>
              <a:gd name="T37" fmla="*/ 0 h 33"/>
              <a:gd name="T38" fmla="*/ 19 w 32"/>
              <a:gd name="T39" fmla="*/ 0 h 33"/>
              <a:gd name="T40" fmla="*/ 16 w 32"/>
              <a:gd name="T41" fmla="*/ 0 h 33"/>
              <a:gd name="T42" fmla="*/ 13 w 32"/>
              <a:gd name="T43" fmla="*/ 0 h 33"/>
              <a:gd name="T44" fmla="*/ 10 w 32"/>
              <a:gd name="T45" fmla="*/ 0 h 33"/>
              <a:gd name="T46" fmla="*/ 8 w 32"/>
              <a:gd name="T47" fmla="*/ 3 h 33"/>
              <a:gd name="T48" fmla="*/ 8 w 32"/>
              <a:gd name="T49" fmla="*/ 3 h 33"/>
              <a:gd name="T50" fmla="*/ 5 w 32"/>
              <a:gd name="T51" fmla="*/ 6 h 33"/>
              <a:gd name="T52" fmla="*/ 2 w 32"/>
              <a:gd name="T53" fmla="*/ 9 h 33"/>
              <a:gd name="T54" fmla="*/ 2 w 32"/>
              <a:gd name="T55" fmla="*/ 9 h 33"/>
              <a:gd name="T56" fmla="*/ 0 w 32"/>
              <a:gd name="T57" fmla="*/ 11 h 33"/>
              <a:gd name="T58" fmla="*/ 0 w 32"/>
              <a:gd name="T59" fmla="*/ 14 h 33"/>
              <a:gd name="T60" fmla="*/ 0 w 32"/>
              <a:gd name="T61" fmla="*/ 17 h 33"/>
              <a:gd name="T62" fmla="*/ 0 w 32"/>
              <a:gd name="T63" fmla="*/ 20 h 33"/>
              <a:gd name="T64" fmla="*/ 0 w 32"/>
              <a:gd name="T65" fmla="*/ 22 h 33"/>
              <a:gd name="T66" fmla="*/ 2 w 32"/>
              <a:gd name="T67" fmla="*/ 25 h 33"/>
              <a:gd name="T68" fmla="*/ 2 w 32"/>
              <a:gd name="T69" fmla="*/ 28 h 33"/>
              <a:gd name="T70" fmla="*/ 5 w 32"/>
              <a:gd name="T71" fmla="*/ 30 h 33"/>
              <a:gd name="T72" fmla="*/ 8 w 32"/>
              <a:gd name="T73" fmla="*/ 30 h 33"/>
              <a:gd name="T74" fmla="*/ 8 w 32"/>
              <a:gd name="T75" fmla="*/ 33 h 33"/>
              <a:gd name="T76" fmla="*/ 10 w 32"/>
              <a:gd name="T77" fmla="*/ 33 h 33"/>
              <a:gd name="T78" fmla="*/ 13 w 32"/>
              <a:gd name="T79" fmla="*/ 33 h 33"/>
              <a:gd name="T80" fmla="*/ 16 w 32"/>
              <a:gd name="T81" fmla="*/ 33 h 33"/>
              <a:gd name="T82" fmla="*/ 16 w 32"/>
              <a:gd name="T83" fmla="*/ 33 h 33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2"/>
              <a:gd name="T127" fmla="*/ 0 h 33"/>
              <a:gd name="T128" fmla="*/ 32 w 32"/>
              <a:gd name="T129" fmla="*/ 33 h 33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2" h="33">
                <a:moveTo>
                  <a:pt x="16" y="33"/>
                </a:moveTo>
                <a:lnTo>
                  <a:pt x="19" y="33"/>
                </a:lnTo>
                <a:lnTo>
                  <a:pt x="21" y="33"/>
                </a:lnTo>
                <a:lnTo>
                  <a:pt x="24" y="33"/>
                </a:lnTo>
                <a:lnTo>
                  <a:pt x="27" y="30"/>
                </a:lnTo>
                <a:lnTo>
                  <a:pt x="29" y="30"/>
                </a:lnTo>
                <a:lnTo>
                  <a:pt x="29" y="28"/>
                </a:lnTo>
                <a:lnTo>
                  <a:pt x="32" y="25"/>
                </a:lnTo>
                <a:lnTo>
                  <a:pt x="32" y="22"/>
                </a:lnTo>
                <a:lnTo>
                  <a:pt x="32" y="20"/>
                </a:lnTo>
                <a:lnTo>
                  <a:pt x="32" y="17"/>
                </a:lnTo>
                <a:lnTo>
                  <a:pt x="32" y="14"/>
                </a:lnTo>
                <a:lnTo>
                  <a:pt x="32" y="11"/>
                </a:lnTo>
                <a:lnTo>
                  <a:pt x="32" y="9"/>
                </a:lnTo>
                <a:lnTo>
                  <a:pt x="29" y="9"/>
                </a:lnTo>
                <a:lnTo>
                  <a:pt x="29" y="6"/>
                </a:lnTo>
                <a:lnTo>
                  <a:pt x="27" y="3"/>
                </a:lnTo>
                <a:lnTo>
                  <a:pt x="24" y="3"/>
                </a:lnTo>
                <a:lnTo>
                  <a:pt x="21" y="0"/>
                </a:lnTo>
                <a:lnTo>
                  <a:pt x="19" y="0"/>
                </a:lnTo>
                <a:lnTo>
                  <a:pt x="16" y="0"/>
                </a:lnTo>
                <a:lnTo>
                  <a:pt x="13" y="0"/>
                </a:lnTo>
                <a:lnTo>
                  <a:pt x="10" y="0"/>
                </a:lnTo>
                <a:lnTo>
                  <a:pt x="8" y="3"/>
                </a:lnTo>
                <a:lnTo>
                  <a:pt x="5" y="6"/>
                </a:lnTo>
                <a:lnTo>
                  <a:pt x="2" y="9"/>
                </a:lnTo>
                <a:lnTo>
                  <a:pt x="0" y="11"/>
                </a:lnTo>
                <a:lnTo>
                  <a:pt x="0" y="14"/>
                </a:lnTo>
                <a:lnTo>
                  <a:pt x="0" y="17"/>
                </a:lnTo>
                <a:lnTo>
                  <a:pt x="0" y="20"/>
                </a:lnTo>
                <a:lnTo>
                  <a:pt x="0" y="22"/>
                </a:lnTo>
                <a:lnTo>
                  <a:pt x="2" y="25"/>
                </a:lnTo>
                <a:lnTo>
                  <a:pt x="2" y="28"/>
                </a:lnTo>
                <a:lnTo>
                  <a:pt x="5" y="30"/>
                </a:lnTo>
                <a:lnTo>
                  <a:pt x="8" y="30"/>
                </a:lnTo>
                <a:lnTo>
                  <a:pt x="8" y="33"/>
                </a:lnTo>
                <a:lnTo>
                  <a:pt x="10" y="33"/>
                </a:lnTo>
                <a:lnTo>
                  <a:pt x="13" y="33"/>
                </a:lnTo>
                <a:lnTo>
                  <a:pt x="1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14" name="Freeform 302"/>
          <p:cNvSpPr>
            <a:spLocks noChangeArrowheads="1"/>
          </p:cNvSpPr>
          <p:nvPr/>
        </p:nvSpPr>
        <p:spPr bwMode="auto">
          <a:xfrm>
            <a:off x="3521076" y="4258841"/>
            <a:ext cx="60325" cy="61913"/>
          </a:xfrm>
          <a:custGeom>
            <a:avLst/>
            <a:gdLst>
              <a:gd name="T0" fmla="*/ 16 w 35"/>
              <a:gd name="T1" fmla="*/ 33 h 36"/>
              <a:gd name="T2" fmla="*/ 19 w 35"/>
              <a:gd name="T3" fmla="*/ 36 h 36"/>
              <a:gd name="T4" fmla="*/ 21 w 35"/>
              <a:gd name="T5" fmla="*/ 33 h 36"/>
              <a:gd name="T6" fmla="*/ 24 w 35"/>
              <a:gd name="T7" fmla="*/ 33 h 36"/>
              <a:gd name="T8" fmla="*/ 27 w 35"/>
              <a:gd name="T9" fmla="*/ 33 h 36"/>
              <a:gd name="T10" fmla="*/ 30 w 35"/>
              <a:gd name="T11" fmla="*/ 30 h 36"/>
              <a:gd name="T12" fmla="*/ 30 w 35"/>
              <a:gd name="T13" fmla="*/ 27 h 36"/>
              <a:gd name="T14" fmla="*/ 32 w 35"/>
              <a:gd name="T15" fmla="*/ 25 h 36"/>
              <a:gd name="T16" fmla="*/ 32 w 35"/>
              <a:gd name="T17" fmla="*/ 25 h 36"/>
              <a:gd name="T18" fmla="*/ 32 w 35"/>
              <a:gd name="T19" fmla="*/ 22 h 36"/>
              <a:gd name="T20" fmla="*/ 35 w 35"/>
              <a:gd name="T21" fmla="*/ 19 h 36"/>
              <a:gd name="T22" fmla="*/ 32 w 35"/>
              <a:gd name="T23" fmla="*/ 17 h 36"/>
              <a:gd name="T24" fmla="*/ 32 w 35"/>
              <a:gd name="T25" fmla="*/ 14 h 36"/>
              <a:gd name="T26" fmla="*/ 32 w 35"/>
              <a:gd name="T27" fmla="*/ 11 h 36"/>
              <a:gd name="T28" fmla="*/ 30 w 35"/>
              <a:gd name="T29" fmla="*/ 8 h 36"/>
              <a:gd name="T30" fmla="*/ 30 w 35"/>
              <a:gd name="T31" fmla="*/ 6 h 36"/>
              <a:gd name="T32" fmla="*/ 27 w 35"/>
              <a:gd name="T33" fmla="*/ 6 h 36"/>
              <a:gd name="T34" fmla="*/ 24 w 35"/>
              <a:gd name="T35" fmla="*/ 3 h 36"/>
              <a:gd name="T36" fmla="*/ 21 w 35"/>
              <a:gd name="T37" fmla="*/ 3 h 36"/>
              <a:gd name="T38" fmla="*/ 19 w 35"/>
              <a:gd name="T39" fmla="*/ 3 h 36"/>
              <a:gd name="T40" fmla="*/ 16 w 35"/>
              <a:gd name="T41" fmla="*/ 0 h 36"/>
              <a:gd name="T42" fmla="*/ 13 w 35"/>
              <a:gd name="T43" fmla="*/ 3 h 36"/>
              <a:gd name="T44" fmla="*/ 11 w 35"/>
              <a:gd name="T45" fmla="*/ 3 h 36"/>
              <a:gd name="T46" fmla="*/ 11 w 35"/>
              <a:gd name="T47" fmla="*/ 3 h 36"/>
              <a:gd name="T48" fmla="*/ 8 w 35"/>
              <a:gd name="T49" fmla="*/ 6 h 36"/>
              <a:gd name="T50" fmla="*/ 5 w 35"/>
              <a:gd name="T51" fmla="*/ 6 h 36"/>
              <a:gd name="T52" fmla="*/ 2 w 35"/>
              <a:gd name="T53" fmla="*/ 8 h 36"/>
              <a:gd name="T54" fmla="*/ 2 w 35"/>
              <a:gd name="T55" fmla="*/ 11 h 36"/>
              <a:gd name="T56" fmla="*/ 2 w 35"/>
              <a:gd name="T57" fmla="*/ 14 h 36"/>
              <a:gd name="T58" fmla="*/ 0 w 35"/>
              <a:gd name="T59" fmla="*/ 17 h 36"/>
              <a:gd name="T60" fmla="*/ 0 w 35"/>
              <a:gd name="T61" fmla="*/ 19 h 36"/>
              <a:gd name="T62" fmla="*/ 0 w 35"/>
              <a:gd name="T63" fmla="*/ 22 h 36"/>
              <a:gd name="T64" fmla="*/ 2 w 35"/>
              <a:gd name="T65" fmla="*/ 25 h 36"/>
              <a:gd name="T66" fmla="*/ 2 w 35"/>
              <a:gd name="T67" fmla="*/ 25 h 36"/>
              <a:gd name="T68" fmla="*/ 2 w 35"/>
              <a:gd name="T69" fmla="*/ 27 h 36"/>
              <a:gd name="T70" fmla="*/ 5 w 35"/>
              <a:gd name="T71" fmla="*/ 30 h 36"/>
              <a:gd name="T72" fmla="*/ 8 w 35"/>
              <a:gd name="T73" fmla="*/ 33 h 36"/>
              <a:gd name="T74" fmla="*/ 11 w 35"/>
              <a:gd name="T75" fmla="*/ 33 h 36"/>
              <a:gd name="T76" fmla="*/ 11 w 35"/>
              <a:gd name="T77" fmla="*/ 33 h 36"/>
              <a:gd name="T78" fmla="*/ 13 w 35"/>
              <a:gd name="T79" fmla="*/ 36 h 36"/>
              <a:gd name="T80" fmla="*/ 16 w 35"/>
              <a:gd name="T81" fmla="*/ 36 h 36"/>
              <a:gd name="T82" fmla="*/ 16 w 35"/>
              <a:gd name="T83" fmla="*/ 36 h 36"/>
              <a:gd name="T84" fmla="*/ 16 w 35"/>
              <a:gd name="T85" fmla="*/ 33 h 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5"/>
              <a:gd name="T130" fmla="*/ 0 h 36"/>
              <a:gd name="T131" fmla="*/ 35 w 35"/>
              <a:gd name="T132" fmla="*/ 36 h 3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5" h="36">
                <a:moveTo>
                  <a:pt x="16" y="33"/>
                </a:moveTo>
                <a:lnTo>
                  <a:pt x="19" y="36"/>
                </a:lnTo>
                <a:lnTo>
                  <a:pt x="21" y="33"/>
                </a:lnTo>
                <a:lnTo>
                  <a:pt x="24" y="33"/>
                </a:lnTo>
                <a:lnTo>
                  <a:pt x="27" y="33"/>
                </a:lnTo>
                <a:lnTo>
                  <a:pt x="30" y="30"/>
                </a:lnTo>
                <a:lnTo>
                  <a:pt x="30" y="27"/>
                </a:lnTo>
                <a:lnTo>
                  <a:pt x="32" y="25"/>
                </a:lnTo>
                <a:lnTo>
                  <a:pt x="32" y="22"/>
                </a:lnTo>
                <a:lnTo>
                  <a:pt x="35" y="19"/>
                </a:lnTo>
                <a:lnTo>
                  <a:pt x="32" y="17"/>
                </a:lnTo>
                <a:lnTo>
                  <a:pt x="32" y="14"/>
                </a:lnTo>
                <a:lnTo>
                  <a:pt x="32" y="11"/>
                </a:lnTo>
                <a:lnTo>
                  <a:pt x="30" y="8"/>
                </a:lnTo>
                <a:lnTo>
                  <a:pt x="30" y="6"/>
                </a:lnTo>
                <a:lnTo>
                  <a:pt x="27" y="6"/>
                </a:lnTo>
                <a:lnTo>
                  <a:pt x="24" y="3"/>
                </a:lnTo>
                <a:lnTo>
                  <a:pt x="21" y="3"/>
                </a:lnTo>
                <a:lnTo>
                  <a:pt x="19" y="3"/>
                </a:lnTo>
                <a:lnTo>
                  <a:pt x="16" y="0"/>
                </a:lnTo>
                <a:lnTo>
                  <a:pt x="13" y="3"/>
                </a:lnTo>
                <a:lnTo>
                  <a:pt x="11" y="3"/>
                </a:lnTo>
                <a:lnTo>
                  <a:pt x="8" y="6"/>
                </a:lnTo>
                <a:lnTo>
                  <a:pt x="5" y="6"/>
                </a:lnTo>
                <a:lnTo>
                  <a:pt x="2" y="8"/>
                </a:lnTo>
                <a:lnTo>
                  <a:pt x="2" y="11"/>
                </a:lnTo>
                <a:lnTo>
                  <a:pt x="2" y="14"/>
                </a:lnTo>
                <a:lnTo>
                  <a:pt x="0" y="17"/>
                </a:lnTo>
                <a:lnTo>
                  <a:pt x="0" y="19"/>
                </a:lnTo>
                <a:lnTo>
                  <a:pt x="0" y="22"/>
                </a:lnTo>
                <a:lnTo>
                  <a:pt x="2" y="25"/>
                </a:lnTo>
                <a:lnTo>
                  <a:pt x="2" y="27"/>
                </a:lnTo>
                <a:lnTo>
                  <a:pt x="5" y="30"/>
                </a:lnTo>
                <a:lnTo>
                  <a:pt x="8" y="33"/>
                </a:lnTo>
                <a:lnTo>
                  <a:pt x="11" y="33"/>
                </a:lnTo>
                <a:lnTo>
                  <a:pt x="13" y="36"/>
                </a:lnTo>
                <a:lnTo>
                  <a:pt x="16" y="36"/>
                </a:lnTo>
                <a:lnTo>
                  <a:pt x="16" y="3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15" name="Rectangle 303"/>
          <p:cNvSpPr>
            <a:spLocks noChangeArrowheads="1"/>
          </p:cNvSpPr>
          <p:nvPr/>
        </p:nvSpPr>
        <p:spPr bwMode="auto">
          <a:xfrm>
            <a:off x="7227888" y="4263604"/>
            <a:ext cx="94578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916" name="Rectangle 304"/>
          <p:cNvSpPr>
            <a:spLocks noChangeArrowheads="1"/>
          </p:cNvSpPr>
          <p:nvPr/>
        </p:nvSpPr>
        <p:spPr bwMode="auto">
          <a:xfrm>
            <a:off x="7331076" y="4263604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71917" name="Rectangle 305"/>
          <p:cNvSpPr>
            <a:spLocks noChangeArrowheads="1"/>
          </p:cNvSpPr>
          <p:nvPr/>
        </p:nvSpPr>
        <p:spPr bwMode="auto">
          <a:xfrm>
            <a:off x="7424738" y="4263604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666666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71918" name="Rectangle 306"/>
          <p:cNvSpPr>
            <a:spLocks noChangeArrowheads="1"/>
          </p:cNvSpPr>
          <p:nvPr/>
        </p:nvSpPr>
        <p:spPr bwMode="auto">
          <a:xfrm>
            <a:off x="4535488" y="5162129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919" name="Rectangle 307"/>
          <p:cNvSpPr>
            <a:spLocks noChangeArrowheads="1"/>
          </p:cNvSpPr>
          <p:nvPr/>
        </p:nvSpPr>
        <p:spPr bwMode="auto">
          <a:xfrm>
            <a:off x="4649789" y="516212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920" name="Rectangle 308"/>
          <p:cNvSpPr>
            <a:spLocks noChangeArrowheads="1"/>
          </p:cNvSpPr>
          <p:nvPr/>
        </p:nvSpPr>
        <p:spPr bwMode="auto">
          <a:xfrm>
            <a:off x="4740275" y="5162129"/>
            <a:ext cx="7778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71921" name="Rectangle 309"/>
          <p:cNvSpPr>
            <a:spLocks noChangeArrowheads="1"/>
          </p:cNvSpPr>
          <p:nvPr/>
        </p:nvSpPr>
        <p:spPr bwMode="auto">
          <a:xfrm>
            <a:off x="4821238" y="5162129"/>
            <a:ext cx="13305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71922" name="Rectangle 310"/>
          <p:cNvSpPr>
            <a:spLocks noChangeArrowheads="1"/>
          </p:cNvSpPr>
          <p:nvPr/>
        </p:nvSpPr>
        <p:spPr bwMode="auto">
          <a:xfrm>
            <a:off x="4976814" y="5162129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923" name="Rectangle 311"/>
          <p:cNvSpPr>
            <a:spLocks noChangeArrowheads="1"/>
          </p:cNvSpPr>
          <p:nvPr/>
        </p:nvSpPr>
        <p:spPr bwMode="auto">
          <a:xfrm>
            <a:off x="5030788" y="5162129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71924" name="Rectangle 312"/>
          <p:cNvSpPr>
            <a:spLocks noChangeArrowheads="1"/>
          </p:cNvSpPr>
          <p:nvPr/>
        </p:nvSpPr>
        <p:spPr bwMode="auto">
          <a:xfrm>
            <a:off x="5062538" y="5162129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925" name="Rectangle 313"/>
          <p:cNvSpPr>
            <a:spLocks noChangeArrowheads="1"/>
          </p:cNvSpPr>
          <p:nvPr/>
        </p:nvSpPr>
        <p:spPr bwMode="auto">
          <a:xfrm>
            <a:off x="5110164" y="516212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926" name="Rectangle 314"/>
          <p:cNvSpPr>
            <a:spLocks noChangeArrowheads="1"/>
          </p:cNvSpPr>
          <p:nvPr/>
        </p:nvSpPr>
        <p:spPr bwMode="auto">
          <a:xfrm>
            <a:off x="7502526" y="3522241"/>
            <a:ext cx="936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927" name="Rectangle 315"/>
          <p:cNvSpPr>
            <a:spLocks noChangeArrowheads="1"/>
          </p:cNvSpPr>
          <p:nvPr/>
        </p:nvSpPr>
        <p:spPr bwMode="auto">
          <a:xfrm>
            <a:off x="7607301" y="352224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71928" name="Rectangle 316"/>
          <p:cNvSpPr>
            <a:spLocks noChangeArrowheads="1"/>
          </p:cNvSpPr>
          <p:nvPr/>
        </p:nvSpPr>
        <p:spPr bwMode="auto">
          <a:xfrm>
            <a:off x="7697788" y="3522241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71929" name="Rectangle 317"/>
          <p:cNvSpPr>
            <a:spLocks noChangeArrowheads="1"/>
          </p:cNvSpPr>
          <p:nvPr/>
        </p:nvSpPr>
        <p:spPr bwMode="auto">
          <a:xfrm>
            <a:off x="7810500" y="3522241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1100">
                <a:solidFill>
                  <a:srgbClr val="F3AA61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71930" name="Rectangle 318"/>
          <p:cNvSpPr>
            <a:spLocks noChangeArrowheads="1"/>
          </p:cNvSpPr>
          <p:nvPr/>
        </p:nvSpPr>
        <p:spPr bwMode="auto">
          <a:xfrm>
            <a:off x="7853364" y="352224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71931" name="Rectangle 319"/>
          <p:cNvSpPr>
            <a:spLocks noChangeArrowheads="1"/>
          </p:cNvSpPr>
          <p:nvPr/>
        </p:nvSpPr>
        <p:spPr bwMode="auto">
          <a:xfrm>
            <a:off x="7945439" y="352224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p</a:t>
            </a:r>
          </a:p>
        </p:txBody>
      </p:sp>
      <p:sp>
        <p:nvSpPr>
          <p:cNvPr id="71932" name="Rectangle 320"/>
          <p:cNvSpPr>
            <a:spLocks noChangeArrowheads="1"/>
          </p:cNvSpPr>
          <p:nvPr/>
        </p:nvSpPr>
        <p:spPr bwMode="auto">
          <a:xfrm>
            <a:off x="8031164" y="352224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933" name="Rectangle 321"/>
          <p:cNvSpPr>
            <a:spLocks noChangeArrowheads="1"/>
          </p:cNvSpPr>
          <p:nvPr/>
        </p:nvSpPr>
        <p:spPr bwMode="auto">
          <a:xfrm>
            <a:off x="8118476" y="3522241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934" name="Rectangle 322"/>
          <p:cNvSpPr>
            <a:spLocks noChangeArrowheads="1"/>
          </p:cNvSpPr>
          <p:nvPr/>
        </p:nvSpPr>
        <p:spPr bwMode="auto">
          <a:xfrm>
            <a:off x="8172451" y="352224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935" name="Rectangle 323"/>
          <p:cNvSpPr>
            <a:spLocks noChangeArrowheads="1"/>
          </p:cNvSpPr>
          <p:nvPr/>
        </p:nvSpPr>
        <p:spPr bwMode="auto">
          <a:xfrm>
            <a:off x="8261350" y="3522241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936" name="Rectangle 324"/>
          <p:cNvSpPr>
            <a:spLocks noChangeArrowheads="1"/>
          </p:cNvSpPr>
          <p:nvPr/>
        </p:nvSpPr>
        <p:spPr bwMode="auto">
          <a:xfrm>
            <a:off x="8304213" y="3522241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71937" name="Rectangle 325"/>
          <p:cNvSpPr>
            <a:spLocks noChangeArrowheads="1"/>
          </p:cNvSpPr>
          <p:nvPr/>
        </p:nvSpPr>
        <p:spPr bwMode="auto">
          <a:xfrm>
            <a:off x="8337551" y="352224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71938" name="Rectangle 326"/>
          <p:cNvSpPr>
            <a:spLocks noChangeArrowheads="1"/>
          </p:cNvSpPr>
          <p:nvPr/>
        </p:nvSpPr>
        <p:spPr bwMode="auto">
          <a:xfrm>
            <a:off x="8429626" y="352224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71939" name="Rectangle 327"/>
          <p:cNvSpPr>
            <a:spLocks noChangeArrowheads="1"/>
          </p:cNvSpPr>
          <p:nvPr/>
        </p:nvSpPr>
        <p:spPr bwMode="auto">
          <a:xfrm>
            <a:off x="7218364" y="3604791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EB75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EB7500"/>
                </a:solidFill>
                <a:latin typeface="Arial" charset="0"/>
                <a:ea typeface="新細明體" charset="-120"/>
              </a:rPr>
              <a:t>3</a:t>
            </a:r>
          </a:p>
        </p:txBody>
      </p:sp>
      <p:sp>
        <p:nvSpPr>
          <p:cNvPr id="71940" name="Rectangle 328"/>
          <p:cNvSpPr>
            <a:spLocks noChangeArrowheads="1"/>
          </p:cNvSpPr>
          <p:nvPr/>
        </p:nvSpPr>
        <p:spPr bwMode="auto">
          <a:xfrm>
            <a:off x="8205788" y="5570116"/>
            <a:ext cx="11702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71941" name="Rectangle 329"/>
          <p:cNvSpPr>
            <a:spLocks noChangeArrowheads="1"/>
          </p:cNvSpPr>
          <p:nvPr/>
        </p:nvSpPr>
        <p:spPr bwMode="auto">
          <a:xfrm>
            <a:off x="8334376" y="557011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942" name="Rectangle 330"/>
          <p:cNvSpPr>
            <a:spLocks noChangeArrowheads="1"/>
          </p:cNvSpPr>
          <p:nvPr/>
        </p:nvSpPr>
        <p:spPr bwMode="auto">
          <a:xfrm>
            <a:off x="8421688" y="5570116"/>
            <a:ext cx="11702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71943" name="Rectangle 331"/>
          <p:cNvSpPr>
            <a:spLocks noChangeArrowheads="1"/>
          </p:cNvSpPr>
          <p:nvPr/>
        </p:nvSpPr>
        <p:spPr bwMode="auto">
          <a:xfrm>
            <a:off x="8556625" y="5570116"/>
            <a:ext cx="1016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944" name="Rectangle 332"/>
          <p:cNvSpPr>
            <a:spLocks noChangeArrowheads="1"/>
          </p:cNvSpPr>
          <p:nvPr/>
        </p:nvSpPr>
        <p:spPr bwMode="auto">
          <a:xfrm>
            <a:off x="8672514" y="557011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945" name="Rectangle 333"/>
          <p:cNvSpPr>
            <a:spLocks noChangeArrowheads="1"/>
          </p:cNvSpPr>
          <p:nvPr/>
        </p:nvSpPr>
        <p:spPr bwMode="auto">
          <a:xfrm>
            <a:off x="8758239" y="557011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71946" name="Rectangle 334"/>
          <p:cNvSpPr>
            <a:spLocks noChangeArrowheads="1"/>
          </p:cNvSpPr>
          <p:nvPr/>
        </p:nvSpPr>
        <p:spPr bwMode="auto">
          <a:xfrm>
            <a:off x="8847139" y="5570116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71947" name="Rectangle 335"/>
          <p:cNvSpPr>
            <a:spLocks noChangeArrowheads="1"/>
          </p:cNvSpPr>
          <p:nvPr/>
        </p:nvSpPr>
        <p:spPr bwMode="auto">
          <a:xfrm>
            <a:off x="8993188" y="3638129"/>
            <a:ext cx="117020" cy="169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71948" name="Rectangle 336"/>
          <p:cNvSpPr>
            <a:spLocks noChangeArrowheads="1"/>
          </p:cNvSpPr>
          <p:nvPr/>
        </p:nvSpPr>
        <p:spPr bwMode="auto">
          <a:xfrm>
            <a:off x="9123364" y="363812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71949" name="Rectangle 337"/>
          <p:cNvSpPr>
            <a:spLocks noChangeArrowheads="1"/>
          </p:cNvSpPr>
          <p:nvPr/>
        </p:nvSpPr>
        <p:spPr bwMode="auto">
          <a:xfrm>
            <a:off x="9210675" y="3638129"/>
            <a:ext cx="115888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71950" name="Rectangle 338"/>
          <p:cNvSpPr>
            <a:spLocks noChangeArrowheads="1"/>
          </p:cNvSpPr>
          <p:nvPr/>
        </p:nvSpPr>
        <p:spPr bwMode="auto">
          <a:xfrm>
            <a:off x="9340851" y="3638129"/>
            <a:ext cx="131763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71951" name="Rectangle 339"/>
          <p:cNvSpPr>
            <a:spLocks noChangeArrowheads="1"/>
          </p:cNvSpPr>
          <p:nvPr/>
        </p:nvSpPr>
        <p:spPr bwMode="auto">
          <a:xfrm>
            <a:off x="9493251" y="3638129"/>
            <a:ext cx="4762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71952" name="Rectangle 340"/>
          <p:cNvSpPr>
            <a:spLocks noChangeArrowheads="1"/>
          </p:cNvSpPr>
          <p:nvPr/>
        </p:nvSpPr>
        <p:spPr bwMode="auto">
          <a:xfrm>
            <a:off x="9545638" y="3638129"/>
            <a:ext cx="3175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71953" name="Rectangle 341"/>
          <p:cNvSpPr>
            <a:spLocks noChangeArrowheads="1"/>
          </p:cNvSpPr>
          <p:nvPr/>
        </p:nvSpPr>
        <p:spPr bwMode="auto">
          <a:xfrm>
            <a:off x="9580563" y="3638129"/>
            <a:ext cx="38100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71954" name="Rectangle 342"/>
          <p:cNvSpPr>
            <a:spLocks noChangeArrowheads="1"/>
          </p:cNvSpPr>
          <p:nvPr/>
        </p:nvSpPr>
        <p:spPr bwMode="auto">
          <a:xfrm>
            <a:off x="9626601" y="3638129"/>
            <a:ext cx="79375" cy="16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buClr>
                <a:srgbClr val="F3AA61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1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grpSp>
        <p:nvGrpSpPr>
          <p:cNvPr id="71955" name="Group 343"/>
          <p:cNvGrpSpPr>
            <a:grpSpLocks/>
          </p:cNvGrpSpPr>
          <p:nvPr/>
        </p:nvGrpSpPr>
        <p:grpSpPr bwMode="auto">
          <a:xfrm>
            <a:off x="6132514" y="4088968"/>
            <a:ext cx="549275" cy="184149"/>
            <a:chOff x="2903" y="2533"/>
            <a:chExt cx="346" cy="116"/>
          </a:xfrm>
        </p:grpSpPr>
        <p:sp>
          <p:nvSpPr>
            <p:cNvPr id="72038" name="Rectangle 344"/>
            <p:cNvSpPr>
              <a:spLocks noChangeArrowheads="1"/>
            </p:cNvSpPr>
            <p:nvPr/>
          </p:nvSpPr>
          <p:spPr bwMode="auto">
            <a:xfrm>
              <a:off x="2903" y="2533"/>
              <a:ext cx="7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72039" name="Rectangle 345"/>
            <p:cNvSpPr>
              <a:spLocks noChangeArrowheads="1"/>
            </p:cNvSpPr>
            <p:nvPr/>
          </p:nvSpPr>
          <p:spPr bwMode="auto">
            <a:xfrm>
              <a:off x="2968" y="2533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72040" name="Rectangle 346"/>
            <p:cNvSpPr>
              <a:spLocks noChangeArrowheads="1"/>
            </p:cNvSpPr>
            <p:nvPr/>
          </p:nvSpPr>
          <p:spPr bwMode="auto">
            <a:xfrm>
              <a:off x="3024" y="2533"/>
              <a:ext cx="7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2041" name="Rectangle 347"/>
            <p:cNvSpPr>
              <a:spLocks noChangeArrowheads="1"/>
            </p:cNvSpPr>
            <p:nvPr/>
          </p:nvSpPr>
          <p:spPr bwMode="auto">
            <a:xfrm>
              <a:off x="3097" y="2533"/>
              <a:ext cx="65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2042" name="Rectangle 348"/>
            <p:cNvSpPr>
              <a:spLocks noChangeArrowheads="1"/>
            </p:cNvSpPr>
            <p:nvPr/>
          </p:nvSpPr>
          <p:spPr bwMode="auto">
            <a:xfrm>
              <a:off x="3162" y="2533"/>
              <a:ext cx="37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2043" name="Rectangle 349"/>
            <p:cNvSpPr>
              <a:spLocks noChangeArrowheads="1"/>
            </p:cNvSpPr>
            <p:nvPr/>
          </p:nvSpPr>
          <p:spPr bwMode="auto">
            <a:xfrm>
              <a:off x="3195" y="2533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</p:grpSp>
      <p:grpSp>
        <p:nvGrpSpPr>
          <p:cNvPr id="71956" name="Group 350"/>
          <p:cNvGrpSpPr>
            <a:grpSpLocks/>
          </p:cNvGrpSpPr>
          <p:nvPr/>
        </p:nvGrpSpPr>
        <p:grpSpPr bwMode="auto">
          <a:xfrm>
            <a:off x="9605973" y="3917528"/>
            <a:ext cx="784226" cy="184150"/>
            <a:chOff x="5091" y="2425"/>
            <a:chExt cx="494" cy="116"/>
          </a:xfrm>
        </p:grpSpPr>
        <p:sp>
          <p:nvSpPr>
            <p:cNvPr id="72030" name="Rectangle 351"/>
            <p:cNvSpPr>
              <a:spLocks noChangeArrowheads="1"/>
            </p:cNvSpPr>
            <p:nvPr/>
          </p:nvSpPr>
          <p:spPr bwMode="auto">
            <a:xfrm>
              <a:off x="5091" y="2425"/>
              <a:ext cx="8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72031" name="Rectangle 352"/>
            <p:cNvSpPr>
              <a:spLocks noChangeArrowheads="1"/>
            </p:cNvSpPr>
            <p:nvPr/>
          </p:nvSpPr>
          <p:spPr bwMode="auto">
            <a:xfrm>
              <a:off x="5174" y="2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2032" name="Rectangle 353"/>
            <p:cNvSpPr>
              <a:spLocks noChangeArrowheads="1"/>
            </p:cNvSpPr>
            <p:nvPr/>
          </p:nvSpPr>
          <p:spPr bwMode="auto">
            <a:xfrm>
              <a:off x="5231" y="2425"/>
              <a:ext cx="86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72033" name="Rectangle 354"/>
            <p:cNvSpPr>
              <a:spLocks noChangeArrowheads="1"/>
            </p:cNvSpPr>
            <p:nvPr/>
          </p:nvSpPr>
          <p:spPr bwMode="auto">
            <a:xfrm>
              <a:off x="5313" y="2425"/>
              <a:ext cx="32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2034" name="Rectangle 355"/>
            <p:cNvSpPr>
              <a:spLocks noChangeArrowheads="1"/>
            </p:cNvSpPr>
            <p:nvPr/>
          </p:nvSpPr>
          <p:spPr bwMode="auto">
            <a:xfrm>
              <a:off x="5342" y="2425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2035" name="Rectangle 356"/>
            <p:cNvSpPr>
              <a:spLocks noChangeArrowheads="1"/>
            </p:cNvSpPr>
            <p:nvPr/>
          </p:nvSpPr>
          <p:spPr bwMode="auto">
            <a:xfrm>
              <a:off x="5396" y="2425"/>
              <a:ext cx="7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2036" name="Rectangle 357"/>
            <p:cNvSpPr>
              <a:spLocks noChangeArrowheads="1"/>
            </p:cNvSpPr>
            <p:nvPr/>
          </p:nvSpPr>
          <p:spPr bwMode="auto">
            <a:xfrm>
              <a:off x="5467" y="2425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2037" name="Rectangle 358"/>
            <p:cNvSpPr>
              <a:spLocks noChangeArrowheads="1"/>
            </p:cNvSpPr>
            <p:nvPr/>
          </p:nvSpPr>
          <p:spPr bwMode="auto">
            <a:xfrm>
              <a:off x="5525" y="2425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CD3333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CD3333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</p:grpSp>
      <p:sp>
        <p:nvSpPr>
          <p:cNvPr id="71957" name="Freeform 359"/>
          <p:cNvSpPr>
            <a:spLocks noChangeArrowheads="1"/>
          </p:cNvSpPr>
          <p:nvPr/>
        </p:nvSpPr>
        <p:spPr bwMode="auto">
          <a:xfrm>
            <a:off x="4330701" y="3660354"/>
            <a:ext cx="30163" cy="1587"/>
          </a:xfrm>
          <a:custGeom>
            <a:avLst/>
            <a:gdLst>
              <a:gd name="T0" fmla="*/ 17 w 17"/>
              <a:gd name="T1" fmla="*/ 0 h 1587"/>
              <a:gd name="T2" fmla="*/ 0 w 17"/>
              <a:gd name="T3" fmla="*/ 0 h 1587"/>
              <a:gd name="T4" fmla="*/ 17 w 17"/>
              <a:gd name="T5" fmla="*/ 0 h 1587"/>
              <a:gd name="T6" fmla="*/ 0 60000 65536"/>
              <a:gd name="T7" fmla="*/ 0 60000 65536"/>
              <a:gd name="T8" fmla="*/ 0 60000 65536"/>
              <a:gd name="T9" fmla="*/ 0 w 17"/>
              <a:gd name="T10" fmla="*/ 0 h 1587"/>
              <a:gd name="T11" fmla="*/ 17 w 17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1587">
                <a:moveTo>
                  <a:pt x="17" y="0"/>
                </a:moveTo>
                <a:lnTo>
                  <a:pt x="0" y="0"/>
                </a:lnTo>
                <a:lnTo>
                  <a:pt x="17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58" name="Freeform 360"/>
          <p:cNvSpPr>
            <a:spLocks noChangeArrowheads="1"/>
          </p:cNvSpPr>
          <p:nvPr/>
        </p:nvSpPr>
        <p:spPr bwMode="auto">
          <a:xfrm>
            <a:off x="4330701" y="3617491"/>
            <a:ext cx="80963" cy="85725"/>
          </a:xfrm>
          <a:custGeom>
            <a:avLst/>
            <a:gdLst>
              <a:gd name="T0" fmla="*/ 0 w 46"/>
              <a:gd name="T1" fmla="*/ 0 h 49"/>
              <a:gd name="T2" fmla="*/ 0 w 46"/>
              <a:gd name="T3" fmla="*/ 49 h 49"/>
              <a:gd name="T4" fmla="*/ 46 w 46"/>
              <a:gd name="T5" fmla="*/ 25 h 49"/>
              <a:gd name="T6" fmla="*/ 0 w 46"/>
              <a:gd name="T7" fmla="*/ 3 h 49"/>
              <a:gd name="T8" fmla="*/ 0 w 46"/>
              <a:gd name="T9" fmla="*/ 3 h 49"/>
              <a:gd name="T10" fmla="*/ 0 w 46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6"/>
              <a:gd name="T19" fmla="*/ 0 h 49"/>
              <a:gd name="T20" fmla="*/ 46 w 46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6" h="49">
                <a:moveTo>
                  <a:pt x="0" y="0"/>
                </a:moveTo>
                <a:lnTo>
                  <a:pt x="0" y="49"/>
                </a:lnTo>
                <a:lnTo>
                  <a:pt x="46" y="2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59" name="Freeform 361"/>
          <p:cNvSpPr>
            <a:spLocks noChangeArrowheads="1"/>
          </p:cNvSpPr>
          <p:nvPr/>
        </p:nvSpPr>
        <p:spPr bwMode="auto">
          <a:xfrm>
            <a:off x="2351088" y="3931815"/>
            <a:ext cx="30162" cy="1588"/>
          </a:xfrm>
          <a:custGeom>
            <a:avLst/>
            <a:gdLst>
              <a:gd name="T0" fmla="*/ 17 w 17"/>
              <a:gd name="T1" fmla="*/ 0 h 1588"/>
              <a:gd name="T2" fmla="*/ 0 w 17"/>
              <a:gd name="T3" fmla="*/ 0 h 1588"/>
              <a:gd name="T4" fmla="*/ 17 w 17"/>
              <a:gd name="T5" fmla="*/ 0 h 1588"/>
              <a:gd name="T6" fmla="*/ 0 60000 65536"/>
              <a:gd name="T7" fmla="*/ 0 60000 65536"/>
              <a:gd name="T8" fmla="*/ 0 60000 65536"/>
              <a:gd name="T9" fmla="*/ 0 w 17"/>
              <a:gd name="T10" fmla="*/ 0 h 1588"/>
              <a:gd name="T11" fmla="*/ 17 w 17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1588">
                <a:moveTo>
                  <a:pt x="17" y="0"/>
                </a:moveTo>
                <a:lnTo>
                  <a:pt x="0" y="0"/>
                </a:lnTo>
                <a:lnTo>
                  <a:pt x="17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60" name="Freeform 362"/>
          <p:cNvSpPr>
            <a:spLocks noChangeArrowheads="1"/>
          </p:cNvSpPr>
          <p:nvPr/>
        </p:nvSpPr>
        <p:spPr bwMode="auto">
          <a:xfrm>
            <a:off x="2351088" y="3887366"/>
            <a:ext cx="82550" cy="85725"/>
          </a:xfrm>
          <a:custGeom>
            <a:avLst/>
            <a:gdLst>
              <a:gd name="T0" fmla="*/ 0 w 47"/>
              <a:gd name="T1" fmla="*/ 0 h 49"/>
              <a:gd name="T2" fmla="*/ 0 w 47"/>
              <a:gd name="T3" fmla="*/ 49 h 49"/>
              <a:gd name="T4" fmla="*/ 47 w 47"/>
              <a:gd name="T5" fmla="*/ 25 h 49"/>
              <a:gd name="T6" fmla="*/ 0 w 47"/>
              <a:gd name="T7" fmla="*/ 0 h 49"/>
              <a:gd name="T8" fmla="*/ 0 w 47"/>
              <a:gd name="T9" fmla="*/ 0 h 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"/>
              <a:gd name="T16" fmla="*/ 0 h 49"/>
              <a:gd name="T17" fmla="*/ 47 w 47"/>
              <a:gd name="T18" fmla="*/ 49 h 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" h="49">
                <a:moveTo>
                  <a:pt x="0" y="0"/>
                </a:moveTo>
                <a:lnTo>
                  <a:pt x="0" y="49"/>
                </a:lnTo>
                <a:lnTo>
                  <a:pt x="47" y="25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61" name="Freeform 363"/>
          <p:cNvSpPr>
            <a:spLocks noChangeArrowheads="1"/>
          </p:cNvSpPr>
          <p:nvPr/>
        </p:nvSpPr>
        <p:spPr bwMode="auto">
          <a:xfrm>
            <a:off x="4330701" y="4087391"/>
            <a:ext cx="30163" cy="4763"/>
          </a:xfrm>
          <a:custGeom>
            <a:avLst/>
            <a:gdLst>
              <a:gd name="T0" fmla="*/ 17 w 17"/>
              <a:gd name="T1" fmla="*/ 0 h 3"/>
              <a:gd name="T2" fmla="*/ 0 w 17"/>
              <a:gd name="T3" fmla="*/ 3 h 3"/>
              <a:gd name="T4" fmla="*/ 17 w 17"/>
              <a:gd name="T5" fmla="*/ 0 h 3"/>
              <a:gd name="T6" fmla="*/ 0 60000 65536"/>
              <a:gd name="T7" fmla="*/ 0 60000 65536"/>
              <a:gd name="T8" fmla="*/ 0 60000 65536"/>
              <a:gd name="T9" fmla="*/ 0 w 17"/>
              <a:gd name="T10" fmla="*/ 0 h 3"/>
              <a:gd name="T11" fmla="*/ 17 w 17"/>
              <a:gd name="T12" fmla="*/ 3 h 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3">
                <a:moveTo>
                  <a:pt x="17" y="0"/>
                </a:moveTo>
                <a:lnTo>
                  <a:pt x="0" y="3"/>
                </a:lnTo>
                <a:lnTo>
                  <a:pt x="17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62" name="Freeform 364"/>
          <p:cNvSpPr>
            <a:spLocks noChangeArrowheads="1"/>
          </p:cNvSpPr>
          <p:nvPr/>
        </p:nvSpPr>
        <p:spPr bwMode="auto">
          <a:xfrm>
            <a:off x="4330701" y="4050879"/>
            <a:ext cx="80963" cy="79375"/>
          </a:xfrm>
          <a:custGeom>
            <a:avLst/>
            <a:gdLst>
              <a:gd name="T0" fmla="*/ 0 w 46"/>
              <a:gd name="T1" fmla="*/ 0 h 46"/>
              <a:gd name="T2" fmla="*/ 0 w 46"/>
              <a:gd name="T3" fmla="*/ 46 h 46"/>
              <a:gd name="T4" fmla="*/ 46 w 46"/>
              <a:gd name="T5" fmla="*/ 24 h 46"/>
              <a:gd name="T6" fmla="*/ 0 w 46"/>
              <a:gd name="T7" fmla="*/ 0 h 46"/>
              <a:gd name="T8" fmla="*/ 0 w 46"/>
              <a:gd name="T9" fmla="*/ 0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"/>
              <a:gd name="T16" fmla="*/ 0 h 46"/>
              <a:gd name="T17" fmla="*/ 46 w 46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" h="46">
                <a:moveTo>
                  <a:pt x="0" y="0"/>
                </a:moveTo>
                <a:lnTo>
                  <a:pt x="0" y="46"/>
                </a:lnTo>
                <a:lnTo>
                  <a:pt x="46" y="24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63" name="Freeform 365"/>
          <p:cNvSpPr>
            <a:spLocks noChangeArrowheads="1"/>
          </p:cNvSpPr>
          <p:nvPr/>
        </p:nvSpPr>
        <p:spPr bwMode="auto">
          <a:xfrm>
            <a:off x="4330701" y="4482678"/>
            <a:ext cx="30163" cy="4762"/>
          </a:xfrm>
          <a:custGeom>
            <a:avLst/>
            <a:gdLst>
              <a:gd name="T0" fmla="*/ 17 w 17"/>
              <a:gd name="T1" fmla="*/ 0 h 3"/>
              <a:gd name="T2" fmla="*/ 0 w 17"/>
              <a:gd name="T3" fmla="*/ 3 h 3"/>
              <a:gd name="T4" fmla="*/ 17 w 17"/>
              <a:gd name="T5" fmla="*/ 0 h 3"/>
              <a:gd name="T6" fmla="*/ 0 60000 65536"/>
              <a:gd name="T7" fmla="*/ 0 60000 65536"/>
              <a:gd name="T8" fmla="*/ 0 60000 65536"/>
              <a:gd name="T9" fmla="*/ 0 w 17"/>
              <a:gd name="T10" fmla="*/ 0 h 3"/>
              <a:gd name="T11" fmla="*/ 17 w 17"/>
              <a:gd name="T12" fmla="*/ 3 h 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3">
                <a:moveTo>
                  <a:pt x="17" y="0"/>
                </a:moveTo>
                <a:lnTo>
                  <a:pt x="0" y="3"/>
                </a:lnTo>
                <a:lnTo>
                  <a:pt x="17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64" name="Freeform 366"/>
          <p:cNvSpPr>
            <a:spLocks noChangeArrowheads="1"/>
          </p:cNvSpPr>
          <p:nvPr/>
        </p:nvSpPr>
        <p:spPr bwMode="auto">
          <a:xfrm>
            <a:off x="4330701" y="4442991"/>
            <a:ext cx="80963" cy="80963"/>
          </a:xfrm>
          <a:custGeom>
            <a:avLst/>
            <a:gdLst>
              <a:gd name="T0" fmla="*/ 0 w 46"/>
              <a:gd name="T1" fmla="*/ 0 h 46"/>
              <a:gd name="T2" fmla="*/ 0 w 46"/>
              <a:gd name="T3" fmla="*/ 46 h 46"/>
              <a:gd name="T4" fmla="*/ 46 w 46"/>
              <a:gd name="T5" fmla="*/ 25 h 46"/>
              <a:gd name="T6" fmla="*/ 0 w 46"/>
              <a:gd name="T7" fmla="*/ 0 h 46"/>
              <a:gd name="T8" fmla="*/ 0 w 46"/>
              <a:gd name="T9" fmla="*/ 0 h 4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"/>
              <a:gd name="T16" fmla="*/ 0 h 46"/>
              <a:gd name="T17" fmla="*/ 46 w 46"/>
              <a:gd name="T18" fmla="*/ 46 h 4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" h="46">
                <a:moveTo>
                  <a:pt x="0" y="0"/>
                </a:moveTo>
                <a:lnTo>
                  <a:pt x="0" y="46"/>
                </a:lnTo>
                <a:lnTo>
                  <a:pt x="46" y="25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65" name="Freeform 367"/>
          <p:cNvSpPr>
            <a:spLocks noChangeArrowheads="1"/>
          </p:cNvSpPr>
          <p:nvPr/>
        </p:nvSpPr>
        <p:spPr bwMode="auto">
          <a:xfrm>
            <a:off x="6526214" y="4457279"/>
            <a:ext cx="28575" cy="1587"/>
          </a:xfrm>
          <a:custGeom>
            <a:avLst/>
            <a:gdLst>
              <a:gd name="T0" fmla="*/ 16 w 16"/>
              <a:gd name="T1" fmla="*/ 0 h 1587"/>
              <a:gd name="T2" fmla="*/ 0 w 16"/>
              <a:gd name="T3" fmla="*/ 0 h 1587"/>
              <a:gd name="T4" fmla="*/ 16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66" name="Freeform 368"/>
          <p:cNvSpPr>
            <a:spLocks noChangeArrowheads="1"/>
          </p:cNvSpPr>
          <p:nvPr/>
        </p:nvSpPr>
        <p:spPr bwMode="auto">
          <a:xfrm>
            <a:off x="6521451" y="4416004"/>
            <a:ext cx="85725" cy="85725"/>
          </a:xfrm>
          <a:custGeom>
            <a:avLst/>
            <a:gdLst>
              <a:gd name="T0" fmla="*/ 0 w 49"/>
              <a:gd name="T1" fmla="*/ 0 h 49"/>
              <a:gd name="T2" fmla="*/ 3 w 49"/>
              <a:gd name="T3" fmla="*/ 49 h 49"/>
              <a:gd name="T4" fmla="*/ 49 w 49"/>
              <a:gd name="T5" fmla="*/ 24 h 49"/>
              <a:gd name="T6" fmla="*/ 3 w 49"/>
              <a:gd name="T7" fmla="*/ 3 h 49"/>
              <a:gd name="T8" fmla="*/ 3 w 49"/>
              <a:gd name="T9" fmla="*/ 3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3" y="49"/>
                </a:lnTo>
                <a:lnTo>
                  <a:pt x="49" y="24"/>
                </a:lnTo>
                <a:lnTo>
                  <a:pt x="3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67" name="Freeform 369"/>
          <p:cNvSpPr>
            <a:spLocks noChangeArrowheads="1"/>
          </p:cNvSpPr>
          <p:nvPr/>
        </p:nvSpPr>
        <p:spPr bwMode="auto">
          <a:xfrm>
            <a:off x="6526214" y="4985915"/>
            <a:ext cx="28575" cy="1588"/>
          </a:xfrm>
          <a:custGeom>
            <a:avLst/>
            <a:gdLst>
              <a:gd name="T0" fmla="*/ 16 w 16"/>
              <a:gd name="T1" fmla="*/ 0 h 1588"/>
              <a:gd name="T2" fmla="*/ 0 w 16"/>
              <a:gd name="T3" fmla="*/ 0 h 1588"/>
              <a:gd name="T4" fmla="*/ 16 w 16"/>
              <a:gd name="T5" fmla="*/ 0 h 1588"/>
              <a:gd name="T6" fmla="*/ 0 60000 65536"/>
              <a:gd name="T7" fmla="*/ 0 60000 65536"/>
              <a:gd name="T8" fmla="*/ 0 60000 65536"/>
              <a:gd name="T9" fmla="*/ 0 w 16"/>
              <a:gd name="T10" fmla="*/ 0 h 1588"/>
              <a:gd name="T11" fmla="*/ 16 w 1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8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68" name="Freeform 370"/>
          <p:cNvSpPr>
            <a:spLocks noChangeArrowheads="1"/>
          </p:cNvSpPr>
          <p:nvPr/>
        </p:nvSpPr>
        <p:spPr bwMode="auto">
          <a:xfrm>
            <a:off x="6521451" y="4943054"/>
            <a:ext cx="85725" cy="85725"/>
          </a:xfrm>
          <a:custGeom>
            <a:avLst/>
            <a:gdLst>
              <a:gd name="T0" fmla="*/ 0 w 49"/>
              <a:gd name="T1" fmla="*/ 0 h 49"/>
              <a:gd name="T2" fmla="*/ 3 w 49"/>
              <a:gd name="T3" fmla="*/ 49 h 49"/>
              <a:gd name="T4" fmla="*/ 49 w 49"/>
              <a:gd name="T5" fmla="*/ 24 h 49"/>
              <a:gd name="T6" fmla="*/ 3 w 49"/>
              <a:gd name="T7" fmla="*/ 0 h 49"/>
              <a:gd name="T8" fmla="*/ 3 w 49"/>
              <a:gd name="T9" fmla="*/ 0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3" y="49"/>
                </a:lnTo>
                <a:lnTo>
                  <a:pt x="49" y="24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69" name="Freeform 371"/>
          <p:cNvSpPr>
            <a:spLocks noChangeArrowheads="1"/>
          </p:cNvSpPr>
          <p:nvPr/>
        </p:nvSpPr>
        <p:spPr bwMode="auto">
          <a:xfrm>
            <a:off x="7005639" y="4725565"/>
            <a:ext cx="26987" cy="1588"/>
          </a:xfrm>
          <a:custGeom>
            <a:avLst/>
            <a:gdLst>
              <a:gd name="T0" fmla="*/ 16 w 16"/>
              <a:gd name="T1" fmla="*/ 0 h 1588"/>
              <a:gd name="T2" fmla="*/ 0 w 16"/>
              <a:gd name="T3" fmla="*/ 0 h 1588"/>
              <a:gd name="T4" fmla="*/ 16 w 16"/>
              <a:gd name="T5" fmla="*/ 0 h 1588"/>
              <a:gd name="T6" fmla="*/ 0 60000 65536"/>
              <a:gd name="T7" fmla="*/ 0 60000 65536"/>
              <a:gd name="T8" fmla="*/ 0 60000 65536"/>
              <a:gd name="T9" fmla="*/ 0 w 16"/>
              <a:gd name="T10" fmla="*/ 0 h 1588"/>
              <a:gd name="T11" fmla="*/ 16 w 1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8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70" name="Freeform 372"/>
          <p:cNvSpPr>
            <a:spLocks noChangeArrowheads="1"/>
          </p:cNvSpPr>
          <p:nvPr/>
        </p:nvSpPr>
        <p:spPr bwMode="auto">
          <a:xfrm>
            <a:off x="6999289" y="4681116"/>
            <a:ext cx="85725" cy="80963"/>
          </a:xfrm>
          <a:custGeom>
            <a:avLst/>
            <a:gdLst>
              <a:gd name="T0" fmla="*/ 0 w 49"/>
              <a:gd name="T1" fmla="*/ 0 h 46"/>
              <a:gd name="T2" fmla="*/ 3 w 49"/>
              <a:gd name="T3" fmla="*/ 46 h 46"/>
              <a:gd name="T4" fmla="*/ 49 w 49"/>
              <a:gd name="T5" fmla="*/ 25 h 46"/>
              <a:gd name="T6" fmla="*/ 3 w 49"/>
              <a:gd name="T7" fmla="*/ 0 h 46"/>
              <a:gd name="T8" fmla="*/ 3 w 49"/>
              <a:gd name="T9" fmla="*/ 0 h 46"/>
              <a:gd name="T10" fmla="*/ 0 w 49"/>
              <a:gd name="T11" fmla="*/ 0 h 46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6"/>
              <a:gd name="T20" fmla="*/ 49 w 49"/>
              <a:gd name="T21" fmla="*/ 46 h 4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6">
                <a:moveTo>
                  <a:pt x="0" y="0"/>
                </a:moveTo>
                <a:lnTo>
                  <a:pt x="3" y="46"/>
                </a:lnTo>
                <a:lnTo>
                  <a:pt x="49" y="25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71" name="Freeform 373"/>
          <p:cNvSpPr>
            <a:spLocks noChangeArrowheads="1"/>
          </p:cNvSpPr>
          <p:nvPr/>
        </p:nvSpPr>
        <p:spPr bwMode="auto">
          <a:xfrm>
            <a:off x="7005639" y="4020715"/>
            <a:ext cx="26987" cy="1588"/>
          </a:xfrm>
          <a:custGeom>
            <a:avLst/>
            <a:gdLst>
              <a:gd name="T0" fmla="*/ 16 w 16"/>
              <a:gd name="T1" fmla="*/ 0 h 1588"/>
              <a:gd name="T2" fmla="*/ 0 w 16"/>
              <a:gd name="T3" fmla="*/ 0 h 1588"/>
              <a:gd name="T4" fmla="*/ 16 w 16"/>
              <a:gd name="T5" fmla="*/ 0 h 1588"/>
              <a:gd name="T6" fmla="*/ 0 60000 65536"/>
              <a:gd name="T7" fmla="*/ 0 60000 65536"/>
              <a:gd name="T8" fmla="*/ 0 60000 65536"/>
              <a:gd name="T9" fmla="*/ 0 w 16"/>
              <a:gd name="T10" fmla="*/ 0 h 1588"/>
              <a:gd name="T11" fmla="*/ 16 w 1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8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72" name="Freeform 374"/>
          <p:cNvSpPr>
            <a:spLocks noChangeArrowheads="1"/>
          </p:cNvSpPr>
          <p:nvPr/>
        </p:nvSpPr>
        <p:spPr bwMode="auto">
          <a:xfrm>
            <a:off x="6999289" y="3979440"/>
            <a:ext cx="85725" cy="84138"/>
          </a:xfrm>
          <a:custGeom>
            <a:avLst/>
            <a:gdLst>
              <a:gd name="T0" fmla="*/ 0 w 49"/>
              <a:gd name="T1" fmla="*/ 0 h 49"/>
              <a:gd name="T2" fmla="*/ 3 w 49"/>
              <a:gd name="T3" fmla="*/ 49 h 49"/>
              <a:gd name="T4" fmla="*/ 49 w 49"/>
              <a:gd name="T5" fmla="*/ 24 h 49"/>
              <a:gd name="T6" fmla="*/ 3 w 49"/>
              <a:gd name="T7" fmla="*/ 3 h 49"/>
              <a:gd name="T8" fmla="*/ 3 w 49"/>
              <a:gd name="T9" fmla="*/ 3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3" y="49"/>
                </a:lnTo>
                <a:lnTo>
                  <a:pt x="49" y="24"/>
                </a:lnTo>
                <a:lnTo>
                  <a:pt x="3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73" name="Freeform 375"/>
          <p:cNvSpPr>
            <a:spLocks noChangeArrowheads="1"/>
          </p:cNvSpPr>
          <p:nvPr/>
        </p:nvSpPr>
        <p:spPr bwMode="auto">
          <a:xfrm>
            <a:off x="8143876" y="4454104"/>
            <a:ext cx="28575" cy="1587"/>
          </a:xfrm>
          <a:custGeom>
            <a:avLst/>
            <a:gdLst>
              <a:gd name="T0" fmla="*/ 16 w 16"/>
              <a:gd name="T1" fmla="*/ 0 h 1587"/>
              <a:gd name="T2" fmla="*/ 0 w 16"/>
              <a:gd name="T3" fmla="*/ 0 h 1587"/>
              <a:gd name="T4" fmla="*/ 16 w 16"/>
              <a:gd name="T5" fmla="*/ 0 h 1587"/>
              <a:gd name="T6" fmla="*/ 0 60000 65536"/>
              <a:gd name="T7" fmla="*/ 0 60000 65536"/>
              <a:gd name="T8" fmla="*/ 0 60000 65536"/>
              <a:gd name="T9" fmla="*/ 0 w 16"/>
              <a:gd name="T10" fmla="*/ 0 h 1587"/>
              <a:gd name="T11" fmla="*/ 16 w 16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7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74" name="Freeform 376"/>
          <p:cNvSpPr>
            <a:spLocks noChangeArrowheads="1"/>
          </p:cNvSpPr>
          <p:nvPr/>
        </p:nvSpPr>
        <p:spPr bwMode="auto">
          <a:xfrm>
            <a:off x="8143876" y="4409654"/>
            <a:ext cx="85725" cy="85725"/>
          </a:xfrm>
          <a:custGeom>
            <a:avLst/>
            <a:gdLst>
              <a:gd name="T0" fmla="*/ 0 w 49"/>
              <a:gd name="T1" fmla="*/ 0 h 49"/>
              <a:gd name="T2" fmla="*/ 0 w 49"/>
              <a:gd name="T3" fmla="*/ 49 h 49"/>
              <a:gd name="T4" fmla="*/ 49 w 49"/>
              <a:gd name="T5" fmla="*/ 25 h 49"/>
              <a:gd name="T6" fmla="*/ 0 w 49"/>
              <a:gd name="T7" fmla="*/ 0 h 49"/>
              <a:gd name="T8" fmla="*/ 0 w 49"/>
              <a:gd name="T9" fmla="*/ 0 h 4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9"/>
              <a:gd name="T16" fmla="*/ 0 h 49"/>
              <a:gd name="T17" fmla="*/ 49 w 49"/>
              <a:gd name="T18" fmla="*/ 49 h 4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9" h="49">
                <a:moveTo>
                  <a:pt x="0" y="0"/>
                </a:moveTo>
                <a:lnTo>
                  <a:pt x="0" y="49"/>
                </a:lnTo>
                <a:lnTo>
                  <a:pt x="49" y="25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75" name="Freeform 377"/>
          <p:cNvSpPr>
            <a:spLocks noChangeArrowheads="1"/>
          </p:cNvSpPr>
          <p:nvPr/>
        </p:nvSpPr>
        <p:spPr bwMode="auto">
          <a:xfrm>
            <a:off x="8148639" y="5179590"/>
            <a:ext cx="28575" cy="1588"/>
          </a:xfrm>
          <a:custGeom>
            <a:avLst/>
            <a:gdLst>
              <a:gd name="T0" fmla="*/ 16 w 16"/>
              <a:gd name="T1" fmla="*/ 0 h 1588"/>
              <a:gd name="T2" fmla="*/ 0 w 16"/>
              <a:gd name="T3" fmla="*/ 0 h 1588"/>
              <a:gd name="T4" fmla="*/ 16 w 16"/>
              <a:gd name="T5" fmla="*/ 0 h 1588"/>
              <a:gd name="T6" fmla="*/ 0 60000 65536"/>
              <a:gd name="T7" fmla="*/ 0 60000 65536"/>
              <a:gd name="T8" fmla="*/ 0 60000 65536"/>
              <a:gd name="T9" fmla="*/ 0 w 16"/>
              <a:gd name="T10" fmla="*/ 0 h 1588"/>
              <a:gd name="T11" fmla="*/ 16 w 1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8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76" name="Freeform 378"/>
          <p:cNvSpPr>
            <a:spLocks noChangeArrowheads="1"/>
          </p:cNvSpPr>
          <p:nvPr/>
        </p:nvSpPr>
        <p:spPr bwMode="auto">
          <a:xfrm>
            <a:off x="8143876" y="5136729"/>
            <a:ext cx="85725" cy="85725"/>
          </a:xfrm>
          <a:custGeom>
            <a:avLst/>
            <a:gdLst>
              <a:gd name="T0" fmla="*/ 0 w 49"/>
              <a:gd name="T1" fmla="*/ 0 h 49"/>
              <a:gd name="T2" fmla="*/ 3 w 49"/>
              <a:gd name="T3" fmla="*/ 49 h 49"/>
              <a:gd name="T4" fmla="*/ 49 w 49"/>
              <a:gd name="T5" fmla="*/ 24 h 49"/>
              <a:gd name="T6" fmla="*/ 3 w 49"/>
              <a:gd name="T7" fmla="*/ 3 h 49"/>
              <a:gd name="T8" fmla="*/ 3 w 49"/>
              <a:gd name="T9" fmla="*/ 3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3" y="49"/>
                </a:lnTo>
                <a:lnTo>
                  <a:pt x="49" y="24"/>
                </a:lnTo>
                <a:lnTo>
                  <a:pt x="3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77" name="Freeform 379"/>
          <p:cNvSpPr>
            <a:spLocks noChangeArrowheads="1"/>
          </p:cNvSpPr>
          <p:nvPr/>
        </p:nvSpPr>
        <p:spPr bwMode="auto">
          <a:xfrm>
            <a:off x="9796464" y="4468390"/>
            <a:ext cx="28575" cy="1588"/>
          </a:xfrm>
          <a:custGeom>
            <a:avLst/>
            <a:gdLst>
              <a:gd name="T0" fmla="*/ 16 w 16"/>
              <a:gd name="T1" fmla="*/ 0 h 1588"/>
              <a:gd name="T2" fmla="*/ 0 w 16"/>
              <a:gd name="T3" fmla="*/ 0 h 1588"/>
              <a:gd name="T4" fmla="*/ 16 w 16"/>
              <a:gd name="T5" fmla="*/ 0 h 1588"/>
              <a:gd name="T6" fmla="*/ 0 60000 65536"/>
              <a:gd name="T7" fmla="*/ 0 60000 65536"/>
              <a:gd name="T8" fmla="*/ 0 60000 65536"/>
              <a:gd name="T9" fmla="*/ 0 w 16"/>
              <a:gd name="T10" fmla="*/ 0 h 1588"/>
              <a:gd name="T11" fmla="*/ 16 w 1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8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78" name="Freeform 380"/>
          <p:cNvSpPr>
            <a:spLocks noChangeArrowheads="1"/>
          </p:cNvSpPr>
          <p:nvPr/>
        </p:nvSpPr>
        <p:spPr bwMode="auto">
          <a:xfrm>
            <a:off x="9791701" y="4423941"/>
            <a:ext cx="85725" cy="85725"/>
          </a:xfrm>
          <a:custGeom>
            <a:avLst/>
            <a:gdLst>
              <a:gd name="T0" fmla="*/ 0 w 49"/>
              <a:gd name="T1" fmla="*/ 0 h 49"/>
              <a:gd name="T2" fmla="*/ 3 w 49"/>
              <a:gd name="T3" fmla="*/ 49 h 49"/>
              <a:gd name="T4" fmla="*/ 49 w 49"/>
              <a:gd name="T5" fmla="*/ 25 h 49"/>
              <a:gd name="T6" fmla="*/ 3 w 49"/>
              <a:gd name="T7" fmla="*/ 3 h 49"/>
              <a:gd name="T8" fmla="*/ 3 w 49"/>
              <a:gd name="T9" fmla="*/ 3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3" y="49"/>
                </a:lnTo>
                <a:lnTo>
                  <a:pt x="49" y="25"/>
                </a:lnTo>
                <a:lnTo>
                  <a:pt x="3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79" name="Freeform 381"/>
          <p:cNvSpPr>
            <a:spLocks noChangeArrowheads="1"/>
          </p:cNvSpPr>
          <p:nvPr/>
        </p:nvSpPr>
        <p:spPr bwMode="auto">
          <a:xfrm>
            <a:off x="9791701" y="5046240"/>
            <a:ext cx="28575" cy="1588"/>
          </a:xfrm>
          <a:custGeom>
            <a:avLst/>
            <a:gdLst>
              <a:gd name="T0" fmla="*/ 16 w 16"/>
              <a:gd name="T1" fmla="*/ 0 h 1588"/>
              <a:gd name="T2" fmla="*/ 0 w 16"/>
              <a:gd name="T3" fmla="*/ 0 h 1588"/>
              <a:gd name="T4" fmla="*/ 16 w 16"/>
              <a:gd name="T5" fmla="*/ 0 h 1588"/>
              <a:gd name="T6" fmla="*/ 0 60000 65536"/>
              <a:gd name="T7" fmla="*/ 0 60000 65536"/>
              <a:gd name="T8" fmla="*/ 0 60000 65536"/>
              <a:gd name="T9" fmla="*/ 0 w 16"/>
              <a:gd name="T10" fmla="*/ 0 h 1588"/>
              <a:gd name="T11" fmla="*/ 16 w 16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" h="1588">
                <a:moveTo>
                  <a:pt x="16" y="0"/>
                </a:moveTo>
                <a:lnTo>
                  <a:pt x="0" y="0"/>
                </a:lnTo>
                <a:lnTo>
                  <a:pt x="16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80" name="Freeform 382"/>
          <p:cNvSpPr>
            <a:spLocks noChangeArrowheads="1"/>
          </p:cNvSpPr>
          <p:nvPr/>
        </p:nvSpPr>
        <p:spPr bwMode="auto">
          <a:xfrm>
            <a:off x="9791701" y="5004966"/>
            <a:ext cx="85725" cy="85725"/>
          </a:xfrm>
          <a:custGeom>
            <a:avLst/>
            <a:gdLst>
              <a:gd name="T0" fmla="*/ 0 w 49"/>
              <a:gd name="T1" fmla="*/ 0 h 49"/>
              <a:gd name="T2" fmla="*/ 0 w 49"/>
              <a:gd name="T3" fmla="*/ 49 h 49"/>
              <a:gd name="T4" fmla="*/ 49 w 49"/>
              <a:gd name="T5" fmla="*/ 24 h 49"/>
              <a:gd name="T6" fmla="*/ 0 w 49"/>
              <a:gd name="T7" fmla="*/ 3 h 49"/>
              <a:gd name="T8" fmla="*/ 0 w 49"/>
              <a:gd name="T9" fmla="*/ 3 h 49"/>
              <a:gd name="T10" fmla="*/ 0 w 49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9"/>
              <a:gd name="T19" fmla="*/ 0 h 49"/>
              <a:gd name="T20" fmla="*/ 49 w 49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9" h="49">
                <a:moveTo>
                  <a:pt x="0" y="0"/>
                </a:moveTo>
                <a:lnTo>
                  <a:pt x="0" y="49"/>
                </a:lnTo>
                <a:lnTo>
                  <a:pt x="49" y="24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81" name="Freeform 383"/>
          <p:cNvSpPr>
            <a:spLocks noChangeArrowheads="1"/>
          </p:cNvSpPr>
          <p:nvPr/>
        </p:nvSpPr>
        <p:spPr bwMode="auto">
          <a:xfrm>
            <a:off x="4330701" y="4900190"/>
            <a:ext cx="30163" cy="1588"/>
          </a:xfrm>
          <a:custGeom>
            <a:avLst/>
            <a:gdLst>
              <a:gd name="T0" fmla="*/ 17 w 17"/>
              <a:gd name="T1" fmla="*/ 0 h 1588"/>
              <a:gd name="T2" fmla="*/ 0 w 17"/>
              <a:gd name="T3" fmla="*/ 0 h 1588"/>
              <a:gd name="T4" fmla="*/ 17 w 17"/>
              <a:gd name="T5" fmla="*/ 0 h 1588"/>
              <a:gd name="T6" fmla="*/ 0 60000 65536"/>
              <a:gd name="T7" fmla="*/ 0 60000 65536"/>
              <a:gd name="T8" fmla="*/ 0 60000 65536"/>
              <a:gd name="T9" fmla="*/ 0 w 17"/>
              <a:gd name="T10" fmla="*/ 0 h 1588"/>
              <a:gd name="T11" fmla="*/ 17 w 17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" h="1588">
                <a:moveTo>
                  <a:pt x="17" y="0"/>
                </a:moveTo>
                <a:lnTo>
                  <a:pt x="0" y="0"/>
                </a:lnTo>
                <a:lnTo>
                  <a:pt x="17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82" name="Freeform 384"/>
          <p:cNvSpPr>
            <a:spLocks noChangeArrowheads="1"/>
          </p:cNvSpPr>
          <p:nvPr/>
        </p:nvSpPr>
        <p:spPr bwMode="auto">
          <a:xfrm>
            <a:off x="4330701" y="4857329"/>
            <a:ext cx="80963" cy="85725"/>
          </a:xfrm>
          <a:custGeom>
            <a:avLst/>
            <a:gdLst>
              <a:gd name="T0" fmla="*/ 0 w 46"/>
              <a:gd name="T1" fmla="*/ 0 h 49"/>
              <a:gd name="T2" fmla="*/ 0 w 46"/>
              <a:gd name="T3" fmla="*/ 49 h 49"/>
              <a:gd name="T4" fmla="*/ 46 w 46"/>
              <a:gd name="T5" fmla="*/ 24 h 49"/>
              <a:gd name="T6" fmla="*/ 0 w 46"/>
              <a:gd name="T7" fmla="*/ 2 h 49"/>
              <a:gd name="T8" fmla="*/ 0 w 46"/>
              <a:gd name="T9" fmla="*/ 2 h 49"/>
              <a:gd name="T10" fmla="*/ 0 w 46"/>
              <a:gd name="T11" fmla="*/ 0 h 4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6"/>
              <a:gd name="T19" fmla="*/ 0 h 49"/>
              <a:gd name="T20" fmla="*/ 46 w 46"/>
              <a:gd name="T21" fmla="*/ 49 h 49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6" h="49">
                <a:moveTo>
                  <a:pt x="0" y="0"/>
                </a:moveTo>
                <a:lnTo>
                  <a:pt x="0" y="49"/>
                </a:lnTo>
                <a:lnTo>
                  <a:pt x="46" y="24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83" name="Freeform 385"/>
          <p:cNvSpPr>
            <a:spLocks noChangeArrowheads="1"/>
          </p:cNvSpPr>
          <p:nvPr/>
        </p:nvSpPr>
        <p:spPr bwMode="auto">
          <a:xfrm>
            <a:off x="3514726" y="4044528"/>
            <a:ext cx="80963" cy="80962"/>
          </a:xfrm>
          <a:custGeom>
            <a:avLst/>
            <a:gdLst>
              <a:gd name="T0" fmla="*/ 22 w 46"/>
              <a:gd name="T1" fmla="*/ 46 h 46"/>
              <a:gd name="T2" fmla="*/ 27 w 46"/>
              <a:gd name="T3" fmla="*/ 46 h 46"/>
              <a:gd name="T4" fmla="*/ 30 w 46"/>
              <a:gd name="T5" fmla="*/ 46 h 46"/>
              <a:gd name="T6" fmla="*/ 35 w 46"/>
              <a:gd name="T7" fmla="*/ 43 h 46"/>
              <a:gd name="T8" fmla="*/ 38 w 46"/>
              <a:gd name="T9" fmla="*/ 43 h 46"/>
              <a:gd name="T10" fmla="*/ 41 w 46"/>
              <a:gd name="T11" fmla="*/ 41 h 46"/>
              <a:gd name="T12" fmla="*/ 43 w 46"/>
              <a:gd name="T13" fmla="*/ 38 h 46"/>
              <a:gd name="T14" fmla="*/ 43 w 46"/>
              <a:gd name="T15" fmla="*/ 35 h 46"/>
              <a:gd name="T16" fmla="*/ 46 w 46"/>
              <a:gd name="T17" fmla="*/ 33 h 46"/>
              <a:gd name="T18" fmla="*/ 46 w 46"/>
              <a:gd name="T19" fmla="*/ 27 h 46"/>
              <a:gd name="T20" fmla="*/ 46 w 46"/>
              <a:gd name="T21" fmla="*/ 24 h 46"/>
              <a:gd name="T22" fmla="*/ 46 w 46"/>
              <a:gd name="T23" fmla="*/ 19 h 46"/>
              <a:gd name="T24" fmla="*/ 46 w 46"/>
              <a:gd name="T25" fmla="*/ 16 h 46"/>
              <a:gd name="T26" fmla="*/ 43 w 46"/>
              <a:gd name="T27" fmla="*/ 14 h 46"/>
              <a:gd name="T28" fmla="*/ 43 w 46"/>
              <a:gd name="T29" fmla="*/ 11 h 46"/>
              <a:gd name="T30" fmla="*/ 41 w 46"/>
              <a:gd name="T31" fmla="*/ 8 h 46"/>
              <a:gd name="T32" fmla="*/ 38 w 46"/>
              <a:gd name="T33" fmla="*/ 5 h 46"/>
              <a:gd name="T34" fmla="*/ 35 w 46"/>
              <a:gd name="T35" fmla="*/ 3 h 46"/>
              <a:gd name="T36" fmla="*/ 30 w 46"/>
              <a:gd name="T37" fmla="*/ 3 h 46"/>
              <a:gd name="T38" fmla="*/ 27 w 46"/>
              <a:gd name="T39" fmla="*/ 0 h 46"/>
              <a:gd name="T40" fmla="*/ 24 w 46"/>
              <a:gd name="T41" fmla="*/ 0 h 46"/>
              <a:gd name="T42" fmla="*/ 19 w 46"/>
              <a:gd name="T43" fmla="*/ 0 h 46"/>
              <a:gd name="T44" fmla="*/ 16 w 46"/>
              <a:gd name="T45" fmla="*/ 3 h 46"/>
              <a:gd name="T46" fmla="*/ 14 w 46"/>
              <a:gd name="T47" fmla="*/ 3 h 46"/>
              <a:gd name="T48" fmla="*/ 11 w 46"/>
              <a:gd name="T49" fmla="*/ 5 h 46"/>
              <a:gd name="T50" fmla="*/ 8 w 46"/>
              <a:gd name="T51" fmla="*/ 8 h 46"/>
              <a:gd name="T52" fmla="*/ 5 w 46"/>
              <a:gd name="T53" fmla="*/ 11 h 46"/>
              <a:gd name="T54" fmla="*/ 3 w 46"/>
              <a:gd name="T55" fmla="*/ 14 h 46"/>
              <a:gd name="T56" fmla="*/ 0 w 46"/>
              <a:gd name="T57" fmla="*/ 16 h 46"/>
              <a:gd name="T58" fmla="*/ 0 w 46"/>
              <a:gd name="T59" fmla="*/ 19 h 46"/>
              <a:gd name="T60" fmla="*/ 0 w 46"/>
              <a:gd name="T61" fmla="*/ 24 h 46"/>
              <a:gd name="T62" fmla="*/ 0 w 46"/>
              <a:gd name="T63" fmla="*/ 27 h 46"/>
              <a:gd name="T64" fmla="*/ 0 w 46"/>
              <a:gd name="T65" fmla="*/ 33 h 46"/>
              <a:gd name="T66" fmla="*/ 3 w 46"/>
              <a:gd name="T67" fmla="*/ 35 h 46"/>
              <a:gd name="T68" fmla="*/ 5 w 46"/>
              <a:gd name="T69" fmla="*/ 38 h 46"/>
              <a:gd name="T70" fmla="*/ 8 w 46"/>
              <a:gd name="T71" fmla="*/ 41 h 46"/>
              <a:gd name="T72" fmla="*/ 11 w 46"/>
              <a:gd name="T73" fmla="*/ 43 h 46"/>
              <a:gd name="T74" fmla="*/ 14 w 46"/>
              <a:gd name="T75" fmla="*/ 43 h 46"/>
              <a:gd name="T76" fmla="*/ 16 w 46"/>
              <a:gd name="T77" fmla="*/ 46 h 46"/>
              <a:gd name="T78" fmla="*/ 19 w 46"/>
              <a:gd name="T79" fmla="*/ 46 h 46"/>
              <a:gd name="T80" fmla="*/ 24 w 46"/>
              <a:gd name="T81" fmla="*/ 46 h 46"/>
              <a:gd name="T82" fmla="*/ 24 w 46"/>
              <a:gd name="T83" fmla="*/ 46 h 46"/>
              <a:gd name="T84" fmla="*/ 22 w 46"/>
              <a:gd name="T85" fmla="*/ 46 h 4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6"/>
              <a:gd name="T130" fmla="*/ 0 h 46"/>
              <a:gd name="T131" fmla="*/ 46 w 46"/>
              <a:gd name="T132" fmla="*/ 46 h 4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6" h="46">
                <a:moveTo>
                  <a:pt x="22" y="46"/>
                </a:moveTo>
                <a:lnTo>
                  <a:pt x="27" y="46"/>
                </a:lnTo>
                <a:lnTo>
                  <a:pt x="30" y="46"/>
                </a:lnTo>
                <a:lnTo>
                  <a:pt x="35" y="43"/>
                </a:lnTo>
                <a:lnTo>
                  <a:pt x="38" y="43"/>
                </a:lnTo>
                <a:lnTo>
                  <a:pt x="41" y="41"/>
                </a:lnTo>
                <a:lnTo>
                  <a:pt x="43" y="38"/>
                </a:lnTo>
                <a:lnTo>
                  <a:pt x="43" y="35"/>
                </a:lnTo>
                <a:lnTo>
                  <a:pt x="46" y="33"/>
                </a:lnTo>
                <a:lnTo>
                  <a:pt x="46" y="27"/>
                </a:lnTo>
                <a:lnTo>
                  <a:pt x="46" y="24"/>
                </a:lnTo>
                <a:lnTo>
                  <a:pt x="46" y="19"/>
                </a:lnTo>
                <a:lnTo>
                  <a:pt x="46" y="16"/>
                </a:lnTo>
                <a:lnTo>
                  <a:pt x="43" y="14"/>
                </a:lnTo>
                <a:lnTo>
                  <a:pt x="43" y="11"/>
                </a:lnTo>
                <a:lnTo>
                  <a:pt x="41" y="8"/>
                </a:lnTo>
                <a:lnTo>
                  <a:pt x="38" y="5"/>
                </a:lnTo>
                <a:lnTo>
                  <a:pt x="35" y="3"/>
                </a:lnTo>
                <a:lnTo>
                  <a:pt x="30" y="3"/>
                </a:lnTo>
                <a:lnTo>
                  <a:pt x="27" y="0"/>
                </a:lnTo>
                <a:lnTo>
                  <a:pt x="24" y="0"/>
                </a:lnTo>
                <a:lnTo>
                  <a:pt x="19" y="0"/>
                </a:lnTo>
                <a:lnTo>
                  <a:pt x="16" y="3"/>
                </a:lnTo>
                <a:lnTo>
                  <a:pt x="14" y="3"/>
                </a:lnTo>
                <a:lnTo>
                  <a:pt x="11" y="5"/>
                </a:lnTo>
                <a:lnTo>
                  <a:pt x="8" y="8"/>
                </a:lnTo>
                <a:lnTo>
                  <a:pt x="5" y="11"/>
                </a:lnTo>
                <a:lnTo>
                  <a:pt x="3" y="14"/>
                </a:lnTo>
                <a:lnTo>
                  <a:pt x="0" y="16"/>
                </a:lnTo>
                <a:lnTo>
                  <a:pt x="0" y="19"/>
                </a:lnTo>
                <a:lnTo>
                  <a:pt x="0" y="24"/>
                </a:lnTo>
                <a:lnTo>
                  <a:pt x="0" y="27"/>
                </a:lnTo>
                <a:lnTo>
                  <a:pt x="0" y="33"/>
                </a:lnTo>
                <a:lnTo>
                  <a:pt x="3" y="35"/>
                </a:lnTo>
                <a:lnTo>
                  <a:pt x="5" y="38"/>
                </a:lnTo>
                <a:lnTo>
                  <a:pt x="8" y="41"/>
                </a:lnTo>
                <a:lnTo>
                  <a:pt x="11" y="43"/>
                </a:lnTo>
                <a:lnTo>
                  <a:pt x="14" y="43"/>
                </a:lnTo>
                <a:lnTo>
                  <a:pt x="16" y="46"/>
                </a:lnTo>
                <a:lnTo>
                  <a:pt x="19" y="46"/>
                </a:lnTo>
                <a:lnTo>
                  <a:pt x="24" y="46"/>
                </a:lnTo>
                <a:lnTo>
                  <a:pt x="22" y="46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84" name="Freeform 386"/>
          <p:cNvSpPr>
            <a:spLocks noChangeArrowheads="1"/>
          </p:cNvSpPr>
          <p:nvPr/>
        </p:nvSpPr>
        <p:spPr bwMode="auto">
          <a:xfrm>
            <a:off x="3505201" y="4592216"/>
            <a:ext cx="80963" cy="85725"/>
          </a:xfrm>
          <a:custGeom>
            <a:avLst/>
            <a:gdLst>
              <a:gd name="T0" fmla="*/ 22 w 46"/>
              <a:gd name="T1" fmla="*/ 46 h 49"/>
              <a:gd name="T2" fmla="*/ 27 w 46"/>
              <a:gd name="T3" fmla="*/ 46 h 49"/>
              <a:gd name="T4" fmla="*/ 30 w 46"/>
              <a:gd name="T5" fmla="*/ 46 h 49"/>
              <a:gd name="T6" fmla="*/ 35 w 46"/>
              <a:gd name="T7" fmla="*/ 46 h 49"/>
              <a:gd name="T8" fmla="*/ 38 w 46"/>
              <a:gd name="T9" fmla="*/ 44 h 49"/>
              <a:gd name="T10" fmla="*/ 41 w 46"/>
              <a:gd name="T11" fmla="*/ 41 h 49"/>
              <a:gd name="T12" fmla="*/ 43 w 46"/>
              <a:gd name="T13" fmla="*/ 38 h 49"/>
              <a:gd name="T14" fmla="*/ 43 w 46"/>
              <a:gd name="T15" fmla="*/ 36 h 49"/>
              <a:gd name="T16" fmla="*/ 46 w 46"/>
              <a:gd name="T17" fmla="*/ 33 h 49"/>
              <a:gd name="T18" fmla="*/ 46 w 46"/>
              <a:gd name="T19" fmla="*/ 27 h 49"/>
              <a:gd name="T20" fmla="*/ 46 w 46"/>
              <a:gd name="T21" fmla="*/ 25 h 49"/>
              <a:gd name="T22" fmla="*/ 46 w 46"/>
              <a:gd name="T23" fmla="*/ 22 h 49"/>
              <a:gd name="T24" fmla="*/ 46 w 46"/>
              <a:gd name="T25" fmla="*/ 17 h 49"/>
              <a:gd name="T26" fmla="*/ 43 w 46"/>
              <a:gd name="T27" fmla="*/ 14 h 49"/>
              <a:gd name="T28" fmla="*/ 43 w 46"/>
              <a:gd name="T29" fmla="*/ 11 h 49"/>
              <a:gd name="T30" fmla="*/ 41 w 46"/>
              <a:gd name="T31" fmla="*/ 8 h 49"/>
              <a:gd name="T32" fmla="*/ 38 w 46"/>
              <a:gd name="T33" fmla="*/ 6 h 49"/>
              <a:gd name="T34" fmla="*/ 35 w 46"/>
              <a:gd name="T35" fmla="*/ 3 h 49"/>
              <a:gd name="T36" fmla="*/ 30 w 46"/>
              <a:gd name="T37" fmla="*/ 3 h 49"/>
              <a:gd name="T38" fmla="*/ 27 w 46"/>
              <a:gd name="T39" fmla="*/ 3 h 49"/>
              <a:gd name="T40" fmla="*/ 24 w 46"/>
              <a:gd name="T41" fmla="*/ 0 h 49"/>
              <a:gd name="T42" fmla="*/ 19 w 46"/>
              <a:gd name="T43" fmla="*/ 3 h 49"/>
              <a:gd name="T44" fmla="*/ 16 w 46"/>
              <a:gd name="T45" fmla="*/ 3 h 49"/>
              <a:gd name="T46" fmla="*/ 14 w 46"/>
              <a:gd name="T47" fmla="*/ 3 h 49"/>
              <a:gd name="T48" fmla="*/ 11 w 46"/>
              <a:gd name="T49" fmla="*/ 6 h 49"/>
              <a:gd name="T50" fmla="*/ 8 w 46"/>
              <a:gd name="T51" fmla="*/ 8 h 49"/>
              <a:gd name="T52" fmla="*/ 5 w 46"/>
              <a:gd name="T53" fmla="*/ 11 h 49"/>
              <a:gd name="T54" fmla="*/ 3 w 46"/>
              <a:gd name="T55" fmla="*/ 14 h 49"/>
              <a:gd name="T56" fmla="*/ 0 w 46"/>
              <a:gd name="T57" fmla="*/ 17 h 49"/>
              <a:gd name="T58" fmla="*/ 0 w 46"/>
              <a:gd name="T59" fmla="*/ 22 h 49"/>
              <a:gd name="T60" fmla="*/ 0 w 46"/>
              <a:gd name="T61" fmla="*/ 25 h 49"/>
              <a:gd name="T62" fmla="*/ 0 w 46"/>
              <a:gd name="T63" fmla="*/ 27 h 49"/>
              <a:gd name="T64" fmla="*/ 0 w 46"/>
              <a:gd name="T65" fmla="*/ 33 h 49"/>
              <a:gd name="T66" fmla="*/ 3 w 46"/>
              <a:gd name="T67" fmla="*/ 36 h 49"/>
              <a:gd name="T68" fmla="*/ 5 w 46"/>
              <a:gd name="T69" fmla="*/ 38 h 49"/>
              <a:gd name="T70" fmla="*/ 8 w 46"/>
              <a:gd name="T71" fmla="*/ 41 h 49"/>
              <a:gd name="T72" fmla="*/ 11 w 46"/>
              <a:gd name="T73" fmla="*/ 44 h 49"/>
              <a:gd name="T74" fmla="*/ 14 w 46"/>
              <a:gd name="T75" fmla="*/ 46 h 49"/>
              <a:gd name="T76" fmla="*/ 16 w 46"/>
              <a:gd name="T77" fmla="*/ 46 h 49"/>
              <a:gd name="T78" fmla="*/ 19 w 46"/>
              <a:gd name="T79" fmla="*/ 46 h 49"/>
              <a:gd name="T80" fmla="*/ 24 w 46"/>
              <a:gd name="T81" fmla="*/ 49 h 49"/>
              <a:gd name="T82" fmla="*/ 24 w 46"/>
              <a:gd name="T83" fmla="*/ 49 h 49"/>
              <a:gd name="T84" fmla="*/ 22 w 46"/>
              <a:gd name="T85" fmla="*/ 46 h 49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6"/>
              <a:gd name="T130" fmla="*/ 0 h 49"/>
              <a:gd name="T131" fmla="*/ 46 w 46"/>
              <a:gd name="T132" fmla="*/ 49 h 49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6" h="49">
                <a:moveTo>
                  <a:pt x="22" y="46"/>
                </a:moveTo>
                <a:lnTo>
                  <a:pt x="27" y="46"/>
                </a:lnTo>
                <a:lnTo>
                  <a:pt x="30" y="46"/>
                </a:lnTo>
                <a:lnTo>
                  <a:pt x="35" y="46"/>
                </a:lnTo>
                <a:lnTo>
                  <a:pt x="38" y="44"/>
                </a:lnTo>
                <a:lnTo>
                  <a:pt x="41" y="41"/>
                </a:lnTo>
                <a:lnTo>
                  <a:pt x="43" y="38"/>
                </a:lnTo>
                <a:lnTo>
                  <a:pt x="43" y="36"/>
                </a:lnTo>
                <a:lnTo>
                  <a:pt x="46" y="33"/>
                </a:lnTo>
                <a:lnTo>
                  <a:pt x="46" y="27"/>
                </a:lnTo>
                <a:lnTo>
                  <a:pt x="46" y="25"/>
                </a:lnTo>
                <a:lnTo>
                  <a:pt x="46" y="22"/>
                </a:lnTo>
                <a:lnTo>
                  <a:pt x="46" y="17"/>
                </a:lnTo>
                <a:lnTo>
                  <a:pt x="43" y="14"/>
                </a:lnTo>
                <a:lnTo>
                  <a:pt x="43" y="11"/>
                </a:lnTo>
                <a:lnTo>
                  <a:pt x="41" y="8"/>
                </a:lnTo>
                <a:lnTo>
                  <a:pt x="38" y="6"/>
                </a:lnTo>
                <a:lnTo>
                  <a:pt x="35" y="3"/>
                </a:lnTo>
                <a:lnTo>
                  <a:pt x="30" y="3"/>
                </a:lnTo>
                <a:lnTo>
                  <a:pt x="27" y="3"/>
                </a:lnTo>
                <a:lnTo>
                  <a:pt x="24" y="0"/>
                </a:lnTo>
                <a:lnTo>
                  <a:pt x="19" y="3"/>
                </a:lnTo>
                <a:lnTo>
                  <a:pt x="16" y="3"/>
                </a:lnTo>
                <a:lnTo>
                  <a:pt x="14" y="3"/>
                </a:lnTo>
                <a:lnTo>
                  <a:pt x="11" y="6"/>
                </a:lnTo>
                <a:lnTo>
                  <a:pt x="8" y="8"/>
                </a:lnTo>
                <a:lnTo>
                  <a:pt x="5" y="11"/>
                </a:lnTo>
                <a:lnTo>
                  <a:pt x="3" y="14"/>
                </a:lnTo>
                <a:lnTo>
                  <a:pt x="0" y="17"/>
                </a:lnTo>
                <a:lnTo>
                  <a:pt x="0" y="22"/>
                </a:lnTo>
                <a:lnTo>
                  <a:pt x="0" y="25"/>
                </a:lnTo>
                <a:lnTo>
                  <a:pt x="0" y="27"/>
                </a:lnTo>
                <a:lnTo>
                  <a:pt x="0" y="33"/>
                </a:lnTo>
                <a:lnTo>
                  <a:pt x="3" y="36"/>
                </a:lnTo>
                <a:lnTo>
                  <a:pt x="5" y="38"/>
                </a:lnTo>
                <a:lnTo>
                  <a:pt x="8" y="41"/>
                </a:lnTo>
                <a:lnTo>
                  <a:pt x="11" y="44"/>
                </a:lnTo>
                <a:lnTo>
                  <a:pt x="14" y="46"/>
                </a:lnTo>
                <a:lnTo>
                  <a:pt x="16" y="46"/>
                </a:lnTo>
                <a:lnTo>
                  <a:pt x="19" y="46"/>
                </a:lnTo>
                <a:lnTo>
                  <a:pt x="24" y="49"/>
                </a:lnTo>
                <a:lnTo>
                  <a:pt x="22" y="46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85" name="Freeform 387"/>
          <p:cNvSpPr>
            <a:spLocks noChangeArrowheads="1"/>
          </p:cNvSpPr>
          <p:nvPr/>
        </p:nvSpPr>
        <p:spPr bwMode="auto">
          <a:xfrm>
            <a:off x="7964489" y="4420766"/>
            <a:ext cx="79375" cy="80963"/>
          </a:xfrm>
          <a:custGeom>
            <a:avLst/>
            <a:gdLst>
              <a:gd name="T0" fmla="*/ 22 w 46"/>
              <a:gd name="T1" fmla="*/ 43 h 46"/>
              <a:gd name="T2" fmla="*/ 27 w 46"/>
              <a:gd name="T3" fmla="*/ 46 h 46"/>
              <a:gd name="T4" fmla="*/ 32 w 46"/>
              <a:gd name="T5" fmla="*/ 43 h 46"/>
              <a:gd name="T6" fmla="*/ 35 w 46"/>
              <a:gd name="T7" fmla="*/ 43 h 46"/>
              <a:gd name="T8" fmla="*/ 38 w 46"/>
              <a:gd name="T9" fmla="*/ 40 h 46"/>
              <a:gd name="T10" fmla="*/ 41 w 46"/>
              <a:gd name="T11" fmla="*/ 38 h 46"/>
              <a:gd name="T12" fmla="*/ 43 w 46"/>
              <a:gd name="T13" fmla="*/ 35 h 46"/>
              <a:gd name="T14" fmla="*/ 43 w 46"/>
              <a:gd name="T15" fmla="*/ 32 h 46"/>
              <a:gd name="T16" fmla="*/ 46 w 46"/>
              <a:gd name="T17" fmla="*/ 30 h 46"/>
              <a:gd name="T18" fmla="*/ 46 w 46"/>
              <a:gd name="T19" fmla="*/ 27 h 46"/>
              <a:gd name="T20" fmla="*/ 46 w 46"/>
              <a:gd name="T21" fmla="*/ 21 h 46"/>
              <a:gd name="T22" fmla="*/ 46 w 46"/>
              <a:gd name="T23" fmla="*/ 19 h 46"/>
              <a:gd name="T24" fmla="*/ 46 w 46"/>
              <a:gd name="T25" fmla="*/ 16 h 46"/>
              <a:gd name="T26" fmla="*/ 43 w 46"/>
              <a:gd name="T27" fmla="*/ 11 h 46"/>
              <a:gd name="T28" fmla="*/ 43 w 46"/>
              <a:gd name="T29" fmla="*/ 8 h 46"/>
              <a:gd name="T30" fmla="*/ 41 w 46"/>
              <a:gd name="T31" fmla="*/ 5 h 46"/>
              <a:gd name="T32" fmla="*/ 38 w 46"/>
              <a:gd name="T33" fmla="*/ 2 h 46"/>
              <a:gd name="T34" fmla="*/ 35 w 46"/>
              <a:gd name="T35" fmla="*/ 2 h 46"/>
              <a:gd name="T36" fmla="*/ 32 w 46"/>
              <a:gd name="T37" fmla="*/ 0 h 46"/>
              <a:gd name="T38" fmla="*/ 27 w 46"/>
              <a:gd name="T39" fmla="*/ 0 h 46"/>
              <a:gd name="T40" fmla="*/ 24 w 46"/>
              <a:gd name="T41" fmla="*/ 0 h 46"/>
              <a:gd name="T42" fmla="*/ 19 w 46"/>
              <a:gd name="T43" fmla="*/ 0 h 46"/>
              <a:gd name="T44" fmla="*/ 16 w 46"/>
              <a:gd name="T45" fmla="*/ 0 h 46"/>
              <a:gd name="T46" fmla="*/ 13 w 46"/>
              <a:gd name="T47" fmla="*/ 2 h 46"/>
              <a:gd name="T48" fmla="*/ 11 w 46"/>
              <a:gd name="T49" fmla="*/ 2 h 46"/>
              <a:gd name="T50" fmla="*/ 8 w 46"/>
              <a:gd name="T51" fmla="*/ 5 h 46"/>
              <a:gd name="T52" fmla="*/ 5 w 46"/>
              <a:gd name="T53" fmla="*/ 8 h 46"/>
              <a:gd name="T54" fmla="*/ 2 w 46"/>
              <a:gd name="T55" fmla="*/ 11 h 46"/>
              <a:gd name="T56" fmla="*/ 2 w 46"/>
              <a:gd name="T57" fmla="*/ 16 h 46"/>
              <a:gd name="T58" fmla="*/ 0 w 46"/>
              <a:gd name="T59" fmla="*/ 19 h 46"/>
              <a:gd name="T60" fmla="*/ 0 w 46"/>
              <a:gd name="T61" fmla="*/ 21 h 46"/>
              <a:gd name="T62" fmla="*/ 0 w 46"/>
              <a:gd name="T63" fmla="*/ 27 h 46"/>
              <a:gd name="T64" fmla="*/ 2 w 46"/>
              <a:gd name="T65" fmla="*/ 30 h 46"/>
              <a:gd name="T66" fmla="*/ 2 w 46"/>
              <a:gd name="T67" fmla="*/ 32 h 46"/>
              <a:gd name="T68" fmla="*/ 5 w 46"/>
              <a:gd name="T69" fmla="*/ 35 h 46"/>
              <a:gd name="T70" fmla="*/ 8 w 46"/>
              <a:gd name="T71" fmla="*/ 38 h 46"/>
              <a:gd name="T72" fmla="*/ 11 w 46"/>
              <a:gd name="T73" fmla="*/ 40 h 46"/>
              <a:gd name="T74" fmla="*/ 13 w 46"/>
              <a:gd name="T75" fmla="*/ 43 h 46"/>
              <a:gd name="T76" fmla="*/ 16 w 46"/>
              <a:gd name="T77" fmla="*/ 43 h 46"/>
              <a:gd name="T78" fmla="*/ 19 w 46"/>
              <a:gd name="T79" fmla="*/ 46 h 46"/>
              <a:gd name="T80" fmla="*/ 24 w 46"/>
              <a:gd name="T81" fmla="*/ 46 h 46"/>
              <a:gd name="T82" fmla="*/ 24 w 46"/>
              <a:gd name="T83" fmla="*/ 46 h 46"/>
              <a:gd name="T84" fmla="*/ 22 w 46"/>
              <a:gd name="T85" fmla="*/ 43 h 4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6"/>
              <a:gd name="T130" fmla="*/ 0 h 46"/>
              <a:gd name="T131" fmla="*/ 46 w 46"/>
              <a:gd name="T132" fmla="*/ 46 h 4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6" h="46">
                <a:moveTo>
                  <a:pt x="22" y="43"/>
                </a:moveTo>
                <a:lnTo>
                  <a:pt x="27" y="46"/>
                </a:lnTo>
                <a:lnTo>
                  <a:pt x="32" y="43"/>
                </a:lnTo>
                <a:lnTo>
                  <a:pt x="35" y="43"/>
                </a:lnTo>
                <a:lnTo>
                  <a:pt x="38" y="40"/>
                </a:lnTo>
                <a:lnTo>
                  <a:pt x="41" y="38"/>
                </a:lnTo>
                <a:lnTo>
                  <a:pt x="43" y="35"/>
                </a:lnTo>
                <a:lnTo>
                  <a:pt x="43" y="32"/>
                </a:lnTo>
                <a:lnTo>
                  <a:pt x="46" y="30"/>
                </a:lnTo>
                <a:lnTo>
                  <a:pt x="46" y="27"/>
                </a:lnTo>
                <a:lnTo>
                  <a:pt x="46" y="21"/>
                </a:lnTo>
                <a:lnTo>
                  <a:pt x="46" y="19"/>
                </a:lnTo>
                <a:lnTo>
                  <a:pt x="46" y="16"/>
                </a:lnTo>
                <a:lnTo>
                  <a:pt x="43" y="11"/>
                </a:lnTo>
                <a:lnTo>
                  <a:pt x="43" y="8"/>
                </a:lnTo>
                <a:lnTo>
                  <a:pt x="41" y="5"/>
                </a:lnTo>
                <a:lnTo>
                  <a:pt x="38" y="2"/>
                </a:lnTo>
                <a:lnTo>
                  <a:pt x="35" y="2"/>
                </a:lnTo>
                <a:lnTo>
                  <a:pt x="32" y="0"/>
                </a:lnTo>
                <a:lnTo>
                  <a:pt x="27" y="0"/>
                </a:lnTo>
                <a:lnTo>
                  <a:pt x="24" y="0"/>
                </a:lnTo>
                <a:lnTo>
                  <a:pt x="19" y="0"/>
                </a:lnTo>
                <a:lnTo>
                  <a:pt x="16" y="0"/>
                </a:lnTo>
                <a:lnTo>
                  <a:pt x="13" y="2"/>
                </a:lnTo>
                <a:lnTo>
                  <a:pt x="11" y="2"/>
                </a:lnTo>
                <a:lnTo>
                  <a:pt x="8" y="5"/>
                </a:lnTo>
                <a:lnTo>
                  <a:pt x="5" y="8"/>
                </a:lnTo>
                <a:lnTo>
                  <a:pt x="2" y="11"/>
                </a:lnTo>
                <a:lnTo>
                  <a:pt x="2" y="16"/>
                </a:lnTo>
                <a:lnTo>
                  <a:pt x="0" y="19"/>
                </a:lnTo>
                <a:lnTo>
                  <a:pt x="0" y="21"/>
                </a:lnTo>
                <a:lnTo>
                  <a:pt x="0" y="27"/>
                </a:lnTo>
                <a:lnTo>
                  <a:pt x="2" y="30"/>
                </a:lnTo>
                <a:lnTo>
                  <a:pt x="2" y="32"/>
                </a:lnTo>
                <a:lnTo>
                  <a:pt x="5" y="35"/>
                </a:lnTo>
                <a:lnTo>
                  <a:pt x="8" y="38"/>
                </a:lnTo>
                <a:lnTo>
                  <a:pt x="11" y="40"/>
                </a:lnTo>
                <a:lnTo>
                  <a:pt x="13" y="43"/>
                </a:lnTo>
                <a:lnTo>
                  <a:pt x="16" y="43"/>
                </a:lnTo>
                <a:lnTo>
                  <a:pt x="19" y="46"/>
                </a:lnTo>
                <a:lnTo>
                  <a:pt x="24" y="46"/>
                </a:lnTo>
                <a:lnTo>
                  <a:pt x="22" y="43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86" name="Freeform 388"/>
          <p:cNvSpPr>
            <a:spLocks noChangeArrowheads="1"/>
          </p:cNvSpPr>
          <p:nvPr/>
        </p:nvSpPr>
        <p:spPr bwMode="auto">
          <a:xfrm>
            <a:off x="3514726" y="4249316"/>
            <a:ext cx="80963" cy="80963"/>
          </a:xfrm>
          <a:custGeom>
            <a:avLst/>
            <a:gdLst>
              <a:gd name="T0" fmla="*/ 22 w 46"/>
              <a:gd name="T1" fmla="*/ 46 h 46"/>
              <a:gd name="T2" fmla="*/ 27 w 46"/>
              <a:gd name="T3" fmla="*/ 46 h 46"/>
              <a:gd name="T4" fmla="*/ 30 w 46"/>
              <a:gd name="T5" fmla="*/ 46 h 46"/>
              <a:gd name="T6" fmla="*/ 35 w 46"/>
              <a:gd name="T7" fmla="*/ 43 h 46"/>
              <a:gd name="T8" fmla="*/ 38 w 46"/>
              <a:gd name="T9" fmla="*/ 41 h 46"/>
              <a:gd name="T10" fmla="*/ 41 w 46"/>
              <a:gd name="T11" fmla="*/ 41 h 46"/>
              <a:gd name="T12" fmla="*/ 43 w 46"/>
              <a:gd name="T13" fmla="*/ 38 h 46"/>
              <a:gd name="T14" fmla="*/ 43 w 46"/>
              <a:gd name="T15" fmla="*/ 32 h 46"/>
              <a:gd name="T16" fmla="*/ 46 w 46"/>
              <a:gd name="T17" fmla="*/ 30 h 46"/>
              <a:gd name="T18" fmla="*/ 46 w 46"/>
              <a:gd name="T19" fmla="*/ 27 h 46"/>
              <a:gd name="T20" fmla="*/ 46 w 46"/>
              <a:gd name="T21" fmla="*/ 24 h 46"/>
              <a:gd name="T22" fmla="*/ 46 w 46"/>
              <a:gd name="T23" fmla="*/ 19 h 46"/>
              <a:gd name="T24" fmla="*/ 46 w 46"/>
              <a:gd name="T25" fmla="*/ 16 h 46"/>
              <a:gd name="T26" fmla="*/ 43 w 46"/>
              <a:gd name="T27" fmla="*/ 13 h 46"/>
              <a:gd name="T28" fmla="*/ 43 w 46"/>
              <a:gd name="T29" fmla="*/ 11 h 46"/>
              <a:gd name="T30" fmla="*/ 41 w 46"/>
              <a:gd name="T31" fmla="*/ 8 h 46"/>
              <a:gd name="T32" fmla="*/ 38 w 46"/>
              <a:gd name="T33" fmla="*/ 5 h 46"/>
              <a:gd name="T34" fmla="*/ 35 w 46"/>
              <a:gd name="T35" fmla="*/ 3 h 46"/>
              <a:gd name="T36" fmla="*/ 30 w 46"/>
              <a:gd name="T37" fmla="*/ 0 h 46"/>
              <a:gd name="T38" fmla="*/ 27 w 46"/>
              <a:gd name="T39" fmla="*/ 0 h 46"/>
              <a:gd name="T40" fmla="*/ 24 w 46"/>
              <a:gd name="T41" fmla="*/ 0 h 46"/>
              <a:gd name="T42" fmla="*/ 19 w 46"/>
              <a:gd name="T43" fmla="*/ 0 h 46"/>
              <a:gd name="T44" fmla="*/ 16 w 46"/>
              <a:gd name="T45" fmla="*/ 0 h 46"/>
              <a:gd name="T46" fmla="*/ 14 w 46"/>
              <a:gd name="T47" fmla="*/ 3 h 46"/>
              <a:gd name="T48" fmla="*/ 11 w 46"/>
              <a:gd name="T49" fmla="*/ 5 h 46"/>
              <a:gd name="T50" fmla="*/ 8 w 46"/>
              <a:gd name="T51" fmla="*/ 8 h 46"/>
              <a:gd name="T52" fmla="*/ 5 w 46"/>
              <a:gd name="T53" fmla="*/ 11 h 46"/>
              <a:gd name="T54" fmla="*/ 3 w 46"/>
              <a:gd name="T55" fmla="*/ 13 h 46"/>
              <a:gd name="T56" fmla="*/ 0 w 46"/>
              <a:gd name="T57" fmla="*/ 16 h 46"/>
              <a:gd name="T58" fmla="*/ 0 w 46"/>
              <a:gd name="T59" fmla="*/ 19 h 46"/>
              <a:gd name="T60" fmla="*/ 0 w 46"/>
              <a:gd name="T61" fmla="*/ 24 h 46"/>
              <a:gd name="T62" fmla="*/ 0 w 46"/>
              <a:gd name="T63" fmla="*/ 27 h 46"/>
              <a:gd name="T64" fmla="*/ 0 w 46"/>
              <a:gd name="T65" fmla="*/ 30 h 46"/>
              <a:gd name="T66" fmla="*/ 3 w 46"/>
              <a:gd name="T67" fmla="*/ 32 h 46"/>
              <a:gd name="T68" fmla="*/ 5 w 46"/>
              <a:gd name="T69" fmla="*/ 38 h 46"/>
              <a:gd name="T70" fmla="*/ 8 w 46"/>
              <a:gd name="T71" fmla="*/ 41 h 46"/>
              <a:gd name="T72" fmla="*/ 11 w 46"/>
              <a:gd name="T73" fmla="*/ 41 h 46"/>
              <a:gd name="T74" fmla="*/ 14 w 46"/>
              <a:gd name="T75" fmla="*/ 43 h 46"/>
              <a:gd name="T76" fmla="*/ 16 w 46"/>
              <a:gd name="T77" fmla="*/ 46 h 46"/>
              <a:gd name="T78" fmla="*/ 19 w 46"/>
              <a:gd name="T79" fmla="*/ 46 h 46"/>
              <a:gd name="T80" fmla="*/ 24 w 46"/>
              <a:gd name="T81" fmla="*/ 46 h 46"/>
              <a:gd name="T82" fmla="*/ 24 w 46"/>
              <a:gd name="T83" fmla="*/ 46 h 46"/>
              <a:gd name="T84" fmla="*/ 22 w 46"/>
              <a:gd name="T85" fmla="*/ 46 h 4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6"/>
              <a:gd name="T130" fmla="*/ 0 h 46"/>
              <a:gd name="T131" fmla="*/ 46 w 46"/>
              <a:gd name="T132" fmla="*/ 46 h 4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6" h="46">
                <a:moveTo>
                  <a:pt x="22" y="46"/>
                </a:moveTo>
                <a:lnTo>
                  <a:pt x="27" y="46"/>
                </a:lnTo>
                <a:lnTo>
                  <a:pt x="30" y="46"/>
                </a:lnTo>
                <a:lnTo>
                  <a:pt x="35" y="43"/>
                </a:lnTo>
                <a:lnTo>
                  <a:pt x="38" y="41"/>
                </a:lnTo>
                <a:lnTo>
                  <a:pt x="41" y="41"/>
                </a:lnTo>
                <a:lnTo>
                  <a:pt x="43" y="38"/>
                </a:lnTo>
                <a:lnTo>
                  <a:pt x="43" y="32"/>
                </a:lnTo>
                <a:lnTo>
                  <a:pt x="46" y="30"/>
                </a:lnTo>
                <a:lnTo>
                  <a:pt x="46" y="27"/>
                </a:lnTo>
                <a:lnTo>
                  <a:pt x="46" y="24"/>
                </a:lnTo>
                <a:lnTo>
                  <a:pt x="46" y="19"/>
                </a:lnTo>
                <a:lnTo>
                  <a:pt x="46" y="16"/>
                </a:lnTo>
                <a:lnTo>
                  <a:pt x="43" y="13"/>
                </a:lnTo>
                <a:lnTo>
                  <a:pt x="43" y="11"/>
                </a:lnTo>
                <a:lnTo>
                  <a:pt x="41" y="8"/>
                </a:lnTo>
                <a:lnTo>
                  <a:pt x="38" y="5"/>
                </a:lnTo>
                <a:lnTo>
                  <a:pt x="35" y="3"/>
                </a:lnTo>
                <a:lnTo>
                  <a:pt x="30" y="0"/>
                </a:lnTo>
                <a:lnTo>
                  <a:pt x="27" y="0"/>
                </a:lnTo>
                <a:lnTo>
                  <a:pt x="24" y="0"/>
                </a:lnTo>
                <a:lnTo>
                  <a:pt x="19" y="0"/>
                </a:lnTo>
                <a:lnTo>
                  <a:pt x="16" y="0"/>
                </a:lnTo>
                <a:lnTo>
                  <a:pt x="14" y="3"/>
                </a:lnTo>
                <a:lnTo>
                  <a:pt x="11" y="5"/>
                </a:lnTo>
                <a:lnTo>
                  <a:pt x="8" y="8"/>
                </a:lnTo>
                <a:lnTo>
                  <a:pt x="5" y="11"/>
                </a:lnTo>
                <a:lnTo>
                  <a:pt x="3" y="13"/>
                </a:lnTo>
                <a:lnTo>
                  <a:pt x="0" y="16"/>
                </a:lnTo>
                <a:lnTo>
                  <a:pt x="0" y="19"/>
                </a:lnTo>
                <a:lnTo>
                  <a:pt x="0" y="24"/>
                </a:lnTo>
                <a:lnTo>
                  <a:pt x="0" y="27"/>
                </a:lnTo>
                <a:lnTo>
                  <a:pt x="0" y="30"/>
                </a:lnTo>
                <a:lnTo>
                  <a:pt x="3" y="32"/>
                </a:lnTo>
                <a:lnTo>
                  <a:pt x="5" y="38"/>
                </a:lnTo>
                <a:lnTo>
                  <a:pt x="8" y="41"/>
                </a:lnTo>
                <a:lnTo>
                  <a:pt x="11" y="41"/>
                </a:lnTo>
                <a:lnTo>
                  <a:pt x="14" y="43"/>
                </a:lnTo>
                <a:lnTo>
                  <a:pt x="16" y="46"/>
                </a:lnTo>
                <a:lnTo>
                  <a:pt x="19" y="46"/>
                </a:lnTo>
                <a:lnTo>
                  <a:pt x="24" y="46"/>
                </a:lnTo>
                <a:lnTo>
                  <a:pt x="22" y="46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87" name="Freeform 389"/>
          <p:cNvSpPr>
            <a:spLocks noChangeArrowheads="1"/>
          </p:cNvSpPr>
          <p:nvPr/>
        </p:nvSpPr>
        <p:spPr bwMode="auto">
          <a:xfrm>
            <a:off x="2252664" y="3893716"/>
            <a:ext cx="79375" cy="79375"/>
          </a:xfrm>
          <a:custGeom>
            <a:avLst/>
            <a:gdLst>
              <a:gd name="T0" fmla="*/ 22 w 46"/>
              <a:gd name="T1" fmla="*/ 44 h 46"/>
              <a:gd name="T2" fmla="*/ 27 w 46"/>
              <a:gd name="T3" fmla="*/ 46 h 46"/>
              <a:gd name="T4" fmla="*/ 30 w 46"/>
              <a:gd name="T5" fmla="*/ 44 h 46"/>
              <a:gd name="T6" fmla="*/ 33 w 46"/>
              <a:gd name="T7" fmla="*/ 44 h 46"/>
              <a:gd name="T8" fmla="*/ 36 w 46"/>
              <a:gd name="T9" fmla="*/ 41 h 46"/>
              <a:gd name="T10" fmla="*/ 38 w 46"/>
              <a:gd name="T11" fmla="*/ 38 h 46"/>
              <a:gd name="T12" fmla="*/ 41 w 46"/>
              <a:gd name="T13" fmla="*/ 35 h 46"/>
              <a:gd name="T14" fmla="*/ 44 w 46"/>
              <a:gd name="T15" fmla="*/ 33 h 46"/>
              <a:gd name="T16" fmla="*/ 44 w 46"/>
              <a:gd name="T17" fmla="*/ 30 h 46"/>
              <a:gd name="T18" fmla="*/ 46 w 46"/>
              <a:gd name="T19" fmla="*/ 27 h 46"/>
              <a:gd name="T20" fmla="*/ 46 w 46"/>
              <a:gd name="T21" fmla="*/ 22 h 46"/>
              <a:gd name="T22" fmla="*/ 46 w 46"/>
              <a:gd name="T23" fmla="*/ 19 h 46"/>
              <a:gd name="T24" fmla="*/ 44 w 46"/>
              <a:gd name="T25" fmla="*/ 14 h 46"/>
              <a:gd name="T26" fmla="*/ 44 w 46"/>
              <a:gd name="T27" fmla="*/ 11 h 46"/>
              <a:gd name="T28" fmla="*/ 41 w 46"/>
              <a:gd name="T29" fmla="*/ 8 h 46"/>
              <a:gd name="T30" fmla="*/ 38 w 46"/>
              <a:gd name="T31" fmla="*/ 5 h 46"/>
              <a:gd name="T32" fmla="*/ 36 w 46"/>
              <a:gd name="T33" fmla="*/ 3 h 46"/>
              <a:gd name="T34" fmla="*/ 33 w 46"/>
              <a:gd name="T35" fmla="*/ 3 h 46"/>
              <a:gd name="T36" fmla="*/ 30 w 46"/>
              <a:gd name="T37" fmla="*/ 0 h 46"/>
              <a:gd name="T38" fmla="*/ 27 w 46"/>
              <a:gd name="T39" fmla="*/ 0 h 46"/>
              <a:gd name="T40" fmla="*/ 22 w 46"/>
              <a:gd name="T41" fmla="*/ 0 h 46"/>
              <a:gd name="T42" fmla="*/ 19 w 46"/>
              <a:gd name="T43" fmla="*/ 0 h 46"/>
              <a:gd name="T44" fmla="*/ 14 w 46"/>
              <a:gd name="T45" fmla="*/ 0 h 46"/>
              <a:gd name="T46" fmla="*/ 11 w 46"/>
              <a:gd name="T47" fmla="*/ 3 h 46"/>
              <a:gd name="T48" fmla="*/ 8 w 46"/>
              <a:gd name="T49" fmla="*/ 3 h 46"/>
              <a:gd name="T50" fmla="*/ 6 w 46"/>
              <a:gd name="T51" fmla="*/ 5 h 46"/>
              <a:gd name="T52" fmla="*/ 3 w 46"/>
              <a:gd name="T53" fmla="*/ 8 h 46"/>
              <a:gd name="T54" fmla="*/ 3 w 46"/>
              <a:gd name="T55" fmla="*/ 11 h 46"/>
              <a:gd name="T56" fmla="*/ 0 w 46"/>
              <a:gd name="T57" fmla="*/ 14 h 46"/>
              <a:gd name="T58" fmla="*/ 0 w 46"/>
              <a:gd name="T59" fmla="*/ 19 h 46"/>
              <a:gd name="T60" fmla="*/ 0 w 46"/>
              <a:gd name="T61" fmla="*/ 22 h 46"/>
              <a:gd name="T62" fmla="*/ 0 w 46"/>
              <a:gd name="T63" fmla="*/ 27 h 46"/>
              <a:gd name="T64" fmla="*/ 0 w 46"/>
              <a:gd name="T65" fmla="*/ 30 h 46"/>
              <a:gd name="T66" fmla="*/ 3 w 46"/>
              <a:gd name="T67" fmla="*/ 33 h 46"/>
              <a:gd name="T68" fmla="*/ 3 w 46"/>
              <a:gd name="T69" fmla="*/ 35 h 46"/>
              <a:gd name="T70" fmla="*/ 6 w 46"/>
              <a:gd name="T71" fmla="*/ 38 h 46"/>
              <a:gd name="T72" fmla="*/ 8 w 46"/>
              <a:gd name="T73" fmla="*/ 41 h 46"/>
              <a:gd name="T74" fmla="*/ 11 w 46"/>
              <a:gd name="T75" fmla="*/ 44 h 46"/>
              <a:gd name="T76" fmla="*/ 14 w 46"/>
              <a:gd name="T77" fmla="*/ 44 h 46"/>
              <a:gd name="T78" fmla="*/ 19 w 46"/>
              <a:gd name="T79" fmla="*/ 46 h 46"/>
              <a:gd name="T80" fmla="*/ 22 w 46"/>
              <a:gd name="T81" fmla="*/ 46 h 46"/>
              <a:gd name="T82" fmla="*/ 22 w 46"/>
              <a:gd name="T83" fmla="*/ 46 h 46"/>
              <a:gd name="T84" fmla="*/ 22 w 46"/>
              <a:gd name="T85" fmla="*/ 44 h 4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6"/>
              <a:gd name="T130" fmla="*/ 0 h 46"/>
              <a:gd name="T131" fmla="*/ 46 w 46"/>
              <a:gd name="T132" fmla="*/ 46 h 4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6" h="46">
                <a:moveTo>
                  <a:pt x="22" y="44"/>
                </a:moveTo>
                <a:lnTo>
                  <a:pt x="27" y="46"/>
                </a:lnTo>
                <a:lnTo>
                  <a:pt x="30" y="44"/>
                </a:lnTo>
                <a:lnTo>
                  <a:pt x="33" y="44"/>
                </a:lnTo>
                <a:lnTo>
                  <a:pt x="36" y="41"/>
                </a:lnTo>
                <a:lnTo>
                  <a:pt x="38" y="38"/>
                </a:lnTo>
                <a:lnTo>
                  <a:pt x="41" y="35"/>
                </a:lnTo>
                <a:lnTo>
                  <a:pt x="44" y="33"/>
                </a:lnTo>
                <a:lnTo>
                  <a:pt x="44" y="30"/>
                </a:lnTo>
                <a:lnTo>
                  <a:pt x="46" y="27"/>
                </a:lnTo>
                <a:lnTo>
                  <a:pt x="46" y="22"/>
                </a:lnTo>
                <a:lnTo>
                  <a:pt x="46" y="19"/>
                </a:lnTo>
                <a:lnTo>
                  <a:pt x="44" y="14"/>
                </a:lnTo>
                <a:lnTo>
                  <a:pt x="44" y="11"/>
                </a:lnTo>
                <a:lnTo>
                  <a:pt x="41" y="8"/>
                </a:lnTo>
                <a:lnTo>
                  <a:pt x="38" y="5"/>
                </a:lnTo>
                <a:lnTo>
                  <a:pt x="36" y="3"/>
                </a:lnTo>
                <a:lnTo>
                  <a:pt x="33" y="3"/>
                </a:lnTo>
                <a:lnTo>
                  <a:pt x="30" y="0"/>
                </a:lnTo>
                <a:lnTo>
                  <a:pt x="27" y="0"/>
                </a:lnTo>
                <a:lnTo>
                  <a:pt x="22" y="0"/>
                </a:lnTo>
                <a:lnTo>
                  <a:pt x="19" y="0"/>
                </a:lnTo>
                <a:lnTo>
                  <a:pt x="14" y="0"/>
                </a:lnTo>
                <a:lnTo>
                  <a:pt x="11" y="3"/>
                </a:lnTo>
                <a:lnTo>
                  <a:pt x="8" y="3"/>
                </a:lnTo>
                <a:lnTo>
                  <a:pt x="6" y="5"/>
                </a:lnTo>
                <a:lnTo>
                  <a:pt x="3" y="8"/>
                </a:lnTo>
                <a:lnTo>
                  <a:pt x="3" y="11"/>
                </a:lnTo>
                <a:lnTo>
                  <a:pt x="0" y="14"/>
                </a:lnTo>
                <a:lnTo>
                  <a:pt x="0" y="19"/>
                </a:lnTo>
                <a:lnTo>
                  <a:pt x="0" y="22"/>
                </a:lnTo>
                <a:lnTo>
                  <a:pt x="0" y="27"/>
                </a:lnTo>
                <a:lnTo>
                  <a:pt x="0" y="30"/>
                </a:lnTo>
                <a:lnTo>
                  <a:pt x="3" y="33"/>
                </a:lnTo>
                <a:lnTo>
                  <a:pt x="3" y="35"/>
                </a:lnTo>
                <a:lnTo>
                  <a:pt x="6" y="38"/>
                </a:lnTo>
                <a:lnTo>
                  <a:pt x="8" y="41"/>
                </a:lnTo>
                <a:lnTo>
                  <a:pt x="11" y="44"/>
                </a:lnTo>
                <a:lnTo>
                  <a:pt x="14" y="44"/>
                </a:lnTo>
                <a:lnTo>
                  <a:pt x="19" y="46"/>
                </a:lnTo>
                <a:lnTo>
                  <a:pt x="22" y="46"/>
                </a:lnTo>
                <a:lnTo>
                  <a:pt x="22" y="4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1989" name="Group 391"/>
          <p:cNvGrpSpPr>
            <a:grpSpLocks/>
          </p:cNvGrpSpPr>
          <p:nvPr/>
        </p:nvGrpSpPr>
        <p:grpSpPr bwMode="auto">
          <a:xfrm>
            <a:off x="3886207" y="4152481"/>
            <a:ext cx="209551" cy="630238"/>
            <a:chOff x="1488" y="2573"/>
            <a:chExt cx="132" cy="397"/>
          </a:xfrm>
        </p:grpSpPr>
        <p:sp>
          <p:nvSpPr>
            <p:cNvPr id="72024" name="Freeform 392"/>
            <p:cNvSpPr>
              <a:spLocks noChangeArrowheads="1"/>
            </p:cNvSpPr>
            <p:nvPr/>
          </p:nvSpPr>
          <p:spPr bwMode="auto">
            <a:xfrm>
              <a:off x="1488" y="2573"/>
              <a:ext cx="132" cy="397"/>
            </a:xfrm>
            <a:custGeom>
              <a:avLst/>
              <a:gdLst>
                <a:gd name="T0" fmla="*/ 0 w 129"/>
                <a:gd name="T1" fmla="*/ 63 h 509"/>
                <a:gd name="T2" fmla="*/ 3 w 129"/>
                <a:gd name="T3" fmla="*/ 52 h 509"/>
                <a:gd name="T4" fmla="*/ 5 w 129"/>
                <a:gd name="T5" fmla="*/ 44 h 509"/>
                <a:gd name="T6" fmla="*/ 8 w 129"/>
                <a:gd name="T7" fmla="*/ 35 h 509"/>
                <a:gd name="T8" fmla="*/ 14 w 129"/>
                <a:gd name="T9" fmla="*/ 27 h 509"/>
                <a:gd name="T10" fmla="*/ 19 w 129"/>
                <a:gd name="T11" fmla="*/ 19 h 509"/>
                <a:gd name="T12" fmla="*/ 28 w 129"/>
                <a:gd name="T13" fmla="*/ 13 h 509"/>
                <a:gd name="T14" fmla="*/ 36 w 129"/>
                <a:gd name="T15" fmla="*/ 8 h 509"/>
                <a:gd name="T16" fmla="*/ 44 w 129"/>
                <a:gd name="T17" fmla="*/ 2 h 509"/>
                <a:gd name="T18" fmla="*/ 55 w 129"/>
                <a:gd name="T19" fmla="*/ 0 h 509"/>
                <a:gd name="T20" fmla="*/ 66 w 129"/>
                <a:gd name="T21" fmla="*/ 0 h 509"/>
                <a:gd name="T22" fmla="*/ 74 w 129"/>
                <a:gd name="T23" fmla="*/ 0 h 509"/>
                <a:gd name="T24" fmla="*/ 85 w 129"/>
                <a:gd name="T25" fmla="*/ 2 h 509"/>
                <a:gd name="T26" fmla="*/ 94 w 129"/>
                <a:gd name="T27" fmla="*/ 8 h 509"/>
                <a:gd name="T28" fmla="*/ 102 w 129"/>
                <a:gd name="T29" fmla="*/ 13 h 509"/>
                <a:gd name="T30" fmla="*/ 110 w 129"/>
                <a:gd name="T31" fmla="*/ 19 h 509"/>
                <a:gd name="T32" fmla="*/ 116 w 129"/>
                <a:gd name="T33" fmla="*/ 27 h 509"/>
                <a:gd name="T34" fmla="*/ 121 w 129"/>
                <a:gd name="T35" fmla="*/ 35 h 509"/>
                <a:gd name="T36" fmla="*/ 127 w 129"/>
                <a:gd name="T37" fmla="*/ 44 h 509"/>
                <a:gd name="T38" fmla="*/ 127 w 129"/>
                <a:gd name="T39" fmla="*/ 52 h 509"/>
                <a:gd name="T40" fmla="*/ 129 w 129"/>
                <a:gd name="T41" fmla="*/ 63 h 509"/>
                <a:gd name="T42" fmla="*/ 129 w 129"/>
                <a:gd name="T43" fmla="*/ 446 h 509"/>
                <a:gd name="T44" fmla="*/ 127 w 129"/>
                <a:gd name="T45" fmla="*/ 454 h 509"/>
                <a:gd name="T46" fmla="*/ 127 w 129"/>
                <a:gd name="T47" fmla="*/ 465 h 509"/>
                <a:gd name="T48" fmla="*/ 121 w 129"/>
                <a:gd name="T49" fmla="*/ 473 h 509"/>
                <a:gd name="T50" fmla="*/ 116 w 129"/>
                <a:gd name="T51" fmla="*/ 481 h 509"/>
                <a:gd name="T52" fmla="*/ 110 w 129"/>
                <a:gd name="T53" fmla="*/ 490 h 509"/>
                <a:gd name="T54" fmla="*/ 102 w 129"/>
                <a:gd name="T55" fmla="*/ 495 h 509"/>
                <a:gd name="T56" fmla="*/ 94 w 129"/>
                <a:gd name="T57" fmla="*/ 501 h 509"/>
                <a:gd name="T58" fmla="*/ 85 w 129"/>
                <a:gd name="T59" fmla="*/ 506 h 509"/>
                <a:gd name="T60" fmla="*/ 74 w 129"/>
                <a:gd name="T61" fmla="*/ 506 h 509"/>
                <a:gd name="T62" fmla="*/ 66 w 129"/>
                <a:gd name="T63" fmla="*/ 509 h 509"/>
                <a:gd name="T64" fmla="*/ 55 w 129"/>
                <a:gd name="T65" fmla="*/ 506 h 509"/>
                <a:gd name="T66" fmla="*/ 44 w 129"/>
                <a:gd name="T67" fmla="*/ 506 h 509"/>
                <a:gd name="T68" fmla="*/ 36 w 129"/>
                <a:gd name="T69" fmla="*/ 501 h 509"/>
                <a:gd name="T70" fmla="*/ 28 w 129"/>
                <a:gd name="T71" fmla="*/ 495 h 509"/>
                <a:gd name="T72" fmla="*/ 19 w 129"/>
                <a:gd name="T73" fmla="*/ 490 h 509"/>
                <a:gd name="T74" fmla="*/ 14 w 129"/>
                <a:gd name="T75" fmla="*/ 481 h 509"/>
                <a:gd name="T76" fmla="*/ 8 w 129"/>
                <a:gd name="T77" fmla="*/ 473 h 509"/>
                <a:gd name="T78" fmla="*/ 5 w 129"/>
                <a:gd name="T79" fmla="*/ 465 h 509"/>
                <a:gd name="T80" fmla="*/ 3 w 129"/>
                <a:gd name="T81" fmla="*/ 454 h 509"/>
                <a:gd name="T82" fmla="*/ 3 w 129"/>
                <a:gd name="T83" fmla="*/ 446 h 509"/>
                <a:gd name="T84" fmla="*/ 3 w 129"/>
                <a:gd name="T85" fmla="*/ 63 h 509"/>
                <a:gd name="T86" fmla="*/ 3 w 129"/>
                <a:gd name="T87" fmla="*/ 63 h 50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29"/>
                <a:gd name="T133" fmla="*/ 0 h 509"/>
                <a:gd name="T134" fmla="*/ 129 w 129"/>
                <a:gd name="T135" fmla="*/ 509 h 50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29" h="509">
                  <a:moveTo>
                    <a:pt x="0" y="63"/>
                  </a:moveTo>
                  <a:lnTo>
                    <a:pt x="3" y="52"/>
                  </a:lnTo>
                  <a:lnTo>
                    <a:pt x="5" y="44"/>
                  </a:lnTo>
                  <a:lnTo>
                    <a:pt x="8" y="35"/>
                  </a:lnTo>
                  <a:lnTo>
                    <a:pt x="14" y="27"/>
                  </a:lnTo>
                  <a:lnTo>
                    <a:pt x="19" y="19"/>
                  </a:lnTo>
                  <a:lnTo>
                    <a:pt x="28" y="13"/>
                  </a:lnTo>
                  <a:lnTo>
                    <a:pt x="36" y="8"/>
                  </a:lnTo>
                  <a:lnTo>
                    <a:pt x="44" y="2"/>
                  </a:lnTo>
                  <a:lnTo>
                    <a:pt x="55" y="0"/>
                  </a:lnTo>
                  <a:lnTo>
                    <a:pt x="66" y="0"/>
                  </a:lnTo>
                  <a:lnTo>
                    <a:pt x="74" y="0"/>
                  </a:lnTo>
                  <a:lnTo>
                    <a:pt x="85" y="2"/>
                  </a:lnTo>
                  <a:lnTo>
                    <a:pt x="94" y="8"/>
                  </a:lnTo>
                  <a:lnTo>
                    <a:pt x="102" y="13"/>
                  </a:lnTo>
                  <a:lnTo>
                    <a:pt x="110" y="19"/>
                  </a:lnTo>
                  <a:lnTo>
                    <a:pt x="116" y="27"/>
                  </a:lnTo>
                  <a:lnTo>
                    <a:pt x="121" y="35"/>
                  </a:lnTo>
                  <a:lnTo>
                    <a:pt x="127" y="44"/>
                  </a:lnTo>
                  <a:lnTo>
                    <a:pt x="127" y="52"/>
                  </a:lnTo>
                  <a:lnTo>
                    <a:pt x="129" y="63"/>
                  </a:lnTo>
                  <a:lnTo>
                    <a:pt x="129" y="446"/>
                  </a:lnTo>
                  <a:lnTo>
                    <a:pt x="127" y="454"/>
                  </a:lnTo>
                  <a:lnTo>
                    <a:pt x="127" y="465"/>
                  </a:lnTo>
                  <a:lnTo>
                    <a:pt x="121" y="473"/>
                  </a:lnTo>
                  <a:lnTo>
                    <a:pt x="116" y="481"/>
                  </a:lnTo>
                  <a:lnTo>
                    <a:pt x="110" y="490"/>
                  </a:lnTo>
                  <a:lnTo>
                    <a:pt x="102" y="495"/>
                  </a:lnTo>
                  <a:lnTo>
                    <a:pt x="94" y="501"/>
                  </a:lnTo>
                  <a:lnTo>
                    <a:pt x="85" y="506"/>
                  </a:lnTo>
                  <a:lnTo>
                    <a:pt x="74" y="506"/>
                  </a:lnTo>
                  <a:lnTo>
                    <a:pt x="66" y="509"/>
                  </a:lnTo>
                  <a:lnTo>
                    <a:pt x="55" y="506"/>
                  </a:lnTo>
                  <a:lnTo>
                    <a:pt x="44" y="506"/>
                  </a:lnTo>
                  <a:lnTo>
                    <a:pt x="36" y="501"/>
                  </a:lnTo>
                  <a:lnTo>
                    <a:pt x="28" y="495"/>
                  </a:lnTo>
                  <a:lnTo>
                    <a:pt x="19" y="490"/>
                  </a:lnTo>
                  <a:lnTo>
                    <a:pt x="14" y="481"/>
                  </a:lnTo>
                  <a:lnTo>
                    <a:pt x="8" y="473"/>
                  </a:lnTo>
                  <a:lnTo>
                    <a:pt x="5" y="465"/>
                  </a:lnTo>
                  <a:lnTo>
                    <a:pt x="3" y="454"/>
                  </a:lnTo>
                  <a:lnTo>
                    <a:pt x="3" y="446"/>
                  </a:lnTo>
                  <a:lnTo>
                    <a:pt x="3" y="63"/>
                  </a:lnTo>
                </a:path>
              </a:pathLst>
            </a:custGeom>
            <a:solidFill>
              <a:srgbClr val="006600"/>
            </a:solidFill>
            <a:ln w="1764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25" name="Rectangle 393"/>
            <p:cNvSpPr>
              <a:spLocks noChangeArrowheads="1"/>
            </p:cNvSpPr>
            <p:nvPr/>
          </p:nvSpPr>
          <p:spPr bwMode="auto">
            <a:xfrm>
              <a:off x="1519" y="2661"/>
              <a:ext cx="81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72026" name="Rectangle 394"/>
            <p:cNvSpPr>
              <a:spLocks noChangeArrowheads="1"/>
            </p:cNvSpPr>
            <p:nvPr/>
          </p:nvSpPr>
          <p:spPr bwMode="auto">
            <a:xfrm>
              <a:off x="1601" y="266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27" name="Rectangle 395"/>
            <p:cNvSpPr>
              <a:spLocks noChangeArrowheads="1"/>
            </p:cNvSpPr>
            <p:nvPr/>
          </p:nvSpPr>
          <p:spPr bwMode="auto">
            <a:xfrm>
              <a:off x="1531" y="2734"/>
              <a:ext cx="60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2028" name="Rectangle 396"/>
            <p:cNvSpPr>
              <a:spLocks noChangeArrowheads="1"/>
            </p:cNvSpPr>
            <p:nvPr/>
          </p:nvSpPr>
          <p:spPr bwMode="auto">
            <a:xfrm>
              <a:off x="1589" y="273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29" name="Rectangle 397"/>
            <p:cNvSpPr>
              <a:spLocks noChangeArrowheads="1"/>
            </p:cNvSpPr>
            <p:nvPr/>
          </p:nvSpPr>
          <p:spPr bwMode="auto">
            <a:xfrm>
              <a:off x="1537" y="2810"/>
              <a:ext cx="54" cy="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</p:grpSp>
      <p:sp>
        <p:nvSpPr>
          <p:cNvPr id="71990" name="Line 398"/>
          <p:cNvSpPr>
            <a:spLocks noChangeShapeType="1"/>
          </p:cNvSpPr>
          <p:nvPr/>
        </p:nvSpPr>
        <p:spPr bwMode="auto">
          <a:xfrm flipH="1">
            <a:off x="3503614" y="4639840"/>
            <a:ext cx="384175" cy="1588"/>
          </a:xfrm>
          <a:prstGeom prst="line">
            <a:avLst/>
          </a:prstGeom>
          <a:noFill/>
          <a:ln w="3492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91" name="Line 399"/>
          <p:cNvSpPr>
            <a:spLocks noChangeShapeType="1"/>
          </p:cNvSpPr>
          <p:nvPr/>
        </p:nvSpPr>
        <p:spPr bwMode="auto">
          <a:xfrm flipH="1">
            <a:off x="3732214" y="4258840"/>
            <a:ext cx="155575" cy="1588"/>
          </a:xfrm>
          <a:prstGeom prst="line">
            <a:avLst/>
          </a:prstGeom>
          <a:noFill/>
          <a:ln w="3492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92" name="Line 400"/>
          <p:cNvSpPr>
            <a:spLocks noChangeShapeType="1"/>
          </p:cNvSpPr>
          <p:nvPr/>
        </p:nvSpPr>
        <p:spPr bwMode="auto">
          <a:xfrm>
            <a:off x="3730625" y="4085803"/>
            <a:ext cx="1588" cy="182562"/>
          </a:xfrm>
          <a:prstGeom prst="line">
            <a:avLst/>
          </a:prstGeom>
          <a:noFill/>
          <a:ln w="3492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93" name="Freeform 401"/>
          <p:cNvSpPr>
            <a:spLocks noChangeArrowheads="1"/>
          </p:cNvSpPr>
          <p:nvPr/>
        </p:nvSpPr>
        <p:spPr bwMode="auto">
          <a:xfrm>
            <a:off x="3689351" y="4044528"/>
            <a:ext cx="80963" cy="80962"/>
          </a:xfrm>
          <a:custGeom>
            <a:avLst/>
            <a:gdLst>
              <a:gd name="T0" fmla="*/ 22 w 46"/>
              <a:gd name="T1" fmla="*/ 46 h 46"/>
              <a:gd name="T2" fmla="*/ 27 w 46"/>
              <a:gd name="T3" fmla="*/ 46 h 46"/>
              <a:gd name="T4" fmla="*/ 30 w 46"/>
              <a:gd name="T5" fmla="*/ 46 h 46"/>
              <a:gd name="T6" fmla="*/ 35 w 46"/>
              <a:gd name="T7" fmla="*/ 43 h 46"/>
              <a:gd name="T8" fmla="*/ 38 w 46"/>
              <a:gd name="T9" fmla="*/ 43 h 46"/>
              <a:gd name="T10" fmla="*/ 41 w 46"/>
              <a:gd name="T11" fmla="*/ 41 h 46"/>
              <a:gd name="T12" fmla="*/ 43 w 46"/>
              <a:gd name="T13" fmla="*/ 38 h 46"/>
              <a:gd name="T14" fmla="*/ 43 w 46"/>
              <a:gd name="T15" fmla="*/ 35 h 46"/>
              <a:gd name="T16" fmla="*/ 46 w 46"/>
              <a:gd name="T17" fmla="*/ 33 h 46"/>
              <a:gd name="T18" fmla="*/ 46 w 46"/>
              <a:gd name="T19" fmla="*/ 27 h 46"/>
              <a:gd name="T20" fmla="*/ 46 w 46"/>
              <a:gd name="T21" fmla="*/ 24 h 46"/>
              <a:gd name="T22" fmla="*/ 46 w 46"/>
              <a:gd name="T23" fmla="*/ 19 h 46"/>
              <a:gd name="T24" fmla="*/ 46 w 46"/>
              <a:gd name="T25" fmla="*/ 16 h 46"/>
              <a:gd name="T26" fmla="*/ 43 w 46"/>
              <a:gd name="T27" fmla="*/ 14 h 46"/>
              <a:gd name="T28" fmla="*/ 43 w 46"/>
              <a:gd name="T29" fmla="*/ 11 h 46"/>
              <a:gd name="T30" fmla="*/ 41 w 46"/>
              <a:gd name="T31" fmla="*/ 8 h 46"/>
              <a:gd name="T32" fmla="*/ 38 w 46"/>
              <a:gd name="T33" fmla="*/ 5 h 46"/>
              <a:gd name="T34" fmla="*/ 35 w 46"/>
              <a:gd name="T35" fmla="*/ 3 h 46"/>
              <a:gd name="T36" fmla="*/ 30 w 46"/>
              <a:gd name="T37" fmla="*/ 3 h 46"/>
              <a:gd name="T38" fmla="*/ 27 w 46"/>
              <a:gd name="T39" fmla="*/ 0 h 46"/>
              <a:gd name="T40" fmla="*/ 24 w 46"/>
              <a:gd name="T41" fmla="*/ 0 h 46"/>
              <a:gd name="T42" fmla="*/ 19 w 46"/>
              <a:gd name="T43" fmla="*/ 0 h 46"/>
              <a:gd name="T44" fmla="*/ 16 w 46"/>
              <a:gd name="T45" fmla="*/ 3 h 46"/>
              <a:gd name="T46" fmla="*/ 14 w 46"/>
              <a:gd name="T47" fmla="*/ 3 h 46"/>
              <a:gd name="T48" fmla="*/ 11 w 46"/>
              <a:gd name="T49" fmla="*/ 5 h 46"/>
              <a:gd name="T50" fmla="*/ 8 w 46"/>
              <a:gd name="T51" fmla="*/ 8 h 46"/>
              <a:gd name="T52" fmla="*/ 5 w 46"/>
              <a:gd name="T53" fmla="*/ 11 h 46"/>
              <a:gd name="T54" fmla="*/ 3 w 46"/>
              <a:gd name="T55" fmla="*/ 14 h 46"/>
              <a:gd name="T56" fmla="*/ 0 w 46"/>
              <a:gd name="T57" fmla="*/ 16 h 46"/>
              <a:gd name="T58" fmla="*/ 0 w 46"/>
              <a:gd name="T59" fmla="*/ 19 h 46"/>
              <a:gd name="T60" fmla="*/ 0 w 46"/>
              <a:gd name="T61" fmla="*/ 24 h 46"/>
              <a:gd name="T62" fmla="*/ 0 w 46"/>
              <a:gd name="T63" fmla="*/ 27 h 46"/>
              <a:gd name="T64" fmla="*/ 0 w 46"/>
              <a:gd name="T65" fmla="*/ 33 h 46"/>
              <a:gd name="T66" fmla="*/ 3 w 46"/>
              <a:gd name="T67" fmla="*/ 35 h 46"/>
              <a:gd name="T68" fmla="*/ 5 w 46"/>
              <a:gd name="T69" fmla="*/ 38 h 46"/>
              <a:gd name="T70" fmla="*/ 8 w 46"/>
              <a:gd name="T71" fmla="*/ 41 h 46"/>
              <a:gd name="T72" fmla="*/ 11 w 46"/>
              <a:gd name="T73" fmla="*/ 43 h 46"/>
              <a:gd name="T74" fmla="*/ 14 w 46"/>
              <a:gd name="T75" fmla="*/ 43 h 46"/>
              <a:gd name="T76" fmla="*/ 16 w 46"/>
              <a:gd name="T77" fmla="*/ 46 h 46"/>
              <a:gd name="T78" fmla="*/ 19 w 46"/>
              <a:gd name="T79" fmla="*/ 46 h 46"/>
              <a:gd name="T80" fmla="*/ 24 w 46"/>
              <a:gd name="T81" fmla="*/ 46 h 46"/>
              <a:gd name="T82" fmla="*/ 24 w 46"/>
              <a:gd name="T83" fmla="*/ 46 h 46"/>
              <a:gd name="T84" fmla="*/ 22 w 46"/>
              <a:gd name="T85" fmla="*/ 46 h 4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6"/>
              <a:gd name="T130" fmla="*/ 0 h 46"/>
              <a:gd name="T131" fmla="*/ 46 w 46"/>
              <a:gd name="T132" fmla="*/ 46 h 4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6" h="46">
                <a:moveTo>
                  <a:pt x="22" y="46"/>
                </a:moveTo>
                <a:lnTo>
                  <a:pt x="27" y="46"/>
                </a:lnTo>
                <a:lnTo>
                  <a:pt x="30" y="46"/>
                </a:lnTo>
                <a:lnTo>
                  <a:pt x="35" y="43"/>
                </a:lnTo>
                <a:lnTo>
                  <a:pt x="38" y="43"/>
                </a:lnTo>
                <a:lnTo>
                  <a:pt x="41" y="41"/>
                </a:lnTo>
                <a:lnTo>
                  <a:pt x="43" y="38"/>
                </a:lnTo>
                <a:lnTo>
                  <a:pt x="43" y="35"/>
                </a:lnTo>
                <a:lnTo>
                  <a:pt x="46" y="33"/>
                </a:lnTo>
                <a:lnTo>
                  <a:pt x="46" y="27"/>
                </a:lnTo>
                <a:lnTo>
                  <a:pt x="46" y="24"/>
                </a:lnTo>
                <a:lnTo>
                  <a:pt x="46" y="19"/>
                </a:lnTo>
                <a:lnTo>
                  <a:pt x="46" y="16"/>
                </a:lnTo>
                <a:lnTo>
                  <a:pt x="43" y="14"/>
                </a:lnTo>
                <a:lnTo>
                  <a:pt x="43" y="11"/>
                </a:lnTo>
                <a:lnTo>
                  <a:pt x="41" y="8"/>
                </a:lnTo>
                <a:lnTo>
                  <a:pt x="38" y="5"/>
                </a:lnTo>
                <a:lnTo>
                  <a:pt x="35" y="3"/>
                </a:lnTo>
                <a:lnTo>
                  <a:pt x="30" y="3"/>
                </a:lnTo>
                <a:lnTo>
                  <a:pt x="27" y="0"/>
                </a:lnTo>
                <a:lnTo>
                  <a:pt x="24" y="0"/>
                </a:lnTo>
                <a:lnTo>
                  <a:pt x="19" y="0"/>
                </a:lnTo>
                <a:lnTo>
                  <a:pt x="16" y="3"/>
                </a:lnTo>
                <a:lnTo>
                  <a:pt x="14" y="3"/>
                </a:lnTo>
                <a:lnTo>
                  <a:pt x="11" y="5"/>
                </a:lnTo>
                <a:lnTo>
                  <a:pt x="8" y="8"/>
                </a:lnTo>
                <a:lnTo>
                  <a:pt x="5" y="11"/>
                </a:lnTo>
                <a:lnTo>
                  <a:pt x="3" y="14"/>
                </a:lnTo>
                <a:lnTo>
                  <a:pt x="0" y="16"/>
                </a:lnTo>
                <a:lnTo>
                  <a:pt x="0" y="19"/>
                </a:lnTo>
                <a:lnTo>
                  <a:pt x="0" y="24"/>
                </a:lnTo>
                <a:lnTo>
                  <a:pt x="0" y="27"/>
                </a:lnTo>
                <a:lnTo>
                  <a:pt x="0" y="33"/>
                </a:lnTo>
                <a:lnTo>
                  <a:pt x="3" y="35"/>
                </a:lnTo>
                <a:lnTo>
                  <a:pt x="5" y="38"/>
                </a:lnTo>
                <a:lnTo>
                  <a:pt x="8" y="41"/>
                </a:lnTo>
                <a:lnTo>
                  <a:pt x="11" y="43"/>
                </a:lnTo>
                <a:lnTo>
                  <a:pt x="14" y="43"/>
                </a:lnTo>
                <a:lnTo>
                  <a:pt x="16" y="46"/>
                </a:lnTo>
                <a:lnTo>
                  <a:pt x="19" y="46"/>
                </a:lnTo>
                <a:lnTo>
                  <a:pt x="24" y="46"/>
                </a:lnTo>
                <a:lnTo>
                  <a:pt x="22" y="46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94" name="Freeform 402"/>
          <p:cNvSpPr>
            <a:spLocks noChangeArrowheads="1"/>
          </p:cNvSpPr>
          <p:nvPr/>
        </p:nvSpPr>
        <p:spPr bwMode="auto">
          <a:xfrm>
            <a:off x="3548064" y="3660353"/>
            <a:ext cx="1481137" cy="2093912"/>
          </a:xfrm>
          <a:custGeom>
            <a:avLst/>
            <a:gdLst>
              <a:gd name="T0" fmla="*/ 456 w 1016"/>
              <a:gd name="T1" fmla="*/ 0 h 1198"/>
              <a:gd name="T2" fmla="*/ 0 w 1016"/>
              <a:gd name="T3" fmla="*/ 0 h 1198"/>
              <a:gd name="T4" fmla="*/ 0 w 1016"/>
              <a:gd name="T5" fmla="*/ 1198 h 1198"/>
              <a:gd name="T6" fmla="*/ 1016 w 1016"/>
              <a:gd name="T7" fmla="*/ 1198 h 1198"/>
              <a:gd name="T8" fmla="*/ 0 60000 65536"/>
              <a:gd name="T9" fmla="*/ 0 60000 65536"/>
              <a:gd name="T10" fmla="*/ 0 60000 65536"/>
              <a:gd name="T11" fmla="*/ 0 60000 65536"/>
              <a:gd name="T12" fmla="*/ 0 w 1016"/>
              <a:gd name="T13" fmla="*/ 0 h 1198"/>
              <a:gd name="T14" fmla="*/ 1016 w 1016"/>
              <a:gd name="T15" fmla="*/ 1198 h 11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16" h="1198">
                <a:moveTo>
                  <a:pt x="456" y="0"/>
                </a:moveTo>
                <a:lnTo>
                  <a:pt x="0" y="0"/>
                </a:lnTo>
                <a:lnTo>
                  <a:pt x="0" y="1198"/>
                </a:lnTo>
                <a:lnTo>
                  <a:pt x="1016" y="1198"/>
                </a:lnTo>
              </a:path>
            </a:pathLst>
          </a:custGeom>
          <a:noFill/>
          <a:ln w="3492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995" name="Line 403"/>
          <p:cNvSpPr>
            <a:spLocks noChangeShapeType="1"/>
          </p:cNvSpPr>
          <p:nvPr/>
        </p:nvSpPr>
        <p:spPr bwMode="auto">
          <a:xfrm>
            <a:off x="3533776" y="3658766"/>
            <a:ext cx="822325" cy="3175"/>
          </a:xfrm>
          <a:prstGeom prst="line">
            <a:avLst/>
          </a:prstGeom>
          <a:noFill/>
          <a:ln w="3492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96" name="Line 404"/>
          <p:cNvSpPr>
            <a:spLocks noChangeShapeType="1"/>
          </p:cNvSpPr>
          <p:nvPr/>
        </p:nvSpPr>
        <p:spPr bwMode="auto">
          <a:xfrm flipH="1" flipV="1">
            <a:off x="4821238" y="5678066"/>
            <a:ext cx="88900" cy="149225"/>
          </a:xfrm>
          <a:prstGeom prst="line">
            <a:avLst/>
          </a:prstGeom>
          <a:noFill/>
          <a:ln w="1764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97" name="Freeform 405"/>
          <p:cNvSpPr>
            <a:spLocks noChangeArrowheads="1"/>
          </p:cNvSpPr>
          <p:nvPr/>
        </p:nvSpPr>
        <p:spPr bwMode="auto">
          <a:xfrm>
            <a:off x="5105401" y="5249440"/>
            <a:ext cx="633413" cy="928688"/>
          </a:xfrm>
          <a:custGeom>
            <a:avLst/>
            <a:gdLst>
              <a:gd name="T0" fmla="*/ 180 w 362"/>
              <a:gd name="T1" fmla="*/ 532 h 532"/>
              <a:gd name="T2" fmla="*/ 212 w 362"/>
              <a:gd name="T3" fmla="*/ 529 h 532"/>
              <a:gd name="T4" fmla="*/ 239 w 362"/>
              <a:gd name="T5" fmla="*/ 519 h 532"/>
              <a:gd name="T6" fmla="*/ 264 w 362"/>
              <a:gd name="T7" fmla="*/ 502 h 532"/>
              <a:gd name="T8" fmla="*/ 288 w 362"/>
              <a:gd name="T9" fmla="*/ 481 h 532"/>
              <a:gd name="T10" fmla="*/ 310 w 362"/>
              <a:gd name="T11" fmla="*/ 456 h 532"/>
              <a:gd name="T12" fmla="*/ 329 w 362"/>
              <a:gd name="T13" fmla="*/ 423 h 532"/>
              <a:gd name="T14" fmla="*/ 343 w 362"/>
              <a:gd name="T15" fmla="*/ 388 h 532"/>
              <a:gd name="T16" fmla="*/ 354 w 362"/>
              <a:gd name="T17" fmla="*/ 350 h 532"/>
              <a:gd name="T18" fmla="*/ 362 w 362"/>
              <a:gd name="T19" fmla="*/ 309 h 532"/>
              <a:gd name="T20" fmla="*/ 362 w 362"/>
              <a:gd name="T21" fmla="*/ 266 h 532"/>
              <a:gd name="T22" fmla="*/ 362 w 362"/>
              <a:gd name="T23" fmla="*/ 222 h 532"/>
              <a:gd name="T24" fmla="*/ 354 w 362"/>
              <a:gd name="T25" fmla="*/ 182 h 532"/>
              <a:gd name="T26" fmla="*/ 343 w 362"/>
              <a:gd name="T27" fmla="*/ 144 h 532"/>
              <a:gd name="T28" fmla="*/ 329 w 362"/>
              <a:gd name="T29" fmla="*/ 108 h 532"/>
              <a:gd name="T30" fmla="*/ 310 w 362"/>
              <a:gd name="T31" fmla="*/ 78 h 532"/>
              <a:gd name="T32" fmla="*/ 288 w 362"/>
              <a:gd name="T33" fmla="*/ 51 h 532"/>
              <a:gd name="T34" fmla="*/ 264 w 362"/>
              <a:gd name="T35" fmla="*/ 29 h 532"/>
              <a:gd name="T36" fmla="*/ 239 w 362"/>
              <a:gd name="T37" fmla="*/ 13 h 532"/>
              <a:gd name="T38" fmla="*/ 212 w 362"/>
              <a:gd name="T39" fmla="*/ 2 h 532"/>
              <a:gd name="T40" fmla="*/ 182 w 362"/>
              <a:gd name="T41" fmla="*/ 0 h 532"/>
              <a:gd name="T42" fmla="*/ 152 w 362"/>
              <a:gd name="T43" fmla="*/ 2 h 532"/>
              <a:gd name="T44" fmla="*/ 125 w 362"/>
              <a:gd name="T45" fmla="*/ 13 h 532"/>
              <a:gd name="T46" fmla="*/ 98 w 362"/>
              <a:gd name="T47" fmla="*/ 29 h 532"/>
              <a:gd name="T48" fmla="*/ 74 w 362"/>
              <a:gd name="T49" fmla="*/ 51 h 532"/>
              <a:gd name="T50" fmla="*/ 55 w 362"/>
              <a:gd name="T51" fmla="*/ 78 h 532"/>
              <a:gd name="T52" fmla="*/ 36 w 362"/>
              <a:gd name="T53" fmla="*/ 108 h 532"/>
              <a:gd name="T54" fmla="*/ 22 w 362"/>
              <a:gd name="T55" fmla="*/ 144 h 532"/>
              <a:gd name="T56" fmla="*/ 11 w 362"/>
              <a:gd name="T57" fmla="*/ 182 h 532"/>
              <a:gd name="T58" fmla="*/ 3 w 362"/>
              <a:gd name="T59" fmla="*/ 222 h 532"/>
              <a:gd name="T60" fmla="*/ 0 w 362"/>
              <a:gd name="T61" fmla="*/ 266 h 532"/>
              <a:gd name="T62" fmla="*/ 3 w 362"/>
              <a:gd name="T63" fmla="*/ 309 h 532"/>
              <a:gd name="T64" fmla="*/ 11 w 362"/>
              <a:gd name="T65" fmla="*/ 350 h 532"/>
              <a:gd name="T66" fmla="*/ 22 w 362"/>
              <a:gd name="T67" fmla="*/ 388 h 532"/>
              <a:gd name="T68" fmla="*/ 36 w 362"/>
              <a:gd name="T69" fmla="*/ 423 h 532"/>
              <a:gd name="T70" fmla="*/ 55 w 362"/>
              <a:gd name="T71" fmla="*/ 456 h 532"/>
              <a:gd name="T72" fmla="*/ 74 w 362"/>
              <a:gd name="T73" fmla="*/ 481 h 532"/>
              <a:gd name="T74" fmla="*/ 98 w 362"/>
              <a:gd name="T75" fmla="*/ 502 h 532"/>
              <a:gd name="T76" fmla="*/ 125 w 362"/>
              <a:gd name="T77" fmla="*/ 519 h 532"/>
              <a:gd name="T78" fmla="*/ 152 w 362"/>
              <a:gd name="T79" fmla="*/ 529 h 532"/>
              <a:gd name="T80" fmla="*/ 182 w 362"/>
              <a:gd name="T81" fmla="*/ 532 h 532"/>
              <a:gd name="T82" fmla="*/ 182 w 362"/>
              <a:gd name="T83" fmla="*/ 532 h 532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362"/>
              <a:gd name="T127" fmla="*/ 0 h 532"/>
              <a:gd name="T128" fmla="*/ 362 w 362"/>
              <a:gd name="T129" fmla="*/ 532 h 532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362" h="532">
                <a:moveTo>
                  <a:pt x="180" y="532"/>
                </a:moveTo>
                <a:lnTo>
                  <a:pt x="212" y="529"/>
                </a:lnTo>
                <a:lnTo>
                  <a:pt x="239" y="519"/>
                </a:lnTo>
                <a:lnTo>
                  <a:pt x="264" y="502"/>
                </a:lnTo>
                <a:lnTo>
                  <a:pt x="288" y="481"/>
                </a:lnTo>
                <a:lnTo>
                  <a:pt x="310" y="456"/>
                </a:lnTo>
                <a:lnTo>
                  <a:pt x="329" y="423"/>
                </a:lnTo>
                <a:lnTo>
                  <a:pt x="343" y="388"/>
                </a:lnTo>
                <a:lnTo>
                  <a:pt x="354" y="350"/>
                </a:lnTo>
                <a:lnTo>
                  <a:pt x="362" y="309"/>
                </a:lnTo>
                <a:lnTo>
                  <a:pt x="362" y="266"/>
                </a:lnTo>
                <a:lnTo>
                  <a:pt x="362" y="222"/>
                </a:lnTo>
                <a:lnTo>
                  <a:pt x="354" y="182"/>
                </a:lnTo>
                <a:lnTo>
                  <a:pt x="343" y="144"/>
                </a:lnTo>
                <a:lnTo>
                  <a:pt x="329" y="108"/>
                </a:lnTo>
                <a:lnTo>
                  <a:pt x="310" y="78"/>
                </a:lnTo>
                <a:lnTo>
                  <a:pt x="288" y="51"/>
                </a:lnTo>
                <a:lnTo>
                  <a:pt x="264" y="29"/>
                </a:lnTo>
                <a:lnTo>
                  <a:pt x="239" y="13"/>
                </a:lnTo>
                <a:lnTo>
                  <a:pt x="212" y="2"/>
                </a:lnTo>
                <a:lnTo>
                  <a:pt x="182" y="0"/>
                </a:lnTo>
                <a:lnTo>
                  <a:pt x="152" y="2"/>
                </a:lnTo>
                <a:lnTo>
                  <a:pt x="125" y="13"/>
                </a:lnTo>
                <a:lnTo>
                  <a:pt x="98" y="29"/>
                </a:lnTo>
                <a:lnTo>
                  <a:pt x="74" y="51"/>
                </a:lnTo>
                <a:lnTo>
                  <a:pt x="55" y="78"/>
                </a:lnTo>
                <a:lnTo>
                  <a:pt x="36" y="108"/>
                </a:lnTo>
                <a:lnTo>
                  <a:pt x="22" y="144"/>
                </a:lnTo>
                <a:lnTo>
                  <a:pt x="11" y="182"/>
                </a:lnTo>
                <a:lnTo>
                  <a:pt x="3" y="222"/>
                </a:lnTo>
                <a:lnTo>
                  <a:pt x="0" y="266"/>
                </a:lnTo>
                <a:lnTo>
                  <a:pt x="3" y="309"/>
                </a:lnTo>
                <a:lnTo>
                  <a:pt x="11" y="350"/>
                </a:lnTo>
                <a:lnTo>
                  <a:pt x="22" y="388"/>
                </a:lnTo>
                <a:lnTo>
                  <a:pt x="36" y="423"/>
                </a:lnTo>
                <a:lnTo>
                  <a:pt x="55" y="456"/>
                </a:lnTo>
                <a:lnTo>
                  <a:pt x="74" y="481"/>
                </a:lnTo>
                <a:lnTo>
                  <a:pt x="98" y="502"/>
                </a:lnTo>
                <a:lnTo>
                  <a:pt x="125" y="519"/>
                </a:lnTo>
                <a:lnTo>
                  <a:pt x="152" y="529"/>
                </a:lnTo>
                <a:lnTo>
                  <a:pt x="182" y="532"/>
                </a:lnTo>
              </a:path>
            </a:pathLst>
          </a:custGeom>
          <a:solidFill>
            <a:srgbClr val="FFFFFF"/>
          </a:solidFill>
          <a:ln w="17640">
            <a:solidFill>
              <a:srgbClr val="666666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71998" name="Group 406"/>
          <p:cNvGrpSpPr>
            <a:grpSpLocks/>
          </p:cNvGrpSpPr>
          <p:nvPr/>
        </p:nvGrpSpPr>
        <p:grpSpPr bwMode="auto">
          <a:xfrm>
            <a:off x="4768851" y="5484390"/>
            <a:ext cx="163513" cy="166688"/>
            <a:chOff x="2044" y="3412"/>
            <a:chExt cx="103" cy="105"/>
          </a:xfrm>
        </p:grpSpPr>
        <p:sp>
          <p:nvSpPr>
            <p:cNvPr id="72022" name="Rectangle 407"/>
            <p:cNvSpPr>
              <a:spLocks noChangeArrowheads="1"/>
            </p:cNvSpPr>
            <p:nvPr/>
          </p:nvSpPr>
          <p:spPr bwMode="auto">
            <a:xfrm>
              <a:off x="2044" y="3412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72023" name="Rectangle 408"/>
            <p:cNvSpPr>
              <a:spLocks noChangeArrowheads="1"/>
            </p:cNvSpPr>
            <p:nvPr/>
          </p:nvSpPr>
          <p:spPr bwMode="auto">
            <a:xfrm>
              <a:off x="2098" y="3412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6</a:t>
              </a:r>
            </a:p>
          </p:txBody>
        </p:sp>
      </p:grpSp>
      <p:grpSp>
        <p:nvGrpSpPr>
          <p:cNvPr id="71999" name="Group 409"/>
          <p:cNvGrpSpPr>
            <a:grpSpLocks/>
          </p:cNvGrpSpPr>
          <p:nvPr/>
        </p:nvGrpSpPr>
        <p:grpSpPr bwMode="auto">
          <a:xfrm>
            <a:off x="5756276" y="5484391"/>
            <a:ext cx="163513" cy="339725"/>
            <a:chOff x="2666" y="3412"/>
            <a:chExt cx="103" cy="214"/>
          </a:xfrm>
        </p:grpSpPr>
        <p:sp>
          <p:nvSpPr>
            <p:cNvPr id="72019" name="Line 410"/>
            <p:cNvSpPr>
              <a:spLocks noChangeShapeType="1"/>
            </p:cNvSpPr>
            <p:nvPr/>
          </p:nvSpPr>
          <p:spPr bwMode="auto">
            <a:xfrm flipH="1" flipV="1">
              <a:off x="2698" y="3534"/>
              <a:ext cx="56" cy="94"/>
            </a:xfrm>
            <a:prstGeom prst="line">
              <a:avLst/>
            </a:prstGeom>
            <a:noFill/>
            <a:ln w="1764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020" name="Rectangle 411"/>
            <p:cNvSpPr>
              <a:spLocks noChangeArrowheads="1"/>
            </p:cNvSpPr>
            <p:nvPr/>
          </p:nvSpPr>
          <p:spPr bwMode="auto">
            <a:xfrm>
              <a:off x="2666" y="3412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72021" name="Rectangle 412"/>
            <p:cNvSpPr>
              <a:spLocks noChangeArrowheads="1"/>
            </p:cNvSpPr>
            <p:nvPr/>
          </p:nvSpPr>
          <p:spPr bwMode="auto">
            <a:xfrm>
              <a:off x="2720" y="3412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</p:grpSp>
      <p:grpSp>
        <p:nvGrpSpPr>
          <p:cNvPr id="72000" name="Group 413"/>
          <p:cNvGrpSpPr>
            <a:grpSpLocks/>
          </p:cNvGrpSpPr>
          <p:nvPr/>
        </p:nvGrpSpPr>
        <p:grpSpPr bwMode="auto">
          <a:xfrm>
            <a:off x="5181600" y="5554240"/>
            <a:ext cx="463550" cy="342900"/>
            <a:chOff x="2304" y="3456"/>
            <a:chExt cx="292" cy="216"/>
          </a:xfrm>
        </p:grpSpPr>
        <p:sp>
          <p:nvSpPr>
            <p:cNvPr id="72008" name="Rectangle 414"/>
            <p:cNvSpPr>
              <a:spLocks noChangeArrowheads="1"/>
            </p:cNvSpPr>
            <p:nvPr/>
          </p:nvSpPr>
          <p:spPr bwMode="auto">
            <a:xfrm>
              <a:off x="2362" y="3456"/>
              <a:ext cx="5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2009" name="Rectangle 415"/>
            <p:cNvSpPr>
              <a:spLocks noChangeArrowheads="1"/>
            </p:cNvSpPr>
            <p:nvPr/>
          </p:nvSpPr>
          <p:spPr bwMode="auto">
            <a:xfrm>
              <a:off x="2426" y="3456"/>
              <a:ext cx="2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2010" name="Rectangle 416"/>
            <p:cNvSpPr>
              <a:spLocks noChangeArrowheads="1"/>
            </p:cNvSpPr>
            <p:nvPr/>
          </p:nvSpPr>
          <p:spPr bwMode="auto">
            <a:xfrm>
              <a:off x="2446" y="3456"/>
              <a:ext cx="49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72011" name="Rectangle 417"/>
            <p:cNvSpPr>
              <a:spLocks noChangeArrowheads="1"/>
            </p:cNvSpPr>
            <p:nvPr/>
          </p:nvSpPr>
          <p:spPr bwMode="auto">
            <a:xfrm>
              <a:off x="2505" y="345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2012" name="Rectangle 418"/>
            <p:cNvSpPr>
              <a:spLocks noChangeArrowheads="1"/>
            </p:cNvSpPr>
            <p:nvPr/>
          </p:nvSpPr>
          <p:spPr bwMode="auto">
            <a:xfrm>
              <a:off x="2559" y="3456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13" name="Rectangle 419"/>
            <p:cNvSpPr>
              <a:spLocks noChangeArrowheads="1"/>
            </p:cNvSpPr>
            <p:nvPr/>
          </p:nvSpPr>
          <p:spPr bwMode="auto">
            <a:xfrm>
              <a:off x="2304" y="356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2014" name="Rectangle 420"/>
            <p:cNvSpPr>
              <a:spLocks noChangeArrowheads="1"/>
            </p:cNvSpPr>
            <p:nvPr/>
          </p:nvSpPr>
          <p:spPr bwMode="auto">
            <a:xfrm>
              <a:off x="2362" y="3566"/>
              <a:ext cx="4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72015" name="Rectangle 421"/>
            <p:cNvSpPr>
              <a:spLocks noChangeArrowheads="1"/>
            </p:cNvSpPr>
            <p:nvPr/>
          </p:nvSpPr>
          <p:spPr bwMode="auto">
            <a:xfrm>
              <a:off x="2408" y="3566"/>
              <a:ext cx="24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2016" name="Rectangle 422"/>
            <p:cNvSpPr>
              <a:spLocks noChangeArrowheads="1"/>
            </p:cNvSpPr>
            <p:nvPr/>
          </p:nvSpPr>
          <p:spPr bwMode="auto">
            <a:xfrm>
              <a:off x="2436" y="356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2017" name="Rectangle 423"/>
            <p:cNvSpPr>
              <a:spLocks noChangeArrowheads="1"/>
            </p:cNvSpPr>
            <p:nvPr/>
          </p:nvSpPr>
          <p:spPr bwMode="auto">
            <a:xfrm>
              <a:off x="2493" y="356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2018" name="Rectangle 424"/>
            <p:cNvSpPr>
              <a:spLocks noChangeArrowheads="1"/>
            </p:cNvSpPr>
            <p:nvPr/>
          </p:nvSpPr>
          <p:spPr bwMode="auto">
            <a:xfrm>
              <a:off x="2546" y="3566"/>
              <a:ext cx="50" cy="1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666666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1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</p:grpSp>
      <p:grpSp>
        <p:nvGrpSpPr>
          <p:cNvPr id="72001" name="Group 425"/>
          <p:cNvGrpSpPr>
            <a:grpSpLocks/>
          </p:cNvGrpSpPr>
          <p:nvPr/>
        </p:nvGrpSpPr>
        <p:grpSpPr bwMode="auto">
          <a:xfrm>
            <a:off x="5005389" y="5711404"/>
            <a:ext cx="79375" cy="84137"/>
            <a:chOff x="2193" y="3555"/>
            <a:chExt cx="50" cy="53"/>
          </a:xfrm>
        </p:grpSpPr>
        <p:sp>
          <p:nvSpPr>
            <p:cNvPr id="72006" name="Freeform 426"/>
            <p:cNvSpPr>
              <a:spLocks noChangeArrowheads="1"/>
            </p:cNvSpPr>
            <p:nvPr/>
          </p:nvSpPr>
          <p:spPr bwMode="auto">
            <a:xfrm>
              <a:off x="2193" y="3582"/>
              <a:ext cx="18" cy="1"/>
            </a:xfrm>
            <a:custGeom>
              <a:avLst/>
              <a:gdLst>
                <a:gd name="T0" fmla="*/ 16 w 16"/>
                <a:gd name="T1" fmla="*/ 0 h 1"/>
                <a:gd name="T2" fmla="*/ 0 w 16"/>
                <a:gd name="T3" fmla="*/ 0 h 1"/>
                <a:gd name="T4" fmla="*/ 16 w 16"/>
                <a:gd name="T5" fmla="*/ 0 h 1"/>
                <a:gd name="T6" fmla="*/ 0 60000 65536"/>
                <a:gd name="T7" fmla="*/ 0 60000 65536"/>
                <a:gd name="T8" fmla="*/ 0 60000 65536"/>
                <a:gd name="T9" fmla="*/ 0 w 16"/>
                <a:gd name="T10" fmla="*/ 0 h 1"/>
                <a:gd name="T11" fmla="*/ 16 w 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" h="1">
                  <a:moveTo>
                    <a:pt x="16" y="0"/>
                  </a:moveTo>
                  <a:lnTo>
                    <a:pt x="0" y="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007" name="Freeform 427"/>
            <p:cNvSpPr>
              <a:spLocks noChangeArrowheads="1"/>
            </p:cNvSpPr>
            <p:nvPr/>
          </p:nvSpPr>
          <p:spPr bwMode="auto">
            <a:xfrm>
              <a:off x="2193" y="3555"/>
              <a:ext cx="51" cy="54"/>
            </a:xfrm>
            <a:custGeom>
              <a:avLst/>
              <a:gdLst>
                <a:gd name="T0" fmla="*/ 0 w 46"/>
                <a:gd name="T1" fmla="*/ 0 h 49"/>
                <a:gd name="T2" fmla="*/ 0 w 46"/>
                <a:gd name="T3" fmla="*/ 49 h 49"/>
                <a:gd name="T4" fmla="*/ 46 w 46"/>
                <a:gd name="T5" fmla="*/ 24 h 49"/>
                <a:gd name="T6" fmla="*/ 0 w 46"/>
                <a:gd name="T7" fmla="*/ 0 h 49"/>
                <a:gd name="T8" fmla="*/ 0 w 46"/>
                <a:gd name="T9" fmla="*/ 0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"/>
                <a:gd name="T16" fmla="*/ 0 h 49"/>
                <a:gd name="T17" fmla="*/ 46 w 46"/>
                <a:gd name="T18" fmla="*/ 49 h 4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" h="49">
                  <a:moveTo>
                    <a:pt x="0" y="0"/>
                  </a:moveTo>
                  <a:lnTo>
                    <a:pt x="0" y="49"/>
                  </a:lnTo>
                  <a:lnTo>
                    <a:pt x="46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2002" name="Line 428"/>
          <p:cNvSpPr>
            <a:spLocks noChangeShapeType="1"/>
          </p:cNvSpPr>
          <p:nvPr/>
        </p:nvSpPr>
        <p:spPr bwMode="auto">
          <a:xfrm flipH="1">
            <a:off x="6018214" y="4984329"/>
            <a:ext cx="536575" cy="3175"/>
          </a:xfrm>
          <a:prstGeom prst="line">
            <a:avLst/>
          </a:prstGeom>
          <a:noFill/>
          <a:ln w="4140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003" name="Freeform 429"/>
          <p:cNvSpPr>
            <a:spLocks noChangeArrowheads="1"/>
          </p:cNvSpPr>
          <p:nvPr/>
        </p:nvSpPr>
        <p:spPr bwMode="auto">
          <a:xfrm>
            <a:off x="6276975" y="4411241"/>
            <a:ext cx="82550" cy="80963"/>
          </a:xfrm>
          <a:custGeom>
            <a:avLst/>
            <a:gdLst>
              <a:gd name="T0" fmla="*/ 22 w 47"/>
              <a:gd name="T1" fmla="*/ 46 h 46"/>
              <a:gd name="T2" fmla="*/ 28 w 47"/>
              <a:gd name="T3" fmla="*/ 46 h 46"/>
              <a:gd name="T4" fmla="*/ 30 w 47"/>
              <a:gd name="T5" fmla="*/ 46 h 46"/>
              <a:gd name="T6" fmla="*/ 36 w 47"/>
              <a:gd name="T7" fmla="*/ 43 h 46"/>
              <a:gd name="T8" fmla="*/ 38 w 47"/>
              <a:gd name="T9" fmla="*/ 40 h 46"/>
              <a:gd name="T10" fmla="*/ 41 w 47"/>
              <a:gd name="T11" fmla="*/ 38 h 46"/>
              <a:gd name="T12" fmla="*/ 44 w 47"/>
              <a:gd name="T13" fmla="*/ 35 h 46"/>
              <a:gd name="T14" fmla="*/ 44 w 47"/>
              <a:gd name="T15" fmla="*/ 32 h 46"/>
              <a:gd name="T16" fmla="*/ 47 w 47"/>
              <a:gd name="T17" fmla="*/ 30 h 46"/>
              <a:gd name="T18" fmla="*/ 47 w 47"/>
              <a:gd name="T19" fmla="*/ 27 h 46"/>
              <a:gd name="T20" fmla="*/ 47 w 47"/>
              <a:gd name="T21" fmla="*/ 21 h 46"/>
              <a:gd name="T22" fmla="*/ 47 w 47"/>
              <a:gd name="T23" fmla="*/ 19 h 46"/>
              <a:gd name="T24" fmla="*/ 47 w 47"/>
              <a:gd name="T25" fmla="*/ 16 h 46"/>
              <a:gd name="T26" fmla="*/ 44 w 47"/>
              <a:gd name="T27" fmla="*/ 11 h 46"/>
              <a:gd name="T28" fmla="*/ 44 w 47"/>
              <a:gd name="T29" fmla="*/ 8 h 46"/>
              <a:gd name="T30" fmla="*/ 41 w 47"/>
              <a:gd name="T31" fmla="*/ 5 h 46"/>
              <a:gd name="T32" fmla="*/ 38 w 47"/>
              <a:gd name="T33" fmla="*/ 5 h 46"/>
              <a:gd name="T34" fmla="*/ 36 w 47"/>
              <a:gd name="T35" fmla="*/ 2 h 46"/>
              <a:gd name="T36" fmla="*/ 30 w 47"/>
              <a:gd name="T37" fmla="*/ 0 h 46"/>
              <a:gd name="T38" fmla="*/ 28 w 47"/>
              <a:gd name="T39" fmla="*/ 0 h 46"/>
              <a:gd name="T40" fmla="*/ 25 w 47"/>
              <a:gd name="T41" fmla="*/ 0 h 46"/>
              <a:gd name="T42" fmla="*/ 19 w 47"/>
              <a:gd name="T43" fmla="*/ 0 h 46"/>
              <a:gd name="T44" fmla="*/ 17 w 47"/>
              <a:gd name="T45" fmla="*/ 0 h 46"/>
              <a:gd name="T46" fmla="*/ 14 w 47"/>
              <a:gd name="T47" fmla="*/ 2 h 46"/>
              <a:gd name="T48" fmla="*/ 11 w 47"/>
              <a:gd name="T49" fmla="*/ 5 h 46"/>
              <a:gd name="T50" fmla="*/ 9 w 47"/>
              <a:gd name="T51" fmla="*/ 5 h 46"/>
              <a:gd name="T52" fmla="*/ 6 w 47"/>
              <a:gd name="T53" fmla="*/ 8 h 46"/>
              <a:gd name="T54" fmla="*/ 3 w 47"/>
              <a:gd name="T55" fmla="*/ 11 h 46"/>
              <a:gd name="T56" fmla="*/ 3 w 47"/>
              <a:gd name="T57" fmla="*/ 16 h 46"/>
              <a:gd name="T58" fmla="*/ 0 w 47"/>
              <a:gd name="T59" fmla="*/ 19 h 46"/>
              <a:gd name="T60" fmla="*/ 0 w 47"/>
              <a:gd name="T61" fmla="*/ 21 h 46"/>
              <a:gd name="T62" fmla="*/ 0 w 47"/>
              <a:gd name="T63" fmla="*/ 27 h 46"/>
              <a:gd name="T64" fmla="*/ 3 w 47"/>
              <a:gd name="T65" fmla="*/ 30 h 46"/>
              <a:gd name="T66" fmla="*/ 3 w 47"/>
              <a:gd name="T67" fmla="*/ 32 h 46"/>
              <a:gd name="T68" fmla="*/ 6 w 47"/>
              <a:gd name="T69" fmla="*/ 35 h 46"/>
              <a:gd name="T70" fmla="*/ 9 w 47"/>
              <a:gd name="T71" fmla="*/ 38 h 46"/>
              <a:gd name="T72" fmla="*/ 11 w 47"/>
              <a:gd name="T73" fmla="*/ 40 h 46"/>
              <a:gd name="T74" fmla="*/ 14 w 47"/>
              <a:gd name="T75" fmla="*/ 43 h 46"/>
              <a:gd name="T76" fmla="*/ 17 w 47"/>
              <a:gd name="T77" fmla="*/ 46 h 46"/>
              <a:gd name="T78" fmla="*/ 19 w 47"/>
              <a:gd name="T79" fmla="*/ 46 h 46"/>
              <a:gd name="T80" fmla="*/ 25 w 47"/>
              <a:gd name="T81" fmla="*/ 46 h 46"/>
              <a:gd name="T82" fmla="*/ 25 w 47"/>
              <a:gd name="T83" fmla="*/ 46 h 46"/>
              <a:gd name="T84" fmla="*/ 22 w 47"/>
              <a:gd name="T85" fmla="*/ 46 h 4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47"/>
              <a:gd name="T130" fmla="*/ 0 h 46"/>
              <a:gd name="T131" fmla="*/ 47 w 47"/>
              <a:gd name="T132" fmla="*/ 46 h 46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47" h="46">
                <a:moveTo>
                  <a:pt x="22" y="46"/>
                </a:moveTo>
                <a:lnTo>
                  <a:pt x="28" y="46"/>
                </a:lnTo>
                <a:lnTo>
                  <a:pt x="30" y="46"/>
                </a:lnTo>
                <a:lnTo>
                  <a:pt x="36" y="43"/>
                </a:lnTo>
                <a:lnTo>
                  <a:pt x="38" y="40"/>
                </a:lnTo>
                <a:lnTo>
                  <a:pt x="41" y="38"/>
                </a:lnTo>
                <a:lnTo>
                  <a:pt x="44" y="35"/>
                </a:lnTo>
                <a:lnTo>
                  <a:pt x="44" y="32"/>
                </a:lnTo>
                <a:lnTo>
                  <a:pt x="47" y="30"/>
                </a:lnTo>
                <a:lnTo>
                  <a:pt x="47" y="27"/>
                </a:lnTo>
                <a:lnTo>
                  <a:pt x="47" y="21"/>
                </a:lnTo>
                <a:lnTo>
                  <a:pt x="47" y="19"/>
                </a:lnTo>
                <a:lnTo>
                  <a:pt x="47" y="16"/>
                </a:lnTo>
                <a:lnTo>
                  <a:pt x="44" y="11"/>
                </a:lnTo>
                <a:lnTo>
                  <a:pt x="44" y="8"/>
                </a:lnTo>
                <a:lnTo>
                  <a:pt x="41" y="5"/>
                </a:lnTo>
                <a:lnTo>
                  <a:pt x="38" y="5"/>
                </a:lnTo>
                <a:lnTo>
                  <a:pt x="36" y="2"/>
                </a:lnTo>
                <a:lnTo>
                  <a:pt x="30" y="0"/>
                </a:lnTo>
                <a:lnTo>
                  <a:pt x="28" y="0"/>
                </a:lnTo>
                <a:lnTo>
                  <a:pt x="25" y="0"/>
                </a:lnTo>
                <a:lnTo>
                  <a:pt x="19" y="0"/>
                </a:lnTo>
                <a:lnTo>
                  <a:pt x="17" y="0"/>
                </a:lnTo>
                <a:lnTo>
                  <a:pt x="14" y="2"/>
                </a:lnTo>
                <a:lnTo>
                  <a:pt x="11" y="5"/>
                </a:lnTo>
                <a:lnTo>
                  <a:pt x="9" y="5"/>
                </a:lnTo>
                <a:lnTo>
                  <a:pt x="6" y="8"/>
                </a:lnTo>
                <a:lnTo>
                  <a:pt x="3" y="11"/>
                </a:lnTo>
                <a:lnTo>
                  <a:pt x="3" y="16"/>
                </a:lnTo>
                <a:lnTo>
                  <a:pt x="0" y="19"/>
                </a:lnTo>
                <a:lnTo>
                  <a:pt x="0" y="21"/>
                </a:lnTo>
                <a:lnTo>
                  <a:pt x="0" y="27"/>
                </a:lnTo>
                <a:lnTo>
                  <a:pt x="3" y="30"/>
                </a:lnTo>
                <a:lnTo>
                  <a:pt x="3" y="32"/>
                </a:lnTo>
                <a:lnTo>
                  <a:pt x="6" y="35"/>
                </a:lnTo>
                <a:lnTo>
                  <a:pt x="9" y="38"/>
                </a:lnTo>
                <a:lnTo>
                  <a:pt x="11" y="40"/>
                </a:lnTo>
                <a:lnTo>
                  <a:pt x="14" y="43"/>
                </a:lnTo>
                <a:lnTo>
                  <a:pt x="17" y="46"/>
                </a:lnTo>
                <a:lnTo>
                  <a:pt x="19" y="46"/>
                </a:lnTo>
                <a:lnTo>
                  <a:pt x="25" y="46"/>
                </a:lnTo>
                <a:lnTo>
                  <a:pt x="22" y="46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2004" name="Freeform 430"/>
          <p:cNvSpPr>
            <a:spLocks noChangeArrowheads="1"/>
          </p:cNvSpPr>
          <p:nvPr/>
        </p:nvSpPr>
        <p:spPr bwMode="auto">
          <a:xfrm>
            <a:off x="6324601" y="4462040"/>
            <a:ext cx="1833563" cy="717550"/>
          </a:xfrm>
          <a:custGeom>
            <a:avLst/>
            <a:gdLst>
              <a:gd name="T0" fmla="*/ 1187 w 1187"/>
              <a:gd name="T1" fmla="*/ 410 h 410"/>
              <a:gd name="T2" fmla="*/ 0 w 1187"/>
              <a:gd name="T3" fmla="*/ 410 h 410"/>
              <a:gd name="T4" fmla="*/ 0 w 1187"/>
              <a:gd name="T5" fmla="*/ 0 h 410"/>
              <a:gd name="T6" fmla="*/ 0 60000 65536"/>
              <a:gd name="T7" fmla="*/ 0 60000 65536"/>
              <a:gd name="T8" fmla="*/ 0 60000 65536"/>
              <a:gd name="T9" fmla="*/ 0 w 1187"/>
              <a:gd name="T10" fmla="*/ 0 h 410"/>
              <a:gd name="T11" fmla="*/ 1187 w 1187"/>
              <a:gd name="T12" fmla="*/ 410 h 41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87" h="410">
                <a:moveTo>
                  <a:pt x="1187" y="410"/>
                </a:moveTo>
                <a:lnTo>
                  <a:pt x="0" y="410"/>
                </a:lnTo>
                <a:lnTo>
                  <a:pt x="0" y="0"/>
                </a:lnTo>
              </a:path>
            </a:pathLst>
          </a:custGeom>
          <a:noFill/>
          <a:ln w="3492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031" name="AutoShape 431"/>
          <p:cNvSpPr>
            <a:spLocks noChangeArrowheads="1"/>
          </p:cNvSpPr>
          <p:nvPr/>
        </p:nvSpPr>
        <p:spPr bwMode="auto">
          <a:xfrm>
            <a:off x="1524000" y="5486400"/>
            <a:ext cx="3810000" cy="1066800"/>
          </a:xfrm>
          <a:prstGeom prst="wedgeRectCallout">
            <a:avLst>
              <a:gd name="adj1" fmla="val 13958"/>
              <a:gd name="adj2" fmla="val -113394"/>
            </a:avLst>
          </a:prstGeom>
          <a:solidFill>
            <a:srgbClr val="FFFF99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90000" tIns="46800" rIns="90000" bIns="46800"/>
          <a:lstStyle/>
          <a:p>
            <a:pPr>
              <a:spcBef>
                <a:spcPts val="400"/>
              </a:spcBef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 b="1">
                <a:solidFill>
                  <a:srgbClr val="CD3333"/>
                </a:solidFill>
                <a:latin typeface="Tahoma" charset="0"/>
                <a:ea typeface="新細明體" charset="-120"/>
              </a:rPr>
              <a:t>Destination register</a:t>
            </a:r>
            <a:r>
              <a:rPr lang="en-GB" altLang="zh-TW" sz="1600">
                <a:solidFill>
                  <a:srgbClr val="402000"/>
                </a:solidFill>
                <a:latin typeface="Tahoma" charset="0"/>
                <a:ea typeface="新細明體" charset="-120"/>
              </a:rPr>
              <a:t>:</a:t>
            </a:r>
          </a:p>
          <a:p>
            <a:pPr>
              <a:spcBef>
                <a:spcPts val="400"/>
              </a:spcBef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Tahoma" charset="0"/>
                <a:ea typeface="新細明體" charset="-120"/>
              </a:rPr>
              <a:t>For </a:t>
            </a:r>
            <a:r>
              <a:rPr lang="en-GB" altLang="zh-TW" sz="1600">
                <a:solidFill>
                  <a:srgbClr val="3333CC"/>
                </a:solidFill>
                <a:latin typeface="Tahoma" charset="0"/>
                <a:ea typeface="新細明體" charset="-120"/>
              </a:rPr>
              <a:t>R-format</a:t>
            </a:r>
            <a:r>
              <a:rPr lang="en-GB" altLang="zh-TW" sz="1600">
                <a:solidFill>
                  <a:srgbClr val="000000"/>
                </a:solidFill>
                <a:latin typeface="Tahoma" charset="0"/>
                <a:ea typeface="新細明體" charset="-120"/>
              </a:rPr>
              <a:t>: it is	</a:t>
            </a:r>
            <a:r>
              <a:rPr lang="en-GB" altLang="zh-TW" sz="1600" b="1">
                <a:solidFill>
                  <a:srgbClr val="3333CC"/>
                </a:solidFill>
                <a:latin typeface="Tahoma" charset="0"/>
                <a:ea typeface="新細明體" charset="-120"/>
              </a:rPr>
              <a:t>rd</a:t>
            </a:r>
            <a:r>
              <a:rPr lang="en-GB" altLang="zh-TW" sz="1600">
                <a:solidFill>
                  <a:srgbClr val="000000"/>
                </a:solidFill>
                <a:latin typeface="Tahoma" charset="0"/>
                <a:ea typeface="新細明體" charset="-120"/>
              </a:rPr>
              <a:t> field (bits 15-11)</a:t>
            </a:r>
          </a:p>
          <a:p>
            <a:pPr>
              <a:spcBef>
                <a:spcPts val="400"/>
              </a:spcBef>
              <a:buClr>
                <a:srgbClr val="000000"/>
              </a:buCl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1600">
                <a:solidFill>
                  <a:srgbClr val="000000"/>
                </a:solidFill>
                <a:latin typeface="Tahoma" charset="0"/>
                <a:ea typeface="新細明體" charset="-120"/>
              </a:rPr>
              <a:t>For </a:t>
            </a:r>
            <a:r>
              <a:rPr lang="en-GB" altLang="zh-TW" sz="1600" b="1">
                <a:solidFill>
                  <a:srgbClr val="3333CC"/>
                </a:solidFill>
                <a:latin typeface="Tahoma" charset="0"/>
                <a:ea typeface="新細明體" charset="-120"/>
              </a:rPr>
              <a:t>lw</a:t>
            </a:r>
            <a:r>
              <a:rPr lang="en-GB" altLang="zh-TW" sz="1600">
                <a:solidFill>
                  <a:srgbClr val="000000"/>
                </a:solidFill>
                <a:latin typeface="Tahoma" charset="0"/>
                <a:ea typeface="新細明體" charset="-120"/>
              </a:rPr>
              <a:t>: 	      it is	</a:t>
            </a:r>
            <a:r>
              <a:rPr lang="en-GB" altLang="zh-TW" sz="1600" b="1">
                <a:solidFill>
                  <a:srgbClr val="3333CC"/>
                </a:solidFill>
                <a:latin typeface="Tahoma" charset="0"/>
                <a:ea typeface="新細明體" charset="-120"/>
              </a:rPr>
              <a:t>rt</a:t>
            </a:r>
            <a:r>
              <a:rPr lang="en-GB" altLang="zh-TW" sz="1600">
                <a:solidFill>
                  <a:srgbClr val="000000"/>
                </a:solidFill>
                <a:latin typeface="Tahoma" charset="0"/>
                <a:ea typeface="新細明體" charset="-120"/>
              </a:rPr>
              <a:t> field (bits 20-16)</a:t>
            </a:r>
          </a:p>
        </p:txBody>
      </p:sp>
    </p:spTree>
    <p:extLst>
      <p:ext uri="{BB962C8B-B14F-4D97-AF65-F5344CB8AC3E}">
        <p14:creationId xmlns:p14="http://schemas.microsoft.com/office/powerpoint/2010/main" val="19467120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Single-cycle </a:t>
            </a:r>
            <a:r>
              <a:rPr lang="en-US" dirty="0" err="1"/>
              <a:t>contorl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853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dirty="0">
                <a:ea typeface="新細明體" charset="-120"/>
                <a:cs typeface="新細明體" charset="-120"/>
              </a:rPr>
              <a:t>Overview: </a:t>
            </a:r>
            <a:r>
              <a:rPr lang="en-GB" altLang="zh-TW" dirty="0" err="1">
                <a:ea typeface="新細明體" charset="-120"/>
                <a:cs typeface="新細明體" charset="-120"/>
              </a:rPr>
              <a:t>Datapath</a:t>
            </a:r>
            <a:r>
              <a:rPr lang="en-GB" altLang="zh-TW" dirty="0">
                <a:ea typeface="新細明體" charset="-120"/>
                <a:cs typeface="新細明體" charset="-120"/>
              </a:rPr>
              <a:t> with Control </a:t>
            </a:r>
          </a:p>
        </p:txBody>
      </p:sp>
      <p:grpSp>
        <p:nvGrpSpPr>
          <p:cNvPr id="75783" name="Group 3"/>
          <p:cNvGrpSpPr>
            <a:grpSpLocks/>
          </p:cNvGrpSpPr>
          <p:nvPr/>
        </p:nvGrpSpPr>
        <p:grpSpPr bwMode="auto">
          <a:xfrm>
            <a:off x="2133600" y="1258465"/>
            <a:ext cx="7977188" cy="4476751"/>
            <a:chOff x="384" y="672"/>
            <a:chExt cx="5025" cy="2820"/>
          </a:xfrm>
        </p:grpSpPr>
        <p:grpSp>
          <p:nvGrpSpPr>
            <p:cNvPr id="75788" name="Group 4"/>
            <p:cNvGrpSpPr>
              <a:grpSpLocks/>
            </p:cNvGrpSpPr>
            <p:nvPr/>
          </p:nvGrpSpPr>
          <p:grpSpPr bwMode="auto">
            <a:xfrm>
              <a:off x="472" y="939"/>
              <a:ext cx="4937" cy="2487"/>
              <a:chOff x="472" y="939"/>
              <a:chExt cx="4937" cy="2487"/>
            </a:xfrm>
          </p:grpSpPr>
          <p:sp>
            <p:nvSpPr>
              <p:cNvPr id="76172" name="Line 5"/>
              <p:cNvSpPr>
                <a:spLocks noChangeShapeType="1"/>
              </p:cNvSpPr>
              <p:nvPr/>
            </p:nvSpPr>
            <p:spPr bwMode="auto">
              <a:xfrm flipH="1">
                <a:off x="4227" y="2476"/>
                <a:ext cx="127" cy="1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73" name="Freeform 6"/>
              <p:cNvSpPr>
                <a:spLocks noChangeArrowheads="1"/>
              </p:cNvSpPr>
              <p:nvPr/>
            </p:nvSpPr>
            <p:spPr bwMode="auto">
              <a:xfrm>
                <a:off x="2482" y="1815"/>
                <a:ext cx="2229" cy="427"/>
              </a:xfrm>
              <a:custGeom>
                <a:avLst/>
                <a:gdLst>
                  <a:gd name="T0" fmla="*/ 0 w 2229"/>
                  <a:gd name="T1" fmla="*/ 0 h 427"/>
                  <a:gd name="T2" fmla="*/ 2229 w 2229"/>
                  <a:gd name="T3" fmla="*/ 0 h 427"/>
                  <a:gd name="T4" fmla="*/ 2229 w 2229"/>
                  <a:gd name="T5" fmla="*/ 427 h 427"/>
                  <a:gd name="T6" fmla="*/ 0 60000 65536"/>
                  <a:gd name="T7" fmla="*/ 0 60000 65536"/>
                  <a:gd name="T8" fmla="*/ 0 60000 65536"/>
                  <a:gd name="T9" fmla="*/ 0 w 2229"/>
                  <a:gd name="T10" fmla="*/ 0 h 427"/>
                  <a:gd name="T11" fmla="*/ 2229 w 2229"/>
                  <a:gd name="T12" fmla="*/ 427 h 4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9" h="427">
                    <a:moveTo>
                      <a:pt x="0" y="0"/>
                    </a:moveTo>
                    <a:lnTo>
                      <a:pt x="2229" y="0"/>
                    </a:lnTo>
                    <a:lnTo>
                      <a:pt x="2229" y="427"/>
                    </a:lnTo>
                  </a:path>
                </a:pathLst>
              </a:custGeom>
              <a:noFill/>
              <a:ln w="11160">
                <a:solidFill>
                  <a:srgbClr val="EB75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74" name="Line 7"/>
              <p:cNvSpPr>
                <a:spLocks noChangeShapeType="1"/>
              </p:cNvSpPr>
              <p:nvPr/>
            </p:nvSpPr>
            <p:spPr bwMode="auto">
              <a:xfrm>
                <a:off x="2456" y="1465"/>
                <a:ext cx="1696" cy="1"/>
              </a:xfrm>
              <a:prstGeom prst="line">
                <a:avLst/>
              </a:prstGeom>
              <a:noFill/>
              <a:ln w="11160">
                <a:solidFill>
                  <a:srgbClr val="EB75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75" name="Freeform 8"/>
              <p:cNvSpPr>
                <a:spLocks noChangeArrowheads="1"/>
              </p:cNvSpPr>
              <p:nvPr/>
            </p:nvSpPr>
            <p:spPr bwMode="auto">
              <a:xfrm>
                <a:off x="2461" y="1903"/>
                <a:ext cx="1127" cy="488"/>
              </a:xfrm>
              <a:custGeom>
                <a:avLst/>
                <a:gdLst>
                  <a:gd name="T0" fmla="*/ 0 w 1127"/>
                  <a:gd name="T1" fmla="*/ 0 h 488"/>
                  <a:gd name="T2" fmla="*/ 1127 w 1127"/>
                  <a:gd name="T3" fmla="*/ 0 h 488"/>
                  <a:gd name="T4" fmla="*/ 1127 w 1127"/>
                  <a:gd name="T5" fmla="*/ 488 h 488"/>
                  <a:gd name="T6" fmla="*/ 0 60000 65536"/>
                  <a:gd name="T7" fmla="*/ 0 60000 65536"/>
                  <a:gd name="T8" fmla="*/ 0 60000 65536"/>
                  <a:gd name="T9" fmla="*/ 0 w 1127"/>
                  <a:gd name="T10" fmla="*/ 0 h 488"/>
                  <a:gd name="T11" fmla="*/ 1127 w 1127"/>
                  <a:gd name="T12" fmla="*/ 488 h 4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27" h="488">
                    <a:moveTo>
                      <a:pt x="0" y="0"/>
                    </a:moveTo>
                    <a:lnTo>
                      <a:pt x="1127" y="0"/>
                    </a:lnTo>
                    <a:lnTo>
                      <a:pt x="1127" y="488"/>
                    </a:lnTo>
                  </a:path>
                </a:pathLst>
              </a:custGeom>
              <a:noFill/>
              <a:ln w="11160">
                <a:solidFill>
                  <a:srgbClr val="EB75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76" name="Freeform 9"/>
              <p:cNvSpPr>
                <a:spLocks noChangeArrowheads="1"/>
              </p:cNvSpPr>
              <p:nvPr/>
            </p:nvSpPr>
            <p:spPr bwMode="auto">
              <a:xfrm>
                <a:off x="2494" y="1640"/>
                <a:ext cx="2731" cy="782"/>
              </a:xfrm>
              <a:custGeom>
                <a:avLst/>
                <a:gdLst>
                  <a:gd name="T0" fmla="*/ 0 w 2731"/>
                  <a:gd name="T1" fmla="*/ 0 h 782"/>
                  <a:gd name="T2" fmla="*/ 2731 w 2731"/>
                  <a:gd name="T3" fmla="*/ 0 h 782"/>
                  <a:gd name="T4" fmla="*/ 2731 w 2731"/>
                  <a:gd name="T5" fmla="*/ 782 h 782"/>
                  <a:gd name="T6" fmla="*/ 0 60000 65536"/>
                  <a:gd name="T7" fmla="*/ 0 60000 65536"/>
                  <a:gd name="T8" fmla="*/ 0 60000 65536"/>
                  <a:gd name="T9" fmla="*/ 0 w 2731"/>
                  <a:gd name="T10" fmla="*/ 0 h 782"/>
                  <a:gd name="T11" fmla="*/ 2731 w 2731"/>
                  <a:gd name="T12" fmla="*/ 782 h 7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1" h="782">
                    <a:moveTo>
                      <a:pt x="0" y="0"/>
                    </a:moveTo>
                    <a:lnTo>
                      <a:pt x="2731" y="0"/>
                    </a:lnTo>
                    <a:lnTo>
                      <a:pt x="2731" y="782"/>
                    </a:lnTo>
                  </a:path>
                </a:pathLst>
              </a:custGeom>
              <a:noFill/>
              <a:ln w="11160">
                <a:solidFill>
                  <a:srgbClr val="EB75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77" name="Freeform 10"/>
              <p:cNvSpPr>
                <a:spLocks noChangeArrowheads="1"/>
              </p:cNvSpPr>
              <p:nvPr/>
            </p:nvSpPr>
            <p:spPr bwMode="auto">
              <a:xfrm>
                <a:off x="2478" y="1553"/>
                <a:ext cx="2931" cy="1463"/>
              </a:xfrm>
              <a:custGeom>
                <a:avLst/>
                <a:gdLst>
                  <a:gd name="T0" fmla="*/ 0 w 2931"/>
                  <a:gd name="T1" fmla="*/ 0 h 1463"/>
                  <a:gd name="T2" fmla="*/ 2931 w 2931"/>
                  <a:gd name="T3" fmla="*/ 0 h 1463"/>
                  <a:gd name="T4" fmla="*/ 2931 w 2931"/>
                  <a:gd name="T5" fmla="*/ 1463 h 1463"/>
                  <a:gd name="T6" fmla="*/ 2233 w 2931"/>
                  <a:gd name="T7" fmla="*/ 1463 h 1463"/>
                  <a:gd name="T8" fmla="*/ 2233 w 2931"/>
                  <a:gd name="T9" fmla="*/ 1375 h 14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31"/>
                  <a:gd name="T16" fmla="*/ 0 h 1463"/>
                  <a:gd name="T17" fmla="*/ 2931 w 2931"/>
                  <a:gd name="T18" fmla="*/ 1463 h 14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31" h="1463">
                    <a:moveTo>
                      <a:pt x="0" y="0"/>
                    </a:moveTo>
                    <a:lnTo>
                      <a:pt x="2931" y="0"/>
                    </a:lnTo>
                    <a:lnTo>
                      <a:pt x="2931" y="1463"/>
                    </a:lnTo>
                    <a:lnTo>
                      <a:pt x="2233" y="1463"/>
                    </a:lnTo>
                    <a:lnTo>
                      <a:pt x="2233" y="1375"/>
                    </a:lnTo>
                  </a:path>
                </a:pathLst>
              </a:custGeom>
              <a:noFill/>
              <a:ln w="11160">
                <a:solidFill>
                  <a:srgbClr val="EB75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78" name="Freeform 11"/>
              <p:cNvSpPr>
                <a:spLocks noChangeArrowheads="1"/>
              </p:cNvSpPr>
              <p:nvPr/>
            </p:nvSpPr>
            <p:spPr bwMode="auto">
              <a:xfrm>
                <a:off x="1568" y="1233"/>
                <a:ext cx="929" cy="1551"/>
              </a:xfrm>
              <a:custGeom>
                <a:avLst/>
                <a:gdLst>
                  <a:gd name="T0" fmla="*/ 829 w 929"/>
                  <a:gd name="T1" fmla="*/ 144 h 1551"/>
                  <a:gd name="T2" fmla="*/ 929 w 929"/>
                  <a:gd name="T3" fmla="*/ 144 h 1551"/>
                  <a:gd name="T4" fmla="*/ 929 w 929"/>
                  <a:gd name="T5" fmla="*/ 0 h 1551"/>
                  <a:gd name="T6" fmla="*/ 0 w 929"/>
                  <a:gd name="T7" fmla="*/ 0 h 1551"/>
                  <a:gd name="T8" fmla="*/ 0 w 929"/>
                  <a:gd name="T9" fmla="*/ 1551 h 1551"/>
                  <a:gd name="T10" fmla="*/ 730 w 929"/>
                  <a:gd name="T11" fmla="*/ 1551 h 1551"/>
                  <a:gd name="T12" fmla="*/ 730 w 929"/>
                  <a:gd name="T13" fmla="*/ 1485 h 155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929"/>
                  <a:gd name="T22" fmla="*/ 0 h 1551"/>
                  <a:gd name="T23" fmla="*/ 929 w 929"/>
                  <a:gd name="T24" fmla="*/ 1551 h 155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929" h="1551">
                    <a:moveTo>
                      <a:pt x="829" y="144"/>
                    </a:moveTo>
                    <a:lnTo>
                      <a:pt x="929" y="144"/>
                    </a:lnTo>
                    <a:lnTo>
                      <a:pt x="929" y="0"/>
                    </a:lnTo>
                    <a:lnTo>
                      <a:pt x="0" y="0"/>
                    </a:lnTo>
                    <a:lnTo>
                      <a:pt x="0" y="1551"/>
                    </a:lnTo>
                    <a:lnTo>
                      <a:pt x="730" y="1551"/>
                    </a:lnTo>
                    <a:lnTo>
                      <a:pt x="730" y="1485"/>
                    </a:lnTo>
                  </a:path>
                </a:pathLst>
              </a:custGeom>
              <a:noFill/>
              <a:ln w="11160">
                <a:solidFill>
                  <a:srgbClr val="EB75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79" name="Freeform 12"/>
              <p:cNvSpPr>
                <a:spLocks noChangeArrowheads="1"/>
              </p:cNvSpPr>
              <p:nvPr/>
            </p:nvSpPr>
            <p:spPr bwMode="auto">
              <a:xfrm>
                <a:off x="2499" y="1728"/>
                <a:ext cx="1175" cy="1698"/>
              </a:xfrm>
              <a:custGeom>
                <a:avLst/>
                <a:gdLst>
                  <a:gd name="T0" fmla="*/ 0 w 1175"/>
                  <a:gd name="T1" fmla="*/ 0 h 1698"/>
                  <a:gd name="T2" fmla="*/ 838 w 1175"/>
                  <a:gd name="T3" fmla="*/ 0 h 1698"/>
                  <a:gd name="T4" fmla="*/ 838 w 1175"/>
                  <a:gd name="T5" fmla="*/ 1698 h 1698"/>
                  <a:gd name="T6" fmla="*/ 1175 w 1175"/>
                  <a:gd name="T7" fmla="*/ 1698 h 1698"/>
                  <a:gd name="T8" fmla="*/ 1175 w 1175"/>
                  <a:gd name="T9" fmla="*/ 1610 h 169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5"/>
                  <a:gd name="T16" fmla="*/ 0 h 1698"/>
                  <a:gd name="T17" fmla="*/ 1175 w 1175"/>
                  <a:gd name="T18" fmla="*/ 1698 h 169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5" h="1698">
                    <a:moveTo>
                      <a:pt x="0" y="0"/>
                    </a:moveTo>
                    <a:lnTo>
                      <a:pt x="838" y="0"/>
                    </a:lnTo>
                    <a:lnTo>
                      <a:pt x="838" y="1698"/>
                    </a:lnTo>
                    <a:lnTo>
                      <a:pt x="1175" y="1698"/>
                    </a:lnTo>
                    <a:lnTo>
                      <a:pt x="1175" y="1610"/>
                    </a:lnTo>
                  </a:path>
                </a:pathLst>
              </a:custGeom>
              <a:noFill/>
              <a:ln w="19080">
                <a:solidFill>
                  <a:srgbClr val="EB75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80" name="Freeform 13"/>
              <p:cNvSpPr>
                <a:spLocks noChangeArrowheads="1"/>
              </p:cNvSpPr>
              <p:nvPr/>
            </p:nvSpPr>
            <p:spPr bwMode="auto">
              <a:xfrm>
                <a:off x="2407" y="1991"/>
                <a:ext cx="450" cy="66"/>
              </a:xfrm>
              <a:custGeom>
                <a:avLst/>
                <a:gdLst>
                  <a:gd name="T0" fmla="*/ 0 w 450"/>
                  <a:gd name="T1" fmla="*/ 0 h 66"/>
                  <a:gd name="T2" fmla="*/ 450 w 450"/>
                  <a:gd name="T3" fmla="*/ 0 h 66"/>
                  <a:gd name="T4" fmla="*/ 450 w 450"/>
                  <a:gd name="T5" fmla="*/ 66 h 66"/>
                  <a:gd name="T6" fmla="*/ 0 60000 65536"/>
                  <a:gd name="T7" fmla="*/ 0 60000 65536"/>
                  <a:gd name="T8" fmla="*/ 0 60000 65536"/>
                  <a:gd name="T9" fmla="*/ 0 w 450"/>
                  <a:gd name="T10" fmla="*/ 0 h 66"/>
                  <a:gd name="T11" fmla="*/ 450 w 450"/>
                  <a:gd name="T12" fmla="*/ 66 h 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0" h="66">
                    <a:moveTo>
                      <a:pt x="0" y="0"/>
                    </a:moveTo>
                    <a:lnTo>
                      <a:pt x="450" y="0"/>
                    </a:lnTo>
                    <a:lnTo>
                      <a:pt x="450" y="66"/>
                    </a:lnTo>
                  </a:path>
                </a:pathLst>
              </a:custGeom>
              <a:noFill/>
              <a:ln w="11160">
                <a:solidFill>
                  <a:srgbClr val="EB75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81" name="Line 14"/>
              <p:cNvSpPr>
                <a:spLocks noChangeShapeType="1"/>
              </p:cNvSpPr>
              <p:nvPr/>
            </p:nvSpPr>
            <p:spPr bwMode="auto">
              <a:xfrm flipH="1">
                <a:off x="1634" y="2661"/>
                <a:ext cx="589" cy="2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82" name="Line 15"/>
              <p:cNvSpPr>
                <a:spLocks noChangeShapeType="1"/>
              </p:cNvSpPr>
              <p:nvPr/>
            </p:nvSpPr>
            <p:spPr bwMode="auto">
              <a:xfrm>
                <a:off x="2461" y="3018"/>
                <a:ext cx="476" cy="1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83" name="Freeform 16"/>
              <p:cNvSpPr>
                <a:spLocks noChangeArrowheads="1"/>
              </p:cNvSpPr>
              <p:nvPr/>
            </p:nvSpPr>
            <p:spPr bwMode="auto">
              <a:xfrm>
                <a:off x="2111" y="2313"/>
                <a:ext cx="111" cy="87"/>
              </a:xfrm>
              <a:custGeom>
                <a:avLst/>
                <a:gdLst>
                  <a:gd name="T0" fmla="*/ 111 w 111"/>
                  <a:gd name="T1" fmla="*/ 85 h 87"/>
                  <a:gd name="T2" fmla="*/ 0 w 111"/>
                  <a:gd name="T3" fmla="*/ 87 h 87"/>
                  <a:gd name="T4" fmla="*/ 0 w 111"/>
                  <a:gd name="T5" fmla="*/ 0 h 87"/>
                  <a:gd name="T6" fmla="*/ 0 60000 65536"/>
                  <a:gd name="T7" fmla="*/ 0 60000 65536"/>
                  <a:gd name="T8" fmla="*/ 0 60000 65536"/>
                  <a:gd name="T9" fmla="*/ 0 w 111"/>
                  <a:gd name="T10" fmla="*/ 0 h 87"/>
                  <a:gd name="T11" fmla="*/ 111 w 111"/>
                  <a:gd name="T12" fmla="*/ 87 h 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1" h="87">
                    <a:moveTo>
                      <a:pt x="111" y="85"/>
                    </a:moveTo>
                    <a:lnTo>
                      <a:pt x="0" y="87"/>
                    </a:lnTo>
                    <a:lnTo>
                      <a:pt x="0" y="0"/>
                    </a:ln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84" name="Freeform 17"/>
              <p:cNvSpPr>
                <a:spLocks noChangeArrowheads="1"/>
              </p:cNvSpPr>
              <p:nvPr/>
            </p:nvSpPr>
            <p:spPr bwMode="auto">
              <a:xfrm>
                <a:off x="3783" y="2647"/>
                <a:ext cx="87" cy="459"/>
              </a:xfrm>
              <a:custGeom>
                <a:avLst/>
                <a:gdLst>
                  <a:gd name="T0" fmla="*/ 87 w 87"/>
                  <a:gd name="T1" fmla="*/ 0 h 459"/>
                  <a:gd name="T2" fmla="*/ 87 w 87"/>
                  <a:gd name="T3" fmla="*/ 459 h 459"/>
                  <a:gd name="T4" fmla="*/ 0 w 87"/>
                  <a:gd name="T5" fmla="*/ 459 h 459"/>
                  <a:gd name="T6" fmla="*/ 0 60000 65536"/>
                  <a:gd name="T7" fmla="*/ 0 60000 65536"/>
                  <a:gd name="T8" fmla="*/ 0 60000 65536"/>
                  <a:gd name="T9" fmla="*/ 0 w 87"/>
                  <a:gd name="T10" fmla="*/ 0 h 459"/>
                  <a:gd name="T11" fmla="*/ 87 w 87"/>
                  <a:gd name="T12" fmla="*/ 459 h 4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7" h="459">
                    <a:moveTo>
                      <a:pt x="87" y="0"/>
                    </a:moveTo>
                    <a:lnTo>
                      <a:pt x="87" y="459"/>
                    </a:lnTo>
                    <a:lnTo>
                      <a:pt x="0" y="459"/>
                    </a:lnTo>
                  </a:path>
                </a:pathLst>
              </a:custGeom>
              <a:noFill/>
              <a:ln w="19080">
                <a:solidFill>
                  <a:srgbClr val="EB75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85" name="Freeform 18"/>
              <p:cNvSpPr>
                <a:spLocks noChangeArrowheads="1"/>
              </p:cNvSpPr>
              <p:nvPr/>
            </p:nvSpPr>
            <p:spPr bwMode="auto">
              <a:xfrm>
                <a:off x="4140" y="1465"/>
                <a:ext cx="178" cy="860"/>
              </a:xfrm>
              <a:custGeom>
                <a:avLst/>
                <a:gdLst>
                  <a:gd name="T0" fmla="*/ 0 w 178"/>
                  <a:gd name="T1" fmla="*/ 860 h 860"/>
                  <a:gd name="T2" fmla="*/ 88 w 178"/>
                  <a:gd name="T3" fmla="*/ 860 h 860"/>
                  <a:gd name="T4" fmla="*/ 88 w 178"/>
                  <a:gd name="T5" fmla="*/ 0 h 860"/>
                  <a:gd name="T6" fmla="*/ 178 w 178"/>
                  <a:gd name="T7" fmla="*/ 0 h 8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78"/>
                  <a:gd name="T13" fmla="*/ 0 h 860"/>
                  <a:gd name="T14" fmla="*/ 178 w 178"/>
                  <a:gd name="T15" fmla="*/ 860 h 8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78" h="860">
                    <a:moveTo>
                      <a:pt x="0" y="860"/>
                    </a:moveTo>
                    <a:lnTo>
                      <a:pt x="88" y="860"/>
                    </a:lnTo>
                    <a:lnTo>
                      <a:pt x="88" y="0"/>
                    </a:lnTo>
                    <a:lnTo>
                      <a:pt x="178" y="0"/>
                    </a:lnTo>
                  </a:path>
                </a:pathLst>
              </a:custGeom>
              <a:noFill/>
              <a:ln w="11160">
                <a:solidFill>
                  <a:srgbClr val="EB75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86" name="Freeform 19"/>
              <p:cNvSpPr>
                <a:spLocks noChangeArrowheads="1"/>
              </p:cNvSpPr>
              <p:nvPr/>
            </p:nvSpPr>
            <p:spPr bwMode="auto">
              <a:xfrm>
                <a:off x="4150" y="1368"/>
                <a:ext cx="168" cy="97"/>
              </a:xfrm>
              <a:custGeom>
                <a:avLst/>
                <a:gdLst>
                  <a:gd name="T0" fmla="*/ 0 w 168"/>
                  <a:gd name="T1" fmla="*/ 97 h 97"/>
                  <a:gd name="T2" fmla="*/ 2 w 168"/>
                  <a:gd name="T3" fmla="*/ 0 h 97"/>
                  <a:gd name="T4" fmla="*/ 168 w 168"/>
                  <a:gd name="T5" fmla="*/ 0 h 97"/>
                  <a:gd name="T6" fmla="*/ 0 60000 65536"/>
                  <a:gd name="T7" fmla="*/ 0 60000 65536"/>
                  <a:gd name="T8" fmla="*/ 0 60000 65536"/>
                  <a:gd name="T9" fmla="*/ 0 w 168"/>
                  <a:gd name="T10" fmla="*/ 0 h 97"/>
                  <a:gd name="T11" fmla="*/ 168 w 168"/>
                  <a:gd name="T12" fmla="*/ 97 h 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8" h="97">
                    <a:moveTo>
                      <a:pt x="0" y="97"/>
                    </a:moveTo>
                    <a:lnTo>
                      <a:pt x="2" y="0"/>
                    </a:lnTo>
                    <a:lnTo>
                      <a:pt x="168" y="0"/>
                    </a:lnTo>
                  </a:path>
                </a:pathLst>
              </a:custGeom>
              <a:noFill/>
              <a:ln w="11160">
                <a:solidFill>
                  <a:srgbClr val="EB75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87" name="Freeform 20"/>
              <p:cNvSpPr>
                <a:spLocks noChangeArrowheads="1"/>
              </p:cNvSpPr>
              <p:nvPr/>
            </p:nvSpPr>
            <p:spPr bwMode="auto">
              <a:xfrm>
                <a:off x="4500" y="1174"/>
                <a:ext cx="133" cy="244"/>
              </a:xfrm>
              <a:custGeom>
                <a:avLst/>
                <a:gdLst>
                  <a:gd name="T0" fmla="*/ 130 w 133"/>
                  <a:gd name="T1" fmla="*/ 0 h 244"/>
                  <a:gd name="T2" fmla="*/ 133 w 133"/>
                  <a:gd name="T3" fmla="*/ 244 h 244"/>
                  <a:gd name="T4" fmla="*/ 0 w 133"/>
                  <a:gd name="T5" fmla="*/ 244 h 244"/>
                  <a:gd name="T6" fmla="*/ 0 60000 65536"/>
                  <a:gd name="T7" fmla="*/ 0 60000 65536"/>
                  <a:gd name="T8" fmla="*/ 0 60000 65536"/>
                  <a:gd name="T9" fmla="*/ 0 w 133"/>
                  <a:gd name="T10" fmla="*/ 0 h 244"/>
                  <a:gd name="T11" fmla="*/ 133 w 133"/>
                  <a:gd name="T12" fmla="*/ 244 h 2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3" h="244">
                    <a:moveTo>
                      <a:pt x="130" y="0"/>
                    </a:moveTo>
                    <a:lnTo>
                      <a:pt x="133" y="244"/>
                    </a:lnTo>
                    <a:lnTo>
                      <a:pt x="0" y="244"/>
                    </a:lnTo>
                  </a:path>
                </a:pathLst>
              </a:custGeom>
              <a:noFill/>
              <a:ln w="11160">
                <a:solidFill>
                  <a:srgbClr val="EB75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88" name="Freeform 21"/>
              <p:cNvSpPr>
                <a:spLocks noChangeArrowheads="1"/>
              </p:cNvSpPr>
              <p:nvPr/>
            </p:nvSpPr>
            <p:spPr bwMode="auto">
              <a:xfrm>
                <a:off x="4315" y="1342"/>
                <a:ext cx="185" cy="151"/>
              </a:xfrm>
              <a:custGeom>
                <a:avLst/>
                <a:gdLst>
                  <a:gd name="T0" fmla="*/ 109 w 185"/>
                  <a:gd name="T1" fmla="*/ 151 h 151"/>
                  <a:gd name="T2" fmla="*/ 124 w 185"/>
                  <a:gd name="T3" fmla="*/ 151 h 151"/>
                  <a:gd name="T4" fmla="*/ 135 w 185"/>
                  <a:gd name="T5" fmla="*/ 147 h 151"/>
                  <a:gd name="T6" fmla="*/ 145 w 185"/>
                  <a:gd name="T7" fmla="*/ 144 h 151"/>
                  <a:gd name="T8" fmla="*/ 154 w 185"/>
                  <a:gd name="T9" fmla="*/ 137 h 151"/>
                  <a:gd name="T10" fmla="*/ 164 w 185"/>
                  <a:gd name="T11" fmla="*/ 130 h 151"/>
                  <a:gd name="T12" fmla="*/ 171 w 185"/>
                  <a:gd name="T13" fmla="*/ 121 h 151"/>
                  <a:gd name="T14" fmla="*/ 178 w 185"/>
                  <a:gd name="T15" fmla="*/ 111 h 151"/>
                  <a:gd name="T16" fmla="*/ 183 w 185"/>
                  <a:gd name="T17" fmla="*/ 99 h 151"/>
                  <a:gd name="T18" fmla="*/ 185 w 185"/>
                  <a:gd name="T19" fmla="*/ 87 h 151"/>
                  <a:gd name="T20" fmla="*/ 185 w 185"/>
                  <a:gd name="T21" fmla="*/ 76 h 151"/>
                  <a:gd name="T22" fmla="*/ 185 w 185"/>
                  <a:gd name="T23" fmla="*/ 64 h 151"/>
                  <a:gd name="T24" fmla="*/ 183 w 185"/>
                  <a:gd name="T25" fmla="*/ 52 h 151"/>
                  <a:gd name="T26" fmla="*/ 178 w 185"/>
                  <a:gd name="T27" fmla="*/ 40 h 151"/>
                  <a:gd name="T28" fmla="*/ 171 w 185"/>
                  <a:gd name="T29" fmla="*/ 31 h 151"/>
                  <a:gd name="T30" fmla="*/ 164 w 185"/>
                  <a:gd name="T31" fmla="*/ 21 h 151"/>
                  <a:gd name="T32" fmla="*/ 154 w 185"/>
                  <a:gd name="T33" fmla="*/ 14 h 151"/>
                  <a:gd name="T34" fmla="*/ 145 w 185"/>
                  <a:gd name="T35" fmla="*/ 7 h 151"/>
                  <a:gd name="T36" fmla="*/ 135 w 185"/>
                  <a:gd name="T37" fmla="*/ 2 h 151"/>
                  <a:gd name="T38" fmla="*/ 124 w 185"/>
                  <a:gd name="T39" fmla="*/ 0 h 151"/>
                  <a:gd name="T40" fmla="*/ 112 w 185"/>
                  <a:gd name="T41" fmla="*/ 0 h 151"/>
                  <a:gd name="T42" fmla="*/ 0 w 185"/>
                  <a:gd name="T43" fmla="*/ 0 h 151"/>
                  <a:gd name="T44" fmla="*/ 0 w 185"/>
                  <a:gd name="T45" fmla="*/ 151 h 151"/>
                  <a:gd name="T46" fmla="*/ 112 w 185"/>
                  <a:gd name="T47" fmla="*/ 151 h 151"/>
                  <a:gd name="T48" fmla="*/ 112 w 185"/>
                  <a:gd name="T49" fmla="*/ 151 h 151"/>
                  <a:gd name="T50" fmla="*/ 109 w 185"/>
                  <a:gd name="T51" fmla="*/ 151 h 151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185"/>
                  <a:gd name="T79" fmla="*/ 0 h 151"/>
                  <a:gd name="T80" fmla="*/ 185 w 185"/>
                  <a:gd name="T81" fmla="*/ 151 h 151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185" h="151">
                    <a:moveTo>
                      <a:pt x="109" y="151"/>
                    </a:moveTo>
                    <a:lnTo>
                      <a:pt x="124" y="151"/>
                    </a:lnTo>
                    <a:lnTo>
                      <a:pt x="135" y="147"/>
                    </a:lnTo>
                    <a:lnTo>
                      <a:pt x="145" y="144"/>
                    </a:lnTo>
                    <a:lnTo>
                      <a:pt x="154" y="137"/>
                    </a:lnTo>
                    <a:lnTo>
                      <a:pt x="164" y="130"/>
                    </a:lnTo>
                    <a:lnTo>
                      <a:pt x="171" y="121"/>
                    </a:lnTo>
                    <a:lnTo>
                      <a:pt x="178" y="111"/>
                    </a:lnTo>
                    <a:lnTo>
                      <a:pt x="183" y="99"/>
                    </a:lnTo>
                    <a:lnTo>
                      <a:pt x="185" y="87"/>
                    </a:lnTo>
                    <a:lnTo>
                      <a:pt x="185" y="76"/>
                    </a:lnTo>
                    <a:lnTo>
                      <a:pt x="185" y="64"/>
                    </a:lnTo>
                    <a:lnTo>
                      <a:pt x="183" y="52"/>
                    </a:lnTo>
                    <a:lnTo>
                      <a:pt x="178" y="40"/>
                    </a:lnTo>
                    <a:lnTo>
                      <a:pt x="171" y="31"/>
                    </a:lnTo>
                    <a:lnTo>
                      <a:pt x="164" y="21"/>
                    </a:lnTo>
                    <a:lnTo>
                      <a:pt x="154" y="14"/>
                    </a:lnTo>
                    <a:lnTo>
                      <a:pt x="145" y="7"/>
                    </a:lnTo>
                    <a:lnTo>
                      <a:pt x="135" y="2"/>
                    </a:lnTo>
                    <a:lnTo>
                      <a:pt x="124" y="0"/>
                    </a:lnTo>
                    <a:lnTo>
                      <a:pt x="112" y="0"/>
                    </a:lnTo>
                    <a:lnTo>
                      <a:pt x="0" y="0"/>
                    </a:lnTo>
                    <a:lnTo>
                      <a:pt x="0" y="151"/>
                    </a:lnTo>
                    <a:lnTo>
                      <a:pt x="112" y="151"/>
                    </a:lnTo>
                    <a:lnTo>
                      <a:pt x="109" y="15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89" name="Freeform 22"/>
              <p:cNvSpPr>
                <a:spLocks noChangeArrowheads="1"/>
              </p:cNvSpPr>
              <p:nvPr/>
            </p:nvSpPr>
            <p:spPr bwMode="auto">
              <a:xfrm>
                <a:off x="4315" y="1342"/>
                <a:ext cx="185" cy="151"/>
              </a:xfrm>
              <a:custGeom>
                <a:avLst/>
                <a:gdLst>
                  <a:gd name="T0" fmla="*/ 109 w 185"/>
                  <a:gd name="T1" fmla="*/ 151 h 151"/>
                  <a:gd name="T2" fmla="*/ 124 w 185"/>
                  <a:gd name="T3" fmla="*/ 151 h 151"/>
                  <a:gd name="T4" fmla="*/ 135 w 185"/>
                  <a:gd name="T5" fmla="*/ 147 h 151"/>
                  <a:gd name="T6" fmla="*/ 145 w 185"/>
                  <a:gd name="T7" fmla="*/ 144 h 151"/>
                  <a:gd name="T8" fmla="*/ 154 w 185"/>
                  <a:gd name="T9" fmla="*/ 137 h 151"/>
                  <a:gd name="T10" fmla="*/ 164 w 185"/>
                  <a:gd name="T11" fmla="*/ 130 h 151"/>
                  <a:gd name="T12" fmla="*/ 171 w 185"/>
                  <a:gd name="T13" fmla="*/ 121 h 151"/>
                  <a:gd name="T14" fmla="*/ 178 w 185"/>
                  <a:gd name="T15" fmla="*/ 111 h 151"/>
                  <a:gd name="T16" fmla="*/ 183 w 185"/>
                  <a:gd name="T17" fmla="*/ 99 h 151"/>
                  <a:gd name="T18" fmla="*/ 185 w 185"/>
                  <a:gd name="T19" fmla="*/ 87 h 151"/>
                  <a:gd name="T20" fmla="*/ 185 w 185"/>
                  <a:gd name="T21" fmla="*/ 76 h 151"/>
                  <a:gd name="T22" fmla="*/ 185 w 185"/>
                  <a:gd name="T23" fmla="*/ 64 h 151"/>
                  <a:gd name="T24" fmla="*/ 183 w 185"/>
                  <a:gd name="T25" fmla="*/ 52 h 151"/>
                  <a:gd name="T26" fmla="*/ 178 w 185"/>
                  <a:gd name="T27" fmla="*/ 40 h 151"/>
                  <a:gd name="T28" fmla="*/ 171 w 185"/>
                  <a:gd name="T29" fmla="*/ 31 h 151"/>
                  <a:gd name="T30" fmla="*/ 164 w 185"/>
                  <a:gd name="T31" fmla="*/ 21 h 151"/>
                  <a:gd name="T32" fmla="*/ 154 w 185"/>
                  <a:gd name="T33" fmla="*/ 14 h 151"/>
                  <a:gd name="T34" fmla="*/ 145 w 185"/>
                  <a:gd name="T35" fmla="*/ 7 h 151"/>
                  <a:gd name="T36" fmla="*/ 135 w 185"/>
                  <a:gd name="T37" fmla="*/ 2 h 151"/>
                  <a:gd name="T38" fmla="*/ 124 w 185"/>
                  <a:gd name="T39" fmla="*/ 0 h 151"/>
                  <a:gd name="T40" fmla="*/ 112 w 185"/>
                  <a:gd name="T41" fmla="*/ 0 h 151"/>
                  <a:gd name="T42" fmla="*/ 0 w 185"/>
                  <a:gd name="T43" fmla="*/ 0 h 151"/>
                  <a:gd name="T44" fmla="*/ 0 w 185"/>
                  <a:gd name="T45" fmla="*/ 151 h 151"/>
                  <a:gd name="T46" fmla="*/ 112 w 185"/>
                  <a:gd name="T47" fmla="*/ 151 h 151"/>
                  <a:gd name="T48" fmla="*/ 112 w 185"/>
                  <a:gd name="T49" fmla="*/ 151 h 15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85"/>
                  <a:gd name="T76" fmla="*/ 0 h 151"/>
                  <a:gd name="T77" fmla="*/ 185 w 185"/>
                  <a:gd name="T78" fmla="*/ 151 h 15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85" h="151">
                    <a:moveTo>
                      <a:pt x="109" y="151"/>
                    </a:moveTo>
                    <a:lnTo>
                      <a:pt x="124" y="151"/>
                    </a:lnTo>
                    <a:lnTo>
                      <a:pt x="135" y="147"/>
                    </a:lnTo>
                    <a:lnTo>
                      <a:pt x="145" y="144"/>
                    </a:lnTo>
                    <a:lnTo>
                      <a:pt x="154" y="137"/>
                    </a:lnTo>
                    <a:lnTo>
                      <a:pt x="164" y="130"/>
                    </a:lnTo>
                    <a:lnTo>
                      <a:pt x="171" y="121"/>
                    </a:lnTo>
                    <a:lnTo>
                      <a:pt x="178" y="111"/>
                    </a:lnTo>
                    <a:lnTo>
                      <a:pt x="183" y="99"/>
                    </a:lnTo>
                    <a:lnTo>
                      <a:pt x="185" y="87"/>
                    </a:lnTo>
                    <a:lnTo>
                      <a:pt x="185" y="76"/>
                    </a:lnTo>
                    <a:lnTo>
                      <a:pt x="185" y="64"/>
                    </a:lnTo>
                    <a:lnTo>
                      <a:pt x="183" y="52"/>
                    </a:lnTo>
                    <a:lnTo>
                      <a:pt x="178" y="40"/>
                    </a:lnTo>
                    <a:lnTo>
                      <a:pt x="171" y="31"/>
                    </a:lnTo>
                    <a:lnTo>
                      <a:pt x="164" y="21"/>
                    </a:lnTo>
                    <a:lnTo>
                      <a:pt x="154" y="14"/>
                    </a:lnTo>
                    <a:lnTo>
                      <a:pt x="145" y="7"/>
                    </a:lnTo>
                    <a:lnTo>
                      <a:pt x="135" y="2"/>
                    </a:lnTo>
                    <a:lnTo>
                      <a:pt x="124" y="0"/>
                    </a:lnTo>
                    <a:lnTo>
                      <a:pt x="112" y="0"/>
                    </a:lnTo>
                    <a:lnTo>
                      <a:pt x="0" y="0"/>
                    </a:lnTo>
                    <a:lnTo>
                      <a:pt x="0" y="151"/>
                    </a:lnTo>
                    <a:lnTo>
                      <a:pt x="112" y="151"/>
                    </a:lnTo>
                  </a:path>
                </a:pathLst>
              </a:custGeom>
              <a:noFill/>
              <a:ln w="11160">
                <a:solidFill>
                  <a:srgbClr val="EB75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90" name="Freeform 23"/>
              <p:cNvSpPr>
                <a:spLocks noChangeArrowheads="1"/>
              </p:cNvSpPr>
              <p:nvPr/>
            </p:nvSpPr>
            <p:spPr bwMode="auto">
              <a:xfrm>
                <a:off x="2208" y="2384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0 w 31"/>
                  <a:gd name="T3" fmla="*/ 31 h 31"/>
                  <a:gd name="T4" fmla="*/ 31 w 31"/>
                  <a:gd name="T5" fmla="*/ 16 h 31"/>
                  <a:gd name="T6" fmla="*/ 0 w 31"/>
                  <a:gd name="T7" fmla="*/ 2 h 31"/>
                  <a:gd name="T8" fmla="*/ 0 w 31"/>
                  <a:gd name="T9" fmla="*/ 2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0" y="31"/>
                    </a:lnTo>
                    <a:lnTo>
                      <a:pt x="31" y="1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91" name="Freeform 24"/>
              <p:cNvSpPr>
                <a:spLocks noChangeArrowheads="1"/>
              </p:cNvSpPr>
              <p:nvPr/>
            </p:nvSpPr>
            <p:spPr bwMode="auto">
              <a:xfrm>
                <a:off x="2208" y="2647"/>
                <a:ext cx="31" cy="30"/>
              </a:xfrm>
              <a:custGeom>
                <a:avLst/>
                <a:gdLst>
                  <a:gd name="T0" fmla="*/ 0 w 31"/>
                  <a:gd name="T1" fmla="*/ 0 h 30"/>
                  <a:gd name="T2" fmla="*/ 0 w 31"/>
                  <a:gd name="T3" fmla="*/ 30 h 30"/>
                  <a:gd name="T4" fmla="*/ 31 w 31"/>
                  <a:gd name="T5" fmla="*/ 16 h 30"/>
                  <a:gd name="T6" fmla="*/ 0 w 31"/>
                  <a:gd name="T7" fmla="*/ 2 h 30"/>
                  <a:gd name="T8" fmla="*/ 0 w 31"/>
                  <a:gd name="T9" fmla="*/ 2 h 30"/>
                  <a:gd name="T10" fmla="*/ 0 w 31"/>
                  <a:gd name="T11" fmla="*/ 0 h 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0"/>
                  <a:gd name="T20" fmla="*/ 31 w 31"/>
                  <a:gd name="T21" fmla="*/ 30 h 3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0">
                    <a:moveTo>
                      <a:pt x="0" y="0"/>
                    </a:moveTo>
                    <a:lnTo>
                      <a:pt x="0" y="30"/>
                    </a:lnTo>
                    <a:lnTo>
                      <a:pt x="31" y="1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92" name="Freeform 25"/>
              <p:cNvSpPr>
                <a:spLocks noChangeArrowheads="1"/>
              </p:cNvSpPr>
              <p:nvPr/>
            </p:nvSpPr>
            <p:spPr bwMode="auto">
              <a:xfrm>
                <a:off x="2492" y="2471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2 w 31"/>
                  <a:gd name="T3" fmla="*/ 31 h 31"/>
                  <a:gd name="T4" fmla="*/ 31 w 31"/>
                  <a:gd name="T5" fmla="*/ 17 h 31"/>
                  <a:gd name="T6" fmla="*/ 2 w 31"/>
                  <a:gd name="T7" fmla="*/ 3 h 31"/>
                  <a:gd name="T8" fmla="*/ 2 w 31"/>
                  <a:gd name="T9" fmla="*/ 3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2" y="31"/>
                    </a:lnTo>
                    <a:lnTo>
                      <a:pt x="31" y="17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93" name="Line 26"/>
              <p:cNvSpPr>
                <a:spLocks noChangeShapeType="1"/>
              </p:cNvSpPr>
              <p:nvPr/>
            </p:nvSpPr>
            <p:spPr bwMode="auto">
              <a:xfrm flipH="1" flipV="1">
                <a:off x="2844" y="2979"/>
                <a:ext cx="44" cy="78"/>
              </a:xfrm>
              <a:prstGeom prst="line">
                <a:avLst/>
              </a:prstGeom>
              <a:noFill/>
              <a:ln w="1116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194" name="Freeform 27"/>
              <p:cNvSpPr>
                <a:spLocks noChangeArrowheads="1"/>
              </p:cNvSpPr>
              <p:nvPr/>
            </p:nvSpPr>
            <p:spPr bwMode="auto">
              <a:xfrm>
                <a:off x="472" y="2029"/>
                <a:ext cx="111" cy="305"/>
              </a:xfrm>
              <a:custGeom>
                <a:avLst/>
                <a:gdLst>
                  <a:gd name="T0" fmla="*/ 109 w 111"/>
                  <a:gd name="T1" fmla="*/ 305 h 305"/>
                  <a:gd name="T2" fmla="*/ 111 w 111"/>
                  <a:gd name="T3" fmla="*/ 0 h 305"/>
                  <a:gd name="T4" fmla="*/ 0 w 111"/>
                  <a:gd name="T5" fmla="*/ 0 h 305"/>
                  <a:gd name="T6" fmla="*/ 0 w 111"/>
                  <a:gd name="T7" fmla="*/ 305 h 305"/>
                  <a:gd name="T8" fmla="*/ 111 w 111"/>
                  <a:gd name="T9" fmla="*/ 305 h 305"/>
                  <a:gd name="T10" fmla="*/ 111 w 111"/>
                  <a:gd name="T11" fmla="*/ 305 h 305"/>
                  <a:gd name="T12" fmla="*/ 109 w 111"/>
                  <a:gd name="T13" fmla="*/ 305 h 30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11"/>
                  <a:gd name="T22" fmla="*/ 0 h 305"/>
                  <a:gd name="T23" fmla="*/ 111 w 111"/>
                  <a:gd name="T24" fmla="*/ 305 h 305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11" h="305">
                    <a:moveTo>
                      <a:pt x="109" y="305"/>
                    </a:moveTo>
                    <a:lnTo>
                      <a:pt x="111" y="0"/>
                    </a:lnTo>
                    <a:lnTo>
                      <a:pt x="0" y="0"/>
                    </a:lnTo>
                    <a:lnTo>
                      <a:pt x="0" y="305"/>
                    </a:lnTo>
                    <a:lnTo>
                      <a:pt x="111" y="305"/>
                    </a:lnTo>
                    <a:lnTo>
                      <a:pt x="109" y="30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95" name="Freeform 28"/>
              <p:cNvSpPr>
                <a:spLocks noChangeArrowheads="1"/>
              </p:cNvSpPr>
              <p:nvPr/>
            </p:nvSpPr>
            <p:spPr bwMode="auto">
              <a:xfrm>
                <a:off x="472" y="2029"/>
                <a:ext cx="111" cy="305"/>
              </a:xfrm>
              <a:custGeom>
                <a:avLst/>
                <a:gdLst>
                  <a:gd name="T0" fmla="*/ 109 w 111"/>
                  <a:gd name="T1" fmla="*/ 305 h 305"/>
                  <a:gd name="T2" fmla="*/ 111 w 111"/>
                  <a:gd name="T3" fmla="*/ 0 h 305"/>
                  <a:gd name="T4" fmla="*/ 0 w 111"/>
                  <a:gd name="T5" fmla="*/ 0 h 305"/>
                  <a:gd name="T6" fmla="*/ 0 w 111"/>
                  <a:gd name="T7" fmla="*/ 305 h 305"/>
                  <a:gd name="T8" fmla="*/ 111 w 111"/>
                  <a:gd name="T9" fmla="*/ 305 h 305"/>
                  <a:gd name="T10" fmla="*/ 111 w 111"/>
                  <a:gd name="T11" fmla="*/ 305 h 30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11"/>
                  <a:gd name="T19" fmla="*/ 0 h 305"/>
                  <a:gd name="T20" fmla="*/ 111 w 111"/>
                  <a:gd name="T21" fmla="*/ 305 h 30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11" h="305">
                    <a:moveTo>
                      <a:pt x="109" y="305"/>
                    </a:moveTo>
                    <a:lnTo>
                      <a:pt x="111" y="0"/>
                    </a:lnTo>
                    <a:lnTo>
                      <a:pt x="0" y="0"/>
                    </a:lnTo>
                    <a:lnTo>
                      <a:pt x="0" y="305"/>
                    </a:lnTo>
                    <a:lnTo>
                      <a:pt x="111" y="305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96" name="Rectangle 29"/>
              <p:cNvSpPr>
                <a:spLocks noChangeArrowheads="1"/>
              </p:cNvSpPr>
              <p:nvPr/>
            </p:nvSpPr>
            <p:spPr bwMode="auto">
              <a:xfrm>
                <a:off x="488" y="2145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P</a:t>
                </a:r>
              </a:p>
            </p:txBody>
          </p:sp>
          <p:sp>
            <p:nvSpPr>
              <p:cNvPr id="76197" name="Rectangle 30"/>
              <p:cNvSpPr>
                <a:spLocks noChangeArrowheads="1"/>
              </p:cNvSpPr>
              <p:nvPr/>
            </p:nvSpPr>
            <p:spPr bwMode="auto">
              <a:xfrm>
                <a:off x="529" y="2145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76198" name="Freeform 31"/>
              <p:cNvSpPr>
                <a:spLocks noChangeArrowheads="1"/>
              </p:cNvSpPr>
              <p:nvPr/>
            </p:nvSpPr>
            <p:spPr bwMode="auto">
              <a:xfrm>
                <a:off x="780" y="2059"/>
                <a:ext cx="656" cy="685"/>
              </a:xfrm>
              <a:custGeom>
                <a:avLst/>
                <a:gdLst>
                  <a:gd name="T0" fmla="*/ 656 w 656"/>
                  <a:gd name="T1" fmla="*/ 685 h 685"/>
                  <a:gd name="T2" fmla="*/ 656 w 656"/>
                  <a:gd name="T3" fmla="*/ 0 h 685"/>
                  <a:gd name="T4" fmla="*/ 0 w 656"/>
                  <a:gd name="T5" fmla="*/ 0 h 685"/>
                  <a:gd name="T6" fmla="*/ 0 w 656"/>
                  <a:gd name="T7" fmla="*/ 685 h 685"/>
                  <a:gd name="T8" fmla="*/ 656 w 656"/>
                  <a:gd name="T9" fmla="*/ 685 h 685"/>
                  <a:gd name="T10" fmla="*/ 656 w 656"/>
                  <a:gd name="T11" fmla="*/ 685 h 6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56"/>
                  <a:gd name="T19" fmla="*/ 0 h 685"/>
                  <a:gd name="T20" fmla="*/ 656 w 656"/>
                  <a:gd name="T21" fmla="*/ 685 h 68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56" h="685">
                    <a:moveTo>
                      <a:pt x="656" y="685"/>
                    </a:moveTo>
                    <a:lnTo>
                      <a:pt x="656" y="0"/>
                    </a:lnTo>
                    <a:lnTo>
                      <a:pt x="0" y="0"/>
                    </a:lnTo>
                    <a:lnTo>
                      <a:pt x="0" y="685"/>
                    </a:lnTo>
                    <a:lnTo>
                      <a:pt x="656" y="685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99" name="Freeform 32"/>
              <p:cNvSpPr>
                <a:spLocks noChangeArrowheads="1"/>
              </p:cNvSpPr>
              <p:nvPr/>
            </p:nvSpPr>
            <p:spPr bwMode="auto">
              <a:xfrm>
                <a:off x="780" y="2059"/>
                <a:ext cx="656" cy="685"/>
              </a:xfrm>
              <a:custGeom>
                <a:avLst/>
                <a:gdLst>
                  <a:gd name="T0" fmla="*/ 656 w 656"/>
                  <a:gd name="T1" fmla="*/ 685 h 685"/>
                  <a:gd name="T2" fmla="*/ 656 w 656"/>
                  <a:gd name="T3" fmla="*/ 0 h 685"/>
                  <a:gd name="T4" fmla="*/ 0 w 656"/>
                  <a:gd name="T5" fmla="*/ 0 h 685"/>
                  <a:gd name="T6" fmla="*/ 0 w 656"/>
                  <a:gd name="T7" fmla="*/ 685 h 685"/>
                  <a:gd name="T8" fmla="*/ 656 w 656"/>
                  <a:gd name="T9" fmla="*/ 685 h 685"/>
                  <a:gd name="T10" fmla="*/ 656 w 656"/>
                  <a:gd name="T11" fmla="*/ 685 h 68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56"/>
                  <a:gd name="T19" fmla="*/ 0 h 685"/>
                  <a:gd name="T20" fmla="*/ 656 w 656"/>
                  <a:gd name="T21" fmla="*/ 685 h 68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56" h="685">
                    <a:moveTo>
                      <a:pt x="656" y="685"/>
                    </a:moveTo>
                    <a:lnTo>
                      <a:pt x="656" y="0"/>
                    </a:lnTo>
                    <a:lnTo>
                      <a:pt x="0" y="0"/>
                    </a:lnTo>
                    <a:lnTo>
                      <a:pt x="0" y="685"/>
                    </a:lnTo>
                    <a:lnTo>
                      <a:pt x="656" y="685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200" name="Rectangle 33"/>
              <p:cNvSpPr>
                <a:spLocks noChangeArrowheads="1"/>
              </p:cNvSpPr>
              <p:nvPr/>
            </p:nvSpPr>
            <p:spPr bwMode="auto">
              <a:xfrm>
                <a:off x="818" y="2481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201" name="Rectangle 34"/>
              <p:cNvSpPr>
                <a:spLocks noChangeArrowheads="1"/>
              </p:cNvSpPr>
              <p:nvPr/>
            </p:nvSpPr>
            <p:spPr bwMode="auto">
              <a:xfrm>
                <a:off x="834" y="248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6202" name="Rectangle 35"/>
              <p:cNvSpPr>
                <a:spLocks noChangeArrowheads="1"/>
              </p:cNvSpPr>
              <p:nvPr/>
            </p:nvSpPr>
            <p:spPr bwMode="auto">
              <a:xfrm>
                <a:off x="867" y="2481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6203" name="Rectangle 36"/>
              <p:cNvSpPr>
                <a:spLocks noChangeArrowheads="1"/>
              </p:cNvSpPr>
              <p:nvPr/>
            </p:nvSpPr>
            <p:spPr bwMode="auto">
              <a:xfrm>
                <a:off x="896" y="2481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204" name="Rectangle 37"/>
              <p:cNvSpPr>
                <a:spLocks noChangeArrowheads="1"/>
              </p:cNvSpPr>
              <p:nvPr/>
            </p:nvSpPr>
            <p:spPr bwMode="auto">
              <a:xfrm>
                <a:off x="912" y="2481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205" name="Rectangle 38"/>
              <p:cNvSpPr>
                <a:spLocks noChangeArrowheads="1"/>
              </p:cNvSpPr>
              <p:nvPr/>
            </p:nvSpPr>
            <p:spPr bwMode="auto">
              <a:xfrm>
                <a:off x="931" y="248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6206" name="Rectangle 39"/>
              <p:cNvSpPr>
                <a:spLocks noChangeArrowheads="1"/>
              </p:cNvSpPr>
              <p:nvPr/>
            </p:nvSpPr>
            <p:spPr bwMode="auto">
              <a:xfrm>
                <a:off x="964" y="2481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76207" name="Rectangle 40"/>
              <p:cNvSpPr>
                <a:spLocks noChangeArrowheads="1"/>
              </p:cNvSpPr>
              <p:nvPr/>
            </p:nvSpPr>
            <p:spPr bwMode="auto">
              <a:xfrm>
                <a:off x="993" y="2481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208" name="Rectangle 41"/>
              <p:cNvSpPr>
                <a:spLocks noChangeArrowheads="1"/>
              </p:cNvSpPr>
              <p:nvPr/>
            </p:nvSpPr>
            <p:spPr bwMode="auto">
              <a:xfrm>
                <a:off x="1008" y="2481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209" name="Rectangle 42"/>
              <p:cNvSpPr>
                <a:spLocks noChangeArrowheads="1"/>
              </p:cNvSpPr>
              <p:nvPr/>
            </p:nvSpPr>
            <p:spPr bwMode="auto">
              <a:xfrm>
                <a:off x="1024" y="248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76210" name="Rectangle 43"/>
              <p:cNvSpPr>
                <a:spLocks noChangeArrowheads="1"/>
              </p:cNvSpPr>
              <p:nvPr/>
            </p:nvSpPr>
            <p:spPr bwMode="auto">
              <a:xfrm>
                <a:off x="1054" y="248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6211" name="Rectangle 44"/>
              <p:cNvSpPr>
                <a:spLocks noChangeArrowheads="1"/>
              </p:cNvSpPr>
              <p:nvPr/>
            </p:nvSpPr>
            <p:spPr bwMode="auto">
              <a:xfrm>
                <a:off x="1088" y="2481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212" name="Rectangle 45"/>
              <p:cNvSpPr>
                <a:spLocks noChangeArrowheads="1"/>
              </p:cNvSpPr>
              <p:nvPr/>
            </p:nvSpPr>
            <p:spPr bwMode="auto">
              <a:xfrm>
                <a:off x="858" y="2550"/>
                <a:ext cx="4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m</a:t>
                </a:r>
              </a:p>
            </p:txBody>
          </p:sp>
          <p:sp>
            <p:nvSpPr>
              <p:cNvPr id="76213" name="Rectangle 46"/>
              <p:cNvSpPr>
                <a:spLocks noChangeArrowheads="1"/>
              </p:cNvSpPr>
              <p:nvPr/>
            </p:nvSpPr>
            <p:spPr bwMode="auto">
              <a:xfrm>
                <a:off x="905" y="2550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214" name="Rectangle 47"/>
              <p:cNvSpPr>
                <a:spLocks noChangeArrowheads="1"/>
              </p:cNvSpPr>
              <p:nvPr/>
            </p:nvSpPr>
            <p:spPr bwMode="auto">
              <a:xfrm>
                <a:off x="938" y="2550"/>
                <a:ext cx="4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m</a:t>
                </a:r>
              </a:p>
            </p:txBody>
          </p:sp>
          <p:sp>
            <p:nvSpPr>
              <p:cNvPr id="76215" name="Rectangle 48"/>
              <p:cNvSpPr>
                <a:spLocks noChangeArrowheads="1"/>
              </p:cNvSpPr>
              <p:nvPr/>
            </p:nvSpPr>
            <p:spPr bwMode="auto">
              <a:xfrm>
                <a:off x="986" y="2550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76216" name="Rectangle 49"/>
              <p:cNvSpPr>
                <a:spLocks noChangeArrowheads="1"/>
              </p:cNvSpPr>
              <p:nvPr/>
            </p:nvSpPr>
            <p:spPr bwMode="auto">
              <a:xfrm>
                <a:off x="1019" y="2550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217" name="Rectangle 50"/>
              <p:cNvSpPr>
                <a:spLocks noChangeArrowheads="1"/>
              </p:cNvSpPr>
              <p:nvPr/>
            </p:nvSpPr>
            <p:spPr bwMode="auto">
              <a:xfrm>
                <a:off x="1039" y="2550"/>
                <a:ext cx="2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y</a:t>
                </a:r>
              </a:p>
            </p:txBody>
          </p:sp>
          <p:sp>
            <p:nvSpPr>
              <p:cNvPr id="76218" name="Rectangle 51"/>
              <p:cNvSpPr>
                <a:spLocks noChangeArrowheads="1"/>
              </p:cNvSpPr>
              <p:nvPr/>
            </p:nvSpPr>
            <p:spPr bwMode="auto">
              <a:xfrm>
                <a:off x="803" y="2117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219" name="Rectangle 52"/>
              <p:cNvSpPr>
                <a:spLocks noChangeArrowheads="1"/>
              </p:cNvSpPr>
              <p:nvPr/>
            </p:nvSpPr>
            <p:spPr bwMode="auto">
              <a:xfrm>
                <a:off x="846" y="211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220" name="Rectangle 53"/>
              <p:cNvSpPr>
                <a:spLocks noChangeArrowheads="1"/>
              </p:cNvSpPr>
              <p:nvPr/>
            </p:nvSpPr>
            <p:spPr bwMode="auto">
              <a:xfrm>
                <a:off x="879" y="211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221" name="Rectangle 54"/>
              <p:cNvSpPr>
                <a:spLocks noChangeArrowheads="1"/>
              </p:cNvSpPr>
              <p:nvPr/>
            </p:nvSpPr>
            <p:spPr bwMode="auto">
              <a:xfrm>
                <a:off x="912" y="211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6222" name="Rectangle 55"/>
              <p:cNvSpPr>
                <a:spLocks noChangeArrowheads="1"/>
              </p:cNvSpPr>
              <p:nvPr/>
            </p:nvSpPr>
            <p:spPr bwMode="auto">
              <a:xfrm>
                <a:off x="943" y="2117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223" name="Rectangle 56"/>
              <p:cNvSpPr>
                <a:spLocks noChangeArrowheads="1"/>
              </p:cNvSpPr>
              <p:nvPr/>
            </p:nvSpPr>
            <p:spPr bwMode="auto">
              <a:xfrm>
                <a:off x="803" y="217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224" name="Rectangle 57"/>
              <p:cNvSpPr>
                <a:spLocks noChangeArrowheads="1"/>
              </p:cNvSpPr>
              <p:nvPr/>
            </p:nvSpPr>
            <p:spPr bwMode="auto">
              <a:xfrm>
                <a:off x="837" y="217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6225" name="Rectangle 58"/>
              <p:cNvSpPr>
                <a:spLocks noChangeArrowheads="1"/>
              </p:cNvSpPr>
              <p:nvPr/>
            </p:nvSpPr>
            <p:spPr bwMode="auto">
              <a:xfrm>
                <a:off x="870" y="217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6226" name="Rectangle 59"/>
              <p:cNvSpPr>
                <a:spLocks noChangeArrowheads="1"/>
              </p:cNvSpPr>
              <p:nvPr/>
            </p:nvSpPr>
            <p:spPr bwMode="auto">
              <a:xfrm>
                <a:off x="901" y="2176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227" name="Rectangle 60"/>
              <p:cNvSpPr>
                <a:spLocks noChangeArrowheads="1"/>
              </p:cNvSpPr>
              <p:nvPr/>
            </p:nvSpPr>
            <p:spPr bwMode="auto">
              <a:xfrm>
                <a:off x="922" y="217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228" name="Rectangle 61"/>
              <p:cNvSpPr>
                <a:spLocks noChangeArrowheads="1"/>
              </p:cNvSpPr>
              <p:nvPr/>
            </p:nvSpPr>
            <p:spPr bwMode="auto">
              <a:xfrm>
                <a:off x="953" y="2176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6229" name="Rectangle 62"/>
              <p:cNvSpPr>
                <a:spLocks noChangeArrowheads="1"/>
              </p:cNvSpPr>
              <p:nvPr/>
            </p:nvSpPr>
            <p:spPr bwMode="auto">
              <a:xfrm>
                <a:off x="983" y="2176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6230" name="Rectangle 63"/>
              <p:cNvSpPr>
                <a:spLocks noChangeArrowheads="1"/>
              </p:cNvSpPr>
              <p:nvPr/>
            </p:nvSpPr>
            <p:spPr bwMode="auto">
              <a:xfrm>
                <a:off x="1147" y="2337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231" name="Rectangle 64"/>
              <p:cNvSpPr>
                <a:spLocks noChangeArrowheads="1"/>
              </p:cNvSpPr>
              <p:nvPr/>
            </p:nvSpPr>
            <p:spPr bwMode="auto">
              <a:xfrm>
                <a:off x="1163" y="233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6232" name="Rectangle 65"/>
              <p:cNvSpPr>
                <a:spLocks noChangeArrowheads="1"/>
              </p:cNvSpPr>
              <p:nvPr/>
            </p:nvSpPr>
            <p:spPr bwMode="auto">
              <a:xfrm>
                <a:off x="1194" y="2337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6233" name="Rectangle 66"/>
              <p:cNvSpPr>
                <a:spLocks noChangeArrowheads="1"/>
              </p:cNvSpPr>
              <p:nvPr/>
            </p:nvSpPr>
            <p:spPr bwMode="auto">
              <a:xfrm>
                <a:off x="1225" y="2337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234" name="Rectangle 67"/>
              <p:cNvSpPr>
                <a:spLocks noChangeArrowheads="1"/>
              </p:cNvSpPr>
              <p:nvPr/>
            </p:nvSpPr>
            <p:spPr bwMode="auto">
              <a:xfrm>
                <a:off x="1242" y="2337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235" name="Rectangle 68"/>
              <p:cNvSpPr>
                <a:spLocks noChangeArrowheads="1"/>
              </p:cNvSpPr>
              <p:nvPr/>
            </p:nvSpPr>
            <p:spPr bwMode="auto">
              <a:xfrm>
                <a:off x="1261" y="233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6236" name="Rectangle 69"/>
              <p:cNvSpPr>
                <a:spLocks noChangeArrowheads="1"/>
              </p:cNvSpPr>
              <p:nvPr/>
            </p:nvSpPr>
            <p:spPr bwMode="auto">
              <a:xfrm>
                <a:off x="1294" y="2337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76237" name="Rectangle 70"/>
              <p:cNvSpPr>
                <a:spLocks noChangeArrowheads="1"/>
              </p:cNvSpPr>
              <p:nvPr/>
            </p:nvSpPr>
            <p:spPr bwMode="auto">
              <a:xfrm>
                <a:off x="1322" y="2337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238" name="Rectangle 71"/>
              <p:cNvSpPr>
                <a:spLocks noChangeArrowheads="1"/>
              </p:cNvSpPr>
              <p:nvPr/>
            </p:nvSpPr>
            <p:spPr bwMode="auto">
              <a:xfrm>
                <a:off x="1338" y="2337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239" name="Rectangle 72"/>
              <p:cNvSpPr>
                <a:spLocks noChangeArrowheads="1"/>
              </p:cNvSpPr>
              <p:nvPr/>
            </p:nvSpPr>
            <p:spPr bwMode="auto">
              <a:xfrm>
                <a:off x="1350" y="233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76240" name="Rectangle 73"/>
              <p:cNvSpPr>
                <a:spLocks noChangeArrowheads="1"/>
              </p:cNvSpPr>
              <p:nvPr/>
            </p:nvSpPr>
            <p:spPr bwMode="auto">
              <a:xfrm>
                <a:off x="1384" y="233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6241" name="Rectangle 74"/>
              <p:cNvSpPr>
                <a:spLocks noChangeArrowheads="1"/>
              </p:cNvSpPr>
              <p:nvPr/>
            </p:nvSpPr>
            <p:spPr bwMode="auto">
              <a:xfrm>
                <a:off x="1417" y="2337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242" name="Rectangle 75"/>
              <p:cNvSpPr>
                <a:spLocks noChangeArrowheads="1"/>
              </p:cNvSpPr>
              <p:nvPr/>
            </p:nvSpPr>
            <p:spPr bwMode="auto">
              <a:xfrm>
                <a:off x="1246" y="239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[</a:t>
                </a:r>
              </a:p>
            </p:txBody>
          </p:sp>
          <p:sp>
            <p:nvSpPr>
              <p:cNvPr id="76243" name="Rectangle 76"/>
              <p:cNvSpPr>
                <a:spLocks noChangeArrowheads="1"/>
              </p:cNvSpPr>
              <p:nvPr/>
            </p:nvSpPr>
            <p:spPr bwMode="auto">
              <a:xfrm>
                <a:off x="1263" y="239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3</a:t>
                </a:r>
              </a:p>
            </p:txBody>
          </p:sp>
          <p:sp>
            <p:nvSpPr>
              <p:cNvPr id="76244" name="Rectangle 77"/>
              <p:cNvSpPr>
                <a:spLocks noChangeArrowheads="1"/>
              </p:cNvSpPr>
              <p:nvPr/>
            </p:nvSpPr>
            <p:spPr bwMode="auto">
              <a:xfrm>
                <a:off x="1296" y="239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76245" name="Rectangle 78"/>
              <p:cNvSpPr>
                <a:spLocks noChangeArrowheads="1"/>
              </p:cNvSpPr>
              <p:nvPr/>
            </p:nvSpPr>
            <p:spPr bwMode="auto">
              <a:xfrm>
                <a:off x="1329" y="239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–</a:t>
                </a:r>
              </a:p>
            </p:txBody>
          </p:sp>
          <p:sp>
            <p:nvSpPr>
              <p:cNvPr id="76246" name="Rectangle 79"/>
              <p:cNvSpPr>
                <a:spLocks noChangeArrowheads="1"/>
              </p:cNvSpPr>
              <p:nvPr/>
            </p:nvSpPr>
            <p:spPr bwMode="auto">
              <a:xfrm>
                <a:off x="1372" y="239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0</a:t>
                </a:r>
              </a:p>
            </p:txBody>
          </p:sp>
          <p:sp>
            <p:nvSpPr>
              <p:cNvPr id="76247" name="Rectangle 80"/>
              <p:cNvSpPr>
                <a:spLocks noChangeArrowheads="1"/>
              </p:cNvSpPr>
              <p:nvPr/>
            </p:nvSpPr>
            <p:spPr bwMode="auto">
              <a:xfrm>
                <a:off x="1405" y="239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]</a:t>
                </a:r>
              </a:p>
            </p:txBody>
          </p:sp>
          <p:sp>
            <p:nvSpPr>
              <p:cNvPr id="76248" name="Line 81"/>
              <p:cNvSpPr>
                <a:spLocks noChangeShapeType="1"/>
              </p:cNvSpPr>
              <p:nvPr/>
            </p:nvSpPr>
            <p:spPr bwMode="auto">
              <a:xfrm flipH="1">
                <a:off x="5037" y="2474"/>
                <a:ext cx="113" cy="2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49" name="Freeform 82"/>
              <p:cNvSpPr>
                <a:spLocks noChangeArrowheads="1"/>
              </p:cNvSpPr>
              <p:nvPr/>
            </p:nvSpPr>
            <p:spPr bwMode="auto">
              <a:xfrm>
                <a:off x="4382" y="2242"/>
                <a:ext cx="658" cy="686"/>
              </a:xfrm>
              <a:custGeom>
                <a:avLst/>
                <a:gdLst>
                  <a:gd name="T0" fmla="*/ 656 w 658"/>
                  <a:gd name="T1" fmla="*/ 686 h 686"/>
                  <a:gd name="T2" fmla="*/ 658 w 658"/>
                  <a:gd name="T3" fmla="*/ 0 h 686"/>
                  <a:gd name="T4" fmla="*/ 0 w 658"/>
                  <a:gd name="T5" fmla="*/ 0 h 686"/>
                  <a:gd name="T6" fmla="*/ 0 w 658"/>
                  <a:gd name="T7" fmla="*/ 686 h 686"/>
                  <a:gd name="T8" fmla="*/ 658 w 658"/>
                  <a:gd name="T9" fmla="*/ 686 h 686"/>
                  <a:gd name="T10" fmla="*/ 658 w 658"/>
                  <a:gd name="T11" fmla="*/ 686 h 686"/>
                  <a:gd name="T12" fmla="*/ 656 w 658"/>
                  <a:gd name="T13" fmla="*/ 686 h 68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58"/>
                  <a:gd name="T22" fmla="*/ 0 h 686"/>
                  <a:gd name="T23" fmla="*/ 658 w 658"/>
                  <a:gd name="T24" fmla="*/ 686 h 68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58" h="686">
                    <a:moveTo>
                      <a:pt x="656" y="686"/>
                    </a:moveTo>
                    <a:lnTo>
                      <a:pt x="658" y="0"/>
                    </a:lnTo>
                    <a:lnTo>
                      <a:pt x="0" y="0"/>
                    </a:lnTo>
                    <a:lnTo>
                      <a:pt x="0" y="686"/>
                    </a:lnTo>
                    <a:lnTo>
                      <a:pt x="658" y="686"/>
                    </a:lnTo>
                    <a:lnTo>
                      <a:pt x="656" y="6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250" name="Freeform 83"/>
              <p:cNvSpPr>
                <a:spLocks noChangeArrowheads="1"/>
              </p:cNvSpPr>
              <p:nvPr/>
            </p:nvSpPr>
            <p:spPr bwMode="auto">
              <a:xfrm>
                <a:off x="4382" y="2242"/>
                <a:ext cx="658" cy="686"/>
              </a:xfrm>
              <a:custGeom>
                <a:avLst/>
                <a:gdLst>
                  <a:gd name="T0" fmla="*/ 656 w 658"/>
                  <a:gd name="T1" fmla="*/ 686 h 686"/>
                  <a:gd name="T2" fmla="*/ 658 w 658"/>
                  <a:gd name="T3" fmla="*/ 0 h 686"/>
                  <a:gd name="T4" fmla="*/ 0 w 658"/>
                  <a:gd name="T5" fmla="*/ 0 h 686"/>
                  <a:gd name="T6" fmla="*/ 0 w 658"/>
                  <a:gd name="T7" fmla="*/ 686 h 686"/>
                  <a:gd name="T8" fmla="*/ 658 w 658"/>
                  <a:gd name="T9" fmla="*/ 686 h 686"/>
                  <a:gd name="T10" fmla="*/ 658 w 658"/>
                  <a:gd name="T11" fmla="*/ 686 h 68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58"/>
                  <a:gd name="T19" fmla="*/ 0 h 686"/>
                  <a:gd name="T20" fmla="*/ 658 w 658"/>
                  <a:gd name="T21" fmla="*/ 686 h 68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58" h="686">
                    <a:moveTo>
                      <a:pt x="656" y="686"/>
                    </a:moveTo>
                    <a:lnTo>
                      <a:pt x="658" y="0"/>
                    </a:lnTo>
                    <a:lnTo>
                      <a:pt x="0" y="0"/>
                    </a:lnTo>
                    <a:lnTo>
                      <a:pt x="0" y="686"/>
                    </a:lnTo>
                    <a:lnTo>
                      <a:pt x="658" y="686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251" name="Freeform 84"/>
              <p:cNvSpPr>
                <a:spLocks noChangeArrowheads="1"/>
              </p:cNvSpPr>
              <p:nvPr/>
            </p:nvSpPr>
            <p:spPr bwMode="auto">
              <a:xfrm>
                <a:off x="2492" y="2121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2 w 31"/>
                  <a:gd name="T3" fmla="*/ 31 h 31"/>
                  <a:gd name="T4" fmla="*/ 31 w 31"/>
                  <a:gd name="T5" fmla="*/ 16 h 31"/>
                  <a:gd name="T6" fmla="*/ 2 w 31"/>
                  <a:gd name="T7" fmla="*/ 2 h 31"/>
                  <a:gd name="T8" fmla="*/ 2 w 31"/>
                  <a:gd name="T9" fmla="*/ 2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2" y="31"/>
                    </a:lnTo>
                    <a:lnTo>
                      <a:pt x="31" y="16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252" name="Freeform 85"/>
              <p:cNvSpPr>
                <a:spLocks noChangeArrowheads="1"/>
              </p:cNvSpPr>
              <p:nvPr/>
            </p:nvSpPr>
            <p:spPr bwMode="auto">
              <a:xfrm>
                <a:off x="2492" y="2647"/>
                <a:ext cx="31" cy="30"/>
              </a:xfrm>
              <a:custGeom>
                <a:avLst/>
                <a:gdLst>
                  <a:gd name="T0" fmla="*/ 0 w 31"/>
                  <a:gd name="T1" fmla="*/ 0 h 30"/>
                  <a:gd name="T2" fmla="*/ 2 w 31"/>
                  <a:gd name="T3" fmla="*/ 30 h 30"/>
                  <a:gd name="T4" fmla="*/ 31 w 31"/>
                  <a:gd name="T5" fmla="*/ 16 h 30"/>
                  <a:gd name="T6" fmla="*/ 2 w 31"/>
                  <a:gd name="T7" fmla="*/ 2 h 30"/>
                  <a:gd name="T8" fmla="*/ 2 w 31"/>
                  <a:gd name="T9" fmla="*/ 2 h 30"/>
                  <a:gd name="T10" fmla="*/ 0 w 31"/>
                  <a:gd name="T11" fmla="*/ 0 h 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0"/>
                  <a:gd name="T20" fmla="*/ 31 w 31"/>
                  <a:gd name="T21" fmla="*/ 30 h 3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0">
                    <a:moveTo>
                      <a:pt x="0" y="0"/>
                    </a:moveTo>
                    <a:lnTo>
                      <a:pt x="2" y="30"/>
                    </a:lnTo>
                    <a:lnTo>
                      <a:pt x="31" y="16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253" name="Rectangle 86"/>
              <p:cNvSpPr>
                <a:spLocks noChangeArrowheads="1"/>
              </p:cNvSpPr>
              <p:nvPr/>
            </p:nvSpPr>
            <p:spPr bwMode="auto">
              <a:xfrm>
                <a:off x="1661" y="2228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254" name="Rectangle 87"/>
              <p:cNvSpPr>
                <a:spLocks noChangeArrowheads="1"/>
              </p:cNvSpPr>
              <p:nvPr/>
            </p:nvSpPr>
            <p:spPr bwMode="auto">
              <a:xfrm>
                <a:off x="1677" y="222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6255" name="Rectangle 88"/>
              <p:cNvSpPr>
                <a:spLocks noChangeArrowheads="1"/>
              </p:cNvSpPr>
              <p:nvPr/>
            </p:nvSpPr>
            <p:spPr bwMode="auto">
              <a:xfrm>
                <a:off x="1710" y="2228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6256" name="Rectangle 89"/>
              <p:cNvSpPr>
                <a:spLocks noChangeArrowheads="1"/>
              </p:cNvSpPr>
              <p:nvPr/>
            </p:nvSpPr>
            <p:spPr bwMode="auto">
              <a:xfrm>
                <a:off x="1739" y="2228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257" name="Rectangle 90"/>
              <p:cNvSpPr>
                <a:spLocks noChangeArrowheads="1"/>
              </p:cNvSpPr>
              <p:nvPr/>
            </p:nvSpPr>
            <p:spPr bwMode="auto">
              <a:xfrm>
                <a:off x="1755" y="2228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258" name="Rectangle 91"/>
              <p:cNvSpPr>
                <a:spLocks noChangeArrowheads="1"/>
              </p:cNvSpPr>
              <p:nvPr/>
            </p:nvSpPr>
            <p:spPr bwMode="auto">
              <a:xfrm>
                <a:off x="1774" y="222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6259" name="Rectangle 92"/>
              <p:cNvSpPr>
                <a:spLocks noChangeArrowheads="1"/>
              </p:cNvSpPr>
              <p:nvPr/>
            </p:nvSpPr>
            <p:spPr bwMode="auto">
              <a:xfrm>
                <a:off x="1808" y="2228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76260" name="Rectangle 93"/>
              <p:cNvSpPr>
                <a:spLocks noChangeArrowheads="1"/>
              </p:cNvSpPr>
              <p:nvPr/>
            </p:nvSpPr>
            <p:spPr bwMode="auto">
              <a:xfrm>
                <a:off x="1836" y="2228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261" name="Rectangle 94"/>
              <p:cNvSpPr>
                <a:spLocks noChangeArrowheads="1"/>
              </p:cNvSpPr>
              <p:nvPr/>
            </p:nvSpPr>
            <p:spPr bwMode="auto">
              <a:xfrm>
                <a:off x="1852" y="2228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262" name="Rectangle 95"/>
              <p:cNvSpPr>
                <a:spLocks noChangeArrowheads="1"/>
              </p:cNvSpPr>
              <p:nvPr/>
            </p:nvSpPr>
            <p:spPr bwMode="auto">
              <a:xfrm>
                <a:off x="1867" y="222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76263" name="Rectangle 96"/>
              <p:cNvSpPr>
                <a:spLocks noChangeArrowheads="1"/>
              </p:cNvSpPr>
              <p:nvPr/>
            </p:nvSpPr>
            <p:spPr bwMode="auto">
              <a:xfrm>
                <a:off x="1898" y="222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6264" name="Rectangle 97"/>
              <p:cNvSpPr>
                <a:spLocks noChangeArrowheads="1"/>
              </p:cNvSpPr>
              <p:nvPr/>
            </p:nvSpPr>
            <p:spPr bwMode="auto">
              <a:xfrm>
                <a:off x="1931" y="2228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265" name="Rectangle 98"/>
              <p:cNvSpPr>
                <a:spLocks noChangeArrowheads="1"/>
              </p:cNvSpPr>
              <p:nvPr/>
            </p:nvSpPr>
            <p:spPr bwMode="auto">
              <a:xfrm>
                <a:off x="1947" y="2228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[</a:t>
                </a:r>
              </a:p>
            </p:txBody>
          </p:sp>
          <p:sp>
            <p:nvSpPr>
              <p:cNvPr id="76266" name="Rectangle 99"/>
              <p:cNvSpPr>
                <a:spLocks noChangeArrowheads="1"/>
              </p:cNvSpPr>
              <p:nvPr/>
            </p:nvSpPr>
            <p:spPr bwMode="auto">
              <a:xfrm>
                <a:off x="1964" y="222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2</a:t>
                </a:r>
              </a:p>
            </p:txBody>
          </p:sp>
          <p:sp>
            <p:nvSpPr>
              <p:cNvPr id="76267" name="Rectangle 100"/>
              <p:cNvSpPr>
                <a:spLocks noChangeArrowheads="1"/>
              </p:cNvSpPr>
              <p:nvPr/>
            </p:nvSpPr>
            <p:spPr bwMode="auto">
              <a:xfrm>
                <a:off x="1995" y="222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0</a:t>
                </a:r>
              </a:p>
            </p:txBody>
          </p:sp>
          <p:sp>
            <p:nvSpPr>
              <p:cNvPr id="76268" name="Rectangle 101"/>
              <p:cNvSpPr>
                <a:spLocks noChangeArrowheads="1"/>
              </p:cNvSpPr>
              <p:nvPr/>
            </p:nvSpPr>
            <p:spPr bwMode="auto">
              <a:xfrm>
                <a:off x="2028" y="2228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269" name="Rectangle 102"/>
              <p:cNvSpPr>
                <a:spLocks noChangeArrowheads="1"/>
              </p:cNvSpPr>
              <p:nvPr/>
            </p:nvSpPr>
            <p:spPr bwMode="auto">
              <a:xfrm>
                <a:off x="2044" y="2228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270" name="Rectangle 103"/>
              <p:cNvSpPr>
                <a:spLocks noChangeArrowheads="1"/>
              </p:cNvSpPr>
              <p:nvPr/>
            </p:nvSpPr>
            <p:spPr bwMode="auto">
              <a:xfrm>
                <a:off x="2061" y="222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76271" name="Rectangle 104"/>
              <p:cNvSpPr>
                <a:spLocks noChangeArrowheads="1"/>
              </p:cNvSpPr>
              <p:nvPr/>
            </p:nvSpPr>
            <p:spPr bwMode="auto">
              <a:xfrm>
                <a:off x="2094" y="222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6</a:t>
                </a:r>
              </a:p>
            </p:txBody>
          </p:sp>
          <p:sp>
            <p:nvSpPr>
              <p:cNvPr id="76272" name="Rectangle 105"/>
              <p:cNvSpPr>
                <a:spLocks noChangeArrowheads="1"/>
              </p:cNvSpPr>
              <p:nvPr/>
            </p:nvSpPr>
            <p:spPr bwMode="auto">
              <a:xfrm>
                <a:off x="2125" y="2228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]</a:t>
                </a:r>
              </a:p>
            </p:txBody>
          </p:sp>
          <p:sp>
            <p:nvSpPr>
              <p:cNvPr id="76273" name="Rectangle 106"/>
              <p:cNvSpPr>
                <a:spLocks noChangeArrowheads="1"/>
              </p:cNvSpPr>
              <p:nvPr/>
            </p:nvSpPr>
            <p:spPr bwMode="auto">
              <a:xfrm>
                <a:off x="1661" y="2053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274" name="Rectangle 107"/>
              <p:cNvSpPr>
                <a:spLocks noChangeArrowheads="1"/>
              </p:cNvSpPr>
              <p:nvPr/>
            </p:nvSpPr>
            <p:spPr bwMode="auto">
              <a:xfrm>
                <a:off x="1677" y="205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6275" name="Rectangle 108"/>
              <p:cNvSpPr>
                <a:spLocks noChangeArrowheads="1"/>
              </p:cNvSpPr>
              <p:nvPr/>
            </p:nvSpPr>
            <p:spPr bwMode="auto">
              <a:xfrm>
                <a:off x="1710" y="2053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6276" name="Rectangle 109"/>
              <p:cNvSpPr>
                <a:spLocks noChangeArrowheads="1"/>
              </p:cNvSpPr>
              <p:nvPr/>
            </p:nvSpPr>
            <p:spPr bwMode="auto">
              <a:xfrm>
                <a:off x="1739" y="2053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277" name="Rectangle 110"/>
              <p:cNvSpPr>
                <a:spLocks noChangeArrowheads="1"/>
              </p:cNvSpPr>
              <p:nvPr/>
            </p:nvSpPr>
            <p:spPr bwMode="auto">
              <a:xfrm>
                <a:off x="1755" y="2053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278" name="Rectangle 111"/>
              <p:cNvSpPr>
                <a:spLocks noChangeArrowheads="1"/>
              </p:cNvSpPr>
              <p:nvPr/>
            </p:nvSpPr>
            <p:spPr bwMode="auto">
              <a:xfrm>
                <a:off x="1774" y="205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6279" name="Rectangle 112"/>
              <p:cNvSpPr>
                <a:spLocks noChangeArrowheads="1"/>
              </p:cNvSpPr>
              <p:nvPr/>
            </p:nvSpPr>
            <p:spPr bwMode="auto">
              <a:xfrm>
                <a:off x="1808" y="2053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76280" name="Rectangle 113"/>
              <p:cNvSpPr>
                <a:spLocks noChangeArrowheads="1"/>
              </p:cNvSpPr>
              <p:nvPr/>
            </p:nvSpPr>
            <p:spPr bwMode="auto">
              <a:xfrm>
                <a:off x="1836" y="2053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281" name="Rectangle 114"/>
              <p:cNvSpPr>
                <a:spLocks noChangeArrowheads="1"/>
              </p:cNvSpPr>
              <p:nvPr/>
            </p:nvSpPr>
            <p:spPr bwMode="auto">
              <a:xfrm>
                <a:off x="1852" y="2053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282" name="Rectangle 115"/>
              <p:cNvSpPr>
                <a:spLocks noChangeArrowheads="1"/>
              </p:cNvSpPr>
              <p:nvPr/>
            </p:nvSpPr>
            <p:spPr bwMode="auto">
              <a:xfrm>
                <a:off x="1867" y="205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76283" name="Rectangle 116"/>
              <p:cNvSpPr>
                <a:spLocks noChangeArrowheads="1"/>
              </p:cNvSpPr>
              <p:nvPr/>
            </p:nvSpPr>
            <p:spPr bwMode="auto">
              <a:xfrm>
                <a:off x="1898" y="205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6284" name="Rectangle 117"/>
              <p:cNvSpPr>
                <a:spLocks noChangeArrowheads="1"/>
              </p:cNvSpPr>
              <p:nvPr/>
            </p:nvSpPr>
            <p:spPr bwMode="auto">
              <a:xfrm>
                <a:off x="1931" y="2053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285" name="Rectangle 118"/>
              <p:cNvSpPr>
                <a:spLocks noChangeArrowheads="1"/>
              </p:cNvSpPr>
              <p:nvPr/>
            </p:nvSpPr>
            <p:spPr bwMode="auto">
              <a:xfrm>
                <a:off x="1947" y="2053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[</a:t>
                </a:r>
              </a:p>
            </p:txBody>
          </p:sp>
          <p:sp>
            <p:nvSpPr>
              <p:cNvPr id="76286" name="Rectangle 119"/>
              <p:cNvSpPr>
                <a:spLocks noChangeArrowheads="1"/>
              </p:cNvSpPr>
              <p:nvPr/>
            </p:nvSpPr>
            <p:spPr bwMode="auto">
              <a:xfrm>
                <a:off x="1964" y="205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2</a:t>
                </a:r>
              </a:p>
            </p:txBody>
          </p:sp>
          <p:sp>
            <p:nvSpPr>
              <p:cNvPr id="76287" name="Rectangle 120"/>
              <p:cNvSpPr>
                <a:spLocks noChangeArrowheads="1"/>
              </p:cNvSpPr>
              <p:nvPr/>
            </p:nvSpPr>
            <p:spPr bwMode="auto">
              <a:xfrm>
                <a:off x="1995" y="205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5</a:t>
                </a:r>
              </a:p>
            </p:txBody>
          </p:sp>
          <p:sp>
            <p:nvSpPr>
              <p:cNvPr id="76288" name="Rectangle 121"/>
              <p:cNvSpPr>
                <a:spLocks noChangeArrowheads="1"/>
              </p:cNvSpPr>
              <p:nvPr/>
            </p:nvSpPr>
            <p:spPr bwMode="auto">
              <a:xfrm>
                <a:off x="2028" y="2053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289" name="Rectangle 122"/>
              <p:cNvSpPr>
                <a:spLocks noChangeArrowheads="1"/>
              </p:cNvSpPr>
              <p:nvPr/>
            </p:nvSpPr>
            <p:spPr bwMode="auto">
              <a:xfrm>
                <a:off x="2044" y="2053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290" name="Rectangle 123"/>
              <p:cNvSpPr>
                <a:spLocks noChangeArrowheads="1"/>
              </p:cNvSpPr>
              <p:nvPr/>
            </p:nvSpPr>
            <p:spPr bwMode="auto">
              <a:xfrm>
                <a:off x="2061" y="205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2</a:t>
                </a:r>
              </a:p>
            </p:txBody>
          </p:sp>
          <p:sp>
            <p:nvSpPr>
              <p:cNvPr id="76291" name="Rectangle 124"/>
              <p:cNvSpPr>
                <a:spLocks noChangeArrowheads="1"/>
              </p:cNvSpPr>
              <p:nvPr/>
            </p:nvSpPr>
            <p:spPr bwMode="auto">
              <a:xfrm>
                <a:off x="2094" y="205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76292" name="Rectangle 125"/>
              <p:cNvSpPr>
                <a:spLocks noChangeArrowheads="1"/>
              </p:cNvSpPr>
              <p:nvPr/>
            </p:nvSpPr>
            <p:spPr bwMode="auto">
              <a:xfrm>
                <a:off x="2125" y="2053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]</a:t>
                </a:r>
              </a:p>
            </p:txBody>
          </p:sp>
          <p:sp>
            <p:nvSpPr>
              <p:cNvPr id="76293" name="Freeform 126"/>
              <p:cNvSpPr>
                <a:spLocks noChangeArrowheads="1"/>
              </p:cNvSpPr>
              <p:nvPr/>
            </p:nvSpPr>
            <p:spPr bwMode="auto">
              <a:xfrm>
                <a:off x="647" y="1058"/>
                <a:ext cx="341" cy="1122"/>
              </a:xfrm>
              <a:custGeom>
                <a:avLst/>
                <a:gdLst>
                  <a:gd name="T0" fmla="*/ 341 w 341"/>
                  <a:gd name="T1" fmla="*/ 0 h 1122"/>
                  <a:gd name="T2" fmla="*/ 0 w 341"/>
                  <a:gd name="T3" fmla="*/ 0 h 1122"/>
                  <a:gd name="T4" fmla="*/ 0 w 341"/>
                  <a:gd name="T5" fmla="*/ 1122 h 1122"/>
                  <a:gd name="T6" fmla="*/ 0 60000 65536"/>
                  <a:gd name="T7" fmla="*/ 0 60000 65536"/>
                  <a:gd name="T8" fmla="*/ 0 60000 65536"/>
                  <a:gd name="T9" fmla="*/ 0 w 341"/>
                  <a:gd name="T10" fmla="*/ 0 h 1122"/>
                  <a:gd name="T11" fmla="*/ 341 w 341"/>
                  <a:gd name="T12" fmla="*/ 1122 h 11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1" h="1122">
                    <a:moveTo>
                      <a:pt x="341" y="0"/>
                    </a:moveTo>
                    <a:lnTo>
                      <a:pt x="0" y="0"/>
                    </a:lnTo>
                    <a:lnTo>
                      <a:pt x="0" y="1122"/>
                    </a:ln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294" name="Line 127"/>
              <p:cNvSpPr>
                <a:spLocks noChangeShapeType="1"/>
              </p:cNvSpPr>
              <p:nvPr/>
            </p:nvSpPr>
            <p:spPr bwMode="auto">
              <a:xfrm flipH="1">
                <a:off x="881" y="1408"/>
                <a:ext cx="108" cy="1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295" name="Freeform 128"/>
              <p:cNvSpPr>
                <a:spLocks noChangeArrowheads="1"/>
              </p:cNvSpPr>
              <p:nvPr/>
            </p:nvSpPr>
            <p:spPr bwMode="auto">
              <a:xfrm>
                <a:off x="1012" y="939"/>
                <a:ext cx="189" cy="590"/>
              </a:xfrm>
              <a:custGeom>
                <a:avLst/>
                <a:gdLst>
                  <a:gd name="T0" fmla="*/ 0 w 189"/>
                  <a:gd name="T1" fmla="*/ 0 h 590"/>
                  <a:gd name="T2" fmla="*/ 0 w 189"/>
                  <a:gd name="T3" fmla="*/ 239 h 590"/>
                  <a:gd name="T4" fmla="*/ 61 w 189"/>
                  <a:gd name="T5" fmla="*/ 294 h 590"/>
                  <a:gd name="T6" fmla="*/ 0 w 189"/>
                  <a:gd name="T7" fmla="*/ 351 h 590"/>
                  <a:gd name="T8" fmla="*/ 0 w 189"/>
                  <a:gd name="T9" fmla="*/ 590 h 590"/>
                  <a:gd name="T10" fmla="*/ 189 w 189"/>
                  <a:gd name="T11" fmla="*/ 410 h 590"/>
                  <a:gd name="T12" fmla="*/ 189 w 189"/>
                  <a:gd name="T13" fmla="*/ 180 h 590"/>
                  <a:gd name="T14" fmla="*/ 0 w 189"/>
                  <a:gd name="T15" fmla="*/ 0 h 590"/>
                  <a:gd name="T16" fmla="*/ 0 w 189"/>
                  <a:gd name="T17" fmla="*/ 0 h 59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89"/>
                  <a:gd name="T28" fmla="*/ 0 h 590"/>
                  <a:gd name="T29" fmla="*/ 189 w 189"/>
                  <a:gd name="T30" fmla="*/ 590 h 59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89" h="590">
                    <a:moveTo>
                      <a:pt x="0" y="0"/>
                    </a:moveTo>
                    <a:lnTo>
                      <a:pt x="0" y="239"/>
                    </a:lnTo>
                    <a:lnTo>
                      <a:pt x="61" y="294"/>
                    </a:lnTo>
                    <a:lnTo>
                      <a:pt x="0" y="351"/>
                    </a:lnTo>
                    <a:lnTo>
                      <a:pt x="0" y="590"/>
                    </a:lnTo>
                    <a:lnTo>
                      <a:pt x="189" y="410"/>
                    </a:lnTo>
                    <a:lnTo>
                      <a:pt x="189" y="180"/>
                    </a:lnTo>
                    <a:lnTo>
                      <a:pt x="0" y="0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296" name="Rectangle 129"/>
              <p:cNvSpPr>
                <a:spLocks noChangeArrowheads="1"/>
              </p:cNvSpPr>
              <p:nvPr/>
            </p:nvSpPr>
            <p:spPr bwMode="auto">
              <a:xfrm>
                <a:off x="1084" y="1200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297" name="Rectangle 130"/>
              <p:cNvSpPr>
                <a:spLocks noChangeArrowheads="1"/>
              </p:cNvSpPr>
              <p:nvPr/>
            </p:nvSpPr>
            <p:spPr bwMode="auto">
              <a:xfrm>
                <a:off x="1126" y="1200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6298" name="Rectangle 131"/>
              <p:cNvSpPr>
                <a:spLocks noChangeArrowheads="1"/>
              </p:cNvSpPr>
              <p:nvPr/>
            </p:nvSpPr>
            <p:spPr bwMode="auto">
              <a:xfrm>
                <a:off x="1156" y="1200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6299" name="Freeform 132"/>
              <p:cNvSpPr>
                <a:spLocks noChangeArrowheads="1"/>
              </p:cNvSpPr>
              <p:nvPr/>
            </p:nvSpPr>
            <p:spPr bwMode="auto">
              <a:xfrm>
                <a:off x="3501" y="2429"/>
                <a:ext cx="31" cy="30"/>
              </a:xfrm>
              <a:custGeom>
                <a:avLst/>
                <a:gdLst>
                  <a:gd name="T0" fmla="*/ 0 w 31"/>
                  <a:gd name="T1" fmla="*/ 0 h 30"/>
                  <a:gd name="T2" fmla="*/ 0 w 31"/>
                  <a:gd name="T3" fmla="*/ 30 h 30"/>
                  <a:gd name="T4" fmla="*/ 31 w 31"/>
                  <a:gd name="T5" fmla="*/ 16 h 30"/>
                  <a:gd name="T6" fmla="*/ 0 w 31"/>
                  <a:gd name="T7" fmla="*/ 2 h 30"/>
                  <a:gd name="T8" fmla="*/ 0 w 31"/>
                  <a:gd name="T9" fmla="*/ 2 h 30"/>
                  <a:gd name="T10" fmla="*/ 0 w 31"/>
                  <a:gd name="T11" fmla="*/ 0 h 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0"/>
                  <a:gd name="T20" fmla="*/ 31 w 31"/>
                  <a:gd name="T21" fmla="*/ 30 h 3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0">
                    <a:moveTo>
                      <a:pt x="0" y="0"/>
                    </a:moveTo>
                    <a:lnTo>
                      <a:pt x="0" y="30"/>
                    </a:lnTo>
                    <a:lnTo>
                      <a:pt x="31" y="1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300" name="Freeform 133"/>
              <p:cNvSpPr>
                <a:spLocks noChangeArrowheads="1"/>
              </p:cNvSpPr>
              <p:nvPr/>
            </p:nvSpPr>
            <p:spPr bwMode="auto">
              <a:xfrm>
                <a:off x="3501" y="2692"/>
                <a:ext cx="31" cy="28"/>
              </a:xfrm>
              <a:custGeom>
                <a:avLst/>
                <a:gdLst>
                  <a:gd name="T0" fmla="*/ 0 w 31"/>
                  <a:gd name="T1" fmla="*/ 0 h 28"/>
                  <a:gd name="T2" fmla="*/ 0 w 31"/>
                  <a:gd name="T3" fmla="*/ 28 h 28"/>
                  <a:gd name="T4" fmla="*/ 31 w 31"/>
                  <a:gd name="T5" fmla="*/ 14 h 28"/>
                  <a:gd name="T6" fmla="*/ 0 w 31"/>
                  <a:gd name="T7" fmla="*/ 0 h 28"/>
                  <a:gd name="T8" fmla="*/ 0 w 31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1"/>
                  <a:gd name="T16" fmla="*/ 0 h 28"/>
                  <a:gd name="T17" fmla="*/ 31 w 31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1" h="28">
                    <a:moveTo>
                      <a:pt x="0" y="0"/>
                    </a:moveTo>
                    <a:lnTo>
                      <a:pt x="0" y="28"/>
                    </a:lnTo>
                    <a:lnTo>
                      <a:pt x="31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301" name="Freeform 134"/>
              <p:cNvSpPr>
                <a:spLocks noChangeArrowheads="1"/>
              </p:cNvSpPr>
              <p:nvPr/>
            </p:nvSpPr>
            <p:spPr bwMode="auto">
              <a:xfrm>
                <a:off x="3742" y="2559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0 w 31"/>
                  <a:gd name="T3" fmla="*/ 31 h 31"/>
                  <a:gd name="T4" fmla="*/ 31 w 31"/>
                  <a:gd name="T5" fmla="*/ 17 h 31"/>
                  <a:gd name="T6" fmla="*/ 0 w 31"/>
                  <a:gd name="T7" fmla="*/ 2 h 31"/>
                  <a:gd name="T8" fmla="*/ 0 w 31"/>
                  <a:gd name="T9" fmla="*/ 2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0" y="31"/>
                    </a:lnTo>
                    <a:lnTo>
                      <a:pt x="31" y="17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302" name="Line 135"/>
              <p:cNvSpPr>
                <a:spLocks noChangeShapeType="1"/>
              </p:cNvSpPr>
              <p:nvPr/>
            </p:nvSpPr>
            <p:spPr bwMode="auto">
              <a:xfrm flipH="1">
                <a:off x="3644" y="2576"/>
                <a:ext cx="109" cy="1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303" name="Freeform 136"/>
              <p:cNvSpPr>
                <a:spLocks noChangeArrowheads="1"/>
              </p:cNvSpPr>
              <p:nvPr/>
            </p:nvSpPr>
            <p:spPr bwMode="auto">
              <a:xfrm>
                <a:off x="3742" y="2208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0 w 31"/>
                  <a:gd name="T3" fmla="*/ 31 h 31"/>
                  <a:gd name="T4" fmla="*/ 31 w 31"/>
                  <a:gd name="T5" fmla="*/ 17 h 31"/>
                  <a:gd name="T6" fmla="*/ 0 w 31"/>
                  <a:gd name="T7" fmla="*/ 3 h 31"/>
                  <a:gd name="T8" fmla="*/ 0 w 31"/>
                  <a:gd name="T9" fmla="*/ 3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0" y="31"/>
                    </a:lnTo>
                    <a:lnTo>
                      <a:pt x="31" y="17"/>
                    </a:lnTo>
                    <a:lnTo>
                      <a:pt x="0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304" name="Freeform 137"/>
              <p:cNvSpPr>
                <a:spLocks noChangeArrowheads="1"/>
              </p:cNvSpPr>
              <p:nvPr/>
            </p:nvSpPr>
            <p:spPr bwMode="auto">
              <a:xfrm>
                <a:off x="5135" y="2459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2 w 31"/>
                  <a:gd name="T3" fmla="*/ 31 h 31"/>
                  <a:gd name="T4" fmla="*/ 31 w 31"/>
                  <a:gd name="T5" fmla="*/ 17 h 31"/>
                  <a:gd name="T6" fmla="*/ 2 w 31"/>
                  <a:gd name="T7" fmla="*/ 3 h 31"/>
                  <a:gd name="T8" fmla="*/ 2 w 31"/>
                  <a:gd name="T9" fmla="*/ 3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2" y="31"/>
                    </a:lnTo>
                    <a:lnTo>
                      <a:pt x="31" y="17"/>
                    </a:lnTo>
                    <a:lnTo>
                      <a:pt x="2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305" name="Freeform 138"/>
              <p:cNvSpPr>
                <a:spLocks noChangeArrowheads="1"/>
              </p:cNvSpPr>
              <p:nvPr/>
            </p:nvSpPr>
            <p:spPr bwMode="auto">
              <a:xfrm>
                <a:off x="5135" y="2722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2 w 31"/>
                  <a:gd name="T3" fmla="*/ 31 h 31"/>
                  <a:gd name="T4" fmla="*/ 31 w 31"/>
                  <a:gd name="T5" fmla="*/ 15 h 31"/>
                  <a:gd name="T6" fmla="*/ 2 w 31"/>
                  <a:gd name="T7" fmla="*/ 0 h 31"/>
                  <a:gd name="T8" fmla="*/ 2 w 31"/>
                  <a:gd name="T9" fmla="*/ 0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2" y="31"/>
                    </a:lnTo>
                    <a:lnTo>
                      <a:pt x="31" y="15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306" name="Freeform 139"/>
              <p:cNvSpPr>
                <a:spLocks noChangeArrowheads="1"/>
              </p:cNvSpPr>
              <p:nvPr/>
            </p:nvSpPr>
            <p:spPr bwMode="auto">
              <a:xfrm>
                <a:off x="4349" y="2789"/>
                <a:ext cx="28" cy="30"/>
              </a:xfrm>
              <a:custGeom>
                <a:avLst/>
                <a:gdLst>
                  <a:gd name="T0" fmla="*/ 0 w 28"/>
                  <a:gd name="T1" fmla="*/ 0 h 30"/>
                  <a:gd name="T2" fmla="*/ 0 w 28"/>
                  <a:gd name="T3" fmla="*/ 30 h 30"/>
                  <a:gd name="T4" fmla="*/ 28 w 28"/>
                  <a:gd name="T5" fmla="*/ 16 h 30"/>
                  <a:gd name="T6" fmla="*/ 0 w 28"/>
                  <a:gd name="T7" fmla="*/ 0 h 30"/>
                  <a:gd name="T8" fmla="*/ 0 w 28"/>
                  <a:gd name="T9" fmla="*/ 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30"/>
                  <a:gd name="T17" fmla="*/ 28 w 28"/>
                  <a:gd name="T18" fmla="*/ 30 h 3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30">
                    <a:moveTo>
                      <a:pt x="0" y="0"/>
                    </a:moveTo>
                    <a:lnTo>
                      <a:pt x="0" y="30"/>
                    </a:lnTo>
                    <a:lnTo>
                      <a:pt x="28" y="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307" name="Freeform 140"/>
              <p:cNvSpPr>
                <a:spLocks noChangeArrowheads="1"/>
              </p:cNvSpPr>
              <p:nvPr/>
            </p:nvSpPr>
            <p:spPr bwMode="auto">
              <a:xfrm>
                <a:off x="3273" y="2445"/>
                <a:ext cx="1085" cy="360"/>
              </a:xfrm>
              <a:custGeom>
                <a:avLst/>
                <a:gdLst>
                  <a:gd name="T0" fmla="*/ 1085 w 1085"/>
                  <a:gd name="T1" fmla="*/ 358 h 360"/>
                  <a:gd name="T2" fmla="*/ 0 w 1085"/>
                  <a:gd name="T3" fmla="*/ 360 h 360"/>
                  <a:gd name="T4" fmla="*/ 0 w 1085"/>
                  <a:gd name="T5" fmla="*/ 0 h 360"/>
                  <a:gd name="T6" fmla="*/ 0 60000 65536"/>
                  <a:gd name="T7" fmla="*/ 0 60000 65536"/>
                  <a:gd name="T8" fmla="*/ 0 60000 65536"/>
                  <a:gd name="T9" fmla="*/ 0 w 1085"/>
                  <a:gd name="T10" fmla="*/ 0 h 360"/>
                  <a:gd name="T11" fmla="*/ 1085 w 1085"/>
                  <a:gd name="T12" fmla="*/ 360 h 3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85" h="360">
                    <a:moveTo>
                      <a:pt x="1085" y="358"/>
                    </a:moveTo>
                    <a:lnTo>
                      <a:pt x="0" y="360"/>
                    </a:lnTo>
                    <a:lnTo>
                      <a:pt x="0" y="0"/>
                    </a:ln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308" name="Freeform 141"/>
              <p:cNvSpPr>
                <a:spLocks noChangeArrowheads="1"/>
              </p:cNvSpPr>
              <p:nvPr/>
            </p:nvSpPr>
            <p:spPr bwMode="auto">
              <a:xfrm>
                <a:off x="3565" y="2874"/>
                <a:ext cx="218" cy="464"/>
              </a:xfrm>
              <a:custGeom>
                <a:avLst/>
                <a:gdLst>
                  <a:gd name="T0" fmla="*/ 109 w 218"/>
                  <a:gd name="T1" fmla="*/ 464 h 464"/>
                  <a:gd name="T2" fmla="*/ 125 w 218"/>
                  <a:gd name="T3" fmla="*/ 462 h 464"/>
                  <a:gd name="T4" fmla="*/ 144 w 218"/>
                  <a:gd name="T5" fmla="*/ 452 h 464"/>
                  <a:gd name="T6" fmla="*/ 158 w 218"/>
                  <a:gd name="T7" fmla="*/ 438 h 464"/>
                  <a:gd name="T8" fmla="*/ 173 w 218"/>
                  <a:gd name="T9" fmla="*/ 419 h 464"/>
                  <a:gd name="T10" fmla="*/ 187 w 218"/>
                  <a:gd name="T11" fmla="*/ 395 h 464"/>
                  <a:gd name="T12" fmla="*/ 196 w 218"/>
                  <a:gd name="T13" fmla="*/ 369 h 464"/>
                  <a:gd name="T14" fmla="*/ 206 w 218"/>
                  <a:gd name="T15" fmla="*/ 338 h 464"/>
                  <a:gd name="T16" fmla="*/ 213 w 218"/>
                  <a:gd name="T17" fmla="*/ 305 h 464"/>
                  <a:gd name="T18" fmla="*/ 218 w 218"/>
                  <a:gd name="T19" fmla="*/ 270 h 464"/>
                  <a:gd name="T20" fmla="*/ 218 w 218"/>
                  <a:gd name="T21" fmla="*/ 232 h 464"/>
                  <a:gd name="T22" fmla="*/ 218 w 218"/>
                  <a:gd name="T23" fmla="*/ 194 h 464"/>
                  <a:gd name="T24" fmla="*/ 213 w 218"/>
                  <a:gd name="T25" fmla="*/ 159 h 464"/>
                  <a:gd name="T26" fmla="*/ 206 w 218"/>
                  <a:gd name="T27" fmla="*/ 125 h 464"/>
                  <a:gd name="T28" fmla="*/ 196 w 218"/>
                  <a:gd name="T29" fmla="*/ 95 h 464"/>
                  <a:gd name="T30" fmla="*/ 187 w 218"/>
                  <a:gd name="T31" fmla="*/ 66 h 464"/>
                  <a:gd name="T32" fmla="*/ 173 w 218"/>
                  <a:gd name="T33" fmla="*/ 45 h 464"/>
                  <a:gd name="T34" fmla="*/ 158 w 218"/>
                  <a:gd name="T35" fmla="*/ 26 h 464"/>
                  <a:gd name="T36" fmla="*/ 144 w 218"/>
                  <a:gd name="T37" fmla="*/ 12 h 464"/>
                  <a:gd name="T38" fmla="*/ 125 w 218"/>
                  <a:gd name="T39" fmla="*/ 2 h 464"/>
                  <a:gd name="T40" fmla="*/ 109 w 218"/>
                  <a:gd name="T41" fmla="*/ 0 h 464"/>
                  <a:gd name="T42" fmla="*/ 90 w 218"/>
                  <a:gd name="T43" fmla="*/ 2 h 464"/>
                  <a:gd name="T44" fmla="*/ 73 w 218"/>
                  <a:gd name="T45" fmla="*/ 12 h 464"/>
                  <a:gd name="T46" fmla="*/ 59 w 218"/>
                  <a:gd name="T47" fmla="*/ 26 h 464"/>
                  <a:gd name="T48" fmla="*/ 45 w 218"/>
                  <a:gd name="T49" fmla="*/ 45 h 464"/>
                  <a:gd name="T50" fmla="*/ 30 w 218"/>
                  <a:gd name="T51" fmla="*/ 66 h 464"/>
                  <a:gd name="T52" fmla="*/ 21 w 218"/>
                  <a:gd name="T53" fmla="*/ 95 h 464"/>
                  <a:gd name="T54" fmla="*/ 12 w 218"/>
                  <a:gd name="T55" fmla="*/ 125 h 464"/>
                  <a:gd name="T56" fmla="*/ 4 w 218"/>
                  <a:gd name="T57" fmla="*/ 159 h 464"/>
                  <a:gd name="T58" fmla="*/ 0 w 218"/>
                  <a:gd name="T59" fmla="*/ 194 h 464"/>
                  <a:gd name="T60" fmla="*/ 0 w 218"/>
                  <a:gd name="T61" fmla="*/ 232 h 464"/>
                  <a:gd name="T62" fmla="*/ 0 w 218"/>
                  <a:gd name="T63" fmla="*/ 270 h 464"/>
                  <a:gd name="T64" fmla="*/ 4 w 218"/>
                  <a:gd name="T65" fmla="*/ 305 h 464"/>
                  <a:gd name="T66" fmla="*/ 12 w 218"/>
                  <a:gd name="T67" fmla="*/ 338 h 464"/>
                  <a:gd name="T68" fmla="*/ 21 w 218"/>
                  <a:gd name="T69" fmla="*/ 369 h 464"/>
                  <a:gd name="T70" fmla="*/ 30 w 218"/>
                  <a:gd name="T71" fmla="*/ 395 h 464"/>
                  <a:gd name="T72" fmla="*/ 45 w 218"/>
                  <a:gd name="T73" fmla="*/ 419 h 464"/>
                  <a:gd name="T74" fmla="*/ 59 w 218"/>
                  <a:gd name="T75" fmla="*/ 438 h 464"/>
                  <a:gd name="T76" fmla="*/ 73 w 218"/>
                  <a:gd name="T77" fmla="*/ 452 h 464"/>
                  <a:gd name="T78" fmla="*/ 90 w 218"/>
                  <a:gd name="T79" fmla="*/ 462 h 464"/>
                  <a:gd name="T80" fmla="*/ 109 w 218"/>
                  <a:gd name="T81" fmla="*/ 464 h 464"/>
                  <a:gd name="T82" fmla="*/ 109 w 218"/>
                  <a:gd name="T83" fmla="*/ 464 h 46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18"/>
                  <a:gd name="T127" fmla="*/ 0 h 464"/>
                  <a:gd name="T128" fmla="*/ 218 w 218"/>
                  <a:gd name="T129" fmla="*/ 464 h 464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18" h="464">
                    <a:moveTo>
                      <a:pt x="109" y="464"/>
                    </a:moveTo>
                    <a:lnTo>
                      <a:pt x="125" y="462"/>
                    </a:lnTo>
                    <a:lnTo>
                      <a:pt x="144" y="452"/>
                    </a:lnTo>
                    <a:lnTo>
                      <a:pt x="158" y="438"/>
                    </a:lnTo>
                    <a:lnTo>
                      <a:pt x="173" y="419"/>
                    </a:lnTo>
                    <a:lnTo>
                      <a:pt x="187" y="395"/>
                    </a:lnTo>
                    <a:lnTo>
                      <a:pt x="196" y="369"/>
                    </a:lnTo>
                    <a:lnTo>
                      <a:pt x="206" y="338"/>
                    </a:lnTo>
                    <a:lnTo>
                      <a:pt x="213" y="305"/>
                    </a:lnTo>
                    <a:lnTo>
                      <a:pt x="218" y="270"/>
                    </a:lnTo>
                    <a:lnTo>
                      <a:pt x="218" y="232"/>
                    </a:lnTo>
                    <a:lnTo>
                      <a:pt x="218" y="194"/>
                    </a:lnTo>
                    <a:lnTo>
                      <a:pt x="213" y="159"/>
                    </a:lnTo>
                    <a:lnTo>
                      <a:pt x="206" y="125"/>
                    </a:lnTo>
                    <a:lnTo>
                      <a:pt x="196" y="95"/>
                    </a:lnTo>
                    <a:lnTo>
                      <a:pt x="187" y="66"/>
                    </a:lnTo>
                    <a:lnTo>
                      <a:pt x="173" y="45"/>
                    </a:lnTo>
                    <a:lnTo>
                      <a:pt x="158" y="26"/>
                    </a:lnTo>
                    <a:lnTo>
                      <a:pt x="144" y="12"/>
                    </a:lnTo>
                    <a:lnTo>
                      <a:pt x="125" y="2"/>
                    </a:lnTo>
                    <a:lnTo>
                      <a:pt x="109" y="0"/>
                    </a:lnTo>
                    <a:lnTo>
                      <a:pt x="90" y="2"/>
                    </a:lnTo>
                    <a:lnTo>
                      <a:pt x="73" y="12"/>
                    </a:lnTo>
                    <a:lnTo>
                      <a:pt x="59" y="26"/>
                    </a:lnTo>
                    <a:lnTo>
                      <a:pt x="45" y="45"/>
                    </a:lnTo>
                    <a:lnTo>
                      <a:pt x="30" y="66"/>
                    </a:lnTo>
                    <a:lnTo>
                      <a:pt x="21" y="95"/>
                    </a:lnTo>
                    <a:lnTo>
                      <a:pt x="12" y="125"/>
                    </a:lnTo>
                    <a:lnTo>
                      <a:pt x="4" y="159"/>
                    </a:lnTo>
                    <a:lnTo>
                      <a:pt x="0" y="194"/>
                    </a:lnTo>
                    <a:lnTo>
                      <a:pt x="0" y="232"/>
                    </a:lnTo>
                    <a:lnTo>
                      <a:pt x="0" y="270"/>
                    </a:lnTo>
                    <a:lnTo>
                      <a:pt x="4" y="305"/>
                    </a:lnTo>
                    <a:lnTo>
                      <a:pt x="12" y="338"/>
                    </a:lnTo>
                    <a:lnTo>
                      <a:pt x="21" y="369"/>
                    </a:lnTo>
                    <a:lnTo>
                      <a:pt x="30" y="395"/>
                    </a:lnTo>
                    <a:lnTo>
                      <a:pt x="45" y="419"/>
                    </a:lnTo>
                    <a:lnTo>
                      <a:pt x="59" y="438"/>
                    </a:lnTo>
                    <a:lnTo>
                      <a:pt x="73" y="452"/>
                    </a:lnTo>
                    <a:lnTo>
                      <a:pt x="90" y="462"/>
                    </a:lnTo>
                    <a:lnTo>
                      <a:pt x="109" y="46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309" name="Freeform 142"/>
              <p:cNvSpPr>
                <a:spLocks noChangeArrowheads="1"/>
              </p:cNvSpPr>
              <p:nvPr/>
            </p:nvSpPr>
            <p:spPr bwMode="auto">
              <a:xfrm>
                <a:off x="3565" y="2874"/>
                <a:ext cx="218" cy="464"/>
              </a:xfrm>
              <a:custGeom>
                <a:avLst/>
                <a:gdLst>
                  <a:gd name="T0" fmla="*/ 109 w 218"/>
                  <a:gd name="T1" fmla="*/ 464 h 464"/>
                  <a:gd name="T2" fmla="*/ 125 w 218"/>
                  <a:gd name="T3" fmla="*/ 462 h 464"/>
                  <a:gd name="T4" fmla="*/ 144 w 218"/>
                  <a:gd name="T5" fmla="*/ 452 h 464"/>
                  <a:gd name="T6" fmla="*/ 158 w 218"/>
                  <a:gd name="T7" fmla="*/ 438 h 464"/>
                  <a:gd name="T8" fmla="*/ 173 w 218"/>
                  <a:gd name="T9" fmla="*/ 419 h 464"/>
                  <a:gd name="T10" fmla="*/ 187 w 218"/>
                  <a:gd name="T11" fmla="*/ 395 h 464"/>
                  <a:gd name="T12" fmla="*/ 196 w 218"/>
                  <a:gd name="T13" fmla="*/ 369 h 464"/>
                  <a:gd name="T14" fmla="*/ 206 w 218"/>
                  <a:gd name="T15" fmla="*/ 338 h 464"/>
                  <a:gd name="T16" fmla="*/ 213 w 218"/>
                  <a:gd name="T17" fmla="*/ 305 h 464"/>
                  <a:gd name="T18" fmla="*/ 218 w 218"/>
                  <a:gd name="T19" fmla="*/ 270 h 464"/>
                  <a:gd name="T20" fmla="*/ 218 w 218"/>
                  <a:gd name="T21" fmla="*/ 232 h 464"/>
                  <a:gd name="T22" fmla="*/ 218 w 218"/>
                  <a:gd name="T23" fmla="*/ 194 h 464"/>
                  <a:gd name="T24" fmla="*/ 213 w 218"/>
                  <a:gd name="T25" fmla="*/ 159 h 464"/>
                  <a:gd name="T26" fmla="*/ 206 w 218"/>
                  <a:gd name="T27" fmla="*/ 125 h 464"/>
                  <a:gd name="T28" fmla="*/ 196 w 218"/>
                  <a:gd name="T29" fmla="*/ 95 h 464"/>
                  <a:gd name="T30" fmla="*/ 187 w 218"/>
                  <a:gd name="T31" fmla="*/ 66 h 464"/>
                  <a:gd name="T32" fmla="*/ 173 w 218"/>
                  <a:gd name="T33" fmla="*/ 45 h 464"/>
                  <a:gd name="T34" fmla="*/ 158 w 218"/>
                  <a:gd name="T35" fmla="*/ 26 h 464"/>
                  <a:gd name="T36" fmla="*/ 144 w 218"/>
                  <a:gd name="T37" fmla="*/ 12 h 464"/>
                  <a:gd name="T38" fmla="*/ 125 w 218"/>
                  <a:gd name="T39" fmla="*/ 2 h 464"/>
                  <a:gd name="T40" fmla="*/ 109 w 218"/>
                  <a:gd name="T41" fmla="*/ 0 h 464"/>
                  <a:gd name="T42" fmla="*/ 90 w 218"/>
                  <a:gd name="T43" fmla="*/ 2 h 464"/>
                  <a:gd name="T44" fmla="*/ 73 w 218"/>
                  <a:gd name="T45" fmla="*/ 12 h 464"/>
                  <a:gd name="T46" fmla="*/ 59 w 218"/>
                  <a:gd name="T47" fmla="*/ 26 h 464"/>
                  <a:gd name="T48" fmla="*/ 45 w 218"/>
                  <a:gd name="T49" fmla="*/ 45 h 464"/>
                  <a:gd name="T50" fmla="*/ 30 w 218"/>
                  <a:gd name="T51" fmla="*/ 66 h 464"/>
                  <a:gd name="T52" fmla="*/ 21 w 218"/>
                  <a:gd name="T53" fmla="*/ 95 h 464"/>
                  <a:gd name="T54" fmla="*/ 12 w 218"/>
                  <a:gd name="T55" fmla="*/ 125 h 464"/>
                  <a:gd name="T56" fmla="*/ 4 w 218"/>
                  <a:gd name="T57" fmla="*/ 159 h 464"/>
                  <a:gd name="T58" fmla="*/ 0 w 218"/>
                  <a:gd name="T59" fmla="*/ 194 h 464"/>
                  <a:gd name="T60" fmla="*/ 0 w 218"/>
                  <a:gd name="T61" fmla="*/ 232 h 464"/>
                  <a:gd name="T62" fmla="*/ 0 w 218"/>
                  <a:gd name="T63" fmla="*/ 270 h 464"/>
                  <a:gd name="T64" fmla="*/ 4 w 218"/>
                  <a:gd name="T65" fmla="*/ 305 h 464"/>
                  <a:gd name="T66" fmla="*/ 12 w 218"/>
                  <a:gd name="T67" fmla="*/ 338 h 464"/>
                  <a:gd name="T68" fmla="*/ 21 w 218"/>
                  <a:gd name="T69" fmla="*/ 369 h 464"/>
                  <a:gd name="T70" fmla="*/ 30 w 218"/>
                  <a:gd name="T71" fmla="*/ 395 h 464"/>
                  <a:gd name="T72" fmla="*/ 45 w 218"/>
                  <a:gd name="T73" fmla="*/ 419 h 464"/>
                  <a:gd name="T74" fmla="*/ 59 w 218"/>
                  <a:gd name="T75" fmla="*/ 438 h 464"/>
                  <a:gd name="T76" fmla="*/ 73 w 218"/>
                  <a:gd name="T77" fmla="*/ 452 h 464"/>
                  <a:gd name="T78" fmla="*/ 90 w 218"/>
                  <a:gd name="T79" fmla="*/ 462 h 464"/>
                  <a:gd name="T80" fmla="*/ 109 w 218"/>
                  <a:gd name="T81" fmla="*/ 464 h 464"/>
                  <a:gd name="T82" fmla="*/ 109 w 218"/>
                  <a:gd name="T83" fmla="*/ 464 h 46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18"/>
                  <a:gd name="T127" fmla="*/ 0 h 464"/>
                  <a:gd name="T128" fmla="*/ 218 w 218"/>
                  <a:gd name="T129" fmla="*/ 464 h 464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18" h="464">
                    <a:moveTo>
                      <a:pt x="109" y="464"/>
                    </a:moveTo>
                    <a:lnTo>
                      <a:pt x="125" y="462"/>
                    </a:lnTo>
                    <a:lnTo>
                      <a:pt x="144" y="452"/>
                    </a:lnTo>
                    <a:lnTo>
                      <a:pt x="158" y="438"/>
                    </a:lnTo>
                    <a:lnTo>
                      <a:pt x="173" y="419"/>
                    </a:lnTo>
                    <a:lnTo>
                      <a:pt x="187" y="395"/>
                    </a:lnTo>
                    <a:lnTo>
                      <a:pt x="196" y="369"/>
                    </a:lnTo>
                    <a:lnTo>
                      <a:pt x="206" y="338"/>
                    </a:lnTo>
                    <a:lnTo>
                      <a:pt x="213" y="305"/>
                    </a:lnTo>
                    <a:lnTo>
                      <a:pt x="218" y="270"/>
                    </a:lnTo>
                    <a:lnTo>
                      <a:pt x="218" y="232"/>
                    </a:lnTo>
                    <a:lnTo>
                      <a:pt x="218" y="194"/>
                    </a:lnTo>
                    <a:lnTo>
                      <a:pt x="213" y="159"/>
                    </a:lnTo>
                    <a:lnTo>
                      <a:pt x="206" y="125"/>
                    </a:lnTo>
                    <a:lnTo>
                      <a:pt x="196" y="95"/>
                    </a:lnTo>
                    <a:lnTo>
                      <a:pt x="187" y="66"/>
                    </a:lnTo>
                    <a:lnTo>
                      <a:pt x="173" y="45"/>
                    </a:lnTo>
                    <a:lnTo>
                      <a:pt x="158" y="26"/>
                    </a:lnTo>
                    <a:lnTo>
                      <a:pt x="144" y="12"/>
                    </a:lnTo>
                    <a:lnTo>
                      <a:pt x="125" y="2"/>
                    </a:lnTo>
                    <a:lnTo>
                      <a:pt x="109" y="0"/>
                    </a:lnTo>
                    <a:lnTo>
                      <a:pt x="90" y="2"/>
                    </a:lnTo>
                    <a:lnTo>
                      <a:pt x="73" y="12"/>
                    </a:lnTo>
                    <a:lnTo>
                      <a:pt x="59" y="26"/>
                    </a:lnTo>
                    <a:lnTo>
                      <a:pt x="45" y="45"/>
                    </a:lnTo>
                    <a:lnTo>
                      <a:pt x="30" y="66"/>
                    </a:lnTo>
                    <a:lnTo>
                      <a:pt x="21" y="95"/>
                    </a:lnTo>
                    <a:lnTo>
                      <a:pt x="12" y="125"/>
                    </a:lnTo>
                    <a:lnTo>
                      <a:pt x="4" y="159"/>
                    </a:lnTo>
                    <a:lnTo>
                      <a:pt x="0" y="194"/>
                    </a:lnTo>
                    <a:lnTo>
                      <a:pt x="0" y="232"/>
                    </a:lnTo>
                    <a:lnTo>
                      <a:pt x="0" y="270"/>
                    </a:lnTo>
                    <a:lnTo>
                      <a:pt x="4" y="305"/>
                    </a:lnTo>
                    <a:lnTo>
                      <a:pt x="12" y="338"/>
                    </a:lnTo>
                    <a:lnTo>
                      <a:pt x="21" y="369"/>
                    </a:lnTo>
                    <a:lnTo>
                      <a:pt x="30" y="395"/>
                    </a:lnTo>
                    <a:lnTo>
                      <a:pt x="45" y="419"/>
                    </a:lnTo>
                    <a:lnTo>
                      <a:pt x="59" y="438"/>
                    </a:lnTo>
                    <a:lnTo>
                      <a:pt x="73" y="452"/>
                    </a:lnTo>
                    <a:lnTo>
                      <a:pt x="90" y="462"/>
                    </a:lnTo>
                    <a:lnTo>
                      <a:pt x="109" y="464"/>
                    </a:lnTo>
                  </a:path>
                </a:pathLst>
              </a:custGeom>
              <a:solidFill>
                <a:srgbClr val="800000"/>
              </a:solidFill>
              <a:ln w="11160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310" name="Rectangle 143"/>
              <p:cNvSpPr>
                <a:spLocks noChangeArrowheads="1"/>
              </p:cNvSpPr>
              <p:nvPr/>
            </p:nvSpPr>
            <p:spPr bwMode="auto">
              <a:xfrm>
                <a:off x="2490" y="3232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311" name="Rectangle 144"/>
              <p:cNvSpPr>
                <a:spLocks noChangeArrowheads="1"/>
              </p:cNvSpPr>
              <p:nvPr/>
            </p:nvSpPr>
            <p:spPr bwMode="auto">
              <a:xfrm>
                <a:off x="2506" y="3232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6312" name="Rectangle 145"/>
              <p:cNvSpPr>
                <a:spLocks noChangeArrowheads="1"/>
              </p:cNvSpPr>
              <p:nvPr/>
            </p:nvSpPr>
            <p:spPr bwMode="auto">
              <a:xfrm>
                <a:off x="2537" y="3232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6313" name="Rectangle 146"/>
              <p:cNvSpPr>
                <a:spLocks noChangeArrowheads="1"/>
              </p:cNvSpPr>
              <p:nvPr/>
            </p:nvSpPr>
            <p:spPr bwMode="auto">
              <a:xfrm>
                <a:off x="2568" y="3232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314" name="Rectangle 147"/>
              <p:cNvSpPr>
                <a:spLocks noChangeArrowheads="1"/>
              </p:cNvSpPr>
              <p:nvPr/>
            </p:nvSpPr>
            <p:spPr bwMode="auto">
              <a:xfrm>
                <a:off x="2584" y="3232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315" name="Rectangle 148"/>
              <p:cNvSpPr>
                <a:spLocks noChangeArrowheads="1"/>
              </p:cNvSpPr>
              <p:nvPr/>
            </p:nvSpPr>
            <p:spPr bwMode="auto">
              <a:xfrm>
                <a:off x="2603" y="3232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6316" name="Rectangle 149"/>
              <p:cNvSpPr>
                <a:spLocks noChangeArrowheads="1"/>
              </p:cNvSpPr>
              <p:nvPr/>
            </p:nvSpPr>
            <p:spPr bwMode="auto">
              <a:xfrm>
                <a:off x="2636" y="3232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76317" name="Rectangle 150"/>
              <p:cNvSpPr>
                <a:spLocks noChangeArrowheads="1"/>
              </p:cNvSpPr>
              <p:nvPr/>
            </p:nvSpPr>
            <p:spPr bwMode="auto">
              <a:xfrm>
                <a:off x="2665" y="3232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318" name="Rectangle 151"/>
              <p:cNvSpPr>
                <a:spLocks noChangeArrowheads="1"/>
              </p:cNvSpPr>
              <p:nvPr/>
            </p:nvSpPr>
            <p:spPr bwMode="auto">
              <a:xfrm>
                <a:off x="2680" y="3232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319" name="Rectangle 152"/>
              <p:cNvSpPr>
                <a:spLocks noChangeArrowheads="1"/>
              </p:cNvSpPr>
              <p:nvPr/>
            </p:nvSpPr>
            <p:spPr bwMode="auto">
              <a:xfrm>
                <a:off x="2693" y="3232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76320" name="Rectangle 153"/>
              <p:cNvSpPr>
                <a:spLocks noChangeArrowheads="1"/>
              </p:cNvSpPr>
              <p:nvPr/>
            </p:nvSpPr>
            <p:spPr bwMode="auto">
              <a:xfrm>
                <a:off x="2726" y="3232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6321" name="Rectangle 154"/>
              <p:cNvSpPr>
                <a:spLocks noChangeArrowheads="1"/>
              </p:cNvSpPr>
              <p:nvPr/>
            </p:nvSpPr>
            <p:spPr bwMode="auto">
              <a:xfrm>
                <a:off x="2760" y="3232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322" name="Rectangle 155"/>
              <p:cNvSpPr>
                <a:spLocks noChangeArrowheads="1"/>
              </p:cNvSpPr>
              <p:nvPr/>
            </p:nvSpPr>
            <p:spPr bwMode="auto">
              <a:xfrm>
                <a:off x="2774" y="3232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[</a:t>
                </a:r>
              </a:p>
            </p:txBody>
          </p:sp>
          <p:sp>
            <p:nvSpPr>
              <p:cNvPr id="76323" name="Rectangle 156"/>
              <p:cNvSpPr>
                <a:spLocks noChangeArrowheads="1"/>
              </p:cNvSpPr>
              <p:nvPr/>
            </p:nvSpPr>
            <p:spPr bwMode="auto">
              <a:xfrm>
                <a:off x="2790" y="3232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5</a:t>
                </a:r>
              </a:p>
            </p:txBody>
          </p:sp>
          <p:sp>
            <p:nvSpPr>
              <p:cNvPr id="76324" name="Rectangle 157"/>
              <p:cNvSpPr>
                <a:spLocks noChangeArrowheads="1"/>
              </p:cNvSpPr>
              <p:nvPr/>
            </p:nvSpPr>
            <p:spPr bwMode="auto">
              <a:xfrm>
                <a:off x="2823" y="3232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325" name="Rectangle 158"/>
              <p:cNvSpPr>
                <a:spLocks noChangeArrowheads="1"/>
              </p:cNvSpPr>
              <p:nvPr/>
            </p:nvSpPr>
            <p:spPr bwMode="auto">
              <a:xfrm>
                <a:off x="2840" y="3232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326" name="Rectangle 159"/>
              <p:cNvSpPr>
                <a:spLocks noChangeArrowheads="1"/>
              </p:cNvSpPr>
              <p:nvPr/>
            </p:nvSpPr>
            <p:spPr bwMode="auto">
              <a:xfrm>
                <a:off x="2857" y="3232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0</a:t>
                </a:r>
              </a:p>
            </p:txBody>
          </p:sp>
          <p:sp>
            <p:nvSpPr>
              <p:cNvPr id="76327" name="Rectangle 160"/>
              <p:cNvSpPr>
                <a:spLocks noChangeArrowheads="1"/>
              </p:cNvSpPr>
              <p:nvPr/>
            </p:nvSpPr>
            <p:spPr bwMode="auto">
              <a:xfrm>
                <a:off x="2887" y="3232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]</a:t>
                </a:r>
              </a:p>
            </p:txBody>
          </p:sp>
          <p:sp>
            <p:nvSpPr>
              <p:cNvPr id="76328" name="Freeform 161"/>
              <p:cNvSpPr>
                <a:spLocks noChangeArrowheads="1"/>
              </p:cNvSpPr>
              <p:nvPr/>
            </p:nvSpPr>
            <p:spPr bwMode="auto">
              <a:xfrm>
                <a:off x="2461" y="3018"/>
                <a:ext cx="1080" cy="299"/>
              </a:xfrm>
              <a:custGeom>
                <a:avLst/>
                <a:gdLst>
                  <a:gd name="T0" fmla="*/ 0 w 1080"/>
                  <a:gd name="T1" fmla="*/ 0 h 299"/>
                  <a:gd name="T2" fmla="*/ 0 w 1080"/>
                  <a:gd name="T3" fmla="*/ 299 h 299"/>
                  <a:gd name="T4" fmla="*/ 1014 w 1080"/>
                  <a:gd name="T5" fmla="*/ 299 h 299"/>
                  <a:gd name="T6" fmla="*/ 1014 w 1080"/>
                  <a:gd name="T7" fmla="*/ 88 h 299"/>
                  <a:gd name="T8" fmla="*/ 1080 w 1080"/>
                  <a:gd name="T9" fmla="*/ 88 h 2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80"/>
                  <a:gd name="T16" fmla="*/ 0 h 299"/>
                  <a:gd name="T17" fmla="*/ 1080 w 1080"/>
                  <a:gd name="T18" fmla="*/ 299 h 29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80" h="299">
                    <a:moveTo>
                      <a:pt x="0" y="0"/>
                    </a:moveTo>
                    <a:lnTo>
                      <a:pt x="0" y="299"/>
                    </a:lnTo>
                    <a:lnTo>
                      <a:pt x="1014" y="299"/>
                    </a:lnTo>
                    <a:lnTo>
                      <a:pt x="1014" y="88"/>
                    </a:lnTo>
                    <a:lnTo>
                      <a:pt x="1080" y="88"/>
                    </a:ln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329" name="Freeform 162"/>
              <p:cNvSpPr>
                <a:spLocks noChangeArrowheads="1"/>
              </p:cNvSpPr>
              <p:nvPr/>
            </p:nvSpPr>
            <p:spPr bwMode="auto">
              <a:xfrm>
                <a:off x="2224" y="1285"/>
                <a:ext cx="275" cy="727"/>
              </a:xfrm>
              <a:custGeom>
                <a:avLst/>
                <a:gdLst>
                  <a:gd name="T0" fmla="*/ 138 w 275"/>
                  <a:gd name="T1" fmla="*/ 727 h 727"/>
                  <a:gd name="T2" fmla="*/ 161 w 275"/>
                  <a:gd name="T3" fmla="*/ 722 h 727"/>
                  <a:gd name="T4" fmla="*/ 180 w 275"/>
                  <a:gd name="T5" fmla="*/ 710 h 727"/>
                  <a:gd name="T6" fmla="*/ 202 w 275"/>
                  <a:gd name="T7" fmla="*/ 687 h 727"/>
                  <a:gd name="T8" fmla="*/ 218 w 275"/>
                  <a:gd name="T9" fmla="*/ 658 h 727"/>
                  <a:gd name="T10" fmla="*/ 235 w 275"/>
                  <a:gd name="T11" fmla="*/ 620 h 727"/>
                  <a:gd name="T12" fmla="*/ 249 w 275"/>
                  <a:gd name="T13" fmla="*/ 580 h 727"/>
                  <a:gd name="T14" fmla="*/ 261 w 275"/>
                  <a:gd name="T15" fmla="*/ 530 h 727"/>
                  <a:gd name="T16" fmla="*/ 268 w 275"/>
                  <a:gd name="T17" fmla="*/ 478 h 727"/>
                  <a:gd name="T18" fmla="*/ 273 w 275"/>
                  <a:gd name="T19" fmla="*/ 424 h 727"/>
                  <a:gd name="T20" fmla="*/ 275 w 275"/>
                  <a:gd name="T21" fmla="*/ 365 h 727"/>
                  <a:gd name="T22" fmla="*/ 273 w 275"/>
                  <a:gd name="T23" fmla="*/ 305 h 727"/>
                  <a:gd name="T24" fmla="*/ 268 w 275"/>
                  <a:gd name="T25" fmla="*/ 249 h 727"/>
                  <a:gd name="T26" fmla="*/ 261 w 275"/>
                  <a:gd name="T27" fmla="*/ 197 h 727"/>
                  <a:gd name="T28" fmla="*/ 249 w 275"/>
                  <a:gd name="T29" fmla="*/ 149 h 727"/>
                  <a:gd name="T30" fmla="*/ 235 w 275"/>
                  <a:gd name="T31" fmla="*/ 107 h 727"/>
                  <a:gd name="T32" fmla="*/ 218 w 275"/>
                  <a:gd name="T33" fmla="*/ 71 h 727"/>
                  <a:gd name="T34" fmla="*/ 202 w 275"/>
                  <a:gd name="T35" fmla="*/ 40 h 727"/>
                  <a:gd name="T36" fmla="*/ 180 w 275"/>
                  <a:gd name="T37" fmla="*/ 19 h 727"/>
                  <a:gd name="T38" fmla="*/ 161 w 275"/>
                  <a:gd name="T39" fmla="*/ 5 h 727"/>
                  <a:gd name="T40" fmla="*/ 138 w 275"/>
                  <a:gd name="T41" fmla="*/ 0 h 727"/>
                  <a:gd name="T42" fmla="*/ 116 w 275"/>
                  <a:gd name="T43" fmla="*/ 5 h 727"/>
                  <a:gd name="T44" fmla="*/ 95 w 275"/>
                  <a:gd name="T45" fmla="*/ 19 h 727"/>
                  <a:gd name="T46" fmla="*/ 76 w 275"/>
                  <a:gd name="T47" fmla="*/ 40 h 727"/>
                  <a:gd name="T48" fmla="*/ 57 w 275"/>
                  <a:gd name="T49" fmla="*/ 71 h 727"/>
                  <a:gd name="T50" fmla="*/ 41 w 275"/>
                  <a:gd name="T51" fmla="*/ 107 h 727"/>
                  <a:gd name="T52" fmla="*/ 26 w 275"/>
                  <a:gd name="T53" fmla="*/ 149 h 727"/>
                  <a:gd name="T54" fmla="*/ 17 w 275"/>
                  <a:gd name="T55" fmla="*/ 197 h 727"/>
                  <a:gd name="T56" fmla="*/ 7 w 275"/>
                  <a:gd name="T57" fmla="*/ 249 h 727"/>
                  <a:gd name="T58" fmla="*/ 3 w 275"/>
                  <a:gd name="T59" fmla="*/ 305 h 727"/>
                  <a:gd name="T60" fmla="*/ 0 w 275"/>
                  <a:gd name="T61" fmla="*/ 365 h 727"/>
                  <a:gd name="T62" fmla="*/ 3 w 275"/>
                  <a:gd name="T63" fmla="*/ 424 h 727"/>
                  <a:gd name="T64" fmla="*/ 7 w 275"/>
                  <a:gd name="T65" fmla="*/ 478 h 727"/>
                  <a:gd name="T66" fmla="*/ 17 w 275"/>
                  <a:gd name="T67" fmla="*/ 530 h 727"/>
                  <a:gd name="T68" fmla="*/ 26 w 275"/>
                  <a:gd name="T69" fmla="*/ 580 h 727"/>
                  <a:gd name="T70" fmla="*/ 41 w 275"/>
                  <a:gd name="T71" fmla="*/ 620 h 727"/>
                  <a:gd name="T72" fmla="*/ 57 w 275"/>
                  <a:gd name="T73" fmla="*/ 658 h 727"/>
                  <a:gd name="T74" fmla="*/ 76 w 275"/>
                  <a:gd name="T75" fmla="*/ 687 h 727"/>
                  <a:gd name="T76" fmla="*/ 95 w 275"/>
                  <a:gd name="T77" fmla="*/ 710 h 727"/>
                  <a:gd name="T78" fmla="*/ 116 w 275"/>
                  <a:gd name="T79" fmla="*/ 722 h 727"/>
                  <a:gd name="T80" fmla="*/ 138 w 275"/>
                  <a:gd name="T81" fmla="*/ 727 h 727"/>
                  <a:gd name="T82" fmla="*/ 138 w 275"/>
                  <a:gd name="T83" fmla="*/ 727 h 72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75"/>
                  <a:gd name="T127" fmla="*/ 0 h 727"/>
                  <a:gd name="T128" fmla="*/ 275 w 275"/>
                  <a:gd name="T129" fmla="*/ 727 h 727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75" h="727">
                    <a:moveTo>
                      <a:pt x="138" y="727"/>
                    </a:moveTo>
                    <a:lnTo>
                      <a:pt x="161" y="722"/>
                    </a:lnTo>
                    <a:lnTo>
                      <a:pt x="180" y="710"/>
                    </a:lnTo>
                    <a:lnTo>
                      <a:pt x="202" y="687"/>
                    </a:lnTo>
                    <a:lnTo>
                      <a:pt x="218" y="658"/>
                    </a:lnTo>
                    <a:lnTo>
                      <a:pt x="235" y="620"/>
                    </a:lnTo>
                    <a:lnTo>
                      <a:pt x="249" y="580"/>
                    </a:lnTo>
                    <a:lnTo>
                      <a:pt x="261" y="530"/>
                    </a:lnTo>
                    <a:lnTo>
                      <a:pt x="268" y="478"/>
                    </a:lnTo>
                    <a:lnTo>
                      <a:pt x="273" y="424"/>
                    </a:lnTo>
                    <a:lnTo>
                      <a:pt x="275" y="365"/>
                    </a:lnTo>
                    <a:lnTo>
                      <a:pt x="273" y="305"/>
                    </a:lnTo>
                    <a:lnTo>
                      <a:pt x="268" y="249"/>
                    </a:lnTo>
                    <a:lnTo>
                      <a:pt x="261" y="197"/>
                    </a:lnTo>
                    <a:lnTo>
                      <a:pt x="249" y="149"/>
                    </a:lnTo>
                    <a:lnTo>
                      <a:pt x="235" y="107"/>
                    </a:lnTo>
                    <a:lnTo>
                      <a:pt x="218" y="71"/>
                    </a:lnTo>
                    <a:lnTo>
                      <a:pt x="202" y="40"/>
                    </a:lnTo>
                    <a:lnTo>
                      <a:pt x="180" y="19"/>
                    </a:lnTo>
                    <a:lnTo>
                      <a:pt x="161" y="5"/>
                    </a:lnTo>
                    <a:lnTo>
                      <a:pt x="138" y="0"/>
                    </a:lnTo>
                    <a:lnTo>
                      <a:pt x="116" y="5"/>
                    </a:lnTo>
                    <a:lnTo>
                      <a:pt x="95" y="19"/>
                    </a:lnTo>
                    <a:lnTo>
                      <a:pt x="76" y="40"/>
                    </a:lnTo>
                    <a:lnTo>
                      <a:pt x="57" y="71"/>
                    </a:lnTo>
                    <a:lnTo>
                      <a:pt x="41" y="107"/>
                    </a:lnTo>
                    <a:lnTo>
                      <a:pt x="26" y="149"/>
                    </a:lnTo>
                    <a:lnTo>
                      <a:pt x="17" y="197"/>
                    </a:lnTo>
                    <a:lnTo>
                      <a:pt x="7" y="249"/>
                    </a:lnTo>
                    <a:lnTo>
                      <a:pt x="3" y="305"/>
                    </a:lnTo>
                    <a:lnTo>
                      <a:pt x="0" y="365"/>
                    </a:lnTo>
                    <a:lnTo>
                      <a:pt x="3" y="424"/>
                    </a:lnTo>
                    <a:lnTo>
                      <a:pt x="7" y="478"/>
                    </a:lnTo>
                    <a:lnTo>
                      <a:pt x="17" y="530"/>
                    </a:lnTo>
                    <a:lnTo>
                      <a:pt x="26" y="580"/>
                    </a:lnTo>
                    <a:lnTo>
                      <a:pt x="41" y="620"/>
                    </a:lnTo>
                    <a:lnTo>
                      <a:pt x="57" y="658"/>
                    </a:lnTo>
                    <a:lnTo>
                      <a:pt x="76" y="687"/>
                    </a:lnTo>
                    <a:lnTo>
                      <a:pt x="95" y="710"/>
                    </a:lnTo>
                    <a:lnTo>
                      <a:pt x="116" y="722"/>
                    </a:lnTo>
                    <a:lnTo>
                      <a:pt x="138" y="72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330" name="Freeform 163"/>
              <p:cNvSpPr>
                <a:spLocks noChangeArrowheads="1"/>
              </p:cNvSpPr>
              <p:nvPr/>
            </p:nvSpPr>
            <p:spPr bwMode="auto">
              <a:xfrm>
                <a:off x="2224" y="1285"/>
                <a:ext cx="275" cy="727"/>
              </a:xfrm>
              <a:custGeom>
                <a:avLst/>
                <a:gdLst>
                  <a:gd name="T0" fmla="*/ 138 w 275"/>
                  <a:gd name="T1" fmla="*/ 727 h 727"/>
                  <a:gd name="T2" fmla="*/ 161 w 275"/>
                  <a:gd name="T3" fmla="*/ 722 h 727"/>
                  <a:gd name="T4" fmla="*/ 180 w 275"/>
                  <a:gd name="T5" fmla="*/ 710 h 727"/>
                  <a:gd name="T6" fmla="*/ 202 w 275"/>
                  <a:gd name="T7" fmla="*/ 687 h 727"/>
                  <a:gd name="T8" fmla="*/ 218 w 275"/>
                  <a:gd name="T9" fmla="*/ 658 h 727"/>
                  <a:gd name="T10" fmla="*/ 235 w 275"/>
                  <a:gd name="T11" fmla="*/ 620 h 727"/>
                  <a:gd name="T12" fmla="*/ 249 w 275"/>
                  <a:gd name="T13" fmla="*/ 580 h 727"/>
                  <a:gd name="T14" fmla="*/ 261 w 275"/>
                  <a:gd name="T15" fmla="*/ 530 h 727"/>
                  <a:gd name="T16" fmla="*/ 268 w 275"/>
                  <a:gd name="T17" fmla="*/ 478 h 727"/>
                  <a:gd name="T18" fmla="*/ 273 w 275"/>
                  <a:gd name="T19" fmla="*/ 424 h 727"/>
                  <a:gd name="T20" fmla="*/ 275 w 275"/>
                  <a:gd name="T21" fmla="*/ 365 h 727"/>
                  <a:gd name="T22" fmla="*/ 273 w 275"/>
                  <a:gd name="T23" fmla="*/ 305 h 727"/>
                  <a:gd name="T24" fmla="*/ 268 w 275"/>
                  <a:gd name="T25" fmla="*/ 249 h 727"/>
                  <a:gd name="T26" fmla="*/ 261 w 275"/>
                  <a:gd name="T27" fmla="*/ 197 h 727"/>
                  <a:gd name="T28" fmla="*/ 249 w 275"/>
                  <a:gd name="T29" fmla="*/ 149 h 727"/>
                  <a:gd name="T30" fmla="*/ 235 w 275"/>
                  <a:gd name="T31" fmla="*/ 107 h 727"/>
                  <a:gd name="T32" fmla="*/ 218 w 275"/>
                  <a:gd name="T33" fmla="*/ 71 h 727"/>
                  <a:gd name="T34" fmla="*/ 202 w 275"/>
                  <a:gd name="T35" fmla="*/ 40 h 727"/>
                  <a:gd name="T36" fmla="*/ 180 w 275"/>
                  <a:gd name="T37" fmla="*/ 19 h 727"/>
                  <a:gd name="T38" fmla="*/ 161 w 275"/>
                  <a:gd name="T39" fmla="*/ 5 h 727"/>
                  <a:gd name="T40" fmla="*/ 138 w 275"/>
                  <a:gd name="T41" fmla="*/ 0 h 727"/>
                  <a:gd name="T42" fmla="*/ 116 w 275"/>
                  <a:gd name="T43" fmla="*/ 5 h 727"/>
                  <a:gd name="T44" fmla="*/ 95 w 275"/>
                  <a:gd name="T45" fmla="*/ 19 h 727"/>
                  <a:gd name="T46" fmla="*/ 76 w 275"/>
                  <a:gd name="T47" fmla="*/ 40 h 727"/>
                  <a:gd name="T48" fmla="*/ 57 w 275"/>
                  <a:gd name="T49" fmla="*/ 71 h 727"/>
                  <a:gd name="T50" fmla="*/ 41 w 275"/>
                  <a:gd name="T51" fmla="*/ 107 h 727"/>
                  <a:gd name="T52" fmla="*/ 26 w 275"/>
                  <a:gd name="T53" fmla="*/ 149 h 727"/>
                  <a:gd name="T54" fmla="*/ 17 w 275"/>
                  <a:gd name="T55" fmla="*/ 197 h 727"/>
                  <a:gd name="T56" fmla="*/ 7 w 275"/>
                  <a:gd name="T57" fmla="*/ 249 h 727"/>
                  <a:gd name="T58" fmla="*/ 3 w 275"/>
                  <a:gd name="T59" fmla="*/ 305 h 727"/>
                  <a:gd name="T60" fmla="*/ 0 w 275"/>
                  <a:gd name="T61" fmla="*/ 365 h 727"/>
                  <a:gd name="T62" fmla="*/ 3 w 275"/>
                  <a:gd name="T63" fmla="*/ 424 h 727"/>
                  <a:gd name="T64" fmla="*/ 7 w 275"/>
                  <a:gd name="T65" fmla="*/ 478 h 727"/>
                  <a:gd name="T66" fmla="*/ 17 w 275"/>
                  <a:gd name="T67" fmla="*/ 530 h 727"/>
                  <a:gd name="T68" fmla="*/ 26 w 275"/>
                  <a:gd name="T69" fmla="*/ 580 h 727"/>
                  <a:gd name="T70" fmla="*/ 41 w 275"/>
                  <a:gd name="T71" fmla="*/ 620 h 727"/>
                  <a:gd name="T72" fmla="*/ 57 w 275"/>
                  <a:gd name="T73" fmla="*/ 658 h 727"/>
                  <a:gd name="T74" fmla="*/ 76 w 275"/>
                  <a:gd name="T75" fmla="*/ 687 h 727"/>
                  <a:gd name="T76" fmla="*/ 95 w 275"/>
                  <a:gd name="T77" fmla="*/ 710 h 727"/>
                  <a:gd name="T78" fmla="*/ 116 w 275"/>
                  <a:gd name="T79" fmla="*/ 722 h 727"/>
                  <a:gd name="T80" fmla="*/ 138 w 275"/>
                  <a:gd name="T81" fmla="*/ 727 h 727"/>
                  <a:gd name="T82" fmla="*/ 138 w 275"/>
                  <a:gd name="T83" fmla="*/ 727 h 727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75"/>
                  <a:gd name="T127" fmla="*/ 0 h 727"/>
                  <a:gd name="T128" fmla="*/ 275 w 275"/>
                  <a:gd name="T129" fmla="*/ 727 h 727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75" h="727">
                    <a:moveTo>
                      <a:pt x="138" y="727"/>
                    </a:moveTo>
                    <a:lnTo>
                      <a:pt x="161" y="722"/>
                    </a:lnTo>
                    <a:lnTo>
                      <a:pt x="180" y="710"/>
                    </a:lnTo>
                    <a:lnTo>
                      <a:pt x="202" y="687"/>
                    </a:lnTo>
                    <a:lnTo>
                      <a:pt x="218" y="658"/>
                    </a:lnTo>
                    <a:lnTo>
                      <a:pt x="235" y="620"/>
                    </a:lnTo>
                    <a:lnTo>
                      <a:pt x="249" y="580"/>
                    </a:lnTo>
                    <a:lnTo>
                      <a:pt x="261" y="530"/>
                    </a:lnTo>
                    <a:lnTo>
                      <a:pt x="268" y="478"/>
                    </a:lnTo>
                    <a:lnTo>
                      <a:pt x="273" y="424"/>
                    </a:lnTo>
                    <a:lnTo>
                      <a:pt x="275" y="365"/>
                    </a:lnTo>
                    <a:lnTo>
                      <a:pt x="273" y="305"/>
                    </a:lnTo>
                    <a:lnTo>
                      <a:pt x="268" y="249"/>
                    </a:lnTo>
                    <a:lnTo>
                      <a:pt x="261" y="197"/>
                    </a:lnTo>
                    <a:lnTo>
                      <a:pt x="249" y="149"/>
                    </a:lnTo>
                    <a:lnTo>
                      <a:pt x="235" y="107"/>
                    </a:lnTo>
                    <a:lnTo>
                      <a:pt x="218" y="71"/>
                    </a:lnTo>
                    <a:lnTo>
                      <a:pt x="202" y="40"/>
                    </a:lnTo>
                    <a:lnTo>
                      <a:pt x="180" y="19"/>
                    </a:lnTo>
                    <a:lnTo>
                      <a:pt x="161" y="5"/>
                    </a:lnTo>
                    <a:lnTo>
                      <a:pt x="138" y="0"/>
                    </a:lnTo>
                    <a:lnTo>
                      <a:pt x="116" y="5"/>
                    </a:lnTo>
                    <a:lnTo>
                      <a:pt x="95" y="19"/>
                    </a:lnTo>
                    <a:lnTo>
                      <a:pt x="76" y="40"/>
                    </a:lnTo>
                    <a:lnTo>
                      <a:pt x="57" y="71"/>
                    </a:lnTo>
                    <a:lnTo>
                      <a:pt x="41" y="107"/>
                    </a:lnTo>
                    <a:lnTo>
                      <a:pt x="26" y="149"/>
                    </a:lnTo>
                    <a:lnTo>
                      <a:pt x="17" y="197"/>
                    </a:lnTo>
                    <a:lnTo>
                      <a:pt x="7" y="249"/>
                    </a:lnTo>
                    <a:lnTo>
                      <a:pt x="3" y="305"/>
                    </a:lnTo>
                    <a:lnTo>
                      <a:pt x="0" y="365"/>
                    </a:lnTo>
                    <a:lnTo>
                      <a:pt x="3" y="424"/>
                    </a:lnTo>
                    <a:lnTo>
                      <a:pt x="7" y="478"/>
                    </a:lnTo>
                    <a:lnTo>
                      <a:pt x="17" y="530"/>
                    </a:lnTo>
                    <a:lnTo>
                      <a:pt x="26" y="580"/>
                    </a:lnTo>
                    <a:lnTo>
                      <a:pt x="41" y="620"/>
                    </a:lnTo>
                    <a:lnTo>
                      <a:pt x="57" y="658"/>
                    </a:lnTo>
                    <a:lnTo>
                      <a:pt x="76" y="687"/>
                    </a:lnTo>
                    <a:lnTo>
                      <a:pt x="95" y="710"/>
                    </a:lnTo>
                    <a:lnTo>
                      <a:pt x="116" y="722"/>
                    </a:lnTo>
                    <a:lnTo>
                      <a:pt x="138" y="727"/>
                    </a:lnTo>
                  </a:path>
                </a:pathLst>
              </a:custGeom>
              <a:solidFill>
                <a:srgbClr val="800000"/>
              </a:solidFill>
              <a:ln w="11160">
                <a:solidFill>
                  <a:srgbClr val="EB75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331" name="Rectangle 164"/>
              <p:cNvSpPr>
                <a:spLocks noChangeArrowheads="1"/>
              </p:cNvSpPr>
              <p:nvPr/>
            </p:nvSpPr>
            <p:spPr bwMode="auto">
              <a:xfrm>
                <a:off x="2521" y="1563"/>
                <a:ext cx="47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M</a:t>
                </a:r>
              </a:p>
            </p:txBody>
          </p:sp>
          <p:sp>
            <p:nvSpPr>
              <p:cNvPr id="76332" name="Rectangle 165"/>
              <p:cNvSpPr>
                <a:spLocks noChangeArrowheads="1"/>
              </p:cNvSpPr>
              <p:nvPr/>
            </p:nvSpPr>
            <p:spPr bwMode="auto">
              <a:xfrm>
                <a:off x="2570" y="156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333" name="Rectangle 166"/>
              <p:cNvSpPr>
                <a:spLocks noChangeArrowheads="1"/>
              </p:cNvSpPr>
              <p:nvPr/>
            </p:nvSpPr>
            <p:spPr bwMode="auto">
              <a:xfrm>
                <a:off x="2603" y="1563"/>
                <a:ext cx="4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m</a:t>
                </a:r>
              </a:p>
            </p:txBody>
          </p:sp>
          <p:sp>
            <p:nvSpPr>
              <p:cNvPr id="76334" name="Rectangle 167"/>
              <p:cNvSpPr>
                <a:spLocks noChangeArrowheads="1"/>
              </p:cNvSpPr>
              <p:nvPr/>
            </p:nvSpPr>
            <p:spPr bwMode="auto">
              <a:xfrm>
                <a:off x="2651" y="1563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335" name="Rectangle 168"/>
              <p:cNvSpPr>
                <a:spLocks noChangeArrowheads="1"/>
              </p:cNvSpPr>
              <p:nvPr/>
            </p:nvSpPr>
            <p:spPr bwMode="auto">
              <a:xfrm>
                <a:off x="2667" y="156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76336" name="Rectangle 169"/>
              <p:cNvSpPr>
                <a:spLocks noChangeArrowheads="1"/>
              </p:cNvSpPr>
              <p:nvPr/>
            </p:nvSpPr>
            <p:spPr bwMode="auto">
              <a:xfrm>
                <a:off x="2699" y="1563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337" name="Rectangle 170"/>
              <p:cNvSpPr>
                <a:spLocks noChangeArrowheads="1"/>
              </p:cNvSpPr>
              <p:nvPr/>
            </p:nvSpPr>
            <p:spPr bwMode="auto">
              <a:xfrm>
                <a:off x="2741" y="156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338" name="Rectangle 171"/>
              <p:cNvSpPr>
                <a:spLocks noChangeArrowheads="1"/>
              </p:cNvSpPr>
              <p:nvPr/>
            </p:nvSpPr>
            <p:spPr bwMode="auto">
              <a:xfrm>
                <a:off x="2774" y="156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g</a:t>
                </a:r>
              </a:p>
            </p:txBody>
          </p:sp>
          <p:sp>
            <p:nvSpPr>
              <p:cNvPr id="76339" name="Rectangle 172"/>
              <p:cNvSpPr>
                <a:spLocks noChangeArrowheads="1"/>
              </p:cNvSpPr>
              <p:nvPr/>
            </p:nvSpPr>
            <p:spPr bwMode="auto">
              <a:xfrm>
                <a:off x="2519" y="1650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340" name="Rectangle 173"/>
              <p:cNvSpPr>
                <a:spLocks noChangeArrowheads="1"/>
              </p:cNvSpPr>
              <p:nvPr/>
            </p:nvSpPr>
            <p:spPr bwMode="auto">
              <a:xfrm>
                <a:off x="2561" y="1650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76341" name="Rectangle 174"/>
              <p:cNvSpPr>
                <a:spLocks noChangeArrowheads="1"/>
              </p:cNvSpPr>
              <p:nvPr/>
            </p:nvSpPr>
            <p:spPr bwMode="auto">
              <a:xfrm>
                <a:off x="2591" y="1650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6342" name="Rectangle 175"/>
              <p:cNvSpPr>
                <a:spLocks noChangeArrowheads="1"/>
              </p:cNvSpPr>
              <p:nvPr/>
            </p:nvSpPr>
            <p:spPr bwMode="auto">
              <a:xfrm>
                <a:off x="2634" y="1650"/>
                <a:ext cx="44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76343" name="Rectangle 176"/>
              <p:cNvSpPr>
                <a:spLocks noChangeArrowheads="1"/>
              </p:cNvSpPr>
              <p:nvPr/>
            </p:nvSpPr>
            <p:spPr bwMode="auto">
              <a:xfrm>
                <a:off x="2679" y="1650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p</a:t>
                </a:r>
              </a:p>
            </p:txBody>
          </p:sp>
          <p:sp>
            <p:nvSpPr>
              <p:cNvPr id="76344" name="Rectangle 177"/>
              <p:cNvSpPr>
                <a:spLocks noChangeArrowheads="1"/>
              </p:cNvSpPr>
              <p:nvPr/>
            </p:nvSpPr>
            <p:spPr bwMode="auto">
              <a:xfrm>
                <a:off x="2521" y="1738"/>
                <a:ext cx="47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M</a:t>
                </a:r>
              </a:p>
            </p:txBody>
          </p:sp>
          <p:sp>
            <p:nvSpPr>
              <p:cNvPr id="76345" name="Rectangle 178"/>
              <p:cNvSpPr>
                <a:spLocks noChangeArrowheads="1"/>
              </p:cNvSpPr>
              <p:nvPr/>
            </p:nvSpPr>
            <p:spPr bwMode="auto">
              <a:xfrm>
                <a:off x="2570" y="173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346" name="Rectangle 179"/>
              <p:cNvSpPr>
                <a:spLocks noChangeArrowheads="1"/>
              </p:cNvSpPr>
              <p:nvPr/>
            </p:nvSpPr>
            <p:spPr bwMode="auto">
              <a:xfrm>
                <a:off x="2603" y="1738"/>
                <a:ext cx="4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m</a:t>
                </a:r>
              </a:p>
            </p:txBody>
          </p:sp>
          <p:sp>
            <p:nvSpPr>
              <p:cNvPr id="76347" name="Rectangle 180"/>
              <p:cNvSpPr>
                <a:spLocks noChangeArrowheads="1"/>
              </p:cNvSpPr>
              <p:nvPr/>
            </p:nvSpPr>
            <p:spPr bwMode="auto">
              <a:xfrm>
                <a:off x="2649" y="1738"/>
                <a:ext cx="54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W</a:t>
                </a:r>
              </a:p>
            </p:txBody>
          </p:sp>
          <p:sp>
            <p:nvSpPr>
              <p:cNvPr id="76348" name="Rectangle 181"/>
              <p:cNvSpPr>
                <a:spLocks noChangeArrowheads="1"/>
              </p:cNvSpPr>
              <p:nvPr/>
            </p:nvSpPr>
            <p:spPr bwMode="auto">
              <a:xfrm>
                <a:off x="2705" y="1738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349" name="Rectangle 182"/>
              <p:cNvSpPr>
                <a:spLocks noChangeArrowheads="1"/>
              </p:cNvSpPr>
              <p:nvPr/>
            </p:nvSpPr>
            <p:spPr bwMode="auto">
              <a:xfrm>
                <a:off x="2726" y="1738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350" name="Rectangle 183"/>
              <p:cNvSpPr>
                <a:spLocks noChangeArrowheads="1"/>
              </p:cNvSpPr>
              <p:nvPr/>
            </p:nvSpPr>
            <p:spPr bwMode="auto">
              <a:xfrm>
                <a:off x="2738" y="1738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351" name="Rectangle 184"/>
              <p:cNvSpPr>
                <a:spLocks noChangeArrowheads="1"/>
              </p:cNvSpPr>
              <p:nvPr/>
            </p:nvSpPr>
            <p:spPr bwMode="auto">
              <a:xfrm>
                <a:off x="2755" y="173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352" name="Rectangle 185"/>
              <p:cNvSpPr>
                <a:spLocks noChangeArrowheads="1"/>
              </p:cNvSpPr>
              <p:nvPr/>
            </p:nvSpPr>
            <p:spPr bwMode="auto">
              <a:xfrm>
                <a:off x="2520" y="1913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353" name="Rectangle 186"/>
              <p:cNvSpPr>
                <a:spLocks noChangeArrowheads="1"/>
              </p:cNvSpPr>
              <p:nvPr/>
            </p:nvSpPr>
            <p:spPr bwMode="auto">
              <a:xfrm>
                <a:off x="2563" y="191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354" name="Rectangle 187"/>
              <p:cNvSpPr>
                <a:spLocks noChangeArrowheads="1"/>
              </p:cNvSpPr>
              <p:nvPr/>
            </p:nvSpPr>
            <p:spPr bwMode="auto">
              <a:xfrm>
                <a:off x="2596" y="191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g</a:t>
                </a:r>
              </a:p>
            </p:txBody>
          </p:sp>
          <p:sp>
            <p:nvSpPr>
              <p:cNvPr id="76355" name="Rectangle 188"/>
              <p:cNvSpPr>
                <a:spLocks noChangeArrowheads="1"/>
              </p:cNvSpPr>
              <p:nvPr/>
            </p:nvSpPr>
            <p:spPr bwMode="auto">
              <a:xfrm>
                <a:off x="2627" y="1913"/>
                <a:ext cx="54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W</a:t>
                </a:r>
              </a:p>
            </p:txBody>
          </p:sp>
          <p:sp>
            <p:nvSpPr>
              <p:cNvPr id="76356" name="Rectangle 189"/>
              <p:cNvSpPr>
                <a:spLocks noChangeArrowheads="1"/>
              </p:cNvSpPr>
              <p:nvPr/>
            </p:nvSpPr>
            <p:spPr bwMode="auto">
              <a:xfrm>
                <a:off x="2684" y="1913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357" name="Rectangle 190"/>
              <p:cNvSpPr>
                <a:spLocks noChangeArrowheads="1"/>
              </p:cNvSpPr>
              <p:nvPr/>
            </p:nvSpPr>
            <p:spPr bwMode="auto">
              <a:xfrm>
                <a:off x="2702" y="1913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358" name="Rectangle 191"/>
              <p:cNvSpPr>
                <a:spLocks noChangeArrowheads="1"/>
              </p:cNvSpPr>
              <p:nvPr/>
            </p:nvSpPr>
            <p:spPr bwMode="auto">
              <a:xfrm>
                <a:off x="2715" y="1913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359" name="Rectangle 192"/>
              <p:cNvSpPr>
                <a:spLocks noChangeArrowheads="1"/>
              </p:cNvSpPr>
              <p:nvPr/>
            </p:nvSpPr>
            <p:spPr bwMode="auto">
              <a:xfrm>
                <a:off x="2731" y="191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360" name="Rectangle 193"/>
              <p:cNvSpPr>
                <a:spLocks noChangeArrowheads="1"/>
              </p:cNvSpPr>
              <p:nvPr/>
            </p:nvSpPr>
            <p:spPr bwMode="auto">
              <a:xfrm>
                <a:off x="2521" y="1475"/>
                <a:ext cx="47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M</a:t>
                </a:r>
              </a:p>
            </p:txBody>
          </p:sp>
          <p:sp>
            <p:nvSpPr>
              <p:cNvPr id="76361" name="Rectangle 194"/>
              <p:cNvSpPr>
                <a:spLocks noChangeArrowheads="1"/>
              </p:cNvSpPr>
              <p:nvPr/>
            </p:nvSpPr>
            <p:spPr bwMode="auto">
              <a:xfrm>
                <a:off x="2570" y="147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362" name="Rectangle 195"/>
              <p:cNvSpPr>
                <a:spLocks noChangeArrowheads="1"/>
              </p:cNvSpPr>
              <p:nvPr/>
            </p:nvSpPr>
            <p:spPr bwMode="auto">
              <a:xfrm>
                <a:off x="2603" y="1475"/>
                <a:ext cx="4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m</a:t>
                </a:r>
              </a:p>
            </p:txBody>
          </p:sp>
          <p:sp>
            <p:nvSpPr>
              <p:cNvPr id="76363" name="Rectangle 196"/>
              <p:cNvSpPr>
                <a:spLocks noChangeArrowheads="1"/>
              </p:cNvSpPr>
              <p:nvPr/>
            </p:nvSpPr>
            <p:spPr bwMode="auto">
              <a:xfrm>
                <a:off x="2651" y="1475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364" name="Rectangle 197"/>
              <p:cNvSpPr>
                <a:spLocks noChangeArrowheads="1"/>
              </p:cNvSpPr>
              <p:nvPr/>
            </p:nvSpPr>
            <p:spPr bwMode="auto">
              <a:xfrm>
                <a:off x="2693" y="147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365" name="Rectangle 198"/>
              <p:cNvSpPr>
                <a:spLocks noChangeArrowheads="1"/>
              </p:cNvSpPr>
              <p:nvPr/>
            </p:nvSpPr>
            <p:spPr bwMode="auto">
              <a:xfrm>
                <a:off x="2726" y="147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366" name="Rectangle 199"/>
              <p:cNvSpPr>
                <a:spLocks noChangeArrowheads="1"/>
              </p:cNvSpPr>
              <p:nvPr/>
            </p:nvSpPr>
            <p:spPr bwMode="auto">
              <a:xfrm>
                <a:off x="2757" y="147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6367" name="Rectangle 200"/>
              <p:cNvSpPr>
                <a:spLocks noChangeArrowheads="1"/>
              </p:cNvSpPr>
              <p:nvPr/>
            </p:nvSpPr>
            <p:spPr bwMode="auto">
              <a:xfrm>
                <a:off x="2519" y="1387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B</a:t>
                </a:r>
              </a:p>
            </p:txBody>
          </p:sp>
          <p:sp>
            <p:nvSpPr>
              <p:cNvPr id="76368" name="Rectangle 201"/>
              <p:cNvSpPr>
                <a:spLocks noChangeArrowheads="1"/>
              </p:cNvSpPr>
              <p:nvPr/>
            </p:nvSpPr>
            <p:spPr bwMode="auto">
              <a:xfrm>
                <a:off x="2561" y="1387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369" name="Rectangle 202"/>
              <p:cNvSpPr>
                <a:spLocks noChangeArrowheads="1"/>
              </p:cNvSpPr>
              <p:nvPr/>
            </p:nvSpPr>
            <p:spPr bwMode="auto">
              <a:xfrm>
                <a:off x="2580" y="138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370" name="Rectangle 203"/>
              <p:cNvSpPr>
                <a:spLocks noChangeArrowheads="1"/>
              </p:cNvSpPr>
              <p:nvPr/>
            </p:nvSpPr>
            <p:spPr bwMode="auto">
              <a:xfrm>
                <a:off x="2613" y="138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6371" name="Rectangle 204"/>
              <p:cNvSpPr>
                <a:spLocks noChangeArrowheads="1"/>
              </p:cNvSpPr>
              <p:nvPr/>
            </p:nvSpPr>
            <p:spPr bwMode="auto">
              <a:xfrm>
                <a:off x="2643" y="1387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</p:grpSp>
        <p:grpSp>
          <p:nvGrpSpPr>
            <p:cNvPr id="75789" name="Group 205"/>
            <p:cNvGrpSpPr>
              <a:grpSpLocks/>
            </p:cNvGrpSpPr>
            <p:nvPr/>
          </p:nvGrpSpPr>
          <p:grpSpPr bwMode="auto">
            <a:xfrm>
              <a:off x="384" y="672"/>
              <a:ext cx="4895" cy="2578"/>
              <a:chOff x="384" y="672"/>
              <a:chExt cx="4895" cy="2578"/>
            </a:xfrm>
          </p:grpSpPr>
          <p:sp>
            <p:nvSpPr>
              <p:cNvPr id="75972" name="Rectangle 206"/>
              <p:cNvSpPr>
                <a:spLocks noChangeArrowheads="1"/>
              </p:cNvSpPr>
              <p:nvPr/>
            </p:nvSpPr>
            <p:spPr bwMode="auto">
              <a:xfrm>
                <a:off x="2674" y="138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h</a:t>
                </a:r>
              </a:p>
            </p:txBody>
          </p:sp>
          <p:sp>
            <p:nvSpPr>
              <p:cNvPr id="75973" name="Rectangle 207"/>
              <p:cNvSpPr>
                <a:spLocks noChangeArrowheads="1"/>
              </p:cNvSpPr>
              <p:nvPr/>
            </p:nvSpPr>
            <p:spPr bwMode="auto">
              <a:xfrm>
                <a:off x="2520" y="1309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5974" name="Rectangle 208"/>
              <p:cNvSpPr>
                <a:spLocks noChangeArrowheads="1"/>
              </p:cNvSpPr>
              <p:nvPr/>
            </p:nvSpPr>
            <p:spPr bwMode="auto">
              <a:xfrm>
                <a:off x="2563" y="130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5975" name="Rectangle 209"/>
              <p:cNvSpPr>
                <a:spLocks noChangeArrowheads="1"/>
              </p:cNvSpPr>
              <p:nvPr/>
            </p:nvSpPr>
            <p:spPr bwMode="auto">
              <a:xfrm>
                <a:off x="2594" y="130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g</a:t>
                </a:r>
              </a:p>
            </p:txBody>
          </p:sp>
          <p:sp>
            <p:nvSpPr>
              <p:cNvPr id="75976" name="Rectangle 210"/>
              <p:cNvSpPr>
                <a:spLocks noChangeArrowheads="1"/>
              </p:cNvSpPr>
              <p:nvPr/>
            </p:nvSpPr>
            <p:spPr bwMode="auto">
              <a:xfrm>
                <a:off x="2626" y="1309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5977" name="Rectangle 211"/>
              <p:cNvSpPr>
                <a:spLocks noChangeArrowheads="1"/>
              </p:cNvSpPr>
              <p:nvPr/>
            </p:nvSpPr>
            <p:spPr bwMode="auto">
              <a:xfrm>
                <a:off x="2670" y="1309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5978" name="Rectangle 212"/>
              <p:cNvSpPr>
                <a:spLocks noChangeArrowheads="1"/>
              </p:cNvSpPr>
              <p:nvPr/>
            </p:nvSpPr>
            <p:spPr bwMode="auto">
              <a:xfrm>
                <a:off x="2698" y="1309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5979" name="Rectangle 213"/>
              <p:cNvSpPr>
                <a:spLocks noChangeArrowheads="1"/>
              </p:cNvSpPr>
              <p:nvPr/>
            </p:nvSpPr>
            <p:spPr bwMode="auto">
              <a:xfrm>
                <a:off x="2519" y="1825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5980" name="Rectangle 214"/>
              <p:cNvSpPr>
                <a:spLocks noChangeArrowheads="1"/>
              </p:cNvSpPr>
              <p:nvPr/>
            </p:nvSpPr>
            <p:spPr bwMode="auto">
              <a:xfrm>
                <a:off x="2561" y="182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75981" name="Rectangle 215"/>
              <p:cNvSpPr>
                <a:spLocks noChangeArrowheads="1"/>
              </p:cNvSpPr>
              <p:nvPr/>
            </p:nvSpPr>
            <p:spPr bwMode="auto">
              <a:xfrm>
                <a:off x="2591" y="1825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5982" name="Rectangle 216"/>
              <p:cNvSpPr>
                <a:spLocks noChangeArrowheads="1"/>
              </p:cNvSpPr>
              <p:nvPr/>
            </p:nvSpPr>
            <p:spPr bwMode="auto">
              <a:xfrm>
                <a:off x="2633" y="1825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5983" name="Rectangle 217"/>
              <p:cNvSpPr>
                <a:spLocks noChangeArrowheads="1"/>
              </p:cNvSpPr>
              <p:nvPr/>
            </p:nvSpPr>
            <p:spPr bwMode="auto">
              <a:xfrm>
                <a:off x="2674" y="1825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5984" name="Rectangle 218"/>
              <p:cNvSpPr>
                <a:spLocks noChangeArrowheads="1"/>
              </p:cNvSpPr>
              <p:nvPr/>
            </p:nvSpPr>
            <p:spPr bwMode="auto">
              <a:xfrm>
                <a:off x="2693" y="1825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75985" name="Rectangle 219"/>
              <p:cNvSpPr>
                <a:spLocks noChangeArrowheads="1"/>
              </p:cNvSpPr>
              <p:nvPr/>
            </p:nvSpPr>
            <p:spPr bwMode="auto">
              <a:xfrm>
                <a:off x="1661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5986" name="Rectangle 220"/>
              <p:cNvSpPr>
                <a:spLocks noChangeArrowheads="1"/>
              </p:cNvSpPr>
              <p:nvPr/>
            </p:nvSpPr>
            <p:spPr bwMode="auto">
              <a:xfrm>
                <a:off x="1677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5987" name="Rectangle 221"/>
              <p:cNvSpPr>
                <a:spLocks noChangeArrowheads="1"/>
              </p:cNvSpPr>
              <p:nvPr/>
            </p:nvSpPr>
            <p:spPr bwMode="auto">
              <a:xfrm>
                <a:off x="1710" y="1565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5988" name="Rectangle 222"/>
              <p:cNvSpPr>
                <a:spLocks noChangeArrowheads="1"/>
              </p:cNvSpPr>
              <p:nvPr/>
            </p:nvSpPr>
            <p:spPr bwMode="auto">
              <a:xfrm>
                <a:off x="1739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5989" name="Rectangle 223"/>
              <p:cNvSpPr>
                <a:spLocks noChangeArrowheads="1"/>
              </p:cNvSpPr>
              <p:nvPr/>
            </p:nvSpPr>
            <p:spPr bwMode="auto">
              <a:xfrm>
                <a:off x="1755" y="1565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5990" name="Rectangle 224"/>
              <p:cNvSpPr>
                <a:spLocks noChangeArrowheads="1"/>
              </p:cNvSpPr>
              <p:nvPr/>
            </p:nvSpPr>
            <p:spPr bwMode="auto">
              <a:xfrm>
                <a:off x="1774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5991" name="Rectangle 225"/>
              <p:cNvSpPr>
                <a:spLocks noChangeArrowheads="1"/>
              </p:cNvSpPr>
              <p:nvPr/>
            </p:nvSpPr>
            <p:spPr bwMode="auto">
              <a:xfrm>
                <a:off x="1808" y="1565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75992" name="Rectangle 226"/>
              <p:cNvSpPr>
                <a:spLocks noChangeArrowheads="1"/>
              </p:cNvSpPr>
              <p:nvPr/>
            </p:nvSpPr>
            <p:spPr bwMode="auto">
              <a:xfrm>
                <a:off x="1836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5993" name="Rectangle 227"/>
              <p:cNvSpPr>
                <a:spLocks noChangeArrowheads="1"/>
              </p:cNvSpPr>
              <p:nvPr/>
            </p:nvSpPr>
            <p:spPr bwMode="auto">
              <a:xfrm>
                <a:off x="1852" y="1565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5994" name="Rectangle 228"/>
              <p:cNvSpPr>
                <a:spLocks noChangeArrowheads="1"/>
              </p:cNvSpPr>
              <p:nvPr/>
            </p:nvSpPr>
            <p:spPr bwMode="auto">
              <a:xfrm>
                <a:off x="1867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75995" name="Rectangle 229"/>
              <p:cNvSpPr>
                <a:spLocks noChangeArrowheads="1"/>
              </p:cNvSpPr>
              <p:nvPr/>
            </p:nvSpPr>
            <p:spPr bwMode="auto">
              <a:xfrm>
                <a:off x="1898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5996" name="Rectangle 230"/>
              <p:cNvSpPr>
                <a:spLocks noChangeArrowheads="1"/>
              </p:cNvSpPr>
              <p:nvPr/>
            </p:nvSpPr>
            <p:spPr bwMode="auto">
              <a:xfrm>
                <a:off x="1931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5997" name="Rectangle 231"/>
              <p:cNvSpPr>
                <a:spLocks noChangeArrowheads="1"/>
              </p:cNvSpPr>
              <p:nvPr/>
            </p:nvSpPr>
            <p:spPr bwMode="auto">
              <a:xfrm>
                <a:off x="1947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[</a:t>
                </a:r>
              </a:p>
            </p:txBody>
          </p:sp>
          <p:sp>
            <p:nvSpPr>
              <p:cNvPr id="75998" name="Rectangle 232"/>
              <p:cNvSpPr>
                <a:spLocks noChangeArrowheads="1"/>
              </p:cNvSpPr>
              <p:nvPr/>
            </p:nvSpPr>
            <p:spPr bwMode="auto">
              <a:xfrm>
                <a:off x="1964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3</a:t>
                </a:r>
              </a:p>
            </p:txBody>
          </p:sp>
          <p:sp>
            <p:nvSpPr>
              <p:cNvPr id="75999" name="Rectangle 233"/>
              <p:cNvSpPr>
                <a:spLocks noChangeArrowheads="1"/>
              </p:cNvSpPr>
              <p:nvPr/>
            </p:nvSpPr>
            <p:spPr bwMode="auto">
              <a:xfrm>
                <a:off x="1995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76000" name="Rectangle 234"/>
              <p:cNvSpPr>
                <a:spLocks noChangeArrowheads="1"/>
              </p:cNvSpPr>
              <p:nvPr/>
            </p:nvSpPr>
            <p:spPr bwMode="auto">
              <a:xfrm>
                <a:off x="2028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001" name="Rectangle 235"/>
              <p:cNvSpPr>
                <a:spLocks noChangeArrowheads="1"/>
              </p:cNvSpPr>
              <p:nvPr/>
            </p:nvSpPr>
            <p:spPr bwMode="auto">
              <a:xfrm>
                <a:off x="2044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002" name="Rectangle 236"/>
              <p:cNvSpPr>
                <a:spLocks noChangeArrowheads="1"/>
              </p:cNvSpPr>
              <p:nvPr/>
            </p:nvSpPr>
            <p:spPr bwMode="auto">
              <a:xfrm>
                <a:off x="2061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2</a:t>
                </a:r>
              </a:p>
            </p:txBody>
          </p:sp>
          <p:sp>
            <p:nvSpPr>
              <p:cNvPr id="76003" name="Rectangle 237"/>
              <p:cNvSpPr>
                <a:spLocks noChangeArrowheads="1"/>
              </p:cNvSpPr>
              <p:nvPr/>
            </p:nvSpPr>
            <p:spPr bwMode="auto">
              <a:xfrm>
                <a:off x="2094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6</a:t>
                </a:r>
              </a:p>
            </p:txBody>
          </p:sp>
          <p:sp>
            <p:nvSpPr>
              <p:cNvPr id="76004" name="Rectangle 238"/>
              <p:cNvSpPr>
                <a:spLocks noChangeArrowheads="1"/>
              </p:cNvSpPr>
              <p:nvPr/>
            </p:nvSpPr>
            <p:spPr bwMode="auto">
              <a:xfrm>
                <a:off x="2125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]</a:t>
                </a:r>
              </a:p>
            </p:txBody>
          </p:sp>
          <p:sp>
            <p:nvSpPr>
              <p:cNvPr id="76005" name="Freeform 239"/>
              <p:cNvSpPr>
                <a:spLocks noChangeArrowheads="1"/>
              </p:cNvSpPr>
              <p:nvPr/>
            </p:nvSpPr>
            <p:spPr bwMode="auto">
              <a:xfrm>
                <a:off x="633" y="2166"/>
                <a:ext cx="28" cy="28"/>
              </a:xfrm>
              <a:custGeom>
                <a:avLst/>
                <a:gdLst>
                  <a:gd name="T0" fmla="*/ 14 w 28"/>
                  <a:gd name="T1" fmla="*/ 28 h 28"/>
                  <a:gd name="T2" fmla="*/ 17 w 28"/>
                  <a:gd name="T3" fmla="*/ 28 h 28"/>
                  <a:gd name="T4" fmla="*/ 19 w 28"/>
                  <a:gd name="T5" fmla="*/ 28 h 28"/>
                  <a:gd name="T6" fmla="*/ 21 w 28"/>
                  <a:gd name="T7" fmla="*/ 28 h 28"/>
                  <a:gd name="T8" fmla="*/ 24 w 28"/>
                  <a:gd name="T9" fmla="*/ 26 h 28"/>
                  <a:gd name="T10" fmla="*/ 26 w 28"/>
                  <a:gd name="T11" fmla="*/ 26 h 28"/>
                  <a:gd name="T12" fmla="*/ 26 w 28"/>
                  <a:gd name="T13" fmla="*/ 24 h 28"/>
                  <a:gd name="T14" fmla="*/ 28 w 28"/>
                  <a:gd name="T15" fmla="*/ 21 h 28"/>
                  <a:gd name="T16" fmla="*/ 28 w 28"/>
                  <a:gd name="T17" fmla="*/ 19 h 28"/>
                  <a:gd name="T18" fmla="*/ 28 w 28"/>
                  <a:gd name="T19" fmla="*/ 16 h 28"/>
                  <a:gd name="T20" fmla="*/ 28 w 28"/>
                  <a:gd name="T21" fmla="*/ 14 h 28"/>
                  <a:gd name="T22" fmla="*/ 28 w 28"/>
                  <a:gd name="T23" fmla="*/ 12 h 28"/>
                  <a:gd name="T24" fmla="*/ 28 w 28"/>
                  <a:gd name="T25" fmla="*/ 9 h 28"/>
                  <a:gd name="T26" fmla="*/ 28 w 28"/>
                  <a:gd name="T27" fmla="*/ 7 h 28"/>
                  <a:gd name="T28" fmla="*/ 26 w 28"/>
                  <a:gd name="T29" fmla="*/ 7 h 28"/>
                  <a:gd name="T30" fmla="*/ 26 w 28"/>
                  <a:gd name="T31" fmla="*/ 5 h 28"/>
                  <a:gd name="T32" fmla="*/ 24 w 28"/>
                  <a:gd name="T33" fmla="*/ 2 h 28"/>
                  <a:gd name="T34" fmla="*/ 21 w 28"/>
                  <a:gd name="T35" fmla="*/ 2 h 28"/>
                  <a:gd name="T36" fmla="*/ 19 w 28"/>
                  <a:gd name="T37" fmla="*/ 0 h 28"/>
                  <a:gd name="T38" fmla="*/ 17 w 28"/>
                  <a:gd name="T39" fmla="*/ 0 h 28"/>
                  <a:gd name="T40" fmla="*/ 14 w 28"/>
                  <a:gd name="T41" fmla="*/ 0 h 28"/>
                  <a:gd name="T42" fmla="*/ 12 w 28"/>
                  <a:gd name="T43" fmla="*/ 0 h 28"/>
                  <a:gd name="T44" fmla="*/ 9 w 28"/>
                  <a:gd name="T45" fmla="*/ 0 h 28"/>
                  <a:gd name="T46" fmla="*/ 7 w 28"/>
                  <a:gd name="T47" fmla="*/ 2 h 28"/>
                  <a:gd name="T48" fmla="*/ 7 w 28"/>
                  <a:gd name="T49" fmla="*/ 2 h 28"/>
                  <a:gd name="T50" fmla="*/ 5 w 28"/>
                  <a:gd name="T51" fmla="*/ 5 h 28"/>
                  <a:gd name="T52" fmla="*/ 2 w 28"/>
                  <a:gd name="T53" fmla="*/ 7 h 28"/>
                  <a:gd name="T54" fmla="*/ 2 w 28"/>
                  <a:gd name="T55" fmla="*/ 7 h 28"/>
                  <a:gd name="T56" fmla="*/ 0 w 28"/>
                  <a:gd name="T57" fmla="*/ 9 h 28"/>
                  <a:gd name="T58" fmla="*/ 0 w 28"/>
                  <a:gd name="T59" fmla="*/ 12 h 28"/>
                  <a:gd name="T60" fmla="*/ 0 w 28"/>
                  <a:gd name="T61" fmla="*/ 14 h 28"/>
                  <a:gd name="T62" fmla="*/ 0 w 28"/>
                  <a:gd name="T63" fmla="*/ 16 h 28"/>
                  <a:gd name="T64" fmla="*/ 0 w 28"/>
                  <a:gd name="T65" fmla="*/ 19 h 28"/>
                  <a:gd name="T66" fmla="*/ 2 w 28"/>
                  <a:gd name="T67" fmla="*/ 21 h 28"/>
                  <a:gd name="T68" fmla="*/ 2 w 28"/>
                  <a:gd name="T69" fmla="*/ 24 h 28"/>
                  <a:gd name="T70" fmla="*/ 5 w 28"/>
                  <a:gd name="T71" fmla="*/ 26 h 28"/>
                  <a:gd name="T72" fmla="*/ 7 w 28"/>
                  <a:gd name="T73" fmla="*/ 26 h 28"/>
                  <a:gd name="T74" fmla="*/ 7 w 28"/>
                  <a:gd name="T75" fmla="*/ 28 h 28"/>
                  <a:gd name="T76" fmla="*/ 9 w 28"/>
                  <a:gd name="T77" fmla="*/ 28 h 28"/>
                  <a:gd name="T78" fmla="*/ 12 w 28"/>
                  <a:gd name="T79" fmla="*/ 28 h 28"/>
                  <a:gd name="T80" fmla="*/ 14 w 28"/>
                  <a:gd name="T81" fmla="*/ 28 h 28"/>
                  <a:gd name="T82" fmla="*/ 14 w 28"/>
                  <a:gd name="T83" fmla="*/ 28 h 2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8"/>
                  <a:gd name="T127" fmla="*/ 0 h 28"/>
                  <a:gd name="T128" fmla="*/ 28 w 28"/>
                  <a:gd name="T129" fmla="*/ 28 h 2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8" h="28">
                    <a:moveTo>
                      <a:pt x="14" y="28"/>
                    </a:moveTo>
                    <a:lnTo>
                      <a:pt x="17" y="28"/>
                    </a:lnTo>
                    <a:lnTo>
                      <a:pt x="19" y="28"/>
                    </a:lnTo>
                    <a:lnTo>
                      <a:pt x="21" y="28"/>
                    </a:lnTo>
                    <a:lnTo>
                      <a:pt x="24" y="26"/>
                    </a:lnTo>
                    <a:lnTo>
                      <a:pt x="26" y="26"/>
                    </a:lnTo>
                    <a:lnTo>
                      <a:pt x="26" y="24"/>
                    </a:lnTo>
                    <a:lnTo>
                      <a:pt x="28" y="21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4"/>
                    </a:lnTo>
                    <a:lnTo>
                      <a:pt x="28" y="12"/>
                    </a:lnTo>
                    <a:lnTo>
                      <a:pt x="28" y="9"/>
                    </a:lnTo>
                    <a:lnTo>
                      <a:pt x="28" y="7"/>
                    </a:lnTo>
                    <a:lnTo>
                      <a:pt x="26" y="7"/>
                    </a:lnTo>
                    <a:lnTo>
                      <a:pt x="26" y="5"/>
                    </a:lnTo>
                    <a:lnTo>
                      <a:pt x="24" y="2"/>
                    </a:lnTo>
                    <a:lnTo>
                      <a:pt x="21" y="2"/>
                    </a:lnTo>
                    <a:lnTo>
                      <a:pt x="19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7" y="2"/>
                    </a:lnTo>
                    <a:lnTo>
                      <a:pt x="5" y="5"/>
                    </a:lnTo>
                    <a:lnTo>
                      <a:pt x="2" y="7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2" y="21"/>
                    </a:lnTo>
                    <a:lnTo>
                      <a:pt x="2" y="24"/>
                    </a:lnTo>
                    <a:lnTo>
                      <a:pt x="5" y="26"/>
                    </a:lnTo>
                    <a:lnTo>
                      <a:pt x="7" y="26"/>
                    </a:lnTo>
                    <a:lnTo>
                      <a:pt x="7" y="28"/>
                    </a:lnTo>
                    <a:lnTo>
                      <a:pt x="9" y="28"/>
                    </a:lnTo>
                    <a:lnTo>
                      <a:pt x="12" y="28"/>
                    </a:lnTo>
                    <a:lnTo>
                      <a:pt x="14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06" name="Freeform 240"/>
              <p:cNvSpPr>
                <a:spLocks noChangeArrowheads="1"/>
              </p:cNvSpPr>
              <p:nvPr/>
            </p:nvSpPr>
            <p:spPr bwMode="auto">
              <a:xfrm>
                <a:off x="979" y="1043"/>
                <a:ext cx="28" cy="31"/>
              </a:xfrm>
              <a:custGeom>
                <a:avLst/>
                <a:gdLst>
                  <a:gd name="T0" fmla="*/ 0 w 28"/>
                  <a:gd name="T1" fmla="*/ 0 h 31"/>
                  <a:gd name="T2" fmla="*/ 0 w 28"/>
                  <a:gd name="T3" fmla="*/ 31 h 31"/>
                  <a:gd name="T4" fmla="*/ 28 w 28"/>
                  <a:gd name="T5" fmla="*/ 17 h 31"/>
                  <a:gd name="T6" fmla="*/ 0 w 28"/>
                  <a:gd name="T7" fmla="*/ 0 h 31"/>
                  <a:gd name="T8" fmla="*/ 0 w 28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31"/>
                  <a:gd name="T17" fmla="*/ 28 w 28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31">
                    <a:moveTo>
                      <a:pt x="0" y="0"/>
                    </a:moveTo>
                    <a:lnTo>
                      <a:pt x="0" y="31"/>
                    </a:lnTo>
                    <a:lnTo>
                      <a:pt x="28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07" name="Freeform 241"/>
              <p:cNvSpPr>
                <a:spLocks noChangeArrowheads="1"/>
              </p:cNvSpPr>
              <p:nvPr/>
            </p:nvSpPr>
            <p:spPr bwMode="auto">
              <a:xfrm>
                <a:off x="979" y="1394"/>
                <a:ext cx="28" cy="31"/>
              </a:xfrm>
              <a:custGeom>
                <a:avLst/>
                <a:gdLst>
                  <a:gd name="T0" fmla="*/ 0 w 28"/>
                  <a:gd name="T1" fmla="*/ 0 h 31"/>
                  <a:gd name="T2" fmla="*/ 0 w 28"/>
                  <a:gd name="T3" fmla="*/ 31 h 31"/>
                  <a:gd name="T4" fmla="*/ 28 w 28"/>
                  <a:gd name="T5" fmla="*/ 17 h 31"/>
                  <a:gd name="T6" fmla="*/ 0 w 28"/>
                  <a:gd name="T7" fmla="*/ 0 h 31"/>
                  <a:gd name="T8" fmla="*/ 0 w 28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31"/>
                  <a:gd name="T17" fmla="*/ 28 w 28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31">
                    <a:moveTo>
                      <a:pt x="0" y="0"/>
                    </a:moveTo>
                    <a:lnTo>
                      <a:pt x="0" y="31"/>
                    </a:lnTo>
                    <a:lnTo>
                      <a:pt x="28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08" name="Rectangle 242"/>
              <p:cNvSpPr>
                <a:spLocks noChangeArrowheads="1"/>
              </p:cNvSpPr>
              <p:nvPr/>
            </p:nvSpPr>
            <p:spPr bwMode="auto">
              <a:xfrm>
                <a:off x="822" y="137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4</a:t>
                </a:r>
              </a:p>
            </p:txBody>
          </p:sp>
          <p:sp>
            <p:nvSpPr>
              <p:cNvPr id="76009" name="Line 243"/>
              <p:cNvSpPr>
                <a:spLocks noChangeShapeType="1"/>
              </p:cNvSpPr>
              <p:nvPr/>
            </p:nvSpPr>
            <p:spPr bwMode="auto">
              <a:xfrm flipH="1">
                <a:off x="3336" y="944"/>
                <a:ext cx="412" cy="2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10" name="Freeform 244"/>
              <p:cNvSpPr>
                <a:spLocks noChangeArrowheads="1"/>
              </p:cNvSpPr>
              <p:nvPr/>
            </p:nvSpPr>
            <p:spPr bwMode="auto">
              <a:xfrm>
                <a:off x="3775" y="826"/>
                <a:ext cx="365" cy="589"/>
              </a:xfrm>
              <a:custGeom>
                <a:avLst/>
                <a:gdLst>
                  <a:gd name="T0" fmla="*/ 0 w 365"/>
                  <a:gd name="T1" fmla="*/ 0 h 589"/>
                  <a:gd name="T2" fmla="*/ 0 w 365"/>
                  <a:gd name="T3" fmla="*/ 239 h 589"/>
                  <a:gd name="T4" fmla="*/ 62 w 365"/>
                  <a:gd name="T5" fmla="*/ 296 h 589"/>
                  <a:gd name="T6" fmla="*/ 0 w 365"/>
                  <a:gd name="T7" fmla="*/ 352 h 589"/>
                  <a:gd name="T8" fmla="*/ 0 w 365"/>
                  <a:gd name="T9" fmla="*/ 589 h 589"/>
                  <a:gd name="T10" fmla="*/ 365 w 365"/>
                  <a:gd name="T11" fmla="*/ 409 h 589"/>
                  <a:gd name="T12" fmla="*/ 365 w 365"/>
                  <a:gd name="T13" fmla="*/ 180 h 589"/>
                  <a:gd name="T14" fmla="*/ 0 w 365"/>
                  <a:gd name="T15" fmla="*/ 2 h 589"/>
                  <a:gd name="T16" fmla="*/ 0 w 365"/>
                  <a:gd name="T17" fmla="*/ 2 h 589"/>
                  <a:gd name="T18" fmla="*/ 0 w 365"/>
                  <a:gd name="T19" fmla="*/ 0 h 58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65"/>
                  <a:gd name="T31" fmla="*/ 0 h 589"/>
                  <a:gd name="T32" fmla="*/ 365 w 365"/>
                  <a:gd name="T33" fmla="*/ 589 h 58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65" h="589">
                    <a:moveTo>
                      <a:pt x="0" y="0"/>
                    </a:moveTo>
                    <a:lnTo>
                      <a:pt x="0" y="239"/>
                    </a:lnTo>
                    <a:lnTo>
                      <a:pt x="62" y="296"/>
                    </a:lnTo>
                    <a:lnTo>
                      <a:pt x="0" y="352"/>
                    </a:lnTo>
                    <a:lnTo>
                      <a:pt x="0" y="589"/>
                    </a:lnTo>
                    <a:lnTo>
                      <a:pt x="365" y="409"/>
                    </a:lnTo>
                    <a:lnTo>
                      <a:pt x="365" y="180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11" name="Freeform 245"/>
              <p:cNvSpPr>
                <a:spLocks noChangeArrowheads="1"/>
              </p:cNvSpPr>
              <p:nvPr/>
            </p:nvSpPr>
            <p:spPr bwMode="auto">
              <a:xfrm>
                <a:off x="3775" y="826"/>
                <a:ext cx="365" cy="589"/>
              </a:xfrm>
              <a:custGeom>
                <a:avLst/>
                <a:gdLst>
                  <a:gd name="T0" fmla="*/ 0 w 365"/>
                  <a:gd name="T1" fmla="*/ 0 h 589"/>
                  <a:gd name="T2" fmla="*/ 0 w 365"/>
                  <a:gd name="T3" fmla="*/ 239 h 589"/>
                  <a:gd name="T4" fmla="*/ 62 w 365"/>
                  <a:gd name="T5" fmla="*/ 296 h 589"/>
                  <a:gd name="T6" fmla="*/ 0 w 365"/>
                  <a:gd name="T7" fmla="*/ 352 h 589"/>
                  <a:gd name="T8" fmla="*/ 0 w 365"/>
                  <a:gd name="T9" fmla="*/ 589 h 589"/>
                  <a:gd name="T10" fmla="*/ 365 w 365"/>
                  <a:gd name="T11" fmla="*/ 409 h 589"/>
                  <a:gd name="T12" fmla="*/ 365 w 365"/>
                  <a:gd name="T13" fmla="*/ 180 h 589"/>
                  <a:gd name="T14" fmla="*/ 0 w 365"/>
                  <a:gd name="T15" fmla="*/ 2 h 589"/>
                  <a:gd name="T16" fmla="*/ 0 w 365"/>
                  <a:gd name="T17" fmla="*/ 2 h 58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65"/>
                  <a:gd name="T28" fmla="*/ 0 h 589"/>
                  <a:gd name="T29" fmla="*/ 365 w 365"/>
                  <a:gd name="T30" fmla="*/ 589 h 58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65" h="589">
                    <a:moveTo>
                      <a:pt x="0" y="0"/>
                    </a:moveTo>
                    <a:lnTo>
                      <a:pt x="0" y="239"/>
                    </a:lnTo>
                    <a:lnTo>
                      <a:pt x="62" y="296"/>
                    </a:lnTo>
                    <a:lnTo>
                      <a:pt x="0" y="352"/>
                    </a:lnTo>
                    <a:lnTo>
                      <a:pt x="0" y="589"/>
                    </a:lnTo>
                    <a:lnTo>
                      <a:pt x="365" y="409"/>
                    </a:lnTo>
                    <a:lnTo>
                      <a:pt x="365" y="180"/>
                    </a:lnTo>
                    <a:lnTo>
                      <a:pt x="0" y="2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12" name="Line 246"/>
              <p:cNvSpPr>
                <a:spLocks noChangeShapeType="1"/>
              </p:cNvSpPr>
              <p:nvPr/>
            </p:nvSpPr>
            <p:spPr bwMode="auto">
              <a:xfrm flipH="1">
                <a:off x="4139" y="1119"/>
                <a:ext cx="419" cy="3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13" name="Freeform 247"/>
              <p:cNvSpPr>
                <a:spLocks noChangeArrowheads="1"/>
              </p:cNvSpPr>
              <p:nvPr/>
            </p:nvSpPr>
            <p:spPr bwMode="auto">
              <a:xfrm>
                <a:off x="4543" y="776"/>
                <a:ext cx="30" cy="31"/>
              </a:xfrm>
              <a:custGeom>
                <a:avLst/>
                <a:gdLst>
                  <a:gd name="T0" fmla="*/ 0 w 30"/>
                  <a:gd name="T1" fmla="*/ 0 h 31"/>
                  <a:gd name="T2" fmla="*/ 0 w 30"/>
                  <a:gd name="T3" fmla="*/ 31 h 31"/>
                  <a:gd name="T4" fmla="*/ 30 w 30"/>
                  <a:gd name="T5" fmla="*/ 16 h 31"/>
                  <a:gd name="T6" fmla="*/ 0 w 30"/>
                  <a:gd name="T7" fmla="*/ 2 h 31"/>
                  <a:gd name="T8" fmla="*/ 0 w 30"/>
                  <a:gd name="T9" fmla="*/ 2 h 31"/>
                  <a:gd name="T10" fmla="*/ 0 w 30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0"/>
                  <a:gd name="T19" fmla="*/ 0 h 31"/>
                  <a:gd name="T20" fmla="*/ 30 w 30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0" h="31">
                    <a:moveTo>
                      <a:pt x="0" y="0"/>
                    </a:moveTo>
                    <a:lnTo>
                      <a:pt x="0" y="31"/>
                    </a:lnTo>
                    <a:lnTo>
                      <a:pt x="30" y="1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14" name="Freeform 248"/>
              <p:cNvSpPr>
                <a:spLocks noChangeArrowheads="1"/>
              </p:cNvSpPr>
              <p:nvPr/>
            </p:nvSpPr>
            <p:spPr bwMode="auto">
              <a:xfrm>
                <a:off x="4543" y="1105"/>
                <a:ext cx="30" cy="31"/>
              </a:xfrm>
              <a:custGeom>
                <a:avLst/>
                <a:gdLst>
                  <a:gd name="T0" fmla="*/ 0 w 30"/>
                  <a:gd name="T1" fmla="*/ 0 h 31"/>
                  <a:gd name="T2" fmla="*/ 0 w 30"/>
                  <a:gd name="T3" fmla="*/ 31 h 31"/>
                  <a:gd name="T4" fmla="*/ 30 w 30"/>
                  <a:gd name="T5" fmla="*/ 17 h 31"/>
                  <a:gd name="T6" fmla="*/ 0 w 30"/>
                  <a:gd name="T7" fmla="*/ 0 h 31"/>
                  <a:gd name="T8" fmla="*/ 0 w 30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1"/>
                  <a:gd name="T17" fmla="*/ 30 w 30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1">
                    <a:moveTo>
                      <a:pt x="0" y="0"/>
                    </a:moveTo>
                    <a:lnTo>
                      <a:pt x="0" y="31"/>
                    </a:lnTo>
                    <a:lnTo>
                      <a:pt x="30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15" name="Freeform 249"/>
              <p:cNvSpPr>
                <a:spLocks noChangeArrowheads="1"/>
              </p:cNvSpPr>
              <p:nvPr/>
            </p:nvSpPr>
            <p:spPr bwMode="auto">
              <a:xfrm>
                <a:off x="4576" y="738"/>
                <a:ext cx="111" cy="438"/>
              </a:xfrm>
              <a:custGeom>
                <a:avLst/>
                <a:gdLst>
                  <a:gd name="T0" fmla="*/ 0 w 111"/>
                  <a:gd name="T1" fmla="*/ 54 h 438"/>
                  <a:gd name="T2" fmla="*/ 2 w 111"/>
                  <a:gd name="T3" fmla="*/ 45 h 438"/>
                  <a:gd name="T4" fmla="*/ 5 w 111"/>
                  <a:gd name="T5" fmla="*/ 38 h 438"/>
                  <a:gd name="T6" fmla="*/ 7 w 111"/>
                  <a:gd name="T7" fmla="*/ 28 h 438"/>
                  <a:gd name="T8" fmla="*/ 12 w 111"/>
                  <a:gd name="T9" fmla="*/ 21 h 438"/>
                  <a:gd name="T10" fmla="*/ 16 w 111"/>
                  <a:gd name="T11" fmla="*/ 17 h 438"/>
                  <a:gd name="T12" fmla="*/ 24 w 111"/>
                  <a:gd name="T13" fmla="*/ 10 h 438"/>
                  <a:gd name="T14" fmla="*/ 31 w 111"/>
                  <a:gd name="T15" fmla="*/ 7 h 438"/>
                  <a:gd name="T16" fmla="*/ 38 w 111"/>
                  <a:gd name="T17" fmla="*/ 2 h 438"/>
                  <a:gd name="T18" fmla="*/ 47 w 111"/>
                  <a:gd name="T19" fmla="*/ 0 h 438"/>
                  <a:gd name="T20" fmla="*/ 57 w 111"/>
                  <a:gd name="T21" fmla="*/ 0 h 438"/>
                  <a:gd name="T22" fmla="*/ 64 w 111"/>
                  <a:gd name="T23" fmla="*/ 0 h 438"/>
                  <a:gd name="T24" fmla="*/ 73 w 111"/>
                  <a:gd name="T25" fmla="*/ 2 h 438"/>
                  <a:gd name="T26" fmla="*/ 80 w 111"/>
                  <a:gd name="T27" fmla="*/ 7 h 438"/>
                  <a:gd name="T28" fmla="*/ 87 w 111"/>
                  <a:gd name="T29" fmla="*/ 10 h 438"/>
                  <a:gd name="T30" fmla="*/ 95 w 111"/>
                  <a:gd name="T31" fmla="*/ 17 h 438"/>
                  <a:gd name="T32" fmla="*/ 99 w 111"/>
                  <a:gd name="T33" fmla="*/ 21 h 438"/>
                  <a:gd name="T34" fmla="*/ 104 w 111"/>
                  <a:gd name="T35" fmla="*/ 28 h 438"/>
                  <a:gd name="T36" fmla="*/ 106 w 111"/>
                  <a:gd name="T37" fmla="*/ 38 h 438"/>
                  <a:gd name="T38" fmla="*/ 109 w 111"/>
                  <a:gd name="T39" fmla="*/ 45 h 438"/>
                  <a:gd name="T40" fmla="*/ 111 w 111"/>
                  <a:gd name="T41" fmla="*/ 54 h 438"/>
                  <a:gd name="T42" fmla="*/ 111 w 111"/>
                  <a:gd name="T43" fmla="*/ 384 h 438"/>
                  <a:gd name="T44" fmla="*/ 109 w 111"/>
                  <a:gd name="T45" fmla="*/ 391 h 438"/>
                  <a:gd name="T46" fmla="*/ 106 w 111"/>
                  <a:gd name="T47" fmla="*/ 400 h 438"/>
                  <a:gd name="T48" fmla="*/ 104 w 111"/>
                  <a:gd name="T49" fmla="*/ 407 h 438"/>
                  <a:gd name="T50" fmla="*/ 99 w 111"/>
                  <a:gd name="T51" fmla="*/ 414 h 438"/>
                  <a:gd name="T52" fmla="*/ 95 w 111"/>
                  <a:gd name="T53" fmla="*/ 422 h 438"/>
                  <a:gd name="T54" fmla="*/ 87 w 111"/>
                  <a:gd name="T55" fmla="*/ 426 h 438"/>
                  <a:gd name="T56" fmla="*/ 80 w 111"/>
                  <a:gd name="T57" fmla="*/ 431 h 438"/>
                  <a:gd name="T58" fmla="*/ 73 w 111"/>
                  <a:gd name="T59" fmla="*/ 433 h 438"/>
                  <a:gd name="T60" fmla="*/ 64 w 111"/>
                  <a:gd name="T61" fmla="*/ 436 h 438"/>
                  <a:gd name="T62" fmla="*/ 57 w 111"/>
                  <a:gd name="T63" fmla="*/ 438 h 438"/>
                  <a:gd name="T64" fmla="*/ 47 w 111"/>
                  <a:gd name="T65" fmla="*/ 436 h 438"/>
                  <a:gd name="T66" fmla="*/ 38 w 111"/>
                  <a:gd name="T67" fmla="*/ 433 h 438"/>
                  <a:gd name="T68" fmla="*/ 31 w 111"/>
                  <a:gd name="T69" fmla="*/ 431 h 438"/>
                  <a:gd name="T70" fmla="*/ 24 w 111"/>
                  <a:gd name="T71" fmla="*/ 426 h 438"/>
                  <a:gd name="T72" fmla="*/ 16 w 111"/>
                  <a:gd name="T73" fmla="*/ 422 h 438"/>
                  <a:gd name="T74" fmla="*/ 12 w 111"/>
                  <a:gd name="T75" fmla="*/ 414 h 438"/>
                  <a:gd name="T76" fmla="*/ 7 w 111"/>
                  <a:gd name="T77" fmla="*/ 407 h 438"/>
                  <a:gd name="T78" fmla="*/ 5 w 111"/>
                  <a:gd name="T79" fmla="*/ 400 h 438"/>
                  <a:gd name="T80" fmla="*/ 2 w 111"/>
                  <a:gd name="T81" fmla="*/ 391 h 438"/>
                  <a:gd name="T82" fmla="*/ 2 w 111"/>
                  <a:gd name="T83" fmla="*/ 384 h 438"/>
                  <a:gd name="T84" fmla="*/ 2 w 111"/>
                  <a:gd name="T85" fmla="*/ 54 h 438"/>
                  <a:gd name="T86" fmla="*/ 2 w 111"/>
                  <a:gd name="T87" fmla="*/ 54 h 438"/>
                  <a:gd name="T88" fmla="*/ 0 w 111"/>
                  <a:gd name="T89" fmla="*/ 54 h 438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11"/>
                  <a:gd name="T136" fmla="*/ 0 h 438"/>
                  <a:gd name="T137" fmla="*/ 111 w 111"/>
                  <a:gd name="T138" fmla="*/ 438 h 438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11" h="438">
                    <a:moveTo>
                      <a:pt x="0" y="54"/>
                    </a:moveTo>
                    <a:lnTo>
                      <a:pt x="2" y="45"/>
                    </a:lnTo>
                    <a:lnTo>
                      <a:pt x="5" y="38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6" y="17"/>
                    </a:lnTo>
                    <a:lnTo>
                      <a:pt x="24" y="10"/>
                    </a:lnTo>
                    <a:lnTo>
                      <a:pt x="31" y="7"/>
                    </a:lnTo>
                    <a:lnTo>
                      <a:pt x="38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4" y="0"/>
                    </a:lnTo>
                    <a:lnTo>
                      <a:pt x="73" y="2"/>
                    </a:lnTo>
                    <a:lnTo>
                      <a:pt x="80" y="7"/>
                    </a:lnTo>
                    <a:lnTo>
                      <a:pt x="87" y="10"/>
                    </a:lnTo>
                    <a:lnTo>
                      <a:pt x="95" y="17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6" y="38"/>
                    </a:lnTo>
                    <a:lnTo>
                      <a:pt x="109" y="45"/>
                    </a:lnTo>
                    <a:lnTo>
                      <a:pt x="111" y="54"/>
                    </a:lnTo>
                    <a:lnTo>
                      <a:pt x="111" y="384"/>
                    </a:lnTo>
                    <a:lnTo>
                      <a:pt x="109" y="391"/>
                    </a:lnTo>
                    <a:lnTo>
                      <a:pt x="106" y="400"/>
                    </a:lnTo>
                    <a:lnTo>
                      <a:pt x="104" y="407"/>
                    </a:lnTo>
                    <a:lnTo>
                      <a:pt x="99" y="414"/>
                    </a:lnTo>
                    <a:lnTo>
                      <a:pt x="95" y="422"/>
                    </a:lnTo>
                    <a:lnTo>
                      <a:pt x="87" y="426"/>
                    </a:lnTo>
                    <a:lnTo>
                      <a:pt x="80" y="431"/>
                    </a:lnTo>
                    <a:lnTo>
                      <a:pt x="73" y="433"/>
                    </a:lnTo>
                    <a:lnTo>
                      <a:pt x="64" y="436"/>
                    </a:lnTo>
                    <a:lnTo>
                      <a:pt x="57" y="438"/>
                    </a:lnTo>
                    <a:lnTo>
                      <a:pt x="47" y="436"/>
                    </a:lnTo>
                    <a:lnTo>
                      <a:pt x="38" y="433"/>
                    </a:lnTo>
                    <a:lnTo>
                      <a:pt x="31" y="431"/>
                    </a:lnTo>
                    <a:lnTo>
                      <a:pt x="24" y="426"/>
                    </a:lnTo>
                    <a:lnTo>
                      <a:pt x="16" y="422"/>
                    </a:lnTo>
                    <a:lnTo>
                      <a:pt x="12" y="414"/>
                    </a:lnTo>
                    <a:lnTo>
                      <a:pt x="7" y="407"/>
                    </a:lnTo>
                    <a:lnTo>
                      <a:pt x="5" y="400"/>
                    </a:lnTo>
                    <a:lnTo>
                      <a:pt x="2" y="391"/>
                    </a:lnTo>
                    <a:lnTo>
                      <a:pt x="2" y="384"/>
                    </a:lnTo>
                    <a:lnTo>
                      <a:pt x="2" y="54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16" name="Freeform 250"/>
              <p:cNvSpPr>
                <a:spLocks noChangeArrowheads="1"/>
              </p:cNvSpPr>
              <p:nvPr/>
            </p:nvSpPr>
            <p:spPr bwMode="auto">
              <a:xfrm>
                <a:off x="4576" y="738"/>
                <a:ext cx="111" cy="438"/>
              </a:xfrm>
              <a:custGeom>
                <a:avLst/>
                <a:gdLst>
                  <a:gd name="T0" fmla="*/ 0 w 111"/>
                  <a:gd name="T1" fmla="*/ 54 h 438"/>
                  <a:gd name="T2" fmla="*/ 2 w 111"/>
                  <a:gd name="T3" fmla="*/ 45 h 438"/>
                  <a:gd name="T4" fmla="*/ 5 w 111"/>
                  <a:gd name="T5" fmla="*/ 38 h 438"/>
                  <a:gd name="T6" fmla="*/ 7 w 111"/>
                  <a:gd name="T7" fmla="*/ 28 h 438"/>
                  <a:gd name="T8" fmla="*/ 12 w 111"/>
                  <a:gd name="T9" fmla="*/ 21 h 438"/>
                  <a:gd name="T10" fmla="*/ 16 w 111"/>
                  <a:gd name="T11" fmla="*/ 17 h 438"/>
                  <a:gd name="T12" fmla="*/ 24 w 111"/>
                  <a:gd name="T13" fmla="*/ 10 h 438"/>
                  <a:gd name="T14" fmla="*/ 31 w 111"/>
                  <a:gd name="T15" fmla="*/ 7 h 438"/>
                  <a:gd name="T16" fmla="*/ 38 w 111"/>
                  <a:gd name="T17" fmla="*/ 2 h 438"/>
                  <a:gd name="T18" fmla="*/ 47 w 111"/>
                  <a:gd name="T19" fmla="*/ 0 h 438"/>
                  <a:gd name="T20" fmla="*/ 57 w 111"/>
                  <a:gd name="T21" fmla="*/ 0 h 438"/>
                  <a:gd name="T22" fmla="*/ 64 w 111"/>
                  <a:gd name="T23" fmla="*/ 0 h 438"/>
                  <a:gd name="T24" fmla="*/ 73 w 111"/>
                  <a:gd name="T25" fmla="*/ 2 h 438"/>
                  <a:gd name="T26" fmla="*/ 80 w 111"/>
                  <a:gd name="T27" fmla="*/ 7 h 438"/>
                  <a:gd name="T28" fmla="*/ 87 w 111"/>
                  <a:gd name="T29" fmla="*/ 10 h 438"/>
                  <a:gd name="T30" fmla="*/ 95 w 111"/>
                  <a:gd name="T31" fmla="*/ 17 h 438"/>
                  <a:gd name="T32" fmla="*/ 99 w 111"/>
                  <a:gd name="T33" fmla="*/ 21 h 438"/>
                  <a:gd name="T34" fmla="*/ 104 w 111"/>
                  <a:gd name="T35" fmla="*/ 28 h 438"/>
                  <a:gd name="T36" fmla="*/ 106 w 111"/>
                  <a:gd name="T37" fmla="*/ 38 h 438"/>
                  <a:gd name="T38" fmla="*/ 109 w 111"/>
                  <a:gd name="T39" fmla="*/ 45 h 438"/>
                  <a:gd name="T40" fmla="*/ 111 w 111"/>
                  <a:gd name="T41" fmla="*/ 54 h 438"/>
                  <a:gd name="T42" fmla="*/ 111 w 111"/>
                  <a:gd name="T43" fmla="*/ 384 h 438"/>
                  <a:gd name="T44" fmla="*/ 109 w 111"/>
                  <a:gd name="T45" fmla="*/ 391 h 438"/>
                  <a:gd name="T46" fmla="*/ 106 w 111"/>
                  <a:gd name="T47" fmla="*/ 400 h 438"/>
                  <a:gd name="T48" fmla="*/ 104 w 111"/>
                  <a:gd name="T49" fmla="*/ 407 h 438"/>
                  <a:gd name="T50" fmla="*/ 99 w 111"/>
                  <a:gd name="T51" fmla="*/ 414 h 438"/>
                  <a:gd name="T52" fmla="*/ 95 w 111"/>
                  <a:gd name="T53" fmla="*/ 422 h 438"/>
                  <a:gd name="T54" fmla="*/ 87 w 111"/>
                  <a:gd name="T55" fmla="*/ 426 h 438"/>
                  <a:gd name="T56" fmla="*/ 80 w 111"/>
                  <a:gd name="T57" fmla="*/ 431 h 438"/>
                  <a:gd name="T58" fmla="*/ 73 w 111"/>
                  <a:gd name="T59" fmla="*/ 433 h 438"/>
                  <a:gd name="T60" fmla="*/ 64 w 111"/>
                  <a:gd name="T61" fmla="*/ 436 h 438"/>
                  <a:gd name="T62" fmla="*/ 57 w 111"/>
                  <a:gd name="T63" fmla="*/ 438 h 438"/>
                  <a:gd name="T64" fmla="*/ 47 w 111"/>
                  <a:gd name="T65" fmla="*/ 436 h 438"/>
                  <a:gd name="T66" fmla="*/ 38 w 111"/>
                  <a:gd name="T67" fmla="*/ 433 h 438"/>
                  <a:gd name="T68" fmla="*/ 31 w 111"/>
                  <a:gd name="T69" fmla="*/ 431 h 438"/>
                  <a:gd name="T70" fmla="*/ 24 w 111"/>
                  <a:gd name="T71" fmla="*/ 426 h 438"/>
                  <a:gd name="T72" fmla="*/ 16 w 111"/>
                  <a:gd name="T73" fmla="*/ 422 h 438"/>
                  <a:gd name="T74" fmla="*/ 12 w 111"/>
                  <a:gd name="T75" fmla="*/ 414 h 438"/>
                  <a:gd name="T76" fmla="*/ 7 w 111"/>
                  <a:gd name="T77" fmla="*/ 407 h 438"/>
                  <a:gd name="T78" fmla="*/ 5 w 111"/>
                  <a:gd name="T79" fmla="*/ 400 h 438"/>
                  <a:gd name="T80" fmla="*/ 2 w 111"/>
                  <a:gd name="T81" fmla="*/ 391 h 438"/>
                  <a:gd name="T82" fmla="*/ 2 w 111"/>
                  <a:gd name="T83" fmla="*/ 384 h 438"/>
                  <a:gd name="T84" fmla="*/ 2 w 111"/>
                  <a:gd name="T85" fmla="*/ 54 h 438"/>
                  <a:gd name="T86" fmla="*/ 2 w 111"/>
                  <a:gd name="T87" fmla="*/ 54 h 43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11"/>
                  <a:gd name="T133" fmla="*/ 0 h 438"/>
                  <a:gd name="T134" fmla="*/ 111 w 111"/>
                  <a:gd name="T135" fmla="*/ 438 h 43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11" h="438">
                    <a:moveTo>
                      <a:pt x="0" y="54"/>
                    </a:moveTo>
                    <a:lnTo>
                      <a:pt x="2" y="45"/>
                    </a:lnTo>
                    <a:lnTo>
                      <a:pt x="5" y="38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6" y="17"/>
                    </a:lnTo>
                    <a:lnTo>
                      <a:pt x="24" y="10"/>
                    </a:lnTo>
                    <a:lnTo>
                      <a:pt x="31" y="7"/>
                    </a:lnTo>
                    <a:lnTo>
                      <a:pt x="38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4" y="0"/>
                    </a:lnTo>
                    <a:lnTo>
                      <a:pt x="73" y="2"/>
                    </a:lnTo>
                    <a:lnTo>
                      <a:pt x="80" y="7"/>
                    </a:lnTo>
                    <a:lnTo>
                      <a:pt x="87" y="10"/>
                    </a:lnTo>
                    <a:lnTo>
                      <a:pt x="95" y="17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6" y="38"/>
                    </a:lnTo>
                    <a:lnTo>
                      <a:pt x="109" y="45"/>
                    </a:lnTo>
                    <a:lnTo>
                      <a:pt x="111" y="54"/>
                    </a:lnTo>
                    <a:lnTo>
                      <a:pt x="111" y="384"/>
                    </a:lnTo>
                    <a:lnTo>
                      <a:pt x="109" y="391"/>
                    </a:lnTo>
                    <a:lnTo>
                      <a:pt x="106" y="400"/>
                    </a:lnTo>
                    <a:lnTo>
                      <a:pt x="104" y="407"/>
                    </a:lnTo>
                    <a:lnTo>
                      <a:pt x="99" y="414"/>
                    </a:lnTo>
                    <a:lnTo>
                      <a:pt x="95" y="422"/>
                    </a:lnTo>
                    <a:lnTo>
                      <a:pt x="87" y="426"/>
                    </a:lnTo>
                    <a:lnTo>
                      <a:pt x="80" y="431"/>
                    </a:lnTo>
                    <a:lnTo>
                      <a:pt x="73" y="433"/>
                    </a:lnTo>
                    <a:lnTo>
                      <a:pt x="64" y="436"/>
                    </a:lnTo>
                    <a:lnTo>
                      <a:pt x="57" y="438"/>
                    </a:lnTo>
                    <a:lnTo>
                      <a:pt x="47" y="436"/>
                    </a:lnTo>
                    <a:lnTo>
                      <a:pt x="38" y="433"/>
                    </a:lnTo>
                    <a:lnTo>
                      <a:pt x="31" y="431"/>
                    </a:lnTo>
                    <a:lnTo>
                      <a:pt x="24" y="426"/>
                    </a:lnTo>
                    <a:lnTo>
                      <a:pt x="16" y="422"/>
                    </a:lnTo>
                    <a:lnTo>
                      <a:pt x="12" y="414"/>
                    </a:lnTo>
                    <a:lnTo>
                      <a:pt x="7" y="407"/>
                    </a:lnTo>
                    <a:lnTo>
                      <a:pt x="5" y="400"/>
                    </a:lnTo>
                    <a:lnTo>
                      <a:pt x="2" y="391"/>
                    </a:lnTo>
                    <a:lnTo>
                      <a:pt x="2" y="384"/>
                    </a:lnTo>
                    <a:lnTo>
                      <a:pt x="2" y="54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17" name="Freeform 251"/>
              <p:cNvSpPr>
                <a:spLocks noChangeArrowheads="1"/>
              </p:cNvSpPr>
              <p:nvPr/>
            </p:nvSpPr>
            <p:spPr bwMode="auto">
              <a:xfrm>
                <a:off x="384" y="672"/>
                <a:ext cx="4367" cy="1508"/>
              </a:xfrm>
              <a:custGeom>
                <a:avLst/>
                <a:gdLst>
                  <a:gd name="T0" fmla="*/ 67 w 4367"/>
                  <a:gd name="T1" fmla="*/ 1508 h 1508"/>
                  <a:gd name="T2" fmla="*/ 0 w 4367"/>
                  <a:gd name="T3" fmla="*/ 1508 h 1508"/>
                  <a:gd name="T4" fmla="*/ 0 w 4367"/>
                  <a:gd name="T5" fmla="*/ 0 h 1508"/>
                  <a:gd name="T6" fmla="*/ 4367 w 4367"/>
                  <a:gd name="T7" fmla="*/ 0 h 1508"/>
                  <a:gd name="T8" fmla="*/ 4367 w 4367"/>
                  <a:gd name="T9" fmla="*/ 284 h 1508"/>
                  <a:gd name="T10" fmla="*/ 4303 w 4367"/>
                  <a:gd name="T11" fmla="*/ 284 h 150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367"/>
                  <a:gd name="T19" fmla="*/ 0 h 1508"/>
                  <a:gd name="T20" fmla="*/ 4367 w 4367"/>
                  <a:gd name="T21" fmla="*/ 1508 h 150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367" h="1508">
                    <a:moveTo>
                      <a:pt x="67" y="1508"/>
                    </a:moveTo>
                    <a:lnTo>
                      <a:pt x="0" y="1508"/>
                    </a:lnTo>
                    <a:lnTo>
                      <a:pt x="0" y="0"/>
                    </a:lnTo>
                    <a:lnTo>
                      <a:pt x="4367" y="0"/>
                    </a:lnTo>
                    <a:lnTo>
                      <a:pt x="4367" y="284"/>
                    </a:lnTo>
                    <a:lnTo>
                      <a:pt x="4303" y="284"/>
                    </a:ln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18" name="Line 252"/>
              <p:cNvSpPr>
                <a:spLocks noChangeShapeType="1"/>
              </p:cNvSpPr>
              <p:nvPr/>
            </p:nvSpPr>
            <p:spPr bwMode="auto">
              <a:xfrm>
                <a:off x="581" y="2180"/>
                <a:ext cx="175" cy="1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19" name="Freeform 253"/>
              <p:cNvSpPr>
                <a:spLocks noChangeArrowheads="1"/>
              </p:cNvSpPr>
              <p:nvPr/>
            </p:nvSpPr>
            <p:spPr bwMode="auto">
              <a:xfrm>
                <a:off x="747" y="2166"/>
                <a:ext cx="28" cy="31"/>
              </a:xfrm>
              <a:custGeom>
                <a:avLst/>
                <a:gdLst>
                  <a:gd name="T0" fmla="*/ 0 w 28"/>
                  <a:gd name="T1" fmla="*/ 0 h 31"/>
                  <a:gd name="T2" fmla="*/ 0 w 28"/>
                  <a:gd name="T3" fmla="*/ 31 h 31"/>
                  <a:gd name="T4" fmla="*/ 28 w 28"/>
                  <a:gd name="T5" fmla="*/ 14 h 31"/>
                  <a:gd name="T6" fmla="*/ 0 w 28"/>
                  <a:gd name="T7" fmla="*/ 0 h 31"/>
                  <a:gd name="T8" fmla="*/ 0 w 28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31"/>
                  <a:gd name="T17" fmla="*/ 28 w 28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31">
                    <a:moveTo>
                      <a:pt x="0" y="0"/>
                    </a:moveTo>
                    <a:lnTo>
                      <a:pt x="0" y="31"/>
                    </a:lnTo>
                    <a:lnTo>
                      <a:pt x="28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20" name="Freeform 254"/>
              <p:cNvSpPr>
                <a:spLocks noChangeArrowheads="1"/>
              </p:cNvSpPr>
              <p:nvPr/>
            </p:nvSpPr>
            <p:spPr bwMode="auto">
              <a:xfrm>
                <a:off x="439" y="2166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2 w 31"/>
                  <a:gd name="T3" fmla="*/ 31 h 31"/>
                  <a:gd name="T4" fmla="*/ 31 w 31"/>
                  <a:gd name="T5" fmla="*/ 14 h 31"/>
                  <a:gd name="T6" fmla="*/ 2 w 31"/>
                  <a:gd name="T7" fmla="*/ 0 h 31"/>
                  <a:gd name="T8" fmla="*/ 2 w 31"/>
                  <a:gd name="T9" fmla="*/ 0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2" y="31"/>
                    </a:lnTo>
                    <a:lnTo>
                      <a:pt x="31" y="14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21" name="Freeform 255"/>
              <p:cNvSpPr>
                <a:spLocks noChangeArrowheads="1"/>
              </p:cNvSpPr>
              <p:nvPr/>
            </p:nvSpPr>
            <p:spPr bwMode="auto">
              <a:xfrm>
                <a:off x="2932" y="3004"/>
                <a:ext cx="29" cy="29"/>
              </a:xfrm>
              <a:custGeom>
                <a:avLst/>
                <a:gdLst>
                  <a:gd name="T0" fmla="*/ 0 w 29"/>
                  <a:gd name="T1" fmla="*/ 0 h 29"/>
                  <a:gd name="T2" fmla="*/ 0 w 29"/>
                  <a:gd name="T3" fmla="*/ 29 h 29"/>
                  <a:gd name="T4" fmla="*/ 29 w 29"/>
                  <a:gd name="T5" fmla="*/ 14 h 29"/>
                  <a:gd name="T6" fmla="*/ 0 w 29"/>
                  <a:gd name="T7" fmla="*/ 0 h 29"/>
                  <a:gd name="T8" fmla="*/ 0 w 29"/>
                  <a:gd name="T9" fmla="*/ 0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29"/>
                  <a:gd name="T17" fmla="*/ 29 w 29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29">
                    <a:moveTo>
                      <a:pt x="0" y="0"/>
                    </a:moveTo>
                    <a:lnTo>
                      <a:pt x="0" y="29"/>
                    </a:lnTo>
                    <a:lnTo>
                      <a:pt x="29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22" name="Freeform 256"/>
              <p:cNvSpPr>
                <a:spLocks noChangeArrowheads="1"/>
              </p:cNvSpPr>
              <p:nvPr/>
            </p:nvSpPr>
            <p:spPr bwMode="auto">
              <a:xfrm>
                <a:off x="2966" y="2786"/>
                <a:ext cx="220" cy="464"/>
              </a:xfrm>
              <a:custGeom>
                <a:avLst/>
                <a:gdLst>
                  <a:gd name="T0" fmla="*/ 108 w 220"/>
                  <a:gd name="T1" fmla="*/ 464 h 464"/>
                  <a:gd name="T2" fmla="*/ 127 w 220"/>
                  <a:gd name="T3" fmla="*/ 462 h 464"/>
                  <a:gd name="T4" fmla="*/ 144 w 220"/>
                  <a:gd name="T5" fmla="*/ 453 h 464"/>
                  <a:gd name="T6" fmla="*/ 161 w 220"/>
                  <a:gd name="T7" fmla="*/ 441 h 464"/>
                  <a:gd name="T8" fmla="*/ 175 w 220"/>
                  <a:gd name="T9" fmla="*/ 422 h 464"/>
                  <a:gd name="T10" fmla="*/ 187 w 220"/>
                  <a:gd name="T11" fmla="*/ 398 h 464"/>
                  <a:gd name="T12" fmla="*/ 198 w 220"/>
                  <a:gd name="T13" fmla="*/ 370 h 464"/>
                  <a:gd name="T14" fmla="*/ 208 w 220"/>
                  <a:gd name="T15" fmla="*/ 339 h 464"/>
                  <a:gd name="T16" fmla="*/ 213 w 220"/>
                  <a:gd name="T17" fmla="*/ 306 h 464"/>
                  <a:gd name="T18" fmla="*/ 217 w 220"/>
                  <a:gd name="T19" fmla="*/ 270 h 464"/>
                  <a:gd name="T20" fmla="*/ 220 w 220"/>
                  <a:gd name="T21" fmla="*/ 232 h 464"/>
                  <a:gd name="T22" fmla="*/ 217 w 220"/>
                  <a:gd name="T23" fmla="*/ 194 h 464"/>
                  <a:gd name="T24" fmla="*/ 213 w 220"/>
                  <a:gd name="T25" fmla="*/ 159 h 464"/>
                  <a:gd name="T26" fmla="*/ 208 w 220"/>
                  <a:gd name="T27" fmla="*/ 126 h 464"/>
                  <a:gd name="T28" fmla="*/ 198 w 220"/>
                  <a:gd name="T29" fmla="*/ 95 h 464"/>
                  <a:gd name="T30" fmla="*/ 187 w 220"/>
                  <a:gd name="T31" fmla="*/ 69 h 464"/>
                  <a:gd name="T32" fmla="*/ 175 w 220"/>
                  <a:gd name="T33" fmla="*/ 45 h 464"/>
                  <a:gd name="T34" fmla="*/ 161 w 220"/>
                  <a:gd name="T35" fmla="*/ 26 h 464"/>
                  <a:gd name="T36" fmla="*/ 144 w 220"/>
                  <a:gd name="T37" fmla="*/ 12 h 464"/>
                  <a:gd name="T38" fmla="*/ 127 w 220"/>
                  <a:gd name="T39" fmla="*/ 3 h 464"/>
                  <a:gd name="T40" fmla="*/ 111 w 220"/>
                  <a:gd name="T41" fmla="*/ 0 h 464"/>
                  <a:gd name="T42" fmla="*/ 92 w 220"/>
                  <a:gd name="T43" fmla="*/ 3 h 464"/>
                  <a:gd name="T44" fmla="*/ 75 w 220"/>
                  <a:gd name="T45" fmla="*/ 12 h 464"/>
                  <a:gd name="T46" fmla="*/ 59 w 220"/>
                  <a:gd name="T47" fmla="*/ 26 h 464"/>
                  <a:gd name="T48" fmla="*/ 45 w 220"/>
                  <a:gd name="T49" fmla="*/ 45 h 464"/>
                  <a:gd name="T50" fmla="*/ 33 w 220"/>
                  <a:gd name="T51" fmla="*/ 69 h 464"/>
                  <a:gd name="T52" fmla="*/ 21 w 220"/>
                  <a:gd name="T53" fmla="*/ 95 h 464"/>
                  <a:gd name="T54" fmla="*/ 11 w 220"/>
                  <a:gd name="T55" fmla="*/ 126 h 464"/>
                  <a:gd name="T56" fmla="*/ 7 w 220"/>
                  <a:gd name="T57" fmla="*/ 159 h 464"/>
                  <a:gd name="T58" fmla="*/ 2 w 220"/>
                  <a:gd name="T59" fmla="*/ 194 h 464"/>
                  <a:gd name="T60" fmla="*/ 0 w 220"/>
                  <a:gd name="T61" fmla="*/ 232 h 464"/>
                  <a:gd name="T62" fmla="*/ 2 w 220"/>
                  <a:gd name="T63" fmla="*/ 270 h 464"/>
                  <a:gd name="T64" fmla="*/ 7 w 220"/>
                  <a:gd name="T65" fmla="*/ 306 h 464"/>
                  <a:gd name="T66" fmla="*/ 11 w 220"/>
                  <a:gd name="T67" fmla="*/ 339 h 464"/>
                  <a:gd name="T68" fmla="*/ 21 w 220"/>
                  <a:gd name="T69" fmla="*/ 370 h 464"/>
                  <a:gd name="T70" fmla="*/ 33 w 220"/>
                  <a:gd name="T71" fmla="*/ 398 h 464"/>
                  <a:gd name="T72" fmla="*/ 45 w 220"/>
                  <a:gd name="T73" fmla="*/ 422 h 464"/>
                  <a:gd name="T74" fmla="*/ 59 w 220"/>
                  <a:gd name="T75" fmla="*/ 441 h 464"/>
                  <a:gd name="T76" fmla="*/ 75 w 220"/>
                  <a:gd name="T77" fmla="*/ 453 h 464"/>
                  <a:gd name="T78" fmla="*/ 92 w 220"/>
                  <a:gd name="T79" fmla="*/ 462 h 464"/>
                  <a:gd name="T80" fmla="*/ 111 w 220"/>
                  <a:gd name="T81" fmla="*/ 464 h 464"/>
                  <a:gd name="T82" fmla="*/ 111 w 220"/>
                  <a:gd name="T83" fmla="*/ 464 h 464"/>
                  <a:gd name="T84" fmla="*/ 108 w 220"/>
                  <a:gd name="T85" fmla="*/ 464 h 46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20"/>
                  <a:gd name="T130" fmla="*/ 0 h 464"/>
                  <a:gd name="T131" fmla="*/ 220 w 220"/>
                  <a:gd name="T132" fmla="*/ 464 h 464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20" h="464">
                    <a:moveTo>
                      <a:pt x="108" y="464"/>
                    </a:moveTo>
                    <a:lnTo>
                      <a:pt x="127" y="462"/>
                    </a:lnTo>
                    <a:lnTo>
                      <a:pt x="144" y="453"/>
                    </a:lnTo>
                    <a:lnTo>
                      <a:pt x="161" y="441"/>
                    </a:lnTo>
                    <a:lnTo>
                      <a:pt x="175" y="422"/>
                    </a:lnTo>
                    <a:lnTo>
                      <a:pt x="187" y="398"/>
                    </a:lnTo>
                    <a:lnTo>
                      <a:pt x="198" y="370"/>
                    </a:lnTo>
                    <a:lnTo>
                      <a:pt x="208" y="339"/>
                    </a:lnTo>
                    <a:lnTo>
                      <a:pt x="213" y="306"/>
                    </a:lnTo>
                    <a:lnTo>
                      <a:pt x="217" y="270"/>
                    </a:lnTo>
                    <a:lnTo>
                      <a:pt x="220" y="232"/>
                    </a:lnTo>
                    <a:lnTo>
                      <a:pt x="217" y="194"/>
                    </a:lnTo>
                    <a:lnTo>
                      <a:pt x="213" y="159"/>
                    </a:lnTo>
                    <a:lnTo>
                      <a:pt x="208" y="126"/>
                    </a:lnTo>
                    <a:lnTo>
                      <a:pt x="198" y="95"/>
                    </a:lnTo>
                    <a:lnTo>
                      <a:pt x="187" y="69"/>
                    </a:lnTo>
                    <a:lnTo>
                      <a:pt x="175" y="45"/>
                    </a:lnTo>
                    <a:lnTo>
                      <a:pt x="161" y="26"/>
                    </a:lnTo>
                    <a:lnTo>
                      <a:pt x="144" y="12"/>
                    </a:lnTo>
                    <a:lnTo>
                      <a:pt x="127" y="3"/>
                    </a:lnTo>
                    <a:lnTo>
                      <a:pt x="111" y="0"/>
                    </a:lnTo>
                    <a:lnTo>
                      <a:pt x="92" y="3"/>
                    </a:lnTo>
                    <a:lnTo>
                      <a:pt x="75" y="12"/>
                    </a:lnTo>
                    <a:lnTo>
                      <a:pt x="59" y="26"/>
                    </a:lnTo>
                    <a:lnTo>
                      <a:pt x="45" y="45"/>
                    </a:lnTo>
                    <a:lnTo>
                      <a:pt x="33" y="69"/>
                    </a:lnTo>
                    <a:lnTo>
                      <a:pt x="21" y="95"/>
                    </a:lnTo>
                    <a:lnTo>
                      <a:pt x="11" y="126"/>
                    </a:lnTo>
                    <a:lnTo>
                      <a:pt x="7" y="159"/>
                    </a:lnTo>
                    <a:lnTo>
                      <a:pt x="2" y="194"/>
                    </a:lnTo>
                    <a:lnTo>
                      <a:pt x="0" y="232"/>
                    </a:lnTo>
                    <a:lnTo>
                      <a:pt x="2" y="270"/>
                    </a:lnTo>
                    <a:lnTo>
                      <a:pt x="7" y="306"/>
                    </a:lnTo>
                    <a:lnTo>
                      <a:pt x="11" y="339"/>
                    </a:lnTo>
                    <a:lnTo>
                      <a:pt x="21" y="370"/>
                    </a:lnTo>
                    <a:lnTo>
                      <a:pt x="33" y="398"/>
                    </a:lnTo>
                    <a:lnTo>
                      <a:pt x="45" y="422"/>
                    </a:lnTo>
                    <a:lnTo>
                      <a:pt x="59" y="441"/>
                    </a:lnTo>
                    <a:lnTo>
                      <a:pt x="75" y="453"/>
                    </a:lnTo>
                    <a:lnTo>
                      <a:pt x="92" y="462"/>
                    </a:lnTo>
                    <a:lnTo>
                      <a:pt x="111" y="464"/>
                    </a:lnTo>
                    <a:lnTo>
                      <a:pt x="108" y="46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23" name="Freeform 257"/>
              <p:cNvSpPr>
                <a:spLocks noChangeArrowheads="1"/>
              </p:cNvSpPr>
              <p:nvPr/>
            </p:nvSpPr>
            <p:spPr bwMode="auto">
              <a:xfrm>
                <a:off x="2966" y="2786"/>
                <a:ext cx="220" cy="464"/>
              </a:xfrm>
              <a:custGeom>
                <a:avLst/>
                <a:gdLst>
                  <a:gd name="T0" fmla="*/ 108 w 220"/>
                  <a:gd name="T1" fmla="*/ 464 h 464"/>
                  <a:gd name="T2" fmla="*/ 127 w 220"/>
                  <a:gd name="T3" fmla="*/ 462 h 464"/>
                  <a:gd name="T4" fmla="*/ 144 w 220"/>
                  <a:gd name="T5" fmla="*/ 453 h 464"/>
                  <a:gd name="T6" fmla="*/ 161 w 220"/>
                  <a:gd name="T7" fmla="*/ 441 h 464"/>
                  <a:gd name="T8" fmla="*/ 175 w 220"/>
                  <a:gd name="T9" fmla="*/ 422 h 464"/>
                  <a:gd name="T10" fmla="*/ 187 w 220"/>
                  <a:gd name="T11" fmla="*/ 398 h 464"/>
                  <a:gd name="T12" fmla="*/ 198 w 220"/>
                  <a:gd name="T13" fmla="*/ 370 h 464"/>
                  <a:gd name="T14" fmla="*/ 208 w 220"/>
                  <a:gd name="T15" fmla="*/ 339 h 464"/>
                  <a:gd name="T16" fmla="*/ 213 w 220"/>
                  <a:gd name="T17" fmla="*/ 306 h 464"/>
                  <a:gd name="T18" fmla="*/ 217 w 220"/>
                  <a:gd name="T19" fmla="*/ 270 h 464"/>
                  <a:gd name="T20" fmla="*/ 220 w 220"/>
                  <a:gd name="T21" fmla="*/ 232 h 464"/>
                  <a:gd name="T22" fmla="*/ 217 w 220"/>
                  <a:gd name="T23" fmla="*/ 194 h 464"/>
                  <a:gd name="T24" fmla="*/ 213 w 220"/>
                  <a:gd name="T25" fmla="*/ 159 h 464"/>
                  <a:gd name="T26" fmla="*/ 208 w 220"/>
                  <a:gd name="T27" fmla="*/ 126 h 464"/>
                  <a:gd name="T28" fmla="*/ 198 w 220"/>
                  <a:gd name="T29" fmla="*/ 95 h 464"/>
                  <a:gd name="T30" fmla="*/ 187 w 220"/>
                  <a:gd name="T31" fmla="*/ 69 h 464"/>
                  <a:gd name="T32" fmla="*/ 175 w 220"/>
                  <a:gd name="T33" fmla="*/ 45 h 464"/>
                  <a:gd name="T34" fmla="*/ 161 w 220"/>
                  <a:gd name="T35" fmla="*/ 26 h 464"/>
                  <a:gd name="T36" fmla="*/ 144 w 220"/>
                  <a:gd name="T37" fmla="*/ 12 h 464"/>
                  <a:gd name="T38" fmla="*/ 127 w 220"/>
                  <a:gd name="T39" fmla="*/ 3 h 464"/>
                  <a:gd name="T40" fmla="*/ 111 w 220"/>
                  <a:gd name="T41" fmla="*/ 0 h 464"/>
                  <a:gd name="T42" fmla="*/ 92 w 220"/>
                  <a:gd name="T43" fmla="*/ 3 h 464"/>
                  <a:gd name="T44" fmla="*/ 75 w 220"/>
                  <a:gd name="T45" fmla="*/ 12 h 464"/>
                  <a:gd name="T46" fmla="*/ 59 w 220"/>
                  <a:gd name="T47" fmla="*/ 26 h 464"/>
                  <a:gd name="T48" fmla="*/ 45 w 220"/>
                  <a:gd name="T49" fmla="*/ 45 h 464"/>
                  <a:gd name="T50" fmla="*/ 33 w 220"/>
                  <a:gd name="T51" fmla="*/ 69 h 464"/>
                  <a:gd name="T52" fmla="*/ 21 w 220"/>
                  <a:gd name="T53" fmla="*/ 95 h 464"/>
                  <a:gd name="T54" fmla="*/ 11 w 220"/>
                  <a:gd name="T55" fmla="*/ 126 h 464"/>
                  <a:gd name="T56" fmla="*/ 7 w 220"/>
                  <a:gd name="T57" fmla="*/ 159 h 464"/>
                  <a:gd name="T58" fmla="*/ 2 w 220"/>
                  <a:gd name="T59" fmla="*/ 194 h 464"/>
                  <a:gd name="T60" fmla="*/ 0 w 220"/>
                  <a:gd name="T61" fmla="*/ 232 h 464"/>
                  <a:gd name="T62" fmla="*/ 2 w 220"/>
                  <a:gd name="T63" fmla="*/ 270 h 464"/>
                  <a:gd name="T64" fmla="*/ 7 w 220"/>
                  <a:gd name="T65" fmla="*/ 306 h 464"/>
                  <a:gd name="T66" fmla="*/ 11 w 220"/>
                  <a:gd name="T67" fmla="*/ 339 h 464"/>
                  <a:gd name="T68" fmla="*/ 21 w 220"/>
                  <a:gd name="T69" fmla="*/ 370 h 464"/>
                  <a:gd name="T70" fmla="*/ 33 w 220"/>
                  <a:gd name="T71" fmla="*/ 398 h 464"/>
                  <a:gd name="T72" fmla="*/ 45 w 220"/>
                  <a:gd name="T73" fmla="*/ 422 h 464"/>
                  <a:gd name="T74" fmla="*/ 59 w 220"/>
                  <a:gd name="T75" fmla="*/ 441 h 464"/>
                  <a:gd name="T76" fmla="*/ 75 w 220"/>
                  <a:gd name="T77" fmla="*/ 453 h 464"/>
                  <a:gd name="T78" fmla="*/ 92 w 220"/>
                  <a:gd name="T79" fmla="*/ 462 h 464"/>
                  <a:gd name="T80" fmla="*/ 111 w 220"/>
                  <a:gd name="T81" fmla="*/ 464 h 464"/>
                  <a:gd name="T82" fmla="*/ 111 w 220"/>
                  <a:gd name="T83" fmla="*/ 464 h 46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20"/>
                  <a:gd name="T127" fmla="*/ 0 h 464"/>
                  <a:gd name="T128" fmla="*/ 220 w 220"/>
                  <a:gd name="T129" fmla="*/ 464 h 464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20" h="464">
                    <a:moveTo>
                      <a:pt x="108" y="464"/>
                    </a:moveTo>
                    <a:lnTo>
                      <a:pt x="127" y="462"/>
                    </a:lnTo>
                    <a:lnTo>
                      <a:pt x="144" y="453"/>
                    </a:lnTo>
                    <a:lnTo>
                      <a:pt x="161" y="441"/>
                    </a:lnTo>
                    <a:lnTo>
                      <a:pt x="175" y="422"/>
                    </a:lnTo>
                    <a:lnTo>
                      <a:pt x="187" y="398"/>
                    </a:lnTo>
                    <a:lnTo>
                      <a:pt x="198" y="370"/>
                    </a:lnTo>
                    <a:lnTo>
                      <a:pt x="208" y="339"/>
                    </a:lnTo>
                    <a:lnTo>
                      <a:pt x="213" y="306"/>
                    </a:lnTo>
                    <a:lnTo>
                      <a:pt x="217" y="270"/>
                    </a:lnTo>
                    <a:lnTo>
                      <a:pt x="220" y="232"/>
                    </a:lnTo>
                    <a:lnTo>
                      <a:pt x="217" y="194"/>
                    </a:lnTo>
                    <a:lnTo>
                      <a:pt x="213" y="159"/>
                    </a:lnTo>
                    <a:lnTo>
                      <a:pt x="208" y="126"/>
                    </a:lnTo>
                    <a:lnTo>
                      <a:pt x="198" y="95"/>
                    </a:lnTo>
                    <a:lnTo>
                      <a:pt x="187" y="69"/>
                    </a:lnTo>
                    <a:lnTo>
                      <a:pt x="175" y="45"/>
                    </a:lnTo>
                    <a:lnTo>
                      <a:pt x="161" y="26"/>
                    </a:lnTo>
                    <a:lnTo>
                      <a:pt x="144" y="12"/>
                    </a:lnTo>
                    <a:lnTo>
                      <a:pt x="127" y="3"/>
                    </a:lnTo>
                    <a:lnTo>
                      <a:pt x="111" y="0"/>
                    </a:lnTo>
                    <a:lnTo>
                      <a:pt x="92" y="3"/>
                    </a:lnTo>
                    <a:lnTo>
                      <a:pt x="75" y="12"/>
                    </a:lnTo>
                    <a:lnTo>
                      <a:pt x="59" y="26"/>
                    </a:lnTo>
                    <a:lnTo>
                      <a:pt x="45" y="45"/>
                    </a:lnTo>
                    <a:lnTo>
                      <a:pt x="33" y="69"/>
                    </a:lnTo>
                    <a:lnTo>
                      <a:pt x="21" y="95"/>
                    </a:lnTo>
                    <a:lnTo>
                      <a:pt x="11" y="126"/>
                    </a:lnTo>
                    <a:lnTo>
                      <a:pt x="7" y="159"/>
                    </a:lnTo>
                    <a:lnTo>
                      <a:pt x="2" y="194"/>
                    </a:lnTo>
                    <a:lnTo>
                      <a:pt x="0" y="232"/>
                    </a:lnTo>
                    <a:lnTo>
                      <a:pt x="2" y="270"/>
                    </a:lnTo>
                    <a:lnTo>
                      <a:pt x="7" y="306"/>
                    </a:lnTo>
                    <a:lnTo>
                      <a:pt x="11" y="339"/>
                    </a:lnTo>
                    <a:lnTo>
                      <a:pt x="21" y="370"/>
                    </a:lnTo>
                    <a:lnTo>
                      <a:pt x="33" y="398"/>
                    </a:lnTo>
                    <a:lnTo>
                      <a:pt x="45" y="422"/>
                    </a:lnTo>
                    <a:lnTo>
                      <a:pt x="59" y="441"/>
                    </a:lnTo>
                    <a:lnTo>
                      <a:pt x="75" y="453"/>
                    </a:lnTo>
                    <a:lnTo>
                      <a:pt x="92" y="462"/>
                    </a:lnTo>
                    <a:lnTo>
                      <a:pt x="111" y="464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24" name="Rectangle 258"/>
              <p:cNvSpPr>
                <a:spLocks noChangeArrowheads="1"/>
              </p:cNvSpPr>
              <p:nvPr/>
            </p:nvSpPr>
            <p:spPr bwMode="auto">
              <a:xfrm>
                <a:off x="2831" y="290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76025" name="Rectangle 259"/>
              <p:cNvSpPr>
                <a:spLocks noChangeArrowheads="1"/>
              </p:cNvSpPr>
              <p:nvPr/>
            </p:nvSpPr>
            <p:spPr bwMode="auto">
              <a:xfrm>
                <a:off x="2864" y="290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6</a:t>
                </a:r>
              </a:p>
            </p:txBody>
          </p:sp>
          <p:sp>
            <p:nvSpPr>
              <p:cNvPr id="76026" name="Line 260"/>
              <p:cNvSpPr>
                <a:spLocks noChangeShapeType="1"/>
              </p:cNvSpPr>
              <p:nvPr/>
            </p:nvSpPr>
            <p:spPr bwMode="auto">
              <a:xfrm flipH="1" flipV="1">
                <a:off x="3227" y="2979"/>
                <a:ext cx="45" cy="78"/>
              </a:xfrm>
              <a:prstGeom prst="line">
                <a:avLst/>
              </a:prstGeom>
              <a:noFill/>
              <a:ln w="1116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27" name="Rectangle 261"/>
              <p:cNvSpPr>
                <a:spLocks noChangeArrowheads="1"/>
              </p:cNvSpPr>
              <p:nvPr/>
            </p:nvSpPr>
            <p:spPr bwMode="auto">
              <a:xfrm>
                <a:off x="3214" y="290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3</a:t>
                </a:r>
              </a:p>
            </p:txBody>
          </p:sp>
          <p:sp>
            <p:nvSpPr>
              <p:cNvPr id="76028" name="Rectangle 262"/>
              <p:cNvSpPr>
                <a:spLocks noChangeArrowheads="1"/>
              </p:cNvSpPr>
              <p:nvPr/>
            </p:nvSpPr>
            <p:spPr bwMode="auto">
              <a:xfrm>
                <a:off x="3247" y="290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2</a:t>
                </a:r>
              </a:p>
            </p:txBody>
          </p:sp>
          <p:sp>
            <p:nvSpPr>
              <p:cNvPr id="76029" name="Rectangle 263"/>
              <p:cNvSpPr>
                <a:spLocks noChangeArrowheads="1"/>
              </p:cNvSpPr>
              <p:nvPr/>
            </p:nvSpPr>
            <p:spPr bwMode="auto">
              <a:xfrm>
                <a:off x="1661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030" name="Rectangle 264"/>
              <p:cNvSpPr>
                <a:spLocks noChangeArrowheads="1"/>
              </p:cNvSpPr>
              <p:nvPr/>
            </p:nvSpPr>
            <p:spPr bwMode="auto">
              <a:xfrm>
                <a:off x="1677" y="293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6031" name="Rectangle 265"/>
              <p:cNvSpPr>
                <a:spLocks noChangeArrowheads="1"/>
              </p:cNvSpPr>
              <p:nvPr/>
            </p:nvSpPr>
            <p:spPr bwMode="auto">
              <a:xfrm>
                <a:off x="1710" y="2934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6032" name="Rectangle 266"/>
              <p:cNvSpPr>
                <a:spLocks noChangeArrowheads="1"/>
              </p:cNvSpPr>
              <p:nvPr/>
            </p:nvSpPr>
            <p:spPr bwMode="auto">
              <a:xfrm>
                <a:off x="1739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033" name="Rectangle 267"/>
              <p:cNvSpPr>
                <a:spLocks noChangeArrowheads="1"/>
              </p:cNvSpPr>
              <p:nvPr/>
            </p:nvSpPr>
            <p:spPr bwMode="auto">
              <a:xfrm>
                <a:off x="1755" y="2934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034" name="Rectangle 268"/>
              <p:cNvSpPr>
                <a:spLocks noChangeArrowheads="1"/>
              </p:cNvSpPr>
              <p:nvPr/>
            </p:nvSpPr>
            <p:spPr bwMode="auto">
              <a:xfrm>
                <a:off x="1774" y="293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6035" name="Rectangle 269"/>
              <p:cNvSpPr>
                <a:spLocks noChangeArrowheads="1"/>
              </p:cNvSpPr>
              <p:nvPr/>
            </p:nvSpPr>
            <p:spPr bwMode="auto">
              <a:xfrm>
                <a:off x="1808" y="2934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76036" name="Rectangle 270"/>
              <p:cNvSpPr>
                <a:spLocks noChangeArrowheads="1"/>
              </p:cNvSpPr>
              <p:nvPr/>
            </p:nvSpPr>
            <p:spPr bwMode="auto">
              <a:xfrm>
                <a:off x="1836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037" name="Rectangle 271"/>
              <p:cNvSpPr>
                <a:spLocks noChangeArrowheads="1"/>
              </p:cNvSpPr>
              <p:nvPr/>
            </p:nvSpPr>
            <p:spPr bwMode="auto">
              <a:xfrm>
                <a:off x="1852" y="2934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038" name="Rectangle 272"/>
              <p:cNvSpPr>
                <a:spLocks noChangeArrowheads="1"/>
              </p:cNvSpPr>
              <p:nvPr/>
            </p:nvSpPr>
            <p:spPr bwMode="auto">
              <a:xfrm>
                <a:off x="1867" y="293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76039" name="Rectangle 273"/>
              <p:cNvSpPr>
                <a:spLocks noChangeArrowheads="1"/>
              </p:cNvSpPr>
              <p:nvPr/>
            </p:nvSpPr>
            <p:spPr bwMode="auto">
              <a:xfrm>
                <a:off x="1898" y="293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6040" name="Rectangle 274"/>
              <p:cNvSpPr>
                <a:spLocks noChangeArrowheads="1"/>
              </p:cNvSpPr>
              <p:nvPr/>
            </p:nvSpPr>
            <p:spPr bwMode="auto">
              <a:xfrm>
                <a:off x="1931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041" name="Rectangle 275"/>
              <p:cNvSpPr>
                <a:spLocks noChangeArrowheads="1"/>
              </p:cNvSpPr>
              <p:nvPr/>
            </p:nvSpPr>
            <p:spPr bwMode="auto">
              <a:xfrm>
                <a:off x="1947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[</a:t>
                </a:r>
              </a:p>
            </p:txBody>
          </p:sp>
          <p:sp>
            <p:nvSpPr>
              <p:cNvPr id="76042" name="Rectangle 276"/>
              <p:cNvSpPr>
                <a:spLocks noChangeArrowheads="1"/>
              </p:cNvSpPr>
              <p:nvPr/>
            </p:nvSpPr>
            <p:spPr bwMode="auto">
              <a:xfrm>
                <a:off x="1964" y="293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76043" name="Rectangle 277"/>
              <p:cNvSpPr>
                <a:spLocks noChangeArrowheads="1"/>
              </p:cNvSpPr>
              <p:nvPr/>
            </p:nvSpPr>
            <p:spPr bwMode="auto">
              <a:xfrm>
                <a:off x="1995" y="293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5</a:t>
                </a:r>
              </a:p>
            </p:txBody>
          </p:sp>
          <p:sp>
            <p:nvSpPr>
              <p:cNvPr id="76044" name="Rectangle 278"/>
              <p:cNvSpPr>
                <a:spLocks noChangeArrowheads="1"/>
              </p:cNvSpPr>
              <p:nvPr/>
            </p:nvSpPr>
            <p:spPr bwMode="auto">
              <a:xfrm>
                <a:off x="2028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045" name="Rectangle 279"/>
              <p:cNvSpPr>
                <a:spLocks noChangeArrowheads="1"/>
              </p:cNvSpPr>
              <p:nvPr/>
            </p:nvSpPr>
            <p:spPr bwMode="auto">
              <a:xfrm>
                <a:off x="2044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046" name="Rectangle 280"/>
              <p:cNvSpPr>
                <a:spLocks noChangeArrowheads="1"/>
              </p:cNvSpPr>
              <p:nvPr/>
            </p:nvSpPr>
            <p:spPr bwMode="auto">
              <a:xfrm>
                <a:off x="2061" y="293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0</a:t>
                </a:r>
              </a:p>
            </p:txBody>
          </p:sp>
          <p:sp>
            <p:nvSpPr>
              <p:cNvPr id="76047" name="Rectangle 281"/>
              <p:cNvSpPr>
                <a:spLocks noChangeArrowheads="1"/>
              </p:cNvSpPr>
              <p:nvPr/>
            </p:nvSpPr>
            <p:spPr bwMode="auto">
              <a:xfrm>
                <a:off x="2094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]</a:t>
                </a:r>
              </a:p>
            </p:txBody>
          </p:sp>
          <p:sp>
            <p:nvSpPr>
              <p:cNvPr id="76048" name="Freeform 282"/>
              <p:cNvSpPr>
                <a:spLocks noChangeArrowheads="1"/>
              </p:cNvSpPr>
              <p:nvPr/>
            </p:nvSpPr>
            <p:spPr bwMode="auto">
              <a:xfrm>
                <a:off x="3742" y="930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3 w 31"/>
                  <a:gd name="T3" fmla="*/ 31 h 31"/>
                  <a:gd name="T4" fmla="*/ 31 w 31"/>
                  <a:gd name="T5" fmla="*/ 16 h 31"/>
                  <a:gd name="T6" fmla="*/ 3 w 31"/>
                  <a:gd name="T7" fmla="*/ 0 h 31"/>
                  <a:gd name="T8" fmla="*/ 3 w 31"/>
                  <a:gd name="T9" fmla="*/ 0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3" y="31"/>
                    </a:lnTo>
                    <a:lnTo>
                      <a:pt x="31" y="16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49" name="Freeform 283"/>
              <p:cNvSpPr>
                <a:spLocks noChangeArrowheads="1"/>
              </p:cNvSpPr>
              <p:nvPr/>
            </p:nvSpPr>
            <p:spPr bwMode="auto">
              <a:xfrm>
                <a:off x="3742" y="1280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3 w 31"/>
                  <a:gd name="T3" fmla="*/ 31 h 31"/>
                  <a:gd name="T4" fmla="*/ 31 w 31"/>
                  <a:gd name="T5" fmla="*/ 17 h 31"/>
                  <a:gd name="T6" fmla="*/ 3 w 31"/>
                  <a:gd name="T7" fmla="*/ 3 h 31"/>
                  <a:gd name="T8" fmla="*/ 3 w 31"/>
                  <a:gd name="T9" fmla="*/ 3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3" y="31"/>
                    </a:lnTo>
                    <a:lnTo>
                      <a:pt x="31" y="17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50" name="Freeform 284"/>
              <p:cNvSpPr>
                <a:spLocks noChangeArrowheads="1"/>
              </p:cNvSpPr>
              <p:nvPr/>
            </p:nvSpPr>
            <p:spPr bwMode="auto">
              <a:xfrm>
                <a:off x="5168" y="2422"/>
                <a:ext cx="111" cy="371"/>
              </a:xfrm>
              <a:custGeom>
                <a:avLst/>
                <a:gdLst>
                  <a:gd name="T0" fmla="*/ 0 w 111"/>
                  <a:gd name="T1" fmla="*/ 52 h 371"/>
                  <a:gd name="T2" fmla="*/ 2 w 111"/>
                  <a:gd name="T3" fmla="*/ 45 h 371"/>
                  <a:gd name="T4" fmla="*/ 5 w 111"/>
                  <a:gd name="T5" fmla="*/ 35 h 371"/>
                  <a:gd name="T6" fmla="*/ 7 w 111"/>
                  <a:gd name="T7" fmla="*/ 28 h 371"/>
                  <a:gd name="T8" fmla="*/ 12 w 111"/>
                  <a:gd name="T9" fmla="*/ 21 h 371"/>
                  <a:gd name="T10" fmla="*/ 19 w 111"/>
                  <a:gd name="T11" fmla="*/ 14 h 371"/>
                  <a:gd name="T12" fmla="*/ 24 w 111"/>
                  <a:gd name="T13" fmla="*/ 9 h 371"/>
                  <a:gd name="T14" fmla="*/ 31 w 111"/>
                  <a:gd name="T15" fmla="*/ 4 h 371"/>
                  <a:gd name="T16" fmla="*/ 40 w 111"/>
                  <a:gd name="T17" fmla="*/ 2 h 371"/>
                  <a:gd name="T18" fmla="*/ 47 w 111"/>
                  <a:gd name="T19" fmla="*/ 0 h 371"/>
                  <a:gd name="T20" fmla="*/ 57 w 111"/>
                  <a:gd name="T21" fmla="*/ 0 h 371"/>
                  <a:gd name="T22" fmla="*/ 66 w 111"/>
                  <a:gd name="T23" fmla="*/ 0 h 371"/>
                  <a:gd name="T24" fmla="*/ 73 w 111"/>
                  <a:gd name="T25" fmla="*/ 2 h 371"/>
                  <a:gd name="T26" fmla="*/ 80 w 111"/>
                  <a:gd name="T27" fmla="*/ 4 h 371"/>
                  <a:gd name="T28" fmla="*/ 87 w 111"/>
                  <a:gd name="T29" fmla="*/ 9 h 371"/>
                  <a:gd name="T30" fmla="*/ 95 w 111"/>
                  <a:gd name="T31" fmla="*/ 14 h 371"/>
                  <a:gd name="T32" fmla="*/ 99 w 111"/>
                  <a:gd name="T33" fmla="*/ 21 h 371"/>
                  <a:gd name="T34" fmla="*/ 104 w 111"/>
                  <a:gd name="T35" fmla="*/ 28 h 371"/>
                  <a:gd name="T36" fmla="*/ 109 w 111"/>
                  <a:gd name="T37" fmla="*/ 35 h 371"/>
                  <a:gd name="T38" fmla="*/ 111 w 111"/>
                  <a:gd name="T39" fmla="*/ 45 h 371"/>
                  <a:gd name="T40" fmla="*/ 111 w 111"/>
                  <a:gd name="T41" fmla="*/ 54 h 371"/>
                  <a:gd name="T42" fmla="*/ 111 w 111"/>
                  <a:gd name="T43" fmla="*/ 315 h 371"/>
                  <a:gd name="T44" fmla="*/ 111 w 111"/>
                  <a:gd name="T45" fmla="*/ 324 h 371"/>
                  <a:gd name="T46" fmla="*/ 109 w 111"/>
                  <a:gd name="T47" fmla="*/ 333 h 371"/>
                  <a:gd name="T48" fmla="*/ 104 w 111"/>
                  <a:gd name="T49" fmla="*/ 341 h 371"/>
                  <a:gd name="T50" fmla="*/ 99 w 111"/>
                  <a:gd name="T51" fmla="*/ 348 h 371"/>
                  <a:gd name="T52" fmla="*/ 95 w 111"/>
                  <a:gd name="T53" fmla="*/ 355 h 371"/>
                  <a:gd name="T54" fmla="*/ 87 w 111"/>
                  <a:gd name="T55" fmla="*/ 360 h 371"/>
                  <a:gd name="T56" fmla="*/ 80 w 111"/>
                  <a:gd name="T57" fmla="*/ 364 h 371"/>
                  <a:gd name="T58" fmla="*/ 73 w 111"/>
                  <a:gd name="T59" fmla="*/ 367 h 371"/>
                  <a:gd name="T60" fmla="*/ 66 w 111"/>
                  <a:gd name="T61" fmla="*/ 369 h 371"/>
                  <a:gd name="T62" fmla="*/ 57 w 111"/>
                  <a:gd name="T63" fmla="*/ 371 h 371"/>
                  <a:gd name="T64" fmla="*/ 47 w 111"/>
                  <a:gd name="T65" fmla="*/ 369 h 371"/>
                  <a:gd name="T66" fmla="*/ 40 w 111"/>
                  <a:gd name="T67" fmla="*/ 367 h 371"/>
                  <a:gd name="T68" fmla="*/ 31 w 111"/>
                  <a:gd name="T69" fmla="*/ 364 h 371"/>
                  <a:gd name="T70" fmla="*/ 24 w 111"/>
                  <a:gd name="T71" fmla="*/ 360 h 371"/>
                  <a:gd name="T72" fmla="*/ 19 w 111"/>
                  <a:gd name="T73" fmla="*/ 355 h 371"/>
                  <a:gd name="T74" fmla="*/ 12 w 111"/>
                  <a:gd name="T75" fmla="*/ 348 h 371"/>
                  <a:gd name="T76" fmla="*/ 7 w 111"/>
                  <a:gd name="T77" fmla="*/ 341 h 371"/>
                  <a:gd name="T78" fmla="*/ 5 w 111"/>
                  <a:gd name="T79" fmla="*/ 333 h 371"/>
                  <a:gd name="T80" fmla="*/ 2 w 111"/>
                  <a:gd name="T81" fmla="*/ 324 h 371"/>
                  <a:gd name="T82" fmla="*/ 2 w 111"/>
                  <a:gd name="T83" fmla="*/ 315 h 371"/>
                  <a:gd name="T84" fmla="*/ 2 w 111"/>
                  <a:gd name="T85" fmla="*/ 54 h 371"/>
                  <a:gd name="T86" fmla="*/ 2 w 111"/>
                  <a:gd name="T87" fmla="*/ 54 h 371"/>
                  <a:gd name="T88" fmla="*/ 0 w 111"/>
                  <a:gd name="T89" fmla="*/ 52 h 371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11"/>
                  <a:gd name="T136" fmla="*/ 0 h 371"/>
                  <a:gd name="T137" fmla="*/ 111 w 111"/>
                  <a:gd name="T138" fmla="*/ 371 h 371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11" h="371">
                    <a:moveTo>
                      <a:pt x="0" y="52"/>
                    </a:moveTo>
                    <a:lnTo>
                      <a:pt x="2" y="45"/>
                    </a:lnTo>
                    <a:lnTo>
                      <a:pt x="5" y="35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9" y="14"/>
                    </a:lnTo>
                    <a:lnTo>
                      <a:pt x="24" y="9"/>
                    </a:lnTo>
                    <a:lnTo>
                      <a:pt x="31" y="4"/>
                    </a:lnTo>
                    <a:lnTo>
                      <a:pt x="40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6" y="0"/>
                    </a:lnTo>
                    <a:lnTo>
                      <a:pt x="73" y="2"/>
                    </a:lnTo>
                    <a:lnTo>
                      <a:pt x="80" y="4"/>
                    </a:lnTo>
                    <a:lnTo>
                      <a:pt x="87" y="9"/>
                    </a:lnTo>
                    <a:lnTo>
                      <a:pt x="95" y="14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9" y="35"/>
                    </a:lnTo>
                    <a:lnTo>
                      <a:pt x="111" y="45"/>
                    </a:lnTo>
                    <a:lnTo>
                      <a:pt x="111" y="54"/>
                    </a:lnTo>
                    <a:lnTo>
                      <a:pt x="111" y="315"/>
                    </a:lnTo>
                    <a:lnTo>
                      <a:pt x="111" y="324"/>
                    </a:lnTo>
                    <a:lnTo>
                      <a:pt x="109" y="333"/>
                    </a:lnTo>
                    <a:lnTo>
                      <a:pt x="104" y="341"/>
                    </a:lnTo>
                    <a:lnTo>
                      <a:pt x="99" y="348"/>
                    </a:lnTo>
                    <a:lnTo>
                      <a:pt x="95" y="355"/>
                    </a:lnTo>
                    <a:lnTo>
                      <a:pt x="87" y="360"/>
                    </a:lnTo>
                    <a:lnTo>
                      <a:pt x="80" y="364"/>
                    </a:lnTo>
                    <a:lnTo>
                      <a:pt x="73" y="367"/>
                    </a:lnTo>
                    <a:lnTo>
                      <a:pt x="66" y="369"/>
                    </a:lnTo>
                    <a:lnTo>
                      <a:pt x="57" y="371"/>
                    </a:lnTo>
                    <a:lnTo>
                      <a:pt x="47" y="369"/>
                    </a:lnTo>
                    <a:lnTo>
                      <a:pt x="40" y="367"/>
                    </a:lnTo>
                    <a:lnTo>
                      <a:pt x="31" y="364"/>
                    </a:lnTo>
                    <a:lnTo>
                      <a:pt x="24" y="360"/>
                    </a:lnTo>
                    <a:lnTo>
                      <a:pt x="19" y="355"/>
                    </a:lnTo>
                    <a:lnTo>
                      <a:pt x="12" y="348"/>
                    </a:lnTo>
                    <a:lnTo>
                      <a:pt x="7" y="341"/>
                    </a:lnTo>
                    <a:lnTo>
                      <a:pt x="5" y="333"/>
                    </a:lnTo>
                    <a:lnTo>
                      <a:pt x="2" y="324"/>
                    </a:lnTo>
                    <a:lnTo>
                      <a:pt x="2" y="315"/>
                    </a:lnTo>
                    <a:lnTo>
                      <a:pt x="2" y="54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51" name="Freeform 285"/>
              <p:cNvSpPr>
                <a:spLocks noChangeArrowheads="1"/>
              </p:cNvSpPr>
              <p:nvPr/>
            </p:nvSpPr>
            <p:spPr bwMode="auto">
              <a:xfrm>
                <a:off x="5168" y="2422"/>
                <a:ext cx="111" cy="371"/>
              </a:xfrm>
              <a:custGeom>
                <a:avLst/>
                <a:gdLst>
                  <a:gd name="T0" fmla="*/ 0 w 111"/>
                  <a:gd name="T1" fmla="*/ 52 h 371"/>
                  <a:gd name="T2" fmla="*/ 2 w 111"/>
                  <a:gd name="T3" fmla="*/ 45 h 371"/>
                  <a:gd name="T4" fmla="*/ 5 w 111"/>
                  <a:gd name="T5" fmla="*/ 35 h 371"/>
                  <a:gd name="T6" fmla="*/ 7 w 111"/>
                  <a:gd name="T7" fmla="*/ 28 h 371"/>
                  <a:gd name="T8" fmla="*/ 12 w 111"/>
                  <a:gd name="T9" fmla="*/ 21 h 371"/>
                  <a:gd name="T10" fmla="*/ 19 w 111"/>
                  <a:gd name="T11" fmla="*/ 14 h 371"/>
                  <a:gd name="T12" fmla="*/ 24 w 111"/>
                  <a:gd name="T13" fmla="*/ 9 h 371"/>
                  <a:gd name="T14" fmla="*/ 31 w 111"/>
                  <a:gd name="T15" fmla="*/ 4 h 371"/>
                  <a:gd name="T16" fmla="*/ 40 w 111"/>
                  <a:gd name="T17" fmla="*/ 2 h 371"/>
                  <a:gd name="T18" fmla="*/ 47 w 111"/>
                  <a:gd name="T19" fmla="*/ 0 h 371"/>
                  <a:gd name="T20" fmla="*/ 57 w 111"/>
                  <a:gd name="T21" fmla="*/ 0 h 371"/>
                  <a:gd name="T22" fmla="*/ 66 w 111"/>
                  <a:gd name="T23" fmla="*/ 0 h 371"/>
                  <a:gd name="T24" fmla="*/ 73 w 111"/>
                  <a:gd name="T25" fmla="*/ 2 h 371"/>
                  <a:gd name="T26" fmla="*/ 80 w 111"/>
                  <a:gd name="T27" fmla="*/ 4 h 371"/>
                  <a:gd name="T28" fmla="*/ 87 w 111"/>
                  <a:gd name="T29" fmla="*/ 9 h 371"/>
                  <a:gd name="T30" fmla="*/ 95 w 111"/>
                  <a:gd name="T31" fmla="*/ 14 h 371"/>
                  <a:gd name="T32" fmla="*/ 99 w 111"/>
                  <a:gd name="T33" fmla="*/ 21 h 371"/>
                  <a:gd name="T34" fmla="*/ 104 w 111"/>
                  <a:gd name="T35" fmla="*/ 28 h 371"/>
                  <a:gd name="T36" fmla="*/ 109 w 111"/>
                  <a:gd name="T37" fmla="*/ 35 h 371"/>
                  <a:gd name="T38" fmla="*/ 111 w 111"/>
                  <a:gd name="T39" fmla="*/ 45 h 371"/>
                  <a:gd name="T40" fmla="*/ 111 w 111"/>
                  <a:gd name="T41" fmla="*/ 54 h 371"/>
                  <a:gd name="T42" fmla="*/ 111 w 111"/>
                  <a:gd name="T43" fmla="*/ 315 h 371"/>
                  <a:gd name="T44" fmla="*/ 111 w 111"/>
                  <a:gd name="T45" fmla="*/ 324 h 371"/>
                  <a:gd name="T46" fmla="*/ 109 w 111"/>
                  <a:gd name="T47" fmla="*/ 333 h 371"/>
                  <a:gd name="T48" fmla="*/ 104 w 111"/>
                  <a:gd name="T49" fmla="*/ 341 h 371"/>
                  <a:gd name="T50" fmla="*/ 99 w 111"/>
                  <a:gd name="T51" fmla="*/ 348 h 371"/>
                  <a:gd name="T52" fmla="*/ 95 w 111"/>
                  <a:gd name="T53" fmla="*/ 355 h 371"/>
                  <a:gd name="T54" fmla="*/ 87 w 111"/>
                  <a:gd name="T55" fmla="*/ 360 h 371"/>
                  <a:gd name="T56" fmla="*/ 80 w 111"/>
                  <a:gd name="T57" fmla="*/ 364 h 371"/>
                  <a:gd name="T58" fmla="*/ 73 w 111"/>
                  <a:gd name="T59" fmla="*/ 367 h 371"/>
                  <a:gd name="T60" fmla="*/ 66 w 111"/>
                  <a:gd name="T61" fmla="*/ 369 h 371"/>
                  <a:gd name="T62" fmla="*/ 57 w 111"/>
                  <a:gd name="T63" fmla="*/ 371 h 371"/>
                  <a:gd name="T64" fmla="*/ 47 w 111"/>
                  <a:gd name="T65" fmla="*/ 369 h 371"/>
                  <a:gd name="T66" fmla="*/ 40 w 111"/>
                  <a:gd name="T67" fmla="*/ 367 h 371"/>
                  <a:gd name="T68" fmla="*/ 31 w 111"/>
                  <a:gd name="T69" fmla="*/ 364 h 371"/>
                  <a:gd name="T70" fmla="*/ 24 w 111"/>
                  <a:gd name="T71" fmla="*/ 360 h 371"/>
                  <a:gd name="T72" fmla="*/ 19 w 111"/>
                  <a:gd name="T73" fmla="*/ 355 h 371"/>
                  <a:gd name="T74" fmla="*/ 12 w 111"/>
                  <a:gd name="T75" fmla="*/ 348 h 371"/>
                  <a:gd name="T76" fmla="*/ 7 w 111"/>
                  <a:gd name="T77" fmla="*/ 341 h 371"/>
                  <a:gd name="T78" fmla="*/ 5 w 111"/>
                  <a:gd name="T79" fmla="*/ 333 h 371"/>
                  <a:gd name="T80" fmla="*/ 2 w 111"/>
                  <a:gd name="T81" fmla="*/ 324 h 371"/>
                  <a:gd name="T82" fmla="*/ 2 w 111"/>
                  <a:gd name="T83" fmla="*/ 315 h 371"/>
                  <a:gd name="T84" fmla="*/ 2 w 111"/>
                  <a:gd name="T85" fmla="*/ 54 h 371"/>
                  <a:gd name="T86" fmla="*/ 2 w 111"/>
                  <a:gd name="T87" fmla="*/ 54 h 371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11"/>
                  <a:gd name="T133" fmla="*/ 0 h 371"/>
                  <a:gd name="T134" fmla="*/ 111 w 111"/>
                  <a:gd name="T135" fmla="*/ 371 h 371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11" h="371">
                    <a:moveTo>
                      <a:pt x="0" y="52"/>
                    </a:moveTo>
                    <a:lnTo>
                      <a:pt x="2" y="45"/>
                    </a:lnTo>
                    <a:lnTo>
                      <a:pt x="5" y="35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9" y="14"/>
                    </a:lnTo>
                    <a:lnTo>
                      <a:pt x="24" y="9"/>
                    </a:lnTo>
                    <a:lnTo>
                      <a:pt x="31" y="4"/>
                    </a:lnTo>
                    <a:lnTo>
                      <a:pt x="40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6" y="0"/>
                    </a:lnTo>
                    <a:lnTo>
                      <a:pt x="73" y="2"/>
                    </a:lnTo>
                    <a:lnTo>
                      <a:pt x="80" y="4"/>
                    </a:lnTo>
                    <a:lnTo>
                      <a:pt x="87" y="9"/>
                    </a:lnTo>
                    <a:lnTo>
                      <a:pt x="95" y="14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9" y="35"/>
                    </a:lnTo>
                    <a:lnTo>
                      <a:pt x="111" y="45"/>
                    </a:lnTo>
                    <a:lnTo>
                      <a:pt x="111" y="54"/>
                    </a:lnTo>
                    <a:lnTo>
                      <a:pt x="111" y="315"/>
                    </a:lnTo>
                    <a:lnTo>
                      <a:pt x="111" y="324"/>
                    </a:lnTo>
                    <a:lnTo>
                      <a:pt x="109" y="333"/>
                    </a:lnTo>
                    <a:lnTo>
                      <a:pt x="104" y="341"/>
                    </a:lnTo>
                    <a:lnTo>
                      <a:pt x="99" y="348"/>
                    </a:lnTo>
                    <a:lnTo>
                      <a:pt x="95" y="355"/>
                    </a:lnTo>
                    <a:lnTo>
                      <a:pt x="87" y="360"/>
                    </a:lnTo>
                    <a:lnTo>
                      <a:pt x="80" y="364"/>
                    </a:lnTo>
                    <a:lnTo>
                      <a:pt x="73" y="367"/>
                    </a:lnTo>
                    <a:lnTo>
                      <a:pt x="66" y="369"/>
                    </a:lnTo>
                    <a:lnTo>
                      <a:pt x="57" y="371"/>
                    </a:lnTo>
                    <a:lnTo>
                      <a:pt x="47" y="369"/>
                    </a:lnTo>
                    <a:lnTo>
                      <a:pt x="40" y="367"/>
                    </a:lnTo>
                    <a:lnTo>
                      <a:pt x="31" y="364"/>
                    </a:lnTo>
                    <a:lnTo>
                      <a:pt x="24" y="360"/>
                    </a:lnTo>
                    <a:lnTo>
                      <a:pt x="19" y="355"/>
                    </a:lnTo>
                    <a:lnTo>
                      <a:pt x="12" y="348"/>
                    </a:lnTo>
                    <a:lnTo>
                      <a:pt x="7" y="341"/>
                    </a:lnTo>
                    <a:lnTo>
                      <a:pt x="5" y="333"/>
                    </a:lnTo>
                    <a:lnTo>
                      <a:pt x="2" y="324"/>
                    </a:lnTo>
                    <a:lnTo>
                      <a:pt x="2" y="315"/>
                    </a:lnTo>
                    <a:lnTo>
                      <a:pt x="2" y="54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52" name="Rectangle 286"/>
              <p:cNvSpPr>
                <a:spLocks noChangeArrowheads="1"/>
              </p:cNvSpPr>
              <p:nvPr/>
            </p:nvSpPr>
            <p:spPr bwMode="auto">
              <a:xfrm>
                <a:off x="5192" y="270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0</a:t>
                </a:r>
              </a:p>
            </p:txBody>
          </p:sp>
          <p:sp>
            <p:nvSpPr>
              <p:cNvPr id="76053" name="Freeform 287"/>
              <p:cNvSpPr>
                <a:spLocks noChangeArrowheads="1"/>
              </p:cNvSpPr>
              <p:nvPr/>
            </p:nvSpPr>
            <p:spPr bwMode="auto">
              <a:xfrm>
                <a:off x="3534" y="2391"/>
                <a:ext cx="111" cy="369"/>
              </a:xfrm>
              <a:custGeom>
                <a:avLst/>
                <a:gdLst>
                  <a:gd name="T0" fmla="*/ 0 w 111"/>
                  <a:gd name="T1" fmla="*/ 52 h 369"/>
                  <a:gd name="T2" fmla="*/ 2 w 111"/>
                  <a:gd name="T3" fmla="*/ 45 h 369"/>
                  <a:gd name="T4" fmla="*/ 5 w 111"/>
                  <a:gd name="T5" fmla="*/ 35 h 369"/>
                  <a:gd name="T6" fmla="*/ 7 w 111"/>
                  <a:gd name="T7" fmla="*/ 28 h 369"/>
                  <a:gd name="T8" fmla="*/ 12 w 111"/>
                  <a:gd name="T9" fmla="*/ 21 h 369"/>
                  <a:gd name="T10" fmla="*/ 16 w 111"/>
                  <a:gd name="T11" fmla="*/ 14 h 369"/>
                  <a:gd name="T12" fmla="*/ 24 w 111"/>
                  <a:gd name="T13" fmla="*/ 9 h 369"/>
                  <a:gd name="T14" fmla="*/ 31 w 111"/>
                  <a:gd name="T15" fmla="*/ 5 h 369"/>
                  <a:gd name="T16" fmla="*/ 38 w 111"/>
                  <a:gd name="T17" fmla="*/ 2 h 369"/>
                  <a:gd name="T18" fmla="*/ 47 w 111"/>
                  <a:gd name="T19" fmla="*/ 0 h 369"/>
                  <a:gd name="T20" fmla="*/ 57 w 111"/>
                  <a:gd name="T21" fmla="*/ 0 h 369"/>
                  <a:gd name="T22" fmla="*/ 64 w 111"/>
                  <a:gd name="T23" fmla="*/ 0 h 369"/>
                  <a:gd name="T24" fmla="*/ 73 w 111"/>
                  <a:gd name="T25" fmla="*/ 2 h 369"/>
                  <a:gd name="T26" fmla="*/ 80 w 111"/>
                  <a:gd name="T27" fmla="*/ 5 h 369"/>
                  <a:gd name="T28" fmla="*/ 88 w 111"/>
                  <a:gd name="T29" fmla="*/ 9 h 369"/>
                  <a:gd name="T30" fmla="*/ 95 w 111"/>
                  <a:gd name="T31" fmla="*/ 14 h 369"/>
                  <a:gd name="T32" fmla="*/ 99 w 111"/>
                  <a:gd name="T33" fmla="*/ 21 h 369"/>
                  <a:gd name="T34" fmla="*/ 104 w 111"/>
                  <a:gd name="T35" fmla="*/ 28 h 369"/>
                  <a:gd name="T36" fmla="*/ 106 w 111"/>
                  <a:gd name="T37" fmla="*/ 35 h 369"/>
                  <a:gd name="T38" fmla="*/ 109 w 111"/>
                  <a:gd name="T39" fmla="*/ 45 h 369"/>
                  <a:gd name="T40" fmla="*/ 111 w 111"/>
                  <a:gd name="T41" fmla="*/ 54 h 369"/>
                  <a:gd name="T42" fmla="*/ 111 w 111"/>
                  <a:gd name="T43" fmla="*/ 315 h 369"/>
                  <a:gd name="T44" fmla="*/ 109 w 111"/>
                  <a:gd name="T45" fmla="*/ 324 h 369"/>
                  <a:gd name="T46" fmla="*/ 106 w 111"/>
                  <a:gd name="T47" fmla="*/ 334 h 369"/>
                  <a:gd name="T48" fmla="*/ 104 w 111"/>
                  <a:gd name="T49" fmla="*/ 341 h 369"/>
                  <a:gd name="T50" fmla="*/ 99 w 111"/>
                  <a:gd name="T51" fmla="*/ 348 h 369"/>
                  <a:gd name="T52" fmla="*/ 95 w 111"/>
                  <a:gd name="T53" fmla="*/ 355 h 369"/>
                  <a:gd name="T54" fmla="*/ 88 w 111"/>
                  <a:gd name="T55" fmla="*/ 360 h 369"/>
                  <a:gd name="T56" fmla="*/ 80 w 111"/>
                  <a:gd name="T57" fmla="*/ 364 h 369"/>
                  <a:gd name="T58" fmla="*/ 73 w 111"/>
                  <a:gd name="T59" fmla="*/ 367 h 369"/>
                  <a:gd name="T60" fmla="*/ 64 w 111"/>
                  <a:gd name="T61" fmla="*/ 369 h 369"/>
                  <a:gd name="T62" fmla="*/ 57 w 111"/>
                  <a:gd name="T63" fmla="*/ 369 h 369"/>
                  <a:gd name="T64" fmla="*/ 47 w 111"/>
                  <a:gd name="T65" fmla="*/ 369 h 369"/>
                  <a:gd name="T66" fmla="*/ 38 w 111"/>
                  <a:gd name="T67" fmla="*/ 367 h 369"/>
                  <a:gd name="T68" fmla="*/ 31 w 111"/>
                  <a:gd name="T69" fmla="*/ 364 h 369"/>
                  <a:gd name="T70" fmla="*/ 24 w 111"/>
                  <a:gd name="T71" fmla="*/ 360 h 369"/>
                  <a:gd name="T72" fmla="*/ 16 w 111"/>
                  <a:gd name="T73" fmla="*/ 355 h 369"/>
                  <a:gd name="T74" fmla="*/ 12 w 111"/>
                  <a:gd name="T75" fmla="*/ 348 h 369"/>
                  <a:gd name="T76" fmla="*/ 7 w 111"/>
                  <a:gd name="T77" fmla="*/ 341 h 369"/>
                  <a:gd name="T78" fmla="*/ 5 w 111"/>
                  <a:gd name="T79" fmla="*/ 334 h 369"/>
                  <a:gd name="T80" fmla="*/ 2 w 111"/>
                  <a:gd name="T81" fmla="*/ 324 h 369"/>
                  <a:gd name="T82" fmla="*/ 2 w 111"/>
                  <a:gd name="T83" fmla="*/ 315 h 369"/>
                  <a:gd name="T84" fmla="*/ 2 w 111"/>
                  <a:gd name="T85" fmla="*/ 54 h 369"/>
                  <a:gd name="T86" fmla="*/ 2 w 111"/>
                  <a:gd name="T87" fmla="*/ 54 h 369"/>
                  <a:gd name="T88" fmla="*/ 0 w 111"/>
                  <a:gd name="T89" fmla="*/ 52 h 36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11"/>
                  <a:gd name="T136" fmla="*/ 0 h 369"/>
                  <a:gd name="T137" fmla="*/ 111 w 111"/>
                  <a:gd name="T138" fmla="*/ 369 h 36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11" h="369">
                    <a:moveTo>
                      <a:pt x="0" y="52"/>
                    </a:moveTo>
                    <a:lnTo>
                      <a:pt x="2" y="45"/>
                    </a:lnTo>
                    <a:lnTo>
                      <a:pt x="5" y="35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6" y="14"/>
                    </a:lnTo>
                    <a:lnTo>
                      <a:pt x="24" y="9"/>
                    </a:lnTo>
                    <a:lnTo>
                      <a:pt x="31" y="5"/>
                    </a:lnTo>
                    <a:lnTo>
                      <a:pt x="38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4" y="0"/>
                    </a:lnTo>
                    <a:lnTo>
                      <a:pt x="73" y="2"/>
                    </a:lnTo>
                    <a:lnTo>
                      <a:pt x="80" y="5"/>
                    </a:lnTo>
                    <a:lnTo>
                      <a:pt x="88" y="9"/>
                    </a:lnTo>
                    <a:lnTo>
                      <a:pt x="95" y="14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6" y="35"/>
                    </a:lnTo>
                    <a:lnTo>
                      <a:pt x="109" y="45"/>
                    </a:lnTo>
                    <a:lnTo>
                      <a:pt x="111" y="54"/>
                    </a:lnTo>
                    <a:lnTo>
                      <a:pt x="111" y="315"/>
                    </a:lnTo>
                    <a:lnTo>
                      <a:pt x="109" y="324"/>
                    </a:lnTo>
                    <a:lnTo>
                      <a:pt x="106" y="334"/>
                    </a:lnTo>
                    <a:lnTo>
                      <a:pt x="104" y="341"/>
                    </a:lnTo>
                    <a:lnTo>
                      <a:pt x="99" y="348"/>
                    </a:lnTo>
                    <a:lnTo>
                      <a:pt x="95" y="355"/>
                    </a:lnTo>
                    <a:lnTo>
                      <a:pt x="88" y="360"/>
                    </a:lnTo>
                    <a:lnTo>
                      <a:pt x="80" y="364"/>
                    </a:lnTo>
                    <a:lnTo>
                      <a:pt x="73" y="367"/>
                    </a:lnTo>
                    <a:lnTo>
                      <a:pt x="64" y="369"/>
                    </a:lnTo>
                    <a:lnTo>
                      <a:pt x="57" y="369"/>
                    </a:lnTo>
                    <a:lnTo>
                      <a:pt x="47" y="369"/>
                    </a:lnTo>
                    <a:lnTo>
                      <a:pt x="38" y="367"/>
                    </a:lnTo>
                    <a:lnTo>
                      <a:pt x="31" y="364"/>
                    </a:lnTo>
                    <a:lnTo>
                      <a:pt x="24" y="360"/>
                    </a:lnTo>
                    <a:lnTo>
                      <a:pt x="16" y="355"/>
                    </a:lnTo>
                    <a:lnTo>
                      <a:pt x="12" y="348"/>
                    </a:lnTo>
                    <a:lnTo>
                      <a:pt x="7" y="341"/>
                    </a:lnTo>
                    <a:lnTo>
                      <a:pt x="5" y="334"/>
                    </a:lnTo>
                    <a:lnTo>
                      <a:pt x="2" y="324"/>
                    </a:lnTo>
                    <a:lnTo>
                      <a:pt x="2" y="315"/>
                    </a:lnTo>
                    <a:lnTo>
                      <a:pt x="2" y="54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54" name="Freeform 288"/>
              <p:cNvSpPr>
                <a:spLocks noChangeArrowheads="1"/>
              </p:cNvSpPr>
              <p:nvPr/>
            </p:nvSpPr>
            <p:spPr bwMode="auto">
              <a:xfrm>
                <a:off x="3534" y="2391"/>
                <a:ext cx="111" cy="369"/>
              </a:xfrm>
              <a:custGeom>
                <a:avLst/>
                <a:gdLst>
                  <a:gd name="T0" fmla="*/ 0 w 111"/>
                  <a:gd name="T1" fmla="*/ 52 h 369"/>
                  <a:gd name="T2" fmla="*/ 2 w 111"/>
                  <a:gd name="T3" fmla="*/ 45 h 369"/>
                  <a:gd name="T4" fmla="*/ 5 w 111"/>
                  <a:gd name="T5" fmla="*/ 35 h 369"/>
                  <a:gd name="T6" fmla="*/ 7 w 111"/>
                  <a:gd name="T7" fmla="*/ 28 h 369"/>
                  <a:gd name="T8" fmla="*/ 12 w 111"/>
                  <a:gd name="T9" fmla="*/ 21 h 369"/>
                  <a:gd name="T10" fmla="*/ 16 w 111"/>
                  <a:gd name="T11" fmla="*/ 14 h 369"/>
                  <a:gd name="T12" fmla="*/ 24 w 111"/>
                  <a:gd name="T13" fmla="*/ 9 h 369"/>
                  <a:gd name="T14" fmla="*/ 31 w 111"/>
                  <a:gd name="T15" fmla="*/ 5 h 369"/>
                  <a:gd name="T16" fmla="*/ 38 w 111"/>
                  <a:gd name="T17" fmla="*/ 2 h 369"/>
                  <a:gd name="T18" fmla="*/ 47 w 111"/>
                  <a:gd name="T19" fmla="*/ 0 h 369"/>
                  <a:gd name="T20" fmla="*/ 57 w 111"/>
                  <a:gd name="T21" fmla="*/ 0 h 369"/>
                  <a:gd name="T22" fmla="*/ 64 w 111"/>
                  <a:gd name="T23" fmla="*/ 0 h 369"/>
                  <a:gd name="T24" fmla="*/ 73 w 111"/>
                  <a:gd name="T25" fmla="*/ 2 h 369"/>
                  <a:gd name="T26" fmla="*/ 80 w 111"/>
                  <a:gd name="T27" fmla="*/ 5 h 369"/>
                  <a:gd name="T28" fmla="*/ 88 w 111"/>
                  <a:gd name="T29" fmla="*/ 9 h 369"/>
                  <a:gd name="T30" fmla="*/ 95 w 111"/>
                  <a:gd name="T31" fmla="*/ 14 h 369"/>
                  <a:gd name="T32" fmla="*/ 99 w 111"/>
                  <a:gd name="T33" fmla="*/ 21 h 369"/>
                  <a:gd name="T34" fmla="*/ 104 w 111"/>
                  <a:gd name="T35" fmla="*/ 28 h 369"/>
                  <a:gd name="T36" fmla="*/ 106 w 111"/>
                  <a:gd name="T37" fmla="*/ 35 h 369"/>
                  <a:gd name="T38" fmla="*/ 109 w 111"/>
                  <a:gd name="T39" fmla="*/ 45 h 369"/>
                  <a:gd name="T40" fmla="*/ 111 w 111"/>
                  <a:gd name="T41" fmla="*/ 54 h 369"/>
                  <a:gd name="T42" fmla="*/ 111 w 111"/>
                  <a:gd name="T43" fmla="*/ 315 h 369"/>
                  <a:gd name="T44" fmla="*/ 109 w 111"/>
                  <a:gd name="T45" fmla="*/ 324 h 369"/>
                  <a:gd name="T46" fmla="*/ 106 w 111"/>
                  <a:gd name="T47" fmla="*/ 334 h 369"/>
                  <a:gd name="T48" fmla="*/ 104 w 111"/>
                  <a:gd name="T49" fmla="*/ 341 h 369"/>
                  <a:gd name="T50" fmla="*/ 99 w 111"/>
                  <a:gd name="T51" fmla="*/ 348 h 369"/>
                  <a:gd name="T52" fmla="*/ 95 w 111"/>
                  <a:gd name="T53" fmla="*/ 355 h 369"/>
                  <a:gd name="T54" fmla="*/ 88 w 111"/>
                  <a:gd name="T55" fmla="*/ 360 h 369"/>
                  <a:gd name="T56" fmla="*/ 80 w 111"/>
                  <a:gd name="T57" fmla="*/ 364 h 369"/>
                  <a:gd name="T58" fmla="*/ 73 w 111"/>
                  <a:gd name="T59" fmla="*/ 367 h 369"/>
                  <a:gd name="T60" fmla="*/ 64 w 111"/>
                  <a:gd name="T61" fmla="*/ 369 h 369"/>
                  <a:gd name="T62" fmla="*/ 57 w 111"/>
                  <a:gd name="T63" fmla="*/ 369 h 369"/>
                  <a:gd name="T64" fmla="*/ 47 w 111"/>
                  <a:gd name="T65" fmla="*/ 369 h 369"/>
                  <a:gd name="T66" fmla="*/ 38 w 111"/>
                  <a:gd name="T67" fmla="*/ 367 h 369"/>
                  <a:gd name="T68" fmla="*/ 31 w 111"/>
                  <a:gd name="T69" fmla="*/ 364 h 369"/>
                  <a:gd name="T70" fmla="*/ 24 w 111"/>
                  <a:gd name="T71" fmla="*/ 360 h 369"/>
                  <a:gd name="T72" fmla="*/ 16 w 111"/>
                  <a:gd name="T73" fmla="*/ 355 h 369"/>
                  <a:gd name="T74" fmla="*/ 12 w 111"/>
                  <a:gd name="T75" fmla="*/ 348 h 369"/>
                  <a:gd name="T76" fmla="*/ 7 w 111"/>
                  <a:gd name="T77" fmla="*/ 341 h 369"/>
                  <a:gd name="T78" fmla="*/ 5 w 111"/>
                  <a:gd name="T79" fmla="*/ 334 h 369"/>
                  <a:gd name="T80" fmla="*/ 2 w 111"/>
                  <a:gd name="T81" fmla="*/ 324 h 369"/>
                  <a:gd name="T82" fmla="*/ 2 w 111"/>
                  <a:gd name="T83" fmla="*/ 315 h 369"/>
                  <a:gd name="T84" fmla="*/ 2 w 111"/>
                  <a:gd name="T85" fmla="*/ 54 h 369"/>
                  <a:gd name="T86" fmla="*/ 2 w 111"/>
                  <a:gd name="T87" fmla="*/ 54 h 36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11"/>
                  <a:gd name="T133" fmla="*/ 0 h 369"/>
                  <a:gd name="T134" fmla="*/ 111 w 111"/>
                  <a:gd name="T135" fmla="*/ 369 h 36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11" h="369">
                    <a:moveTo>
                      <a:pt x="0" y="52"/>
                    </a:moveTo>
                    <a:lnTo>
                      <a:pt x="2" y="45"/>
                    </a:lnTo>
                    <a:lnTo>
                      <a:pt x="5" y="35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6" y="14"/>
                    </a:lnTo>
                    <a:lnTo>
                      <a:pt x="24" y="9"/>
                    </a:lnTo>
                    <a:lnTo>
                      <a:pt x="31" y="5"/>
                    </a:lnTo>
                    <a:lnTo>
                      <a:pt x="38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4" y="0"/>
                    </a:lnTo>
                    <a:lnTo>
                      <a:pt x="73" y="2"/>
                    </a:lnTo>
                    <a:lnTo>
                      <a:pt x="80" y="5"/>
                    </a:lnTo>
                    <a:lnTo>
                      <a:pt x="88" y="9"/>
                    </a:lnTo>
                    <a:lnTo>
                      <a:pt x="95" y="14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6" y="35"/>
                    </a:lnTo>
                    <a:lnTo>
                      <a:pt x="109" y="45"/>
                    </a:lnTo>
                    <a:lnTo>
                      <a:pt x="111" y="54"/>
                    </a:lnTo>
                    <a:lnTo>
                      <a:pt x="111" y="315"/>
                    </a:lnTo>
                    <a:lnTo>
                      <a:pt x="109" y="324"/>
                    </a:lnTo>
                    <a:lnTo>
                      <a:pt x="106" y="334"/>
                    </a:lnTo>
                    <a:lnTo>
                      <a:pt x="104" y="341"/>
                    </a:lnTo>
                    <a:lnTo>
                      <a:pt x="99" y="348"/>
                    </a:lnTo>
                    <a:lnTo>
                      <a:pt x="95" y="355"/>
                    </a:lnTo>
                    <a:lnTo>
                      <a:pt x="88" y="360"/>
                    </a:lnTo>
                    <a:lnTo>
                      <a:pt x="80" y="364"/>
                    </a:lnTo>
                    <a:lnTo>
                      <a:pt x="73" y="367"/>
                    </a:lnTo>
                    <a:lnTo>
                      <a:pt x="64" y="369"/>
                    </a:lnTo>
                    <a:lnTo>
                      <a:pt x="57" y="369"/>
                    </a:lnTo>
                    <a:lnTo>
                      <a:pt x="47" y="369"/>
                    </a:lnTo>
                    <a:lnTo>
                      <a:pt x="38" y="367"/>
                    </a:lnTo>
                    <a:lnTo>
                      <a:pt x="31" y="364"/>
                    </a:lnTo>
                    <a:lnTo>
                      <a:pt x="24" y="360"/>
                    </a:lnTo>
                    <a:lnTo>
                      <a:pt x="16" y="355"/>
                    </a:lnTo>
                    <a:lnTo>
                      <a:pt x="12" y="348"/>
                    </a:lnTo>
                    <a:lnTo>
                      <a:pt x="7" y="341"/>
                    </a:lnTo>
                    <a:lnTo>
                      <a:pt x="5" y="334"/>
                    </a:lnTo>
                    <a:lnTo>
                      <a:pt x="2" y="324"/>
                    </a:lnTo>
                    <a:lnTo>
                      <a:pt x="2" y="315"/>
                    </a:lnTo>
                    <a:lnTo>
                      <a:pt x="2" y="54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55" name="Rectangle 289"/>
              <p:cNvSpPr>
                <a:spLocks noChangeArrowheads="1"/>
              </p:cNvSpPr>
              <p:nvPr/>
            </p:nvSpPr>
            <p:spPr bwMode="auto">
              <a:xfrm>
                <a:off x="3555" y="2410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0</a:t>
                </a:r>
              </a:p>
            </p:txBody>
          </p:sp>
          <p:sp>
            <p:nvSpPr>
              <p:cNvPr id="76056" name="Freeform 290"/>
              <p:cNvSpPr>
                <a:spLocks noChangeArrowheads="1"/>
              </p:cNvSpPr>
              <p:nvPr/>
            </p:nvSpPr>
            <p:spPr bwMode="auto">
              <a:xfrm>
                <a:off x="2241" y="2346"/>
                <a:ext cx="111" cy="372"/>
              </a:xfrm>
              <a:custGeom>
                <a:avLst/>
                <a:gdLst>
                  <a:gd name="T0" fmla="*/ 0 w 111"/>
                  <a:gd name="T1" fmla="*/ 54 h 372"/>
                  <a:gd name="T2" fmla="*/ 2 w 111"/>
                  <a:gd name="T3" fmla="*/ 45 h 372"/>
                  <a:gd name="T4" fmla="*/ 5 w 111"/>
                  <a:gd name="T5" fmla="*/ 38 h 372"/>
                  <a:gd name="T6" fmla="*/ 7 w 111"/>
                  <a:gd name="T7" fmla="*/ 28 h 372"/>
                  <a:gd name="T8" fmla="*/ 12 w 111"/>
                  <a:gd name="T9" fmla="*/ 21 h 372"/>
                  <a:gd name="T10" fmla="*/ 16 w 111"/>
                  <a:gd name="T11" fmla="*/ 16 h 372"/>
                  <a:gd name="T12" fmla="*/ 24 w 111"/>
                  <a:gd name="T13" fmla="*/ 9 h 372"/>
                  <a:gd name="T14" fmla="*/ 31 w 111"/>
                  <a:gd name="T15" fmla="*/ 7 h 372"/>
                  <a:gd name="T16" fmla="*/ 38 w 111"/>
                  <a:gd name="T17" fmla="*/ 2 h 372"/>
                  <a:gd name="T18" fmla="*/ 47 w 111"/>
                  <a:gd name="T19" fmla="*/ 0 h 372"/>
                  <a:gd name="T20" fmla="*/ 57 w 111"/>
                  <a:gd name="T21" fmla="*/ 0 h 372"/>
                  <a:gd name="T22" fmla="*/ 64 w 111"/>
                  <a:gd name="T23" fmla="*/ 0 h 372"/>
                  <a:gd name="T24" fmla="*/ 73 w 111"/>
                  <a:gd name="T25" fmla="*/ 2 h 372"/>
                  <a:gd name="T26" fmla="*/ 80 w 111"/>
                  <a:gd name="T27" fmla="*/ 7 h 372"/>
                  <a:gd name="T28" fmla="*/ 88 w 111"/>
                  <a:gd name="T29" fmla="*/ 9 h 372"/>
                  <a:gd name="T30" fmla="*/ 95 w 111"/>
                  <a:gd name="T31" fmla="*/ 16 h 372"/>
                  <a:gd name="T32" fmla="*/ 99 w 111"/>
                  <a:gd name="T33" fmla="*/ 21 h 372"/>
                  <a:gd name="T34" fmla="*/ 104 w 111"/>
                  <a:gd name="T35" fmla="*/ 28 h 372"/>
                  <a:gd name="T36" fmla="*/ 109 w 111"/>
                  <a:gd name="T37" fmla="*/ 38 h 372"/>
                  <a:gd name="T38" fmla="*/ 109 w 111"/>
                  <a:gd name="T39" fmla="*/ 45 h 372"/>
                  <a:gd name="T40" fmla="*/ 111 w 111"/>
                  <a:gd name="T41" fmla="*/ 54 h 372"/>
                  <a:gd name="T42" fmla="*/ 111 w 111"/>
                  <a:gd name="T43" fmla="*/ 317 h 372"/>
                  <a:gd name="T44" fmla="*/ 109 w 111"/>
                  <a:gd name="T45" fmla="*/ 327 h 372"/>
                  <a:gd name="T46" fmla="*/ 109 w 111"/>
                  <a:gd name="T47" fmla="*/ 334 h 372"/>
                  <a:gd name="T48" fmla="*/ 104 w 111"/>
                  <a:gd name="T49" fmla="*/ 341 h 372"/>
                  <a:gd name="T50" fmla="*/ 99 w 111"/>
                  <a:gd name="T51" fmla="*/ 348 h 372"/>
                  <a:gd name="T52" fmla="*/ 95 w 111"/>
                  <a:gd name="T53" fmla="*/ 355 h 372"/>
                  <a:gd name="T54" fmla="*/ 88 w 111"/>
                  <a:gd name="T55" fmla="*/ 360 h 372"/>
                  <a:gd name="T56" fmla="*/ 80 w 111"/>
                  <a:gd name="T57" fmla="*/ 364 h 372"/>
                  <a:gd name="T58" fmla="*/ 73 w 111"/>
                  <a:gd name="T59" fmla="*/ 369 h 372"/>
                  <a:gd name="T60" fmla="*/ 64 w 111"/>
                  <a:gd name="T61" fmla="*/ 372 h 372"/>
                  <a:gd name="T62" fmla="*/ 57 w 111"/>
                  <a:gd name="T63" fmla="*/ 372 h 372"/>
                  <a:gd name="T64" fmla="*/ 47 w 111"/>
                  <a:gd name="T65" fmla="*/ 372 h 372"/>
                  <a:gd name="T66" fmla="*/ 38 w 111"/>
                  <a:gd name="T67" fmla="*/ 369 h 372"/>
                  <a:gd name="T68" fmla="*/ 31 w 111"/>
                  <a:gd name="T69" fmla="*/ 364 h 372"/>
                  <a:gd name="T70" fmla="*/ 24 w 111"/>
                  <a:gd name="T71" fmla="*/ 360 h 372"/>
                  <a:gd name="T72" fmla="*/ 16 w 111"/>
                  <a:gd name="T73" fmla="*/ 355 h 372"/>
                  <a:gd name="T74" fmla="*/ 12 w 111"/>
                  <a:gd name="T75" fmla="*/ 348 h 372"/>
                  <a:gd name="T76" fmla="*/ 7 w 111"/>
                  <a:gd name="T77" fmla="*/ 341 h 372"/>
                  <a:gd name="T78" fmla="*/ 5 w 111"/>
                  <a:gd name="T79" fmla="*/ 334 h 372"/>
                  <a:gd name="T80" fmla="*/ 2 w 111"/>
                  <a:gd name="T81" fmla="*/ 327 h 372"/>
                  <a:gd name="T82" fmla="*/ 2 w 111"/>
                  <a:gd name="T83" fmla="*/ 317 h 372"/>
                  <a:gd name="T84" fmla="*/ 2 w 111"/>
                  <a:gd name="T85" fmla="*/ 54 h 372"/>
                  <a:gd name="T86" fmla="*/ 2 w 111"/>
                  <a:gd name="T87" fmla="*/ 54 h 372"/>
                  <a:gd name="T88" fmla="*/ 0 w 111"/>
                  <a:gd name="T89" fmla="*/ 54 h 372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11"/>
                  <a:gd name="T136" fmla="*/ 0 h 372"/>
                  <a:gd name="T137" fmla="*/ 111 w 111"/>
                  <a:gd name="T138" fmla="*/ 372 h 372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11" h="372">
                    <a:moveTo>
                      <a:pt x="0" y="54"/>
                    </a:moveTo>
                    <a:lnTo>
                      <a:pt x="2" y="45"/>
                    </a:lnTo>
                    <a:lnTo>
                      <a:pt x="5" y="38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6" y="16"/>
                    </a:lnTo>
                    <a:lnTo>
                      <a:pt x="24" y="9"/>
                    </a:lnTo>
                    <a:lnTo>
                      <a:pt x="31" y="7"/>
                    </a:lnTo>
                    <a:lnTo>
                      <a:pt x="38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4" y="0"/>
                    </a:lnTo>
                    <a:lnTo>
                      <a:pt x="73" y="2"/>
                    </a:lnTo>
                    <a:lnTo>
                      <a:pt x="80" y="7"/>
                    </a:lnTo>
                    <a:lnTo>
                      <a:pt x="88" y="9"/>
                    </a:lnTo>
                    <a:lnTo>
                      <a:pt x="95" y="16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9" y="38"/>
                    </a:lnTo>
                    <a:lnTo>
                      <a:pt x="109" y="45"/>
                    </a:lnTo>
                    <a:lnTo>
                      <a:pt x="111" y="54"/>
                    </a:lnTo>
                    <a:lnTo>
                      <a:pt x="111" y="317"/>
                    </a:lnTo>
                    <a:lnTo>
                      <a:pt x="109" y="327"/>
                    </a:lnTo>
                    <a:lnTo>
                      <a:pt x="109" y="334"/>
                    </a:lnTo>
                    <a:lnTo>
                      <a:pt x="104" y="341"/>
                    </a:lnTo>
                    <a:lnTo>
                      <a:pt x="99" y="348"/>
                    </a:lnTo>
                    <a:lnTo>
                      <a:pt x="95" y="355"/>
                    </a:lnTo>
                    <a:lnTo>
                      <a:pt x="88" y="360"/>
                    </a:lnTo>
                    <a:lnTo>
                      <a:pt x="80" y="364"/>
                    </a:lnTo>
                    <a:lnTo>
                      <a:pt x="73" y="369"/>
                    </a:lnTo>
                    <a:lnTo>
                      <a:pt x="64" y="372"/>
                    </a:lnTo>
                    <a:lnTo>
                      <a:pt x="57" y="372"/>
                    </a:lnTo>
                    <a:lnTo>
                      <a:pt x="47" y="372"/>
                    </a:lnTo>
                    <a:lnTo>
                      <a:pt x="38" y="369"/>
                    </a:lnTo>
                    <a:lnTo>
                      <a:pt x="31" y="364"/>
                    </a:lnTo>
                    <a:lnTo>
                      <a:pt x="24" y="360"/>
                    </a:lnTo>
                    <a:lnTo>
                      <a:pt x="16" y="355"/>
                    </a:lnTo>
                    <a:lnTo>
                      <a:pt x="12" y="348"/>
                    </a:lnTo>
                    <a:lnTo>
                      <a:pt x="7" y="341"/>
                    </a:lnTo>
                    <a:lnTo>
                      <a:pt x="5" y="334"/>
                    </a:lnTo>
                    <a:lnTo>
                      <a:pt x="2" y="327"/>
                    </a:lnTo>
                    <a:lnTo>
                      <a:pt x="2" y="317"/>
                    </a:lnTo>
                    <a:lnTo>
                      <a:pt x="2" y="54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57" name="Freeform 291"/>
              <p:cNvSpPr>
                <a:spLocks noChangeArrowheads="1"/>
              </p:cNvSpPr>
              <p:nvPr/>
            </p:nvSpPr>
            <p:spPr bwMode="auto">
              <a:xfrm>
                <a:off x="2241" y="2346"/>
                <a:ext cx="111" cy="372"/>
              </a:xfrm>
              <a:custGeom>
                <a:avLst/>
                <a:gdLst>
                  <a:gd name="T0" fmla="*/ 0 w 111"/>
                  <a:gd name="T1" fmla="*/ 54 h 372"/>
                  <a:gd name="T2" fmla="*/ 2 w 111"/>
                  <a:gd name="T3" fmla="*/ 45 h 372"/>
                  <a:gd name="T4" fmla="*/ 5 w 111"/>
                  <a:gd name="T5" fmla="*/ 38 h 372"/>
                  <a:gd name="T6" fmla="*/ 7 w 111"/>
                  <a:gd name="T7" fmla="*/ 28 h 372"/>
                  <a:gd name="T8" fmla="*/ 12 w 111"/>
                  <a:gd name="T9" fmla="*/ 21 h 372"/>
                  <a:gd name="T10" fmla="*/ 16 w 111"/>
                  <a:gd name="T11" fmla="*/ 16 h 372"/>
                  <a:gd name="T12" fmla="*/ 24 w 111"/>
                  <a:gd name="T13" fmla="*/ 9 h 372"/>
                  <a:gd name="T14" fmla="*/ 31 w 111"/>
                  <a:gd name="T15" fmla="*/ 7 h 372"/>
                  <a:gd name="T16" fmla="*/ 38 w 111"/>
                  <a:gd name="T17" fmla="*/ 2 h 372"/>
                  <a:gd name="T18" fmla="*/ 47 w 111"/>
                  <a:gd name="T19" fmla="*/ 0 h 372"/>
                  <a:gd name="T20" fmla="*/ 57 w 111"/>
                  <a:gd name="T21" fmla="*/ 0 h 372"/>
                  <a:gd name="T22" fmla="*/ 64 w 111"/>
                  <a:gd name="T23" fmla="*/ 0 h 372"/>
                  <a:gd name="T24" fmla="*/ 73 w 111"/>
                  <a:gd name="T25" fmla="*/ 2 h 372"/>
                  <a:gd name="T26" fmla="*/ 80 w 111"/>
                  <a:gd name="T27" fmla="*/ 7 h 372"/>
                  <a:gd name="T28" fmla="*/ 88 w 111"/>
                  <a:gd name="T29" fmla="*/ 9 h 372"/>
                  <a:gd name="T30" fmla="*/ 95 w 111"/>
                  <a:gd name="T31" fmla="*/ 16 h 372"/>
                  <a:gd name="T32" fmla="*/ 99 w 111"/>
                  <a:gd name="T33" fmla="*/ 21 h 372"/>
                  <a:gd name="T34" fmla="*/ 104 w 111"/>
                  <a:gd name="T35" fmla="*/ 28 h 372"/>
                  <a:gd name="T36" fmla="*/ 109 w 111"/>
                  <a:gd name="T37" fmla="*/ 38 h 372"/>
                  <a:gd name="T38" fmla="*/ 109 w 111"/>
                  <a:gd name="T39" fmla="*/ 45 h 372"/>
                  <a:gd name="T40" fmla="*/ 111 w 111"/>
                  <a:gd name="T41" fmla="*/ 54 h 372"/>
                  <a:gd name="T42" fmla="*/ 111 w 111"/>
                  <a:gd name="T43" fmla="*/ 317 h 372"/>
                  <a:gd name="T44" fmla="*/ 109 w 111"/>
                  <a:gd name="T45" fmla="*/ 327 h 372"/>
                  <a:gd name="T46" fmla="*/ 109 w 111"/>
                  <a:gd name="T47" fmla="*/ 334 h 372"/>
                  <a:gd name="T48" fmla="*/ 104 w 111"/>
                  <a:gd name="T49" fmla="*/ 341 h 372"/>
                  <a:gd name="T50" fmla="*/ 99 w 111"/>
                  <a:gd name="T51" fmla="*/ 348 h 372"/>
                  <a:gd name="T52" fmla="*/ 95 w 111"/>
                  <a:gd name="T53" fmla="*/ 355 h 372"/>
                  <a:gd name="T54" fmla="*/ 88 w 111"/>
                  <a:gd name="T55" fmla="*/ 360 h 372"/>
                  <a:gd name="T56" fmla="*/ 80 w 111"/>
                  <a:gd name="T57" fmla="*/ 364 h 372"/>
                  <a:gd name="T58" fmla="*/ 73 w 111"/>
                  <a:gd name="T59" fmla="*/ 369 h 372"/>
                  <a:gd name="T60" fmla="*/ 64 w 111"/>
                  <a:gd name="T61" fmla="*/ 372 h 372"/>
                  <a:gd name="T62" fmla="*/ 57 w 111"/>
                  <a:gd name="T63" fmla="*/ 372 h 372"/>
                  <a:gd name="T64" fmla="*/ 47 w 111"/>
                  <a:gd name="T65" fmla="*/ 372 h 372"/>
                  <a:gd name="T66" fmla="*/ 38 w 111"/>
                  <a:gd name="T67" fmla="*/ 369 h 372"/>
                  <a:gd name="T68" fmla="*/ 31 w 111"/>
                  <a:gd name="T69" fmla="*/ 364 h 372"/>
                  <a:gd name="T70" fmla="*/ 24 w 111"/>
                  <a:gd name="T71" fmla="*/ 360 h 372"/>
                  <a:gd name="T72" fmla="*/ 16 w 111"/>
                  <a:gd name="T73" fmla="*/ 355 h 372"/>
                  <a:gd name="T74" fmla="*/ 12 w 111"/>
                  <a:gd name="T75" fmla="*/ 348 h 372"/>
                  <a:gd name="T76" fmla="*/ 7 w 111"/>
                  <a:gd name="T77" fmla="*/ 341 h 372"/>
                  <a:gd name="T78" fmla="*/ 5 w 111"/>
                  <a:gd name="T79" fmla="*/ 334 h 372"/>
                  <a:gd name="T80" fmla="*/ 2 w 111"/>
                  <a:gd name="T81" fmla="*/ 327 h 372"/>
                  <a:gd name="T82" fmla="*/ 2 w 111"/>
                  <a:gd name="T83" fmla="*/ 317 h 372"/>
                  <a:gd name="T84" fmla="*/ 2 w 111"/>
                  <a:gd name="T85" fmla="*/ 54 h 372"/>
                  <a:gd name="T86" fmla="*/ 2 w 111"/>
                  <a:gd name="T87" fmla="*/ 54 h 37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11"/>
                  <a:gd name="T133" fmla="*/ 0 h 372"/>
                  <a:gd name="T134" fmla="*/ 111 w 111"/>
                  <a:gd name="T135" fmla="*/ 372 h 372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11" h="372">
                    <a:moveTo>
                      <a:pt x="0" y="54"/>
                    </a:moveTo>
                    <a:lnTo>
                      <a:pt x="2" y="45"/>
                    </a:lnTo>
                    <a:lnTo>
                      <a:pt x="5" y="38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6" y="16"/>
                    </a:lnTo>
                    <a:lnTo>
                      <a:pt x="24" y="9"/>
                    </a:lnTo>
                    <a:lnTo>
                      <a:pt x="31" y="7"/>
                    </a:lnTo>
                    <a:lnTo>
                      <a:pt x="38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4" y="0"/>
                    </a:lnTo>
                    <a:lnTo>
                      <a:pt x="73" y="2"/>
                    </a:lnTo>
                    <a:lnTo>
                      <a:pt x="80" y="7"/>
                    </a:lnTo>
                    <a:lnTo>
                      <a:pt x="88" y="9"/>
                    </a:lnTo>
                    <a:lnTo>
                      <a:pt x="95" y="16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9" y="38"/>
                    </a:lnTo>
                    <a:lnTo>
                      <a:pt x="109" y="45"/>
                    </a:lnTo>
                    <a:lnTo>
                      <a:pt x="111" y="54"/>
                    </a:lnTo>
                    <a:lnTo>
                      <a:pt x="111" y="317"/>
                    </a:lnTo>
                    <a:lnTo>
                      <a:pt x="109" y="327"/>
                    </a:lnTo>
                    <a:lnTo>
                      <a:pt x="109" y="334"/>
                    </a:lnTo>
                    <a:lnTo>
                      <a:pt x="104" y="341"/>
                    </a:lnTo>
                    <a:lnTo>
                      <a:pt x="99" y="348"/>
                    </a:lnTo>
                    <a:lnTo>
                      <a:pt x="95" y="355"/>
                    </a:lnTo>
                    <a:lnTo>
                      <a:pt x="88" y="360"/>
                    </a:lnTo>
                    <a:lnTo>
                      <a:pt x="80" y="364"/>
                    </a:lnTo>
                    <a:lnTo>
                      <a:pt x="73" y="369"/>
                    </a:lnTo>
                    <a:lnTo>
                      <a:pt x="64" y="372"/>
                    </a:lnTo>
                    <a:lnTo>
                      <a:pt x="57" y="372"/>
                    </a:lnTo>
                    <a:lnTo>
                      <a:pt x="47" y="372"/>
                    </a:lnTo>
                    <a:lnTo>
                      <a:pt x="38" y="369"/>
                    </a:lnTo>
                    <a:lnTo>
                      <a:pt x="31" y="364"/>
                    </a:lnTo>
                    <a:lnTo>
                      <a:pt x="24" y="360"/>
                    </a:lnTo>
                    <a:lnTo>
                      <a:pt x="16" y="355"/>
                    </a:lnTo>
                    <a:lnTo>
                      <a:pt x="12" y="348"/>
                    </a:lnTo>
                    <a:lnTo>
                      <a:pt x="7" y="341"/>
                    </a:lnTo>
                    <a:lnTo>
                      <a:pt x="5" y="334"/>
                    </a:lnTo>
                    <a:lnTo>
                      <a:pt x="2" y="327"/>
                    </a:lnTo>
                    <a:lnTo>
                      <a:pt x="2" y="317"/>
                    </a:lnTo>
                    <a:lnTo>
                      <a:pt x="2" y="54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58" name="Rectangle 292"/>
              <p:cNvSpPr>
                <a:spLocks noChangeArrowheads="1"/>
              </p:cNvSpPr>
              <p:nvPr/>
            </p:nvSpPr>
            <p:spPr bwMode="auto">
              <a:xfrm>
                <a:off x="2270" y="2439"/>
                <a:ext cx="47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M</a:t>
                </a:r>
              </a:p>
            </p:txBody>
          </p:sp>
          <p:sp>
            <p:nvSpPr>
              <p:cNvPr id="76059" name="Rectangle 293"/>
              <p:cNvSpPr>
                <a:spLocks noChangeArrowheads="1"/>
              </p:cNvSpPr>
              <p:nvPr/>
            </p:nvSpPr>
            <p:spPr bwMode="auto">
              <a:xfrm>
                <a:off x="2319" y="2439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60" name="Rectangle 294"/>
              <p:cNvSpPr>
                <a:spLocks noChangeArrowheads="1"/>
              </p:cNvSpPr>
              <p:nvPr/>
            </p:nvSpPr>
            <p:spPr bwMode="auto">
              <a:xfrm>
                <a:off x="2281" y="249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6061" name="Rectangle 295"/>
              <p:cNvSpPr>
                <a:spLocks noChangeArrowheads="1"/>
              </p:cNvSpPr>
              <p:nvPr/>
            </p:nvSpPr>
            <p:spPr bwMode="auto">
              <a:xfrm>
                <a:off x="2312" y="2495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62" name="Rectangle 296"/>
              <p:cNvSpPr>
                <a:spLocks noChangeArrowheads="1"/>
              </p:cNvSpPr>
              <p:nvPr/>
            </p:nvSpPr>
            <p:spPr bwMode="auto">
              <a:xfrm>
                <a:off x="2281" y="2555"/>
                <a:ext cx="2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x</a:t>
                </a:r>
              </a:p>
            </p:txBody>
          </p:sp>
          <p:sp>
            <p:nvSpPr>
              <p:cNvPr id="76063" name="Rectangle 297"/>
              <p:cNvSpPr>
                <a:spLocks noChangeArrowheads="1"/>
              </p:cNvSpPr>
              <p:nvPr/>
            </p:nvSpPr>
            <p:spPr bwMode="auto">
              <a:xfrm>
                <a:off x="2262" y="23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0</a:t>
                </a:r>
              </a:p>
            </p:txBody>
          </p:sp>
          <p:sp>
            <p:nvSpPr>
              <p:cNvPr id="76064" name="Rectangle 298"/>
              <p:cNvSpPr>
                <a:spLocks noChangeArrowheads="1"/>
              </p:cNvSpPr>
              <p:nvPr/>
            </p:nvSpPr>
            <p:spPr bwMode="auto">
              <a:xfrm>
                <a:off x="2262" y="262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76065" name="Rectangle 299"/>
              <p:cNvSpPr>
                <a:spLocks noChangeArrowheads="1"/>
              </p:cNvSpPr>
              <p:nvPr/>
            </p:nvSpPr>
            <p:spPr bwMode="auto">
              <a:xfrm>
                <a:off x="2267" y="1617"/>
                <a:ext cx="47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76066" name="Rectangle 300"/>
              <p:cNvSpPr>
                <a:spLocks noChangeArrowheads="1"/>
              </p:cNvSpPr>
              <p:nvPr/>
            </p:nvSpPr>
            <p:spPr bwMode="auto">
              <a:xfrm>
                <a:off x="2306" y="1617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76067" name="Rectangle 301"/>
              <p:cNvSpPr>
                <a:spLocks noChangeArrowheads="1"/>
              </p:cNvSpPr>
              <p:nvPr/>
            </p:nvSpPr>
            <p:spPr bwMode="auto">
              <a:xfrm>
                <a:off x="2339" y="1617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76068" name="Rectangle 302"/>
              <p:cNvSpPr>
                <a:spLocks noChangeArrowheads="1"/>
              </p:cNvSpPr>
              <p:nvPr/>
            </p:nvSpPr>
            <p:spPr bwMode="auto">
              <a:xfrm>
                <a:off x="2374" y="1617"/>
                <a:ext cx="22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069" name="Rectangle 303"/>
              <p:cNvSpPr>
                <a:spLocks noChangeArrowheads="1"/>
              </p:cNvSpPr>
              <p:nvPr/>
            </p:nvSpPr>
            <p:spPr bwMode="auto">
              <a:xfrm>
                <a:off x="2390" y="1617"/>
                <a:ext cx="26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070" name="Rectangle 304"/>
              <p:cNvSpPr>
                <a:spLocks noChangeArrowheads="1"/>
              </p:cNvSpPr>
              <p:nvPr/>
            </p:nvSpPr>
            <p:spPr bwMode="auto">
              <a:xfrm>
                <a:off x="2409" y="1617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76071" name="Rectangle 305"/>
              <p:cNvSpPr>
                <a:spLocks noChangeArrowheads="1"/>
              </p:cNvSpPr>
              <p:nvPr/>
            </p:nvSpPr>
            <p:spPr bwMode="auto">
              <a:xfrm>
                <a:off x="2442" y="1617"/>
                <a:ext cx="18" cy="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76072" name="Freeform 306"/>
              <p:cNvSpPr>
                <a:spLocks noChangeArrowheads="1"/>
              </p:cNvSpPr>
              <p:nvPr/>
            </p:nvSpPr>
            <p:spPr bwMode="auto">
              <a:xfrm>
                <a:off x="2191" y="1633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3 w 31"/>
                  <a:gd name="T3" fmla="*/ 31 h 31"/>
                  <a:gd name="T4" fmla="*/ 31 w 31"/>
                  <a:gd name="T5" fmla="*/ 17 h 31"/>
                  <a:gd name="T6" fmla="*/ 0 w 31"/>
                  <a:gd name="T7" fmla="*/ 2 h 31"/>
                  <a:gd name="T8" fmla="*/ 0 w 31"/>
                  <a:gd name="T9" fmla="*/ 2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3" y="31"/>
                    </a:lnTo>
                    <a:lnTo>
                      <a:pt x="31" y="17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73" name="Rectangle 307"/>
              <p:cNvSpPr>
                <a:spLocks noChangeArrowheads="1"/>
              </p:cNvSpPr>
              <p:nvPr/>
            </p:nvSpPr>
            <p:spPr bwMode="auto">
              <a:xfrm>
                <a:off x="3851" y="1087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074" name="Rectangle 308"/>
              <p:cNvSpPr>
                <a:spLocks noChangeArrowheads="1"/>
              </p:cNvSpPr>
              <p:nvPr/>
            </p:nvSpPr>
            <p:spPr bwMode="auto">
              <a:xfrm>
                <a:off x="3889" y="108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6075" name="Rectangle 309"/>
              <p:cNvSpPr>
                <a:spLocks noChangeArrowheads="1"/>
              </p:cNvSpPr>
              <p:nvPr/>
            </p:nvSpPr>
            <p:spPr bwMode="auto">
              <a:xfrm>
                <a:off x="3922" y="108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6076" name="Rectangle 310"/>
              <p:cNvSpPr>
                <a:spLocks noChangeArrowheads="1"/>
              </p:cNvSpPr>
              <p:nvPr/>
            </p:nvSpPr>
            <p:spPr bwMode="auto">
              <a:xfrm>
                <a:off x="4018" y="1056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077" name="Rectangle 311"/>
              <p:cNvSpPr>
                <a:spLocks noChangeArrowheads="1"/>
              </p:cNvSpPr>
              <p:nvPr/>
            </p:nvSpPr>
            <p:spPr bwMode="auto">
              <a:xfrm>
                <a:off x="4057" y="105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76078" name="Rectangle 312"/>
              <p:cNvSpPr>
                <a:spLocks noChangeArrowheads="1"/>
              </p:cNvSpPr>
              <p:nvPr/>
            </p:nvSpPr>
            <p:spPr bwMode="auto">
              <a:xfrm>
                <a:off x="4090" y="1056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6079" name="Rectangle 313"/>
              <p:cNvSpPr>
                <a:spLocks noChangeArrowheads="1"/>
              </p:cNvSpPr>
              <p:nvPr/>
            </p:nvSpPr>
            <p:spPr bwMode="auto">
              <a:xfrm>
                <a:off x="4133" y="1056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80" name="Rectangle 314"/>
              <p:cNvSpPr>
                <a:spLocks noChangeArrowheads="1"/>
              </p:cNvSpPr>
              <p:nvPr/>
            </p:nvSpPr>
            <p:spPr bwMode="auto">
              <a:xfrm>
                <a:off x="3974" y="1115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081" name="Rectangle 315"/>
              <p:cNvSpPr>
                <a:spLocks noChangeArrowheads="1"/>
              </p:cNvSpPr>
              <p:nvPr/>
            </p:nvSpPr>
            <p:spPr bwMode="auto">
              <a:xfrm>
                <a:off x="3993" y="111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082" name="Rectangle 316"/>
              <p:cNvSpPr>
                <a:spLocks noChangeArrowheads="1"/>
              </p:cNvSpPr>
              <p:nvPr/>
            </p:nvSpPr>
            <p:spPr bwMode="auto">
              <a:xfrm>
                <a:off x="4024" y="1115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6083" name="Rectangle 317"/>
              <p:cNvSpPr>
                <a:spLocks noChangeArrowheads="1"/>
              </p:cNvSpPr>
              <p:nvPr/>
            </p:nvSpPr>
            <p:spPr bwMode="auto">
              <a:xfrm>
                <a:off x="4055" y="111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6084" name="Rectangle 318"/>
              <p:cNvSpPr>
                <a:spLocks noChangeArrowheads="1"/>
              </p:cNvSpPr>
              <p:nvPr/>
            </p:nvSpPr>
            <p:spPr bwMode="auto">
              <a:xfrm>
                <a:off x="4088" y="1115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76085" name="Rectangle 319"/>
              <p:cNvSpPr>
                <a:spLocks noChangeArrowheads="1"/>
              </p:cNvSpPr>
              <p:nvPr/>
            </p:nvSpPr>
            <p:spPr bwMode="auto">
              <a:xfrm>
                <a:off x="4100" y="111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086" name="Rectangle 320"/>
              <p:cNvSpPr>
                <a:spLocks noChangeArrowheads="1"/>
              </p:cNvSpPr>
              <p:nvPr/>
            </p:nvSpPr>
            <p:spPr bwMode="auto">
              <a:xfrm>
                <a:off x="4605" y="864"/>
                <a:ext cx="47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M</a:t>
                </a:r>
              </a:p>
            </p:txBody>
          </p:sp>
          <p:sp>
            <p:nvSpPr>
              <p:cNvPr id="76087" name="Rectangle 321"/>
              <p:cNvSpPr>
                <a:spLocks noChangeArrowheads="1"/>
              </p:cNvSpPr>
              <p:nvPr/>
            </p:nvSpPr>
            <p:spPr bwMode="auto">
              <a:xfrm>
                <a:off x="4654" y="864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88" name="Rectangle 322"/>
              <p:cNvSpPr>
                <a:spLocks noChangeArrowheads="1"/>
              </p:cNvSpPr>
              <p:nvPr/>
            </p:nvSpPr>
            <p:spPr bwMode="auto">
              <a:xfrm>
                <a:off x="4614" y="92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76089" name="Rectangle 323"/>
              <p:cNvSpPr>
                <a:spLocks noChangeArrowheads="1"/>
              </p:cNvSpPr>
              <p:nvPr/>
            </p:nvSpPr>
            <p:spPr bwMode="auto">
              <a:xfrm>
                <a:off x="4647" y="921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90" name="Rectangle 324"/>
              <p:cNvSpPr>
                <a:spLocks noChangeArrowheads="1"/>
              </p:cNvSpPr>
              <p:nvPr/>
            </p:nvSpPr>
            <p:spPr bwMode="auto">
              <a:xfrm>
                <a:off x="4614" y="980"/>
                <a:ext cx="2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x</a:t>
                </a:r>
              </a:p>
            </p:txBody>
          </p:sp>
          <p:sp>
            <p:nvSpPr>
              <p:cNvPr id="76091" name="Rectangle 325"/>
              <p:cNvSpPr>
                <a:spLocks noChangeArrowheads="1"/>
              </p:cNvSpPr>
              <p:nvPr/>
            </p:nvSpPr>
            <p:spPr bwMode="auto">
              <a:xfrm>
                <a:off x="4597" y="75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0</a:t>
                </a:r>
              </a:p>
            </p:txBody>
          </p:sp>
          <p:sp>
            <p:nvSpPr>
              <p:cNvPr id="76092" name="Rectangle 326"/>
              <p:cNvSpPr>
                <a:spLocks noChangeArrowheads="1"/>
              </p:cNvSpPr>
              <p:nvPr/>
            </p:nvSpPr>
            <p:spPr bwMode="auto">
              <a:xfrm>
                <a:off x="4597" y="108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76093" name="Freeform 327"/>
              <p:cNvSpPr>
                <a:spLocks noChangeArrowheads="1"/>
              </p:cNvSpPr>
              <p:nvPr/>
            </p:nvSpPr>
            <p:spPr bwMode="auto">
              <a:xfrm>
                <a:off x="1632" y="1650"/>
                <a:ext cx="566" cy="753"/>
              </a:xfrm>
              <a:custGeom>
                <a:avLst/>
                <a:gdLst>
                  <a:gd name="T0" fmla="*/ 0 w 566"/>
                  <a:gd name="T1" fmla="*/ 753 h 753"/>
                  <a:gd name="T2" fmla="*/ 0 w 566"/>
                  <a:gd name="T3" fmla="*/ 0 h 753"/>
                  <a:gd name="T4" fmla="*/ 566 w 566"/>
                  <a:gd name="T5" fmla="*/ 0 h 753"/>
                  <a:gd name="T6" fmla="*/ 0 60000 65536"/>
                  <a:gd name="T7" fmla="*/ 0 60000 65536"/>
                  <a:gd name="T8" fmla="*/ 0 60000 65536"/>
                  <a:gd name="T9" fmla="*/ 0 w 566"/>
                  <a:gd name="T10" fmla="*/ 0 h 753"/>
                  <a:gd name="T11" fmla="*/ 566 w 566"/>
                  <a:gd name="T12" fmla="*/ 753 h 7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6" h="753">
                    <a:moveTo>
                      <a:pt x="0" y="753"/>
                    </a:moveTo>
                    <a:lnTo>
                      <a:pt x="0" y="0"/>
                    </a:lnTo>
                    <a:lnTo>
                      <a:pt x="566" y="0"/>
                    </a:ln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94" name="Freeform 328"/>
              <p:cNvSpPr>
                <a:spLocks noChangeArrowheads="1"/>
              </p:cNvSpPr>
              <p:nvPr/>
            </p:nvSpPr>
            <p:spPr bwMode="auto">
              <a:xfrm>
                <a:off x="1201" y="790"/>
                <a:ext cx="3356" cy="370"/>
              </a:xfrm>
              <a:custGeom>
                <a:avLst/>
                <a:gdLst>
                  <a:gd name="T0" fmla="*/ 3356 w 3356"/>
                  <a:gd name="T1" fmla="*/ 0 h 370"/>
                  <a:gd name="T2" fmla="*/ 2136 w 3356"/>
                  <a:gd name="T3" fmla="*/ 2 h 370"/>
                  <a:gd name="T4" fmla="*/ 2136 w 3356"/>
                  <a:gd name="T5" fmla="*/ 370 h 370"/>
                  <a:gd name="T6" fmla="*/ 0 w 3356"/>
                  <a:gd name="T7" fmla="*/ 370 h 37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56"/>
                  <a:gd name="T13" fmla="*/ 0 h 370"/>
                  <a:gd name="T14" fmla="*/ 3356 w 3356"/>
                  <a:gd name="T15" fmla="*/ 370 h 37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56" h="370">
                    <a:moveTo>
                      <a:pt x="3356" y="0"/>
                    </a:moveTo>
                    <a:lnTo>
                      <a:pt x="2136" y="2"/>
                    </a:lnTo>
                    <a:lnTo>
                      <a:pt x="2136" y="370"/>
                    </a:lnTo>
                    <a:lnTo>
                      <a:pt x="0" y="370"/>
                    </a:ln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95" name="Freeform 329"/>
              <p:cNvSpPr>
                <a:spLocks noChangeArrowheads="1"/>
              </p:cNvSpPr>
              <p:nvPr/>
            </p:nvSpPr>
            <p:spPr bwMode="auto">
              <a:xfrm>
                <a:off x="3323" y="930"/>
                <a:ext cx="29" cy="31"/>
              </a:xfrm>
              <a:custGeom>
                <a:avLst/>
                <a:gdLst>
                  <a:gd name="T0" fmla="*/ 14 w 29"/>
                  <a:gd name="T1" fmla="*/ 28 h 31"/>
                  <a:gd name="T2" fmla="*/ 17 w 29"/>
                  <a:gd name="T3" fmla="*/ 31 h 31"/>
                  <a:gd name="T4" fmla="*/ 19 w 29"/>
                  <a:gd name="T5" fmla="*/ 28 h 31"/>
                  <a:gd name="T6" fmla="*/ 21 w 29"/>
                  <a:gd name="T7" fmla="*/ 28 h 31"/>
                  <a:gd name="T8" fmla="*/ 24 w 29"/>
                  <a:gd name="T9" fmla="*/ 28 h 31"/>
                  <a:gd name="T10" fmla="*/ 26 w 29"/>
                  <a:gd name="T11" fmla="*/ 26 h 31"/>
                  <a:gd name="T12" fmla="*/ 26 w 29"/>
                  <a:gd name="T13" fmla="*/ 24 h 31"/>
                  <a:gd name="T14" fmla="*/ 29 w 29"/>
                  <a:gd name="T15" fmla="*/ 21 h 31"/>
                  <a:gd name="T16" fmla="*/ 29 w 29"/>
                  <a:gd name="T17" fmla="*/ 21 h 31"/>
                  <a:gd name="T18" fmla="*/ 29 w 29"/>
                  <a:gd name="T19" fmla="*/ 19 h 31"/>
                  <a:gd name="T20" fmla="*/ 29 w 29"/>
                  <a:gd name="T21" fmla="*/ 16 h 31"/>
                  <a:gd name="T22" fmla="*/ 29 w 29"/>
                  <a:gd name="T23" fmla="*/ 14 h 31"/>
                  <a:gd name="T24" fmla="*/ 29 w 29"/>
                  <a:gd name="T25" fmla="*/ 12 h 31"/>
                  <a:gd name="T26" fmla="*/ 29 w 29"/>
                  <a:gd name="T27" fmla="*/ 9 h 31"/>
                  <a:gd name="T28" fmla="*/ 26 w 29"/>
                  <a:gd name="T29" fmla="*/ 7 h 31"/>
                  <a:gd name="T30" fmla="*/ 26 w 29"/>
                  <a:gd name="T31" fmla="*/ 5 h 31"/>
                  <a:gd name="T32" fmla="*/ 24 w 29"/>
                  <a:gd name="T33" fmla="*/ 5 h 31"/>
                  <a:gd name="T34" fmla="*/ 21 w 29"/>
                  <a:gd name="T35" fmla="*/ 2 h 31"/>
                  <a:gd name="T36" fmla="*/ 19 w 29"/>
                  <a:gd name="T37" fmla="*/ 2 h 31"/>
                  <a:gd name="T38" fmla="*/ 17 w 29"/>
                  <a:gd name="T39" fmla="*/ 2 h 31"/>
                  <a:gd name="T40" fmla="*/ 14 w 29"/>
                  <a:gd name="T41" fmla="*/ 0 h 31"/>
                  <a:gd name="T42" fmla="*/ 12 w 29"/>
                  <a:gd name="T43" fmla="*/ 2 h 31"/>
                  <a:gd name="T44" fmla="*/ 10 w 29"/>
                  <a:gd name="T45" fmla="*/ 2 h 31"/>
                  <a:gd name="T46" fmla="*/ 7 w 29"/>
                  <a:gd name="T47" fmla="*/ 2 h 31"/>
                  <a:gd name="T48" fmla="*/ 7 w 29"/>
                  <a:gd name="T49" fmla="*/ 5 h 31"/>
                  <a:gd name="T50" fmla="*/ 5 w 29"/>
                  <a:gd name="T51" fmla="*/ 5 h 31"/>
                  <a:gd name="T52" fmla="*/ 2 w 29"/>
                  <a:gd name="T53" fmla="*/ 7 h 31"/>
                  <a:gd name="T54" fmla="*/ 2 w 29"/>
                  <a:gd name="T55" fmla="*/ 9 h 31"/>
                  <a:gd name="T56" fmla="*/ 0 w 29"/>
                  <a:gd name="T57" fmla="*/ 12 h 31"/>
                  <a:gd name="T58" fmla="*/ 0 w 29"/>
                  <a:gd name="T59" fmla="*/ 14 h 31"/>
                  <a:gd name="T60" fmla="*/ 0 w 29"/>
                  <a:gd name="T61" fmla="*/ 16 h 31"/>
                  <a:gd name="T62" fmla="*/ 0 w 29"/>
                  <a:gd name="T63" fmla="*/ 19 h 31"/>
                  <a:gd name="T64" fmla="*/ 0 w 29"/>
                  <a:gd name="T65" fmla="*/ 21 h 31"/>
                  <a:gd name="T66" fmla="*/ 2 w 29"/>
                  <a:gd name="T67" fmla="*/ 21 h 31"/>
                  <a:gd name="T68" fmla="*/ 2 w 29"/>
                  <a:gd name="T69" fmla="*/ 24 h 31"/>
                  <a:gd name="T70" fmla="*/ 5 w 29"/>
                  <a:gd name="T71" fmla="*/ 26 h 31"/>
                  <a:gd name="T72" fmla="*/ 7 w 29"/>
                  <a:gd name="T73" fmla="*/ 28 h 31"/>
                  <a:gd name="T74" fmla="*/ 7 w 29"/>
                  <a:gd name="T75" fmla="*/ 28 h 31"/>
                  <a:gd name="T76" fmla="*/ 10 w 29"/>
                  <a:gd name="T77" fmla="*/ 28 h 31"/>
                  <a:gd name="T78" fmla="*/ 12 w 29"/>
                  <a:gd name="T79" fmla="*/ 31 h 31"/>
                  <a:gd name="T80" fmla="*/ 14 w 29"/>
                  <a:gd name="T81" fmla="*/ 31 h 31"/>
                  <a:gd name="T82" fmla="*/ 14 w 29"/>
                  <a:gd name="T83" fmla="*/ 31 h 31"/>
                  <a:gd name="T84" fmla="*/ 14 w 29"/>
                  <a:gd name="T85" fmla="*/ 28 h 3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9"/>
                  <a:gd name="T130" fmla="*/ 0 h 31"/>
                  <a:gd name="T131" fmla="*/ 29 w 29"/>
                  <a:gd name="T132" fmla="*/ 31 h 31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9" h="31">
                    <a:moveTo>
                      <a:pt x="14" y="28"/>
                    </a:moveTo>
                    <a:lnTo>
                      <a:pt x="17" y="31"/>
                    </a:lnTo>
                    <a:lnTo>
                      <a:pt x="19" y="28"/>
                    </a:lnTo>
                    <a:lnTo>
                      <a:pt x="21" y="28"/>
                    </a:lnTo>
                    <a:lnTo>
                      <a:pt x="24" y="28"/>
                    </a:lnTo>
                    <a:lnTo>
                      <a:pt x="26" y="26"/>
                    </a:lnTo>
                    <a:lnTo>
                      <a:pt x="26" y="24"/>
                    </a:lnTo>
                    <a:lnTo>
                      <a:pt x="29" y="21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4"/>
                    </a:lnTo>
                    <a:lnTo>
                      <a:pt x="29" y="12"/>
                    </a:lnTo>
                    <a:lnTo>
                      <a:pt x="29" y="9"/>
                    </a:lnTo>
                    <a:lnTo>
                      <a:pt x="26" y="7"/>
                    </a:lnTo>
                    <a:lnTo>
                      <a:pt x="26" y="5"/>
                    </a:lnTo>
                    <a:lnTo>
                      <a:pt x="24" y="5"/>
                    </a:lnTo>
                    <a:lnTo>
                      <a:pt x="21" y="2"/>
                    </a:lnTo>
                    <a:lnTo>
                      <a:pt x="19" y="2"/>
                    </a:lnTo>
                    <a:lnTo>
                      <a:pt x="17" y="2"/>
                    </a:lnTo>
                    <a:lnTo>
                      <a:pt x="14" y="0"/>
                    </a:lnTo>
                    <a:lnTo>
                      <a:pt x="12" y="2"/>
                    </a:lnTo>
                    <a:lnTo>
                      <a:pt x="10" y="2"/>
                    </a:lnTo>
                    <a:lnTo>
                      <a:pt x="7" y="2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0" y="21"/>
                    </a:lnTo>
                    <a:lnTo>
                      <a:pt x="2" y="21"/>
                    </a:lnTo>
                    <a:lnTo>
                      <a:pt x="2" y="24"/>
                    </a:lnTo>
                    <a:lnTo>
                      <a:pt x="5" y="26"/>
                    </a:lnTo>
                    <a:lnTo>
                      <a:pt x="7" y="28"/>
                    </a:lnTo>
                    <a:lnTo>
                      <a:pt x="10" y="28"/>
                    </a:lnTo>
                    <a:lnTo>
                      <a:pt x="12" y="31"/>
                    </a:lnTo>
                    <a:lnTo>
                      <a:pt x="14" y="31"/>
                    </a:lnTo>
                    <a:lnTo>
                      <a:pt x="14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96" name="Freeform 330"/>
              <p:cNvSpPr>
                <a:spLocks noChangeArrowheads="1"/>
              </p:cNvSpPr>
              <p:nvPr/>
            </p:nvSpPr>
            <p:spPr bwMode="auto">
              <a:xfrm>
                <a:off x="2492" y="2296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2 w 31"/>
                  <a:gd name="T3" fmla="*/ 31 h 31"/>
                  <a:gd name="T4" fmla="*/ 31 w 31"/>
                  <a:gd name="T5" fmla="*/ 17 h 31"/>
                  <a:gd name="T6" fmla="*/ 2 w 31"/>
                  <a:gd name="T7" fmla="*/ 2 h 31"/>
                  <a:gd name="T8" fmla="*/ 2 w 31"/>
                  <a:gd name="T9" fmla="*/ 2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2" y="31"/>
                    </a:lnTo>
                    <a:lnTo>
                      <a:pt x="31" y="17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97" name="Line 331"/>
              <p:cNvSpPr>
                <a:spLocks noChangeShapeType="1"/>
              </p:cNvSpPr>
              <p:nvPr/>
            </p:nvSpPr>
            <p:spPr bwMode="auto">
              <a:xfrm flipH="1">
                <a:off x="2110" y="2310"/>
                <a:ext cx="395" cy="3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98" name="Freeform 332"/>
              <p:cNvSpPr>
                <a:spLocks noChangeArrowheads="1"/>
              </p:cNvSpPr>
              <p:nvPr/>
            </p:nvSpPr>
            <p:spPr bwMode="auto">
              <a:xfrm>
                <a:off x="2527" y="2057"/>
                <a:ext cx="656" cy="687"/>
              </a:xfrm>
              <a:custGeom>
                <a:avLst/>
                <a:gdLst>
                  <a:gd name="T0" fmla="*/ 656 w 656"/>
                  <a:gd name="T1" fmla="*/ 684 h 687"/>
                  <a:gd name="T2" fmla="*/ 656 w 656"/>
                  <a:gd name="T3" fmla="*/ 0 h 687"/>
                  <a:gd name="T4" fmla="*/ 0 w 656"/>
                  <a:gd name="T5" fmla="*/ 0 h 687"/>
                  <a:gd name="T6" fmla="*/ 0 w 656"/>
                  <a:gd name="T7" fmla="*/ 687 h 687"/>
                  <a:gd name="T8" fmla="*/ 656 w 656"/>
                  <a:gd name="T9" fmla="*/ 687 h 687"/>
                  <a:gd name="T10" fmla="*/ 656 w 656"/>
                  <a:gd name="T11" fmla="*/ 687 h 687"/>
                  <a:gd name="T12" fmla="*/ 656 w 656"/>
                  <a:gd name="T13" fmla="*/ 684 h 6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56"/>
                  <a:gd name="T22" fmla="*/ 0 h 687"/>
                  <a:gd name="T23" fmla="*/ 656 w 656"/>
                  <a:gd name="T24" fmla="*/ 687 h 6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56" h="687">
                    <a:moveTo>
                      <a:pt x="656" y="684"/>
                    </a:moveTo>
                    <a:lnTo>
                      <a:pt x="656" y="0"/>
                    </a:lnTo>
                    <a:lnTo>
                      <a:pt x="0" y="0"/>
                    </a:lnTo>
                    <a:lnTo>
                      <a:pt x="0" y="687"/>
                    </a:lnTo>
                    <a:lnTo>
                      <a:pt x="656" y="687"/>
                    </a:lnTo>
                    <a:lnTo>
                      <a:pt x="656" y="6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099" name="Freeform 333"/>
              <p:cNvSpPr>
                <a:spLocks noChangeArrowheads="1"/>
              </p:cNvSpPr>
              <p:nvPr/>
            </p:nvSpPr>
            <p:spPr bwMode="auto">
              <a:xfrm>
                <a:off x="2527" y="2057"/>
                <a:ext cx="656" cy="687"/>
              </a:xfrm>
              <a:custGeom>
                <a:avLst/>
                <a:gdLst>
                  <a:gd name="T0" fmla="*/ 656 w 656"/>
                  <a:gd name="T1" fmla="*/ 684 h 687"/>
                  <a:gd name="T2" fmla="*/ 656 w 656"/>
                  <a:gd name="T3" fmla="*/ 0 h 687"/>
                  <a:gd name="T4" fmla="*/ 0 w 656"/>
                  <a:gd name="T5" fmla="*/ 0 h 687"/>
                  <a:gd name="T6" fmla="*/ 0 w 656"/>
                  <a:gd name="T7" fmla="*/ 687 h 687"/>
                  <a:gd name="T8" fmla="*/ 656 w 656"/>
                  <a:gd name="T9" fmla="*/ 687 h 687"/>
                  <a:gd name="T10" fmla="*/ 656 w 656"/>
                  <a:gd name="T11" fmla="*/ 687 h 6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56"/>
                  <a:gd name="T19" fmla="*/ 0 h 687"/>
                  <a:gd name="T20" fmla="*/ 656 w 656"/>
                  <a:gd name="T21" fmla="*/ 687 h 6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56" h="687">
                    <a:moveTo>
                      <a:pt x="656" y="684"/>
                    </a:moveTo>
                    <a:lnTo>
                      <a:pt x="656" y="0"/>
                    </a:lnTo>
                    <a:lnTo>
                      <a:pt x="0" y="0"/>
                    </a:lnTo>
                    <a:lnTo>
                      <a:pt x="0" y="687"/>
                    </a:lnTo>
                    <a:lnTo>
                      <a:pt x="656" y="687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00" name="Rectangle 334"/>
              <p:cNvSpPr>
                <a:spLocks noChangeArrowheads="1"/>
              </p:cNvSpPr>
              <p:nvPr/>
            </p:nvSpPr>
            <p:spPr bwMode="auto">
              <a:xfrm>
                <a:off x="2731" y="2365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101" name="Rectangle 335"/>
              <p:cNvSpPr>
                <a:spLocks noChangeArrowheads="1"/>
              </p:cNvSpPr>
              <p:nvPr/>
            </p:nvSpPr>
            <p:spPr bwMode="auto">
              <a:xfrm>
                <a:off x="2771" y="23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102" name="Rectangle 336"/>
              <p:cNvSpPr>
                <a:spLocks noChangeArrowheads="1"/>
              </p:cNvSpPr>
              <p:nvPr/>
            </p:nvSpPr>
            <p:spPr bwMode="auto">
              <a:xfrm>
                <a:off x="2805" y="23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g</a:t>
                </a:r>
              </a:p>
            </p:txBody>
          </p:sp>
          <p:sp>
            <p:nvSpPr>
              <p:cNvPr id="76103" name="Rectangle 337"/>
              <p:cNvSpPr>
                <a:spLocks noChangeArrowheads="1"/>
              </p:cNvSpPr>
              <p:nvPr/>
            </p:nvSpPr>
            <p:spPr bwMode="auto">
              <a:xfrm>
                <a:off x="2837" y="2365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104" name="Rectangle 338"/>
              <p:cNvSpPr>
                <a:spLocks noChangeArrowheads="1"/>
              </p:cNvSpPr>
              <p:nvPr/>
            </p:nvSpPr>
            <p:spPr bwMode="auto">
              <a:xfrm>
                <a:off x="2850" y="2365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6105" name="Rectangle 339"/>
              <p:cNvSpPr>
                <a:spLocks noChangeArrowheads="1"/>
              </p:cNvSpPr>
              <p:nvPr/>
            </p:nvSpPr>
            <p:spPr bwMode="auto">
              <a:xfrm>
                <a:off x="2880" y="23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106" name="Rectangle 340"/>
              <p:cNvSpPr>
                <a:spLocks noChangeArrowheads="1"/>
              </p:cNvSpPr>
              <p:nvPr/>
            </p:nvSpPr>
            <p:spPr bwMode="auto">
              <a:xfrm>
                <a:off x="2895" y="23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107" name="Rectangle 341"/>
              <p:cNvSpPr>
                <a:spLocks noChangeArrowheads="1"/>
              </p:cNvSpPr>
              <p:nvPr/>
            </p:nvSpPr>
            <p:spPr bwMode="auto">
              <a:xfrm>
                <a:off x="2928" y="2365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108" name="Rectangle 342"/>
              <p:cNvSpPr>
                <a:spLocks noChangeArrowheads="1"/>
              </p:cNvSpPr>
              <p:nvPr/>
            </p:nvSpPr>
            <p:spPr bwMode="auto">
              <a:xfrm>
                <a:off x="2947" y="2365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6109" name="Rectangle 343"/>
              <p:cNvSpPr>
                <a:spLocks noChangeArrowheads="1"/>
              </p:cNvSpPr>
              <p:nvPr/>
            </p:nvSpPr>
            <p:spPr bwMode="auto">
              <a:xfrm>
                <a:off x="2549" y="2424"/>
                <a:ext cx="54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W</a:t>
                </a:r>
              </a:p>
            </p:txBody>
          </p:sp>
          <p:sp>
            <p:nvSpPr>
              <p:cNvPr id="76110" name="Rectangle 344"/>
              <p:cNvSpPr>
                <a:spLocks noChangeArrowheads="1"/>
              </p:cNvSpPr>
              <p:nvPr/>
            </p:nvSpPr>
            <p:spPr bwMode="auto">
              <a:xfrm>
                <a:off x="2608" y="2424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111" name="Rectangle 345"/>
              <p:cNvSpPr>
                <a:spLocks noChangeArrowheads="1"/>
              </p:cNvSpPr>
              <p:nvPr/>
            </p:nvSpPr>
            <p:spPr bwMode="auto">
              <a:xfrm>
                <a:off x="2626" y="2424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112" name="Rectangle 346"/>
              <p:cNvSpPr>
                <a:spLocks noChangeArrowheads="1"/>
              </p:cNvSpPr>
              <p:nvPr/>
            </p:nvSpPr>
            <p:spPr bwMode="auto">
              <a:xfrm>
                <a:off x="2639" y="242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113" name="Rectangle 347"/>
              <p:cNvSpPr>
                <a:spLocks noChangeArrowheads="1"/>
              </p:cNvSpPr>
              <p:nvPr/>
            </p:nvSpPr>
            <p:spPr bwMode="auto">
              <a:xfrm>
                <a:off x="2655" y="242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114" name="Rectangle 348"/>
              <p:cNvSpPr>
                <a:spLocks noChangeArrowheads="1"/>
              </p:cNvSpPr>
              <p:nvPr/>
            </p:nvSpPr>
            <p:spPr bwMode="auto">
              <a:xfrm>
                <a:off x="2688" y="2424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15" name="Rectangle 349"/>
              <p:cNvSpPr>
                <a:spLocks noChangeArrowheads="1"/>
              </p:cNvSpPr>
              <p:nvPr/>
            </p:nvSpPr>
            <p:spPr bwMode="auto">
              <a:xfrm>
                <a:off x="2551" y="2481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116" name="Rectangle 350"/>
              <p:cNvSpPr>
                <a:spLocks noChangeArrowheads="1"/>
              </p:cNvSpPr>
              <p:nvPr/>
            </p:nvSpPr>
            <p:spPr bwMode="auto">
              <a:xfrm>
                <a:off x="2572" y="248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117" name="Rectangle 351"/>
              <p:cNvSpPr>
                <a:spLocks noChangeArrowheads="1"/>
              </p:cNvSpPr>
              <p:nvPr/>
            </p:nvSpPr>
            <p:spPr bwMode="auto">
              <a:xfrm>
                <a:off x="2603" y="248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g</a:t>
                </a:r>
              </a:p>
            </p:txBody>
          </p:sp>
          <p:sp>
            <p:nvSpPr>
              <p:cNvPr id="76118" name="Rectangle 352"/>
              <p:cNvSpPr>
                <a:spLocks noChangeArrowheads="1"/>
              </p:cNvSpPr>
              <p:nvPr/>
            </p:nvSpPr>
            <p:spPr bwMode="auto">
              <a:xfrm>
                <a:off x="2636" y="2481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119" name="Rectangle 353"/>
              <p:cNvSpPr>
                <a:spLocks noChangeArrowheads="1"/>
              </p:cNvSpPr>
              <p:nvPr/>
            </p:nvSpPr>
            <p:spPr bwMode="auto">
              <a:xfrm>
                <a:off x="2651" y="2481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6120" name="Rectangle 354"/>
              <p:cNvSpPr>
                <a:spLocks noChangeArrowheads="1"/>
              </p:cNvSpPr>
              <p:nvPr/>
            </p:nvSpPr>
            <p:spPr bwMode="auto">
              <a:xfrm>
                <a:off x="2679" y="2481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121" name="Rectangle 355"/>
              <p:cNvSpPr>
                <a:spLocks noChangeArrowheads="1"/>
              </p:cNvSpPr>
              <p:nvPr/>
            </p:nvSpPr>
            <p:spPr bwMode="auto">
              <a:xfrm>
                <a:off x="2696" y="248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122" name="Rectangle 356"/>
              <p:cNvSpPr>
                <a:spLocks noChangeArrowheads="1"/>
              </p:cNvSpPr>
              <p:nvPr/>
            </p:nvSpPr>
            <p:spPr bwMode="auto">
              <a:xfrm>
                <a:off x="2726" y="2481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123" name="Rectangle 357"/>
              <p:cNvSpPr>
                <a:spLocks noChangeArrowheads="1"/>
              </p:cNvSpPr>
              <p:nvPr/>
            </p:nvSpPr>
            <p:spPr bwMode="auto">
              <a:xfrm>
                <a:off x="2549" y="2600"/>
                <a:ext cx="54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W</a:t>
                </a:r>
              </a:p>
            </p:txBody>
          </p:sp>
          <p:sp>
            <p:nvSpPr>
              <p:cNvPr id="76124" name="Rectangle 358"/>
              <p:cNvSpPr>
                <a:spLocks noChangeArrowheads="1"/>
              </p:cNvSpPr>
              <p:nvPr/>
            </p:nvSpPr>
            <p:spPr bwMode="auto">
              <a:xfrm>
                <a:off x="2608" y="2600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125" name="Rectangle 359"/>
              <p:cNvSpPr>
                <a:spLocks noChangeArrowheads="1"/>
              </p:cNvSpPr>
              <p:nvPr/>
            </p:nvSpPr>
            <p:spPr bwMode="auto">
              <a:xfrm>
                <a:off x="2626" y="2600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126" name="Rectangle 360"/>
              <p:cNvSpPr>
                <a:spLocks noChangeArrowheads="1"/>
              </p:cNvSpPr>
              <p:nvPr/>
            </p:nvSpPr>
            <p:spPr bwMode="auto">
              <a:xfrm>
                <a:off x="2639" y="2600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127" name="Rectangle 361"/>
              <p:cNvSpPr>
                <a:spLocks noChangeArrowheads="1"/>
              </p:cNvSpPr>
              <p:nvPr/>
            </p:nvSpPr>
            <p:spPr bwMode="auto">
              <a:xfrm>
                <a:off x="2655" y="2600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128" name="Rectangle 362"/>
              <p:cNvSpPr>
                <a:spLocks noChangeArrowheads="1"/>
              </p:cNvSpPr>
              <p:nvPr/>
            </p:nvSpPr>
            <p:spPr bwMode="auto">
              <a:xfrm>
                <a:off x="2688" y="2600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29" name="Rectangle 363"/>
              <p:cNvSpPr>
                <a:spLocks noChangeArrowheads="1"/>
              </p:cNvSpPr>
              <p:nvPr/>
            </p:nvSpPr>
            <p:spPr bwMode="auto">
              <a:xfrm>
                <a:off x="2551" y="265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6130" name="Rectangle 364"/>
              <p:cNvSpPr>
                <a:spLocks noChangeArrowheads="1"/>
              </p:cNvSpPr>
              <p:nvPr/>
            </p:nvSpPr>
            <p:spPr bwMode="auto">
              <a:xfrm>
                <a:off x="2584" y="265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131" name="Rectangle 365"/>
              <p:cNvSpPr>
                <a:spLocks noChangeArrowheads="1"/>
              </p:cNvSpPr>
              <p:nvPr/>
            </p:nvSpPr>
            <p:spPr bwMode="auto">
              <a:xfrm>
                <a:off x="2617" y="2656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132" name="Rectangle 366"/>
              <p:cNvSpPr>
                <a:spLocks noChangeArrowheads="1"/>
              </p:cNvSpPr>
              <p:nvPr/>
            </p:nvSpPr>
            <p:spPr bwMode="auto">
              <a:xfrm>
                <a:off x="2634" y="265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133" name="Rectangle 367"/>
              <p:cNvSpPr>
                <a:spLocks noChangeArrowheads="1"/>
              </p:cNvSpPr>
              <p:nvPr/>
            </p:nvSpPr>
            <p:spPr bwMode="auto">
              <a:xfrm>
                <a:off x="3026" y="2162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134" name="Rectangle 368"/>
              <p:cNvSpPr>
                <a:spLocks noChangeArrowheads="1"/>
              </p:cNvSpPr>
              <p:nvPr/>
            </p:nvSpPr>
            <p:spPr bwMode="auto">
              <a:xfrm>
                <a:off x="3070" y="2162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135" name="Rectangle 369"/>
              <p:cNvSpPr>
                <a:spLocks noChangeArrowheads="1"/>
              </p:cNvSpPr>
              <p:nvPr/>
            </p:nvSpPr>
            <p:spPr bwMode="auto">
              <a:xfrm>
                <a:off x="3103" y="2162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136" name="Rectangle 370"/>
              <p:cNvSpPr>
                <a:spLocks noChangeArrowheads="1"/>
              </p:cNvSpPr>
              <p:nvPr/>
            </p:nvSpPr>
            <p:spPr bwMode="auto">
              <a:xfrm>
                <a:off x="3134" y="2162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6137" name="Rectangle 371"/>
              <p:cNvSpPr>
                <a:spLocks noChangeArrowheads="1"/>
              </p:cNvSpPr>
              <p:nvPr/>
            </p:nvSpPr>
            <p:spPr bwMode="auto">
              <a:xfrm>
                <a:off x="3167" y="2162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38" name="Rectangle 372"/>
              <p:cNvSpPr>
                <a:spLocks noChangeArrowheads="1"/>
              </p:cNvSpPr>
              <p:nvPr/>
            </p:nvSpPr>
            <p:spPr bwMode="auto">
              <a:xfrm>
                <a:off x="2992" y="221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6139" name="Rectangle 373"/>
              <p:cNvSpPr>
                <a:spLocks noChangeArrowheads="1"/>
              </p:cNvSpPr>
              <p:nvPr/>
            </p:nvSpPr>
            <p:spPr bwMode="auto">
              <a:xfrm>
                <a:off x="3025" y="221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140" name="Rectangle 374"/>
              <p:cNvSpPr>
                <a:spLocks noChangeArrowheads="1"/>
              </p:cNvSpPr>
              <p:nvPr/>
            </p:nvSpPr>
            <p:spPr bwMode="auto">
              <a:xfrm>
                <a:off x="3058" y="2218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141" name="Rectangle 375"/>
              <p:cNvSpPr>
                <a:spLocks noChangeArrowheads="1"/>
              </p:cNvSpPr>
              <p:nvPr/>
            </p:nvSpPr>
            <p:spPr bwMode="auto">
              <a:xfrm>
                <a:off x="3074" y="221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142" name="Rectangle 376"/>
              <p:cNvSpPr>
                <a:spLocks noChangeArrowheads="1"/>
              </p:cNvSpPr>
              <p:nvPr/>
            </p:nvSpPr>
            <p:spPr bwMode="auto">
              <a:xfrm>
                <a:off x="3105" y="2218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143" name="Rectangle 377"/>
              <p:cNvSpPr>
                <a:spLocks noChangeArrowheads="1"/>
              </p:cNvSpPr>
              <p:nvPr/>
            </p:nvSpPr>
            <p:spPr bwMode="auto">
              <a:xfrm>
                <a:off x="3122" y="221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76144" name="Rectangle 378"/>
              <p:cNvSpPr>
                <a:spLocks noChangeArrowheads="1"/>
              </p:cNvSpPr>
              <p:nvPr/>
            </p:nvSpPr>
            <p:spPr bwMode="auto">
              <a:xfrm>
                <a:off x="3026" y="2379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145" name="Rectangle 379"/>
              <p:cNvSpPr>
                <a:spLocks noChangeArrowheads="1"/>
              </p:cNvSpPr>
              <p:nvPr/>
            </p:nvSpPr>
            <p:spPr bwMode="auto">
              <a:xfrm>
                <a:off x="3070" y="237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146" name="Rectangle 380"/>
              <p:cNvSpPr>
                <a:spLocks noChangeArrowheads="1"/>
              </p:cNvSpPr>
              <p:nvPr/>
            </p:nvSpPr>
            <p:spPr bwMode="auto">
              <a:xfrm>
                <a:off x="3103" y="237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147" name="Rectangle 381"/>
              <p:cNvSpPr>
                <a:spLocks noChangeArrowheads="1"/>
              </p:cNvSpPr>
              <p:nvPr/>
            </p:nvSpPr>
            <p:spPr bwMode="auto">
              <a:xfrm>
                <a:off x="3134" y="237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6148" name="Rectangle 382"/>
              <p:cNvSpPr>
                <a:spLocks noChangeArrowheads="1"/>
              </p:cNvSpPr>
              <p:nvPr/>
            </p:nvSpPr>
            <p:spPr bwMode="auto">
              <a:xfrm>
                <a:off x="3167" y="2379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49" name="Rectangle 383"/>
              <p:cNvSpPr>
                <a:spLocks noChangeArrowheads="1"/>
              </p:cNvSpPr>
              <p:nvPr/>
            </p:nvSpPr>
            <p:spPr bwMode="auto">
              <a:xfrm>
                <a:off x="2992" y="243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6150" name="Rectangle 384"/>
              <p:cNvSpPr>
                <a:spLocks noChangeArrowheads="1"/>
              </p:cNvSpPr>
              <p:nvPr/>
            </p:nvSpPr>
            <p:spPr bwMode="auto">
              <a:xfrm>
                <a:off x="3025" y="243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151" name="Rectangle 385"/>
              <p:cNvSpPr>
                <a:spLocks noChangeArrowheads="1"/>
              </p:cNvSpPr>
              <p:nvPr/>
            </p:nvSpPr>
            <p:spPr bwMode="auto">
              <a:xfrm>
                <a:off x="3058" y="2439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152" name="Rectangle 386"/>
              <p:cNvSpPr>
                <a:spLocks noChangeArrowheads="1"/>
              </p:cNvSpPr>
              <p:nvPr/>
            </p:nvSpPr>
            <p:spPr bwMode="auto">
              <a:xfrm>
                <a:off x="3074" y="243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153" name="Rectangle 387"/>
              <p:cNvSpPr>
                <a:spLocks noChangeArrowheads="1"/>
              </p:cNvSpPr>
              <p:nvPr/>
            </p:nvSpPr>
            <p:spPr bwMode="auto">
              <a:xfrm>
                <a:off x="3105" y="2439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154" name="Rectangle 388"/>
              <p:cNvSpPr>
                <a:spLocks noChangeArrowheads="1"/>
              </p:cNvSpPr>
              <p:nvPr/>
            </p:nvSpPr>
            <p:spPr bwMode="auto">
              <a:xfrm>
                <a:off x="3122" y="243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2</a:t>
                </a:r>
              </a:p>
            </p:txBody>
          </p:sp>
          <p:sp>
            <p:nvSpPr>
              <p:cNvPr id="76155" name="Rectangle 389"/>
              <p:cNvSpPr>
                <a:spLocks noChangeArrowheads="1"/>
              </p:cNvSpPr>
              <p:nvPr/>
            </p:nvSpPr>
            <p:spPr bwMode="auto">
              <a:xfrm>
                <a:off x="2551" y="2074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156" name="Rectangle 390"/>
              <p:cNvSpPr>
                <a:spLocks noChangeArrowheads="1"/>
              </p:cNvSpPr>
              <p:nvPr/>
            </p:nvSpPr>
            <p:spPr bwMode="auto">
              <a:xfrm>
                <a:off x="2594" y="207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157" name="Rectangle 391"/>
              <p:cNvSpPr>
                <a:spLocks noChangeArrowheads="1"/>
              </p:cNvSpPr>
              <p:nvPr/>
            </p:nvSpPr>
            <p:spPr bwMode="auto">
              <a:xfrm>
                <a:off x="2627" y="207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76158" name="Rectangle 392"/>
              <p:cNvSpPr>
                <a:spLocks noChangeArrowheads="1"/>
              </p:cNvSpPr>
              <p:nvPr/>
            </p:nvSpPr>
            <p:spPr bwMode="auto">
              <a:xfrm>
                <a:off x="2660" y="207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76159" name="Rectangle 393"/>
              <p:cNvSpPr>
                <a:spLocks noChangeArrowheads="1"/>
              </p:cNvSpPr>
              <p:nvPr/>
            </p:nvSpPr>
            <p:spPr bwMode="auto">
              <a:xfrm>
                <a:off x="2691" y="2074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160" name="Rectangle 394"/>
              <p:cNvSpPr>
                <a:spLocks noChangeArrowheads="1"/>
              </p:cNvSpPr>
              <p:nvPr/>
            </p:nvSpPr>
            <p:spPr bwMode="auto">
              <a:xfrm>
                <a:off x="2551" y="2131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161" name="Rectangle 395"/>
              <p:cNvSpPr>
                <a:spLocks noChangeArrowheads="1"/>
              </p:cNvSpPr>
              <p:nvPr/>
            </p:nvSpPr>
            <p:spPr bwMode="auto">
              <a:xfrm>
                <a:off x="2572" y="213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162" name="Rectangle 396"/>
              <p:cNvSpPr>
                <a:spLocks noChangeArrowheads="1"/>
              </p:cNvSpPr>
              <p:nvPr/>
            </p:nvSpPr>
            <p:spPr bwMode="auto">
              <a:xfrm>
                <a:off x="2603" y="213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g</a:t>
                </a:r>
              </a:p>
            </p:txBody>
          </p:sp>
          <p:sp>
            <p:nvSpPr>
              <p:cNvPr id="76163" name="Rectangle 397"/>
              <p:cNvSpPr>
                <a:spLocks noChangeArrowheads="1"/>
              </p:cNvSpPr>
              <p:nvPr/>
            </p:nvSpPr>
            <p:spPr bwMode="auto">
              <a:xfrm>
                <a:off x="2636" y="2131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76164" name="Rectangle 398"/>
              <p:cNvSpPr>
                <a:spLocks noChangeArrowheads="1"/>
              </p:cNvSpPr>
              <p:nvPr/>
            </p:nvSpPr>
            <p:spPr bwMode="auto">
              <a:xfrm>
                <a:off x="2651" y="2131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76165" name="Rectangle 399"/>
              <p:cNvSpPr>
                <a:spLocks noChangeArrowheads="1"/>
              </p:cNvSpPr>
              <p:nvPr/>
            </p:nvSpPr>
            <p:spPr bwMode="auto">
              <a:xfrm>
                <a:off x="2679" y="2131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76166" name="Rectangle 400"/>
              <p:cNvSpPr>
                <a:spLocks noChangeArrowheads="1"/>
              </p:cNvSpPr>
              <p:nvPr/>
            </p:nvSpPr>
            <p:spPr bwMode="auto">
              <a:xfrm>
                <a:off x="2696" y="213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76167" name="Rectangle 401"/>
              <p:cNvSpPr>
                <a:spLocks noChangeArrowheads="1"/>
              </p:cNvSpPr>
              <p:nvPr/>
            </p:nvSpPr>
            <p:spPr bwMode="auto">
              <a:xfrm>
                <a:off x="2726" y="2131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168" name="Rectangle 402"/>
              <p:cNvSpPr>
                <a:spLocks noChangeArrowheads="1"/>
              </p:cNvSpPr>
              <p:nvPr/>
            </p:nvSpPr>
            <p:spPr bwMode="auto">
              <a:xfrm>
                <a:off x="2748" y="2131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76169" name="Rectangle 403"/>
              <p:cNvSpPr>
                <a:spLocks noChangeArrowheads="1"/>
              </p:cNvSpPr>
              <p:nvPr/>
            </p:nvSpPr>
            <p:spPr bwMode="auto">
              <a:xfrm>
                <a:off x="2762" y="213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76170" name="Rectangle 404"/>
              <p:cNvSpPr>
                <a:spLocks noChangeArrowheads="1"/>
              </p:cNvSpPr>
              <p:nvPr/>
            </p:nvSpPr>
            <p:spPr bwMode="auto">
              <a:xfrm>
                <a:off x="2551" y="2249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76171" name="Rectangle 405"/>
              <p:cNvSpPr>
                <a:spLocks noChangeArrowheads="1"/>
              </p:cNvSpPr>
              <p:nvPr/>
            </p:nvSpPr>
            <p:spPr bwMode="auto">
              <a:xfrm>
                <a:off x="2594" y="224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</p:grpSp>
        <p:sp>
          <p:nvSpPr>
            <p:cNvPr id="75790" name="Rectangle 406"/>
            <p:cNvSpPr>
              <a:spLocks noChangeArrowheads="1"/>
            </p:cNvSpPr>
            <p:nvPr/>
          </p:nvSpPr>
          <p:spPr bwMode="auto">
            <a:xfrm>
              <a:off x="2627" y="224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75791" name="Rectangle 407"/>
            <p:cNvSpPr>
              <a:spLocks noChangeArrowheads="1"/>
            </p:cNvSpPr>
            <p:nvPr/>
          </p:nvSpPr>
          <p:spPr bwMode="auto">
            <a:xfrm>
              <a:off x="2660" y="224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75792" name="Rectangle 408"/>
            <p:cNvSpPr>
              <a:spLocks noChangeArrowheads="1"/>
            </p:cNvSpPr>
            <p:nvPr/>
          </p:nvSpPr>
          <p:spPr bwMode="auto">
            <a:xfrm>
              <a:off x="2691" y="224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793" name="Rectangle 409"/>
            <p:cNvSpPr>
              <a:spLocks noChangeArrowheads="1"/>
            </p:cNvSpPr>
            <p:nvPr/>
          </p:nvSpPr>
          <p:spPr bwMode="auto">
            <a:xfrm>
              <a:off x="2551" y="230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5794" name="Rectangle 410"/>
            <p:cNvSpPr>
              <a:spLocks noChangeArrowheads="1"/>
            </p:cNvSpPr>
            <p:nvPr/>
          </p:nvSpPr>
          <p:spPr bwMode="auto">
            <a:xfrm>
              <a:off x="2572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5795" name="Rectangle 411"/>
            <p:cNvSpPr>
              <a:spLocks noChangeArrowheads="1"/>
            </p:cNvSpPr>
            <p:nvPr/>
          </p:nvSpPr>
          <p:spPr bwMode="auto">
            <a:xfrm>
              <a:off x="2603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75796" name="Rectangle 412"/>
            <p:cNvSpPr>
              <a:spLocks noChangeArrowheads="1"/>
            </p:cNvSpPr>
            <p:nvPr/>
          </p:nvSpPr>
          <p:spPr bwMode="auto">
            <a:xfrm>
              <a:off x="2636" y="2306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5797" name="Rectangle 413"/>
            <p:cNvSpPr>
              <a:spLocks noChangeArrowheads="1"/>
            </p:cNvSpPr>
            <p:nvPr/>
          </p:nvSpPr>
          <p:spPr bwMode="auto">
            <a:xfrm>
              <a:off x="2651" y="230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5798" name="Rectangle 414"/>
            <p:cNvSpPr>
              <a:spLocks noChangeArrowheads="1"/>
            </p:cNvSpPr>
            <p:nvPr/>
          </p:nvSpPr>
          <p:spPr bwMode="auto">
            <a:xfrm>
              <a:off x="2679" y="230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5799" name="Rectangle 415"/>
            <p:cNvSpPr>
              <a:spLocks noChangeArrowheads="1"/>
            </p:cNvSpPr>
            <p:nvPr/>
          </p:nvSpPr>
          <p:spPr bwMode="auto">
            <a:xfrm>
              <a:off x="2696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5800" name="Rectangle 416"/>
            <p:cNvSpPr>
              <a:spLocks noChangeArrowheads="1"/>
            </p:cNvSpPr>
            <p:nvPr/>
          </p:nvSpPr>
          <p:spPr bwMode="auto">
            <a:xfrm>
              <a:off x="2726" y="230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5801" name="Rectangle 417"/>
            <p:cNvSpPr>
              <a:spLocks noChangeArrowheads="1"/>
            </p:cNvSpPr>
            <p:nvPr/>
          </p:nvSpPr>
          <p:spPr bwMode="auto">
            <a:xfrm>
              <a:off x="2748" y="230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75802" name="Rectangle 418"/>
            <p:cNvSpPr>
              <a:spLocks noChangeArrowheads="1"/>
            </p:cNvSpPr>
            <p:nvPr/>
          </p:nvSpPr>
          <p:spPr bwMode="auto">
            <a:xfrm>
              <a:off x="2762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75803" name="Freeform 419"/>
            <p:cNvSpPr>
              <a:spLocks noChangeArrowheads="1"/>
            </p:cNvSpPr>
            <p:nvPr/>
          </p:nvSpPr>
          <p:spPr bwMode="auto">
            <a:xfrm>
              <a:off x="2395" y="2606"/>
              <a:ext cx="2950" cy="886"/>
            </a:xfrm>
            <a:custGeom>
              <a:avLst/>
              <a:gdLst>
                <a:gd name="T0" fmla="*/ 2884 w 2950"/>
                <a:gd name="T1" fmla="*/ 0 h 886"/>
                <a:gd name="T2" fmla="*/ 2950 w 2950"/>
                <a:gd name="T3" fmla="*/ 0 h 886"/>
                <a:gd name="T4" fmla="*/ 2950 w 2950"/>
                <a:gd name="T5" fmla="*/ 886 h 886"/>
                <a:gd name="T6" fmla="*/ 0 w 2950"/>
                <a:gd name="T7" fmla="*/ 886 h 886"/>
                <a:gd name="T8" fmla="*/ 0 w 2950"/>
                <a:gd name="T9" fmla="*/ 57 h 886"/>
                <a:gd name="T10" fmla="*/ 109 w 2950"/>
                <a:gd name="T11" fmla="*/ 57 h 8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50"/>
                <a:gd name="T19" fmla="*/ 0 h 886"/>
                <a:gd name="T20" fmla="*/ 2950 w 2950"/>
                <a:gd name="T21" fmla="*/ 886 h 88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50" h="886">
                  <a:moveTo>
                    <a:pt x="2884" y="0"/>
                  </a:moveTo>
                  <a:lnTo>
                    <a:pt x="2950" y="0"/>
                  </a:lnTo>
                  <a:lnTo>
                    <a:pt x="2950" y="886"/>
                  </a:lnTo>
                  <a:lnTo>
                    <a:pt x="0" y="886"/>
                  </a:lnTo>
                  <a:lnTo>
                    <a:pt x="0" y="57"/>
                  </a:lnTo>
                  <a:lnTo>
                    <a:pt x="109" y="5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04" name="Line 420"/>
            <p:cNvSpPr>
              <a:spLocks noChangeShapeType="1"/>
            </p:cNvSpPr>
            <p:nvPr/>
          </p:nvSpPr>
          <p:spPr bwMode="auto">
            <a:xfrm flipH="1">
              <a:off x="2351" y="2486"/>
              <a:ext cx="154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05" name="Line 421"/>
            <p:cNvSpPr>
              <a:spLocks noChangeShapeType="1"/>
            </p:cNvSpPr>
            <p:nvPr/>
          </p:nvSpPr>
          <p:spPr bwMode="auto">
            <a:xfrm flipH="1">
              <a:off x="1634" y="2135"/>
              <a:ext cx="871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06" name="Freeform 422"/>
            <p:cNvSpPr>
              <a:spLocks noChangeArrowheads="1"/>
            </p:cNvSpPr>
            <p:nvPr/>
          </p:nvSpPr>
          <p:spPr bwMode="auto">
            <a:xfrm>
              <a:off x="1632" y="2403"/>
              <a:ext cx="829" cy="615"/>
            </a:xfrm>
            <a:custGeom>
              <a:avLst/>
              <a:gdLst>
                <a:gd name="T0" fmla="*/ 829 w 829"/>
                <a:gd name="T1" fmla="*/ 615 h 615"/>
                <a:gd name="T2" fmla="*/ 0 w 829"/>
                <a:gd name="T3" fmla="*/ 615 h 615"/>
                <a:gd name="T4" fmla="*/ 0 w 829"/>
                <a:gd name="T5" fmla="*/ 0 h 615"/>
                <a:gd name="T6" fmla="*/ 0 60000 65536"/>
                <a:gd name="T7" fmla="*/ 0 60000 65536"/>
                <a:gd name="T8" fmla="*/ 0 60000 65536"/>
                <a:gd name="T9" fmla="*/ 0 w 829"/>
                <a:gd name="T10" fmla="*/ 0 h 615"/>
                <a:gd name="T11" fmla="*/ 829 w 829"/>
                <a:gd name="T12" fmla="*/ 615 h 6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29" h="615">
                  <a:moveTo>
                    <a:pt x="829" y="615"/>
                  </a:moveTo>
                  <a:lnTo>
                    <a:pt x="0" y="615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07" name="Freeform 423"/>
            <p:cNvSpPr>
              <a:spLocks noChangeArrowheads="1"/>
            </p:cNvSpPr>
            <p:nvPr/>
          </p:nvSpPr>
          <p:spPr bwMode="auto">
            <a:xfrm>
              <a:off x="1618" y="2649"/>
              <a:ext cx="31" cy="28"/>
            </a:xfrm>
            <a:custGeom>
              <a:avLst/>
              <a:gdLst>
                <a:gd name="T0" fmla="*/ 14 w 31"/>
                <a:gd name="T1" fmla="*/ 28 h 28"/>
                <a:gd name="T2" fmla="*/ 19 w 31"/>
                <a:gd name="T3" fmla="*/ 28 h 28"/>
                <a:gd name="T4" fmla="*/ 21 w 31"/>
                <a:gd name="T5" fmla="*/ 28 h 28"/>
                <a:gd name="T6" fmla="*/ 21 w 31"/>
                <a:gd name="T7" fmla="*/ 26 h 28"/>
                <a:gd name="T8" fmla="*/ 24 w 31"/>
                <a:gd name="T9" fmla="*/ 26 h 28"/>
                <a:gd name="T10" fmla="*/ 26 w 31"/>
                <a:gd name="T11" fmla="*/ 24 h 28"/>
                <a:gd name="T12" fmla="*/ 29 w 31"/>
                <a:gd name="T13" fmla="*/ 24 h 28"/>
                <a:gd name="T14" fmla="*/ 29 w 31"/>
                <a:gd name="T15" fmla="*/ 21 h 28"/>
                <a:gd name="T16" fmla="*/ 31 w 31"/>
                <a:gd name="T17" fmla="*/ 19 h 28"/>
                <a:gd name="T18" fmla="*/ 31 w 31"/>
                <a:gd name="T19" fmla="*/ 17 h 28"/>
                <a:gd name="T20" fmla="*/ 31 w 31"/>
                <a:gd name="T21" fmla="*/ 14 h 28"/>
                <a:gd name="T22" fmla="*/ 31 w 31"/>
                <a:gd name="T23" fmla="*/ 12 h 28"/>
                <a:gd name="T24" fmla="*/ 31 w 31"/>
                <a:gd name="T25" fmla="*/ 9 h 28"/>
                <a:gd name="T26" fmla="*/ 29 w 31"/>
                <a:gd name="T27" fmla="*/ 7 h 28"/>
                <a:gd name="T28" fmla="*/ 29 w 31"/>
                <a:gd name="T29" fmla="*/ 5 h 28"/>
                <a:gd name="T30" fmla="*/ 26 w 31"/>
                <a:gd name="T31" fmla="*/ 5 h 28"/>
                <a:gd name="T32" fmla="*/ 24 w 31"/>
                <a:gd name="T33" fmla="*/ 2 h 28"/>
                <a:gd name="T34" fmla="*/ 21 w 31"/>
                <a:gd name="T35" fmla="*/ 0 h 28"/>
                <a:gd name="T36" fmla="*/ 21 w 31"/>
                <a:gd name="T37" fmla="*/ 0 h 28"/>
                <a:gd name="T38" fmla="*/ 19 w 31"/>
                <a:gd name="T39" fmla="*/ 0 h 28"/>
                <a:gd name="T40" fmla="*/ 17 w 31"/>
                <a:gd name="T41" fmla="*/ 0 h 28"/>
                <a:gd name="T42" fmla="*/ 14 w 31"/>
                <a:gd name="T43" fmla="*/ 0 h 28"/>
                <a:gd name="T44" fmla="*/ 12 w 31"/>
                <a:gd name="T45" fmla="*/ 0 h 28"/>
                <a:gd name="T46" fmla="*/ 10 w 31"/>
                <a:gd name="T47" fmla="*/ 0 h 28"/>
                <a:gd name="T48" fmla="*/ 7 w 31"/>
                <a:gd name="T49" fmla="*/ 2 h 28"/>
                <a:gd name="T50" fmla="*/ 5 w 31"/>
                <a:gd name="T51" fmla="*/ 5 h 28"/>
                <a:gd name="T52" fmla="*/ 5 w 31"/>
                <a:gd name="T53" fmla="*/ 5 h 28"/>
                <a:gd name="T54" fmla="*/ 2 w 31"/>
                <a:gd name="T55" fmla="*/ 7 h 28"/>
                <a:gd name="T56" fmla="*/ 2 w 31"/>
                <a:gd name="T57" fmla="*/ 9 h 28"/>
                <a:gd name="T58" fmla="*/ 2 w 31"/>
                <a:gd name="T59" fmla="*/ 12 h 28"/>
                <a:gd name="T60" fmla="*/ 0 w 31"/>
                <a:gd name="T61" fmla="*/ 14 h 28"/>
                <a:gd name="T62" fmla="*/ 2 w 31"/>
                <a:gd name="T63" fmla="*/ 17 h 28"/>
                <a:gd name="T64" fmla="*/ 2 w 31"/>
                <a:gd name="T65" fmla="*/ 19 h 28"/>
                <a:gd name="T66" fmla="*/ 2 w 31"/>
                <a:gd name="T67" fmla="*/ 21 h 28"/>
                <a:gd name="T68" fmla="*/ 5 w 31"/>
                <a:gd name="T69" fmla="*/ 24 h 28"/>
                <a:gd name="T70" fmla="*/ 5 w 31"/>
                <a:gd name="T71" fmla="*/ 24 h 28"/>
                <a:gd name="T72" fmla="*/ 7 w 31"/>
                <a:gd name="T73" fmla="*/ 26 h 28"/>
                <a:gd name="T74" fmla="*/ 10 w 31"/>
                <a:gd name="T75" fmla="*/ 26 h 28"/>
                <a:gd name="T76" fmla="*/ 12 w 31"/>
                <a:gd name="T77" fmla="*/ 28 h 28"/>
                <a:gd name="T78" fmla="*/ 14 w 31"/>
                <a:gd name="T79" fmla="*/ 28 h 28"/>
                <a:gd name="T80" fmla="*/ 17 w 31"/>
                <a:gd name="T81" fmla="*/ 28 h 28"/>
                <a:gd name="T82" fmla="*/ 17 w 31"/>
                <a:gd name="T83" fmla="*/ 28 h 28"/>
                <a:gd name="T84" fmla="*/ 14 w 31"/>
                <a:gd name="T85" fmla="*/ 28 h 2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8"/>
                <a:gd name="T131" fmla="*/ 31 w 31"/>
                <a:gd name="T132" fmla="*/ 28 h 2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8">
                  <a:moveTo>
                    <a:pt x="14" y="28"/>
                  </a:moveTo>
                  <a:lnTo>
                    <a:pt x="19" y="28"/>
                  </a:lnTo>
                  <a:lnTo>
                    <a:pt x="21" y="28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1" y="9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10" y="26"/>
                  </a:lnTo>
                  <a:lnTo>
                    <a:pt x="12" y="28"/>
                  </a:lnTo>
                  <a:lnTo>
                    <a:pt x="14" y="28"/>
                  </a:lnTo>
                  <a:lnTo>
                    <a:pt x="17" y="28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08" name="Rectangle 424"/>
            <p:cNvSpPr>
              <a:spLocks noChangeArrowheads="1"/>
            </p:cNvSpPr>
            <p:nvPr/>
          </p:nvSpPr>
          <p:spPr bwMode="auto">
            <a:xfrm>
              <a:off x="3018" y="29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5809" name="Rectangle 425"/>
            <p:cNvSpPr>
              <a:spLocks noChangeArrowheads="1"/>
            </p:cNvSpPr>
            <p:nvPr/>
          </p:nvSpPr>
          <p:spPr bwMode="auto">
            <a:xfrm>
              <a:off x="3056" y="2950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5810" name="Rectangle 426"/>
            <p:cNvSpPr>
              <a:spLocks noChangeArrowheads="1"/>
            </p:cNvSpPr>
            <p:nvPr/>
          </p:nvSpPr>
          <p:spPr bwMode="auto">
            <a:xfrm>
              <a:off x="3070" y="29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75811" name="Rectangle 427"/>
            <p:cNvSpPr>
              <a:spLocks noChangeArrowheads="1"/>
            </p:cNvSpPr>
            <p:nvPr/>
          </p:nvSpPr>
          <p:spPr bwMode="auto">
            <a:xfrm>
              <a:off x="3103" y="29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5812" name="Rectangle 428"/>
            <p:cNvSpPr>
              <a:spLocks noChangeArrowheads="1"/>
            </p:cNvSpPr>
            <p:nvPr/>
          </p:nvSpPr>
          <p:spPr bwMode="auto">
            <a:xfrm>
              <a:off x="3134" y="295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13" name="Rectangle 429"/>
            <p:cNvSpPr>
              <a:spLocks noChangeArrowheads="1"/>
            </p:cNvSpPr>
            <p:nvPr/>
          </p:nvSpPr>
          <p:spPr bwMode="auto">
            <a:xfrm>
              <a:off x="2984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5814" name="Rectangle 430"/>
            <p:cNvSpPr>
              <a:spLocks noChangeArrowheads="1"/>
            </p:cNvSpPr>
            <p:nvPr/>
          </p:nvSpPr>
          <p:spPr bwMode="auto">
            <a:xfrm>
              <a:off x="3018" y="3019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75815" name="Rectangle 431"/>
            <p:cNvSpPr>
              <a:spLocks noChangeArrowheads="1"/>
            </p:cNvSpPr>
            <p:nvPr/>
          </p:nvSpPr>
          <p:spPr bwMode="auto">
            <a:xfrm>
              <a:off x="3046" y="301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5816" name="Rectangle 432"/>
            <p:cNvSpPr>
              <a:spLocks noChangeArrowheads="1"/>
            </p:cNvSpPr>
            <p:nvPr/>
          </p:nvSpPr>
          <p:spPr bwMode="auto">
            <a:xfrm>
              <a:off x="3063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5817" name="Rectangle 433"/>
            <p:cNvSpPr>
              <a:spLocks noChangeArrowheads="1"/>
            </p:cNvSpPr>
            <p:nvPr/>
          </p:nvSpPr>
          <p:spPr bwMode="auto">
            <a:xfrm>
              <a:off x="3096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5818" name="Rectangle 434"/>
            <p:cNvSpPr>
              <a:spLocks noChangeArrowheads="1"/>
            </p:cNvSpPr>
            <p:nvPr/>
          </p:nvSpPr>
          <p:spPr bwMode="auto">
            <a:xfrm>
              <a:off x="3127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75819" name="Line 435"/>
            <p:cNvSpPr>
              <a:spLocks noChangeShapeType="1"/>
            </p:cNvSpPr>
            <p:nvPr/>
          </p:nvSpPr>
          <p:spPr bwMode="auto">
            <a:xfrm flipH="1">
              <a:off x="3403" y="2706"/>
              <a:ext cx="113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20" name="Freeform 436"/>
            <p:cNvSpPr>
              <a:spLocks noChangeArrowheads="1"/>
            </p:cNvSpPr>
            <p:nvPr/>
          </p:nvSpPr>
          <p:spPr bwMode="auto">
            <a:xfrm>
              <a:off x="3183" y="2706"/>
              <a:ext cx="221" cy="312"/>
            </a:xfrm>
            <a:custGeom>
              <a:avLst/>
              <a:gdLst>
                <a:gd name="T0" fmla="*/ 0 w 221"/>
                <a:gd name="T1" fmla="*/ 312 h 312"/>
                <a:gd name="T2" fmla="*/ 221 w 221"/>
                <a:gd name="T3" fmla="*/ 312 h 312"/>
                <a:gd name="T4" fmla="*/ 221 w 221"/>
                <a:gd name="T5" fmla="*/ 0 h 312"/>
                <a:gd name="T6" fmla="*/ 0 60000 65536"/>
                <a:gd name="T7" fmla="*/ 0 60000 65536"/>
                <a:gd name="T8" fmla="*/ 0 60000 65536"/>
                <a:gd name="T9" fmla="*/ 0 w 221"/>
                <a:gd name="T10" fmla="*/ 0 h 312"/>
                <a:gd name="T11" fmla="*/ 221 w 221"/>
                <a:gd name="T12" fmla="*/ 312 h 3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" h="312">
                  <a:moveTo>
                    <a:pt x="0" y="312"/>
                  </a:moveTo>
                  <a:lnTo>
                    <a:pt x="221" y="312"/>
                  </a:lnTo>
                  <a:lnTo>
                    <a:pt x="221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21" name="Freeform 437"/>
            <p:cNvSpPr>
              <a:spLocks noChangeArrowheads="1"/>
            </p:cNvSpPr>
            <p:nvPr/>
          </p:nvSpPr>
          <p:spPr bwMode="auto">
            <a:xfrm>
              <a:off x="3389" y="2692"/>
              <a:ext cx="29" cy="28"/>
            </a:xfrm>
            <a:custGeom>
              <a:avLst/>
              <a:gdLst>
                <a:gd name="T0" fmla="*/ 15 w 29"/>
                <a:gd name="T1" fmla="*/ 28 h 28"/>
                <a:gd name="T2" fmla="*/ 17 w 29"/>
                <a:gd name="T3" fmla="*/ 28 h 28"/>
                <a:gd name="T4" fmla="*/ 19 w 29"/>
                <a:gd name="T5" fmla="*/ 28 h 28"/>
                <a:gd name="T6" fmla="*/ 22 w 29"/>
                <a:gd name="T7" fmla="*/ 28 h 28"/>
                <a:gd name="T8" fmla="*/ 24 w 29"/>
                <a:gd name="T9" fmla="*/ 26 h 28"/>
                <a:gd name="T10" fmla="*/ 24 w 29"/>
                <a:gd name="T11" fmla="*/ 26 h 28"/>
                <a:gd name="T12" fmla="*/ 26 w 29"/>
                <a:gd name="T13" fmla="*/ 23 h 28"/>
                <a:gd name="T14" fmla="*/ 26 w 29"/>
                <a:gd name="T15" fmla="*/ 21 h 28"/>
                <a:gd name="T16" fmla="*/ 29 w 29"/>
                <a:gd name="T17" fmla="*/ 18 h 28"/>
                <a:gd name="T18" fmla="*/ 29 w 29"/>
                <a:gd name="T19" fmla="*/ 16 h 28"/>
                <a:gd name="T20" fmla="*/ 29 w 29"/>
                <a:gd name="T21" fmla="*/ 14 h 28"/>
                <a:gd name="T22" fmla="*/ 29 w 29"/>
                <a:gd name="T23" fmla="*/ 11 h 28"/>
                <a:gd name="T24" fmla="*/ 29 w 29"/>
                <a:gd name="T25" fmla="*/ 9 h 28"/>
                <a:gd name="T26" fmla="*/ 26 w 29"/>
                <a:gd name="T27" fmla="*/ 7 h 28"/>
                <a:gd name="T28" fmla="*/ 26 w 29"/>
                <a:gd name="T29" fmla="*/ 7 h 28"/>
                <a:gd name="T30" fmla="*/ 24 w 29"/>
                <a:gd name="T31" fmla="*/ 4 h 28"/>
                <a:gd name="T32" fmla="*/ 24 w 29"/>
                <a:gd name="T33" fmla="*/ 2 h 28"/>
                <a:gd name="T34" fmla="*/ 22 w 29"/>
                <a:gd name="T35" fmla="*/ 2 h 28"/>
                <a:gd name="T36" fmla="*/ 19 w 29"/>
                <a:gd name="T37" fmla="*/ 0 h 28"/>
                <a:gd name="T38" fmla="*/ 17 w 29"/>
                <a:gd name="T39" fmla="*/ 0 h 28"/>
                <a:gd name="T40" fmla="*/ 15 w 29"/>
                <a:gd name="T41" fmla="*/ 0 h 28"/>
                <a:gd name="T42" fmla="*/ 12 w 29"/>
                <a:gd name="T43" fmla="*/ 0 h 28"/>
                <a:gd name="T44" fmla="*/ 10 w 29"/>
                <a:gd name="T45" fmla="*/ 0 h 28"/>
                <a:gd name="T46" fmla="*/ 8 w 29"/>
                <a:gd name="T47" fmla="*/ 2 h 28"/>
                <a:gd name="T48" fmla="*/ 5 w 29"/>
                <a:gd name="T49" fmla="*/ 2 h 28"/>
                <a:gd name="T50" fmla="*/ 5 w 29"/>
                <a:gd name="T51" fmla="*/ 4 h 28"/>
                <a:gd name="T52" fmla="*/ 3 w 29"/>
                <a:gd name="T53" fmla="*/ 7 h 28"/>
                <a:gd name="T54" fmla="*/ 3 w 29"/>
                <a:gd name="T55" fmla="*/ 7 h 28"/>
                <a:gd name="T56" fmla="*/ 0 w 29"/>
                <a:gd name="T57" fmla="*/ 9 h 28"/>
                <a:gd name="T58" fmla="*/ 0 w 29"/>
                <a:gd name="T59" fmla="*/ 11 h 28"/>
                <a:gd name="T60" fmla="*/ 0 w 29"/>
                <a:gd name="T61" fmla="*/ 14 h 28"/>
                <a:gd name="T62" fmla="*/ 0 w 29"/>
                <a:gd name="T63" fmla="*/ 16 h 28"/>
                <a:gd name="T64" fmla="*/ 0 w 29"/>
                <a:gd name="T65" fmla="*/ 18 h 28"/>
                <a:gd name="T66" fmla="*/ 3 w 29"/>
                <a:gd name="T67" fmla="*/ 21 h 28"/>
                <a:gd name="T68" fmla="*/ 3 w 29"/>
                <a:gd name="T69" fmla="*/ 23 h 28"/>
                <a:gd name="T70" fmla="*/ 5 w 29"/>
                <a:gd name="T71" fmla="*/ 26 h 28"/>
                <a:gd name="T72" fmla="*/ 5 w 29"/>
                <a:gd name="T73" fmla="*/ 26 h 28"/>
                <a:gd name="T74" fmla="*/ 8 w 29"/>
                <a:gd name="T75" fmla="*/ 28 h 28"/>
                <a:gd name="T76" fmla="*/ 10 w 29"/>
                <a:gd name="T77" fmla="*/ 28 h 28"/>
                <a:gd name="T78" fmla="*/ 12 w 29"/>
                <a:gd name="T79" fmla="*/ 28 h 28"/>
                <a:gd name="T80" fmla="*/ 15 w 29"/>
                <a:gd name="T81" fmla="*/ 28 h 28"/>
                <a:gd name="T82" fmla="*/ 15 w 29"/>
                <a:gd name="T83" fmla="*/ 28 h 2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8"/>
                <a:gd name="T128" fmla="*/ 29 w 29"/>
                <a:gd name="T129" fmla="*/ 28 h 2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8">
                  <a:moveTo>
                    <a:pt x="15" y="28"/>
                  </a:moveTo>
                  <a:lnTo>
                    <a:pt x="17" y="28"/>
                  </a:lnTo>
                  <a:lnTo>
                    <a:pt x="19" y="28"/>
                  </a:lnTo>
                  <a:lnTo>
                    <a:pt x="22" y="28"/>
                  </a:lnTo>
                  <a:lnTo>
                    <a:pt x="24" y="26"/>
                  </a:lnTo>
                  <a:lnTo>
                    <a:pt x="26" y="23"/>
                  </a:lnTo>
                  <a:lnTo>
                    <a:pt x="26" y="21"/>
                  </a:lnTo>
                  <a:lnTo>
                    <a:pt x="29" y="18"/>
                  </a:lnTo>
                  <a:lnTo>
                    <a:pt x="29" y="16"/>
                  </a:lnTo>
                  <a:lnTo>
                    <a:pt x="29" y="14"/>
                  </a:lnTo>
                  <a:lnTo>
                    <a:pt x="29" y="11"/>
                  </a:lnTo>
                  <a:lnTo>
                    <a:pt x="29" y="9"/>
                  </a:lnTo>
                  <a:lnTo>
                    <a:pt x="26" y="7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2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5" y="2"/>
                  </a:lnTo>
                  <a:lnTo>
                    <a:pt x="5" y="4"/>
                  </a:lnTo>
                  <a:lnTo>
                    <a:pt x="3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5" y="26"/>
                  </a:lnTo>
                  <a:lnTo>
                    <a:pt x="8" y="28"/>
                  </a:lnTo>
                  <a:lnTo>
                    <a:pt x="10" y="28"/>
                  </a:lnTo>
                  <a:lnTo>
                    <a:pt x="12" y="28"/>
                  </a:lnTo>
                  <a:lnTo>
                    <a:pt x="15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22" name="Rectangle 438"/>
            <p:cNvSpPr>
              <a:spLocks noChangeArrowheads="1"/>
            </p:cNvSpPr>
            <p:nvPr/>
          </p:nvSpPr>
          <p:spPr bwMode="auto">
            <a:xfrm>
              <a:off x="3563" y="2481"/>
              <a:ext cx="4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75823" name="Rectangle 439"/>
            <p:cNvSpPr>
              <a:spLocks noChangeArrowheads="1"/>
            </p:cNvSpPr>
            <p:nvPr/>
          </p:nvSpPr>
          <p:spPr bwMode="auto">
            <a:xfrm>
              <a:off x="3612" y="248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24" name="Rectangle 440"/>
            <p:cNvSpPr>
              <a:spLocks noChangeArrowheads="1"/>
            </p:cNvSpPr>
            <p:nvPr/>
          </p:nvSpPr>
          <p:spPr bwMode="auto">
            <a:xfrm>
              <a:off x="3574" y="254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5825" name="Rectangle 441"/>
            <p:cNvSpPr>
              <a:spLocks noChangeArrowheads="1"/>
            </p:cNvSpPr>
            <p:nvPr/>
          </p:nvSpPr>
          <p:spPr bwMode="auto">
            <a:xfrm>
              <a:off x="3605" y="254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26" name="Rectangle 442"/>
            <p:cNvSpPr>
              <a:spLocks noChangeArrowheads="1"/>
            </p:cNvSpPr>
            <p:nvPr/>
          </p:nvSpPr>
          <p:spPr bwMode="auto">
            <a:xfrm>
              <a:off x="3574" y="2600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75827" name="Rectangle 443"/>
            <p:cNvSpPr>
              <a:spLocks noChangeArrowheads="1"/>
            </p:cNvSpPr>
            <p:nvPr/>
          </p:nvSpPr>
          <p:spPr bwMode="auto">
            <a:xfrm>
              <a:off x="3555" y="267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75828" name="Line 444"/>
            <p:cNvSpPr>
              <a:spLocks noChangeShapeType="1"/>
            </p:cNvSpPr>
            <p:nvPr/>
          </p:nvSpPr>
          <p:spPr bwMode="auto">
            <a:xfrm flipH="1">
              <a:off x="3182" y="2225"/>
              <a:ext cx="571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29" name="Freeform 445"/>
            <p:cNvSpPr>
              <a:spLocks noChangeArrowheads="1"/>
            </p:cNvSpPr>
            <p:nvPr/>
          </p:nvSpPr>
          <p:spPr bwMode="auto">
            <a:xfrm>
              <a:off x="3775" y="2104"/>
              <a:ext cx="365" cy="590"/>
            </a:xfrm>
            <a:custGeom>
              <a:avLst/>
              <a:gdLst>
                <a:gd name="T0" fmla="*/ 0 w 365"/>
                <a:gd name="T1" fmla="*/ 0 h 590"/>
                <a:gd name="T2" fmla="*/ 0 w 365"/>
                <a:gd name="T3" fmla="*/ 239 h 590"/>
                <a:gd name="T4" fmla="*/ 62 w 365"/>
                <a:gd name="T5" fmla="*/ 296 h 590"/>
                <a:gd name="T6" fmla="*/ 0 w 365"/>
                <a:gd name="T7" fmla="*/ 353 h 590"/>
                <a:gd name="T8" fmla="*/ 0 w 365"/>
                <a:gd name="T9" fmla="*/ 590 h 590"/>
                <a:gd name="T10" fmla="*/ 365 w 365"/>
                <a:gd name="T11" fmla="*/ 410 h 590"/>
                <a:gd name="T12" fmla="*/ 365 w 365"/>
                <a:gd name="T13" fmla="*/ 183 h 590"/>
                <a:gd name="T14" fmla="*/ 0 w 365"/>
                <a:gd name="T15" fmla="*/ 3 h 590"/>
                <a:gd name="T16" fmla="*/ 0 w 365"/>
                <a:gd name="T17" fmla="*/ 3 h 590"/>
                <a:gd name="T18" fmla="*/ 0 w 365"/>
                <a:gd name="T19" fmla="*/ 0 h 5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5"/>
                <a:gd name="T31" fmla="*/ 0 h 590"/>
                <a:gd name="T32" fmla="*/ 365 w 365"/>
                <a:gd name="T33" fmla="*/ 590 h 59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5" h="590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3"/>
                  </a:lnTo>
                  <a:lnTo>
                    <a:pt x="0" y="590"/>
                  </a:lnTo>
                  <a:lnTo>
                    <a:pt x="365" y="410"/>
                  </a:lnTo>
                  <a:lnTo>
                    <a:pt x="365" y="183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30" name="Freeform 446"/>
            <p:cNvSpPr>
              <a:spLocks noChangeArrowheads="1"/>
            </p:cNvSpPr>
            <p:nvPr/>
          </p:nvSpPr>
          <p:spPr bwMode="auto">
            <a:xfrm>
              <a:off x="3775" y="2104"/>
              <a:ext cx="365" cy="590"/>
            </a:xfrm>
            <a:custGeom>
              <a:avLst/>
              <a:gdLst>
                <a:gd name="T0" fmla="*/ 0 w 365"/>
                <a:gd name="T1" fmla="*/ 0 h 590"/>
                <a:gd name="T2" fmla="*/ 0 w 365"/>
                <a:gd name="T3" fmla="*/ 239 h 590"/>
                <a:gd name="T4" fmla="*/ 62 w 365"/>
                <a:gd name="T5" fmla="*/ 296 h 590"/>
                <a:gd name="T6" fmla="*/ 0 w 365"/>
                <a:gd name="T7" fmla="*/ 353 h 590"/>
                <a:gd name="T8" fmla="*/ 0 w 365"/>
                <a:gd name="T9" fmla="*/ 590 h 590"/>
                <a:gd name="T10" fmla="*/ 365 w 365"/>
                <a:gd name="T11" fmla="*/ 410 h 590"/>
                <a:gd name="T12" fmla="*/ 365 w 365"/>
                <a:gd name="T13" fmla="*/ 183 h 590"/>
                <a:gd name="T14" fmla="*/ 0 w 365"/>
                <a:gd name="T15" fmla="*/ 3 h 590"/>
                <a:gd name="T16" fmla="*/ 0 w 365"/>
                <a:gd name="T17" fmla="*/ 3 h 5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5"/>
                <a:gd name="T28" fmla="*/ 0 h 590"/>
                <a:gd name="T29" fmla="*/ 365 w 365"/>
                <a:gd name="T30" fmla="*/ 590 h 5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5" h="590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3"/>
                  </a:lnTo>
                  <a:lnTo>
                    <a:pt x="0" y="590"/>
                  </a:lnTo>
                  <a:lnTo>
                    <a:pt x="365" y="410"/>
                  </a:lnTo>
                  <a:lnTo>
                    <a:pt x="365" y="183"/>
                  </a:lnTo>
                  <a:lnTo>
                    <a:pt x="0" y="3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31" name="Rectangle 447"/>
            <p:cNvSpPr>
              <a:spLocks noChangeArrowheads="1"/>
            </p:cNvSpPr>
            <p:nvPr/>
          </p:nvSpPr>
          <p:spPr bwMode="auto">
            <a:xfrm>
              <a:off x="4019" y="2382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75832" name="Rectangle 448"/>
            <p:cNvSpPr>
              <a:spLocks noChangeArrowheads="1"/>
            </p:cNvSpPr>
            <p:nvPr/>
          </p:nvSpPr>
          <p:spPr bwMode="auto">
            <a:xfrm>
              <a:off x="4057" y="23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75833" name="Rectangle 449"/>
            <p:cNvSpPr>
              <a:spLocks noChangeArrowheads="1"/>
            </p:cNvSpPr>
            <p:nvPr/>
          </p:nvSpPr>
          <p:spPr bwMode="auto">
            <a:xfrm>
              <a:off x="4090" y="2382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5834" name="Rectangle 450"/>
            <p:cNvSpPr>
              <a:spLocks noChangeArrowheads="1"/>
            </p:cNvSpPr>
            <p:nvPr/>
          </p:nvSpPr>
          <p:spPr bwMode="auto">
            <a:xfrm>
              <a:off x="4133" y="2382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35" name="Rectangle 451"/>
            <p:cNvSpPr>
              <a:spLocks noChangeArrowheads="1"/>
            </p:cNvSpPr>
            <p:nvPr/>
          </p:nvSpPr>
          <p:spPr bwMode="auto">
            <a:xfrm>
              <a:off x="3972" y="244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5836" name="Rectangle 452"/>
            <p:cNvSpPr>
              <a:spLocks noChangeArrowheads="1"/>
            </p:cNvSpPr>
            <p:nvPr/>
          </p:nvSpPr>
          <p:spPr bwMode="auto">
            <a:xfrm>
              <a:off x="3993" y="244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5837" name="Rectangle 453"/>
            <p:cNvSpPr>
              <a:spLocks noChangeArrowheads="1"/>
            </p:cNvSpPr>
            <p:nvPr/>
          </p:nvSpPr>
          <p:spPr bwMode="auto">
            <a:xfrm>
              <a:off x="4024" y="244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5838" name="Rectangle 454"/>
            <p:cNvSpPr>
              <a:spLocks noChangeArrowheads="1"/>
            </p:cNvSpPr>
            <p:nvPr/>
          </p:nvSpPr>
          <p:spPr bwMode="auto">
            <a:xfrm>
              <a:off x="4055" y="244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5839" name="Rectangle 455"/>
            <p:cNvSpPr>
              <a:spLocks noChangeArrowheads="1"/>
            </p:cNvSpPr>
            <p:nvPr/>
          </p:nvSpPr>
          <p:spPr bwMode="auto">
            <a:xfrm>
              <a:off x="4086" y="2441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75840" name="Rectangle 456"/>
            <p:cNvSpPr>
              <a:spLocks noChangeArrowheads="1"/>
            </p:cNvSpPr>
            <p:nvPr/>
          </p:nvSpPr>
          <p:spPr bwMode="auto">
            <a:xfrm>
              <a:off x="4100" y="244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5841" name="Rectangle 457"/>
            <p:cNvSpPr>
              <a:spLocks noChangeArrowheads="1"/>
            </p:cNvSpPr>
            <p:nvPr/>
          </p:nvSpPr>
          <p:spPr bwMode="auto">
            <a:xfrm>
              <a:off x="4005" y="2289"/>
              <a:ext cx="3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Z</a:t>
              </a:r>
            </a:p>
          </p:txBody>
        </p:sp>
        <p:sp>
          <p:nvSpPr>
            <p:cNvPr id="75842" name="Rectangle 458"/>
            <p:cNvSpPr>
              <a:spLocks noChangeArrowheads="1"/>
            </p:cNvSpPr>
            <p:nvPr/>
          </p:nvSpPr>
          <p:spPr bwMode="auto">
            <a:xfrm>
              <a:off x="4041" y="228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5843" name="Rectangle 459"/>
            <p:cNvSpPr>
              <a:spLocks noChangeArrowheads="1"/>
            </p:cNvSpPr>
            <p:nvPr/>
          </p:nvSpPr>
          <p:spPr bwMode="auto">
            <a:xfrm>
              <a:off x="4071" y="2289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5844" name="Rectangle 460"/>
            <p:cNvSpPr>
              <a:spLocks noChangeArrowheads="1"/>
            </p:cNvSpPr>
            <p:nvPr/>
          </p:nvSpPr>
          <p:spPr bwMode="auto">
            <a:xfrm>
              <a:off x="4093" y="228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5845" name="Rectangle 461"/>
            <p:cNvSpPr>
              <a:spLocks noChangeArrowheads="1"/>
            </p:cNvSpPr>
            <p:nvPr/>
          </p:nvSpPr>
          <p:spPr bwMode="auto">
            <a:xfrm>
              <a:off x="4656" y="12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75846" name="Rectangle 462"/>
            <p:cNvSpPr>
              <a:spLocks noChangeArrowheads="1"/>
            </p:cNvSpPr>
            <p:nvPr/>
          </p:nvSpPr>
          <p:spPr bwMode="auto">
            <a:xfrm>
              <a:off x="4694" y="1250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75847" name="Rectangle 463"/>
            <p:cNvSpPr>
              <a:spLocks noChangeArrowheads="1"/>
            </p:cNvSpPr>
            <p:nvPr/>
          </p:nvSpPr>
          <p:spPr bwMode="auto">
            <a:xfrm>
              <a:off x="4737" y="12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5848" name="Rectangle 464"/>
            <p:cNvSpPr>
              <a:spLocks noChangeArrowheads="1"/>
            </p:cNvSpPr>
            <p:nvPr/>
          </p:nvSpPr>
          <p:spPr bwMode="auto">
            <a:xfrm>
              <a:off x="4777" y="1250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5849" name="Rectangle 465"/>
            <p:cNvSpPr>
              <a:spLocks noChangeArrowheads="1"/>
            </p:cNvSpPr>
            <p:nvPr/>
          </p:nvSpPr>
          <p:spPr bwMode="auto">
            <a:xfrm>
              <a:off x="4796" y="1250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75850" name="Rectangle 466"/>
            <p:cNvSpPr>
              <a:spLocks noChangeArrowheads="1"/>
            </p:cNvSpPr>
            <p:nvPr/>
          </p:nvSpPr>
          <p:spPr bwMode="auto">
            <a:xfrm>
              <a:off x="4746" y="2626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75851" name="Rectangle 467"/>
            <p:cNvSpPr>
              <a:spLocks noChangeArrowheads="1"/>
            </p:cNvSpPr>
            <p:nvPr/>
          </p:nvSpPr>
          <p:spPr bwMode="auto">
            <a:xfrm>
              <a:off x="4789" y="262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75852" name="Rectangle 468"/>
            <p:cNvSpPr>
              <a:spLocks noChangeArrowheads="1"/>
            </p:cNvSpPr>
            <p:nvPr/>
          </p:nvSpPr>
          <p:spPr bwMode="auto">
            <a:xfrm>
              <a:off x="4822" y="262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5853" name="Rectangle 469"/>
            <p:cNvSpPr>
              <a:spLocks noChangeArrowheads="1"/>
            </p:cNvSpPr>
            <p:nvPr/>
          </p:nvSpPr>
          <p:spPr bwMode="auto">
            <a:xfrm>
              <a:off x="4839" y="262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75854" name="Rectangle 470"/>
            <p:cNvSpPr>
              <a:spLocks noChangeArrowheads="1"/>
            </p:cNvSpPr>
            <p:nvPr/>
          </p:nvSpPr>
          <p:spPr bwMode="auto">
            <a:xfrm>
              <a:off x="4872" y="2626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55" name="Rectangle 471"/>
            <p:cNvSpPr>
              <a:spLocks noChangeArrowheads="1"/>
            </p:cNvSpPr>
            <p:nvPr/>
          </p:nvSpPr>
          <p:spPr bwMode="auto">
            <a:xfrm>
              <a:off x="4706" y="2694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75856" name="Rectangle 472"/>
            <p:cNvSpPr>
              <a:spLocks noChangeArrowheads="1"/>
            </p:cNvSpPr>
            <p:nvPr/>
          </p:nvSpPr>
          <p:spPr bwMode="auto">
            <a:xfrm>
              <a:off x="4753" y="26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5857" name="Rectangle 473"/>
            <p:cNvSpPr>
              <a:spLocks noChangeArrowheads="1"/>
            </p:cNvSpPr>
            <p:nvPr/>
          </p:nvSpPr>
          <p:spPr bwMode="auto">
            <a:xfrm>
              <a:off x="4787" y="2694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75858" name="Rectangle 474"/>
            <p:cNvSpPr>
              <a:spLocks noChangeArrowheads="1"/>
            </p:cNvSpPr>
            <p:nvPr/>
          </p:nvSpPr>
          <p:spPr bwMode="auto">
            <a:xfrm>
              <a:off x="4836" y="26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5859" name="Rectangle 475"/>
            <p:cNvSpPr>
              <a:spLocks noChangeArrowheads="1"/>
            </p:cNvSpPr>
            <p:nvPr/>
          </p:nvSpPr>
          <p:spPr bwMode="auto">
            <a:xfrm>
              <a:off x="4867" y="2694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5860" name="Rectangle 476"/>
            <p:cNvSpPr>
              <a:spLocks noChangeArrowheads="1"/>
            </p:cNvSpPr>
            <p:nvPr/>
          </p:nvSpPr>
          <p:spPr bwMode="auto">
            <a:xfrm>
              <a:off x="4889" y="2694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75861" name="Rectangle 477"/>
            <p:cNvSpPr>
              <a:spLocks noChangeArrowheads="1"/>
            </p:cNvSpPr>
            <p:nvPr/>
          </p:nvSpPr>
          <p:spPr bwMode="auto">
            <a:xfrm>
              <a:off x="4406" y="2739"/>
              <a:ext cx="5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75862" name="Rectangle 478"/>
            <p:cNvSpPr>
              <a:spLocks noChangeArrowheads="1"/>
            </p:cNvSpPr>
            <p:nvPr/>
          </p:nvSpPr>
          <p:spPr bwMode="auto">
            <a:xfrm>
              <a:off x="4462" y="2739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5863" name="Rectangle 479"/>
            <p:cNvSpPr>
              <a:spLocks noChangeArrowheads="1"/>
            </p:cNvSpPr>
            <p:nvPr/>
          </p:nvSpPr>
          <p:spPr bwMode="auto">
            <a:xfrm>
              <a:off x="4481" y="2739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5864" name="Rectangle 480"/>
            <p:cNvSpPr>
              <a:spLocks noChangeArrowheads="1"/>
            </p:cNvSpPr>
            <p:nvPr/>
          </p:nvSpPr>
          <p:spPr bwMode="auto">
            <a:xfrm>
              <a:off x="4495" y="273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5865" name="Rectangle 481"/>
            <p:cNvSpPr>
              <a:spLocks noChangeArrowheads="1"/>
            </p:cNvSpPr>
            <p:nvPr/>
          </p:nvSpPr>
          <p:spPr bwMode="auto">
            <a:xfrm>
              <a:off x="4510" y="27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5866" name="Rectangle 482"/>
            <p:cNvSpPr>
              <a:spLocks noChangeArrowheads="1"/>
            </p:cNvSpPr>
            <p:nvPr/>
          </p:nvSpPr>
          <p:spPr bwMode="auto">
            <a:xfrm>
              <a:off x="4543" y="273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67" name="Rectangle 483"/>
            <p:cNvSpPr>
              <a:spLocks noChangeArrowheads="1"/>
            </p:cNvSpPr>
            <p:nvPr/>
          </p:nvSpPr>
          <p:spPr bwMode="auto">
            <a:xfrm>
              <a:off x="4408" y="279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75868" name="Rectangle 484"/>
            <p:cNvSpPr>
              <a:spLocks noChangeArrowheads="1"/>
            </p:cNvSpPr>
            <p:nvPr/>
          </p:nvSpPr>
          <p:spPr bwMode="auto">
            <a:xfrm>
              <a:off x="4439" y="279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75869" name="Rectangle 485"/>
            <p:cNvSpPr>
              <a:spLocks noChangeArrowheads="1"/>
            </p:cNvSpPr>
            <p:nvPr/>
          </p:nvSpPr>
          <p:spPr bwMode="auto">
            <a:xfrm>
              <a:off x="4472" y="279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5870" name="Rectangle 486"/>
            <p:cNvSpPr>
              <a:spLocks noChangeArrowheads="1"/>
            </p:cNvSpPr>
            <p:nvPr/>
          </p:nvSpPr>
          <p:spPr bwMode="auto">
            <a:xfrm>
              <a:off x="4488" y="279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75871" name="Rectangle 487"/>
            <p:cNvSpPr>
              <a:spLocks noChangeArrowheads="1"/>
            </p:cNvSpPr>
            <p:nvPr/>
          </p:nvSpPr>
          <p:spPr bwMode="auto">
            <a:xfrm>
              <a:off x="4881" y="2413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5872" name="Rectangle 488"/>
            <p:cNvSpPr>
              <a:spLocks noChangeArrowheads="1"/>
            </p:cNvSpPr>
            <p:nvPr/>
          </p:nvSpPr>
          <p:spPr bwMode="auto">
            <a:xfrm>
              <a:off x="4924" y="24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5873" name="Rectangle 489"/>
            <p:cNvSpPr>
              <a:spLocks noChangeArrowheads="1"/>
            </p:cNvSpPr>
            <p:nvPr/>
          </p:nvSpPr>
          <p:spPr bwMode="auto">
            <a:xfrm>
              <a:off x="4957" y="24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75874" name="Rectangle 490"/>
            <p:cNvSpPr>
              <a:spLocks noChangeArrowheads="1"/>
            </p:cNvSpPr>
            <p:nvPr/>
          </p:nvSpPr>
          <p:spPr bwMode="auto">
            <a:xfrm>
              <a:off x="4988" y="24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75875" name="Rectangle 491"/>
            <p:cNvSpPr>
              <a:spLocks noChangeArrowheads="1"/>
            </p:cNvSpPr>
            <p:nvPr/>
          </p:nvSpPr>
          <p:spPr bwMode="auto">
            <a:xfrm>
              <a:off x="5021" y="2413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76" name="Rectangle 492"/>
            <p:cNvSpPr>
              <a:spLocks noChangeArrowheads="1"/>
            </p:cNvSpPr>
            <p:nvPr/>
          </p:nvSpPr>
          <p:spPr bwMode="auto">
            <a:xfrm>
              <a:off x="4900" y="24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75877" name="Rectangle 493"/>
            <p:cNvSpPr>
              <a:spLocks noChangeArrowheads="1"/>
            </p:cNvSpPr>
            <p:nvPr/>
          </p:nvSpPr>
          <p:spPr bwMode="auto">
            <a:xfrm>
              <a:off x="4931" y="24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75878" name="Rectangle 494"/>
            <p:cNvSpPr>
              <a:spLocks noChangeArrowheads="1"/>
            </p:cNvSpPr>
            <p:nvPr/>
          </p:nvSpPr>
          <p:spPr bwMode="auto">
            <a:xfrm>
              <a:off x="4964" y="246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5879" name="Rectangle 495"/>
            <p:cNvSpPr>
              <a:spLocks noChangeArrowheads="1"/>
            </p:cNvSpPr>
            <p:nvPr/>
          </p:nvSpPr>
          <p:spPr bwMode="auto">
            <a:xfrm>
              <a:off x="4981" y="24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75880" name="Rectangle 496"/>
            <p:cNvSpPr>
              <a:spLocks noChangeArrowheads="1"/>
            </p:cNvSpPr>
            <p:nvPr/>
          </p:nvSpPr>
          <p:spPr bwMode="auto">
            <a:xfrm>
              <a:off x="5200" y="2514"/>
              <a:ext cx="4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75881" name="Rectangle 497"/>
            <p:cNvSpPr>
              <a:spLocks noChangeArrowheads="1"/>
            </p:cNvSpPr>
            <p:nvPr/>
          </p:nvSpPr>
          <p:spPr bwMode="auto">
            <a:xfrm>
              <a:off x="5246" y="251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82" name="Rectangle 498"/>
            <p:cNvSpPr>
              <a:spLocks noChangeArrowheads="1"/>
            </p:cNvSpPr>
            <p:nvPr/>
          </p:nvSpPr>
          <p:spPr bwMode="auto">
            <a:xfrm>
              <a:off x="5208" y="257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5883" name="Rectangle 499"/>
            <p:cNvSpPr>
              <a:spLocks noChangeArrowheads="1"/>
            </p:cNvSpPr>
            <p:nvPr/>
          </p:nvSpPr>
          <p:spPr bwMode="auto">
            <a:xfrm>
              <a:off x="5241" y="257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884" name="Rectangle 500"/>
            <p:cNvSpPr>
              <a:spLocks noChangeArrowheads="1"/>
            </p:cNvSpPr>
            <p:nvPr/>
          </p:nvSpPr>
          <p:spPr bwMode="auto">
            <a:xfrm>
              <a:off x="5208" y="2630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75885" name="Rectangle 501"/>
            <p:cNvSpPr>
              <a:spLocks noChangeArrowheads="1"/>
            </p:cNvSpPr>
            <p:nvPr/>
          </p:nvSpPr>
          <p:spPr bwMode="auto">
            <a:xfrm>
              <a:off x="5192" y="244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75886" name="Line 502"/>
            <p:cNvSpPr>
              <a:spLocks noChangeShapeType="1"/>
            </p:cNvSpPr>
            <p:nvPr/>
          </p:nvSpPr>
          <p:spPr bwMode="auto">
            <a:xfrm flipH="1">
              <a:off x="1634" y="2310"/>
              <a:ext cx="475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887" name="Rectangle 503"/>
            <p:cNvSpPr>
              <a:spLocks noChangeArrowheads="1"/>
            </p:cNvSpPr>
            <p:nvPr/>
          </p:nvSpPr>
          <p:spPr bwMode="auto">
            <a:xfrm>
              <a:off x="1662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5888" name="Rectangle 504"/>
            <p:cNvSpPr>
              <a:spLocks noChangeArrowheads="1"/>
            </p:cNvSpPr>
            <p:nvPr/>
          </p:nvSpPr>
          <p:spPr bwMode="auto">
            <a:xfrm>
              <a:off x="1677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5889" name="Rectangle 505"/>
            <p:cNvSpPr>
              <a:spLocks noChangeArrowheads="1"/>
            </p:cNvSpPr>
            <p:nvPr/>
          </p:nvSpPr>
          <p:spPr bwMode="auto">
            <a:xfrm>
              <a:off x="1710" y="257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5890" name="Rectangle 506"/>
            <p:cNvSpPr>
              <a:spLocks noChangeArrowheads="1"/>
            </p:cNvSpPr>
            <p:nvPr/>
          </p:nvSpPr>
          <p:spPr bwMode="auto">
            <a:xfrm>
              <a:off x="1739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5891" name="Rectangle 507"/>
            <p:cNvSpPr>
              <a:spLocks noChangeArrowheads="1"/>
            </p:cNvSpPr>
            <p:nvPr/>
          </p:nvSpPr>
          <p:spPr bwMode="auto">
            <a:xfrm>
              <a:off x="1755" y="257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5892" name="Rectangle 508"/>
            <p:cNvSpPr>
              <a:spLocks noChangeArrowheads="1"/>
            </p:cNvSpPr>
            <p:nvPr/>
          </p:nvSpPr>
          <p:spPr bwMode="auto">
            <a:xfrm>
              <a:off x="1774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5893" name="Rectangle 509"/>
            <p:cNvSpPr>
              <a:spLocks noChangeArrowheads="1"/>
            </p:cNvSpPr>
            <p:nvPr/>
          </p:nvSpPr>
          <p:spPr bwMode="auto">
            <a:xfrm>
              <a:off x="1808" y="257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75894" name="Rectangle 510"/>
            <p:cNvSpPr>
              <a:spLocks noChangeArrowheads="1"/>
            </p:cNvSpPr>
            <p:nvPr/>
          </p:nvSpPr>
          <p:spPr bwMode="auto">
            <a:xfrm>
              <a:off x="1836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5895" name="Rectangle 511"/>
            <p:cNvSpPr>
              <a:spLocks noChangeArrowheads="1"/>
            </p:cNvSpPr>
            <p:nvPr/>
          </p:nvSpPr>
          <p:spPr bwMode="auto">
            <a:xfrm>
              <a:off x="1852" y="2578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5896" name="Rectangle 512"/>
            <p:cNvSpPr>
              <a:spLocks noChangeArrowheads="1"/>
            </p:cNvSpPr>
            <p:nvPr/>
          </p:nvSpPr>
          <p:spPr bwMode="auto">
            <a:xfrm>
              <a:off x="1867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5897" name="Rectangle 513"/>
            <p:cNvSpPr>
              <a:spLocks noChangeArrowheads="1"/>
            </p:cNvSpPr>
            <p:nvPr/>
          </p:nvSpPr>
          <p:spPr bwMode="auto">
            <a:xfrm>
              <a:off x="1898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5898" name="Rectangle 514"/>
            <p:cNvSpPr>
              <a:spLocks noChangeArrowheads="1"/>
            </p:cNvSpPr>
            <p:nvPr/>
          </p:nvSpPr>
          <p:spPr bwMode="auto">
            <a:xfrm>
              <a:off x="1931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75899" name="Rectangle 515"/>
            <p:cNvSpPr>
              <a:spLocks noChangeArrowheads="1"/>
            </p:cNvSpPr>
            <p:nvPr/>
          </p:nvSpPr>
          <p:spPr bwMode="auto">
            <a:xfrm>
              <a:off x="1947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75900" name="Rectangle 516"/>
            <p:cNvSpPr>
              <a:spLocks noChangeArrowheads="1"/>
            </p:cNvSpPr>
            <p:nvPr/>
          </p:nvSpPr>
          <p:spPr bwMode="auto">
            <a:xfrm>
              <a:off x="1964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75901" name="Rectangle 517"/>
            <p:cNvSpPr>
              <a:spLocks noChangeArrowheads="1"/>
            </p:cNvSpPr>
            <p:nvPr/>
          </p:nvSpPr>
          <p:spPr bwMode="auto">
            <a:xfrm>
              <a:off x="1995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75902" name="Rectangle 518"/>
            <p:cNvSpPr>
              <a:spLocks noChangeArrowheads="1"/>
            </p:cNvSpPr>
            <p:nvPr/>
          </p:nvSpPr>
          <p:spPr bwMode="auto">
            <a:xfrm>
              <a:off x="2028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75903" name="Rectangle 519"/>
            <p:cNvSpPr>
              <a:spLocks noChangeArrowheads="1"/>
            </p:cNvSpPr>
            <p:nvPr/>
          </p:nvSpPr>
          <p:spPr bwMode="auto">
            <a:xfrm>
              <a:off x="2044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75904" name="Rectangle 520"/>
            <p:cNvSpPr>
              <a:spLocks noChangeArrowheads="1"/>
            </p:cNvSpPr>
            <p:nvPr/>
          </p:nvSpPr>
          <p:spPr bwMode="auto">
            <a:xfrm>
              <a:off x="2061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75905" name="Rectangle 521"/>
            <p:cNvSpPr>
              <a:spLocks noChangeArrowheads="1"/>
            </p:cNvSpPr>
            <p:nvPr/>
          </p:nvSpPr>
          <p:spPr bwMode="auto">
            <a:xfrm>
              <a:off x="2094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75906" name="Rectangle 522"/>
            <p:cNvSpPr>
              <a:spLocks noChangeArrowheads="1"/>
            </p:cNvSpPr>
            <p:nvPr/>
          </p:nvSpPr>
          <p:spPr bwMode="auto">
            <a:xfrm>
              <a:off x="2125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75907" name="Line 523"/>
            <p:cNvSpPr>
              <a:spLocks noChangeShapeType="1"/>
            </p:cNvSpPr>
            <p:nvPr/>
          </p:nvSpPr>
          <p:spPr bwMode="auto">
            <a:xfrm flipH="1">
              <a:off x="3182" y="2443"/>
              <a:ext cx="334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908" name="Line 524"/>
            <p:cNvSpPr>
              <a:spLocks noChangeShapeType="1"/>
            </p:cNvSpPr>
            <p:nvPr/>
          </p:nvSpPr>
          <p:spPr bwMode="auto">
            <a:xfrm flipH="1">
              <a:off x="4139" y="2474"/>
              <a:ext cx="90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909" name="Freeform 525"/>
            <p:cNvSpPr>
              <a:spLocks noChangeArrowheads="1"/>
            </p:cNvSpPr>
            <p:nvPr/>
          </p:nvSpPr>
          <p:spPr bwMode="auto">
            <a:xfrm>
              <a:off x="4228" y="2476"/>
              <a:ext cx="921" cy="497"/>
            </a:xfrm>
            <a:custGeom>
              <a:avLst/>
              <a:gdLst>
                <a:gd name="T0" fmla="*/ 921 w 921"/>
                <a:gd name="T1" fmla="*/ 261 h 497"/>
                <a:gd name="T2" fmla="*/ 855 w 921"/>
                <a:gd name="T3" fmla="*/ 261 h 497"/>
                <a:gd name="T4" fmla="*/ 855 w 921"/>
                <a:gd name="T5" fmla="*/ 497 h 497"/>
                <a:gd name="T6" fmla="*/ 0 w 921"/>
                <a:gd name="T7" fmla="*/ 497 h 497"/>
                <a:gd name="T8" fmla="*/ 0 w 921"/>
                <a:gd name="T9" fmla="*/ 0 h 4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21"/>
                <a:gd name="T16" fmla="*/ 0 h 497"/>
                <a:gd name="T17" fmla="*/ 921 w 921"/>
                <a:gd name="T18" fmla="*/ 497 h 4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21" h="497">
                  <a:moveTo>
                    <a:pt x="921" y="261"/>
                  </a:moveTo>
                  <a:lnTo>
                    <a:pt x="855" y="261"/>
                  </a:lnTo>
                  <a:lnTo>
                    <a:pt x="855" y="497"/>
                  </a:lnTo>
                  <a:lnTo>
                    <a:pt x="0" y="497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10" name="Freeform 526"/>
            <p:cNvSpPr>
              <a:spLocks noChangeArrowheads="1"/>
            </p:cNvSpPr>
            <p:nvPr/>
          </p:nvSpPr>
          <p:spPr bwMode="auto">
            <a:xfrm>
              <a:off x="3508" y="1152"/>
              <a:ext cx="180" cy="289"/>
            </a:xfrm>
            <a:custGeom>
              <a:avLst/>
              <a:gdLst>
                <a:gd name="T0" fmla="*/ 90 w 180"/>
                <a:gd name="T1" fmla="*/ 287 h 289"/>
                <a:gd name="T2" fmla="*/ 104 w 180"/>
                <a:gd name="T3" fmla="*/ 287 h 289"/>
                <a:gd name="T4" fmla="*/ 118 w 180"/>
                <a:gd name="T5" fmla="*/ 280 h 289"/>
                <a:gd name="T6" fmla="*/ 132 w 180"/>
                <a:gd name="T7" fmla="*/ 273 h 289"/>
                <a:gd name="T8" fmla="*/ 144 w 180"/>
                <a:gd name="T9" fmla="*/ 261 h 289"/>
                <a:gd name="T10" fmla="*/ 154 w 180"/>
                <a:gd name="T11" fmla="*/ 247 h 289"/>
                <a:gd name="T12" fmla="*/ 163 w 180"/>
                <a:gd name="T13" fmla="*/ 230 h 289"/>
                <a:gd name="T14" fmla="*/ 170 w 180"/>
                <a:gd name="T15" fmla="*/ 211 h 289"/>
                <a:gd name="T16" fmla="*/ 175 w 180"/>
                <a:gd name="T17" fmla="*/ 190 h 289"/>
                <a:gd name="T18" fmla="*/ 180 w 180"/>
                <a:gd name="T19" fmla="*/ 169 h 289"/>
                <a:gd name="T20" fmla="*/ 180 w 180"/>
                <a:gd name="T21" fmla="*/ 145 h 289"/>
                <a:gd name="T22" fmla="*/ 180 w 180"/>
                <a:gd name="T23" fmla="*/ 121 h 289"/>
                <a:gd name="T24" fmla="*/ 175 w 180"/>
                <a:gd name="T25" fmla="*/ 100 h 289"/>
                <a:gd name="T26" fmla="*/ 170 w 180"/>
                <a:gd name="T27" fmla="*/ 79 h 289"/>
                <a:gd name="T28" fmla="*/ 163 w 180"/>
                <a:gd name="T29" fmla="*/ 60 h 289"/>
                <a:gd name="T30" fmla="*/ 154 w 180"/>
                <a:gd name="T31" fmla="*/ 43 h 289"/>
                <a:gd name="T32" fmla="*/ 144 w 180"/>
                <a:gd name="T33" fmla="*/ 29 h 289"/>
                <a:gd name="T34" fmla="*/ 132 w 180"/>
                <a:gd name="T35" fmla="*/ 17 h 289"/>
                <a:gd name="T36" fmla="*/ 118 w 180"/>
                <a:gd name="T37" fmla="*/ 8 h 289"/>
                <a:gd name="T38" fmla="*/ 104 w 180"/>
                <a:gd name="T39" fmla="*/ 3 h 289"/>
                <a:gd name="T40" fmla="*/ 90 w 180"/>
                <a:gd name="T41" fmla="*/ 0 h 289"/>
                <a:gd name="T42" fmla="*/ 76 w 180"/>
                <a:gd name="T43" fmla="*/ 3 h 289"/>
                <a:gd name="T44" fmla="*/ 61 w 180"/>
                <a:gd name="T45" fmla="*/ 8 h 289"/>
                <a:gd name="T46" fmla="*/ 50 w 180"/>
                <a:gd name="T47" fmla="*/ 17 h 289"/>
                <a:gd name="T48" fmla="*/ 38 w 180"/>
                <a:gd name="T49" fmla="*/ 29 h 289"/>
                <a:gd name="T50" fmla="*/ 26 w 180"/>
                <a:gd name="T51" fmla="*/ 43 h 289"/>
                <a:gd name="T52" fmla="*/ 16 w 180"/>
                <a:gd name="T53" fmla="*/ 60 h 289"/>
                <a:gd name="T54" fmla="*/ 9 w 180"/>
                <a:gd name="T55" fmla="*/ 79 h 289"/>
                <a:gd name="T56" fmla="*/ 5 w 180"/>
                <a:gd name="T57" fmla="*/ 100 h 289"/>
                <a:gd name="T58" fmla="*/ 2 w 180"/>
                <a:gd name="T59" fmla="*/ 121 h 289"/>
                <a:gd name="T60" fmla="*/ 0 w 180"/>
                <a:gd name="T61" fmla="*/ 145 h 289"/>
                <a:gd name="T62" fmla="*/ 2 w 180"/>
                <a:gd name="T63" fmla="*/ 169 h 289"/>
                <a:gd name="T64" fmla="*/ 5 w 180"/>
                <a:gd name="T65" fmla="*/ 190 h 289"/>
                <a:gd name="T66" fmla="*/ 9 w 180"/>
                <a:gd name="T67" fmla="*/ 211 h 289"/>
                <a:gd name="T68" fmla="*/ 16 w 180"/>
                <a:gd name="T69" fmla="*/ 230 h 289"/>
                <a:gd name="T70" fmla="*/ 26 w 180"/>
                <a:gd name="T71" fmla="*/ 247 h 289"/>
                <a:gd name="T72" fmla="*/ 38 w 180"/>
                <a:gd name="T73" fmla="*/ 261 h 289"/>
                <a:gd name="T74" fmla="*/ 50 w 180"/>
                <a:gd name="T75" fmla="*/ 273 h 289"/>
                <a:gd name="T76" fmla="*/ 61 w 180"/>
                <a:gd name="T77" fmla="*/ 280 h 289"/>
                <a:gd name="T78" fmla="*/ 76 w 180"/>
                <a:gd name="T79" fmla="*/ 287 h 289"/>
                <a:gd name="T80" fmla="*/ 90 w 180"/>
                <a:gd name="T81" fmla="*/ 289 h 289"/>
                <a:gd name="T82" fmla="*/ 90 w 180"/>
                <a:gd name="T83" fmla="*/ 289 h 289"/>
                <a:gd name="T84" fmla="*/ 90 w 180"/>
                <a:gd name="T85" fmla="*/ 287 h 28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80"/>
                <a:gd name="T130" fmla="*/ 0 h 289"/>
                <a:gd name="T131" fmla="*/ 180 w 180"/>
                <a:gd name="T132" fmla="*/ 289 h 28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80" h="289">
                  <a:moveTo>
                    <a:pt x="90" y="287"/>
                  </a:moveTo>
                  <a:lnTo>
                    <a:pt x="104" y="287"/>
                  </a:lnTo>
                  <a:lnTo>
                    <a:pt x="118" y="280"/>
                  </a:lnTo>
                  <a:lnTo>
                    <a:pt x="132" y="273"/>
                  </a:lnTo>
                  <a:lnTo>
                    <a:pt x="144" y="261"/>
                  </a:lnTo>
                  <a:lnTo>
                    <a:pt x="154" y="247"/>
                  </a:lnTo>
                  <a:lnTo>
                    <a:pt x="163" y="230"/>
                  </a:lnTo>
                  <a:lnTo>
                    <a:pt x="170" y="211"/>
                  </a:lnTo>
                  <a:lnTo>
                    <a:pt x="175" y="190"/>
                  </a:lnTo>
                  <a:lnTo>
                    <a:pt x="180" y="169"/>
                  </a:lnTo>
                  <a:lnTo>
                    <a:pt x="180" y="145"/>
                  </a:lnTo>
                  <a:lnTo>
                    <a:pt x="180" y="121"/>
                  </a:lnTo>
                  <a:lnTo>
                    <a:pt x="175" y="100"/>
                  </a:lnTo>
                  <a:lnTo>
                    <a:pt x="170" y="79"/>
                  </a:lnTo>
                  <a:lnTo>
                    <a:pt x="163" y="60"/>
                  </a:lnTo>
                  <a:lnTo>
                    <a:pt x="154" y="43"/>
                  </a:lnTo>
                  <a:lnTo>
                    <a:pt x="144" y="29"/>
                  </a:lnTo>
                  <a:lnTo>
                    <a:pt x="132" y="17"/>
                  </a:lnTo>
                  <a:lnTo>
                    <a:pt x="118" y="8"/>
                  </a:lnTo>
                  <a:lnTo>
                    <a:pt x="104" y="3"/>
                  </a:lnTo>
                  <a:lnTo>
                    <a:pt x="90" y="0"/>
                  </a:lnTo>
                  <a:lnTo>
                    <a:pt x="76" y="3"/>
                  </a:lnTo>
                  <a:lnTo>
                    <a:pt x="61" y="8"/>
                  </a:lnTo>
                  <a:lnTo>
                    <a:pt x="50" y="17"/>
                  </a:lnTo>
                  <a:lnTo>
                    <a:pt x="38" y="29"/>
                  </a:lnTo>
                  <a:lnTo>
                    <a:pt x="26" y="43"/>
                  </a:lnTo>
                  <a:lnTo>
                    <a:pt x="16" y="60"/>
                  </a:lnTo>
                  <a:lnTo>
                    <a:pt x="9" y="79"/>
                  </a:lnTo>
                  <a:lnTo>
                    <a:pt x="5" y="100"/>
                  </a:lnTo>
                  <a:lnTo>
                    <a:pt x="2" y="121"/>
                  </a:lnTo>
                  <a:lnTo>
                    <a:pt x="0" y="145"/>
                  </a:lnTo>
                  <a:lnTo>
                    <a:pt x="2" y="169"/>
                  </a:lnTo>
                  <a:lnTo>
                    <a:pt x="5" y="190"/>
                  </a:lnTo>
                  <a:lnTo>
                    <a:pt x="9" y="211"/>
                  </a:lnTo>
                  <a:lnTo>
                    <a:pt x="16" y="230"/>
                  </a:lnTo>
                  <a:lnTo>
                    <a:pt x="26" y="247"/>
                  </a:lnTo>
                  <a:lnTo>
                    <a:pt x="38" y="261"/>
                  </a:lnTo>
                  <a:lnTo>
                    <a:pt x="50" y="273"/>
                  </a:lnTo>
                  <a:lnTo>
                    <a:pt x="61" y="280"/>
                  </a:lnTo>
                  <a:lnTo>
                    <a:pt x="76" y="287"/>
                  </a:lnTo>
                  <a:lnTo>
                    <a:pt x="90" y="289"/>
                  </a:lnTo>
                  <a:lnTo>
                    <a:pt x="90" y="2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11" name="Freeform 527"/>
            <p:cNvSpPr>
              <a:spLocks noChangeArrowheads="1"/>
            </p:cNvSpPr>
            <p:nvPr/>
          </p:nvSpPr>
          <p:spPr bwMode="auto">
            <a:xfrm>
              <a:off x="3508" y="1152"/>
              <a:ext cx="180" cy="289"/>
            </a:xfrm>
            <a:custGeom>
              <a:avLst/>
              <a:gdLst>
                <a:gd name="T0" fmla="*/ 90 w 180"/>
                <a:gd name="T1" fmla="*/ 287 h 289"/>
                <a:gd name="T2" fmla="*/ 104 w 180"/>
                <a:gd name="T3" fmla="*/ 287 h 289"/>
                <a:gd name="T4" fmla="*/ 118 w 180"/>
                <a:gd name="T5" fmla="*/ 280 h 289"/>
                <a:gd name="T6" fmla="*/ 132 w 180"/>
                <a:gd name="T7" fmla="*/ 273 h 289"/>
                <a:gd name="T8" fmla="*/ 144 w 180"/>
                <a:gd name="T9" fmla="*/ 261 h 289"/>
                <a:gd name="T10" fmla="*/ 154 w 180"/>
                <a:gd name="T11" fmla="*/ 247 h 289"/>
                <a:gd name="T12" fmla="*/ 163 w 180"/>
                <a:gd name="T13" fmla="*/ 230 h 289"/>
                <a:gd name="T14" fmla="*/ 170 w 180"/>
                <a:gd name="T15" fmla="*/ 211 h 289"/>
                <a:gd name="T16" fmla="*/ 175 w 180"/>
                <a:gd name="T17" fmla="*/ 190 h 289"/>
                <a:gd name="T18" fmla="*/ 180 w 180"/>
                <a:gd name="T19" fmla="*/ 169 h 289"/>
                <a:gd name="T20" fmla="*/ 180 w 180"/>
                <a:gd name="T21" fmla="*/ 145 h 289"/>
                <a:gd name="T22" fmla="*/ 180 w 180"/>
                <a:gd name="T23" fmla="*/ 121 h 289"/>
                <a:gd name="T24" fmla="*/ 175 w 180"/>
                <a:gd name="T25" fmla="*/ 100 h 289"/>
                <a:gd name="T26" fmla="*/ 170 w 180"/>
                <a:gd name="T27" fmla="*/ 79 h 289"/>
                <a:gd name="T28" fmla="*/ 163 w 180"/>
                <a:gd name="T29" fmla="*/ 60 h 289"/>
                <a:gd name="T30" fmla="*/ 154 w 180"/>
                <a:gd name="T31" fmla="*/ 43 h 289"/>
                <a:gd name="T32" fmla="*/ 144 w 180"/>
                <a:gd name="T33" fmla="*/ 29 h 289"/>
                <a:gd name="T34" fmla="*/ 132 w 180"/>
                <a:gd name="T35" fmla="*/ 17 h 289"/>
                <a:gd name="T36" fmla="*/ 118 w 180"/>
                <a:gd name="T37" fmla="*/ 8 h 289"/>
                <a:gd name="T38" fmla="*/ 104 w 180"/>
                <a:gd name="T39" fmla="*/ 3 h 289"/>
                <a:gd name="T40" fmla="*/ 90 w 180"/>
                <a:gd name="T41" fmla="*/ 0 h 289"/>
                <a:gd name="T42" fmla="*/ 76 w 180"/>
                <a:gd name="T43" fmla="*/ 3 h 289"/>
                <a:gd name="T44" fmla="*/ 61 w 180"/>
                <a:gd name="T45" fmla="*/ 8 h 289"/>
                <a:gd name="T46" fmla="*/ 50 w 180"/>
                <a:gd name="T47" fmla="*/ 17 h 289"/>
                <a:gd name="T48" fmla="*/ 38 w 180"/>
                <a:gd name="T49" fmla="*/ 29 h 289"/>
                <a:gd name="T50" fmla="*/ 26 w 180"/>
                <a:gd name="T51" fmla="*/ 43 h 289"/>
                <a:gd name="T52" fmla="*/ 16 w 180"/>
                <a:gd name="T53" fmla="*/ 60 h 289"/>
                <a:gd name="T54" fmla="*/ 9 w 180"/>
                <a:gd name="T55" fmla="*/ 79 h 289"/>
                <a:gd name="T56" fmla="*/ 5 w 180"/>
                <a:gd name="T57" fmla="*/ 100 h 289"/>
                <a:gd name="T58" fmla="*/ 2 w 180"/>
                <a:gd name="T59" fmla="*/ 121 h 289"/>
                <a:gd name="T60" fmla="*/ 0 w 180"/>
                <a:gd name="T61" fmla="*/ 145 h 289"/>
                <a:gd name="T62" fmla="*/ 2 w 180"/>
                <a:gd name="T63" fmla="*/ 169 h 289"/>
                <a:gd name="T64" fmla="*/ 5 w 180"/>
                <a:gd name="T65" fmla="*/ 190 h 289"/>
                <a:gd name="T66" fmla="*/ 9 w 180"/>
                <a:gd name="T67" fmla="*/ 211 h 289"/>
                <a:gd name="T68" fmla="*/ 16 w 180"/>
                <a:gd name="T69" fmla="*/ 230 h 289"/>
                <a:gd name="T70" fmla="*/ 26 w 180"/>
                <a:gd name="T71" fmla="*/ 247 h 289"/>
                <a:gd name="T72" fmla="*/ 38 w 180"/>
                <a:gd name="T73" fmla="*/ 261 h 289"/>
                <a:gd name="T74" fmla="*/ 50 w 180"/>
                <a:gd name="T75" fmla="*/ 273 h 289"/>
                <a:gd name="T76" fmla="*/ 61 w 180"/>
                <a:gd name="T77" fmla="*/ 280 h 289"/>
                <a:gd name="T78" fmla="*/ 76 w 180"/>
                <a:gd name="T79" fmla="*/ 287 h 289"/>
                <a:gd name="T80" fmla="*/ 90 w 180"/>
                <a:gd name="T81" fmla="*/ 289 h 289"/>
                <a:gd name="T82" fmla="*/ 90 w 180"/>
                <a:gd name="T83" fmla="*/ 289 h 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80"/>
                <a:gd name="T127" fmla="*/ 0 h 289"/>
                <a:gd name="T128" fmla="*/ 180 w 180"/>
                <a:gd name="T129" fmla="*/ 289 h 28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80" h="289">
                  <a:moveTo>
                    <a:pt x="90" y="287"/>
                  </a:moveTo>
                  <a:lnTo>
                    <a:pt x="104" y="287"/>
                  </a:lnTo>
                  <a:lnTo>
                    <a:pt x="118" y="280"/>
                  </a:lnTo>
                  <a:lnTo>
                    <a:pt x="132" y="273"/>
                  </a:lnTo>
                  <a:lnTo>
                    <a:pt x="144" y="261"/>
                  </a:lnTo>
                  <a:lnTo>
                    <a:pt x="154" y="247"/>
                  </a:lnTo>
                  <a:lnTo>
                    <a:pt x="163" y="230"/>
                  </a:lnTo>
                  <a:lnTo>
                    <a:pt x="170" y="211"/>
                  </a:lnTo>
                  <a:lnTo>
                    <a:pt x="175" y="190"/>
                  </a:lnTo>
                  <a:lnTo>
                    <a:pt x="180" y="169"/>
                  </a:lnTo>
                  <a:lnTo>
                    <a:pt x="180" y="145"/>
                  </a:lnTo>
                  <a:lnTo>
                    <a:pt x="180" y="121"/>
                  </a:lnTo>
                  <a:lnTo>
                    <a:pt x="175" y="100"/>
                  </a:lnTo>
                  <a:lnTo>
                    <a:pt x="170" y="79"/>
                  </a:lnTo>
                  <a:lnTo>
                    <a:pt x="163" y="60"/>
                  </a:lnTo>
                  <a:lnTo>
                    <a:pt x="154" y="43"/>
                  </a:lnTo>
                  <a:lnTo>
                    <a:pt x="144" y="29"/>
                  </a:lnTo>
                  <a:lnTo>
                    <a:pt x="132" y="17"/>
                  </a:lnTo>
                  <a:lnTo>
                    <a:pt x="118" y="8"/>
                  </a:lnTo>
                  <a:lnTo>
                    <a:pt x="104" y="3"/>
                  </a:lnTo>
                  <a:lnTo>
                    <a:pt x="90" y="0"/>
                  </a:lnTo>
                  <a:lnTo>
                    <a:pt x="76" y="3"/>
                  </a:lnTo>
                  <a:lnTo>
                    <a:pt x="61" y="8"/>
                  </a:lnTo>
                  <a:lnTo>
                    <a:pt x="50" y="17"/>
                  </a:lnTo>
                  <a:lnTo>
                    <a:pt x="38" y="29"/>
                  </a:lnTo>
                  <a:lnTo>
                    <a:pt x="26" y="43"/>
                  </a:lnTo>
                  <a:lnTo>
                    <a:pt x="16" y="60"/>
                  </a:lnTo>
                  <a:lnTo>
                    <a:pt x="9" y="79"/>
                  </a:lnTo>
                  <a:lnTo>
                    <a:pt x="5" y="100"/>
                  </a:lnTo>
                  <a:lnTo>
                    <a:pt x="2" y="121"/>
                  </a:lnTo>
                  <a:lnTo>
                    <a:pt x="0" y="145"/>
                  </a:lnTo>
                  <a:lnTo>
                    <a:pt x="2" y="169"/>
                  </a:lnTo>
                  <a:lnTo>
                    <a:pt x="5" y="190"/>
                  </a:lnTo>
                  <a:lnTo>
                    <a:pt x="9" y="211"/>
                  </a:lnTo>
                  <a:lnTo>
                    <a:pt x="16" y="230"/>
                  </a:lnTo>
                  <a:lnTo>
                    <a:pt x="26" y="247"/>
                  </a:lnTo>
                  <a:lnTo>
                    <a:pt x="38" y="261"/>
                  </a:lnTo>
                  <a:lnTo>
                    <a:pt x="50" y="273"/>
                  </a:lnTo>
                  <a:lnTo>
                    <a:pt x="61" y="280"/>
                  </a:lnTo>
                  <a:lnTo>
                    <a:pt x="76" y="287"/>
                  </a:lnTo>
                  <a:lnTo>
                    <a:pt x="90" y="289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12" name="Rectangle 528"/>
            <p:cNvSpPr>
              <a:spLocks noChangeArrowheads="1"/>
            </p:cNvSpPr>
            <p:nvPr/>
          </p:nvSpPr>
          <p:spPr bwMode="auto">
            <a:xfrm>
              <a:off x="3619" y="3038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75913" name="Rectangle 529"/>
            <p:cNvSpPr>
              <a:spLocks noChangeArrowheads="1"/>
            </p:cNvSpPr>
            <p:nvPr/>
          </p:nvSpPr>
          <p:spPr bwMode="auto">
            <a:xfrm>
              <a:off x="3659" y="303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75914" name="Rectangle 530"/>
            <p:cNvSpPr>
              <a:spLocks noChangeArrowheads="1"/>
            </p:cNvSpPr>
            <p:nvPr/>
          </p:nvSpPr>
          <p:spPr bwMode="auto">
            <a:xfrm>
              <a:off x="3690" y="3038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5915" name="Rectangle 531"/>
            <p:cNvSpPr>
              <a:spLocks noChangeArrowheads="1"/>
            </p:cNvSpPr>
            <p:nvPr/>
          </p:nvSpPr>
          <p:spPr bwMode="auto">
            <a:xfrm>
              <a:off x="3733" y="3038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16" name="Rectangle 532"/>
            <p:cNvSpPr>
              <a:spLocks noChangeArrowheads="1"/>
            </p:cNvSpPr>
            <p:nvPr/>
          </p:nvSpPr>
          <p:spPr bwMode="auto">
            <a:xfrm>
              <a:off x="3581" y="310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75917" name="Rectangle 533"/>
            <p:cNvSpPr>
              <a:spLocks noChangeArrowheads="1"/>
            </p:cNvSpPr>
            <p:nvPr/>
          </p:nvSpPr>
          <p:spPr bwMode="auto">
            <a:xfrm>
              <a:off x="3610" y="31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5918" name="Rectangle 534"/>
            <p:cNvSpPr>
              <a:spLocks noChangeArrowheads="1"/>
            </p:cNvSpPr>
            <p:nvPr/>
          </p:nvSpPr>
          <p:spPr bwMode="auto">
            <a:xfrm>
              <a:off x="3643" y="31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5919" name="Rectangle 535"/>
            <p:cNvSpPr>
              <a:spLocks noChangeArrowheads="1"/>
            </p:cNvSpPr>
            <p:nvPr/>
          </p:nvSpPr>
          <p:spPr bwMode="auto">
            <a:xfrm>
              <a:off x="3676" y="310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5920" name="Rectangle 536"/>
            <p:cNvSpPr>
              <a:spLocks noChangeArrowheads="1"/>
            </p:cNvSpPr>
            <p:nvPr/>
          </p:nvSpPr>
          <p:spPr bwMode="auto">
            <a:xfrm>
              <a:off x="3690" y="310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5921" name="Rectangle 537"/>
            <p:cNvSpPr>
              <a:spLocks noChangeArrowheads="1"/>
            </p:cNvSpPr>
            <p:nvPr/>
          </p:nvSpPr>
          <p:spPr bwMode="auto">
            <a:xfrm>
              <a:off x="3711" y="31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5922" name="Rectangle 538"/>
            <p:cNvSpPr>
              <a:spLocks noChangeArrowheads="1"/>
            </p:cNvSpPr>
            <p:nvPr/>
          </p:nvSpPr>
          <p:spPr bwMode="auto">
            <a:xfrm>
              <a:off x="3742" y="3106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FFFFFF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FFFFFF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75923" name="Freeform 539"/>
            <p:cNvSpPr>
              <a:spLocks noChangeArrowheads="1"/>
            </p:cNvSpPr>
            <p:nvPr/>
          </p:nvSpPr>
          <p:spPr bwMode="auto">
            <a:xfrm>
              <a:off x="3532" y="3089"/>
              <a:ext cx="28" cy="31"/>
            </a:xfrm>
            <a:custGeom>
              <a:avLst/>
              <a:gdLst>
                <a:gd name="T0" fmla="*/ 0 w 28"/>
                <a:gd name="T1" fmla="*/ 0 h 31"/>
                <a:gd name="T2" fmla="*/ 0 w 28"/>
                <a:gd name="T3" fmla="*/ 31 h 31"/>
                <a:gd name="T4" fmla="*/ 28 w 28"/>
                <a:gd name="T5" fmla="*/ 17 h 31"/>
                <a:gd name="T6" fmla="*/ 0 w 28"/>
                <a:gd name="T7" fmla="*/ 3 h 31"/>
                <a:gd name="T8" fmla="*/ 0 w 28"/>
                <a:gd name="T9" fmla="*/ 3 h 31"/>
                <a:gd name="T10" fmla="*/ 0 w 28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"/>
                <a:gd name="T19" fmla="*/ 0 h 31"/>
                <a:gd name="T20" fmla="*/ 28 w 28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" h="31">
                  <a:moveTo>
                    <a:pt x="0" y="0"/>
                  </a:moveTo>
                  <a:lnTo>
                    <a:pt x="0" y="31"/>
                  </a:lnTo>
                  <a:lnTo>
                    <a:pt x="28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24" name="Line 540"/>
            <p:cNvSpPr>
              <a:spLocks noChangeShapeType="1"/>
            </p:cNvSpPr>
            <p:nvPr/>
          </p:nvSpPr>
          <p:spPr bwMode="auto">
            <a:xfrm>
              <a:off x="1436" y="2398"/>
              <a:ext cx="196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925" name="Freeform 541"/>
            <p:cNvSpPr>
              <a:spLocks noChangeArrowheads="1"/>
            </p:cNvSpPr>
            <p:nvPr/>
          </p:nvSpPr>
          <p:spPr bwMode="auto">
            <a:xfrm>
              <a:off x="1618" y="2386"/>
              <a:ext cx="31" cy="29"/>
            </a:xfrm>
            <a:custGeom>
              <a:avLst/>
              <a:gdLst>
                <a:gd name="T0" fmla="*/ 14 w 31"/>
                <a:gd name="T1" fmla="*/ 29 h 29"/>
                <a:gd name="T2" fmla="*/ 19 w 31"/>
                <a:gd name="T3" fmla="*/ 29 h 29"/>
                <a:gd name="T4" fmla="*/ 21 w 31"/>
                <a:gd name="T5" fmla="*/ 29 h 29"/>
                <a:gd name="T6" fmla="*/ 21 w 31"/>
                <a:gd name="T7" fmla="*/ 26 h 29"/>
                <a:gd name="T8" fmla="*/ 24 w 31"/>
                <a:gd name="T9" fmla="*/ 26 h 29"/>
                <a:gd name="T10" fmla="*/ 26 w 31"/>
                <a:gd name="T11" fmla="*/ 24 h 29"/>
                <a:gd name="T12" fmla="*/ 29 w 31"/>
                <a:gd name="T13" fmla="*/ 24 h 29"/>
                <a:gd name="T14" fmla="*/ 29 w 31"/>
                <a:gd name="T15" fmla="*/ 21 h 29"/>
                <a:gd name="T16" fmla="*/ 31 w 31"/>
                <a:gd name="T17" fmla="*/ 19 h 29"/>
                <a:gd name="T18" fmla="*/ 31 w 31"/>
                <a:gd name="T19" fmla="*/ 17 h 29"/>
                <a:gd name="T20" fmla="*/ 31 w 31"/>
                <a:gd name="T21" fmla="*/ 14 h 29"/>
                <a:gd name="T22" fmla="*/ 31 w 31"/>
                <a:gd name="T23" fmla="*/ 12 h 29"/>
                <a:gd name="T24" fmla="*/ 31 w 31"/>
                <a:gd name="T25" fmla="*/ 10 h 29"/>
                <a:gd name="T26" fmla="*/ 29 w 31"/>
                <a:gd name="T27" fmla="*/ 7 h 29"/>
                <a:gd name="T28" fmla="*/ 29 w 31"/>
                <a:gd name="T29" fmla="*/ 5 h 29"/>
                <a:gd name="T30" fmla="*/ 26 w 31"/>
                <a:gd name="T31" fmla="*/ 5 h 29"/>
                <a:gd name="T32" fmla="*/ 24 w 31"/>
                <a:gd name="T33" fmla="*/ 2 h 29"/>
                <a:gd name="T34" fmla="*/ 21 w 31"/>
                <a:gd name="T35" fmla="*/ 0 h 29"/>
                <a:gd name="T36" fmla="*/ 21 w 31"/>
                <a:gd name="T37" fmla="*/ 0 h 29"/>
                <a:gd name="T38" fmla="*/ 19 w 31"/>
                <a:gd name="T39" fmla="*/ 0 h 29"/>
                <a:gd name="T40" fmla="*/ 17 w 31"/>
                <a:gd name="T41" fmla="*/ 0 h 29"/>
                <a:gd name="T42" fmla="*/ 14 w 31"/>
                <a:gd name="T43" fmla="*/ 0 h 29"/>
                <a:gd name="T44" fmla="*/ 12 w 31"/>
                <a:gd name="T45" fmla="*/ 0 h 29"/>
                <a:gd name="T46" fmla="*/ 10 w 31"/>
                <a:gd name="T47" fmla="*/ 0 h 29"/>
                <a:gd name="T48" fmla="*/ 7 w 31"/>
                <a:gd name="T49" fmla="*/ 2 h 29"/>
                <a:gd name="T50" fmla="*/ 5 w 31"/>
                <a:gd name="T51" fmla="*/ 5 h 29"/>
                <a:gd name="T52" fmla="*/ 5 w 31"/>
                <a:gd name="T53" fmla="*/ 5 h 29"/>
                <a:gd name="T54" fmla="*/ 2 w 31"/>
                <a:gd name="T55" fmla="*/ 7 h 29"/>
                <a:gd name="T56" fmla="*/ 2 w 31"/>
                <a:gd name="T57" fmla="*/ 10 h 29"/>
                <a:gd name="T58" fmla="*/ 2 w 31"/>
                <a:gd name="T59" fmla="*/ 12 h 29"/>
                <a:gd name="T60" fmla="*/ 0 w 31"/>
                <a:gd name="T61" fmla="*/ 14 h 29"/>
                <a:gd name="T62" fmla="*/ 2 w 31"/>
                <a:gd name="T63" fmla="*/ 17 h 29"/>
                <a:gd name="T64" fmla="*/ 2 w 31"/>
                <a:gd name="T65" fmla="*/ 19 h 29"/>
                <a:gd name="T66" fmla="*/ 2 w 31"/>
                <a:gd name="T67" fmla="*/ 21 h 29"/>
                <a:gd name="T68" fmla="*/ 5 w 31"/>
                <a:gd name="T69" fmla="*/ 24 h 29"/>
                <a:gd name="T70" fmla="*/ 5 w 31"/>
                <a:gd name="T71" fmla="*/ 24 h 29"/>
                <a:gd name="T72" fmla="*/ 7 w 31"/>
                <a:gd name="T73" fmla="*/ 26 h 29"/>
                <a:gd name="T74" fmla="*/ 10 w 31"/>
                <a:gd name="T75" fmla="*/ 26 h 29"/>
                <a:gd name="T76" fmla="*/ 12 w 31"/>
                <a:gd name="T77" fmla="*/ 29 h 29"/>
                <a:gd name="T78" fmla="*/ 14 w 31"/>
                <a:gd name="T79" fmla="*/ 29 h 29"/>
                <a:gd name="T80" fmla="*/ 17 w 31"/>
                <a:gd name="T81" fmla="*/ 29 h 29"/>
                <a:gd name="T82" fmla="*/ 17 w 31"/>
                <a:gd name="T83" fmla="*/ 29 h 29"/>
                <a:gd name="T84" fmla="*/ 14 w 31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9"/>
                <a:gd name="T131" fmla="*/ 31 w 31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9">
                  <a:moveTo>
                    <a:pt x="14" y="29"/>
                  </a:moveTo>
                  <a:lnTo>
                    <a:pt x="19" y="29"/>
                  </a:lnTo>
                  <a:lnTo>
                    <a:pt x="21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1" y="10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10" y="26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7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26" name="Freeform 542"/>
            <p:cNvSpPr>
              <a:spLocks noChangeArrowheads="1"/>
            </p:cNvSpPr>
            <p:nvPr/>
          </p:nvSpPr>
          <p:spPr bwMode="auto">
            <a:xfrm>
              <a:off x="2096" y="2298"/>
              <a:ext cx="29" cy="29"/>
            </a:xfrm>
            <a:custGeom>
              <a:avLst/>
              <a:gdLst>
                <a:gd name="T0" fmla="*/ 12 w 29"/>
                <a:gd name="T1" fmla="*/ 29 h 29"/>
                <a:gd name="T2" fmla="*/ 17 w 29"/>
                <a:gd name="T3" fmla="*/ 29 h 29"/>
                <a:gd name="T4" fmla="*/ 19 w 29"/>
                <a:gd name="T5" fmla="*/ 29 h 29"/>
                <a:gd name="T6" fmla="*/ 22 w 29"/>
                <a:gd name="T7" fmla="*/ 27 h 29"/>
                <a:gd name="T8" fmla="*/ 22 w 29"/>
                <a:gd name="T9" fmla="*/ 27 h 29"/>
                <a:gd name="T10" fmla="*/ 24 w 29"/>
                <a:gd name="T11" fmla="*/ 24 h 29"/>
                <a:gd name="T12" fmla="*/ 26 w 29"/>
                <a:gd name="T13" fmla="*/ 22 h 29"/>
                <a:gd name="T14" fmla="*/ 26 w 29"/>
                <a:gd name="T15" fmla="*/ 22 h 29"/>
                <a:gd name="T16" fmla="*/ 29 w 29"/>
                <a:gd name="T17" fmla="*/ 19 h 29"/>
                <a:gd name="T18" fmla="*/ 29 w 29"/>
                <a:gd name="T19" fmla="*/ 17 h 29"/>
                <a:gd name="T20" fmla="*/ 29 w 29"/>
                <a:gd name="T21" fmla="*/ 15 h 29"/>
                <a:gd name="T22" fmla="*/ 29 w 29"/>
                <a:gd name="T23" fmla="*/ 12 h 29"/>
                <a:gd name="T24" fmla="*/ 29 w 29"/>
                <a:gd name="T25" fmla="*/ 10 h 29"/>
                <a:gd name="T26" fmla="*/ 26 w 29"/>
                <a:gd name="T27" fmla="*/ 8 h 29"/>
                <a:gd name="T28" fmla="*/ 26 w 29"/>
                <a:gd name="T29" fmla="*/ 5 h 29"/>
                <a:gd name="T30" fmla="*/ 24 w 29"/>
                <a:gd name="T31" fmla="*/ 3 h 29"/>
                <a:gd name="T32" fmla="*/ 22 w 29"/>
                <a:gd name="T33" fmla="*/ 3 h 29"/>
                <a:gd name="T34" fmla="*/ 22 w 29"/>
                <a:gd name="T35" fmla="*/ 0 h 29"/>
                <a:gd name="T36" fmla="*/ 19 w 29"/>
                <a:gd name="T37" fmla="*/ 0 h 29"/>
                <a:gd name="T38" fmla="*/ 17 w 29"/>
                <a:gd name="T39" fmla="*/ 0 h 29"/>
                <a:gd name="T40" fmla="*/ 15 w 29"/>
                <a:gd name="T41" fmla="*/ 0 h 29"/>
                <a:gd name="T42" fmla="*/ 12 w 29"/>
                <a:gd name="T43" fmla="*/ 0 h 29"/>
                <a:gd name="T44" fmla="*/ 10 w 29"/>
                <a:gd name="T45" fmla="*/ 0 h 29"/>
                <a:gd name="T46" fmla="*/ 8 w 29"/>
                <a:gd name="T47" fmla="*/ 0 h 29"/>
                <a:gd name="T48" fmla="*/ 5 w 29"/>
                <a:gd name="T49" fmla="*/ 3 h 29"/>
                <a:gd name="T50" fmla="*/ 3 w 29"/>
                <a:gd name="T51" fmla="*/ 3 h 29"/>
                <a:gd name="T52" fmla="*/ 3 w 29"/>
                <a:gd name="T53" fmla="*/ 5 h 29"/>
                <a:gd name="T54" fmla="*/ 0 w 29"/>
                <a:gd name="T55" fmla="*/ 8 h 29"/>
                <a:gd name="T56" fmla="*/ 0 w 29"/>
                <a:gd name="T57" fmla="*/ 10 h 29"/>
                <a:gd name="T58" fmla="*/ 0 w 29"/>
                <a:gd name="T59" fmla="*/ 12 h 29"/>
                <a:gd name="T60" fmla="*/ 0 w 29"/>
                <a:gd name="T61" fmla="*/ 15 h 29"/>
                <a:gd name="T62" fmla="*/ 0 w 29"/>
                <a:gd name="T63" fmla="*/ 17 h 29"/>
                <a:gd name="T64" fmla="*/ 0 w 29"/>
                <a:gd name="T65" fmla="*/ 19 h 29"/>
                <a:gd name="T66" fmla="*/ 0 w 29"/>
                <a:gd name="T67" fmla="*/ 22 h 29"/>
                <a:gd name="T68" fmla="*/ 3 w 29"/>
                <a:gd name="T69" fmla="*/ 22 h 29"/>
                <a:gd name="T70" fmla="*/ 3 w 29"/>
                <a:gd name="T71" fmla="*/ 24 h 29"/>
                <a:gd name="T72" fmla="*/ 5 w 29"/>
                <a:gd name="T73" fmla="*/ 27 h 29"/>
                <a:gd name="T74" fmla="*/ 8 w 29"/>
                <a:gd name="T75" fmla="*/ 27 h 29"/>
                <a:gd name="T76" fmla="*/ 10 w 29"/>
                <a:gd name="T77" fmla="*/ 29 h 29"/>
                <a:gd name="T78" fmla="*/ 12 w 29"/>
                <a:gd name="T79" fmla="*/ 29 h 29"/>
                <a:gd name="T80" fmla="*/ 15 w 29"/>
                <a:gd name="T81" fmla="*/ 29 h 29"/>
                <a:gd name="T82" fmla="*/ 15 w 29"/>
                <a:gd name="T83" fmla="*/ 29 h 29"/>
                <a:gd name="T84" fmla="*/ 12 w 29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29"/>
                <a:gd name="T131" fmla="*/ 29 w 29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29">
                  <a:moveTo>
                    <a:pt x="12" y="29"/>
                  </a:moveTo>
                  <a:lnTo>
                    <a:pt x="17" y="29"/>
                  </a:lnTo>
                  <a:lnTo>
                    <a:pt x="19" y="29"/>
                  </a:lnTo>
                  <a:lnTo>
                    <a:pt x="22" y="27"/>
                  </a:lnTo>
                  <a:lnTo>
                    <a:pt x="24" y="24"/>
                  </a:lnTo>
                  <a:lnTo>
                    <a:pt x="26" y="22"/>
                  </a:lnTo>
                  <a:lnTo>
                    <a:pt x="29" y="19"/>
                  </a:lnTo>
                  <a:lnTo>
                    <a:pt x="29" y="17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10"/>
                  </a:lnTo>
                  <a:lnTo>
                    <a:pt x="26" y="8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3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3" y="5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3" y="22"/>
                  </a:lnTo>
                  <a:lnTo>
                    <a:pt x="3" y="24"/>
                  </a:lnTo>
                  <a:lnTo>
                    <a:pt x="5" y="27"/>
                  </a:lnTo>
                  <a:lnTo>
                    <a:pt x="8" y="27"/>
                  </a:lnTo>
                  <a:lnTo>
                    <a:pt x="10" y="29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2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27" name="Freeform 543"/>
            <p:cNvSpPr>
              <a:spLocks noChangeArrowheads="1"/>
            </p:cNvSpPr>
            <p:nvPr/>
          </p:nvSpPr>
          <p:spPr bwMode="auto">
            <a:xfrm>
              <a:off x="1618" y="2123"/>
              <a:ext cx="31" cy="29"/>
            </a:xfrm>
            <a:custGeom>
              <a:avLst/>
              <a:gdLst>
                <a:gd name="T0" fmla="*/ 14 w 31"/>
                <a:gd name="T1" fmla="*/ 29 h 29"/>
                <a:gd name="T2" fmla="*/ 19 w 31"/>
                <a:gd name="T3" fmla="*/ 29 h 29"/>
                <a:gd name="T4" fmla="*/ 21 w 31"/>
                <a:gd name="T5" fmla="*/ 29 h 29"/>
                <a:gd name="T6" fmla="*/ 21 w 31"/>
                <a:gd name="T7" fmla="*/ 26 h 29"/>
                <a:gd name="T8" fmla="*/ 24 w 31"/>
                <a:gd name="T9" fmla="*/ 26 h 29"/>
                <a:gd name="T10" fmla="*/ 26 w 31"/>
                <a:gd name="T11" fmla="*/ 24 h 29"/>
                <a:gd name="T12" fmla="*/ 29 w 31"/>
                <a:gd name="T13" fmla="*/ 24 h 29"/>
                <a:gd name="T14" fmla="*/ 29 w 31"/>
                <a:gd name="T15" fmla="*/ 22 h 29"/>
                <a:gd name="T16" fmla="*/ 31 w 31"/>
                <a:gd name="T17" fmla="*/ 19 h 29"/>
                <a:gd name="T18" fmla="*/ 31 w 31"/>
                <a:gd name="T19" fmla="*/ 17 h 29"/>
                <a:gd name="T20" fmla="*/ 31 w 31"/>
                <a:gd name="T21" fmla="*/ 14 h 29"/>
                <a:gd name="T22" fmla="*/ 31 w 31"/>
                <a:gd name="T23" fmla="*/ 12 h 29"/>
                <a:gd name="T24" fmla="*/ 31 w 31"/>
                <a:gd name="T25" fmla="*/ 10 h 29"/>
                <a:gd name="T26" fmla="*/ 29 w 31"/>
                <a:gd name="T27" fmla="*/ 7 h 29"/>
                <a:gd name="T28" fmla="*/ 29 w 31"/>
                <a:gd name="T29" fmla="*/ 5 h 29"/>
                <a:gd name="T30" fmla="*/ 26 w 31"/>
                <a:gd name="T31" fmla="*/ 5 h 29"/>
                <a:gd name="T32" fmla="*/ 24 w 31"/>
                <a:gd name="T33" fmla="*/ 3 h 29"/>
                <a:gd name="T34" fmla="*/ 21 w 31"/>
                <a:gd name="T35" fmla="*/ 0 h 29"/>
                <a:gd name="T36" fmla="*/ 21 w 31"/>
                <a:gd name="T37" fmla="*/ 0 h 29"/>
                <a:gd name="T38" fmla="*/ 19 w 31"/>
                <a:gd name="T39" fmla="*/ 0 h 29"/>
                <a:gd name="T40" fmla="*/ 17 w 31"/>
                <a:gd name="T41" fmla="*/ 0 h 29"/>
                <a:gd name="T42" fmla="*/ 14 w 31"/>
                <a:gd name="T43" fmla="*/ 0 h 29"/>
                <a:gd name="T44" fmla="*/ 12 w 31"/>
                <a:gd name="T45" fmla="*/ 0 h 29"/>
                <a:gd name="T46" fmla="*/ 10 w 31"/>
                <a:gd name="T47" fmla="*/ 0 h 29"/>
                <a:gd name="T48" fmla="*/ 7 w 31"/>
                <a:gd name="T49" fmla="*/ 3 h 29"/>
                <a:gd name="T50" fmla="*/ 5 w 31"/>
                <a:gd name="T51" fmla="*/ 5 h 29"/>
                <a:gd name="T52" fmla="*/ 5 w 31"/>
                <a:gd name="T53" fmla="*/ 5 h 29"/>
                <a:gd name="T54" fmla="*/ 2 w 31"/>
                <a:gd name="T55" fmla="*/ 7 h 29"/>
                <a:gd name="T56" fmla="*/ 2 w 31"/>
                <a:gd name="T57" fmla="*/ 10 h 29"/>
                <a:gd name="T58" fmla="*/ 2 w 31"/>
                <a:gd name="T59" fmla="*/ 12 h 29"/>
                <a:gd name="T60" fmla="*/ 0 w 31"/>
                <a:gd name="T61" fmla="*/ 14 h 29"/>
                <a:gd name="T62" fmla="*/ 2 w 31"/>
                <a:gd name="T63" fmla="*/ 17 h 29"/>
                <a:gd name="T64" fmla="*/ 2 w 31"/>
                <a:gd name="T65" fmla="*/ 19 h 29"/>
                <a:gd name="T66" fmla="*/ 2 w 31"/>
                <a:gd name="T67" fmla="*/ 22 h 29"/>
                <a:gd name="T68" fmla="*/ 5 w 31"/>
                <a:gd name="T69" fmla="*/ 24 h 29"/>
                <a:gd name="T70" fmla="*/ 5 w 31"/>
                <a:gd name="T71" fmla="*/ 24 h 29"/>
                <a:gd name="T72" fmla="*/ 7 w 31"/>
                <a:gd name="T73" fmla="*/ 26 h 29"/>
                <a:gd name="T74" fmla="*/ 10 w 31"/>
                <a:gd name="T75" fmla="*/ 26 h 29"/>
                <a:gd name="T76" fmla="*/ 12 w 31"/>
                <a:gd name="T77" fmla="*/ 29 h 29"/>
                <a:gd name="T78" fmla="*/ 14 w 31"/>
                <a:gd name="T79" fmla="*/ 29 h 29"/>
                <a:gd name="T80" fmla="*/ 17 w 31"/>
                <a:gd name="T81" fmla="*/ 29 h 29"/>
                <a:gd name="T82" fmla="*/ 17 w 31"/>
                <a:gd name="T83" fmla="*/ 29 h 29"/>
                <a:gd name="T84" fmla="*/ 14 w 31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9"/>
                <a:gd name="T131" fmla="*/ 31 w 31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9">
                  <a:moveTo>
                    <a:pt x="14" y="29"/>
                  </a:moveTo>
                  <a:lnTo>
                    <a:pt x="19" y="29"/>
                  </a:lnTo>
                  <a:lnTo>
                    <a:pt x="21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1" y="10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10" y="26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7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28" name="Freeform 544"/>
            <p:cNvSpPr>
              <a:spLocks noChangeArrowheads="1"/>
            </p:cNvSpPr>
            <p:nvPr/>
          </p:nvSpPr>
          <p:spPr bwMode="auto">
            <a:xfrm>
              <a:off x="1618" y="2298"/>
              <a:ext cx="31" cy="29"/>
            </a:xfrm>
            <a:custGeom>
              <a:avLst/>
              <a:gdLst>
                <a:gd name="T0" fmla="*/ 14 w 31"/>
                <a:gd name="T1" fmla="*/ 29 h 29"/>
                <a:gd name="T2" fmla="*/ 19 w 31"/>
                <a:gd name="T3" fmla="*/ 29 h 29"/>
                <a:gd name="T4" fmla="*/ 21 w 31"/>
                <a:gd name="T5" fmla="*/ 29 h 29"/>
                <a:gd name="T6" fmla="*/ 21 w 31"/>
                <a:gd name="T7" fmla="*/ 27 h 29"/>
                <a:gd name="T8" fmla="*/ 24 w 31"/>
                <a:gd name="T9" fmla="*/ 27 h 29"/>
                <a:gd name="T10" fmla="*/ 26 w 31"/>
                <a:gd name="T11" fmla="*/ 24 h 29"/>
                <a:gd name="T12" fmla="*/ 29 w 31"/>
                <a:gd name="T13" fmla="*/ 24 h 29"/>
                <a:gd name="T14" fmla="*/ 29 w 31"/>
                <a:gd name="T15" fmla="*/ 22 h 29"/>
                <a:gd name="T16" fmla="*/ 31 w 31"/>
                <a:gd name="T17" fmla="*/ 19 h 29"/>
                <a:gd name="T18" fmla="*/ 31 w 31"/>
                <a:gd name="T19" fmla="*/ 17 h 29"/>
                <a:gd name="T20" fmla="*/ 31 w 31"/>
                <a:gd name="T21" fmla="*/ 15 h 29"/>
                <a:gd name="T22" fmla="*/ 31 w 31"/>
                <a:gd name="T23" fmla="*/ 12 h 29"/>
                <a:gd name="T24" fmla="*/ 31 w 31"/>
                <a:gd name="T25" fmla="*/ 10 h 29"/>
                <a:gd name="T26" fmla="*/ 29 w 31"/>
                <a:gd name="T27" fmla="*/ 8 h 29"/>
                <a:gd name="T28" fmla="*/ 29 w 31"/>
                <a:gd name="T29" fmla="*/ 5 h 29"/>
                <a:gd name="T30" fmla="*/ 26 w 31"/>
                <a:gd name="T31" fmla="*/ 5 h 29"/>
                <a:gd name="T32" fmla="*/ 24 w 31"/>
                <a:gd name="T33" fmla="*/ 3 h 29"/>
                <a:gd name="T34" fmla="*/ 21 w 31"/>
                <a:gd name="T35" fmla="*/ 0 h 29"/>
                <a:gd name="T36" fmla="*/ 21 w 31"/>
                <a:gd name="T37" fmla="*/ 0 h 29"/>
                <a:gd name="T38" fmla="*/ 19 w 31"/>
                <a:gd name="T39" fmla="*/ 0 h 29"/>
                <a:gd name="T40" fmla="*/ 17 w 31"/>
                <a:gd name="T41" fmla="*/ 0 h 29"/>
                <a:gd name="T42" fmla="*/ 14 w 31"/>
                <a:gd name="T43" fmla="*/ 0 h 29"/>
                <a:gd name="T44" fmla="*/ 12 w 31"/>
                <a:gd name="T45" fmla="*/ 0 h 29"/>
                <a:gd name="T46" fmla="*/ 10 w 31"/>
                <a:gd name="T47" fmla="*/ 0 h 29"/>
                <a:gd name="T48" fmla="*/ 7 w 31"/>
                <a:gd name="T49" fmla="*/ 3 h 29"/>
                <a:gd name="T50" fmla="*/ 5 w 31"/>
                <a:gd name="T51" fmla="*/ 5 h 29"/>
                <a:gd name="T52" fmla="*/ 5 w 31"/>
                <a:gd name="T53" fmla="*/ 5 h 29"/>
                <a:gd name="T54" fmla="*/ 2 w 31"/>
                <a:gd name="T55" fmla="*/ 8 h 29"/>
                <a:gd name="T56" fmla="*/ 2 w 31"/>
                <a:gd name="T57" fmla="*/ 10 h 29"/>
                <a:gd name="T58" fmla="*/ 2 w 31"/>
                <a:gd name="T59" fmla="*/ 12 h 29"/>
                <a:gd name="T60" fmla="*/ 0 w 31"/>
                <a:gd name="T61" fmla="*/ 15 h 29"/>
                <a:gd name="T62" fmla="*/ 2 w 31"/>
                <a:gd name="T63" fmla="*/ 17 h 29"/>
                <a:gd name="T64" fmla="*/ 2 w 31"/>
                <a:gd name="T65" fmla="*/ 19 h 29"/>
                <a:gd name="T66" fmla="*/ 2 w 31"/>
                <a:gd name="T67" fmla="*/ 22 h 29"/>
                <a:gd name="T68" fmla="*/ 5 w 31"/>
                <a:gd name="T69" fmla="*/ 24 h 29"/>
                <a:gd name="T70" fmla="*/ 5 w 31"/>
                <a:gd name="T71" fmla="*/ 24 h 29"/>
                <a:gd name="T72" fmla="*/ 7 w 31"/>
                <a:gd name="T73" fmla="*/ 27 h 29"/>
                <a:gd name="T74" fmla="*/ 10 w 31"/>
                <a:gd name="T75" fmla="*/ 27 h 29"/>
                <a:gd name="T76" fmla="*/ 12 w 31"/>
                <a:gd name="T77" fmla="*/ 29 h 29"/>
                <a:gd name="T78" fmla="*/ 14 w 31"/>
                <a:gd name="T79" fmla="*/ 29 h 29"/>
                <a:gd name="T80" fmla="*/ 17 w 31"/>
                <a:gd name="T81" fmla="*/ 29 h 29"/>
                <a:gd name="T82" fmla="*/ 17 w 31"/>
                <a:gd name="T83" fmla="*/ 29 h 29"/>
                <a:gd name="T84" fmla="*/ 14 w 31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9"/>
                <a:gd name="T131" fmla="*/ 31 w 31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9">
                  <a:moveTo>
                    <a:pt x="14" y="29"/>
                  </a:moveTo>
                  <a:lnTo>
                    <a:pt x="19" y="29"/>
                  </a:lnTo>
                  <a:lnTo>
                    <a:pt x="21" y="29"/>
                  </a:lnTo>
                  <a:lnTo>
                    <a:pt x="21" y="27"/>
                  </a:lnTo>
                  <a:lnTo>
                    <a:pt x="24" y="27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31" y="12"/>
                  </a:lnTo>
                  <a:lnTo>
                    <a:pt x="31" y="10"/>
                  </a:lnTo>
                  <a:lnTo>
                    <a:pt x="29" y="8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5" y="24"/>
                  </a:lnTo>
                  <a:lnTo>
                    <a:pt x="7" y="27"/>
                  </a:lnTo>
                  <a:lnTo>
                    <a:pt x="10" y="27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7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29" name="Freeform 545"/>
            <p:cNvSpPr>
              <a:spLocks noChangeArrowheads="1"/>
            </p:cNvSpPr>
            <p:nvPr/>
          </p:nvSpPr>
          <p:spPr bwMode="auto">
            <a:xfrm>
              <a:off x="3257" y="2431"/>
              <a:ext cx="31" cy="28"/>
            </a:xfrm>
            <a:custGeom>
              <a:avLst/>
              <a:gdLst>
                <a:gd name="T0" fmla="*/ 14 w 31"/>
                <a:gd name="T1" fmla="*/ 26 h 28"/>
                <a:gd name="T2" fmla="*/ 19 w 31"/>
                <a:gd name="T3" fmla="*/ 28 h 28"/>
                <a:gd name="T4" fmla="*/ 19 w 31"/>
                <a:gd name="T5" fmla="*/ 28 h 28"/>
                <a:gd name="T6" fmla="*/ 21 w 31"/>
                <a:gd name="T7" fmla="*/ 26 h 28"/>
                <a:gd name="T8" fmla="*/ 24 w 31"/>
                <a:gd name="T9" fmla="*/ 26 h 28"/>
                <a:gd name="T10" fmla="*/ 26 w 31"/>
                <a:gd name="T11" fmla="*/ 24 h 28"/>
                <a:gd name="T12" fmla="*/ 26 w 31"/>
                <a:gd name="T13" fmla="*/ 21 h 28"/>
                <a:gd name="T14" fmla="*/ 28 w 31"/>
                <a:gd name="T15" fmla="*/ 21 h 28"/>
                <a:gd name="T16" fmla="*/ 28 w 31"/>
                <a:gd name="T17" fmla="*/ 19 h 28"/>
                <a:gd name="T18" fmla="*/ 31 w 31"/>
                <a:gd name="T19" fmla="*/ 17 h 28"/>
                <a:gd name="T20" fmla="*/ 31 w 31"/>
                <a:gd name="T21" fmla="*/ 14 h 28"/>
                <a:gd name="T22" fmla="*/ 31 w 31"/>
                <a:gd name="T23" fmla="*/ 12 h 28"/>
                <a:gd name="T24" fmla="*/ 28 w 31"/>
                <a:gd name="T25" fmla="*/ 10 h 28"/>
                <a:gd name="T26" fmla="*/ 28 w 31"/>
                <a:gd name="T27" fmla="*/ 7 h 28"/>
                <a:gd name="T28" fmla="*/ 26 w 31"/>
                <a:gd name="T29" fmla="*/ 5 h 28"/>
                <a:gd name="T30" fmla="*/ 26 w 31"/>
                <a:gd name="T31" fmla="*/ 2 h 28"/>
                <a:gd name="T32" fmla="*/ 24 w 31"/>
                <a:gd name="T33" fmla="*/ 2 h 28"/>
                <a:gd name="T34" fmla="*/ 21 w 31"/>
                <a:gd name="T35" fmla="*/ 0 h 28"/>
                <a:gd name="T36" fmla="*/ 19 w 31"/>
                <a:gd name="T37" fmla="*/ 0 h 28"/>
                <a:gd name="T38" fmla="*/ 19 w 31"/>
                <a:gd name="T39" fmla="*/ 0 h 28"/>
                <a:gd name="T40" fmla="*/ 16 w 31"/>
                <a:gd name="T41" fmla="*/ 0 h 28"/>
                <a:gd name="T42" fmla="*/ 14 w 31"/>
                <a:gd name="T43" fmla="*/ 0 h 28"/>
                <a:gd name="T44" fmla="*/ 12 w 31"/>
                <a:gd name="T45" fmla="*/ 0 h 28"/>
                <a:gd name="T46" fmla="*/ 9 w 31"/>
                <a:gd name="T47" fmla="*/ 0 h 28"/>
                <a:gd name="T48" fmla="*/ 7 w 31"/>
                <a:gd name="T49" fmla="*/ 2 h 28"/>
                <a:gd name="T50" fmla="*/ 5 w 31"/>
                <a:gd name="T51" fmla="*/ 2 h 28"/>
                <a:gd name="T52" fmla="*/ 5 w 31"/>
                <a:gd name="T53" fmla="*/ 5 h 28"/>
                <a:gd name="T54" fmla="*/ 2 w 31"/>
                <a:gd name="T55" fmla="*/ 7 h 28"/>
                <a:gd name="T56" fmla="*/ 2 w 31"/>
                <a:gd name="T57" fmla="*/ 10 h 28"/>
                <a:gd name="T58" fmla="*/ 0 w 31"/>
                <a:gd name="T59" fmla="*/ 12 h 28"/>
                <a:gd name="T60" fmla="*/ 0 w 31"/>
                <a:gd name="T61" fmla="*/ 14 h 28"/>
                <a:gd name="T62" fmla="*/ 0 w 31"/>
                <a:gd name="T63" fmla="*/ 17 h 28"/>
                <a:gd name="T64" fmla="*/ 2 w 31"/>
                <a:gd name="T65" fmla="*/ 19 h 28"/>
                <a:gd name="T66" fmla="*/ 2 w 31"/>
                <a:gd name="T67" fmla="*/ 21 h 28"/>
                <a:gd name="T68" fmla="*/ 5 w 31"/>
                <a:gd name="T69" fmla="*/ 21 h 28"/>
                <a:gd name="T70" fmla="*/ 5 w 31"/>
                <a:gd name="T71" fmla="*/ 24 h 28"/>
                <a:gd name="T72" fmla="*/ 7 w 31"/>
                <a:gd name="T73" fmla="*/ 26 h 28"/>
                <a:gd name="T74" fmla="*/ 9 w 31"/>
                <a:gd name="T75" fmla="*/ 26 h 28"/>
                <a:gd name="T76" fmla="*/ 12 w 31"/>
                <a:gd name="T77" fmla="*/ 28 h 28"/>
                <a:gd name="T78" fmla="*/ 14 w 31"/>
                <a:gd name="T79" fmla="*/ 28 h 28"/>
                <a:gd name="T80" fmla="*/ 16 w 31"/>
                <a:gd name="T81" fmla="*/ 28 h 28"/>
                <a:gd name="T82" fmla="*/ 16 w 31"/>
                <a:gd name="T83" fmla="*/ 28 h 28"/>
                <a:gd name="T84" fmla="*/ 14 w 31"/>
                <a:gd name="T85" fmla="*/ 26 h 2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8"/>
                <a:gd name="T131" fmla="*/ 31 w 31"/>
                <a:gd name="T132" fmla="*/ 28 h 2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8">
                  <a:moveTo>
                    <a:pt x="14" y="26"/>
                  </a:moveTo>
                  <a:lnTo>
                    <a:pt x="19" y="28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5" y="21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9" y="26"/>
                  </a:lnTo>
                  <a:lnTo>
                    <a:pt x="12" y="28"/>
                  </a:lnTo>
                  <a:lnTo>
                    <a:pt x="14" y="28"/>
                  </a:lnTo>
                  <a:lnTo>
                    <a:pt x="16" y="28"/>
                  </a:lnTo>
                  <a:lnTo>
                    <a:pt x="14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30" name="Rectangle 546"/>
            <p:cNvSpPr>
              <a:spLocks noChangeArrowheads="1"/>
            </p:cNvSpPr>
            <p:nvPr/>
          </p:nvSpPr>
          <p:spPr bwMode="auto">
            <a:xfrm>
              <a:off x="3536" y="1229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5931" name="Rectangle 547"/>
            <p:cNvSpPr>
              <a:spLocks noChangeArrowheads="1"/>
            </p:cNvSpPr>
            <p:nvPr/>
          </p:nvSpPr>
          <p:spPr bwMode="auto">
            <a:xfrm>
              <a:off x="3574" y="122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h</a:t>
              </a:r>
            </a:p>
          </p:txBody>
        </p:sp>
        <p:sp>
          <p:nvSpPr>
            <p:cNvPr id="75932" name="Rectangle 548"/>
            <p:cNvSpPr>
              <a:spLocks noChangeArrowheads="1"/>
            </p:cNvSpPr>
            <p:nvPr/>
          </p:nvSpPr>
          <p:spPr bwMode="auto">
            <a:xfrm>
              <a:off x="3607" y="1229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5933" name="Rectangle 549"/>
            <p:cNvSpPr>
              <a:spLocks noChangeArrowheads="1"/>
            </p:cNvSpPr>
            <p:nvPr/>
          </p:nvSpPr>
          <p:spPr bwMode="auto">
            <a:xfrm>
              <a:off x="3622" y="122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75934" name="Rectangle 550"/>
            <p:cNvSpPr>
              <a:spLocks noChangeArrowheads="1"/>
            </p:cNvSpPr>
            <p:nvPr/>
          </p:nvSpPr>
          <p:spPr bwMode="auto">
            <a:xfrm>
              <a:off x="3638" y="122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5935" name="Rectangle 551"/>
            <p:cNvSpPr>
              <a:spLocks noChangeArrowheads="1"/>
            </p:cNvSpPr>
            <p:nvPr/>
          </p:nvSpPr>
          <p:spPr bwMode="auto">
            <a:xfrm>
              <a:off x="3652" y="122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36" name="Rectangle 552"/>
            <p:cNvSpPr>
              <a:spLocks noChangeArrowheads="1"/>
            </p:cNvSpPr>
            <p:nvPr/>
          </p:nvSpPr>
          <p:spPr bwMode="auto">
            <a:xfrm>
              <a:off x="3527" y="1297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75937" name="Rectangle 553"/>
            <p:cNvSpPr>
              <a:spLocks noChangeArrowheads="1"/>
            </p:cNvSpPr>
            <p:nvPr/>
          </p:nvSpPr>
          <p:spPr bwMode="auto">
            <a:xfrm>
              <a:off x="3541" y="129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5938" name="Rectangle 554"/>
            <p:cNvSpPr>
              <a:spLocks noChangeArrowheads="1"/>
            </p:cNvSpPr>
            <p:nvPr/>
          </p:nvSpPr>
          <p:spPr bwMode="auto">
            <a:xfrm>
              <a:off x="3574" y="129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75939" name="Rectangle 555"/>
            <p:cNvSpPr>
              <a:spLocks noChangeArrowheads="1"/>
            </p:cNvSpPr>
            <p:nvPr/>
          </p:nvSpPr>
          <p:spPr bwMode="auto">
            <a:xfrm>
              <a:off x="3588" y="129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5940" name="Rectangle 556"/>
            <p:cNvSpPr>
              <a:spLocks noChangeArrowheads="1"/>
            </p:cNvSpPr>
            <p:nvPr/>
          </p:nvSpPr>
          <p:spPr bwMode="auto">
            <a:xfrm>
              <a:off x="3605" y="129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75941" name="Rectangle 557"/>
            <p:cNvSpPr>
              <a:spLocks noChangeArrowheads="1"/>
            </p:cNvSpPr>
            <p:nvPr/>
          </p:nvSpPr>
          <p:spPr bwMode="auto">
            <a:xfrm>
              <a:off x="3622" y="129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75942" name="Freeform 558"/>
            <p:cNvSpPr>
              <a:spLocks noChangeArrowheads="1"/>
            </p:cNvSpPr>
            <p:nvPr/>
          </p:nvSpPr>
          <p:spPr bwMode="auto">
            <a:xfrm>
              <a:off x="2447" y="3004"/>
              <a:ext cx="28" cy="29"/>
            </a:xfrm>
            <a:custGeom>
              <a:avLst/>
              <a:gdLst>
                <a:gd name="T0" fmla="*/ 14 w 28"/>
                <a:gd name="T1" fmla="*/ 29 h 29"/>
                <a:gd name="T2" fmla="*/ 17 w 28"/>
                <a:gd name="T3" fmla="*/ 29 h 29"/>
                <a:gd name="T4" fmla="*/ 19 w 28"/>
                <a:gd name="T5" fmla="*/ 29 h 29"/>
                <a:gd name="T6" fmla="*/ 21 w 28"/>
                <a:gd name="T7" fmla="*/ 29 h 29"/>
                <a:gd name="T8" fmla="*/ 24 w 28"/>
                <a:gd name="T9" fmla="*/ 26 h 29"/>
                <a:gd name="T10" fmla="*/ 26 w 28"/>
                <a:gd name="T11" fmla="*/ 24 h 29"/>
                <a:gd name="T12" fmla="*/ 26 w 28"/>
                <a:gd name="T13" fmla="*/ 24 h 29"/>
                <a:gd name="T14" fmla="*/ 28 w 28"/>
                <a:gd name="T15" fmla="*/ 21 h 29"/>
                <a:gd name="T16" fmla="*/ 28 w 28"/>
                <a:gd name="T17" fmla="*/ 19 h 29"/>
                <a:gd name="T18" fmla="*/ 28 w 28"/>
                <a:gd name="T19" fmla="*/ 17 h 29"/>
                <a:gd name="T20" fmla="*/ 28 w 28"/>
                <a:gd name="T21" fmla="*/ 14 h 29"/>
                <a:gd name="T22" fmla="*/ 28 w 28"/>
                <a:gd name="T23" fmla="*/ 12 h 29"/>
                <a:gd name="T24" fmla="*/ 28 w 28"/>
                <a:gd name="T25" fmla="*/ 10 h 29"/>
                <a:gd name="T26" fmla="*/ 28 w 28"/>
                <a:gd name="T27" fmla="*/ 7 h 29"/>
                <a:gd name="T28" fmla="*/ 26 w 28"/>
                <a:gd name="T29" fmla="*/ 5 h 29"/>
                <a:gd name="T30" fmla="*/ 26 w 28"/>
                <a:gd name="T31" fmla="*/ 5 h 29"/>
                <a:gd name="T32" fmla="*/ 24 w 28"/>
                <a:gd name="T33" fmla="*/ 2 h 29"/>
                <a:gd name="T34" fmla="*/ 21 w 28"/>
                <a:gd name="T35" fmla="*/ 2 h 29"/>
                <a:gd name="T36" fmla="*/ 19 w 28"/>
                <a:gd name="T37" fmla="*/ 0 h 29"/>
                <a:gd name="T38" fmla="*/ 17 w 28"/>
                <a:gd name="T39" fmla="*/ 0 h 29"/>
                <a:gd name="T40" fmla="*/ 14 w 28"/>
                <a:gd name="T41" fmla="*/ 0 h 29"/>
                <a:gd name="T42" fmla="*/ 12 w 28"/>
                <a:gd name="T43" fmla="*/ 0 h 29"/>
                <a:gd name="T44" fmla="*/ 9 w 28"/>
                <a:gd name="T45" fmla="*/ 0 h 29"/>
                <a:gd name="T46" fmla="*/ 7 w 28"/>
                <a:gd name="T47" fmla="*/ 2 h 29"/>
                <a:gd name="T48" fmla="*/ 7 w 28"/>
                <a:gd name="T49" fmla="*/ 2 h 29"/>
                <a:gd name="T50" fmla="*/ 5 w 28"/>
                <a:gd name="T51" fmla="*/ 5 h 29"/>
                <a:gd name="T52" fmla="*/ 2 w 28"/>
                <a:gd name="T53" fmla="*/ 5 h 29"/>
                <a:gd name="T54" fmla="*/ 2 w 28"/>
                <a:gd name="T55" fmla="*/ 7 h 29"/>
                <a:gd name="T56" fmla="*/ 0 w 28"/>
                <a:gd name="T57" fmla="*/ 10 h 29"/>
                <a:gd name="T58" fmla="*/ 0 w 28"/>
                <a:gd name="T59" fmla="*/ 12 h 29"/>
                <a:gd name="T60" fmla="*/ 0 w 28"/>
                <a:gd name="T61" fmla="*/ 14 h 29"/>
                <a:gd name="T62" fmla="*/ 0 w 28"/>
                <a:gd name="T63" fmla="*/ 17 h 29"/>
                <a:gd name="T64" fmla="*/ 0 w 28"/>
                <a:gd name="T65" fmla="*/ 19 h 29"/>
                <a:gd name="T66" fmla="*/ 2 w 28"/>
                <a:gd name="T67" fmla="*/ 21 h 29"/>
                <a:gd name="T68" fmla="*/ 2 w 28"/>
                <a:gd name="T69" fmla="*/ 24 h 29"/>
                <a:gd name="T70" fmla="*/ 5 w 28"/>
                <a:gd name="T71" fmla="*/ 24 h 29"/>
                <a:gd name="T72" fmla="*/ 7 w 28"/>
                <a:gd name="T73" fmla="*/ 26 h 29"/>
                <a:gd name="T74" fmla="*/ 7 w 28"/>
                <a:gd name="T75" fmla="*/ 29 h 29"/>
                <a:gd name="T76" fmla="*/ 9 w 28"/>
                <a:gd name="T77" fmla="*/ 29 h 29"/>
                <a:gd name="T78" fmla="*/ 12 w 28"/>
                <a:gd name="T79" fmla="*/ 29 h 29"/>
                <a:gd name="T80" fmla="*/ 14 w 28"/>
                <a:gd name="T81" fmla="*/ 29 h 29"/>
                <a:gd name="T82" fmla="*/ 14 w 28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8"/>
                <a:gd name="T127" fmla="*/ 0 h 29"/>
                <a:gd name="T128" fmla="*/ 28 w 28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8" h="29">
                  <a:moveTo>
                    <a:pt x="14" y="29"/>
                  </a:moveTo>
                  <a:lnTo>
                    <a:pt x="17" y="29"/>
                  </a:lnTo>
                  <a:lnTo>
                    <a:pt x="19" y="29"/>
                  </a:lnTo>
                  <a:lnTo>
                    <a:pt x="21" y="29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8" y="17"/>
                  </a:lnTo>
                  <a:lnTo>
                    <a:pt x="28" y="14"/>
                  </a:lnTo>
                  <a:lnTo>
                    <a:pt x="28" y="12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43" name="Freeform 559"/>
            <p:cNvSpPr>
              <a:spLocks noChangeArrowheads="1"/>
            </p:cNvSpPr>
            <p:nvPr/>
          </p:nvSpPr>
          <p:spPr bwMode="auto">
            <a:xfrm>
              <a:off x="4214" y="2462"/>
              <a:ext cx="30" cy="28"/>
            </a:xfrm>
            <a:custGeom>
              <a:avLst/>
              <a:gdLst>
                <a:gd name="T0" fmla="*/ 14 w 30"/>
                <a:gd name="T1" fmla="*/ 28 h 28"/>
                <a:gd name="T2" fmla="*/ 16 w 30"/>
                <a:gd name="T3" fmla="*/ 28 h 28"/>
                <a:gd name="T4" fmla="*/ 18 w 30"/>
                <a:gd name="T5" fmla="*/ 28 h 28"/>
                <a:gd name="T6" fmla="*/ 21 w 30"/>
                <a:gd name="T7" fmla="*/ 26 h 28"/>
                <a:gd name="T8" fmla="*/ 23 w 30"/>
                <a:gd name="T9" fmla="*/ 26 h 28"/>
                <a:gd name="T10" fmla="*/ 26 w 30"/>
                <a:gd name="T11" fmla="*/ 24 h 28"/>
                <a:gd name="T12" fmla="*/ 26 w 30"/>
                <a:gd name="T13" fmla="*/ 21 h 28"/>
                <a:gd name="T14" fmla="*/ 28 w 30"/>
                <a:gd name="T15" fmla="*/ 21 h 28"/>
                <a:gd name="T16" fmla="*/ 28 w 30"/>
                <a:gd name="T17" fmla="*/ 19 h 28"/>
                <a:gd name="T18" fmla="*/ 28 w 30"/>
                <a:gd name="T19" fmla="*/ 16 h 28"/>
                <a:gd name="T20" fmla="*/ 30 w 30"/>
                <a:gd name="T21" fmla="*/ 14 h 28"/>
                <a:gd name="T22" fmla="*/ 28 w 30"/>
                <a:gd name="T23" fmla="*/ 12 h 28"/>
                <a:gd name="T24" fmla="*/ 28 w 30"/>
                <a:gd name="T25" fmla="*/ 9 h 28"/>
                <a:gd name="T26" fmla="*/ 28 w 30"/>
                <a:gd name="T27" fmla="*/ 7 h 28"/>
                <a:gd name="T28" fmla="*/ 26 w 30"/>
                <a:gd name="T29" fmla="*/ 5 h 28"/>
                <a:gd name="T30" fmla="*/ 26 w 30"/>
                <a:gd name="T31" fmla="*/ 2 h 28"/>
                <a:gd name="T32" fmla="*/ 23 w 30"/>
                <a:gd name="T33" fmla="*/ 2 h 28"/>
                <a:gd name="T34" fmla="*/ 21 w 30"/>
                <a:gd name="T35" fmla="*/ 0 h 28"/>
                <a:gd name="T36" fmla="*/ 18 w 30"/>
                <a:gd name="T37" fmla="*/ 0 h 28"/>
                <a:gd name="T38" fmla="*/ 16 w 30"/>
                <a:gd name="T39" fmla="*/ 0 h 28"/>
                <a:gd name="T40" fmla="*/ 14 w 30"/>
                <a:gd name="T41" fmla="*/ 0 h 28"/>
                <a:gd name="T42" fmla="*/ 11 w 30"/>
                <a:gd name="T43" fmla="*/ 0 h 28"/>
                <a:gd name="T44" fmla="*/ 9 w 30"/>
                <a:gd name="T45" fmla="*/ 0 h 28"/>
                <a:gd name="T46" fmla="*/ 9 w 30"/>
                <a:gd name="T47" fmla="*/ 0 h 28"/>
                <a:gd name="T48" fmla="*/ 7 w 30"/>
                <a:gd name="T49" fmla="*/ 2 h 28"/>
                <a:gd name="T50" fmla="*/ 4 w 30"/>
                <a:gd name="T51" fmla="*/ 2 h 28"/>
                <a:gd name="T52" fmla="*/ 2 w 30"/>
                <a:gd name="T53" fmla="*/ 5 h 28"/>
                <a:gd name="T54" fmla="*/ 2 w 30"/>
                <a:gd name="T55" fmla="*/ 7 h 28"/>
                <a:gd name="T56" fmla="*/ 2 w 30"/>
                <a:gd name="T57" fmla="*/ 9 h 28"/>
                <a:gd name="T58" fmla="*/ 0 w 30"/>
                <a:gd name="T59" fmla="*/ 12 h 28"/>
                <a:gd name="T60" fmla="*/ 0 w 30"/>
                <a:gd name="T61" fmla="*/ 14 h 28"/>
                <a:gd name="T62" fmla="*/ 0 w 30"/>
                <a:gd name="T63" fmla="*/ 16 h 28"/>
                <a:gd name="T64" fmla="*/ 2 w 30"/>
                <a:gd name="T65" fmla="*/ 19 h 28"/>
                <a:gd name="T66" fmla="*/ 2 w 30"/>
                <a:gd name="T67" fmla="*/ 21 h 28"/>
                <a:gd name="T68" fmla="*/ 2 w 30"/>
                <a:gd name="T69" fmla="*/ 21 h 28"/>
                <a:gd name="T70" fmla="*/ 4 w 30"/>
                <a:gd name="T71" fmla="*/ 24 h 28"/>
                <a:gd name="T72" fmla="*/ 7 w 30"/>
                <a:gd name="T73" fmla="*/ 26 h 28"/>
                <a:gd name="T74" fmla="*/ 9 w 30"/>
                <a:gd name="T75" fmla="*/ 26 h 28"/>
                <a:gd name="T76" fmla="*/ 9 w 30"/>
                <a:gd name="T77" fmla="*/ 28 h 28"/>
                <a:gd name="T78" fmla="*/ 11 w 30"/>
                <a:gd name="T79" fmla="*/ 28 h 28"/>
                <a:gd name="T80" fmla="*/ 14 w 30"/>
                <a:gd name="T81" fmla="*/ 28 h 28"/>
                <a:gd name="T82" fmla="*/ 14 w 30"/>
                <a:gd name="T83" fmla="*/ 28 h 2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8"/>
                <a:gd name="T128" fmla="*/ 30 w 30"/>
                <a:gd name="T129" fmla="*/ 28 h 2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8">
                  <a:moveTo>
                    <a:pt x="14" y="28"/>
                  </a:moveTo>
                  <a:lnTo>
                    <a:pt x="16" y="28"/>
                  </a:lnTo>
                  <a:lnTo>
                    <a:pt x="18" y="28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8" y="16"/>
                  </a:lnTo>
                  <a:lnTo>
                    <a:pt x="30" y="14"/>
                  </a:lnTo>
                  <a:lnTo>
                    <a:pt x="28" y="12"/>
                  </a:lnTo>
                  <a:lnTo>
                    <a:pt x="28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4" y="2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4" y="24"/>
                  </a:lnTo>
                  <a:lnTo>
                    <a:pt x="7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1" y="28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44" name="Rectangle 560"/>
            <p:cNvSpPr>
              <a:spLocks noChangeArrowheads="1"/>
            </p:cNvSpPr>
            <p:nvPr/>
          </p:nvSpPr>
          <p:spPr bwMode="auto">
            <a:xfrm>
              <a:off x="3849" y="2365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75945" name="Rectangle 561"/>
            <p:cNvSpPr>
              <a:spLocks noChangeArrowheads="1"/>
            </p:cNvSpPr>
            <p:nvPr/>
          </p:nvSpPr>
          <p:spPr bwMode="auto">
            <a:xfrm>
              <a:off x="3889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75946" name="Rectangle 562"/>
            <p:cNvSpPr>
              <a:spLocks noChangeArrowheads="1"/>
            </p:cNvSpPr>
            <p:nvPr/>
          </p:nvSpPr>
          <p:spPr bwMode="auto">
            <a:xfrm>
              <a:off x="3922" y="236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5947" name="Freeform 563"/>
            <p:cNvSpPr>
              <a:spLocks noChangeArrowheads="1"/>
            </p:cNvSpPr>
            <p:nvPr/>
          </p:nvSpPr>
          <p:spPr bwMode="auto">
            <a:xfrm>
              <a:off x="3475" y="1280"/>
              <a:ext cx="30" cy="31"/>
            </a:xfrm>
            <a:custGeom>
              <a:avLst/>
              <a:gdLst>
                <a:gd name="T0" fmla="*/ 0 w 30"/>
                <a:gd name="T1" fmla="*/ 0 h 31"/>
                <a:gd name="T2" fmla="*/ 0 w 30"/>
                <a:gd name="T3" fmla="*/ 31 h 31"/>
                <a:gd name="T4" fmla="*/ 30 w 30"/>
                <a:gd name="T5" fmla="*/ 17 h 31"/>
                <a:gd name="T6" fmla="*/ 0 w 30"/>
                <a:gd name="T7" fmla="*/ 3 h 31"/>
                <a:gd name="T8" fmla="*/ 0 w 30"/>
                <a:gd name="T9" fmla="*/ 3 h 31"/>
                <a:gd name="T10" fmla="*/ 0 w 30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"/>
                <a:gd name="T19" fmla="*/ 0 h 31"/>
                <a:gd name="T20" fmla="*/ 30 w 30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" h="31">
                  <a:moveTo>
                    <a:pt x="0" y="0"/>
                  </a:moveTo>
                  <a:lnTo>
                    <a:pt x="0" y="31"/>
                  </a:lnTo>
                  <a:lnTo>
                    <a:pt x="30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48" name="Freeform 564"/>
            <p:cNvSpPr>
              <a:spLocks noChangeArrowheads="1"/>
            </p:cNvSpPr>
            <p:nvPr/>
          </p:nvSpPr>
          <p:spPr bwMode="auto">
            <a:xfrm>
              <a:off x="3404" y="1297"/>
              <a:ext cx="80" cy="1409"/>
            </a:xfrm>
            <a:custGeom>
              <a:avLst/>
              <a:gdLst>
                <a:gd name="T0" fmla="*/ 0 w 80"/>
                <a:gd name="T1" fmla="*/ 1409 h 1409"/>
                <a:gd name="T2" fmla="*/ 0 w 80"/>
                <a:gd name="T3" fmla="*/ 0 h 1409"/>
                <a:gd name="T4" fmla="*/ 80 w 80"/>
                <a:gd name="T5" fmla="*/ 0 h 1409"/>
                <a:gd name="T6" fmla="*/ 0 60000 65536"/>
                <a:gd name="T7" fmla="*/ 0 60000 65536"/>
                <a:gd name="T8" fmla="*/ 0 60000 65536"/>
                <a:gd name="T9" fmla="*/ 0 w 80"/>
                <a:gd name="T10" fmla="*/ 0 h 1409"/>
                <a:gd name="T11" fmla="*/ 80 w 80"/>
                <a:gd name="T12" fmla="*/ 1409 h 14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" h="1409">
                  <a:moveTo>
                    <a:pt x="0" y="1409"/>
                  </a:moveTo>
                  <a:lnTo>
                    <a:pt x="0" y="0"/>
                  </a:lnTo>
                  <a:lnTo>
                    <a:pt x="8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49" name="Line 565"/>
            <p:cNvSpPr>
              <a:spLocks noChangeShapeType="1"/>
            </p:cNvSpPr>
            <p:nvPr/>
          </p:nvSpPr>
          <p:spPr bwMode="auto">
            <a:xfrm>
              <a:off x="3688" y="1294"/>
              <a:ext cx="64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950" name="Freeform 566"/>
            <p:cNvSpPr>
              <a:spLocks noChangeArrowheads="1"/>
            </p:cNvSpPr>
            <p:nvPr/>
          </p:nvSpPr>
          <p:spPr bwMode="auto">
            <a:xfrm>
              <a:off x="2044" y="2616"/>
              <a:ext cx="22" cy="2"/>
            </a:xfrm>
            <a:custGeom>
              <a:avLst/>
              <a:gdLst>
                <a:gd name="T0" fmla="*/ 0 w 22"/>
                <a:gd name="T1" fmla="*/ 0 h 2"/>
                <a:gd name="T2" fmla="*/ 22 w 22"/>
                <a:gd name="T3" fmla="*/ 2 h 2"/>
                <a:gd name="T4" fmla="*/ 0 w 22"/>
                <a:gd name="T5" fmla="*/ 0 h 2"/>
                <a:gd name="T6" fmla="*/ 0 60000 65536"/>
                <a:gd name="T7" fmla="*/ 0 60000 65536"/>
                <a:gd name="T8" fmla="*/ 0 60000 65536"/>
                <a:gd name="T9" fmla="*/ 0 w 22"/>
                <a:gd name="T10" fmla="*/ 0 h 2"/>
                <a:gd name="T11" fmla="*/ 22 w 22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2">
                  <a:moveTo>
                    <a:pt x="0" y="0"/>
                  </a:moveTo>
                  <a:lnTo>
                    <a:pt x="2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51" name="Line 567"/>
            <p:cNvSpPr>
              <a:spLocks noChangeShapeType="1"/>
            </p:cNvSpPr>
            <p:nvPr/>
          </p:nvSpPr>
          <p:spPr bwMode="auto">
            <a:xfrm>
              <a:off x="2044" y="2616"/>
              <a:ext cx="22" cy="2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952" name="Freeform 568"/>
            <p:cNvSpPr>
              <a:spLocks noChangeArrowheads="1"/>
            </p:cNvSpPr>
            <p:nvPr/>
          </p:nvSpPr>
          <p:spPr bwMode="auto">
            <a:xfrm>
              <a:off x="2044" y="2263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53" name="Line 569"/>
            <p:cNvSpPr>
              <a:spLocks noChangeShapeType="1"/>
            </p:cNvSpPr>
            <p:nvPr/>
          </p:nvSpPr>
          <p:spPr bwMode="auto">
            <a:xfrm>
              <a:off x="2044" y="2263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954" name="Freeform 570"/>
            <p:cNvSpPr>
              <a:spLocks noChangeArrowheads="1"/>
            </p:cNvSpPr>
            <p:nvPr/>
          </p:nvSpPr>
          <p:spPr bwMode="auto">
            <a:xfrm>
              <a:off x="2044" y="2088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55" name="Line 571"/>
            <p:cNvSpPr>
              <a:spLocks noChangeShapeType="1"/>
            </p:cNvSpPr>
            <p:nvPr/>
          </p:nvSpPr>
          <p:spPr bwMode="auto">
            <a:xfrm>
              <a:off x="2044" y="2088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956" name="Freeform 572"/>
            <p:cNvSpPr>
              <a:spLocks noChangeArrowheads="1"/>
            </p:cNvSpPr>
            <p:nvPr/>
          </p:nvSpPr>
          <p:spPr bwMode="auto">
            <a:xfrm>
              <a:off x="2042" y="1600"/>
              <a:ext cx="24" cy="1"/>
            </a:xfrm>
            <a:custGeom>
              <a:avLst/>
              <a:gdLst>
                <a:gd name="T0" fmla="*/ 0 w 24"/>
                <a:gd name="T1" fmla="*/ 0 h 1"/>
                <a:gd name="T2" fmla="*/ 24 w 24"/>
                <a:gd name="T3" fmla="*/ 0 h 1"/>
                <a:gd name="T4" fmla="*/ 0 w 24"/>
                <a:gd name="T5" fmla="*/ 0 h 1"/>
                <a:gd name="T6" fmla="*/ 0 60000 65536"/>
                <a:gd name="T7" fmla="*/ 0 60000 65536"/>
                <a:gd name="T8" fmla="*/ 0 60000 65536"/>
                <a:gd name="T9" fmla="*/ 0 w 24"/>
                <a:gd name="T10" fmla="*/ 0 h 1"/>
                <a:gd name="T11" fmla="*/ 24 w 2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" h="1">
                  <a:moveTo>
                    <a:pt x="0" y="0"/>
                  </a:move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57" name="Line 573"/>
            <p:cNvSpPr>
              <a:spLocks noChangeShapeType="1"/>
            </p:cNvSpPr>
            <p:nvPr/>
          </p:nvSpPr>
          <p:spPr bwMode="auto">
            <a:xfrm>
              <a:off x="2042" y="1600"/>
              <a:ext cx="24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958" name="Freeform 574"/>
            <p:cNvSpPr>
              <a:spLocks noChangeArrowheads="1"/>
            </p:cNvSpPr>
            <p:nvPr/>
          </p:nvSpPr>
          <p:spPr bwMode="auto">
            <a:xfrm>
              <a:off x="2044" y="2969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59" name="Line 575"/>
            <p:cNvSpPr>
              <a:spLocks noChangeShapeType="1"/>
            </p:cNvSpPr>
            <p:nvPr/>
          </p:nvSpPr>
          <p:spPr bwMode="auto">
            <a:xfrm>
              <a:off x="2044" y="2969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960" name="Freeform 576"/>
            <p:cNvSpPr>
              <a:spLocks noChangeArrowheads="1"/>
            </p:cNvSpPr>
            <p:nvPr/>
          </p:nvSpPr>
          <p:spPr bwMode="auto">
            <a:xfrm>
              <a:off x="2835" y="3272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61" name="Line 577"/>
            <p:cNvSpPr>
              <a:spLocks noChangeShapeType="1"/>
            </p:cNvSpPr>
            <p:nvPr/>
          </p:nvSpPr>
          <p:spPr bwMode="auto">
            <a:xfrm>
              <a:off x="2835" y="3272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962" name="Freeform 578"/>
            <p:cNvSpPr>
              <a:spLocks noChangeArrowheads="1"/>
            </p:cNvSpPr>
            <p:nvPr/>
          </p:nvSpPr>
          <p:spPr bwMode="auto">
            <a:xfrm>
              <a:off x="4346" y="2459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7 h 31"/>
                <a:gd name="T6" fmla="*/ 0 w 31"/>
                <a:gd name="T7" fmla="*/ 3 h 31"/>
                <a:gd name="T8" fmla="*/ 0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63" name="Rectangle 579"/>
            <p:cNvSpPr>
              <a:spLocks noChangeArrowheads="1"/>
            </p:cNvSpPr>
            <p:nvPr/>
          </p:nvSpPr>
          <p:spPr bwMode="auto">
            <a:xfrm>
              <a:off x="4405" y="2436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75964" name="Rectangle 580"/>
            <p:cNvSpPr>
              <a:spLocks noChangeArrowheads="1"/>
            </p:cNvSpPr>
            <p:nvPr/>
          </p:nvSpPr>
          <p:spPr bwMode="auto">
            <a:xfrm>
              <a:off x="4443" y="24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75965" name="Rectangle 581"/>
            <p:cNvSpPr>
              <a:spLocks noChangeArrowheads="1"/>
            </p:cNvSpPr>
            <p:nvPr/>
          </p:nvSpPr>
          <p:spPr bwMode="auto">
            <a:xfrm>
              <a:off x="4476" y="24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75966" name="Rectangle 582"/>
            <p:cNvSpPr>
              <a:spLocks noChangeArrowheads="1"/>
            </p:cNvSpPr>
            <p:nvPr/>
          </p:nvSpPr>
          <p:spPr bwMode="auto">
            <a:xfrm>
              <a:off x="4510" y="243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5967" name="Rectangle 583"/>
            <p:cNvSpPr>
              <a:spLocks noChangeArrowheads="1"/>
            </p:cNvSpPr>
            <p:nvPr/>
          </p:nvSpPr>
          <p:spPr bwMode="auto">
            <a:xfrm>
              <a:off x="4528" y="24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5968" name="Rectangle 584"/>
            <p:cNvSpPr>
              <a:spLocks noChangeArrowheads="1"/>
            </p:cNvSpPr>
            <p:nvPr/>
          </p:nvSpPr>
          <p:spPr bwMode="auto">
            <a:xfrm>
              <a:off x="4562" y="243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5969" name="Rectangle 585"/>
            <p:cNvSpPr>
              <a:spLocks noChangeArrowheads="1"/>
            </p:cNvSpPr>
            <p:nvPr/>
          </p:nvSpPr>
          <p:spPr bwMode="auto">
            <a:xfrm>
              <a:off x="4590" y="243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5970" name="Oval 586"/>
            <p:cNvSpPr>
              <a:spLocks noChangeArrowheads="1"/>
            </p:cNvSpPr>
            <p:nvPr/>
          </p:nvSpPr>
          <p:spPr bwMode="auto">
            <a:xfrm>
              <a:off x="1851" y="1055"/>
              <a:ext cx="1169" cy="1169"/>
            </a:xfrm>
            <a:prstGeom prst="ellipse">
              <a:avLst/>
            </a:prstGeom>
            <a:noFill/>
            <a:ln w="31680">
              <a:solidFill>
                <a:srgbClr val="99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971" name="Oval 587"/>
            <p:cNvSpPr>
              <a:spLocks noChangeArrowheads="1"/>
            </p:cNvSpPr>
            <p:nvPr/>
          </p:nvSpPr>
          <p:spPr bwMode="auto">
            <a:xfrm>
              <a:off x="3408" y="2832"/>
              <a:ext cx="528" cy="528"/>
            </a:xfrm>
            <a:prstGeom prst="ellipse">
              <a:avLst/>
            </a:prstGeom>
            <a:noFill/>
            <a:ln w="31680">
              <a:solidFill>
                <a:srgbClr val="99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" name="Group 588"/>
          <p:cNvGrpSpPr>
            <a:grpSpLocks/>
          </p:cNvGrpSpPr>
          <p:nvPr/>
        </p:nvGrpSpPr>
        <p:grpSpPr bwMode="auto">
          <a:xfrm>
            <a:off x="1982788" y="3620665"/>
            <a:ext cx="5105399" cy="2763838"/>
            <a:chOff x="289" y="2160"/>
            <a:chExt cx="3216" cy="1741"/>
          </a:xfrm>
        </p:grpSpPr>
        <p:sp>
          <p:nvSpPr>
            <p:cNvPr id="75785" name="Text Box 589"/>
            <p:cNvSpPr txBox="1">
              <a:spLocks noChangeArrowheads="1"/>
            </p:cNvSpPr>
            <p:nvPr/>
          </p:nvSpPr>
          <p:spPr bwMode="auto">
            <a:xfrm>
              <a:off x="289" y="3648"/>
              <a:ext cx="2330" cy="253"/>
            </a:xfrm>
            <a:prstGeom prst="rect">
              <a:avLst/>
            </a:prstGeom>
            <a:solidFill>
              <a:srgbClr val="18457D"/>
            </a:solidFill>
            <a:ln w="9360">
              <a:solidFill>
                <a:srgbClr val="18457D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spcBef>
                  <a:spcPts val="500"/>
                </a:spcBef>
                <a:buClr>
                  <a:srgbClr val="000000"/>
                </a:buClr>
              </a:pPr>
              <a:r>
                <a:rPr lang="en-GB" altLang="zh-TW" sz="2000" dirty="0">
                  <a:latin typeface="+mn-lt"/>
                  <a:ea typeface="新細明體" charset="-120"/>
                </a:rPr>
                <a:t>Topic we are going to discuss next</a:t>
              </a:r>
            </a:p>
          </p:txBody>
        </p:sp>
        <p:sp>
          <p:nvSpPr>
            <p:cNvPr id="75786" name="Line 590"/>
            <p:cNvSpPr>
              <a:spLocks noChangeShapeType="1"/>
            </p:cNvSpPr>
            <p:nvPr/>
          </p:nvSpPr>
          <p:spPr bwMode="auto">
            <a:xfrm flipH="1">
              <a:off x="1535" y="2160"/>
              <a:ext cx="626" cy="1440"/>
            </a:xfrm>
            <a:prstGeom prst="line">
              <a:avLst/>
            </a:prstGeom>
            <a:noFill/>
            <a:ln w="25560">
              <a:solidFill>
                <a:srgbClr val="8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787" name="Line 591"/>
            <p:cNvSpPr>
              <a:spLocks noChangeShapeType="1"/>
            </p:cNvSpPr>
            <p:nvPr/>
          </p:nvSpPr>
          <p:spPr bwMode="auto">
            <a:xfrm flipH="1">
              <a:off x="2879" y="3312"/>
              <a:ext cx="626" cy="336"/>
            </a:xfrm>
            <a:prstGeom prst="line">
              <a:avLst/>
            </a:prstGeom>
            <a:noFill/>
            <a:ln w="25560">
              <a:solidFill>
                <a:srgbClr val="8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478694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>
                <a:ea typeface="新細明體" charset="-120"/>
                <a:cs typeface="新細明體" charset="-120"/>
              </a:rPr>
              <a:t>Control Unit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unit controls the whole operation of the </a:t>
            </a:r>
            <a:r>
              <a:rPr lang="en-US" dirty="0" err="1"/>
              <a:t>datapath</a:t>
            </a:r>
            <a:r>
              <a:rPr lang="en-US" dirty="0"/>
              <a:t> through </a:t>
            </a:r>
            <a:r>
              <a:rPr lang="en-US" dirty="0">
                <a:solidFill>
                  <a:srgbClr val="C00000"/>
                </a:solidFill>
              </a:rPr>
              <a:t>control signals</a:t>
            </a:r>
            <a:r>
              <a:rPr lang="en-US" dirty="0"/>
              <a:t>, e.g.</a:t>
            </a:r>
          </a:p>
          <a:p>
            <a:endParaRPr lang="en-US" dirty="0"/>
          </a:p>
          <a:p>
            <a:pPr lvl="1"/>
            <a:r>
              <a:rPr lang="en-US" dirty="0"/>
              <a:t>read/write signals for state elements: </a:t>
            </a:r>
            <a:r>
              <a:rPr lang="en-US" dirty="0" err="1">
                <a:solidFill>
                  <a:srgbClr val="18457D"/>
                </a:solidFill>
              </a:rPr>
              <a:t>RegWrite</a:t>
            </a:r>
            <a:r>
              <a:rPr lang="en-US" dirty="0"/>
              <a:t>, </a:t>
            </a:r>
            <a:r>
              <a:rPr lang="en-US" dirty="0" err="1">
                <a:solidFill>
                  <a:srgbClr val="18457D"/>
                </a:solidFill>
              </a:rPr>
              <a:t>MemWrite</a:t>
            </a:r>
            <a:r>
              <a:rPr lang="en-US" dirty="0"/>
              <a:t>, </a:t>
            </a:r>
            <a:r>
              <a:rPr lang="en-US" dirty="0" err="1">
                <a:solidFill>
                  <a:srgbClr val="18457D"/>
                </a:solidFill>
              </a:rPr>
              <a:t>MemRead</a:t>
            </a:r>
            <a:endParaRPr lang="en-US" dirty="0">
              <a:solidFill>
                <a:srgbClr val="18457D"/>
              </a:solidFill>
            </a:endParaRPr>
          </a:p>
          <a:p>
            <a:pPr lvl="1"/>
            <a:r>
              <a:rPr lang="en-US" dirty="0"/>
              <a:t>selector inputs for multiplexors: </a:t>
            </a:r>
            <a:r>
              <a:rPr lang="en-US" dirty="0" err="1">
                <a:solidFill>
                  <a:srgbClr val="18457D"/>
                </a:solidFill>
              </a:rPr>
              <a:t>ALUSrc</a:t>
            </a:r>
            <a:r>
              <a:rPr lang="en-US" dirty="0"/>
              <a:t>, </a:t>
            </a:r>
            <a:r>
              <a:rPr lang="en-US" dirty="0" err="1">
                <a:solidFill>
                  <a:srgbClr val="18457D"/>
                </a:solidFill>
              </a:rPr>
              <a:t>MemtoReg</a:t>
            </a:r>
            <a:r>
              <a:rPr lang="en-US" dirty="0"/>
              <a:t>, </a:t>
            </a:r>
            <a:r>
              <a:rPr lang="en-US" dirty="0" err="1">
                <a:solidFill>
                  <a:srgbClr val="18457D"/>
                </a:solidFill>
              </a:rPr>
              <a:t>PCSrc</a:t>
            </a:r>
            <a:r>
              <a:rPr lang="en-US" dirty="0"/>
              <a:t>, </a:t>
            </a:r>
            <a:r>
              <a:rPr lang="en-US" dirty="0" err="1">
                <a:solidFill>
                  <a:srgbClr val="18457D"/>
                </a:solidFill>
              </a:rPr>
              <a:t>RegDst</a:t>
            </a:r>
            <a:endParaRPr lang="en-US" dirty="0">
              <a:solidFill>
                <a:srgbClr val="18457D"/>
              </a:solidFill>
            </a:endParaRPr>
          </a:p>
          <a:p>
            <a:pPr lvl="1"/>
            <a:r>
              <a:rPr lang="en-US" dirty="0"/>
              <a:t>ALU control inputs (4 bits) for different ALU operations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334423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First: ALU Control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ALU is used for</a:t>
            </a:r>
          </a:p>
          <a:p>
            <a:pPr lvl="1"/>
            <a:r>
              <a:rPr lang="en-US" dirty="0"/>
              <a:t>Load/Store: F = add</a:t>
            </a:r>
          </a:p>
          <a:p>
            <a:pPr lvl="1"/>
            <a:r>
              <a:rPr lang="en-US" dirty="0"/>
              <a:t>Branch: F = subtract</a:t>
            </a:r>
          </a:p>
          <a:p>
            <a:pPr lvl="1"/>
            <a:r>
              <a:rPr lang="en-US" dirty="0"/>
              <a:t>R-type: F depends on </a:t>
            </a:r>
            <a:r>
              <a:rPr lang="en-US" dirty="0" err="1"/>
              <a:t>funct</a:t>
            </a:r>
            <a:r>
              <a:rPr lang="en-US" dirty="0"/>
              <a:t> field</a:t>
            </a:r>
          </a:p>
          <a:p>
            <a:endParaRPr lang="en-US" dirty="0"/>
          </a:p>
        </p:txBody>
      </p:sp>
      <p:grpSp>
        <p:nvGrpSpPr>
          <p:cNvPr id="7" name="Group 3"/>
          <p:cNvGrpSpPr>
            <a:grpSpLocks/>
          </p:cNvGrpSpPr>
          <p:nvPr/>
        </p:nvGrpSpPr>
        <p:grpSpPr bwMode="auto">
          <a:xfrm>
            <a:off x="4007768" y="3501008"/>
            <a:ext cx="4608513" cy="2554288"/>
            <a:chOff x="1440" y="1824"/>
            <a:chExt cx="2903" cy="1609"/>
          </a:xfrm>
        </p:grpSpPr>
        <p:sp>
          <p:nvSpPr>
            <p:cNvPr id="8" name="Rectangle 4"/>
            <p:cNvSpPr>
              <a:spLocks noChangeArrowheads="1"/>
            </p:cNvSpPr>
            <p:nvPr/>
          </p:nvSpPr>
          <p:spPr bwMode="auto">
            <a:xfrm>
              <a:off x="2892" y="2974"/>
              <a:ext cx="1452" cy="2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8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set on less than</a:t>
              </a:r>
            </a:p>
          </p:txBody>
        </p:sp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1440" y="2974"/>
              <a:ext cx="1452" cy="2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8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0111</a:t>
              </a:r>
            </a:p>
          </p:txBody>
        </p:sp>
        <p:sp>
          <p:nvSpPr>
            <p:cNvPr id="10" name="Rectangle 6"/>
            <p:cNvSpPr>
              <a:spLocks noChangeArrowheads="1"/>
            </p:cNvSpPr>
            <p:nvPr/>
          </p:nvSpPr>
          <p:spPr bwMode="auto">
            <a:xfrm>
              <a:off x="2892" y="3204"/>
              <a:ext cx="1452" cy="2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8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NOR</a:t>
              </a: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1440" y="3204"/>
              <a:ext cx="1452" cy="2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8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1100</a:t>
              </a:r>
            </a:p>
          </p:txBody>
        </p:sp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2892" y="2744"/>
              <a:ext cx="1452" cy="2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8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subtract</a:t>
              </a: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1440" y="2744"/>
              <a:ext cx="1452" cy="2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8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0110</a:t>
              </a: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2892" y="2514"/>
              <a:ext cx="1452" cy="2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8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add</a:t>
              </a:r>
            </a:p>
          </p:txBody>
        </p:sp>
        <p:sp>
          <p:nvSpPr>
            <p:cNvPr id="15" name="Rectangle 11"/>
            <p:cNvSpPr>
              <a:spLocks noChangeArrowheads="1"/>
            </p:cNvSpPr>
            <p:nvPr/>
          </p:nvSpPr>
          <p:spPr bwMode="auto">
            <a:xfrm>
              <a:off x="1440" y="2514"/>
              <a:ext cx="1452" cy="2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8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0010</a:t>
              </a:r>
            </a:p>
          </p:txBody>
        </p:sp>
        <p:sp>
          <p:nvSpPr>
            <p:cNvPr id="16" name="Rectangle 12"/>
            <p:cNvSpPr>
              <a:spLocks noChangeArrowheads="1"/>
            </p:cNvSpPr>
            <p:nvPr/>
          </p:nvSpPr>
          <p:spPr bwMode="auto">
            <a:xfrm>
              <a:off x="2892" y="2284"/>
              <a:ext cx="1452" cy="2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8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or</a:t>
              </a:r>
            </a:p>
          </p:txBody>
        </p:sp>
        <p:sp>
          <p:nvSpPr>
            <p:cNvPr id="17" name="Rectangle 13"/>
            <p:cNvSpPr>
              <a:spLocks noChangeArrowheads="1"/>
            </p:cNvSpPr>
            <p:nvPr/>
          </p:nvSpPr>
          <p:spPr bwMode="auto">
            <a:xfrm>
              <a:off x="1440" y="2284"/>
              <a:ext cx="1452" cy="2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8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0001</a:t>
              </a:r>
            </a:p>
          </p:txBody>
        </p:sp>
        <p:sp>
          <p:nvSpPr>
            <p:cNvPr id="18" name="Rectangle 14"/>
            <p:cNvSpPr>
              <a:spLocks noChangeArrowheads="1"/>
            </p:cNvSpPr>
            <p:nvPr/>
          </p:nvSpPr>
          <p:spPr bwMode="auto">
            <a:xfrm>
              <a:off x="2892" y="2054"/>
              <a:ext cx="1452" cy="2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8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and</a:t>
              </a:r>
            </a:p>
          </p:txBody>
        </p:sp>
        <p:sp>
          <p:nvSpPr>
            <p:cNvPr id="19" name="Rectangle 15"/>
            <p:cNvSpPr>
              <a:spLocks noChangeArrowheads="1"/>
            </p:cNvSpPr>
            <p:nvPr/>
          </p:nvSpPr>
          <p:spPr bwMode="auto">
            <a:xfrm>
              <a:off x="1440" y="2054"/>
              <a:ext cx="1452" cy="230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8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0000</a:t>
              </a:r>
            </a:p>
          </p:txBody>
        </p:sp>
        <p:sp>
          <p:nvSpPr>
            <p:cNvPr id="20" name="Rectangle 16"/>
            <p:cNvSpPr>
              <a:spLocks noChangeArrowheads="1"/>
            </p:cNvSpPr>
            <p:nvPr/>
          </p:nvSpPr>
          <p:spPr bwMode="auto">
            <a:xfrm>
              <a:off x="2892" y="1824"/>
              <a:ext cx="1452" cy="230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800" b="1">
                  <a:solidFill>
                    <a:srgbClr val="FFFFFF"/>
                  </a:solidFill>
                  <a:latin typeface="Tahoma" charset="0"/>
                  <a:ea typeface="新細明體" charset="-120"/>
                </a:rPr>
                <a:t>Function</a:t>
              </a:r>
            </a:p>
          </p:txBody>
        </p:sp>
        <p:sp>
          <p:nvSpPr>
            <p:cNvPr id="21" name="Rectangle 17"/>
            <p:cNvSpPr>
              <a:spLocks noChangeArrowheads="1"/>
            </p:cNvSpPr>
            <p:nvPr/>
          </p:nvSpPr>
          <p:spPr bwMode="auto">
            <a:xfrm>
              <a:off x="1440" y="1824"/>
              <a:ext cx="1452" cy="230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5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800" b="1">
                  <a:solidFill>
                    <a:srgbClr val="FFFFFF"/>
                  </a:solidFill>
                  <a:latin typeface="Tahoma" charset="0"/>
                  <a:ea typeface="新細明體" charset="-120"/>
                </a:rPr>
                <a:t>ALU Control Input</a:t>
              </a: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1440" y="1824"/>
              <a:ext cx="2904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19"/>
            <p:cNvSpPr>
              <a:spLocks noChangeShapeType="1"/>
            </p:cNvSpPr>
            <p:nvPr/>
          </p:nvSpPr>
          <p:spPr bwMode="auto">
            <a:xfrm>
              <a:off x="1440" y="2054"/>
              <a:ext cx="29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>
              <a:off x="1440" y="2284"/>
              <a:ext cx="29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1440" y="2514"/>
              <a:ext cx="29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Line 22"/>
            <p:cNvSpPr>
              <a:spLocks noChangeShapeType="1"/>
            </p:cNvSpPr>
            <p:nvPr/>
          </p:nvSpPr>
          <p:spPr bwMode="auto">
            <a:xfrm>
              <a:off x="1440" y="2744"/>
              <a:ext cx="29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23"/>
            <p:cNvSpPr>
              <a:spLocks noChangeShapeType="1"/>
            </p:cNvSpPr>
            <p:nvPr/>
          </p:nvSpPr>
          <p:spPr bwMode="auto">
            <a:xfrm>
              <a:off x="1440" y="2974"/>
              <a:ext cx="29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Line 24"/>
            <p:cNvSpPr>
              <a:spLocks noChangeShapeType="1"/>
            </p:cNvSpPr>
            <p:nvPr/>
          </p:nvSpPr>
          <p:spPr bwMode="auto">
            <a:xfrm>
              <a:off x="1440" y="3434"/>
              <a:ext cx="2904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Line 25"/>
            <p:cNvSpPr>
              <a:spLocks noChangeShapeType="1"/>
            </p:cNvSpPr>
            <p:nvPr/>
          </p:nvSpPr>
          <p:spPr bwMode="auto">
            <a:xfrm>
              <a:off x="2892" y="1824"/>
              <a:ext cx="1" cy="1610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Line 26"/>
            <p:cNvSpPr>
              <a:spLocks noChangeShapeType="1"/>
            </p:cNvSpPr>
            <p:nvPr/>
          </p:nvSpPr>
          <p:spPr bwMode="auto">
            <a:xfrm>
              <a:off x="1440" y="3204"/>
              <a:ext cx="29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>
              <a:off x="1440" y="2974"/>
              <a:ext cx="1" cy="230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28"/>
            <p:cNvSpPr>
              <a:spLocks noChangeShapeType="1"/>
            </p:cNvSpPr>
            <p:nvPr/>
          </p:nvSpPr>
          <p:spPr bwMode="auto">
            <a:xfrm>
              <a:off x="4344" y="2974"/>
              <a:ext cx="1" cy="230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29"/>
            <p:cNvSpPr>
              <a:spLocks noChangeShapeType="1"/>
            </p:cNvSpPr>
            <p:nvPr/>
          </p:nvSpPr>
          <p:spPr bwMode="auto">
            <a:xfrm>
              <a:off x="1440" y="1824"/>
              <a:ext cx="1" cy="1150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30"/>
            <p:cNvSpPr>
              <a:spLocks noChangeShapeType="1"/>
            </p:cNvSpPr>
            <p:nvPr/>
          </p:nvSpPr>
          <p:spPr bwMode="auto">
            <a:xfrm>
              <a:off x="1440" y="3204"/>
              <a:ext cx="1" cy="230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1"/>
            <p:cNvSpPr>
              <a:spLocks noChangeShapeType="1"/>
            </p:cNvSpPr>
            <p:nvPr/>
          </p:nvSpPr>
          <p:spPr bwMode="auto">
            <a:xfrm>
              <a:off x="4344" y="1824"/>
              <a:ext cx="1" cy="1150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2"/>
            <p:cNvSpPr>
              <a:spLocks noChangeShapeType="1"/>
            </p:cNvSpPr>
            <p:nvPr/>
          </p:nvSpPr>
          <p:spPr bwMode="auto">
            <a:xfrm>
              <a:off x="4344" y="3204"/>
              <a:ext cx="1" cy="230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8697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dirty="0">
                <a:ea typeface="新細明體" charset="-120"/>
                <a:cs typeface="新細明體" charset="-120"/>
              </a:rPr>
              <a:t>Generation of ALU Control Input Bits</a:t>
            </a:r>
          </a:p>
        </p:txBody>
      </p:sp>
      <p:grpSp>
        <p:nvGrpSpPr>
          <p:cNvPr id="79879" name="Group 3"/>
          <p:cNvGrpSpPr>
            <a:grpSpLocks/>
          </p:cNvGrpSpPr>
          <p:nvPr/>
        </p:nvGrpSpPr>
        <p:grpSpPr bwMode="auto">
          <a:xfrm>
            <a:off x="2133600" y="1339889"/>
            <a:ext cx="7977188" cy="4476751"/>
            <a:chOff x="384" y="672"/>
            <a:chExt cx="5025" cy="2820"/>
          </a:xfrm>
        </p:grpSpPr>
        <p:sp>
          <p:nvSpPr>
            <p:cNvPr id="79881" name="Line 4"/>
            <p:cNvSpPr>
              <a:spLocks noChangeShapeType="1"/>
            </p:cNvSpPr>
            <p:nvPr/>
          </p:nvSpPr>
          <p:spPr bwMode="auto">
            <a:xfrm flipH="1">
              <a:off x="4227" y="2476"/>
              <a:ext cx="127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82" name="Freeform 5"/>
            <p:cNvSpPr>
              <a:spLocks noChangeArrowheads="1"/>
            </p:cNvSpPr>
            <p:nvPr/>
          </p:nvSpPr>
          <p:spPr bwMode="auto">
            <a:xfrm>
              <a:off x="2482" y="1815"/>
              <a:ext cx="2229" cy="427"/>
            </a:xfrm>
            <a:custGeom>
              <a:avLst/>
              <a:gdLst>
                <a:gd name="T0" fmla="*/ 0 w 2229"/>
                <a:gd name="T1" fmla="*/ 0 h 427"/>
                <a:gd name="T2" fmla="*/ 2229 w 2229"/>
                <a:gd name="T3" fmla="*/ 0 h 427"/>
                <a:gd name="T4" fmla="*/ 2229 w 2229"/>
                <a:gd name="T5" fmla="*/ 427 h 427"/>
                <a:gd name="T6" fmla="*/ 0 60000 65536"/>
                <a:gd name="T7" fmla="*/ 0 60000 65536"/>
                <a:gd name="T8" fmla="*/ 0 60000 65536"/>
                <a:gd name="T9" fmla="*/ 0 w 2229"/>
                <a:gd name="T10" fmla="*/ 0 h 427"/>
                <a:gd name="T11" fmla="*/ 2229 w 2229"/>
                <a:gd name="T12" fmla="*/ 427 h 4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29" h="427">
                  <a:moveTo>
                    <a:pt x="0" y="0"/>
                  </a:moveTo>
                  <a:lnTo>
                    <a:pt x="2229" y="0"/>
                  </a:lnTo>
                  <a:lnTo>
                    <a:pt x="2229" y="427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3" name="Line 6"/>
            <p:cNvSpPr>
              <a:spLocks noChangeShapeType="1"/>
            </p:cNvSpPr>
            <p:nvPr/>
          </p:nvSpPr>
          <p:spPr bwMode="auto">
            <a:xfrm>
              <a:off x="2456" y="1465"/>
              <a:ext cx="1696" cy="1"/>
            </a:xfrm>
            <a:prstGeom prst="line">
              <a:avLst/>
            </a:prstGeom>
            <a:noFill/>
            <a:ln w="1116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84" name="Freeform 7"/>
            <p:cNvSpPr>
              <a:spLocks noChangeArrowheads="1"/>
            </p:cNvSpPr>
            <p:nvPr/>
          </p:nvSpPr>
          <p:spPr bwMode="auto">
            <a:xfrm>
              <a:off x="2461" y="1903"/>
              <a:ext cx="1127" cy="488"/>
            </a:xfrm>
            <a:custGeom>
              <a:avLst/>
              <a:gdLst>
                <a:gd name="T0" fmla="*/ 0 w 1127"/>
                <a:gd name="T1" fmla="*/ 0 h 488"/>
                <a:gd name="T2" fmla="*/ 1127 w 1127"/>
                <a:gd name="T3" fmla="*/ 0 h 488"/>
                <a:gd name="T4" fmla="*/ 1127 w 1127"/>
                <a:gd name="T5" fmla="*/ 488 h 488"/>
                <a:gd name="T6" fmla="*/ 0 60000 65536"/>
                <a:gd name="T7" fmla="*/ 0 60000 65536"/>
                <a:gd name="T8" fmla="*/ 0 60000 65536"/>
                <a:gd name="T9" fmla="*/ 0 w 1127"/>
                <a:gd name="T10" fmla="*/ 0 h 488"/>
                <a:gd name="T11" fmla="*/ 1127 w 1127"/>
                <a:gd name="T12" fmla="*/ 488 h 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7" h="488">
                  <a:moveTo>
                    <a:pt x="0" y="0"/>
                  </a:moveTo>
                  <a:lnTo>
                    <a:pt x="1127" y="0"/>
                  </a:lnTo>
                  <a:lnTo>
                    <a:pt x="1127" y="488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5" name="Freeform 8"/>
            <p:cNvSpPr>
              <a:spLocks noChangeArrowheads="1"/>
            </p:cNvSpPr>
            <p:nvPr/>
          </p:nvSpPr>
          <p:spPr bwMode="auto">
            <a:xfrm>
              <a:off x="2494" y="1640"/>
              <a:ext cx="2731" cy="782"/>
            </a:xfrm>
            <a:custGeom>
              <a:avLst/>
              <a:gdLst>
                <a:gd name="T0" fmla="*/ 0 w 2731"/>
                <a:gd name="T1" fmla="*/ 0 h 782"/>
                <a:gd name="T2" fmla="*/ 2731 w 2731"/>
                <a:gd name="T3" fmla="*/ 0 h 782"/>
                <a:gd name="T4" fmla="*/ 2731 w 2731"/>
                <a:gd name="T5" fmla="*/ 782 h 782"/>
                <a:gd name="T6" fmla="*/ 0 60000 65536"/>
                <a:gd name="T7" fmla="*/ 0 60000 65536"/>
                <a:gd name="T8" fmla="*/ 0 60000 65536"/>
                <a:gd name="T9" fmla="*/ 0 w 2731"/>
                <a:gd name="T10" fmla="*/ 0 h 782"/>
                <a:gd name="T11" fmla="*/ 2731 w 2731"/>
                <a:gd name="T12" fmla="*/ 782 h 7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1" h="782">
                  <a:moveTo>
                    <a:pt x="0" y="0"/>
                  </a:moveTo>
                  <a:lnTo>
                    <a:pt x="2731" y="0"/>
                  </a:lnTo>
                  <a:lnTo>
                    <a:pt x="2731" y="782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6" name="Freeform 9"/>
            <p:cNvSpPr>
              <a:spLocks noChangeArrowheads="1"/>
            </p:cNvSpPr>
            <p:nvPr/>
          </p:nvSpPr>
          <p:spPr bwMode="auto">
            <a:xfrm>
              <a:off x="2478" y="1553"/>
              <a:ext cx="2931" cy="1463"/>
            </a:xfrm>
            <a:custGeom>
              <a:avLst/>
              <a:gdLst>
                <a:gd name="T0" fmla="*/ 0 w 2931"/>
                <a:gd name="T1" fmla="*/ 0 h 1463"/>
                <a:gd name="T2" fmla="*/ 2931 w 2931"/>
                <a:gd name="T3" fmla="*/ 0 h 1463"/>
                <a:gd name="T4" fmla="*/ 2931 w 2931"/>
                <a:gd name="T5" fmla="*/ 1463 h 1463"/>
                <a:gd name="T6" fmla="*/ 2233 w 2931"/>
                <a:gd name="T7" fmla="*/ 1463 h 1463"/>
                <a:gd name="T8" fmla="*/ 2233 w 2931"/>
                <a:gd name="T9" fmla="*/ 1375 h 14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31"/>
                <a:gd name="T16" fmla="*/ 0 h 1463"/>
                <a:gd name="T17" fmla="*/ 2931 w 2931"/>
                <a:gd name="T18" fmla="*/ 1463 h 14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31" h="1463">
                  <a:moveTo>
                    <a:pt x="0" y="0"/>
                  </a:moveTo>
                  <a:lnTo>
                    <a:pt x="2931" y="0"/>
                  </a:lnTo>
                  <a:lnTo>
                    <a:pt x="2931" y="1463"/>
                  </a:lnTo>
                  <a:lnTo>
                    <a:pt x="2233" y="1463"/>
                  </a:lnTo>
                  <a:lnTo>
                    <a:pt x="2233" y="1375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7" name="Freeform 10"/>
            <p:cNvSpPr>
              <a:spLocks noChangeArrowheads="1"/>
            </p:cNvSpPr>
            <p:nvPr/>
          </p:nvSpPr>
          <p:spPr bwMode="auto">
            <a:xfrm>
              <a:off x="1568" y="1233"/>
              <a:ext cx="929" cy="1551"/>
            </a:xfrm>
            <a:custGeom>
              <a:avLst/>
              <a:gdLst>
                <a:gd name="T0" fmla="*/ 829 w 929"/>
                <a:gd name="T1" fmla="*/ 144 h 1551"/>
                <a:gd name="T2" fmla="*/ 929 w 929"/>
                <a:gd name="T3" fmla="*/ 144 h 1551"/>
                <a:gd name="T4" fmla="*/ 929 w 929"/>
                <a:gd name="T5" fmla="*/ 0 h 1551"/>
                <a:gd name="T6" fmla="*/ 0 w 929"/>
                <a:gd name="T7" fmla="*/ 0 h 1551"/>
                <a:gd name="T8" fmla="*/ 0 w 929"/>
                <a:gd name="T9" fmla="*/ 1551 h 1551"/>
                <a:gd name="T10" fmla="*/ 730 w 929"/>
                <a:gd name="T11" fmla="*/ 1551 h 1551"/>
                <a:gd name="T12" fmla="*/ 730 w 929"/>
                <a:gd name="T13" fmla="*/ 1485 h 15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29"/>
                <a:gd name="T22" fmla="*/ 0 h 1551"/>
                <a:gd name="T23" fmla="*/ 929 w 929"/>
                <a:gd name="T24" fmla="*/ 1551 h 15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29" h="1551">
                  <a:moveTo>
                    <a:pt x="829" y="144"/>
                  </a:moveTo>
                  <a:lnTo>
                    <a:pt x="929" y="144"/>
                  </a:lnTo>
                  <a:lnTo>
                    <a:pt x="929" y="0"/>
                  </a:lnTo>
                  <a:lnTo>
                    <a:pt x="0" y="0"/>
                  </a:lnTo>
                  <a:lnTo>
                    <a:pt x="0" y="1551"/>
                  </a:lnTo>
                  <a:lnTo>
                    <a:pt x="730" y="1551"/>
                  </a:lnTo>
                  <a:lnTo>
                    <a:pt x="730" y="1485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8" name="Freeform 11"/>
            <p:cNvSpPr>
              <a:spLocks noChangeArrowheads="1"/>
            </p:cNvSpPr>
            <p:nvPr/>
          </p:nvSpPr>
          <p:spPr bwMode="auto">
            <a:xfrm>
              <a:off x="2499" y="1728"/>
              <a:ext cx="1175" cy="1698"/>
            </a:xfrm>
            <a:custGeom>
              <a:avLst/>
              <a:gdLst>
                <a:gd name="T0" fmla="*/ 0 w 1175"/>
                <a:gd name="T1" fmla="*/ 0 h 1698"/>
                <a:gd name="T2" fmla="*/ 838 w 1175"/>
                <a:gd name="T3" fmla="*/ 0 h 1698"/>
                <a:gd name="T4" fmla="*/ 838 w 1175"/>
                <a:gd name="T5" fmla="*/ 1698 h 1698"/>
                <a:gd name="T6" fmla="*/ 1175 w 1175"/>
                <a:gd name="T7" fmla="*/ 1698 h 1698"/>
                <a:gd name="T8" fmla="*/ 1175 w 1175"/>
                <a:gd name="T9" fmla="*/ 1610 h 16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5"/>
                <a:gd name="T16" fmla="*/ 0 h 1698"/>
                <a:gd name="T17" fmla="*/ 1175 w 1175"/>
                <a:gd name="T18" fmla="*/ 1698 h 16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5" h="1698">
                  <a:moveTo>
                    <a:pt x="0" y="0"/>
                  </a:moveTo>
                  <a:lnTo>
                    <a:pt x="838" y="0"/>
                  </a:lnTo>
                  <a:lnTo>
                    <a:pt x="838" y="1698"/>
                  </a:lnTo>
                  <a:lnTo>
                    <a:pt x="1175" y="1698"/>
                  </a:lnTo>
                  <a:lnTo>
                    <a:pt x="1175" y="1610"/>
                  </a:lnTo>
                </a:path>
              </a:pathLst>
            </a:custGeom>
            <a:noFill/>
            <a:ln w="1908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89" name="Freeform 12"/>
            <p:cNvSpPr>
              <a:spLocks noChangeArrowheads="1"/>
            </p:cNvSpPr>
            <p:nvPr/>
          </p:nvSpPr>
          <p:spPr bwMode="auto">
            <a:xfrm>
              <a:off x="2407" y="1991"/>
              <a:ext cx="450" cy="66"/>
            </a:xfrm>
            <a:custGeom>
              <a:avLst/>
              <a:gdLst>
                <a:gd name="T0" fmla="*/ 0 w 450"/>
                <a:gd name="T1" fmla="*/ 0 h 66"/>
                <a:gd name="T2" fmla="*/ 450 w 450"/>
                <a:gd name="T3" fmla="*/ 0 h 66"/>
                <a:gd name="T4" fmla="*/ 450 w 450"/>
                <a:gd name="T5" fmla="*/ 66 h 66"/>
                <a:gd name="T6" fmla="*/ 0 60000 65536"/>
                <a:gd name="T7" fmla="*/ 0 60000 65536"/>
                <a:gd name="T8" fmla="*/ 0 60000 65536"/>
                <a:gd name="T9" fmla="*/ 0 w 450"/>
                <a:gd name="T10" fmla="*/ 0 h 66"/>
                <a:gd name="T11" fmla="*/ 450 w 450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0" h="66">
                  <a:moveTo>
                    <a:pt x="0" y="0"/>
                  </a:moveTo>
                  <a:lnTo>
                    <a:pt x="450" y="0"/>
                  </a:lnTo>
                  <a:lnTo>
                    <a:pt x="450" y="66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90" name="Line 13"/>
            <p:cNvSpPr>
              <a:spLocks noChangeShapeType="1"/>
            </p:cNvSpPr>
            <p:nvPr/>
          </p:nvSpPr>
          <p:spPr bwMode="auto">
            <a:xfrm flipH="1">
              <a:off x="1634" y="2661"/>
              <a:ext cx="589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91" name="Line 14"/>
            <p:cNvSpPr>
              <a:spLocks noChangeShapeType="1"/>
            </p:cNvSpPr>
            <p:nvPr/>
          </p:nvSpPr>
          <p:spPr bwMode="auto">
            <a:xfrm>
              <a:off x="2461" y="3018"/>
              <a:ext cx="476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892" name="Freeform 15"/>
            <p:cNvSpPr>
              <a:spLocks noChangeArrowheads="1"/>
            </p:cNvSpPr>
            <p:nvPr/>
          </p:nvSpPr>
          <p:spPr bwMode="auto">
            <a:xfrm>
              <a:off x="2111" y="2313"/>
              <a:ext cx="111" cy="87"/>
            </a:xfrm>
            <a:custGeom>
              <a:avLst/>
              <a:gdLst>
                <a:gd name="T0" fmla="*/ 111 w 111"/>
                <a:gd name="T1" fmla="*/ 85 h 87"/>
                <a:gd name="T2" fmla="*/ 0 w 111"/>
                <a:gd name="T3" fmla="*/ 87 h 87"/>
                <a:gd name="T4" fmla="*/ 0 w 111"/>
                <a:gd name="T5" fmla="*/ 0 h 87"/>
                <a:gd name="T6" fmla="*/ 0 60000 65536"/>
                <a:gd name="T7" fmla="*/ 0 60000 65536"/>
                <a:gd name="T8" fmla="*/ 0 60000 65536"/>
                <a:gd name="T9" fmla="*/ 0 w 111"/>
                <a:gd name="T10" fmla="*/ 0 h 87"/>
                <a:gd name="T11" fmla="*/ 111 w 111"/>
                <a:gd name="T12" fmla="*/ 87 h 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" h="87">
                  <a:moveTo>
                    <a:pt x="111" y="85"/>
                  </a:moveTo>
                  <a:lnTo>
                    <a:pt x="0" y="87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93" name="Freeform 16"/>
            <p:cNvSpPr>
              <a:spLocks noChangeArrowheads="1"/>
            </p:cNvSpPr>
            <p:nvPr/>
          </p:nvSpPr>
          <p:spPr bwMode="auto">
            <a:xfrm>
              <a:off x="3783" y="2647"/>
              <a:ext cx="87" cy="459"/>
            </a:xfrm>
            <a:custGeom>
              <a:avLst/>
              <a:gdLst>
                <a:gd name="T0" fmla="*/ 87 w 87"/>
                <a:gd name="T1" fmla="*/ 0 h 459"/>
                <a:gd name="T2" fmla="*/ 87 w 87"/>
                <a:gd name="T3" fmla="*/ 459 h 459"/>
                <a:gd name="T4" fmla="*/ 0 w 87"/>
                <a:gd name="T5" fmla="*/ 459 h 459"/>
                <a:gd name="T6" fmla="*/ 0 60000 65536"/>
                <a:gd name="T7" fmla="*/ 0 60000 65536"/>
                <a:gd name="T8" fmla="*/ 0 60000 65536"/>
                <a:gd name="T9" fmla="*/ 0 w 87"/>
                <a:gd name="T10" fmla="*/ 0 h 459"/>
                <a:gd name="T11" fmla="*/ 87 w 87"/>
                <a:gd name="T12" fmla="*/ 459 h 4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7" h="459">
                  <a:moveTo>
                    <a:pt x="87" y="0"/>
                  </a:moveTo>
                  <a:lnTo>
                    <a:pt x="87" y="459"/>
                  </a:lnTo>
                  <a:lnTo>
                    <a:pt x="0" y="459"/>
                  </a:lnTo>
                </a:path>
              </a:pathLst>
            </a:custGeom>
            <a:noFill/>
            <a:ln w="1908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94" name="Freeform 17"/>
            <p:cNvSpPr>
              <a:spLocks noChangeArrowheads="1"/>
            </p:cNvSpPr>
            <p:nvPr/>
          </p:nvSpPr>
          <p:spPr bwMode="auto">
            <a:xfrm>
              <a:off x="4140" y="1465"/>
              <a:ext cx="178" cy="860"/>
            </a:xfrm>
            <a:custGeom>
              <a:avLst/>
              <a:gdLst>
                <a:gd name="T0" fmla="*/ 0 w 178"/>
                <a:gd name="T1" fmla="*/ 860 h 860"/>
                <a:gd name="T2" fmla="*/ 88 w 178"/>
                <a:gd name="T3" fmla="*/ 860 h 860"/>
                <a:gd name="T4" fmla="*/ 88 w 178"/>
                <a:gd name="T5" fmla="*/ 0 h 860"/>
                <a:gd name="T6" fmla="*/ 178 w 178"/>
                <a:gd name="T7" fmla="*/ 0 h 8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8"/>
                <a:gd name="T13" fmla="*/ 0 h 860"/>
                <a:gd name="T14" fmla="*/ 178 w 178"/>
                <a:gd name="T15" fmla="*/ 860 h 8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8" h="860">
                  <a:moveTo>
                    <a:pt x="0" y="860"/>
                  </a:moveTo>
                  <a:lnTo>
                    <a:pt x="88" y="860"/>
                  </a:lnTo>
                  <a:lnTo>
                    <a:pt x="88" y="0"/>
                  </a:lnTo>
                  <a:lnTo>
                    <a:pt x="178" y="0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95" name="Freeform 18"/>
            <p:cNvSpPr>
              <a:spLocks noChangeArrowheads="1"/>
            </p:cNvSpPr>
            <p:nvPr/>
          </p:nvSpPr>
          <p:spPr bwMode="auto">
            <a:xfrm>
              <a:off x="4150" y="1368"/>
              <a:ext cx="168" cy="97"/>
            </a:xfrm>
            <a:custGeom>
              <a:avLst/>
              <a:gdLst>
                <a:gd name="T0" fmla="*/ 0 w 168"/>
                <a:gd name="T1" fmla="*/ 97 h 97"/>
                <a:gd name="T2" fmla="*/ 2 w 168"/>
                <a:gd name="T3" fmla="*/ 0 h 97"/>
                <a:gd name="T4" fmla="*/ 168 w 168"/>
                <a:gd name="T5" fmla="*/ 0 h 97"/>
                <a:gd name="T6" fmla="*/ 0 60000 65536"/>
                <a:gd name="T7" fmla="*/ 0 60000 65536"/>
                <a:gd name="T8" fmla="*/ 0 60000 65536"/>
                <a:gd name="T9" fmla="*/ 0 w 168"/>
                <a:gd name="T10" fmla="*/ 0 h 97"/>
                <a:gd name="T11" fmla="*/ 168 w 168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97">
                  <a:moveTo>
                    <a:pt x="0" y="97"/>
                  </a:moveTo>
                  <a:lnTo>
                    <a:pt x="2" y="0"/>
                  </a:lnTo>
                  <a:lnTo>
                    <a:pt x="168" y="0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96" name="Freeform 19"/>
            <p:cNvSpPr>
              <a:spLocks noChangeArrowheads="1"/>
            </p:cNvSpPr>
            <p:nvPr/>
          </p:nvSpPr>
          <p:spPr bwMode="auto">
            <a:xfrm>
              <a:off x="4500" y="1174"/>
              <a:ext cx="133" cy="244"/>
            </a:xfrm>
            <a:custGeom>
              <a:avLst/>
              <a:gdLst>
                <a:gd name="T0" fmla="*/ 130 w 133"/>
                <a:gd name="T1" fmla="*/ 0 h 244"/>
                <a:gd name="T2" fmla="*/ 133 w 133"/>
                <a:gd name="T3" fmla="*/ 244 h 244"/>
                <a:gd name="T4" fmla="*/ 0 w 133"/>
                <a:gd name="T5" fmla="*/ 244 h 244"/>
                <a:gd name="T6" fmla="*/ 0 60000 65536"/>
                <a:gd name="T7" fmla="*/ 0 60000 65536"/>
                <a:gd name="T8" fmla="*/ 0 60000 65536"/>
                <a:gd name="T9" fmla="*/ 0 w 133"/>
                <a:gd name="T10" fmla="*/ 0 h 244"/>
                <a:gd name="T11" fmla="*/ 133 w 133"/>
                <a:gd name="T12" fmla="*/ 244 h 2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3" h="244">
                  <a:moveTo>
                    <a:pt x="130" y="0"/>
                  </a:moveTo>
                  <a:lnTo>
                    <a:pt x="133" y="244"/>
                  </a:lnTo>
                  <a:lnTo>
                    <a:pt x="0" y="244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97" name="Freeform 20"/>
            <p:cNvSpPr>
              <a:spLocks noChangeArrowheads="1"/>
            </p:cNvSpPr>
            <p:nvPr/>
          </p:nvSpPr>
          <p:spPr bwMode="auto">
            <a:xfrm>
              <a:off x="4315" y="1342"/>
              <a:ext cx="185" cy="151"/>
            </a:xfrm>
            <a:custGeom>
              <a:avLst/>
              <a:gdLst>
                <a:gd name="T0" fmla="*/ 109 w 185"/>
                <a:gd name="T1" fmla="*/ 151 h 151"/>
                <a:gd name="T2" fmla="*/ 124 w 185"/>
                <a:gd name="T3" fmla="*/ 151 h 151"/>
                <a:gd name="T4" fmla="*/ 135 w 185"/>
                <a:gd name="T5" fmla="*/ 147 h 151"/>
                <a:gd name="T6" fmla="*/ 145 w 185"/>
                <a:gd name="T7" fmla="*/ 144 h 151"/>
                <a:gd name="T8" fmla="*/ 154 w 185"/>
                <a:gd name="T9" fmla="*/ 137 h 151"/>
                <a:gd name="T10" fmla="*/ 164 w 185"/>
                <a:gd name="T11" fmla="*/ 130 h 151"/>
                <a:gd name="T12" fmla="*/ 171 w 185"/>
                <a:gd name="T13" fmla="*/ 121 h 151"/>
                <a:gd name="T14" fmla="*/ 178 w 185"/>
                <a:gd name="T15" fmla="*/ 111 h 151"/>
                <a:gd name="T16" fmla="*/ 183 w 185"/>
                <a:gd name="T17" fmla="*/ 99 h 151"/>
                <a:gd name="T18" fmla="*/ 185 w 185"/>
                <a:gd name="T19" fmla="*/ 87 h 151"/>
                <a:gd name="T20" fmla="*/ 185 w 185"/>
                <a:gd name="T21" fmla="*/ 76 h 151"/>
                <a:gd name="T22" fmla="*/ 185 w 185"/>
                <a:gd name="T23" fmla="*/ 64 h 151"/>
                <a:gd name="T24" fmla="*/ 183 w 185"/>
                <a:gd name="T25" fmla="*/ 52 h 151"/>
                <a:gd name="T26" fmla="*/ 178 w 185"/>
                <a:gd name="T27" fmla="*/ 40 h 151"/>
                <a:gd name="T28" fmla="*/ 171 w 185"/>
                <a:gd name="T29" fmla="*/ 31 h 151"/>
                <a:gd name="T30" fmla="*/ 164 w 185"/>
                <a:gd name="T31" fmla="*/ 21 h 151"/>
                <a:gd name="T32" fmla="*/ 154 w 185"/>
                <a:gd name="T33" fmla="*/ 14 h 151"/>
                <a:gd name="T34" fmla="*/ 145 w 185"/>
                <a:gd name="T35" fmla="*/ 7 h 151"/>
                <a:gd name="T36" fmla="*/ 135 w 185"/>
                <a:gd name="T37" fmla="*/ 2 h 151"/>
                <a:gd name="T38" fmla="*/ 124 w 185"/>
                <a:gd name="T39" fmla="*/ 0 h 151"/>
                <a:gd name="T40" fmla="*/ 112 w 185"/>
                <a:gd name="T41" fmla="*/ 0 h 151"/>
                <a:gd name="T42" fmla="*/ 0 w 185"/>
                <a:gd name="T43" fmla="*/ 0 h 151"/>
                <a:gd name="T44" fmla="*/ 0 w 185"/>
                <a:gd name="T45" fmla="*/ 151 h 151"/>
                <a:gd name="T46" fmla="*/ 112 w 185"/>
                <a:gd name="T47" fmla="*/ 151 h 151"/>
                <a:gd name="T48" fmla="*/ 112 w 185"/>
                <a:gd name="T49" fmla="*/ 151 h 151"/>
                <a:gd name="T50" fmla="*/ 109 w 185"/>
                <a:gd name="T51" fmla="*/ 151 h 151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85"/>
                <a:gd name="T79" fmla="*/ 0 h 151"/>
                <a:gd name="T80" fmla="*/ 185 w 185"/>
                <a:gd name="T81" fmla="*/ 151 h 151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85" h="151">
                  <a:moveTo>
                    <a:pt x="109" y="151"/>
                  </a:moveTo>
                  <a:lnTo>
                    <a:pt x="124" y="151"/>
                  </a:lnTo>
                  <a:lnTo>
                    <a:pt x="135" y="147"/>
                  </a:lnTo>
                  <a:lnTo>
                    <a:pt x="145" y="144"/>
                  </a:lnTo>
                  <a:lnTo>
                    <a:pt x="154" y="137"/>
                  </a:lnTo>
                  <a:lnTo>
                    <a:pt x="164" y="130"/>
                  </a:lnTo>
                  <a:lnTo>
                    <a:pt x="171" y="121"/>
                  </a:lnTo>
                  <a:lnTo>
                    <a:pt x="178" y="111"/>
                  </a:lnTo>
                  <a:lnTo>
                    <a:pt x="183" y="99"/>
                  </a:lnTo>
                  <a:lnTo>
                    <a:pt x="185" y="87"/>
                  </a:lnTo>
                  <a:lnTo>
                    <a:pt x="185" y="76"/>
                  </a:lnTo>
                  <a:lnTo>
                    <a:pt x="185" y="64"/>
                  </a:lnTo>
                  <a:lnTo>
                    <a:pt x="183" y="52"/>
                  </a:lnTo>
                  <a:lnTo>
                    <a:pt x="178" y="40"/>
                  </a:lnTo>
                  <a:lnTo>
                    <a:pt x="171" y="31"/>
                  </a:lnTo>
                  <a:lnTo>
                    <a:pt x="164" y="21"/>
                  </a:lnTo>
                  <a:lnTo>
                    <a:pt x="154" y="14"/>
                  </a:lnTo>
                  <a:lnTo>
                    <a:pt x="145" y="7"/>
                  </a:lnTo>
                  <a:lnTo>
                    <a:pt x="135" y="2"/>
                  </a:lnTo>
                  <a:lnTo>
                    <a:pt x="124" y="0"/>
                  </a:lnTo>
                  <a:lnTo>
                    <a:pt x="112" y="0"/>
                  </a:lnTo>
                  <a:lnTo>
                    <a:pt x="0" y="0"/>
                  </a:lnTo>
                  <a:lnTo>
                    <a:pt x="0" y="151"/>
                  </a:lnTo>
                  <a:lnTo>
                    <a:pt x="112" y="151"/>
                  </a:lnTo>
                  <a:lnTo>
                    <a:pt x="109" y="1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98" name="Freeform 21"/>
            <p:cNvSpPr>
              <a:spLocks noChangeArrowheads="1"/>
            </p:cNvSpPr>
            <p:nvPr/>
          </p:nvSpPr>
          <p:spPr bwMode="auto">
            <a:xfrm>
              <a:off x="4315" y="1342"/>
              <a:ext cx="185" cy="151"/>
            </a:xfrm>
            <a:custGeom>
              <a:avLst/>
              <a:gdLst>
                <a:gd name="T0" fmla="*/ 109 w 185"/>
                <a:gd name="T1" fmla="*/ 151 h 151"/>
                <a:gd name="T2" fmla="*/ 124 w 185"/>
                <a:gd name="T3" fmla="*/ 151 h 151"/>
                <a:gd name="T4" fmla="*/ 135 w 185"/>
                <a:gd name="T5" fmla="*/ 147 h 151"/>
                <a:gd name="T6" fmla="*/ 145 w 185"/>
                <a:gd name="T7" fmla="*/ 144 h 151"/>
                <a:gd name="T8" fmla="*/ 154 w 185"/>
                <a:gd name="T9" fmla="*/ 137 h 151"/>
                <a:gd name="T10" fmla="*/ 164 w 185"/>
                <a:gd name="T11" fmla="*/ 130 h 151"/>
                <a:gd name="T12" fmla="*/ 171 w 185"/>
                <a:gd name="T13" fmla="*/ 121 h 151"/>
                <a:gd name="T14" fmla="*/ 178 w 185"/>
                <a:gd name="T15" fmla="*/ 111 h 151"/>
                <a:gd name="T16" fmla="*/ 183 w 185"/>
                <a:gd name="T17" fmla="*/ 99 h 151"/>
                <a:gd name="T18" fmla="*/ 185 w 185"/>
                <a:gd name="T19" fmla="*/ 87 h 151"/>
                <a:gd name="T20" fmla="*/ 185 w 185"/>
                <a:gd name="T21" fmla="*/ 76 h 151"/>
                <a:gd name="T22" fmla="*/ 185 w 185"/>
                <a:gd name="T23" fmla="*/ 64 h 151"/>
                <a:gd name="T24" fmla="*/ 183 w 185"/>
                <a:gd name="T25" fmla="*/ 52 h 151"/>
                <a:gd name="T26" fmla="*/ 178 w 185"/>
                <a:gd name="T27" fmla="*/ 40 h 151"/>
                <a:gd name="T28" fmla="*/ 171 w 185"/>
                <a:gd name="T29" fmla="*/ 31 h 151"/>
                <a:gd name="T30" fmla="*/ 164 w 185"/>
                <a:gd name="T31" fmla="*/ 21 h 151"/>
                <a:gd name="T32" fmla="*/ 154 w 185"/>
                <a:gd name="T33" fmla="*/ 14 h 151"/>
                <a:gd name="T34" fmla="*/ 145 w 185"/>
                <a:gd name="T35" fmla="*/ 7 h 151"/>
                <a:gd name="T36" fmla="*/ 135 w 185"/>
                <a:gd name="T37" fmla="*/ 2 h 151"/>
                <a:gd name="T38" fmla="*/ 124 w 185"/>
                <a:gd name="T39" fmla="*/ 0 h 151"/>
                <a:gd name="T40" fmla="*/ 112 w 185"/>
                <a:gd name="T41" fmla="*/ 0 h 151"/>
                <a:gd name="T42" fmla="*/ 0 w 185"/>
                <a:gd name="T43" fmla="*/ 0 h 151"/>
                <a:gd name="T44" fmla="*/ 0 w 185"/>
                <a:gd name="T45" fmla="*/ 151 h 151"/>
                <a:gd name="T46" fmla="*/ 112 w 185"/>
                <a:gd name="T47" fmla="*/ 151 h 151"/>
                <a:gd name="T48" fmla="*/ 112 w 185"/>
                <a:gd name="T49" fmla="*/ 151 h 15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85"/>
                <a:gd name="T76" fmla="*/ 0 h 151"/>
                <a:gd name="T77" fmla="*/ 185 w 185"/>
                <a:gd name="T78" fmla="*/ 151 h 15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85" h="151">
                  <a:moveTo>
                    <a:pt x="109" y="151"/>
                  </a:moveTo>
                  <a:lnTo>
                    <a:pt x="124" y="151"/>
                  </a:lnTo>
                  <a:lnTo>
                    <a:pt x="135" y="147"/>
                  </a:lnTo>
                  <a:lnTo>
                    <a:pt x="145" y="144"/>
                  </a:lnTo>
                  <a:lnTo>
                    <a:pt x="154" y="137"/>
                  </a:lnTo>
                  <a:lnTo>
                    <a:pt x="164" y="130"/>
                  </a:lnTo>
                  <a:lnTo>
                    <a:pt x="171" y="121"/>
                  </a:lnTo>
                  <a:lnTo>
                    <a:pt x="178" y="111"/>
                  </a:lnTo>
                  <a:lnTo>
                    <a:pt x="183" y="99"/>
                  </a:lnTo>
                  <a:lnTo>
                    <a:pt x="185" y="87"/>
                  </a:lnTo>
                  <a:lnTo>
                    <a:pt x="185" y="76"/>
                  </a:lnTo>
                  <a:lnTo>
                    <a:pt x="185" y="64"/>
                  </a:lnTo>
                  <a:lnTo>
                    <a:pt x="183" y="52"/>
                  </a:lnTo>
                  <a:lnTo>
                    <a:pt x="178" y="40"/>
                  </a:lnTo>
                  <a:lnTo>
                    <a:pt x="171" y="31"/>
                  </a:lnTo>
                  <a:lnTo>
                    <a:pt x="164" y="21"/>
                  </a:lnTo>
                  <a:lnTo>
                    <a:pt x="154" y="14"/>
                  </a:lnTo>
                  <a:lnTo>
                    <a:pt x="145" y="7"/>
                  </a:lnTo>
                  <a:lnTo>
                    <a:pt x="135" y="2"/>
                  </a:lnTo>
                  <a:lnTo>
                    <a:pt x="124" y="0"/>
                  </a:lnTo>
                  <a:lnTo>
                    <a:pt x="112" y="0"/>
                  </a:lnTo>
                  <a:lnTo>
                    <a:pt x="0" y="0"/>
                  </a:lnTo>
                  <a:lnTo>
                    <a:pt x="0" y="151"/>
                  </a:lnTo>
                  <a:lnTo>
                    <a:pt x="112" y="151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899" name="Freeform 22"/>
            <p:cNvSpPr>
              <a:spLocks noChangeArrowheads="1"/>
            </p:cNvSpPr>
            <p:nvPr/>
          </p:nvSpPr>
          <p:spPr bwMode="auto">
            <a:xfrm>
              <a:off x="2208" y="2384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6 h 31"/>
                <a:gd name="T6" fmla="*/ 0 w 31"/>
                <a:gd name="T7" fmla="*/ 2 h 31"/>
                <a:gd name="T8" fmla="*/ 0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00" name="Freeform 23"/>
            <p:cNvSpPr>
              <a:spLocks noChangeArrowheads="1"/>
            </p:cNvSpPr>
            <p:nvPr/>
          </p:nvSpPr>
          <p:spPr bwMode="auto">
            <a:xfrm>
              <a:off x="2208" y="2647"/>
              <a:ext cx="31" cy="30"/>
            </a:xfrm>
            <a:custGeom>
              <a:avLst/>
              <a:gdLst>
                <a:gd name="T0" fmla="*/ 0 w 31"/>
                <a:gd name="T1" fmla="*/ 0 h 30"/>
                <a:gd name="T2" fmla="*/ 0 w 31"/>
                <a:gd name="T3" fmla="*/ 30 h 30"/>
                <a:gd name="T4" fmla="*/ 31 w 31"/>
                <a:gd name="T5" fmla="*/ 16 h 30"/>
                <a:gd name="T6" fmla="*/ 0 w 31"/>
                <a:gd name="T7" fmla="*/ 2 h 30"/>
                <a:gd name="T8" fmla="*/ 0 w 31"/>
                <a:gd name="T9" fmla="*/ 2 h 30"/>
                <a:gd name="T10" fmla="*/ 0 w 31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0"/>
                <a:gd name="T20" fmla="*/ 31 w 31"/>
                <a:gd name="T21" fmla="*/ 30 h 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0">
                  <a:moveTo>
                    <a:pt x="0" y="0"/>
                  </a:moveTo>
                  <a:lnTo>
                    <a:pt x="0" y="30"/>
                  </a:lnTo>
                  <a:lnTo>
                    <a:pt x="31" y="1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01" name="Freeform 24"/>
            <p:cNvSpPr>
              <a:spLocks noChangeArrowheads="1"/>
            </p:cNvSpPr>
            <p:nvPr/>
          </p:nvSpPr>
          <p:spPr bwMode="auto">
            <a:xfrm>
              <a:off x="2492" y="2471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7 h 31"/>
                <a:gd name="T6" fmla="*/ 2 w 31"/>
                <a:gd name="T7" fmla="*/ 3 h 31"/>
                <a:gd name="T8" fmla="*/ 2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7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02" name="Line 25"/>
            <p:cNvSpPr>
              <a:spLocks noChangeShapeType="1"/>
            </p:cNvSpPr>
            <p:nvPr/>
          </p:nvSpPr>
          <p:spPr bwMode="auto">
            <a:xfrm flipH="1" flipV="1">
              <a:off x="2844" y="2979"/>
              <a:ext cx="44" cy="78"/>
            </a:xfrm>
            <a:prstGeom prst="line">
              <a:avLst/>
            </a:prstGeom>
            <a:noFill/>
            <a:ln w="11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903" name="Freeform 26"/>
            <p:cNvSpPr>
              <a:spLocks noChangeArrowheads="1"/>
            </p:cNvSpPr>
            <p:nvPr/>
          </p:nvSpPr>
          <p:spPr bwMode="auto">
            <a:xfrm>
              <a:off x="472" y="2029"/>
              <a:ext cx="111" cy="305"/>
            </a:xfrm>
            <a:custGeom>
              <a:avLst/>
              <a:gdLst>
                <a:gd name="T0" fmla="*/ 109 w 111"/>
                <a:gd name="T1" fmla="*/ 305 h 305"/>
                <a:gd name="T2" fmla="*/ 111 w 111"/>
                <a:gd name="T3" fmla="*/ 0 h 305"/>
                <a:gd name="T4" fmla="*/ 0 w 111"/>
                <a:gd name="T5" fmla="*/ 0 h 305"/>
                <a:gd name="T6" fmla="*/ 0 w 111"/>
                <a:gd name="T7" fmla="*/ 305 h 305"/>
                <a:gd name="T8" fmla="*/ 111 w 111"/>
                <a:gd name="T9" fmla="*/ 305 h 305"/>
                <a:gd name="T10" fmla="*/ 111 w 111"/>
                <a:gd name="T11" fmla="*/ 305 h 305"/>
                <a:gd name="T12" fmla="*/ 109 w 111"/>
                <a:gd name="T13" fmla="*/ 305 h 3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1"/>
                <a:gd name="T22" fmla="*/ 0 h 305"/>
                <a:gd name="T23" fmla="*/ 111 w 111"/>
                <a:gd name="T24" fmla="*/ 305 h 30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1" h="305">
                  <a:moveTo>
                    <a:pt x="109" y="305"/>
                  </a:moveTo>
                  <a:lnTo>
                    <a:pt x="111" y="0"/>
                  </a:lnTo>
                  <a:lnTo>
                    <a:pt x="0" y="0"/>
                  </a:lnTo>
                  <a:lnTo>
                    <a:pt x="0" y="305"/>
                  </a:lnTo>
                  <a:lnTo>
                    <a:pt x="111" y="305"/>
                  </a:lnTo>
                  <a:lnTo>
                    <a:pt x="109" y="3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04" name="Freeform 27"/>
            <p:cNvSpPr>
              <a:spLocks noChangeArrowheads="1"/>
            </p:cNvSpPr>
            <p:nvPr/>
          </p:nvSpPr>
          <p:spPr bwMode="auto">
            <a:xfrm>
              <a:off x="472" y="2029"/>
              <a:ext cx="111" cy="305"/>
            </a:xfrm>
            <a:custGeom>
              <a:avLst/>
              <a:gdLst>
                <a:gd name="T0" fmla="*/ 109 w 111"/>
                <a:gd name="T1" fmla="*/ 305 h 305"/>
                <a:gd name="T2" fmla="*/ 111 w 111"/>
                <a:gd name="T3" fmla="*/ 0 h 305"/>
                <a:gd name="T4" fmla="*/ 0 w 111"/>
                <a:gd name="T5" fmla="*/ 0 h 305"/>
                <a:gd name="T6" fmla="*/ 0 w 111"/>
                <a:gd name="T7" fmla="*/ 305 h 305"/>
                <a:gd name="T8" fmla="*/ 111 w 111"/>
                <a:gd name="T9" fmla="*/ 305 h 305"/>
                <a:gd name="T10" fmla="*/ 111 w 111"/>
                <a:gd name="T11" fmla="*/ 305 h 3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1"/>
                <a:gd name="T19" fmla="*/ 0 h 305"/>
                <a:gd name="T20" fmla="*/ 111 w 111"/>
                <a:gd name="T21" fmla="*/ 305 h 3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1" h="305">
                  <a:moveTo>
                    <a:pt x="109" y="305"/>
                  </a:moveTo>
                  <a:lnTo>
                    <a:pt x="111" y="0"/>
                  </a:lnTo>
                  <a:lnTo>
                    <a:pt x="0" y="0"/>
                  </a:lnTo>
                  <a:lnTo>
                    <a:pt x="0" y="305"/>
                  </a:lnTo>
                  <a:lnTo>
                    <a:pt x="111" y="305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05" name="Rectangle 28"/>
            <p:cNvSpPr>
              <a:spLocks noChangeArrowheads="1"/>
            </p:cNvSpPr>
            <p:nvPr/>
          </p:nvSpPr>
          <p:spPr bwMode="auto">
            <a:xfrm>
              <a:off x="489" y="2145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79906" name="Rectangle 29"/>
            <p:cNvSpPr>
              <a:spLocks noChangeArrowheads="1"/>
            </p:cNvSpPr>
            <p:nvPr/>
          </p:nvSpPr>
          <p:spPr bwMode="auto">
            <a:xfrm>
              <a:off x="529" y="214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79907" name="Freeform 30"/>
            <p:cNvSpPr>
              <a:spLocks noChangeArrowheads="1"/>
            </p:cNvSpPr>
            <p:nvPr/>
          </p:nvSpPr>
          <p:spPr bwMode="auto">
            <a:xfrm>
              <a:off x="780" y="2059"/>
              <a:ext cx="656" cy="685"/>
            </a:xfrm>
            <a:custGeom>
              <a:avLst/>
              <a:gdLst>
                <a:gd name="T0" fmla="*/ 656 w 656"/>
                <a:gd name="T1" fmla="*/ 685 h 685"/>
                <a:gd name="T2" fmla="*/ 656 w 656"/>
                <a:gd name="T3" fmla="*/ 0 h 685"/>
                <a:gd name="T4" fmla="*/ 0 w 656"/>
                <a:gd name="T5" fmla="*/ 0 h 685"/>
                <a:gd name="T6" fmla="*/ 0 w 656"/>
                <a:gd name="T7" fmla="*/ 685 h 685"/>
                <a:gd name="T8" fmla="*/ 656 w 656"/>
                <a:gd name="T9" fmla="*/ 685 h 685"/>
                <a:gd name="T10" fmla="*/ 656 w 656"/>
                <a:gd name="T11" fmla="*/ 685 h 6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6"/>
                <a:gd name="T19" fmla="*/ 0 h 685"/>
                <a:gd name="T20" fmla="*/ 656 w 656"/>
                <a:gd name="T21" fmla="*/ 685 h 6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6" h="685">
                  <a:moveTo>
                    <a:pt x="656" y="685"/>
                  </a:moveTo>
                  <a:lnTo>
                    <a:pt x="656" y="0"/>
                  </a:lnTo>
                  <a:lnTo>
                    <a:pt x="0" y="0"/>
                  </a:lnTo>
                  <a:lnTo>
                    <a:pt x="0" y="685"/>
                  </a:lnTo>
                  <a:lnTo>
                    <a:pt x="656" y="6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08" name="Freeform 31"/>
            <p:cNvSpPr>
              <a:spLocks noChangeArrowheads="1"/>
            </p:cNvSpPr>
            <p:nvPr/>
          </p:nvSpPr>
          <p:spPr bwMode="auto">
            <a:xfrm>
              <a:off x="780" y="2059"/>
              <a:ext cx="656" cy="685"/>
            </a:xfrm>
            <a:custGeom>
              <a:avLst/>
              <a:gdLst>
                <a:gd name="T0" fmla="*/ 656 w 656"/>
                <a:gd name="T1" fmla="*/ 685 h 685"/>
                <a:gd name="T2" fmla="*/ 656 w 656"/>
                <a:gd name="T3" fmla="*/ 0 h 685"/>
                <a:gd name="T4" fmla="*/ 0 w 656"/>
                <a:gd name="T5" fmla="*/ 0 h 685"/>
                <a:gd name="T6" fmla="*/ 0 w 656"/>
                <a:gd name="T7" fmla="*/ 685 h 685"/>
                <a:gd name="T8" fmla="*/ 656 w 656"/>
                <a:gd name="T9" fmla="*/ 685 h 685"/>
                <a:gd name="T10" fmla="*/ 656 w 656"/>
                <a:gd name="T11" fmla="*/ 685 h 6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6"/>
                <a:gd name="T19" fmla="*/ 0 h 685"/>
                <a:gd name="T20" fmla="*/ 656 w 656"/>
                <a:gd name="T21" fmla="*/ 685 h 6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6" h="685">
                  <a:moveTo>
                    <a:pt x="656" y="685"/>
                  </a:moveTo>
                  <a:lnTo>
                    <a:pt x="656" y="0"/>
                  </a:lnTo>
                  <a:lnTo>
                    <a:pt x="0" y="0"/>
                  </a:lnTo>
                  <a:lnTo>
                    <a:pt x="0" y="685"/>
                  </a:lnTo>
                  <a:lnTo>
                    <a:pt x="656" y="685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09" name="Rectangle 32"/>
            <p:cNvSpPr>
              <a:spLocks noChangeArrowheads="1"/>
            </p:cNvSpPr>
            <p:nvPr/>
          </p:nvSpPr>
          <p:spPr bwMode="auto">
            <a:xfrm>
              <a:off x="818" y="248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9910" name="Rectangle 33"/>
            <p:cNvSpPr>
              <a:spLocks noChangeArrowheads="1"/>
            </p:cNvSpPr>
            <p:nvPr/>
          </p:nvSpPr>
          <p:spPr bwMode="auto">
            <a:xfrm>
              <a:off x="834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9911" name="Rectangle 34"/>
            <p:cNvSpPr>
              <a:spLocks noChangeArrowheads="1"/>
            </p:cNvSpPr>
            <p:nvPr/>
          </p:nvSpPr>
          <p:spPr bwMode="auto">
            <a:xfrm>
              <a:off x="867" y="248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9912" name="Rectangle 35"/>
            <p:cNvSpPr>
              <a:spLocks noChangeArrowheads="1"/>
            </p:cNvSpPr>
            <p:nvPr/>
          </p:nvSpPr>
          <p:spPr bwMode="auto">
            <a:xfrm>
              <a:off x="896" y="248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9913" name="Rectangle 36"/>
            <p:cNvSpPr>
              <a:spLocks noChangeArrowheads="1"/>
            </p:cNvSpPr>
            <p:nvPr/>
          </p:nvSpPr>
          <p:spPr bwMode="auto">
            <a:xfrm>
              <a:off x="912" y="248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9914" name="Rectangle 37"/>
            <p:cNvSpPr>
              <a:spLocks noChangeArrowheads="1"/>
            </p:cNvSpPr>
            <p:nvPr/>
          </p:nvSpPr>
          <p:spPr bwMode="auto">
            <a:xfrm>
              <a:off x="931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9915" name="Rectangle 38"/>
            <p:cNvSpPr>
              <a:spLocks noChangeArrowheads="1"/>
            </p:cNvSpPr>
            <p:nvPr/>
          </p:nvSpPr>
          <p:spPr bwMode="auto">
            <a:xfrm>
              <a:off x="964" y="248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79916" name="Rectangle 39"/>
            <p:cNvSpPr>
              <a:spLocks noChangeArrowheads="1"/>
            </p:cNvSpPr>
            <p:nvPr/>
          </p:nvSpPr>
          <p:spPr bwMode="auto">
            <a:xfrm>
              <a:off x="993" y="248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9917" name="Rectangle 40"/>
            <p:cNvSpPr>
              <a:spLocks noChangeArrowheads="1"/>
            </p:cNvSpPr>
            <p:nvPr/>
          </p:nvSpPr>
          <p:spPr bwMode="auto">
            <a:xfrm>
              <a:off x="1008" y="2481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9918" name="Rectangle 41"/>
            <p:cNvSpPr>
              <a:spLocks noChangeArrowheads="1"/>
            </p:cNvSpPr>
            <p:nvPr/>
          </p:nvSpPr>
          <p:spPr bwMode="auto">
            <a:xfrm>
              <a:off x="1024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9919" name="Rectangle 42"/>
            <p:cNvSpPr>
              <a:spLocks noChangeArrowheads="1"/>
            </p:cNvSpPr>
            <p:nvPr/>
          </p:nvSpPr>
          <p:spPr bwMode="auto">
            <a:xfrm>
              <a:off x="1054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9920" name="Rectangle 43"/>
            <p:cNvSpPr>
              <a:spLocks noChangeArrowheads="1"/>
            </p:cNvSpPr>
            <p:nvPr/>
          </p:nvSpPr>
          <p:spPr bwMode="auto">
            <a:xfrm>
              <a:off x="1088" y="248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21" name="Rectangle 44"/>
            <p:cNvSpPr>
              <a:spLocks noChangeArrowheads="1"/>
            </p:cNvSpPr>
            <p:nvPr/>
          </p:nvSpPr>
          <p:spPr bwMode="auto">
            <a:xfrm>
              <a:off x="858" y="2550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79922" name="Rectangle 45"/>
            <p:cNvSpPr>
              <a:spLocks noChangeArrowheads="1"/>
            </p:cNvSpPr>
            <p:nvPr/>
          </p:nvSpPr>
          <p:spPr bwMode="auto">
            <a:xfrm>
              <a:off x="905" y="25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9923" name="Rectangle 46"/>
            <p:cNvSpPr>
              <a:spLocks noChangeArrowheads="1"/>
            </p:cNvSpPr>
            <p:nvPr/>
          </p:nvSpPr>
          <p:spPr bwMode="auto">
            <a:xfrm>
              <a:off x="938" y="2550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79924" name="Rectangle 47"/>
            <p:cNvSpPr>
              <a:spLocks noChangeArrowheads="1"/>
            </p:cNvSpPr>
            <p:nvPr/>
          </p:nvSpPr>
          <p:spPr bwMode="auto">
            <a:xfrm>
              <a:off x="986" y="25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9925" name="Rectangle 48"/>
            <p:cNvSpPr>
              <a:spLocks noChangeArrowheads="1"/>
            </p:cNvSpPr>
            <p:nvPr/>
          </p:nvSpPr>
          <p:spPr bwMode="auto">
            <a:xfrm>
              <a:off x="1019" y="2550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9926" name="Rectangle 49"/>
            <p:cNvSpPr>
              <a:spLocks noChangeArrowheads="1"/>
            </p:cNvSpPr>
            <p:nvPr/>
          </p:nvSpPr>
          <p:spPr bwMode="auto">
            <a:xfrm>
              <a:off x="1039" y="2550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79927" name="Rectangle 50"/>
            <p:cNvSpPr>
              <a:spLocks noChangeArrowheads="1"/>
            </p:cNvSpPr>
            <p:nvPr/>
          </p:nvSpPr>
          <p:spPr bwMode="auto">
            <a:xfrm>
              <a:off x="803" y="2117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9928" name="Rectangle 51"/>
            <p:cNvSpPr>
              <a:spLocks noChangeArrowheads="1"/>
            </p:cNvSpPr>
            <p:nvPr/>
          </p:nvSpPr>
          <p:spPr bwMode="auto">
            <a:xfrm>
              <a:off x="846" y="211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9929" name="Rectangle 52"/>
            <p:cNvSpPr>
              <a:spLocks noChangeArrowheads="1"/>
            </p:cNvSpPr>
            <p:nvPr/>
          </p:nvSpPr>
          <p:spPr bwMode="auto">
            <a:xfrm>
              <a:off x="879" y="211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79930" name="Rectangle 53"/>
            <p:cNvSpPr>
              <a:spLocks noChangeArrowheads="1"/>
            </p:cNvSpPr>
            <p:nvPr/>
          </p:nvSpPr>
          <p:spPr bwMode="auto">
            <a:xfrm>
              <a:off x="912" y="211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79931" name="Rectangle 54"/>
            <p:cNvSpPr>
              <a:spLocks noChangeArrowheads="1"/>
            </p:cNvSpPr>
            <p:nvPr/>
          </p:nvSpPr>
          <p:spPr bwMode="auto">
            <a:xfrm>
              <a:off x="943" y="2117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32" name="Rectangle 55"/>
            <p:cNvSpPr>
              <a:spLocks noChangeArrowheads="1"/>
            </p:cNvSpPr>
            <p:nvPr/>
          </p:nvSpPr>
          <p:spPr bwMode="auto">
            <a:xfrm>
              <a:off x="803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79933" name="Rectangle 56"/>
            <p:cNvSpPr>
              <a:spLocks noChangeArrowheads="1"/>
            </p:cNvSpPr>
            <p:nvPr/>
          </p:nvSpPr>
          <p:spPr bwMode="auto">
            <a:xfrm>
              <a:off x="837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79934" name="Rectangle 57"/>
            <p:cNvSpPr>
              <a:spLocks noChangeArrowheads="1"/>
            </p:cNvSpPr>
            <p:nvPr/>
          </p:nvSpPr>
          <p:spPr bwMode="auto">
            <a:xfrm>
              <a:off x="870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79935" name="Rectangle 58"/>
            <p:cNvSpPr>
              <a:spLocks noChangeArrowheads="1"/>
            </p:cNvSpPr>
            <p:nvPr/>
          </p:nvSpPr>
          <p:spPr bwMode="auto">
            <a:xfrm>
              <a:off x="901" y="217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9936" name="Rectangle 59"/>
            <p:cNvSpPr>
              <a:spLocks noChangeArrowheads="1"/>
            </p:cNvSpPr>
            <p:nvPr/>
          </p:nvSpPr>
          <p:spPr bwMode="auto">
            <a:xfrm>
              <a:off x="922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9937" name="Rectangle 60"/>
            <p:cNvSpPr>
              <a:spLocks noChangeArrowheads="1"/>
            </p:cNvSpPr>
            <p:nvPr/>
          </p:nvSpPr>
          <p:spPr bwMode="auto">
            <a:xfrm>
              <a:off x="953" y="217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9938" name="Rectangle 61"/>
            <p:cNvSpPr>
              <a:spLocks noChangeArrowheads="1"/>
            </p:cNvSpPr>
            <p:nvPr/>
          </p:nvSpPr>
          <p:spPr bwMode="auto">
            <a:xfrm>
              <a:off x="983" y="217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9939" name="Rectangle 62"/>
            <p:cNvSpPr>
              <a:spLocks noChangeArrowheads="1"/>
            </p:cNvSpPr>
            <p:nvPr/>
          </p:nvSpPr>
          <p:spPr bwMode="auto">
            <a:xfrm>
              <a:off x="1147" y="233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9940" name="Rectangle 63"/>
            <p:cNvSpPr>
              <a:spLocks noChangeArrowheads="1"/>
            </p:cNvSpPr>
            <p:nvPr/>
          </p:nvSpPr>
          <p:spPr bwMode="auto">
            <a:xfrm>
              <a:off x="1163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9941" name="Rectangle 64"/>
            <p:cNvSpPr>
              <a:spLocks noChangeArrowheads="1"/>
            </p:cNvSpPr>
            <p:nvPr/>
          </p:nvSpPr>
          <p:spPr bwMode="auto">
            <a:xfrm>
              <a:off x="1194" y="2337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9942" name="Rectangle 65"/>
            <p:cNvSpPr>
              <a:spLocks noChangeArrowheads="1"/>
            </p:cNvSpPr>
            <p:nvPr/>
          </p:nvSpPr>
          <p:spPr bwMode="auto">
            <a:xfrm>
              <a:off x="1225" y="233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9943" name="Rectangle 66"/>
            <p:cNvSpPr>
              <a:spLocks noChangeArrowheads="1"/>
            </p:cNvSpPr>
            <p:nvPr/>
          </p:nvSpPr>
          <p:spPr bwMode="auto">
            <a:xfrm>
              <a:off x="1242" y="2337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9944" name="Rectangle 67"/>
            <p:cNvSpPr>
              <a:spLocks noChangeArrowheads="1"/>
            </p:cNvSpPr>
            <p:nvPr/>
          </p:nvSpPr>
          <p:spPr bwMode="auto">
            <a:xfrm>
              <a:off x="1261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9945" name="Rectangle 68"/>
            <p:cNvSpPr>
              <a:spLocks noChangeArrowheads="1"/>
            </p:cNvSpPr>
            <p:nvPr/>
          </p:nvSpPr>
          <p:spPr bwMode="auto">
            <a:xfrm>
              <a:off x="1294" y="2337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79946" name="Rectangle 69"/>
            <p:cNvSpPr>
              <a:spLocks noChangeArrowheads="1"/>
            </p:cNvSpPr>
            <p:nvPr/>
          </p:nvSpPr>
          <p:spPr bwMode="auto">
            <a:xfrm>
              <a:off x="1322" y="233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9947" name="Rectangle 70"/>
            <p:cNvSpPr>
              <a:spLocks noChangeArrowheads="1"/>
            </p:cNvSpPr>
            <p:nvPr/>
          </p:nvSpPr>
          <p:spPr bwMode="auto">
            <a:xfrm>
              <a:off x="1339" y="2337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9948" name="Rectangle 71"/>
            <p:cNvSpPr>
              <a:spLocks noChangeArrowheads="1"/>
            </p:cNvSpPr>
            <p:nvPr/>
          </p:nvSpPr>
          <p:spPr bwMode="auto">
            <a:xfrm>
              <a:off x="1350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9949" name="Rectangle 72"/>
            <p:cNvSpPr>
              <a:spLocks noChangeArrowheads="1"/>
            </p:cNvSpPr>
            <p:nvPr/>
          </p:nvSpPr>
          <p:spPr bwMode="auto">
            <a:xfrm>
              <a:off x="1384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9950" name="Rectangle 73"/>
            <p:cNvSpPr>
              <a:spLocks noChangeArrowheads="1"/>
            </p:cNvSpPr>
            <p:nvPr/>
          </p:nvSpPr>
          <p:spPr bwMode="auto">
            <a:xfrm>
              <a:off x="1417" y="2337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51" name="Rectangle 74"/>
            <p:cNvSpPr>
              <a:spLocks noChangeArrowheads="1"/>
            </p:cNvSpPr>
            <p:nvPr/>
          </p:nvSpPr>
          <p:spPr bwMode="auto">
            <a:xfrm>
              <a:off x="1246" y="239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79952" name="Rectangle 75"/>
            <p:cNvSpPr>
              <a:spLocks noChangeArrowheads="1"/>
            </p:cNvSpPr>
            <p:nvPr/>
          </p:nvSpPr>
          <p:spPr bwMode="auto">
            <a:xfrm>
              <a:off x="1263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79953" name="Rectangle 76"/>
            <p:cNvSpPr>
              <a:spLocks noChangeArrowheads="1"/>
            </p:cNvSpPr>
            <p:nvPr/>
          </p:nvSpPr>
          <p:spPr bwMode="auto">
            <a:xfrm>
              <a:off x="1296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79954" name="Rectangle 77"/>
            <p:cNvSpPr>
              <a:spLocks noChangeArrowheads="1"/>
            </p:cNvSpPr>
            <p:nvPr/>
          </p:nvSpPr>
          <p:spPr bwMode="auto">
            <a:xfrm>
              <a:off x="1329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–</a:t>
              </a:r>
            </a:p>
          </p:txBody>
        </p:sp>
        <p:sp>
          <p:nvSpPr>
            <p:cNvPr id="79955" name="Rectangle 78"/>
            <p:cNvSpPr>
              <a:spLocks noChangeArrowheads="1"/>
            </p:cNvSpPr>
            <p:nvPr/>
          </p:nvSpPr>
          <p:spPr bwMode="auto">
            <a:xfrm>
              <a:off x="1372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79956" name="Rectangle 79"/>
            <p:cNvSpPr>
              <a:spLocks noChangeArrowheads="1"/>
            </p:cNvSpPr>
            <p:nvPr/>
          </p:nvSpPr>
          <p:spPr bwMode="auto">
            <a:xfrm>
              <a:off x="1405" y="239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79957" name="Line 80"/>
            <p:cNvSpPr>
              <a:spLocks noChangeShapeType="1"/>
            </p:cNvSpPr>
            <p:nvPr/>
          </p:nvSpPr>
          <p:spPr bwMode="auto">
            <a:xfrm flipH="1">
              <a:off x="5037" y="2474"/>
              <a:ext cx="113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958" name="Freeform 81"/>
            <p:cNvSpPr>
              <a:spLocks noChangeArrowheads="1"/>
            </p:cNvSpPr>
            <p:nvPr/>
          </p:nvSpPr>
          <p:spPr bwMode="auto">
            <a:xfrm>
              <a:off x="4382" y="2242"/>
              <a:ext cx="658" cy="686"/>
            </a:xfrm>
            <a:custGeom>
              <a:avLst/>
              <a:gdLst>
                <a:gd name="T0" fmla="*/ 656 w 658"/>
                <a:gd name="T1" fmla="*/ 686 h 686"/>
                <a:gd name="T2" fmla="*/ 658 w 658"/>
                <a:gd name="T3" fmla="*/ 0 h 686"/>
                <a:gd name="T4" fmla="*/ 0 w 658"/>
                <a:gd name="T5" fmla="*/ 0 h 686"/>
                <a:gd name="T6" fmla="*/ 0 w 658"/>
                <a:gd name="T7" fmla="*/ 686 h 686"/>
                <a:gd name="T8" fmla="*/ 658 w 658"/>
                <a:gd name="T9" fmla="*/ 686 h 686"/>
                <a:gd name="T10" fmla="*/ 658 w 658"/>
                <a:gd name="T11" fmla="*/ 686 h 686"/>
                <a:gd name="T12" fmla="*/ 656 w 658"/>
                <a:gd name="T13" fmla="*/ 686 h 6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8"/>
                <a:gd name="T22" fmla="*/ 0 h 686"/>
                <a:gd name="T23" fmla="*/ 658 w 658"/>
                <a:gd name="T24" fmla="*/ 686 h 68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8" h="686">
                  <a:moveTo>
                    <a:pt x="656" y="686"/>
                  </a:moveTo>
                  <a:lnTo>
                    <a:pt x="658" y="0"/>
                  </a:lnTo>
                  <a:lnTo>
                    <a:pt x="0" y="0"/>
                  </a:lnTo>
                  <a:lnTo>
                    <a:pt x="0" y="686"/>
                  </a:lnTo>
                  <a:lnTo>
                    <a:pt x="658" y="686"/>
                  </a:lnTo>
                  <a:lnTo>
                    <a:pt x="656" y="6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59" name="Freeform 82"/>
            <p:cNvSpPr>
              <a:spLocks noChangeArrowheads="1"/>
            </p:cNvSpPr>
            <p:nvPr/>
          </p:nvSpPr>
          <p:spPr bwMode="auto">
            <a:xfrm>
              <a:off x="4382" y="2242"/>
              <a:ext cx="658" cy="686"/>
            </a:xfrm>
            <a:custGeom>
              <a:avLst/>
              <a:gdLst>
                <a:gd name="T0" fmla="*/ 656 w 658"/>
                <a:gd name="T1" fmla="*/ 686 h 686"/>
                <a:gd name="T2" fmla="*/ 658 w 658"/>
                <a:gd name="T3" fmla="*/ 0 h 686"/>
                <a:gd name="T4" fmla="*/ 0 w 658"/>
                <a:gd name="T5" fmla="*/ 0 h 686"/>
                <a:gd name="T6" fmla="*/ 0 w 658"/>
                <a:gd name="T7" fmla="*/ 686 h 686"/>
                <a:gd name="T8" fmla="*/ 658 w 658"/>
                <a:gd name="T9" fmla="*/ 686 h 686"/>
                <a:gd name="T10" fmla="*/ 658 w 658"/>
                <a:gd name="T11" fmla="*/ 686 h 6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8"/>
                <a:gd name="T19" fmla="*/ 0 h 686"/>
                <a:gd name="T20" fmla="*/ 658 w 658"/>
                <a:gd name="T21" fmla="*/ 686 h 68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8" h="686">
                  <a:moveTo>
                    <a:pt x="656" y="686"/>
                  </a:moveTo>
                  <a:lnTo>
                    <a:pt x="658" y="0"/>
                  </a:lnTo>
                  <a:lnTo>
                    <a:pt x="0" y="0"/>
                  </a:lnTo>
                  <a:lnTo>
                    <a:pt x="0" y="686"/>
                  </a:lnTo>
                  <a:lnTo>
                    <a:pt x="658" y="686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60" name="Freeform 83"/>
            <p:cNvSpPr>
              <a:spLocks noChangeArrowheads="1"/>
            </p:cNvSpPr>
            <p:nvPr/>
          </p:nvSpPr>
          <p:spPr bwMode="auto">
            <a:xfrm>
              <a:off x="2492" y="2121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6 h 31"/>
                <a:gd name="T6" fmla="*/ 2 w 31"/>
                <a:gd name="T7" fmla="*/ 2 h 31"/>
                <a:gd name="T8" fmla="*/ 2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6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61" name="Freeform 84"/>
            <p:cNvSpPr>
              <a:spLocks noChangeArrowheads="1"/>
            </p:cNvSpPr>
            <p:nvPr/>
          </p:nvSpPr>
          <p:spPr bwMode="auto">
            <a:xfrm>
              <a:off x="2492" y="2647"/>
              <a:ext cx="31" cy="30"/>
            </a:xfrm>
            <a:custGeom>
              <a:avLst/>
              <a:gdLst>
                <a:gd name="T0" fmla="*/ 0 w 31"/>
                <a:gd name="T1" fmla="*/ 0 h 30"/>
                <a:gd name="T2" fmla="*/ 2 w 31"/>
                <a:gd name="T3" fmla="*/ 30 h 30"/>
                <a:gd name="T4" fmla="*/ 31 w 31"/>
                <a:gd name="T5" fmla="*/ 16 h 30"/>
                <a:gd name="T6" fmla="*/ 2 w 31"/>
                <a:gd name="T7" fmla="*/ 2 h 30"/>
                <a:gd name="T8" fmla="*/ 2 w 31"/>
                <a:gd name="T9" fmla="*/ 2 h 30"/>
                <a:gd name="T10" fmla="*/ 0 w 31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0"/>
                <a:gd name="T20" fmla="*/ 31 w 31"/>
                <a:gd name="T21" fmla="*/ 30 h 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0">
                  <a:moveTo>
                    <a:pt x="0" y="0"/>
                  </a:moveTo>
                  <a:lnTo>
                    <a:pt x="2" y="30"/>
                  </a:lnTo>
                  <a:lnTo>
                    <a:pt x="31" y="16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962" name="Rectangle 85"/>
            <p:cNvSpPr>
              <a:spLocks noChangeArrowheads="1"/>
            </p:cNvSpPr>
            <p:nvPr/>
          </p:nvSpPr>
          <p:spPr bwMode="auto">
            <a:xfrm>
              <a:off x="1662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9963" name="Rectangle 86"/>
            <p:cNvSpPr>
              <a:spLocks noChangeArrowheads="1"/>
            </p:cNvSpPr>
            <p:nvPr/>
          </p:nvSpPr>
          <p:spPr bwMode="auto">
            <a:xfrm>
              <a:off x="1677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9964" name="Rectangle 87"/>
            <p:cNvSpPr>
              <a:spLocks noChangeArrowheads="1"/>
            </p:cNvSpPr>
            <p:nvPr/>
          </p:nvSpPr>
          <p:spPr bwMode="auto">
            <a:xfrm>
              <a:off x="1710" y="222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9965" name="Rectangle 88"/>
            <p:cNvSpPr>
              <a:spLocks noChangeArrowheads="1"/>
            </p:cNvSpPr>
            <p:nvPr/>
          </p:nvSpPr>
          <p:spPr bwMode="auto">
            <a:xfrm>
              <a:off x="1739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9966" name="Rectangle 89"/>
            <p:cNvSpPr>
              <a:spLocks noChangeArrowheads="1"/>
            </p:cNvSpPr>
            <p:nvPr/>
          </p:nvSpPr>
          <p:spPr bwMode="auto">
            <a:xfrm>
              <a:off x="1755" y="222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9967" name="Rectangle 90"/>
            <p:cNvSpPr>
              <a:spLocks noChangeArrowheads="1"/>
            </p:cNvSpPr>
            <p:nvPr/>
          </p:nvSpPr>
          <p:spPr bwMode="auto">
            <a:xfrm>
              <a:off x="1774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9968" name="Rectangle 91"/>
            <p:cNvSpPr>
              <a:spLocks noChangeArrowheads="1"/>
            </p:cNvSpPr>
            <p:nvPr/>
          </p:nvSpPr>
          <p:spPr bwMode="auto">
            <a:xfrm>
              <a:off x="1808" y="222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79969" name="Rectangle 92"/>
            <p:cNvSpPr>
              <a:spLocks noChangeArrowheads="1"/>
            </p:cNvSpPr>
            <p:nvPr/>
          </p:nvSpPr>
          <p:spPr bwMode="auto">
            <a:xfrm>
              <a:off x="1836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9970" name="Rectangle 93"/>
            <p:cNvSpPr>
              <a:spLocks noChangeArrowheads="1"/>
            </p:cNvSpPr>
            <p:nvPr/>
          </p:nvSpPr>
          <p:spPr bwMode="auto">
            <a:xfrm>
              <a:off x="1852" y="2228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9971" name="Rectangle 94"/>
            <p:cNvSpPr>
              <a:spLocks noChangeArrowheads="1"/>
            </p:cNvSpPr>
            <p:nvPr/>
          </p:nvSpPr>
          <p:spPr bwMode="auto">
            <a:xfrm>
              <a:off x="1867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9972" name="Rectangle 95"/>
            <p:cNvSpPr>
              <a:spLocks noChangeArrowheads="1"/>
            </p:cNvSpPr>
            <p:nvPr/>
          </p:nvSpPr>
          <p:spPr bwMode="auto">
            <a:xfrm>
              <a:off x="1898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9973" name="Rectangle 96"/>
            <p:cNvSpPr>
              <a:spLocks noChangeArrowheads="1"/>
            </p:cNvSpPr>
            <p:nvPr/>
          </p:nvSpPr>
          <p:spPr bwMode="auto">
            <a:xfrm>
              <a:off x="1931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79974" name="Rectangle 97"/>
            <p:cNvSpPr>
              <a:spLocks noChangeArrowheads="1"/>
            </p:cNvSpPr>
            <p:nvPr/>
          </p:nvSpPr>
          <p:spPr bwMode="auto">
            <a:xfrm>
              <a:off x="1947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79975" name="Rectangle 98"/>
            <p:cNvSpPr>
              <a:spLocks noChangeArrowheads="1"/>
            </p:cNvSpPr>
            <p:nvPr/>
          </p:nvSpPr>
          <p:spPr bwMode="auto">
            <a:xfrm>
              <a:off x="1964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79976" name="Rectangle 99"/>
            <p:cNvSpPr>
              <a:spLocks noChangeArrowheads="1"/>
            </p:cNvSpPr>
            <p:nvPr/>
          </p:nvSpPr>
          <p:spPr bwMode="auto">
            <a:xfrm>
              <a:off x="1995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79977" name="Rectangle 100"/>
            <p:cNvSpPr>
              <a:spLocks noChangeArrowheads="1"/>
            </p:cNvSpPr>
            <p:nvPr/>
          </p:nvSpPr>
          <p:spPr bwMode="auto">
            <a:xfrm>
              <a:off x="2028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79978" name="Rectangle 101"/>
            <p:cNvSpPr>
              <a:spLocks noChangeArrowheads="1"/>
            </p:cNvSpPr>
            <p:nvPr/>
          </p:nvSpPr>
          <p:spPr bwMode="auto">
            <a:xfrm>
              <a:off x="2044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79979" name="Rectangle 102"/>
            <p:cNvSpPr>
              <a:spLocks noChangeArrowheads="1"/>
            </p:cNvSpPr>
            <p:nvPr/>
          </p:nvSpPr>
          <p:spPr bwMode="auto">
            <a:xfrm>
              <a:off x="2061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79980" name="Rectangle 103"/>
            <p:cNvSpPr>
              <a:spLocks noChangeArrowheads="1"/>
            </p:cNvSpPr>
            <p:nvPr/>
          </p:nvSpPr>
          <p:spPr bwMode="auto">
            <a:xfrm>
              <a:off x="2094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6</a:t>
              </a:r>
            </a:p>
          </p:txBody>
        </p:sp>
        <p:sp>
          <p:nvSpPr>
            <p:cNvPr id="79981" name="Rectangle 104"/>
            <p:cNvSpPr>
              <a:spLocks noChangeArrowheads="1"/>
            </p:cNvSpPr>
            <p:nvPr/>
          </p:nvSpPr>
          <p:spPr bwMode="auto">
            <a:xfrm>
              <a:off x="2125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79982" name="Rectangle 105"/>
            <p:cNvSpPr>
              <a:spLocks noChangeArrowheads="1"/>
            </p:cNvSpPr>
            <p:nvPr/>
          </p:nvSpPr>
          <p:spPr bwMode="auto">
            <a:xfrm>
              <a:off x="1662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9983" name="Rectangle 106"/>
            <p:cNvSpPr>
              <a:spLocks noChangeArrowheads="1"/>
            </p:cNvSpPr>
            <p:nvPr/>
          </p:nvSpPr>
          <p:spPr bwMode="auto">
            <a:xfrm>
              <a:off x="1677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9984" name="Rectangle 107"/>
            <p:cNvSpPr>
              <a:spLocks noChangeArrowheads="1"/>
            </p:cNvSpPr>
            <p:nvPr/>
          </p:nvSpPr>
          <p:spPr bwMode="auto">
            <a:xfrm>
              <a:off x="1710" y="2053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79985" name="Rectangle 108"/>
            <p:cNvSpPr>
              <a:spLocks noChangeArrowheads="1"/>
            </p:cNvSpPr>
            <p:nvPr/>
          </p:nvSpPr>
          <p:spPr bwMode="auto">
            <a:xfrm>
              <a:off x="1739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9986" name="Rectangle 109"/>
            <p:cNvSpPr>
              <a:spLocks noChangeArrowheads="1"/>
            </p:cNvSpPr>
            <p:nvPr/>
          </p:nvSpPr>
          <p:spPr bwMode="auto">
            <a:xfrm>
              <a:off x="1755" y="2053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9987" name="Rectangle 110"/>
            <p:cNvSpPr>
              <a:spLocks noChangeArrowheads="1"/>
            </p:cNvSpPr>
            <p:nvPr/>
          </p:nvSpPr>
          <p:spPr bwMode="auto">
            <a:xfrm>
              <a:off x="1774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9988" name="Rectangle 111"/>
            <p:cNvSpPr>
              <a:spLocks noChangeArrowheads="1"/>
            </p:cNvSpPr>
            <p:nvPr/>
          </p:nvSpPr>
          <p:spPr bwMode="auto">
            <a:xfrm>
              <a:off x="1808" y="2053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79989" name="Rectangle 112"/>
            <p:cNvSpPr>
              <a:spLocks noChangeArrowheads="1"/>
            </p:cNvSpPr>
            <p:nvPr/>
          </p:nvSpPr>
          <p:spPr bwMode="auto">
            <a:xfrm>
              <a:off x="1836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9990" name="Rectangle 113"/>
            <p:cNvSpPr>
              <a:spLocks noChangeArrowheads="1"/>
            </p:cNvSpPr>
            <p:nvPr/>
          </p:nvSpPr>
          <p:spPr bwMode="auto">
            <a:xfrm>
              <a:off x="1852" y="2053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9991" name="Rectangle 114"/>
            <p:cNvSpPr>
              <a:spLocks noChangeArrowheads="1"/>
            </p:cNvSpPr>
            <p:nvPr/>
          </p:nvSpPr>
          <p:spPr bwMode="auto">
            <a:xfrm>
              <a:off x="1867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9992" name="Rectangle 115"/>
            <p:cNvSpPr>
              <a:spLocks noChangeArrowheads="1"/>
            </p:cNvSpPr>
            <p:nvPr/>
          </p:nvSpPr>
          <p:spPr bwMode="auto">
            <a:xfrm>
              <a:off x="1898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9993" name="Rectangle 116"/>
            <p:cNvSpPr>
              <a:spLocks noChangeArrowheads="1"/>
            </p:cNvSpPr>
            <p:nvPr/>
          </p:nvSpPr>
          <p:spPr bwMode="auto">
            <a:xfrm>
              <a:off x="1931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79994" name="Rectangle 117"/>
            <p:cNvSpPr>
              <a:spLocks noChangeArrowheads="1"/>
            </p:cNvSpPr>
            <p:nvPr/>
          </p:nvSpPr>
          <p:spPr bwMode="auto">
            <a:xfrm>
              <a:off x="1947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79995" name="Rectangle 118"/>
            <p:cNvSpPr>
              <a:spLocks noChangeArrowheads="1"/>
            </p:cNvSpPr>
            <p:nvPr/>
          </p:nvSpPr>
          <p:spPr bwMode="auto">
            <a:xfrm>
              <a:off x="1964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79996" name="Rectangle 119"/>
            <p:cNvSpPr>
              <a:spLocks noChangeArrowheads="1"/>
            </p:cNvSpPr>
            <p:nvPr/>
          </p:nvSpPr>
          <p:spPr bwMode="auto">
            <a:xfrm>
              <a:off x="1995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79997" name="Rectangle 120"/>
            <p:cNvSpPr>
              <a:spLocks noChangeArrowheads="1"/>
            </p:cNvSpPr>
            <p:nvPr/>
          </p:nvSpPr>
          <p:spPr bwMode="auto">
            <a:xfrm>
              <a:off x="2028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79998" name="Rectangle 121"/>
            <p:cNvSpPr>
              <a:spLocks noChangeArrowheads="1"/>
            </p:cNvSpPr>
            <p:nvPr/>
          </p:nvSpPr>
          <p:spPr bwMode="auto">
            <a:xfrm>
              <a:off x="2044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79999" name="Rectangle 122"/>
            <p:cNvSpPr>
              <a:spLocks noChangeArrowheads="1"/>
            </p:cNvSpPr>
            <p:nvPr/>
          </p:nvSpPr>
          <p:spPr bwMode="auto">
            <a:xfrm>
              <a:off x="2061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80000" name="Rectangle 123"/>
            <p:cNvSpPr>
              <a:spLocks noChangeArrowheads="1"/>
            </p:cNvSpPr>
            <p:nvPr/>
          </p:nvSpPr>
          <p:spPr bwMode="auto">
            <a:xfrm>
              <a:off x="2094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80001" name="Rectangle 124"/>
            <p:cNvSpPr>
              <a:spLocks noChangeArrowheads="1"/>
            </p:cNvSpPr>
            <p:nvPr/>
          </p:nvSpPr>
          <p:spPr bwMode="auto">
            <a:xfrm>
              <a:off x="2125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80002" name="Freeform 125"/>
            <p:cNvSpPr>
              <a:spLocks noChangeArrowheads="1"/>
            </p:cNvSpPr>
            <p:nvPr/>
          </p:nvSpPr>
          <p:spPr bwMode="auto">
            <a:xfrm>
              <a:off x="647" y="1058"/>
              <a:ext cx="341" cy="1122"/>
            </a:xfrm>
            <a:custGeom>
              <a:avLst/>
              <a:gdLst>
                <a:gd name="T0" fmla="*/ 341 w 341"/>
                <a:gd name="T1" fmla="*/ 0 h 1122"/>
                <a:gd name="T2" fmla="*/ 0 w 341"/>
                <a:gd name="T3" fmla="*/ 0 h 1122"/>
                <a:gd name="T4" fmla="*/ 0 w 341"/>
                <a:gd name="T5" fmla="*/ 1122 h 1122"/>
                <a:gd name="T6" fmla="*/ 0 60000 65536"/>
                <a:gd name="T7" fmla="*/ 0 60000 65536"/>
                <a:gd name="T8" fmla="*/ 0 60000 65536"/>
                <a:gd name="T9" fmla="*/ 0 w 341"/>
                <a:gd name="T10" fmla="*/ 0 h 1122"/>
                <a:gd name="T11" fmla="*/ 341 w 341"/>
                <a:gd name="T12" fmla="*/ 1122 h 11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1" h="1122">
                  <a:moveTo>
                    <a:pt x="341" y="0"/>
                  </a:moveTo>
                  <a:lnTo>
                    <a:pt x="0" y="0"/>
                  </a:lnTo>
                  <a:lnTo>
                    <a:pt x="0" y="1122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03" name="Line 126"/>
            <p:cNvSpPr>
              <a:spLocks noChangeShapeType="1"/>
            </p:cNvSpPr>
            <p:nvPr/>
          </p:nvSpPr>
          <p:spPr bwMode="auto">
            <a:xfrm flipH="1">
              <a:off x="881" y="1408"/>
              <a:ext cx="108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004" name="Freeform 127"/>
            <p:cNvSpPr>
              <a:spLocks noChangeArrowheads="1"/>
            </p:cNvSpPr>
            <p:nvPr/>
          </p:nvSpPr>
          <p:spPr bwMode="auto">
            <a:xfrm>
              <a:off x="1012" y="939"/>
              <a:ext cx="189" cy="590"/>
            </a:xfrm>
            <a:custGeom>
              <a:avLst/>
              <a:gdLst>
                <a:gd name="T0" fmla="*/ 0 w 189"/>
                <a:gd name="T1" fmla="*/ 0 h 590"/>
                <a:gd name="T2" fmla="*/ 0 w 189"/>
                <a:gd name="T3" fmla="*/ 239 h 590"/>
                <a:gd name="T4" fmla="*/ 61 w 189"/>
                <a:gd name="T5" fmla="*/ 294 h 590"/>
                <a:gd name="T6" fmla="*/ 0 w 189"/>
                <a:gd name="T7" fmla="*/ 351 h 590"/>
                <a:gd name="T8" fmla="*/ 0 w 189"/>
                <a:gd name="T9" fmla="*/ 590 h 590"/>
                <a:gd name="T10" fmla="*/ 189 w 189"/>
                <a:gd name="T11" fmla="*/ 410 h 590"/>
                <a:gd name="T12" fmla="*/ 189 w 189"/>
                <a:gd name="T13" fmla="*/ 180 h 590"/>
                <a:gd name="T14" fmla="*/ 0 w 189"/>
                <a:gd name="T15" fmla="*/ 0 h 590"/>
                <a:gd name="T16" fmla="*/ 0 w 189"/>
                <a:gd name="T17" fmla="*/ 0 h 5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9"/>
                <a:gd name="T28" fmla="*/ 0 h 590"/>
                <a:gd name="T29" fmla="*/ 189 w 189"/>
                <a:gd name="T30" fmla="*/ 590 h 5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9" h="590">
                  <a:moveTo>
                    <a:pt x="0" y="0"/>
                  </a:moveTo>
                  <a:lnTo>
                    <a:pt x="0" y="239"/>
                  </a:lnTo>
                  <a:lnTo>
                    <a:pt x="61" y="294"/>
                  </a:lnTo>
                  <a:lnTo>
                    <a:pt x="0" y="351"/>
                  </a:lnTo>
                  <a:lnTo>
                    <a:pt x="0" y="590"/>
                  </a:lnTo>
                  <a:lnTo>
                    <a:pt x="189" y="410"/>
                  </a:lnTo>
                  <a:lnTo>
                    <a:pt x="189" y="180"/>
                  </a:lnTo>
                  <a:lnTo>
                    <a:pt x="0" y="0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05" name="Rectangle 128"/>
            <p:cNvSpPr>
              <a:spLocks noChangeArrowheads="1"/>
            </p:cNvSpPr>
            <p:nvPr/>
          </p:nvSpPr>
          <p:spPr bwMode="auto">
            <a:xfrm>
              <a:off x="1085" y="120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0006" name="Rectangle 129"/>
            <p:cNvSpPr>
              <a:spLocks noChangeArrowheads="1"/>
            </p:cNvSpPr>
            <p:nvPr/>
          </p:nvSpPr>
          <p:spPr bwMode="auto">
            <a:xfrm>
              <a:off x="1126" y="120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80007" name="Rectangle 130"/>
            <p:cNvSpPr>
              <a:spLocks noChangeArrowheads="1"/>
            </p:cNvSpPr>
            <p:nvPr/>
          </p:nvSpPr>
          <p:spPr bwMode="auto">
            <a:xfrm>
              <a:off x="1156" y="120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80008" name="Freeform 131"/>
            <p:cNvSpPr>
              <a:spLocks noChangeArrowheads="1"/>
            </p:cNvSpPr>
            <p:nvPr/>
          </p:nvSpPr>
          <p:spPr bwMode="auto">
            <a:xfrm>
              <a:off x="3501" y="2429"/>
              <a:ext cx="31" cy="30"/>
            </a:xfrm>
            <a:custGeom>
              <a:avLst/>
              <a:gdLst>
                <a:gd name="T0" fmla="*/ 0 w 31"/>
                <a:gd name="T1" fmla="*/ 0 h 30"/>
                <a:gd name="T2" fmla="*/ 0 w 31"/>
                <a:gd name="T3" fmla="*/ 30 h 30"/>
                <a:gd name="T4" fmla="*/ 31 w 31"/>
                <a:gd name="T5" fmla="*/ 16 h 30"/>
                <a:gd name="T6" fmla="*/ 0 w 31"/>
                <a:gd name="T7" fmla="*/ 2 h 30"/>
                <a:gd name="T8" fmla="*/ 0 w 31"/>
                <a:gd name="T9" fmla="*/ 2 h 30"/>
                <a:gd name="T10" fmla="*/ 0 w 31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0"/>
                <a:gd name="T20" fmla="*/ 31 w 31"/>
                <a:gd name="T21" fmla="*/ 30 h 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0">
                  <a:moveTo>
                    <a:pt x="0" y="0"/>
                  </a:moveTo>
                  <a:lnTo>
                    <a:pt x="0" y="30"/>
                  </a:lnTo>
                  <a:lnTo>
                    <a:pt x="31" y="1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09" name="Freeform 132"/>
            <p:cNvSpPr>
              <a:spLocks noChangeArrowheads="1"/>
            </p:cNvSpPr>
            <p:nvPr/>
          </p:nvSpPr>
          <p:spPr bwMode="auto">
            <a:xfrm>
              <a:off x="3501" y="2692"/>
              <a:ext cx="31" cy="28"/>
            </a:xfrm>
            <a:custGeom>
              <a:avLst/>
              <a:gdLst>
                <a:gd name="T0" fmla="*/ 0 w 31"/>
                <a:gd name="T1" fmla="*/ 0 h 28"/>
                <a:gd name="T2" fmla="*/ 0 w 31"/>
                <a:gd name="T3" fmla="*/ 28 h 28"/>
                <a:gd name="T4" fmla="*/ 31 w 31"/>
                <a:gd name="T5" fmla="*/ 14 h 28"/>
                <a:gd name="T6" fmla="*/ 0 w 31"/>
                <a:gd name="T7" fmla="*/ 0 h 28"/>
                <a:gd name="T8" fmla="*/ 0 w 31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"/>
                <a:gd name="T16" fmla="*/ 0 h 28"/>
                <a:gd name="T17" fmla="*/ 31 w 31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" h="28">
                  <a:moveTo>
                    <a:pt x="0" y="0"/>
                  </a:moveTo>
                  <a:lnTo>
                    <a:pt x="0" y="28"/>
                  </a:lnTo>
                  <a:lnTo>
                    <a:pt x="31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10" name="Freeform 133"/>
            <p:cNvSpPr>
              <a:spLocks noChangeArrowheads="1"/>
            </p:cNvSpPr>
            <p:nvPr/>
          </p:nvSpPr>
          <p:spPr bwMode="auto">
            <a:xfrm>
              <a:off x="3742" y="2559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7 h 31"/>
                <a:gd name="T6" fmla="*/ 0 w 31"/>
                <a:gd name="T7" fmla="*/ 2 h 31"/>
                <a:gd name="T8" fmla="*/ 0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7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11" name="Line 134"/>
            <p:cNvSpPr>
              <a:spLocks noChangeShapeType="1"/>
            </p:cNvSpPr>
            <p:nvPr/>
          </p:nvSpPr>
          <p:spPr bwMode="auto">
            <a:xfrm flipH="1">
              <a:off x="3644" y="2576"/>
              <a:ext cx="109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012" name="Freeform 135"/>
            <p:cNvSpPr>
              <a:spLocks noChangeArrowheads="1"/>
            </p:cNvSpPr>
            <p:nvPr/>
          </p:nvSpPr>
          <p:spPr bwMode="auto">
            <a:xfrm>
              <a:off x="3742" y="2208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7 h 31"/>
                <a:gd name="T6" fmla="*/ 0 w 31"/>
                <a:gd name="T7" fmla="*/ 3 h 31"/>
                <a:gd name="T8" fmla="*/ 0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13" name="Freeform 136"/>
            <p:cNvSpPr>
              <a:spLocks noChangeArrowheads="1"/>
            </p:cNvSpPr>
            <p:nvPr/>
          </p:nvSpPr>
          <p:spPr bwMode="auto">
            <a:xfrm>
              <a:off x="5135" y="2459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7 h 31"/>
                <a:gd name="T6" fmla="*/ 2 w 31"/>
                <a:gd name="T7" fmla="*/ 3 h 31"/>
                <a:gd name="T8" fmla="*/ 2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7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14" name="Freeform 137"/>
            <p:cNvSpPr>
              <a:spLocks noChangeArrowheads="1"/>
            </p:cNvSpPr>
            <p:nvPr/>
          </p:nvSpPr>
          <p:spPr bwMode="auto">
            <a:xfrm>
              <a:off x="5135" y="2722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5 h 31"/>
                <a:gd name="T6" fmla="*/ 2 w 31"/>
                <a:gd name="T7" fmla="*/ 0 h 31"/>
                <a:gd name="T8" fmla="*/ 2 w 31"/>
                <a:gd name="T9" fmla="*/ 0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5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15" name="Freeform 138"/>
            <p:cNvSpPr>
              <a:spLocks noChangeArrowheads="1"/>
            </p:cNvSpPr>
            <p:nvPr/>
          </p:nvSpPr>
          <p:spPr bwMode="auto">
            <a:xfrm>
              <a:off x="4349" y="2789"/>
              <a:ext cx="28" cy="30"/>
            </a:xfrm>
            <a:custGeom>
              <a:avLst/>
              <a:gdLst>
                <a:gd name="T0" fmla="*/ 0 w 28"/>
                <a:gd name="T1" fmla="*/ 0 h 30"/>
                <a:gd name="T2" fmla="*/ 0 w 28"/>
                <a:gd name="T3" fmla="*/ 30 h 30"/>
                <a:gd name="T4" fmla="*/ 28 w 28"/>
                <a:gd name="T5" fmla="*/ 16 h 30"/>
                <a:gd name="T6" fmla="*/ 0 w 28"/>
                <a:gd name="T7" fmla="*/ 0 h 30"/>
                <a:gd name="T8" fmla="*/ 0 w 28"/>
                <a:gd name="T9" fmla="*/ 0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30"/>
                <a:gd name="T17" fmla="*/ 28 w 28"/>
                <a:gd name="T18" fmla="*/ 30 h 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30">
                  <a:moveTo>
                    <a:pt x="0" y="0"/>
                  </a:moveTo>
                  <a:lnTo>
                    <a:pt x="0" y="30"/>
                  </a:lnTo>
                  <a:lnTo>
                    <a:pt x="28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16" name="Freeform 139"/>
            <p:cNvSpPr>
              <a:spLocks noChangeArrowheads="1"/>
            </p:cNvSpPr>
            <p:nvPr/>
          </p:nvSpPr>
          <p:spPr bwMode="auto">
            <a:xfrm>
              <a:off x="3273" y="2445"/>
              <a:ext cx="1085" cy="360"/>
            </a:xfrm>
            <a:custGeom>
              <a:avLst/>
              <a:gdLst>
                <a:gd name="T0" fmla="*/ 1085 w 1085"/>
                <a:gd name="T1" fmla="*/ 358 h 360"/>
                <a:gd name="T2" fmla="*/ 0 w 1085"/>
                <a:gd name="T3" fmla="*/ 360 h 360"/>
                <a:gd name="T4" fmla="*/ 0 w 1085"/>
                <a:gd name="T5" fmla="*/ 0 h 360"/>
                <a:gd name="T6" fmla="*/ 0 60000 65536"/>
                <a:gd name="T7" fmla="*/ 0 60000 65536"/>
                <a:gd name="T8" fmla="*/ 0 60000 65536"/>
                <a:gd name="T9" fmla="*/ 0 w 1085"/>
                <a:gd name="T10" fmla="*/ 0 h 360"/>
                <a:gd name="T11" fmla="*/ 1085 w 1085"/>
                <a:gd name="T12" fmla="*/ 360 h 3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5" h="360">
                  <a:moveTo>
                    <a:pt x="1085" y="358"/>
                  </a:moveTo>
                  <a:lnTo>
                    <a:pt x="0" y="360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17" name="Freeform 140"/>
            <p:cNvSpPr>
              <a:spLocks noChangeArrowheads="1"/>
            </p:cNvSpPr>
            <p:nvPr/>
          </p:nvSpPr>
          <p:spPr bwMode="auto">
            <a:xfrm>
              <a:off x="3565" y="2874"/>
              <a:ext cx="218" cy="464"/>
            </a:xfrm>
            <a:custGeom>
              <a:avLst/>
              <a:gdLst>
                <a:gd name="T0" fmla="*/ 109 w 218"/>
                <a:gd name="T1" fmla="*/ 464 h 464"/>
                <a:gd name="T2" fmla="*/ 125 w 218"/>
                <a:gd name="T3" fmla="*/ 462 h 464"/>
                <a:gd name="T4" fmla="*/ 144 w 218"/>
                <a:gd name="T5" fmla="*/ 452 h 464"/>
                <a:gd name="T6" fmla="*/ 158 w 218"/>
                <a:gd name="T7" fmla="*/ 438 h 464"/>
                <a:gd name="T8" fmla="*/ 173 w 218"/>
                <a:gd name="T9" fmla="*/ 419 h 464"/>
                <a:gd name="T10" fmla="*/ 187 w 218"/>
                <a:gd name="T11" fmla="*/ 395 h 464"/>
                <a:gd name="T12" fmla="*/ 196 w 218"/>
                <a:gd name="T13" fmla="*/ 369 h 464"/>
                <a:gd name="T14" fmla="*/ 206 w 218"/>
                <a:gd name="T15" fmla="*/ 338 h 464"/>
                <a:gd name="T16" fmla="*/ 213 w 218"/>
                <a:gd name="T17" fmla="*/ 305 h 464"/>
                <a:gd name="T18" fmla="*/ 218 w 218"/>
                <a:gd name="T19" fmla="*/ 270 h 464"/>
                <a:gd name="T20" fmla="*/ 218 w 218"/>
                <a:gd name="T21" fmla="*/ 232 h 464"/>
                <a:gd name="T22" fmla="*/ 218 w 218"/>
                <a:gd name="T23" fmla="*/ 194 h 464"/>
                <a:gd name="T24" fmla="*/ 213 w 218"/>
                <a:gd name="T25" fmla="*/ 159 h 464"/>
                <a:gd name="T26" fmla="*/ 206 w 218"/>
                <a:gd name="T27" fmla="*/ 125 h 464"/>
                <a:gd name="T28" fmla="*/ 196 w 218"/>
                <a:gd name="T29" fmla="*/ 95 h 464"/>
                <a:gd name="T30" fmla="*/ 187 w 218"/>
                <a:gd name="T31" fmla="*/ 66 h 464"/>
                <a:gd name="T32" fmla="*/ 173 w 218"/>
                <a:gd name="T33" fmla="*/ 45 h 464"/>
                <a:gd name="T34" fmla="*/ 158 w 218"/>
                <a:gd name="T35" fmla="*/ 26 h 464"/>
                <a:gd name="T36" fmla="*/ 144 w 218"/>
                <a:gd name="T37" fmla="*/ 12 h 464"/>
                <a:gd name="T38" fmla="*/ 125 w 218"/>
                <a:gd name="T39" fmla="*/ 2 h 464"/>
                <a:gd name="T40" fmla="*/ 109 w 218"/>
                <a:gd name="T41" fmla="*/ 0 h 464"/>
                <a:gd name="T42" fmla="*/ 90 w 218"/>
                <a:gd name="T43" fmla="*/ 2 h 464"/>
                <a:gd name="T44" fmla="*/ 73 w 218"/>
                <a:gd name="T45" fmla="*/ 12 h 464"/>
                <a:gd name="T46" fmla="*/ 59 w 218"/>
                <a:gd name="T47" fmla="*/ 26 h 464"/>
                <a:gd name="T48" fmla="*/ 45 w 218"/>
                <a:gd name="T49" fmla="*/ 45 h 464"/>
                <a:gd name="T50" fmla="*/ 30 w 218"/>
                <a:gd name="T51" fmla="*/ 66 h 464"/>
                <a:gd name="T52" fmla="*/ 21 w 218"/>
                <a:gd name="T53" fmla="*/ 95 h 464"/>
                <a:gd name="T54" fmla="*/ 12 w 218"/>
                <a:gd name="T55" fmla="*/ 125 h 464"/>
                <a:gd name="T56" fmla="*/ 4 w 218"/>
                <a:gd name="T57" fmla="*/ 159 h 464"/>
                <a:gd name="T58" fmla="*/ 0 w 218"/>
                <a:gd name="T59" fmla="*/ 194 h 464"/>
                <a:gd name="T60" fmla="*/ 0 w 218"/>
                <a:gd name="T61" fmla="*/ 232 h 464"/>
                <a:gd name="T62" fmla="*/ 0 w 218"/>
                <a:gd name="T63" fmla="*/ 270 h 464"/>
                <a:gd name="T64" fmla="*/ 4 w 218"/>
                <a:gd name="T65" fmla="*/ 305 h 464"/>
                <a:gd name="T66" fmla="*/ 12 w 218"/>
                <a:gd name="T67" fmla="*/ 338 h 464"/>
                <a:gd name="T68" fmla="*/ 21 w 218"/>
                <a:gd name="T69" fmla="*/ 369 h 464"/>
                <a:gd name="T70" fmla="*/ 30 w 218"/>
                <a:gd name="T71" fmla="*/ 395 h 464"/>
                <a:gd name="T72" fmla="*/ 45 w 218"/>
                <a:gd name="T73" fmla="*/ 419 h 464"/>
                <a:gd name="T74" fmla="*/ 59 w 218"/>
                <a:gd name="T75" fmla="*/ 438 h 464"/>
                <a:gd name="T76" fmla="*/ 73 w 218"/>
                <a:gd name="T77" fmla="*/ 452 h 464"/>
                <a:gd name="T78" fmla="*/ 90 w 218"/>
                <a:gd name="T79" fmla="*/ 462 h 464"/>
                <a:gd name="T80" fmla="*/ 109 w 218"/>
                <a:gd name="T81" fmla="*/ 464 h 464"/>
                <a:gd name="T82" fmla="*/ 109 w 218"/>
                <a:gd name="T83" fmla="*/ 464 h 4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8"/>
                <a:gd name="T127" fmla="*/ 0 h 464"/>
                <a:gd name="T128" fmla="*/ 218 w 218"/>
                <a:gd name="T129" fmla="*/ 464 h 4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8" h="464">
                  <a:moveTo>
                    <a:pt x="109" y="464"/>
                  </a:moveTo>
                  <a:lnTo>
                    <a:pt x="125" y="462"/>
                  </a:lnTo>
                  <a:lnTo>
                    <a:pt x="144" y="452"/>
                  </a:lnTo>
                  <a:lnTo>
                    <a:pt x="158" y="438"/>
                  </a:lnTo>
                  <a:lnTo>
                    <a:pt x="173" y="419"/>
                  </a:lnTo>
                  <a:lnTo>
                    <a:pt x="187" y="395"/>
                  </a:lnTo>
                  <a:lnTo>
                    <a:pt x="196" y="369"/>
                  </a:lnTo>
                  <a:lnTo>
                    <a:pt x="206" y="338"/>
                  </a:lnTo>
                  <a:lnTo>
                    <a:pt x="213" y="305"/>
                  </a:lnTo>
                  <a:lnTo>
                    <a:pt x="218" y="270"/>
                  </a:lnTo>
                  <a:lnTo>
                    <a:pt x="218" y="232"/>
                  </a:lnTo>
                  <a:lnTo>
                    <a:pt x="218" y="194"/>
                  </a:lnTo>
                  <a:lnTo>
                    <a:pt x="213" y="159"/>
                  </a:lnTo>
                  <a:lnTo>
                    <a:pt x="206" y="125"/>
                  </a:lnTo>
                  <a:lnTo>
                    <a:pt x="196" y="95"/>
                  </a:lnTo>
                  <a:lnTo>
                    <a:pt x="187" y="66"/>
                  </a:lnTo>
                  <a:lnTo>
                    <a:pt x="173" y="45"/>
                  </a:lnTo>
                  <a:lnTo>
                    <a:pt x="158" y="26"/>
                  </a:lnTo>
                  <a:lnTo>
                    <a:pt x="144" y="12"/>
                  </a:lnTo>
                  <a:lnTo>
                    <a:pt x="125" y="2"/>
                  </a:lnTo>
                  <a:lnTo>
                    <a:pt x="109" y="0"/>
                  </a:lnTo>
                  <a:lnTo>
                    <a:pt x="90" y="2"/>
                  </a:lnTo>
                  <a:lnTo>
                    <a:pt x="73" y="12"/>
                  </a:lnTo>
                  <a:lnTo>
                    <a:pt x="59" y="26"/>
                  </a:lnTo>
                  <a:lnTo>
                    <a:pt x="45" y="45"/>
                  </a:lnTo>
                  <a:lnTo>
                    <a:pt x="30" y="66"/>
                  </a:lnTo>
                  <a:lnTo>
                    <a:pt x="21" y="95"/>
                  </a:lnTo>
                  <a:lnTo>
                    <a:pt x="12" y="125"/>
                  </a:lnTo>
                  <a:lnTo>
                    <a:pt x="4" y="159"/>
                  </a:lnTo>
                  <a:lnTo>
                    <a:pt x="0" y="194"/>
                  </a:lnTo>
                  <a:lnTo>
                    <a:pt x="0" y="232"/>
                  </a:lnTo>
                  <a:lnTo>
                    <a:pt x="0" y="270"/>
                  </a:lnTo>
                  <a:lnTo>
                    <a:pt x="4" y="305"/>
                  </a:lnTo>
                  <a:lnTo>
                    <a:pt x="12" y="338"/>
                  </a:lnTo>
                  <a:lnTo>
                    <a:pt x="21" y="369"/>
                  </a:lnTo>
                  <a:lnTo>
                    <a:pt x="30" y="395"/>
                  </a:lnTo>
                  <a:lnTo>
                    <a:pt x="45" y="419"/>
                  </a:lnTo>
                  <a:lnTo>
                    <a:pt x="59" y="438"/>
                  </a:lnTo>
                  <a:lnTo>
                    <a:pt x="73" y="452"/>
                  </a:lnTo>
                  <a:lnTo>
                    <a:pt x="90" y="462"/>
                  </a:lnTo>
                  <a:lnTo>
                    <a:pt x="109" y="4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18" name="Freeform 141"/>
            <p:cNvSpPr>
              <a:spLocks noChangeArrowheads="1"/>
            </p:cNvSpPr>
            <p:nvPr/>
          </p:nvSpPr>
          <p:spPr bwMode="auto">
            <a:xfrm>
              <a:off x="3565" y="2874"/>
              <a:ext cx="218" cy="464"/>
            </a:xfrm>
            <a:custGeom>
              <a:avLst/>
              <a:gdLst>
                <a:gd name="T0" fmla="*/ 109 w 218"/>
                <a:gd name="T1" fmla="*/ 464 h 464"/>
                <a:gd name="T2" fmla="*/ 125 w 218"/>
                <a:gd name="T3" fmla="*/ 462 h 464"/>
                <a:gd name="T4" fmla="*/ 144 w 218"/>
                <a:gd name="T5" fmla="*/ 452 h 464"/>
                <a:gd name="T6" fmla="*/ 158 w 218"/>
                <a:gd name="T7" fmla="*/ 438 h 464"/>
                <a:gd name="T8" fmla="*/ 173 w 218"/>
                <a:gd name="T9" fmla="*/ 419 h 464"/>
                <a:gd name="T10" fmla="*/ 187 w 218"/>
                <a:gd name="T11" fmla="*/ 395 h 464"/>
                <a:gd name="T12" fmla="*/ 196 w 218"/>
                <a:gd name="T13" fmla="*/ 369 h 464"/>
                <a:gd name="T14" fmla="*/ 206 w 218"/>
                <a:gd name="T15" fmla="*/ 338 h 464"/>
                <a:gd name="T16" fmla="*/ 213 w 218"/>
                <a:gd name="T17" fmla="*/ 305 h 464"/>
                <a:gd name="T18" fmla="*/ 218 w 218"/>
                <a:gd name="T19" fmla="*/ 270 h 464"/>
                <a:gd name="T20" fmla="*/ 218 w 218"/>
                <a:gd name="T21" fmla="*/ 232 h 464"/>
                <a:gd name="T22" fmla="*/ 218 w 218"/>
                <a:gd name="T23" fmla="*/ 194 h 464"/>
                <a:gd name="T24" fmla="*/ 213 w 218"/>
                <a:gd name="T25" fmla="*/ 159 h 464"/>
                <a:gd name="T26" fmla="*/ 206 w 218"/>
                <a:gd name="T27" fmla="*/ 125 h 464"/>
                <a:gd name="T28" fmla="*/ 196 w 218"/>
                <a:gd name="T29" fmla="*/ 95 h 464"/>
                <a:gd name="T30" fmla="*/ 187 w 218"/>
                <a:gd name="T31" fmla="*/ 66 h 464"/>
                <a:gd name="T32" fmla="*/ 173 w 218"/>
                <a:gd name="T33" fmla="*/ 45 h 464"/>
                <a:gd name="T34" fmla="*/ 158 w 218"/>
                <a:gd name="T35" fmla="*/ 26 h 464"/>
                <a:gd name="T36" fmla="*/ 144 w 218"/>
                <a:gd name="T37" fmla="*/ 12 h 464"/>
                <a:gd name="T38" fmla="*/ 125 w 218"/>
                <a:gd name="T39" fmla="*/ 2 h 464"/>
                <a:gd name="T40" fmla="*/ 109 w 218"/>
                <a:gd name="T41" fmla="*/ 0 h 464"/>
                <a:gd name="T42" fmla="*/ 90 w 218"/>
                <a:gd name="T43" fmla="*/ 2 h 464"/>
                <a:gd name="T44" fmla="*/ 73 w 218"/>
                <a:gd name="T45" fmla="*/ 12 h 464"/>
                <a:gd name="T46" fmla="*/ 59 w 218"/>
                <a:gd name="T47" fmla="*/ 26 h 464"/>
                <a:gd name="T48" fmla="*/ 45 w 218"/>
                <a:gd name="T49" fmla="*/ 45 h 464"/>
                <a:gd name="T50" fmla="*/ 30 w 218"/>
                <a:gd name="T51" fmla="*/ 66 h 464"/>
                <a:gd name="T52" fmla="*/ 21 w 218"/>
                <a:gd name="T53" fmla="*/ 95 h 464"/>
                <a:gd name="T54" fmla="*/ 12 w 218"/>
                <a:gd name="T55" fmla="*/ 125 h 464"/>
                <a:gd name="T56" fmla="*/ 4 w 218"/>
                <a:gd name="T57" fmla="*/ 159 h 464"/>
                <a:gd name="T58" fmla="*/ 0 w 218"/>
                <a:gd name="T59" fmla="*/ 194 h 464"/>
                <a:gd name="T60" fmla="*/ 0 w 218"/>
                <a:gd name="T61" fmla="*/ 232 h 464"/>
                <a:gd name="T62" fmla="*/ 0 w 218"/>
                <a:gd name="T63" fmla="*/ 270 h 464"/>
                <a:gd name="T64" fmla="*/ 4 w 218"/>
                <a:gd name="T65" fmla="*/ 305 h 464"/>
                <a:gd name="T66" fmla="*/ 12 w 218"/>
                <a:gd name="T67" fmla="*/ 338 h 464"/>
                <a:gd name="T68" fmla="*/ 21 w 218"/>
                <a:gd name="T69" fmla="*/ 369 h 464"/>
                <a:gd name="T70" fmla="*/ 30 w 218"/>
                <a:gd name="T71" fmla="*/ 395 h 464"/>
                <a:gd name="T72" fmla="*/ 45 w 218"/>
                <a:gd name="T73" fmla="*/ 419 h 464"/>
                <a:gd name="T74" fmla="*/ 59 w 218"/>
                <a:gd name="T75" fmla="*/ 438 h 464"/>
                <a:gd name="T76" fmla="*/ 73 w 218"/>
                <a:gd name="T77" fmla="*/ 452 h 464"/>
                <a:gd name="T78" fmla="*/ 90 w 218"/>
                <a:gd name="T79" fmla="*/ 462 h 464"/>
                <a:gd name="T80" fmla="*/ 109 w 218"/>
                <a:gd name="T81" fmla="*/ 464 h 464"/>
                <a:gd name="T82" fmla="*/ 109 w 218"/>
                <a:gd name="T83" fmla="*/ 464 h 4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8"/>
                <a:gd name="T127" fmla="*/ 0 h 464"/>
                <a:gd name="T128" fmla="*/ 218 w 218"/>
                <a:gd name="T129" fmla="*/ 464 h 4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8" h="464">
                  <a:moveTo>
                    <a:pt x="109" y="464"/>
                  </a:moveTo>
                  <a:lnTo>
                    <a:pt x="125" y="462"/>
                  </a:lnTo>
                  <a:lnTo>
                    <a:pt x="144" y="452"/>
                  </a:lnTo>
                  <a:lnTo>
                    <a:pt x="158" y="438"/>
                  </a:lnTo>
                  <a:lnTo>
                    <a:pt x="173" y="419"/>
                  </a:lnTo>
                  <a:lnTo>
                    <a:pt x="187" y="395"/>
                  </a:lnTo>
                  <a:lnTo>
                    <a:pt x="196" y="369"/>
                  </a:lnTo>
                  <a:lnTo>
                    <a:pt x="206" y="338"/>
                  </a:lnTo>
                  <a:lnTo>
                    <a:pt x="213" y="305"/>
                  </a:lnTo>
                  <a:lnTo>
                    <a:pt x="218" y="270"/>
                  </a:lnTo>
                  <a:lnTo>
                    <a:pt x="218" y="232"/>
                  </a:lnTo>
                  <a:lnTo>
                    <a:pt x="218" y="194"/>
                  </a:lnTo>
                  <a:lnTo>
                    <a:pt x="213" y="159"/>
                  </a:lnTo>
                  <a:lnTo>
                    <a:pt x="206" y="125"/>
                  </a:lnTo>
                  <a:lnTo>
                    <a:pt x="196" y="95"/>
                  </a:lnTo>
                  <a:lnTo>
                    <a:pt x="187" y="66"/>
                  </a:lnTo>
                  <a:lnTo>
                    <a:pt x="173" y="45"/>
                  </a:lnTo>
                  <a:lnTo>
                    <a:pt x="158" y="26"/>
                  </a:lnTo>
                  <a:lnTo>
                    <a:pt x="144" y="12"/>
                  </a:lnTo>
                  <a:lnTo>
                    <a:pt x="125" y="2"/>
                  </a:lnTo>
                  <a:lnTo>
                    <a:pt x="109" y="0"/>
                  </a:lnTo>
                  <a:lnTo>
                    <a:pt x="90" y="2"/>
                  </a:lnTo>
                  <a:lnTo>
                    <a:pt x="73" y="12"/>
                  </a:lnTo>
                  <a:lnTo>
                    <a:pt x="59" y="26"/>
                  </a:lnTo>
                  <a:lnTo>
                    <a:pt x="45" y="45"/>
                  </a:lnTo>
                  <a:lnTo>
                    <a:pt x="30" y="66"/>
                  </a:lnTo>
                  <a:lnTo>
                    <a:pt x="21" y="95"/>
                  </a:lnTo>
                  <a:lnTo>
                    <a:pt x="12" y="125"/>
                  </a:lnTo>
                  <a:lnTo>
                    <a:pt x="4" y="159"/>
                  </a:lnTo>
                  <a:lnTo>
                    <a:pt x="0" y="194"/>
                  </a:lnTo>
                  <a:lnTo>
                    <a:pt x="0" y="232"/>
                  </a:lnTo>
                  <a:lnTo>
                    <a:pt x="0" y="270"/>
                  </a:lnTo>
                  <a:lnTo>
                    <a:pt x="4" y="305"/>
                  </a:lnTo>
                  <a:lnTo>
                    <a:pt x="12" y="338"/>
                  </a:lnTo>
                  <a:lnTo>
                    <a:pt x="21" y="369"/>
                  </a:lnTo>
                  <a:lnTo>
                    <a:pt x="30" y="395"/>
                  </a:lnTo>
                  <a:lnTo>
                    <a:pt x="45" y="419"/>
                  </a:lnTo>
                  <a:lnTo>
                    <a:pt x="59" y="438"/>
                  </a:lnTo>
                  <a:lnTo>
                    <a:pt x="73" y="452"/>
                  </a:lnTo>
                  <a:lnTo>
                    <a:pt x="90" y="462"/>
                  </a:lnTo>
                  <a:lnTo>
                    <a:pt x="109" y="464"/>
                  </a:lnTo>
                </a:path>
              </a:pathLst>
            </a:custGeom>
            <a:solidFill>
              <a:srgbClr val="800000"/>
            </a:solidFill>
            <a:ln w="11160">
              <a:solidFill>
                <a:srgbClr val="EB75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19" name="Rectangle 142"/>
            <p:cNvSpPr>
              <a:spLocks noChangeArrowheads="1"/>
            </p:cNvSpPr>
            <p:nvPr/>
          </p:nvSpPr>
          <p:spPr bwMode="auto">
            <a:xfrm>
              <a:off x="2490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80020" name="Rectangle 143"/>
            <p:cNvSpPr>
              <a:spLocks noChangeArrowheads="1"/>
            </p:cNvSpPr>
            <p:nvPr/>
          </p:nvSpPr>
          <p:spPr bwMode="auto">
            <a:xfrm>
              <a:off x="2506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80021" name="Rectangle 144"/>
            <p:cNvSpPr>
              <a:spLocks noChangeArrowheads="1"/>
            </p:cNvSpPr>
            <p:nvPr/>
          </p:nvSpPr>
          <p:spPr bwMode="auto">
            <a:xfrm>
              <a:off x="2537" y="3232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80022" name="Rectangle 145"/>
            <p:cNvSpPr>
              <a:spLocks noChangeArrowheads="1"/>
            </p:cNvSpPr>
            <p:nvPr/>
          </p:nvSpPr>
          <p:spPr bwMode="auto">
            <a:xfrm>
              <a:off x="2568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023" name="Rectangle 146"/>
            <p:cNvSpPr>
              <a:spLocks noChangeArrowheads="1"/>
            </p:cNvSpPr>
            <p:nvPr/>
          </p:nvSpPr>
          <p:spPr bwMode="auto">
            <a:xfrm>
              <a:off x="2584" y="3232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024" name="Rectangle 147"/>
            <p:cNvSpPr>
              <a:spLocks noChangeArrowheads="1"/>
            </p:cNvSpPr>
            <p:nvPr/>
          </p:nvSpPr>
          <p:spPr bwMode="auto">
            <a:xfrm>
              <a:off x="2603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80025" name="Rectangle 148"/>
            <p:cNvSpPr>
              <a:spLocks noChangeArrowheads="1"/>
            </p:cNvSpPr>
            <p:nvPr/>
          </p:nvSpPr>
          <p:spPr bwMode="auto">
            <a:xfrm>
              <a:off x="2636" y="3232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80026" name="Rectangle 149"/>
            <p:cNvSpPr>
              <a:spLocks noChangeArrowheads="1"/>
            </p:cNvSpPr>
            <p:nvPr/>
          </p:nvSpPr>
          <p:spPr bwMode="auto">
            <a:xfrm>
              <a:off x="2665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027" name="Rectangle 150"/>
            <p:cNvSpPr>
              <a:spLocks noChangeArrowheads="1"/>
            </p:cNvSpPr>
            <p:nvPr/>
          </p:nvSpPr>
          <p:spPr bwMode="auto">
            <a:xfrm>
              <a:off x="2680" y="3232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80028" name="Rectangle 151"/>
            <p:cNvSpPr>
              <a:spLocks noChangeArrowheads="1"/>
            </p:cNvSpPr>
            <p:nvPr/>
          </p:nvSpPr>
          <p:spPr bwMode="auto">
            <a:xfrm>
              <a:off x="2693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80029" name="Rectangle 152"/>
            <p:cNvSpPr>
              <a:spLocks noChangeArrowheads="1"/>
            </p:cNvSpPr>
            <p:nvPr/>
          </p:nvSpPr>
          <p:spPr bwMode="auto">
            <a:xfrm>
              <a:off x="2726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80030" name="Rectangle 153"/>
            <p:cNvSpPr>
              <a:spLocks noChangeArrowheads="1"/>
            </p:cNvSpPr>
            <p:nvPr/>
          </p:nvSpPr>
          <p:spPr bwMode="auto">
            <a:xfrm>
              <a:off x="2760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80031" name="Rectangle 154"/>
            <p:cNvSpPr>
              <a:spLocks noChangeArrowheads="1"/>
            </p:cNvSpPr>
            <p:nvPr/>
          </p:nvSpPr>
          <p:spPr bwMode="auto">
            <a:xfrm>
              <a:off x="2774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80032" name="Rectangle 155"/>
            <p:cNvSpPr>
              <a:spLocks noChangeArrowheads="1"/>
            </p:cNvSpPr>
            <p:nvPr/>
          </p:nvSpPr>
          <p:spPr bwMode="auto">
            <a:xfrm>
              <a:off x="2790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80033" name="Rectangle 156"/>
            <p:cNvSpPr>
              <a:spLocks noChangeArrowheads="1"/>
            </p:cNvSpPr>
            <p:nvPr/>
          </p:nvSpPr>
          <p:spPr bwMode="auto">
            <a:xfrm>
              <a:off x="2823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80034" name="Rectangle 157"/>
            <p:cNvSpPr>
              <a:spLocks noChangeArrowheads="1"/>
            </p:cNvSpPr>
            <p:nvPr/>
          </p:nvSpPr>
          <p:spPr bwMode="auto">
            <a:xfrm>
              <a:off x="2840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80035" name="Rectangle 158"/>
            <p:cNvSpPr>
              <a:spLocks noChangeArrowheads="1"/>
            </p:cNvSpPr>
            <p:nvPr/>
          </p:nvSpPr>
          <p:spPr bwMode="auto">
            <a:xfrm>
              <a:off x="2857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80036" name="Rectangle 159"/>
            <p:cNvSpPr>
              <a:spLocks noChangeArrowheads="1"/>
            </p:cNvSpPr>
            <p:nvPr/>
          </p:nvSpPr>
          <p:spPr bwMode="auto">
            <a:xfrm>
              <a:off x="2887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80037" name="Freeform 160"/>
            <p:cNvSpPr>
              <a:spLocks noChangeArrowheads="1"/>
            </p:cNvSpPr>
            <p:nvPr/>
          </p:nvSpPr>
          <p:spPr bwMode="auto">
            <a:xfrm>
              <a:off x="2461" y="3018"/>
              <a:ext cx="1080" cy="299"/>
            </a:xfrm>
            <a:custGeom>
              <a:avLst/>
              <a:gdLst>
                <a:gd name="T0" fmla="*/ 0 w 1080"/>
                <a:gd name="T1" fmla="*/ 0 h 299"/>
                <a:gd name="T2" fmla="*/ 0 w 1080"/>
                <a:gd name="T3" fmla="*/ 299 h 299"/>
                <a:gd name="T4" fmla="*/ 1014 w 1080"/>
                <a:gd name="T5" fmla="*/ 299 h 299"/>
                <a:gd name="T6" fmla="*/ 1014 w 1080"/>
                <a:gd name="T7" fmla="*/ 88 h 299"/>
                <a:gd name="T8" fmla="*/ 1080 w 1080"/>
                <a:gd name="T9" fmla="*/ 88 h 2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80"/>
                <a:gd name="T16" fmla="*/ 0 h 299"/>
                <a:gd name="T17" fmla="*/ 1080 w 1080"/>
                <a:gd name="T18" fmla="*/ 299 h 2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80" h="299">
                  <a:moveTo>
                    <a:pt x="0" y="0"/>
                  </a:moveTo>
                  <a:lnTo>
                    <a:pt x="0" y="299"/>
                  </a:lnTo>
                  <a:lnTo>
                    <a:pt x="1014" y="299"/>
                  </a:lnTo>
                  <a:lnTo>
                    <a:pt x="1014" y="88"/>
                  </a:lnTo>
                  <a:lnTo>
                    <a:pt x="1080" y="88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38" name="Freeform 161"/>
            <p:cNvSpPr>
              <a:spLocks noChangeArrowheads="1"/>
            </p:cNvSpPr>
            <p:nvPr/>
          </p:nvSpPr>
          <p:spPr bwMode="auto">
            <a:xfrm>
              <a:off x="2224" y="1285"/>
              <a:ext cx="275" cy="727"/>
            </a:xfrm>
            <a:custGeom>
              <a:avLst/>
              <a:gdLst>
                <a:gd name="T0" fmla="*/ 138 w 275"/>
                <a:gd name="T1" fmla="*/ 727 h 727"/>
                <a:gd name="T2" fmla="*/ 161 w 275"/>
                <a:gd name="T3" fmla="*/ 722 h 727"/>
                <a:gd name="T4" fmla="*/ 180 w 275"/>
                <a:gd name="T5" fmla="*/ 710 h 727"/>
                <a:gd name="T6" fmla="*/ 202 w 275"/>
                <a:gd name="T7" fmla="*/ 687 h 727"/>
                <a:gd name="T8" fmla="*/ 218 w 275"/>
                <a:gd name="T9" fmla="*/ 658 h 727"/>
                <a:gd name="T10" fmla="*/ 235 w 275"/>
                <a:gd name="T11" fmla="*/ 620 h 727"/>
                <a:gd name="T12" fmla="*/ 249 w 275"/>
                <a:gd name="T13" fmla="*/ 580 h 727"/>
                <a:gd name="T14" fmla="*/ 261 w 275"/>
                <a:gd name="T15" fmla="*/ 530 h 727"/>
                <a:gd name="T16" fmla="*/ 268 w 275"/>
                <a:gd name="T17" fmla="*/ 478 h 727"/>
                <a:gd name="T18" fmla="*/ 273 w 275"/>
                <a:gd name="T19" fmla="*/ 424 h 727"/>
                <a:gd name="T20" fmla="*/ 275 w 275"/>
                <a:gd name="T21" fmla="*/ 365 h 727"/>
                <a:gd name="T22" fmla="*/ 273 w 275"/>
                <a:gd name="T23" fmla="*/ 305 h 727"/>
                <a:gd name="T24" fmla="*/ 268 w 275"/>
                <a:gd name="T25" fmla="*/ 249 h 727"/>
                <a:gd name="T26" fmla="*/ 261 w 275"/>
                <a:gd name="T27" fmla="*/ 197 h 727"/>
                <a:gd name="T28" fmla="*/ 249 w 275"/>
                <a:gd name="T29" fmla="*/ 149 h 727"/>
                <a:gd name="T30" fmla="*/ 235 w 275"/>
                <a:gd name="T31" fmla="*/ 107 h 727"/>
                <a:gd name="T32" fmla="*/ 218 w 275"/>
                <a:gd name="T33" fmla="*/ 71 h 727"/>
                <a:gd name="T34" fmla="*/ 202 w 275"/>
                <a:gd name="T35" fmla="*/ 40 h 727"/>
                <a:gd name="T36" fmla="*/ 180 w 275"/>
                <a:gd name="T37" fmla="*/ 19 h 727"/>
                <a:gd name="T38" fmla="*/ 161 w 275"/>
                <a:gd name="T39" fmla="*/ 5 h 727"/>
                <a:gd name="T40" fmla="*/ 138 w 275"/>
                <a:gd name="T41" fmla="*/ 0 h 727"/>
                <a:gd name="T42" fmla="*/ 116 w 275"/>
                <a:gd name="T43" fmla="*/ 5 h 727"/>
                <a:gd name="T44" fmla="*/ 95 w 275"/>
                <a:gd name="T45" fmla="*/ 19 h 727"/>
                <a:gd name="T46" fmla="*/ 76 w 275"/>
                <a:gd name="T47" fmla="*/ 40 h 727"/>
                <a:gd name="T48" fmla="*/ 57 w 275"/>
                <a:gd name="T49" fmla="*/ 71 h 727"/>
                <a:gd name="T50" fmla="*/ 41 w 275"/>
                <a:gd name="T51" fmla="*/ 107 h 727"/>
                <a:gd name="T52" fmla="*/ 26 w 275"/>
                <a:gd name="T53" fmla="*/ 149 h 727"/>
                <a:gd name="T54" fmla="*/ 17 w 275"/>
                <a:gd name="T55" fmla="*/ 197 h 727"/>
                <a:gd name="T56" fmla="*/ 7 w 275"/>
                <a:gd name="T57" fmla="*/ 249 h 727"/>
                <a:gd name="T58" fmla="*/ 3 w 275"/>
                <a:gd name="T59" fmla="*/ 305 h 727"/>
                <a:gd name="T60" fmla="*/ 0 w 275"/>
                <a:gd name="T61" fmla="*/ 365 h 727"/>
                <a:gd name="T62" fmla="*/ 3 w 275"/>
                <a:gd name="T63" fmla="*/ 424 h 727"/>
                <a:gd name="T64" fmla="*/ 7 w 275"/>
                <a:gd name="T65" fmla="*/ 478 h 727"/>
                <a:gd name="T66" fmla="*/ 17 w 275"/>
                <a:gd name="T67" fmla="*/ 530 h 727"/>
                <a:gd name="T68" fmla="*/ 26 w 275"/>
                <a:gd name="T69" fmla="*/ 580 h 727"/>
                <a:gd name="T70" fmla="*/ 41 w 275"/>
                <a:gd name="T71" fmla="*/ 620 h 727"/>
                <a:gd name="T72" fmla="*/ 57 w 275"/>
                <a:gd name="T73" fmla="*/ 658 h 727"/>
                <a:gd name="T74" fmla="*/ 76 w 275"/>
                <a:gd name="T75" fmla="*/ 687 h 727"/>
                <a:gd name="T76" fmla="*/ 95 w 275"/>
                <a:gd name="T77" fmla="*/ 710 h 727"/>
                <a:gd name="T78" fmla="*/ 116 w 275"/>
                <a:gd name="T79" fmla="*/ 722 h 727"/>
                <a:gd name="T80" fmla="*/ 138 w 275"/>
                <a:gd name="T81" fmla="*/ 727 h 727"/>
                <a:gd name="T82" fmla="*/ 138 w 275"/>
                <a:gd name="T83" fmla="*/ 727 h 72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75"/>
                <a:gd name="T127" fmla="*/ 0 h 727"/>
                <a:gd name="T128" fmla="*/ 275 w 275"/>
                <a:gd name="T129" fmla="*/ 727 h 72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75" h="727">
                  <a:moveTo>
                    <a:pt x="138" y="727"/>
                  </a:moveTo>
                  <a:lnTo>
                    <a:pt x="161" y="722"/>
                  </a:lnTo>
                  <a:lnTo>
                    <a:pt x="180" y="710"/>
                  </a:lnTo>
                  <a:lnTo>
                    <a:pt x="202" y="687"/>
                  </a:lnTo>
                  <a:lnTo>
                    <a:pt x="218" y="658"/>
                  </a:lnTo>
                  <a:lnTo>
                    <a:pt x="235" y="620"/>
                  </a:lnTo>
                  <a:lnTo>
                    <a:pt x="249" y="580"/>
                  </a:lnTo>
                  <a:lnTo>
                    <a:pt x="261" y="530"/>
                  </a:lnTo>
                  <a:lnTo>
                    <a:pt x="268" y="478"/>
                  </a:lnTo>
                  <a:lnTo>
                    <a:pt x="273" y="424"/>
                  </a:lnTo>
                  <a:lnTo>
                    <a:pt x="275" y="365"/>
                  </a:lnTo>
                  <a:lnTo>
                    <a:pt x="273" y="305"/>
                  </a:lnTo>
                  <a:lnTo>
                    <a:pt x="268" y="249"/>
                  </a:lnTo>
                  <a:lnTo>
                    <a:pt x="261" y="197"/>
                  </a:lnTo>
                  <a:lnTo>
                    <a:pt x="249" y="149"/>
                  </a:lnTo>
                  <a:lnTo>
                    <a:pt x="235" y="107"/>
                  </a:lnTo>
                  <a:lnTo>
                    <a:pt x="218" y="71"/>
                  </a:lnTo>
                  <a:lnTo>
                    <a:pt x="202" y="40"/>
                  </a:lnTo>
                  <a:lnTo>
                    <a:pt x="180" y="19"/>
                  </a:lnTo>
                  <a:lnTo>
                    <a:pt x="161" y="5"/>
                  </a:lnTo>
                  <a:lnTo>
                    <a:pt x="138" y="0"/>
                  </a:lnTo>
                  <a:lnTo>
                    <a:pt x="116" y="5"/>
                  </a:lnTo>
                  <a:lnTo>
                    <a:pt x="95" y="19"/>
                  </a:lnTo>
                  <a:lnTo>
                    <a:pt x="76" y="40"/>
                  </a:lnTo>
                  <a:lnTo>
                    <a:pt x="57" y="71"/>
                  </a:lnTo>
                  <a:lnTo>
                    <a:pt x="41" y="107"/>
                  </a:lnTo>
                  <a:lnTo>
                    <a:pt x="26" y="149"/>
                  </a:lnTo>
                  <a:lnTo>
                    <a:pt x="17" y="197"/>
                  </a:lnTo>
                  <a:lnTo>
                    <a:pt x="7" y="249"/>
                  </a:lnTo>
                  <a:lnTo>
                    <a:pt x="3" y="305"/>
                  </a:lnTo>
                  <a:lnTo>
                    <a:pt x="0" y="365"/>
                  </a:lnTo>
                  <a:lnTo>
                    <a:pt x="3" y="424"/>
                  </a:lnTo>
                  <a:lnTo>
                    <a:pt x="7" y="478"/>
                  </a:lnTo>
                  <a:lnTo>
                    <a:pt x="17" y="530"/>
                  </a:lnTo>
                  <a:lnTo>
                    <a:pt x="26" y="580"/>
                  </a:lnTo>
                  <a:lnTo>
                    <a:pt x="41" y="620"/>
                  </a:lnTo>
                  <a:lnTo>
                    <a:pt x="57" y="658"/>
                  </a:lnTo>
                  <a:lnTo>
                    <a:pt x="76" y="687"/>
                  </a:lnTo>
                  <a:lnTo>
                    <a:pt x="95" y="710"/>
                  </a:lnTo>
                  <a:lnTo>
                    <a:pt x="116" y="722"/>
                  </a:lnTo>
                  <a:lnTo>
                    <a:pt x="138" y="7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39" name="Freeform 162"/>
            <p:cNvSpPr>
              <a:spLocks noChangeArrowheads="1"/>
            </p:cNvSpPr>
            <p:nvPr/>
          </p:nvSpPr>
          <p:spPr bwMode="auto">
            <a:xfrm>
              <a:off x="2224" y="1285"/>
              <a:ext cx="275" cy="727"/>
            </a:xfrm>
            <a:custGeom>
              <a:avLst/>
              <a:gdLst>
                <a:gd name="T0" fmla="*/ 138 w 275"/>
                <a:gd name="T1" fmla="*/ 727 h 727"/>
                <a:gd name="T2" fmla="*/ 161 w 275"/>
                <a:gd name="T3" fmla="*/ 722 h 727"/>
                <a:gd name="T4" fmla="*/ 180 w 275"/>
                <a:gd name="T5" fmla="*/ 710 h 727"/>
                <a:gd name="T6" fmla="*/ 202 w 275"/>
                <a:gd name="T7" fmla="*/ 687 h 727"/>
                <a:gd name="T8" fmla="*/ 218 w 275"/>
                <a:gd name="T9" fmla="*/ 658 h 727"/>
                <a:gd name="T10" fmla="*/ 235 w 275"/>
                <a:gd name="T11" fmla="*/ 620 h 727"/>
                <a:gd name="T12" fmla="*/ 249 w 275"/>
                <a:gd name="T13" fmla="*/ 580 h 727"/>
                <a:gd name="T14" fmla="*/ 261 w 275"/>
                <a:gd name="T15" fmla="*/ 530 h 727"/>
                <a:gd name="T16" fmla="*/ 268 w 275"/>
                <a:gd name="T17" fmla="*/ 478 h 727"/>
                <a:gd name="T18" fmla="*/ 273 w 275"/>
                <a:gd name="T19" fmla="*/ 424 h 727"/>
                <a:gd name="T20" fmla="*/ 275 w 275"/>
                <a:gd name="T21" fmla="*/ 365 h 727"/>
                <a:gd name="T22" fmla="*/ 273 w 275"/>
                <a:gd name="T23" fmla="*/ 305 h 727"/>
                <a:gd name="T24" fmla="*/ 268 w 275"/>
                <a:gd name="T25" fmla="*/ 249 h 727"/>
                <a:gd name="T26" fmla="*/ 261 w 275"/>
                <a:gd name="T27" fmla="*/ 197 h 727"/>
                <a:gd name="T28" fmla="*/ 249 w 275"/>
                <a:gd name="T29" fmla="*/ 149 h 727"/>
                <a:gd name="T30" fmla="*/ 235 w 275"/>
                <a:gd name="T31" fmla="*/ 107 h 727"/>
                <a:gd name="T32" fmla="*/ 218 w 275"/>
                <a:gd name="T33" fmla="*/ 71 h 727"/>
                <a:gd name="T34" fmla="*/ 202 w 275"/>
                <a:gd name="T35" fmla="*/ 40 h 727"/>
                <a:gd name="T36" fmla="*/ 180 w 275"/>
                <a:gd name="T37" fmla="*/ 19 h 727"/>
                <a:gd name="T38" fmla="*/ 161 w 275"/>
                <a:gd name="T39" fmla="*/ 5 h 727"/>
                <a:gd name="T40" fmla="*/ 138 w 275"/>
                <a:gd name="T41" fmla="*/ 0 h 727"/>
                <a:gd name="T42" fmla="*/ 116 w 275"/>
                <a:gd name="T43" fmla="*/ 5 h 727"/>
                <a:gd name="T44" fmla="*/ 95 w 275"/>
                <a:gd name="T45" fmla="*/ 19 h 727"/>
                <a:gd name="T46" fmla="*/ 76 w 275"/>
                <a:gd name="T47" fmla="*/ 40 h 727"/>
                <a:gd name="T48" fmla="*/ 57 w 275"/>
                <a:gd name="T49" fmla="*/ 71 h 727"/>
                <a:gd name="T50" fmla="*/ 41 w 275"/>
                <a:gd name="T51" fmla="*/ 107 h 727"/>
                <a:gd name="T52" fmla="*/ 26 w 275"/>
                <a:gd name="T53" fmla="*/ 149 h 727"/>
                <a:gd name="T54" fmla="*/ 17 w 275"/>
                <a:gd name="T55" fmla="*/ 197 h 727"/>
                <a:gd name="T56" fmla="*/ 7 w 275"/>
                <a:gd name="T57" fmla="*/ 249 h 727"/>
                <a:gd name="T58" fmla="*/ 3 w 275"/>
                <a:gd name="T59" fmla="*/ 305 h 727"/>
                <a:gd name="T60" fmla="*/ 0 w 275"/>
                <a:gd name="T61" fmla="*/ 365 h 727"/>
                <a:gd name="T62" fmla="*/ 3 w 275"/>
                <a:gd name="T63" fmla="*/ 424 h 727"/>
                <a:gd name="T64" fmla="*/ 7 w 275"/>
                <a:gd name="T65" fmla="*/ 478 h 727"/>
                <a:gd name="T66" fmla="*/ 17 w 275"/>
                <a:gd name="T67" fmla="*/ 530 h 727"/>
                <a:gd name="T68" fmla="*/ 26 w 275"/>
                <a:gd name="T69" fmla="*/ 580 h 727"/>
                <a:gd name="T70" fmla="*/ 41 w 275"/>
                <a:gd name="T71" fmla="*/ 620 h 727"/>
                <a:gd name="T72" fmla="*/ 57 w 275"/>
                <a:gd name="T73" fmla="*/ 658 h 727"/>
                <a:gd name="T74" fmla="*/ 76 w 275"/>
                <a:gd name="T75" fmla="*/ 687 h 727"/>
                <a:gd name="T76" fmla="*/ 95 w 275"/>
                <a:gd name="T77" fmla="*/ 710 h 727"/>
                <a:gd name="T78" fmla="*/ 116 w 275"/>
                <a:gd name="T79" fmla="*/ 722 h 727"/>
                <a:gd name="T80" fmla="*/ 138 w 275"/>
                <a:gd name="T81" fmla="*/ 727 h 727"/>
                <a:gd name="T82" fmla="*/ 138 w 275"/>
                <a:gd name="T83" fmla="*/ 727 h 72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75"/>
                <a:gd name="T127" fmla="*/ 0 h 727"/>
                <a:gd name="T128" fmla="*/ 275 w 275"/>
                <a:gd name="T129" fmla="*/ 727 h 72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75" h="727">
                  <a:moveTo>
                    <a:pt x="138" y="727"/>
                  </a:moveTo>
                  <a:lnTo>
                    <a:pt x="161" y="722"/>
                  </a:lnTo>
                  <a:lnTo>
                    <a:pt x="180" y="710"/>
                  </a:lnTo>
                  <a:lnTo>
                    <a:pt x="202" y="687"/>
                  </a:lnTo>
                  <a:lnTo>
                    <a:pt x="218" y="658"/>
                  </a:lnTo>
                  <a:lnTo>
                    <a:pt x="235" y="620"/>
                  </a:lnTo>
                  <a:lnTo>
                    <a:pt x="249" y="580"/>
                  </a:lnTo>
                  <a:lnTo>
                    <a:pt x="261" y="530"/>
                  </a:lnTo>
                  <a:lnTo>
                    <a:pt x="268" y="478"/>
                  </a:lnTo>
                  <a:lnTo>
                    <a:pt x="273" y="424"/>
                  </a:lnTo>
                  <a:lnTo>
                    <a:pt x="275" y="365"/>
                  </a:lnTo>
                  <a:lnTo>
                    <a:pt x="273" y="305"/>
                  </a:lnTo>
                  <a:lnTo>
                    <a:pt x="268" y="249"/>
                  </a:lnTo>
                  <a:lnTo>
                    <a:pt x="261" y="197"/>
                  </a:lnTo>
                  <a:lnTo>
                    <a:pt x="249" y="149"/>
                  </a:lnTo>
                  <a:lnTo>
                    <a:pt x="235" y="107"/>
                  </a:lnTo>
                  <a:lnTo>
                    <a:pt x="218" y="71"/>
                  </a:lnTo>
                  <a:lnTo>
                    <a:pt x="202" y="40"/>
                  </a:lnTo>
                  <a:lnTo>
                    <a:pt x="180" y="19"/>
                  </a:lnTo>
                  <a:lnTo>
                    <a:pt x="161" y="5"/>
                  </a:lnTo>
                  <a:lnTo>
                    <a:pt x="138" y="0"/>
                  </a:lnTo>
                  <a:lnTo>
                    <a:pt x="116" y="5"/>
                  </a:lnTo>
                  <a:lnTo>
                    <a:pt x="95" y="19"/>
                  </a:lnTo>
                  <a:lnTo>
                    <a:pt x="76" y="40"/>
                  </a:lnTo>
                  <a:lnTo>
                    <a:pt x="57" y="71"/>
                  </a:lnTo>
                  <a:lnTo>
                    <a:pt x="41" y="107"/>
                  </a:lnTo>
                  <a:lnTo>
                    <a:pt x="26" y="149"/>
                  </a:lnTo>
                  <a:lnTo>
                    <a:pt x="17" y="197"/>
                  </a:lnTo>
                  <a:lnTo>
                    <a:pt x="7" y="249"/>
                  </a:lnTo>
                  <a:lnTo>
                    <a:pt x="3" y="305"/>
                  </a:lnTo>
                  <a:lnTo>
                    <a:pt x="0" y="365"/>
                  </a:lnTo>
                  <a:lnTo>
                    <a:pt x="3" y="424"/>
                  </a:lnTo>
                  <a:lnTo>
                    <a:pt x="7" y="478"/>
                  </a:lnTo>
                  <a:lnTo>
                    <a:pt x="17" y="530"/>
                  </a:lnTo>
                  <a:lnTo>
                    <a:pt x="26" y="580"/>
                  </a:lnTo>
                  <a:lnTo>
                    <a:pt x="41" y="620"/>
                  </a:lnTo>
                  <a:lnTo>
                    <a:pt x="57" y="658"/>
                  </a:lnTo>
                  <a:lnTo>
                    <a:pt x="76" y="687"/>
                  </a:lnTo>
                  <a:lnTo>
                    <a:pt x="95" y="710"/>
                  </a:lnTo>
                  <a:lnTo>
                    <a:pt x="116" y="722"/>
                  </a:lnTo>
                  <a:lnTo>
                    <a:pt x="138" y="727"/>
                  </a:lnTo>
                </a:path>
              </a:pathLst>
            </a:custGeom>
            <a:solidFill>
              <a:srgbClr val="D9D9D9"/>
            </a:solidFill>
            <a:ln w="11160">
              <a:solidFill>
                <a:srgbClr val="EB75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40" name="Rectangle 163"/>
            <p:cNvSpPr>
              <a:spLocks noChangeArrowheads="1"/>
            </p:cNvSpPr>
            <p:nvPr/>
          </p:nvSpPr>
          <p:spPr bwMode="auto">
            <a:xfrm>
              <a:off x="2521" y="1563"/>
              <a:ext cx="4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80041" name="Rectangle 164"/>
            <p:cNvSpPr>
              <a:spLocks noChangeArrowheads="1"/>
            </p:cNvSpPr>
            <p:nvPr/>
          </p:nvSpPr>
          <p:spPr bwMode="auto">
            <a:xfrm>
              <a:off x="2570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042" name="Rectangle 165"/>
            <p:cNvSpPr>
              <a:spLocks noChangeArrowheads="1"/>
            </p:cNvSpPr>
            <p:nvPr/>
          </p:nvSpPr>
          <p:spPr bwMode="auto">
            <a:xfrm>
              <a:off x="2603" y="1563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80043" name="Rectangle 166"/>
            <p:cNvSpPr>
              <a:spLocks noChangeArrowheads="1"/>
            </p:cNvSpPr>
            <p:nvPr/>
          </p:nvSpPr>
          <p:spPr bwMode="auto">
            <a:xfrm>
              <a:off x="2651" y="156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044" name="Rectangle 167"/>
            <p:cNvSpPr>
              <a:spLocks noChangeArrowheads="1"/>
            </p:cNvSpPr>
            <p:nvPr/>
          </p:nvSpPr>
          <p:spPr bwMode="auto">
            <a:xfrm>
              <a:off x="2667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80045" name="Rectangle 168"/>
            <p:cNvSpPr>
              <a:spLocks noChangeArrowheads="1"/>
            </p:cNvSpPr>
            <p:nvPr/>
          </p:nvSpPr>
          <p:spPr bwMode="auto">
            <a:xfrm>
              <a:off x="2700" y="1563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046" name="Rectangle 169"/>
            <p:cNvSpPr>
              <a:spLocks noChangeArrowheads="1"/>
            </p:cNvSpPr>
            <p:nvPr/>
          </p:nvSpPr>
          <p:spPr bwMode="auto">
            <a:xfrm>
              <a:off x="2741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047" name="Rectangle 170"/>
            <p:cNvSpPr>
              <a:spLocks noChangeArrowheads="1"/>
            </p:cNvSpPr>
            <p:nvPr/>
          </p:nvSpPr>
          <p:spPr bwMode="auto">
            <a:xfrm>
              <a:off x="2774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80048" name="Rectangle 171"/>
            <p:cNvSpPr>
              <a:spLocks noChangeArrowheads="1"/>
            </p:cNvSpPr>
            <p:nvPr/>
          </p:nvSpPr>
          <p:spPr bwMode="auto">
            <a:xfrm>
              <a:off x="2520" y="16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0049" name="Rectangle 172"/>
            <p:cNvSpPr>
              <a:spLocks noChangeArrowheads="1"/>
            </p:cNvSpPr>
            <p:nvPr/>
          </p:nvSpPr>
          <p:spPr bwMode="auto">
            <a:xfrm>
              <a:off x="2561" y="16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80050" name="Rectangle 173"/>
            <p:cNvSpPr>
              <a:spLocks noChangeArrowheads="1"/>
            </p:cNvSpPr>
            <p:nvPr/>
          </p:nvSpPr>
          <p:spPr bwMode="auto">
            <a:xfrm>
              <a:off x="2591" y="1650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80051" name="Rectangle 174"/>
            <p:cNvSpPr>
              <a:spLocks noChangeArrowheads="1"/>
            </p:cNvSpPr>
            <p:nvPr/>
          </p:nvSpPr>
          <p:spPr bwMode="auto">
            <a:xfrm>
              <a:off x="2634" y="1650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80052" name="Rectangle 175"/>
            <p:cNvSpPr>
              <a:spLocks noChangeArrowheads="1"/>
            </p:cNvSpPr>
            <p:nvPr/>
          </p:nvSpPr>
          <p:spPr bwMode="auto">
            <a:xfrm>
              <a:off x="2679" y="16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80053" name="Rectangle 176"/>
            <p:cNvSpPr>
              <a:spLocks noChangeArrowheads="1"/>
            </p:cNvSpPr>
            <p:nvPr/>
          </p:nvSpPr>
          <p:spPr bwMode="auto">
            <a:xfrm>
              <a:off x="2521" y="1738"/>
              <a:ext cx="4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80054" name="Rectangle 177"/>
            <p:cNvSpPr>
              <a:spLocks noChangeArrowheads="1"/>
            </p:cNvSpPr>
            <p:nvPr/>
          </p:nvSpPr>
          <p:spPr bwMode="auto">
            <a:xfrm>
              <a:off x="2570" y="173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055" name="Rectangle 178"/>
            <p:cNvSpPr>
              <a:spLocks noChangeArrowheads="1"/>
            </p:cNvSpPr>
            <p:nvPr/>
          </p:nvSpPr>
          <p:spPr bwMode="auto">
            <a:xfrm>
              <a:off x="2603" y="1738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80056" name="Rectangle 179"/>
            <p:cNvSpPr>
              <a:spLocks noChangeArrowheads="1"/>
            </p:cNvSpPr>
            <p:nvPr/>
          </p:nvSpPr>
          <p:spPr bwMode="auto">
            <a:xfrm>
              <a:off x="2649" y="1738"/>
              <a:ext cx="5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80057" name="Rectangle 180"/>
            <p:cNvSpPr>
              <a:spLocks noChangeArrowheads="1"/>
            </p:cNvSpPr>
            <p:nvPr/>
          </p:nvSpPr>
          <p:spPr bwMode="auto">
            <a:xfrm>
              <a:off x="2705" y="173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058" name="Rectangle 181"/>
            <p:cNvSpPr>
              <a:spLocks noChangeArrowheads="1"/>
            </p:cNvSpPr>
            <p:nvPr/>
          </p:nvSpPr>
          <p:spPr bwMode="auto">
            <a:xfrm>
              <a:off x="2726" y="1738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80059" name="Rectangle 182"/>
            <p:cNvSpPr>
              <a:spLocks noChangeArrowheads="1"/>
            </p:cNvSpPr>
            <p:nvPr/>
          </p:nvSpPr>
          <p:spPr bwMode="auto">
            <a:xfrm>
              <a:off x="2738" y="173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060" name="Rectangle 183"/>
            <p:cNvSpPr>
              <a:spLocks noChangeArrowheads="1"/>
            </p:cNvSpPr>
            <p:nvPr/>
          </p:nvSpPr>
          <p:spPr bwMode="auto">
            <a:xfrm>
              <a:off x="2755" y="173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061" name="Rectangle 184"/>
            <p:cNvSpPr>
              <a:spLocks noChangeArrowheads="1"/>
            </p:cNvSpPr>
            <p:nvPr/>
          </p:nvSpPr>
          <p:spPr bwMode="auto">
            <a:xfrm>
              <a:off x="2520" y="1913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062" name="Rectangle 185"/>
            <p:cNvSpPr>
              <a:spLocks noChangeArrowheads="1"/>
            </p:cNvSpPr>
            <p:nvPr/>
          </p:nvSpPr>
          <p:spPr bwMode="auto">
            <a:xfrm>
              <a:off x="2563" y="19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063" name="Rectangle 186"/>
            <p:cNvSpPr>
              <a:spLocks noChangeArrowheads="1"/>
            </p:cNvSpPr>
            <p:nvPr/>
          </p:nvSpPr>
          <p:spPr bwMode="auto">
            <a:xfrm>
              <a:off x="2596" y="19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80064" name="Rectangle 187"/>
            <p:cNvSpPr>
              <a:spLocks noChangeArrowheads="1"/>
            </p:cNvSpPr>
            <p:nvPr/>
          </p:nvSpPr>
          <p:spPr bwMode="auto">
            <a:xfrm>
              <a:off x="2627" y="1913"/>
              <a:ext cx="5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80065" name="Rectangle 188"/>
            <p:cNvSpPr>
              <a:spLocks noChangeArrowheads="1"/>
            </p:cNvSpPr>
            <p:nvPr/>
          </p:nvSpPr>
          <p:spPr bwMode="auto">
            <a:xfrm>
              <a:off x="2684" y="1913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066" name="Rectangle 189"/>
            <p:cNvSpPr>
              <a:spLocks noChangeArrowheads="1"/>
            </p:cNvSpPr>
            <p:nvPr/>
          </p:nvSpPr>
          <p:spPr bwMode="auto">
            <a:xfrm>
              <a:off x="2702" y="1913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80067" name="Rectangle 190"/>
            <p:cNvSpPr>
              <a:spLocks noChangeArrowheads="1"/>
            </p:cNvSpPr>
            <p:nvPr/>
          </p:nvSpPr>
          <p:spPr bwMode="auto">
            <a:xfrm>
              <a:off x="2715" y="191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068" name="Rectangle 191"/>
            <p:cNvSpPr>
              <a:spLocks noChangeArrowheads="1"/>
            </p:cNvSpPr>
            <p:nvPr/>
          </p:nvSpPr>
          <p:spPr bwMode="auto">
            <a:xfrm>
              <a:off x="2731" y="19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069" name="Rectangle 192"/>
            <p:cNvSpPr>
              <a:spLocks noChangeArrowheads="1"/>
            </p:cNvSpPr>
            <p:nvPr/>
          </p:nvSpPr>
          <p:spPr bwMode="auto">
            <a:xfrm>
              <a:off x="2521" y="1475"/>
              <a:ext cx="4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80070" name="Rectangle 193"/>
            <p:cNvSpPr>
              <a:spLocks noChangeArrowheads="1"/>
            </p:cNvSpPr>
            <p:nvPr/>
          </p:nvSpPr>
          <p:spPr bwMode="auto">
            <a:xfrm>
              <a:off x="2570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071" name="Rectangle 194"/>
            <p:cNvSpPr>
              <a:spLocks noChangeArrowheads="1"/>
            </p:cNvSpPr>
            <p:nvPr/>
          </p:nvSpPr>
          <p:spPr bwMode="auto">
            <a:xfrm>
              <a:off x="2603" y="1475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80072" name="Rectangle 195"/>
            <p:cNvSpPr>
              <a:spLocks noChangeArrowheads="1"/>
            </p:cNvSpPr>
            <p:nvPr/>
          </p:nvSpPr>
          <p:spPr bwMode="auto">
            <a:xfrm>
              <a:off x="2651" y="147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073" name="Rectangle 196"/>
            <p:cNvSpPr>
              <a:spLocks noChangeArrowheads="1"/>
            </p:cNvSpPr>
            <p:nvPr/>
          </p:nvSpPr>
          <p:spPr bwMode="auto">
            <a:xfrm>
              <a:off x="2693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074" name="Rectangle 197"/>
            <p:cNvSpPr>
              <a:spLocks noChangeArrowheads="1"/>
            </p:cNvSpPr>
            <p:nvPr/>
          </p:nvSpPr>
          <p:spPr bwMode="auto">
            <a:xfrm>
              <a:off x="2726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0075" name="Rectangle 198"/>
            <p:cNvSpPr>
              <a:spLocks noChangeArrowheads="1"/>
            </p:cNvSpPr>
            <p:nvPr/>
          </p:nvSpPr>
          <p:spPr bwMode="auto">
            <a:xfrm>
              <a:off x="2757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80076" name="Rectangle 199"/>
            <p:cNvSpPr>
              <a:spLocks noChangeArrowheads="1"/>
            </p:cNvSpPr>
            <p:nvPr/>
          </p:nvSpPr>
          <p:spPr bwMode="auto">
            <a:xfrm>
              <a:off x="2520" y="1387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B</a:t>
              </a:r>
            </a:p>
          </p:txBody>
        </p:sp>
        <p:sp>
          <p:nvSpPr>
            <p:cNvPr id="80077" name="Rectangle 200"/>
            <p:cNvSpPr>
              <a:spLocks noChangeArrowheads="1"/>
            </p:cNvSpPr>
            <p:nvPr/>
          </p:nvSpPr>
          <p:spPr bwMode="auto">
            <a:xfrm>
              <a:off x="2561" y="1387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078" name="Rectangle 201"/>
            <p:cNvSpPr>
              <a:spLocks noChangeArrowheads="1"/>
            </p:cNvSpPr>
            <p:nvPr/>
          </p:nvSpPr>
          <p:spPr bwMode="auto">
            <a:xfrm>
              <a:off x="2580" y="13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0079" name="Rectangle 202"/>
            <p:cNvSpPr>
              <a:spLocks noChangeArrowheads="1"/>
            </p:cNvSpPr>
            <p:nvPr/>
          </p:nvSpPr>
          <p:spPr bwMode="auto">
            <a:xfrm>
              <a:off x="2613" y="13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80080" name="Rectangle 203"/>
            <p:cNvSpPr>
              <a:spLocks noChangeArrowheads="1"/>
            </p:cNvSpPr>
            <p:nvPr/>
          </p:nvSpPr>
          <p:spPr bwMode="auto">
            <a:xfrm>
              <a:off x="2643" y="1387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grpSp>
          <p:nvGrpSpPr>
            <p:cNvPr id="80081" name="Group 204"/>
            <p:cNvGrpSpPr>
              <a:grpSpLocks/>
            </p:cNvGrpSpPr>
            <p:nvPr/>
          </p:nvGrpSpPr>
          <p:grpSpPr bwMode="auto">
            <a:xfrm>
              <a:off x="384" y="672"/>
              <a:ext cx="4895" cy="2578"/>
              <a:chOff x="384" y="672"/>
              <a:chExt cx="4895" cy="2578"/>
            </a:xfrm>
          </p:grpSpPr>
          <p:sp>
            <p:nvSpPr>
              <p:cNvPr id="80263" name="Rectangle 205"/>
              <p:cNvSpPr>
                <a:spLocks noChangeArrowheads="1"/>
              </p:cNvSpPr>
              <p:nvPr/>
            </p:nvSpPr>
            <p:spPr bwMode="auto">
              <a:xfrm>
                <a:off x="2674" y="138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h</a:t>
                </a:r>
              </a:p>
            </p:txBody>
          </p:sp>
          <p:sp>
            <p:nvSpPr>
              <p:cNvPr id="80264" name="Rectangle 206"/>
              <p:cNvSpPr>
                <a:spLocks noChangeArrowheads="1"/>
              </p:cNvSpPr>
              <p:nvPr/>
            </p:nvSpPr>
            <p:spPr bwMode="auto">
              <a:xfrm>
                <a:off x="2520" y="1309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265" name="Rectangle 207"/>
              <p:cNvSpPr>
                <a:spLocks noChangeArrowheads="1"/>
              </p:cNvSpPr>
              <p:nvPr/>
            </p:nvSpPr>
            <p:spPr bwMode="auto">
              <a:xfrm>
                <a:off x="2563" y="130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80266" name="Rectangle 208"/>
              <p:cNvSpPr>
                <a:spLocks noChangeArrowheads="1"/>
              </p:cNvSpPr>
              <p:nvPr/>
            </p:nvSpPr>
            <p:spPr bwMode="auto">
              <a:xfrm>
                <a:off x="2594" y="130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g</a:t>
                </a:r>
              </a:p>
            </p:txBody>
          </p:sp>
          <p:sp>
            <p:nvSpPr>
              <p:cNvPr id="80267" name="Rectangle 209"/>
              <p:cNvSpPr>
                <a:spLocks noChangeArrowheads="1"/>
              </p:cNvSpPr>
              <p:nvPr/>
            </p:nvSpPr>
            <p:spPr bwMode="auto">
              <a:xfrm>
                <a:off x="2626" y="1309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80268" name="Rectangle 210"/>
              <p:cNvSpPr>
                <a:spLocks noChangeArrowheads="1"/>
              </p:cNvSpPr>
              <p:nvPr/>
            </p:nvSpPr>
            <p:spPr bwMode="auto">
              <a:xfrm>
                <a:off x="2670" y="1309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80269" name="Rectangle 211"/>
              <p:cNvSpPr>
                <a:spLocks noChangeArrowheads="1"/>
              </p:cNvSpPr>
              <p:nvPr/>
            </p:nvSpPr>
            <p:spPr bwMode="auto">
              <a:xfrm>
                <a:off x="2698" y="1309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270" name="Rectangle 212"/>
              <p:cNvSpPr>
                <a:spLocks noChangeArrowheads="1"/>
              </p:cNvSpPr>
              <p:nvPr/>
            </p:nvSpPr>
            <p:spPr bwMode="auto">
              <a:xfrm>
                <a:off x="2519" y="1825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80271" name="Rectangle 213"/>
              <p:cNvSpPr>
                <a:spLocks noChangeArrowheads="1"/>
              </p:cNvSpPr>
              <p:nvPr/>
            </p:nvSpPr>
            <p:spPr bwMode="auto">
              <a:xfrm>
                <a:off x="2561" y="182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80272" name="Rectangle 214"/>
              <p:cNvSpPr>
                <a:spLocks noChangeArrowheads="1"/>
              </p:cNvSpPr>
              <p:nvPr/>
            </p:nvSpPr>
            <p:spPr bwMode="auto">
              <a:xfrm>
                <a:off x="2591" y="1825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80273" name="Rectangle 215"/>
              <p:cNvSpPr>
                <a:spLocks noChangeArrowheads="1"/>
              </p:cNvSpPr>
              <p:nvPr/>
            </p:nvSpPr>
            <p:spPr bwMode="auto">
              <a:xfrm>
                <a:off x="2633" y="1825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80274" name="Rectangle 216"/>
              <p:cNvSpPr>
                <a:spLocks noChangeArrowheads="1"/>
              </p:cNvSpPr>
              <p:nvPr/>
            </p:nvSpPr>
            <p:spPr bwMode="auto">
              <a:xfrm>
                <a:off x="2674" y="1825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275" name="Rectangle 217"/>
              <p:cNvSpPr>
                <a:spLocks noChangeArrowheads="1"/>
              </p:cNvSpPr>
              <p:nvPr/>
            </p:nvSpPr>
            <p:spPr bwMode="auto">
              <a:xfrm>
                <a:off x="2693" y="1825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EB75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EB7500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80276" name="Rectangle 218"/>
              <p:cNvSpPr>
                <a:spLocks noChangeArrowheads="1"/>
              </p:cNvSpPr>
              <p:nvPr/>
            </p:nvSpPr>
            <p:spPr bwMode="auto">
              <a:xfrm>
                <a:off x="1661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80277" name="Rectangle 219"/>
              <p:cNvSpPr>
                <a:spLocks noChangeArrowheads="1"/>
              </p:cNvSpPr>
              <p:nvPr/>
            </p:nvSpPr>
            <p:spPr bwMode="auto">
              <a:xfrm>
                <a:off x="1677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80278" name="Rectangle 220"/>
              <p:cNvSpPr>
                <a:spLocks noChangeArrowheads="1"/>
              </p:cNvSpPr>
              <p:nvPr/>
            </p:nvSpPr>
            <p:spPr bwMode="auto">
              <a:xfrm>
                <a:off x="1710" y="1565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80279" name="Rectangle 221"/>
              <p:cNvSpPr>
                <a:spLocks noChangeArrowheads="1"/>
              </p:cNvSpPr>
              <p:nvPr/>
            </p:nvSpPr>
            <p:spPr bwMode="auto">
              <a:xfrm>
                <a:off x="1739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280" name="Rectangle 222"/>
              <p:cNvSpPr>
                <a:spLocks noChangeArrowheads="1"/>
              </p:cNvSpPr>
              <p:nvPr/>
            </p:nvSpPr>
            <p:spPr bwMode="auto">
              <a:xfrm>
                <a:off x="1755" y="1565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281" name="Rectangle 223"/>
              <p:cNvSpPr>
                <a:spLocks noChangeArrowheads="1"/>
              </p:cNvSpPr>
              <p:nvPr/>
            </p:nvSpPr>
            <p:spPr bwMode="auto">
              <a:xfrm>
                <a:off x="1774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80282" name="Rectangle 224"/>
              <p:cNvSpPr>
                <a:spLocks noChangeArrowheads="1"/>
              </p:cNvSpPr>
              <p:nvPr/>
            </p:nvSpPr>
            <p:spPr bwMode="auto">
              <a:xfrm>
                <a:off x="1808" y="1565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80283" name="Rectangle 225"/>
              <p:cNvSpPr>
                <a:spLocks noChangeArrowheads="1"/>
              </p:cNvSpPr>
              <p:nvPr/>
            </p:nvSpPr>
            <p:spPr bwMode="auto">
              <a:xfrm>
                <a:off x="1836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284" name="Rectangle 226"/>
              <p:cNvSpPr>
                <a:spLocks noChangeArrowheads="1"/>
              </p:cNvSpPr>
              <p:nvPr/>
            </p:nvSpPr>
            <p:spPr bwMode="auto">
              <a:xfrm>
                <a:off x="1852" y="1565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80285" name="Rectangle 227"/>
              <p:cNvSpPr>
                <a:spLocks noChangeArrowheads="1"/>
              </p:cNvSpPr>
              <p:nvPr/>
            </p:nvSpPr>
            <p:spPr bwMode="auto">
              <a:xfrm>
                <a:off x="1867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80286" name="Rectangle 228"/>
              <p:cNvSpPr>
                <a:spLocks noChangeArrowheads="1"/>
              </p:cNvSpPr>
              <p:nvPr/>
            </p:nvSpPr>
            <p:spPr bwMode="auto">
              <a:xfrm>
                <a:off x="1898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80287" name="Rectangle 229"/>
              <p:cNvSpPr>
                <a:spLocks noChangeArrowheads="1"/>
              </p:cNvSpPr>
              <p:nvPr/>
            </p:nvSpPr>
            <p:spPr bwMode="auto">
              <a:xfrm>
                <a:off x="1931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80288" name="Rectangle 230"/>
              <p:cNvSpPr>
                <a:spLocks noChangeArrowheads="1"/>
              </p:cNvSpPr>
              <p:nvPr/>
            </p:nvSpPr>
            <p:spPr bwMode="auto">
              <a:xfrm>
                <a:off x="1947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[</a:t>
                </a:r>
              </a:p>
            </p:txBody>
          </p:sp>
          <p:sp>
            <p:nvSpPr>
              <p:cNvPr id="80289" name="Rectangle 231"/>
              <p:cNvSpPr>
                <a:spLocks noChangeArrowheads="1"/>
              </p:cNvSpPr>
              <p:nvPr/>
            </p:nvSpPr>
            <p:spPr bwMode="auto">
              <a:xfrm>
                <a:off x="1964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3</a:t>
                </a:r>
              </a:p>
            </p:txBody>
          </p:sp>
          <p:sp>
            <p:nvSpPr>
              <p:cNvPr id="80290" name="Rectangle 232"/>
              <p:cNvSpPr>
                <a:spLocks noChangeArrowheads="1"/>
              </p:cNvSpPr>
              <p:nvPr/>
            </p:nvSpPr>
            <p:spPr bwMode="auto">
              <a:xfrm>
                <a:off x="1995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80291" name="Rectangle 233"/>
              <p:cNvSpPr>
                <a:spLocks noChangeArrowheads="1"/>
              </p:cNvSpPr>
              <p:nvPr/>
            </p:nvSpPr>
            <p:spPr bwMode="auto">
              <a:xfrm>
                <a:off x="2028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80292" name="Rectangle 234"/>
              <p:cNvSpPr>
                <a:spLocks noChangeArrowheads="1"/>
              </p:cNvSpPr>
              <p:nvPr/>
            </p:nvSpPr>
            <p:spPr bwMode="auto">
              <a:xfrm>
                <a:off x="2044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80293" name="Rectangle 235"/>
              <p:cNvSpPr>
                <a:spLocks noChangeArrowheads="1"/>
              </p:cNvSpPr>
              <p:nvPr/>
            </p:nvSpPr>
            <p:spPr bwMode="auto">
              <a:xfrm>
                <a:off x="2061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2</a:t>
                </a:r>
              </a:p>
            </p:txBody>
          </p:sp>
          <p:sp>
            <p:nvSpPr>
              <p:cNvPr id="80294" name="Rectangle 236"/>
              <p:cNvSpPr>
                <a:spLocks noChangeArrowheads="1"/>
              </p:cNvSpPr>
              <p:nvPr/>
            </p:nvSpPr>
            <p:spPr bwMode="auto">
              <a:xfrm>
                <a:off x="2094" y="15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6</a:t>
                </a:r>
              </a:p>
            </p:txBody>
          </p:sp>
          <p:sp>
            <p:nvSpPr>
              <p:cNvPr id="80295" name="Rectangle 237"/>
              <p:cNvSpPr>
                <a:spLocks noChangeArrowheads="1"/>
              </p:cNvSpPr>
              <p:nvPr/>
            </p:nvSpPr>
            <p:spPr bwMode="auto">
              <a:xfrm>
                <a:off x="2125" y="15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]</a:t>
                </a:r>
              </a:p>
            </p:txBody>
          </p:sp>
          <p:sp>
            <p:nvSpPr>
              <p:cNvPr id="80296" name="Freeform 238"/>
              <p:cNvSpPr>
                <a:spLocks noChangeArrowheads="1"/>
              </p:cNvSpPr>
              <p:nvPr/>
            </p:nvSpPr>
            <p:spPr bwMode="auto">
              <a:xfrm>
                <a:off x="633" y="2166"/>
                <a:ext cx="28" cy="28"/>
              </a:xfrm>
              <a:custGeom>
                <a:avLst/>
                <a:gdLst>
                  <a:gd name="T0" fmla="*/ 14 w 28"/>
                  <a:gd name="T1" fmla="*/ 28 h 28"/>
                  <a:gd name="T2" fmla="*/ 17 w 28"/>
                  <a:gd name="T3" fmla="*/ 28 h 28"/>
                  <a:gd name="T4" fmla="*/ 19 w 28"/>
                  <a:gd name="T5" fmla="*/ 28 h 28"/>
                  <a:gd name="T6" fmla="*/ 21 w 28"/>
                  <a:gd name="T7" fmla="*/ 28 h 28"/>
                  <a:gd name="T8" fmla="*/ 24 w 28"/>
                  <a:gd name="T9" fmla="*/ 26 h 28"/>
                  <a:gd name="T10" fmla="*/ 26 w 28"/>
                  <a:gd name="T11" fmla="*/ 26 h 28"/>
                  <a:gd name="T12" fmla="*/ 26 w 28"/>
                  <a:gd name="T13" fmla="*/ 24 h 28"/>
                  <a:gd name="T14" fmla="*/ 28 w 28"/>
                  <a:gd name="T15" fmla="*/ 21 h 28"/>
                  <a:gd name="T16" fmla="*/ 28 w 28"/>
                  <a:gd name="T17" fmla="*/ 19 h 28"/>
                  <a:gd name="T18" fmla="*/ 28 w 28"/>
                  <a:gd name="T19" fmla="*/ 16 h 28"/>
                  <a:gd name="T20" fmla="*/ 28 w 28"/>
                  <a:gd name="T21" fmla="*/ 14 h 28"/>
                  <a:gd name="T22" fmla="*/ 28 w 28"/>
                  <a:gd name="T23" fmla="*/ 12 h 28"/>
                  <a:gd name="T24" fmla="*/ 28 w 28"/>
                  <a:gd name="T25" fmla="*/ 9 h 28"/>
                  <a:gd name="T26" fmla="*/ 28 w 28"/>
                  <a:gd name="T27" fmla="*/ 7 h 28"/>
                  <a:gd name="T28" fmla="*/ 26 w 28"/>
                  <a:gd name="T29" fmla="*/ 7 h 28"/>
                  <a:gd name="T30" fmla="*/ 26 w 28"/>
                  <a:gd name="T31" fmla="*/ 5 h 28"/>
                  <a:gd name="T32" fmla="*/ 24 w 28"/>
                  <a:gd name="T33" fmla="*/ 2 h 28"/>
                  <a:gd name="T34" fmla="*/ 21 w 28"/>
                  <a:gd name="T35" fmla="*/ 2 h 28"/>
                  <a:gd name="T36" fmla="*/ 19 w 28"/>
                  <a:gd name="T37" fmla="*/ 0 h 28"/>
                  <a:gd name="T38" fmla="*/ 17 w 28"/>
                  <a:gd name="T39" fmla="*/ 0 h 28"/>
                  <a:gd name="T40" fmla="*/ 14 w 28"/>
                  <a:gd name="T41" fmla="*/ 0 h 28"/>
                  <a:gd name="T42" fmla="*/ 12 w 28"/>
                  <a:gd name="T43" fmla="*/ 0 h 28"/>
                  <a:gd name="T44" fmla="*/ 9 w 28"/>
                  <a:gd name="T45" fmla="*/ 0 h 28"/>
                  <a:gd name="T46" fmla="*/ 7 w 28"/>
                  <a:gd name="T47" fmla="*/ 2 h 28"/>
                  <a:gd name="T48" fmla="*/ 7 w 28"/>
                  <a:gd name="T49" fmla="*/ 2 h 28"/>
                  <a:gd name="T50" fmla="*/ 5 w 28"/>
                  <a:gd name="T51" fmla="*/ 5 h 28"/>
                  <a:gd name="T52" fmla="*/ 2 w 28"/>
                  <a:gd name="T53" fmla="*/ 7 h 28"/>
                  <a:gd name="T54" fmla="*/ 2 w 28"/>
                  <a:gd name="T55" fmla="*/ 7 h 28"/>
                  <a:gd name="T56" fmla="*/ 0 w 28"/>
                  <a:gd name="T57" fmla="*/ 9 h 28"/>
                  <a:gd name="T58" fmla="*/ 0 w 28"/>
                  <a:gd name="T59" fmla="*/ 12 h 28"/>
                  <a:gd name="T60" fmla="*/ 0 w 28"/>
                  <a:gd name="T61" fmla="*/ 14 h 28"/>
                  <a:gd name="T62" fmla="*/ 0 w 28"/>
                  <a:gd name="T63" fmla="*/ 16 h 28"/>
                  <a:gd name="T64" fmla="*/ 0 w 28"/>
                  <a:gd name="T65" fmla="*/ 19 h 28"/>
                  <a:gd name="T66" fmla="*/ 2 w 28"/>
                  <a:gd name="T67" fmla="*/ 21 h 28"/>
                  <a:gd name="T68" fmla="*/ 2 w 28"/>
                  <a:gd name="T69" fmla="*/ 24 h 28"/>
                  <a:gd name="T70" fmla="*/ 5 w 28"/>
                  <a:gd name="T71" fmla="*/ 26 h 28"/>
                  <a:gd name="T72" fmla="*/ 7 w 28"/>
                  <a:gd name="T73" fmla="*/ 26 h 28"/>
                  <a:gd name="T74" fmla="*/ 7 w 28"/>
                  <a:gd name="T75" fmla="*/ 28 h 28"/>
                  <a:gd name="T76" fmla="*/ 9 w 28"/>
                  <a:gd name="T77" fmla="*/ 28 h 28"/>
                  <a:gd name="T78" fmla="*/ 12 w 28"/>
                  <a:gd name="T79" fmla="*/ 28 h 28"/>
                  <a:gd name="T80" fmla="*/ 14 w 28"/>
                  <a:gd name="T81" fmla="*/ 28 h 28"/>
                  <a:gd name="T82" fmla="*/ 14 w 28"/>
                  <a:gd name="T83" fmla="*/ 28 h 2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8"/>
                  <a:gd name="T127" fmla="*/ 0 h 28"/>
                  <a:gd name="T128" fmla="*/ 28 w 28"/>
                  <a:gd name="T129" fmla="*/ 28 h 28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8" h="28">
                    <a:moveTo>
                      <a:pt x="14" y="28"/>
                    </a:moveTo>
                    <a:lnTo>
                      <a:pt x="17" y="28"/>
                    </a:lnTo>
                    <a:lnTo>
                      <a:pt x="19" y="28"/>
                    </a:lnTo>
                    <a:lnTo>
                      <a:pt x="21" y="28"/>
                    </a:lnTo>
                    <a:lnTo>
                      <a:pt x="24" y="26"/>
                    </a:lnTo>
                    <a:lnTo>
                      <a:pt x="26" y="26"/>
                    </a:lnTo>
                    <a:lnTo>
                      <a:pt x="26" y="24"/>
                    </a:lnTo>
                    <a:lnTo>
                      <a:pt x="28" y="21"/>
                    </a:lnTo>
                    <a:lnTo>
                      <a:pt x="28" y="19"/>
                    </a:lnTo>
                    <a:lnTo>
                      <a:pt x="28" y="16"/>
                    </a:lnTo>
                    <a:lnTo>
                      <a:pt x="28" y="14"/>
                    </a:lnTo>
                    <a:lnTo>
                      <a:pt x="28" y="12"/>
                    </a:lnTo>
                    <a:lnTo>
                      <a:pt x="28" y="9"/>
                    </a:lnTo>
                    <a:lnTo>
                      <a:pt x="28" y="7"/>
                    </a:lnTo>
                    <a:lnTo>
                      <a:pt x="26" y="7"/>
                    </a:lnTo>
                    <a:lnTo>
                      <a:pt x="26" y="5"/>
                    </a:lnTo>
                    <a:lnTo>
                      <a:pt x="24" y="2"/>
                    </a:lnTo>
                    <a:lnTo>
                      <a:pt x="21" y="2"/>
                    </a:lnTo>
                    <a:lnTo>
                      <a:pt x="19" y="0"/>
                    </a:lnTo>
                    <a:lnTo>
                      <a:pt x="17" y="0"/>
                    </a:lnTo>
                    <a:lnTo>
                      <a:pt x="14" y="0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7" y="2"/>
                    </a:lnTo>
                    <a:lnTo>
                      <a:pt x="5" y="5"/>
                    </a:lnTo>
                    <a:lnTo>
                      <a:pt x="2" y="7"/>
                    </a:lnTo>
                    <a:lnTo>
                      <a:pt x="0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2" y="21"/>
                    </a:lnTo>
                    <a:lnTo>
                      <a:pt x="2" y="24"/>
                    </a:lnTo>
                    <a:lnTo>
                      <a:pt x="5" y="26"/>
                    </a:lnTo>
                    <a:lnTo>
                      <a:pt x="7" y="26"/>
                    </a:lnTo>
                    <a:lnTo>
                      <a:pt x="7" y="28"/>
                    </a:lnTo>
                    <a:lnTo>
                      <a:pt x="9" y="28"/>
                    </a:lnTo>
                    <a:lnTo>
                      <a:pt x="12" y="28"/>
                    </a:lnTo>
                    <a:lnTo>
                      <a:pt x="14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297" name="Freeform 239"/>
              <p:cNvSpPr>
                <a:spLocks noChangeArrowheads="1"/>
              </p:cNvSpPr>
              <p:nvPr/>
            </p:nvSpPr>
            <p:spPr bwMode="auto">
              <a:xfrm>
                <a:off x="979" y="1043"/>
                <a:ext cx="28" cy="31"/>
              </a:xfrm>
              <a:custGeom>
                <a:avLst/>
                <a:gdLst>
                  <a:gd name="T0" fmla="*/ 0 w 28"/>
                  <a:gd name="T1" fmla="*/ 0 h 31"/>
                  <a:gd name="T2" fmla="*/ 0 w 28"/>
                  <a:gd name="T3" fmla="*/ 31 h 31"/>
                  <a:gd name="T4" fmla="*/ 28 w 28"/>
                  <a:gd name="T5" fmla="*/ 17 h 31"/>
                  <a:gd name="T6" fmla="*/ 0 w 28"/>
                  <a:gd name="T7" fmla="*/ 0 h 31"/>
                  <a:gd name="T8" fmla="*/ 0 w 28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31"/>
                  <a:gd name="T17" fmla="*/ 28 w 28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31">
                    <a:moveTo>
                      <a:pt x="0" y="0"/>
                    </a:moveTo>
                    <a:lnTo>
                      <a:pt x="0" y="31"/>
                    </a:lnTo>
                    <a:lnTo>
                      <a:pt x="28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298" name="Freeform 240"/>
              <p:cNvSpPr>
                <a:spLocks noChangeArrowheads="1"/>
              </p:cNvSpPr>
              <p:nvPr/>
            </p:nvSpPr>
            <p:spPr bwMode="auto">
              <a:xfrm>
                <a:off x="979" y="1394"/>
                <a:ext cx="28" cy="31"/>
              </a:xfrm>
              <a:custGeom>
                <a:avLst/>
                <a:gdLst>
                  <a:gd name="T0" fmla="*/ 0 w 28"/>
                  <a:gd name="T1" fmla="*/ 0 h 31"/>
                  <a:gd name="T2" fmla="*/ 0 w 28"/>
                  <a:gd name="T3" fmla="*/ 31 h 31"/>
                  <a:gd name="T4" fmla="*/ 28 w 28"/>
                  <a:gd name="T5" fmla="*/ 17 h 31"/>
                  <a:gd name="T6" fmla="*/ 0 w 28"/>
                  <a:gd name="T7" fmla="*/ 0 h 31"/>
                  <a:gd name="T8" fmla="*/ 0 w 28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31"/>
                  <a:gd name="T17" fmla="*/ 28 w 28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31">
                    <a:moveTo>
                      <a:pt x="0" y="0"/>
                    </a:moveTo>
                    <a:lnTo>
                      <a:pt x="0" y="31"/>
                    </a:lnTo>
                    <a:lnTo>
                      <a:pt x="28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299" name="Rectangle 241"/>
              <p:cNvSpPr>
                <a:spLocks noChangeArrowheads="1"/>
              </p:cNvSpPr>
              <p:nvPr/>
            </p:nvSpPr>
            <p:spPr bwMode="auto">
              <a:xfrm>
                <a:off x="822" y="137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4</a:t>
                </a:r>
              </a:p>
            </p:txBody>
          </p:sp>
          <p:sp>
            <p:nvSpPr>
              <p:cNvPr id="80300" name="Line 242"/>
              <p:cNvSpPr>
                <a:spLocks noChangeShapeType="1"/>
              </p:cNvSpPr>
              <p:nvPr/>
            </p:nvSpPr>
            <p:spPr bwMode="auto">
              <a:xfrm flipH="1">
                <a:off x="3336" y="944"/>
                <a:ext cx="412" cy="2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01" name="Freeform 243"/>
              <p:cNvSpPr>
                <a:spLocks noChangeArrowheads="1"/>
              </p:cNvSpPr>
              <p:nvPr/>
            </p:nvSpPr>
            <p:spPr bwMode="auto">
              <a:xfrm>
                <a:off x="3775" y="826"/>
                <a:ext cx="365" cy="589"/>
              </a:xfrm>
              <a:custGeom>
                <a:avLst/>
                <a:gdLst>
                  <a:gd name="T0" fmla="*/ 0 w 365"/>
                  <a:gd name="T1" fmla="*/ 0 h 589"/>
                  <a:gd name="T2" fmla="*/ 0 w 365"/>
                  <a:gd name="T3" fmla="*/ 239 h 589"/>
                  <a:gd name="T4" fmla="*/ 62 w 365"/>
                  <a:gd name="T5" fmla="*/ 296 h 589"/>
                  <a:gd name="T6" fmla="*/ 0 w 365"/>
                  <a:gd name="T7" fmla="*/ 352 h 589"/>
                  <a:gd name="T8" fmla="*/ 0 w 365"/>
                  <a:gd name="T9" fmla="*/ 589 h 589"/>
                  <a:gd name="T10" fmla="*/ 365 w 365"/>
                  <a:gd name="T11" fmla="*/ 409 h 589"/>
                  <a:gd name="T12" fmla="*/ 365 w 365"/>
                  <a:gd name="T13" fmla="*/ 180 h 589"/>
                  <a:gd name="T14" fmla="*/ 0 w 365"/>
                  <a:gd name="T15" fmla="*/ 2 h 589"/>
                  <a:gd name="T16" fmla="*/ 0 w 365"/>
                  <a:gd name="T17" fmla="*/ 2 h 589"/>
                  <a:gd name="T18" fmla="*/ 0 w 365"/>
                  <a:gd name="T19" fmla="*/ 0 h 58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365"/>
                  <a:gd name="T31" fmla="*/ 0 h 589"/>
                  <a:gd name="T32" fmla="*/ 365 w 365"/>
                  <a:gd name="T33" fmla="*/ 589 h 589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365" h="589">
                    <a:moveTo>
                      <a:pt x="0" y="0"/>
                    </a:moveTo>
                    <a:lnTo>
                      <a:pt x="0" y="239"/>
                    </a:lnTo>
                    <a:lnTo>
                      <a:pt x="62" y="296"/>
                    </a:lnTo>
                    <a:lnTo>
                      <a:pt x="0" y="352"/>
                    </a:lnTo>
                    <a:lnTo>
                      <a:pt x="0" y="589"/>
                    </a:lnTo>
                    <a:lnTo>
                      <a:pt x="365" y="409"/>
                    </a:lnTo>
                    <a:lnTo>
                      <a:pt x="365" y="180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02" name="Freeform 244"/>
              <p:cNvSpPr>
                <a:spLocks noChangeArrowheads="1"/>
              </p:cNvSpPr>
              <p:nvPr/>
            </p:nvSpPr>
            <p:spPr bwMode="auto">
              <a:xfrm>
                <a:off x="3775" y="826"/>
                <a:ext cx="365" cy="589"/>
              </a:xfrm>
              <a:custGeom>
                <a:avLst/>
                <a:gdLst>
                  <a:gd name="T0" fmla="*/ 0 w 365"/>
                  <a:gd name="T1" fmla="*/ 0 h 589"/>
                  <a:gd name="T2" fmla="*/ 0 w 365"/>
                  <a:gd name="T3" fmla="*/ 239 h 589"/>
                  <a:gd name="T4" fmla="*/ 62 w 365"/>
                  <a:gd name="T5" fmla="*/ 296 h 589"/>
                  <a:gd name="T6" fmla="*/ 0 w 365"/>
                  <a:gd name="T7" fmla="*/ 352 h 589"/>
                  <a:gd name="T8" fmla="*/ 0 w 365"/>
                  <a:gd name="T9" fmla="*/ 589 h 589"/>
                  <a:gd name="T10" fmla="*/ 365 w 365"/>
                  <a:gd name="T11" fmla="*/ 409 h 589"/>
                  <a:gd name="T12" fmla="*/ 365 w 365"/>
                  <a:gd name="T13" fmla="*/ 180 h 589"/>
                  <a:gd name="T14" fmla="*/ 0 w 365"/>
                  <a:gd name="T15" fmla="*/ 2 h 589"/>
                  <a:gd name="T16" fmla="*/ 0 w 365"/>
                  <a:gd name="T17" fmla="*/ 2 h 58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65"/>
                  <a:gd name="T28" fmla="*/ 0 h 589"/>
                  <a:gd name="T29" fmla="*/ 365 w 365"/>
                  <a:gd name="T30" fmla="*/ 589 h 589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65" h="589">
                    <a:moveTo>
                      <a:pt x="0" y="0"/>
                    </a:moveTo>
                    <a:lnTo>
                      <a:pt x="0" y="239"/>
                    </a:lnTo>
                    <a:lnTo>
                      <a:pt x="62" y="296"/>
                    </a:lnTo>
                    <a:lnTo>
                      <a:pt x="0" y="352"/>
                    </a:lnTo>
                    <a:lnTo>
                      <a:pt x="0" y="589"/>
                    </a:lnTo>
                    <a:lnTo>
                      <a:pt x="365" y="409"/>
                    </a:lnTo>
                    <a:lnTo>
                      <a:pt x="365" y="180"/>
                    </a:lnTo>
                    <a:lnTo>
                      <a:pt x="0" y="2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03" name="Line 245"/>
              <p:cNvSpPr>
                <a:spLocks noChangeShapeType="1"/>
              </p:cNvSpPr>
              <p:nvPr/>
            </p:nvSpPr>
            <p:spPr bwMode="auto">
              <a:xfrm flipH="1">
                <a:off x="4139" y="1119"/>
                <a:ext cx="419" cy="3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04" name="Freeform 246"/>
              <p:cNvSpPr>
                <a:spLocks noChangeArrowheads="1"/>
              </p:cNvSpPr>
              <p:nvPr/>
            </p:nvSpPr>
            <p:spPr bwMode="auto">
              <a:xfrm>
                <a:off x="4543" y="776"/>
                <a:ext cx="30" cy="31"/>
              </a:xfrm>
              <a:custGeom>
                <a:avLst/>
                <a:gdLst>
                  <a:gd name="T0" fmla="*/ 0 w 30"/>
                  <a:gd name="T1" fmla="*/ 0 h 31"/>
                  <a:gd name="T2" fmla="*/ 0 w 30"/>
                  <a:gd name="T3" fmla="*/ 31 h 31"/>
                  <a:gd name="T4" fmla="*/ 30 w 30"/>
                  <a:gd name="T5" fmla="*/ 16 h 31"/>
                  <a:gd name="T6" fmla="*/ 0 w 30"/>
                  <a:gd name="T7" fmla="*/ 2 h 31"/>
                  <a:gd name="T8" fmla="*/ 0 w 30"/>
                  <a:gd name="T9" fmla="*/ 2 h 31"/>
                  <a:gd name="T10" fmla="*/ 0 w 30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0"/>
                  <a:gd name="T19" fmla="*/ 0 h 31"/>
                  <a:gd name="T20" fmla="*/ 30 w 30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0" h="31">
                    <a:moveTo>
                      <a:pt x="0" y="0"/>
                    </a:moveTo>
                    <a:lnTo>
                      <a:pt x="0" y="31"/>
                    </a:lnTo>
                    <a:lnTo>
                      <a:pt x="30" y="16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05" name="Freeform 247"/>
              <p:cNvSpPr>
                <a:spLocks noChangeArrowheads="1"/>
              </p:cNvSpPr>
              <p:nvPr/>
            </p:nvSpPr>
            <p:spPr bwMode="auto">
              <a:xfrm>
                <a:off x="4543" y="1105"/>
                <a:ext cx="30" cy="31"/>
              </a:xfrm>
              <a:custGeom>
                <a:avLst/>
                <a:gdLst>
                  <a:gd name="T0" fmla="*/ 0 w 30"/>
                  <a:gd name="T1" fmla="*/ 0 h 31"/>
                  <a:gd name="T2" fmla="*/ 0 w 30"/>
                  <a:gd name="T3" fmla="*/ 31 h 31"/>
                  <a:gd name="T4" fmla="*/ 30 w 30"/>
                  <a:gd name="T5" fmla="*/ 17 h 31"/>
                  <a:gd name="T6" fmla="*/ 0 w 30"/>
                  <a:gd name="T7" fmla="*/ 0 h 31"/>
                  <a:gd name="T8" fmla="*/ 0 w 30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"/>
                  <a:gd name="T16" fmla="*/ 0 h 31"/>
                  <a:gd name="T17" fmla="*/ 30 w 30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" h="31">
                    <a:moveTo>
                      <a:pt x="0" y="0"/>
                    </a:moveTo>
                    <a:lnTo>
                      <a:pt x="0" y="31"/>
                    </a:lnTo>
                    <a:lnTo>
                      <a:pt x="30" y="1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06" name="Freeform 248"/>
              <p:cNvSpPr>
                <a:spLocks noChangeArrowheads="1"/>
              </p:cNvSpPr>
              <p:nvPr/>
            </p:nvSpPr>
            <p:spPr bwMode="auto">
              <a:xfrm>
                <a:off x="4576" y="738"/>
                <a:ext cx="111" cy="438"/>
              </a:xfrm>
              <a:custGeom>
                <a:avLst/>
                <a:gdLst>
                  <a:gd name="T0" fmla="*/ 0 w 111"/>
                  <a:gd name="T1" fmla="*/ 54 h 438"/>
                  <a:gd name="T2" fmla="*/ 2 w 111"/>
                  <a:gd name="T3" fmla="*/ 45 h 438"/>
                  <a:gd name="T4" fmla="*/ 5 w 111"/>
                  <a:gd name="T5" fmla="*/ 38 h 438"/>
                  <a:gd name="T6" fmla="*/ 7 w 111"/>
                  <a:gd name="T7" fmla="*/ 28 h 438"/>
                  <a:gd name="T8" fmla="*/ 12 w 111"/>
                  <a:gd name="T9" fmla="*/ 21 h 438"/>
                  <a:gd name="T10" fmla="*/ 16 w 111"/>
                  <a:gd name="T11" fmla="*/ 17 h 438"/>
                  <a:gd name="T12" fmla="*/ 24 w 111"/>
                  <a:gd name="T13" fmla="*/ 10 h 438"/>
                  <a:gd name="T14" fmla="*/ 31 w 111"/>
                  <a:gd name="T15" fmla="*/ 7 h 438"/>
                  <a:gd name="T16" fmla="*/ 38 w 111"/>
                  <a:gd name="T17" fmla="*/ 2 h 438"/>
                  <a:gd name="T18" fmla="*/ 47 w 111"/>
                  <a:gd name="T19" fmla="*/ 0 h 438"/>
                  <a:gd name="T20" fmla="*/ 57 w 111"/>
                  <a:gd name="T21" fmla="*/ 0 h 438"/>
                  <a:gd name="T22" fmla="*/ 64 w 111"/>
                  <a:gd name="T23" fmla="*/ 0 h 438"/>
                  <a:gd name="T24" fmla="*/ 73 w 111"/>
                  <a:gd name="T25" fmla="*/ 2 h 438"/>
                  <a:gd name="T26" fmla="*/ 80 w 111"/>
                  <a:gd name="T27" fmla="*/ 7 h 438"/>
                  <a:gd name="T28" fmla="*/ 87 w 111"/>
                  <a:gd name="T29" fmla="*/ 10 h 438"/>
                  <a:gd name="T30" fmla="*/ 95 w 111"/>
                  <a:gd name="T31" fmla="*/ 17 h 438"/>
                  <a:gd name="T32" fmla="*/ 99 w 111"/>
                  <a:gd name="T33" fmla="*/ 21 h 438"/>
                  <a:gd name="T34" fmla="*/ 104 w 111"/>
                  <a:gd name="T35" fmla="*/ 28 h 438"/>
                  <a:gd name="T36" fmla="*/ 106 w 111"/>
                  <a:gd name="T37" fmla="*/ 38 h 438"/>
                  <a:gd name="T38" fmla="*/ 109 w 111"/>
                  <a:gd name="T39" fmla="*/ 45 h 438"/>
                  <a:gd name="T40" fmla="*/ 111 w 111"/>
                  <a:gd name="T41" fmla="*/ 54 h 438"/>
                  <a:gd name="T42" fmla="*/ 111 w 111"/>
                  <a:gd name="T43" fmla="*/ 384 h 438"/>
                  <a:gd name="T44" fmla="*/ 109 w 111"/>
                  <a:gd name="T45" fmla="*/ 391 h 438"/>
                  <a:gd name="T46" fmla="*/ 106 w 111"/>
                  <a:gd name="T47" fmla="*/ 400 h 438"/>
                  <a:gd name="T48" fmla="*/ 104 w 111"/>
                  <a:gd name="T49" fmla="*/ 407 h 438"/>
                  <a:gd name="T50" fmla="*/ 99 w 111"/>
                  <a:gd name="T51" fmla="*/ 414 h 438"/>
                  <a:gd name="T52" fmla="*/ 95 w 111"/>
                  <a:gd name="T53" fmla="*/ 422 h 438"/>
                  <a:gd name="T54" fmla="*/ 87 w 111"/>
                  <a:gd name="T55" fmla="*/ 426 h 438"/>
                  <a:gd name="T56" fmla="*/ 80 w 111"/>
                  <a:gd name="T57" fmla="*/ 431 h 438"/>
                  <a:gd name="T58" fmla="*/ 73 w 111"/>
                  <a:gd name="T59" fmla="*/ 433 h 438"/>
                  <a:gd name="T60" fmla="*/ 64 w 111"/>
                  <a:gd name="T61" fmla="*/ 436 h 438"/>
                  <a:gd name="T62" fmla="*/ 57 w 111"/>
                  <a:gd name="T63" fmla="*/ 438 h 438"/>
                  <a:gd name="T64" fmla="*/ 47 w 111"/>
                  <a:gd name="T65" fmla="*/ 436 h 438"/>
                  <a:gd name="T66" fmla="*/ 38 w 111"/>
                  <a:gd name="T67" fmla="*/ 433 h 438"/>
                  <a:gd name="T68" fmla="*/ 31 w 111"/>
                  <a:gd name="T69" fmla="*/ 431 h 438"/>
                  <a:gd name="T70" fmla="*/ 24 w 111"/>
                  <a:gd name="T71" fmla="*/ 426 h 438"/>
                  <a:gd name="T72" fmla="*/ 16 w 111"/>
                  <a:gd name="T73" fmla="*/ 422 h 438"/>
                  <a:gd name="T74" fmla="*/ 12 w 111"/>
                  <a:gd name="T75" fmla="*/ 414 h 438"/>
                  <a:gd name="T76" fmla="*/ 7 w 111"/>
                  <a:gd name="T77" fmla="*/ 407 h 438"/>
                  <a:gd name="T78" fmla="*/ 5 w 111"/>
                  <a:gd name="T79" fmla="*/ 400 h 438"/>
                  <a:gd name="T80" fmla="*/ 2 w 111"/>
                  <a:gd name="T81" fmla="*/ 391 h 438"/>
                  <a:gd name="T82" fmla="*/ 2 w 111"/>
                  <a:gd name="T83" fmla="*/ 384 h 438"/>
                  <a:gd name="T84" fmla="*/ 2 w 111"/>
                  <a:gd name="T85" fmla="*/ 54 h 438"/>
                  <a:gd name="T86" fmla="*/ 2 w 111"/>
                  <a:gd name="T87" fmla="*/ 54 h 438"/>
                  <a:gd name="T88" fmla="*/ 0 w 111"/>
                  <a:gd name="T89" fmla="*/ 54 h 438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11"/>
                  <a:gd name="T136" fmla="*/ 0 h 438"/>
                  <a:gd name="T137" fmla="*/ 111 w 111"/>
                  <a:gd name="T138" fmla="*/ 438 h 438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11" h="438">
                    <a:moveTo>
                      <a:pt x="0" y="54"/>
                    </a:moveTo>
                    <a:lnTo>
                      <a:pt x="2" y="45"/>
                    </a:lnTo>
                    <a:lnTo>
                      <a:pt x="5" y="38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6" y="17"/>
                    </a:lnTo>
                    <a:lnTo>
                      <a:pt x="24" y="10"/>
                    </a:lnTo>
                    <a:lnTo>
                      <a:pt x="31" y="7"/>
                    </a:lnTo>
                    <a:lnTo>
                      <a:pt x="38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4" y="0"/>
                    </a:lnTo>
                    <a:lnTo>
                      <a:pt x="73" y="2"/>
                    </a:lnTo>
                    <a:lnTo>
                      <a:pt x="80" y="7"/>
                    </a:lnTo>
                    <a:lnTo>
                      <a:pt x="87" y="10"/>
                    </a:lnTo>
                    <a:lnTo>
                      <a:pt x="95" y="17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6" y="38"/>
                    </a:lnTo>
                    <a:lnTo>
                      <a:pt x="109" y="45"/>
                    </a:lnTo>
                    <a:lnTo>
                      <a:pt x="111" y="54"/>
                    </a:lnTo>
                    <a:lnTo>
                      <a:pt x="111" y="384"/>
                    </a:lnTo>
                    <a:lnTo>
                      <a:pt x="109" y="391"/>
                    </a:lnTo>
                    <a:lnTo>
                      <a:pt x="106" y="400"/>
                    </a:lnTo>
                    <a:lnTo>
                      <a:pt x="104" y="407"/>
                    </a:lnTo>
                    <a:lnTo>
                      <a:pt x="99" y="414"/>
                    </a:lnTo>
                    <a:lnTo>
                      <a:pt x="95" y="422"/>
                    </a:lnTo>
                    <a:lnTo>
                      <a:pt x="87" y="426"/>
                    </a:lnTo>
                    <a:lnTo>
                      <a:pt x="80" y="431"/>
                    </a:lnTo>
                    <a:lnTo>
                      <a:pt x="73" y="433"/>
                    </a:lnTo>
                    <a:lnTo>
                      <a:pt x="64" y="436"/>
                    </a:lnTo>
                    <a:lnTo>
                      <a:pt x="57" y="438"/>
                    </a:lnTo>
                    <a:lnTo>
                      <a:pt x="47" y="436"/>
                    </a:lnTo>
                    <a:lnTo>
                      <a:pt x="38" y="433"/>
                    </a:lnTo>
                    <a:lnTo>
                      <a:pt x="31" y="431"/>
                    </a:lnTo>
                    <a:lnTo>
                      <a:pt x="24" y="426"/>
                    </a:lnTo>
                    <a:lnTo>
                      <a:pt x="16" y="422"/>
                    </a:lnTo>
                    <a:lnTo>
                      <a:pt x="12" y="414"/>
                    </a:lnTo>
                    <a:lnTo>
                      <a:pt x="7" y="407"/>
                    </a:lnTo>
                    <a:lnTo>
                      <a:pt x="5" y="400"/>
                    </a:lnTo>
                    <a:lnTo>
                      <a:pt x="2" y="391"/>
                    </a:lnTo>
                    <a:lnTo>
                      <a:pt x="2" y="384"/>
                    </a:lnTo>
                    <a:lnTo>
                      <a:pt x="2" y="54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07" name="Freeform 249"/>
              <p:cNvSpPr>
                <a:spLocks noChangeArrowheads="1"/>
              </p:cNvSpPr>
              <p:nvPr/>
            </p:nvSpPr>
            <p:spPr bwMode="auto">
              <a:xfrm>
                <a:off x="4576" y="738"/>
                <a:ext cx="111" cy="438"/>
              </a:xfrm>
              <a:custGeom>
                <a:avLst/>
                <a:gdLst>
                  <a:gd name="T0" fmla="*/ 0 w 111"/>
                  <a:gd name="T1" fmla="*/ 54 h 438"/>
                  <a:gd name="T2" fmla="*/ 2 w 111"/>
                  <a:gd name="T3" fmla="*/ 45 h 438"/>
                  <a:gd name="T4" fmla="*/ 5 w 111"/>
                  <a:gd name="T5" fmla="*/ 38 h 438"/>
                  <a:gd name="T6" fmla="*/ 7 w 111"/>
                  <a:gd name="T7" fmla="*/ 28 h 438"/>
                  <a:gd name="T8" fmla="*/ 12 w 111"/>
                  <a:gd name="T9" fmla="*/ 21 h 438"/>
                  <a:gd name="T10" fmla="*/ 16 w 111"/>
                  <a:gd name="T11" fmla="*/ 17 h 438"/>
                  <a:gd name="T12" fmla="*/ 24 w 111"/>
                  <a:gd name="T13" fmla="*/ 10 h 438"/>
                  <a:gd name="T14" fmla="*/ 31 w 111"/>
                  <a:gd name="T15" fmla="*/ 7 h 438"/>
                  <a:gd name="T16" fmla="*/ 38 w 111"/>
                  <a:gd name="T17" fmla="*/ 2 h 438"/>
                  <a:gd name="T18" fmla="*/ 47 w 111"/>
                  <a:gd name="T19" fmla="*/ 0 h 438"/>
                  <a:gd name="T20" fmla="*/ 57 w 111"/>
                  <a:gd name="T21" fmla="*/ 0 h 438"/>
                  <a:gd name="T22" fmla="*/ 64 w 111"/>
                  <a:gd name="T23" fmla="*/ 0 h 438"/>
                  <a:gd name="T24" fmla="*/ 73 w 111"/>
                  <a:gd name="T25" fmla="*/ 2 h 438"/>
                  <a:gd name="T26" fmla="*/ 80 w 111"/>
                  <a:gd name="T27" fmla="*/ 7 h 438"/>
                  <a:gd name="T28" fmla="*/ 87 w 111"/>
                  <a:gd name="T29" fmla="*/ 10 h 438"/>
                  <a:gd name="T30" fmla="*/ 95 w 111"/>
                  <a:gd name="T31" fmla="*/ 17 h 438"/>
                  <a:gd name="T32" fmla="*/ 99 w 111"/>
                  <a:gd name="T33" fmla="*/ 21 h 438"/>
                  <a:gd name="T34" fmla="*/ 104 w 111"/>
                  <a:gd name="T35" fmla="*/ 28 h 438"/>
                  <a:gd name="T36" fmla="*/ 106 w 111"/>
                  <a:gd name="T37" fmla="*/ 38 h 438"/>
                  <a:gd name="T38" fmla="*/ 109 w 111"/>
                  <a:gd name="T39" fmla="*/ 45 h 438"/>
                  <a:gd name="T40" fmla="*/ 111 w 111"/>
                  <a:gd name="T41" fmla="*/ 54 h 438"/>
                  <a:gd name="T42" fmla="*/ 111 w 111"/>
                  <a:gd name="T43" fmla="*/ 384 h 438"/>
                  <a:gd name="T44" fmla="*/ 109 w 111"/>
                  <a:gd name="T45" fmla="*/ 391 h 438"/>
                  <a:gd name="T46" fmla="*/ 106 w 111"/>
                  <a:gd name="T47" fmla="*/ 400 h 438"/>
                  <a:gd name="T48" fmla="*/ 104 w 111"/>
                  <a:gd name="T49" fmla="*/ 407 h 438"/>
                  <a:gd name="T50" fmla="*/ 99 w 111"/>
                  <a:gd name="T51" fmla="*/ 414 h 438"/>
                  <a:gd name="T52" fmla="*/ 95 w 111"/>
                  <a:gd name="T53" fmla="*/ 422 h 438"/>
                  <a:gd name="T54" fmla="*/ 87 w 111"/>
                  <a:gd name="T55" fmla="*/ 426 h 438"/>
                  <a:gd name="T56" fmla="*/ 80 w 111"/>
                  <a:gd name="T57" fmla="*/ 431 h 438"/>
                  <a:gd name="T58" fmla="*/ 73 w 111"/>
                  <a:gd name="T59" fmla="*/ 433 h 438"/>
                  <a:gd name="T60" fmla="*/ 64 w 111"/>
                  <a:gd name="T61" fmla="*/ 436 h 438"/>
                  <a:gd name="T62" fmla="*/ 57 w 111"/>
                  <a:gd name="T63" fmla="*/ 438 h 438"/>
                  <a:gd name="T64" fmla="*/ 47 w 111"/>
                  <a:gd name="T65" fmla="*/ 436 h 438"/>
                  <a:gd name="T66" fmla="*/ 38 w 111"/>
                  <a:gd name="T67" fmla="*/ 433 h 438"/>
                  <a:gd name="T68" fmla="*/ 31 w 111"/>
                  <a:gd name="T69" fmla="*/ 431 h 438"/>
                  <a:gd name="T70" fmla="*/ 24 w 111"/>
                  <a:gd name="T71" fmla="*/ 426 h 438"/>
                  <a:gd name="T72" fmla="*/ 16 w 111"/>
                  <a:gd name="T73" fmla="*/ 422 h 438"/>
                  <a:gd name="T74" fmla="*/ 12 w 111"/>
                  <a:gd name="T75" fmla="*/ 414 h 438"/>
                  <a:gd name="T76" fmla="*/ 7 w 111"/>
                  <a:gd name="T77" fmla="*/ 407 h 438"/>
                  <a:gd name="T78" fmla="*/ 5 w 111"/>
                  <a:gd name="T79" fmla="*/ 400 h 438"/>
                  <a:gd name="T80" fmla="*/ 2 w 111"/>
                  <a:gd name="T81" fmla="*/ 391 h 438"/>
                  <a:gd name="T82" fmla="*/ 2 w 111"/>
                  <a:gd name="T83" fmla="*/ 384 h 438"/>
                  <a:gd name="T84" fmla="*/ 2 w 111"/>
                  <a:gd name="T85" fmla="*/ 54 h 438"/>
                  <a:gd name="T86" fmla="*/ 2 w 111"/>
                  <a:gd name="T87" fmla="*/ 54 h 438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11"/>
                  <a:gd name="T133" fmla="*/ 0 h 438"/>
                  <a:gd name="T134" fmla="*/ 111 w 111"/>
                  <a:gd name="T135" fmla="*/ 438 h 438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11" h="438">
                    <a:moveTo>
                      <a:pt x="0" y="54"/>
                    </a:moveTo>
                    <a:lnTo>
                      <a:pt x="2" y="45"/>
                    </a:lnTo>
                    <a:lnTo>
                      <a:pt x="5" y="38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6" y="17"/>
                    </a:lnTo>
                    <a:lnTo>
                      <a:pt x="24" y="10"/>
                    </a:lnTo>
                    <a:lnTo>
                      <a:pt x="31" y="7"/>
                    </a:lnTo>
                    <a:lnTo>
                      <a:pt x="38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4" y="0"/>
                    </a:lnTo>
                    <a:lnTo>
                      <a:pt x="73" y="2"/>
                    </a:lnTo>
                    <a:lnTo>
                      <a:pt x="80" y="7"/>
                    </a:lnTo>
                    <a:lnTo>
                      <a:pt x="87" y="10"/>
                    </a:lnTo>
                    <a:lnTo>
                      <a:pt x="95" y="17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6" y="38"/>
                    </a:lnTo>
                    <a:lnTo>
                      <a:pt x="109" y="45"/>
                    </a:lnTo>
                    <a:lnTo>
                      <a:pt x="111" y="54"/>
                    </a:lnTo>
                    <a:lnTo>
                      <a:pt x="111" y="384"/>
                    </a:lnTo>
                    <a:lnTo>
                      <a:pt x="109" y="391"/>
                    </a:lnTo>
                    <a:lnTo>
                      <a:pt x="106" y="400"/>
                    </a:lnTo>
                    <a:lnTo>
                      <a:pt x="104" y="407"/>
                    </a:lnTo>
                    <a:lnTo>
                      <a:pt x="99" y="414"/>
                    </a:lnTo>
                    <a:lnTo>
                      <a:pt x="95" y="422"/>
                    </a:lnTo>
                    <a:lnTo>
                      <a:pt x="87" y="426"/>
                    </a:lnTo>
                    <a:lnTo>
                      <a:pt x="80" y="431"/>
                    </a:lnTo>
                    <a:lnTo>
                      <a:pt x="73" y="433"/>
                    </a:lnTo>
                    <a:lnTo>
                      <a:pt x="64" y="436"/>
                    </a:lnTo>
                    <a:lnTo>
                      <a:pt x="57" y="438"/>
                    </a:lnTo>
                    <a:lnTo>
                      <a:pt x="47" y="436"/>
                    </a:lnTo>
                    <a:lnTo>
                      <a:pt x="38" y="433"/>
                    </a:lnTo>
                    <a:lnTo>
                      <a:pt x="31" y="431"/>
                    </a:lnTo>
                    <a:lnTo>
                      <a:pt x="24" y="426"/>
                    </a:lnTo>
                    <a:lnTo>
                      <a:pt x="16" y="422"/>
                    </a:lnTo>
                    <a:lnTo>
                      <a:pt x="12" y="414"/>
                    </a:lnTo>
                    <a:lnTo>
                      <a:pt x="7" y="407"/>
                    </a:lnTo>
                    <a:lnTo>
                      <a:pt x="5" y="400"/>
                    </a:lnTo>
                    <a:lnTo>
                      <a:pt x="2" y="391"/>
                    </a:lnTo>
                    <a:lnTo>
                      <a:pt x="2" y="384"/>
                    </a:lnTo>
                    <a:lnTo>
                      <a:pt x="2" y="54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08" name="Freeform 250"/>
              <p:cNvSpPr>
                <a:spLocks noChangeArrowheads="1"/>
              </p:cNvSpPr>
              <p:nvPr/>
            </p:nvSpPr>
            <p:spPr bwMode="auto">
              <a:xfrm>
                <a:off x="384" y="672"/>
                <a:ext cx="4367" cy="1508"/>
              </a:xfrm>
              <a:custGeom>
                <a:avLst/>
                <a:gdLst>
                  <a:gd name="T0" fmla="*/ 67 w 4367"/>
                  <a:gd name="T1" fmla="*/ 1508 h 1508"/>
                  <a:gd name="T2" fmla="*/ 0 w 4367"/>
                  <a:gd name="T3" fmla="*/ 1508 h 1508"/>
                  <a:gd name="T4" fmla="*/ 0 w 4367"/>
                  <a:gd name="T5" fmla="*/ 0 h 1508"/>
                  <a:gd name="T6" fmla="*/ 4367 w 4367"/>
                  <a:gd name="T7" fmla="*/ 0 h 1508"/>
                  <a:gd name="T8" fmla="*/ 4367 w 4367"/>
                  <a:gd name="T9" fmla="*/ 284 h 1508"/>
                  <a:gd name="T10" fmla="*/ 4303 w 4367"/>
                  <a:gd name="T11" fmla="*/ 284 h 150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367"/>
                  <a:gd name="T19" fmla="*/ 0 h 1508"/>
                  <a:gd name="T20" fmla="*/ 4367 w 4367"/>
                  <a:gd name="T21" fmla="*/ 1508 h 150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367" h="1508">
                    <a:moveTo>
                      <a:pt x="67" y="1508"/>
                    </a:moveTo>
                    <a:lnTo>
                      <a:pt x="0" y="1508"/>
                    </a:lnTo>
                    <a:lnTo>
                      <a:pt x="0" y="0"/>
                    </a:lnTo>
                    <a:lnTo>
                      <a:pt x="4367" y="0"/>
                    </a:lnTo>
                    <a:lnTo>
                      <a:pt x="4367" y="284"/>
                    </a:lnTo>
                    <a:lnTo>
                      <a:pt x="4303" y="284"/>
                    </a:ln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09" name="Line 251"/>
              <p:cNvSpPr>
                <a:spLocks noChangeShapeType="1"/>
              </p:cNvSpPr>
              <p:nvPr/>
            </p:nvSpPr>
            <p:spPr bwMode="auto">
              <a:xfrm>
                <a:off x="581" y="2180"/>
                <a:ext cx="175" cy="1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10" name="Freeform 252"/>
              <p:cNvSpPr>
                <a:spLocks noChangeArrowheads="1"/>
              </p:cNvSpPr>
              <p:nvPr/>
            </p:nvSpPr>
            <p:spPr bwMode="auto">
              <a:xfrm>
                <a:off x="747" y="2166"/>
                <a:ext cx="28" cy="31"/>
              </a:xfrm>
              <a:custGeom>
                <a:avLst/>
                <a:gdLst>
                  <a:gd name="T0" fmla="*/ 0 w 28"/>
                  <a:gd name="T1" fmla="*/ 0 h 31"/>
                  <a:gd name="T2" fmla="*/ 0 w 28"/>
                  <a:gd name="T3" fmla="*/ 31 h 31"/>
                  <a:gd name="T4" fmla="*/ 28 w 28"/>
                  <a:gd name="T5" fmla="*/ 14 h 31"/>
                  <a:gd name="T6" fmla="*/ 0 w 28"/>
                  <a:gd name="T7" fmla="*/ 0 h 31"/>
                  <a:gd name="T8" fmla="*/ 0 w 28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31"/>
                  <a:gd name="T17" fmla="*/ 28 w 28"/>
                  <a:gd name="T18" fmla="*/ 31 h 3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31">
                    <a:moveTo>
                      <a:pt x="0" y="0"/>
                    </a:moveTo>
                    <a:lnTo>
                      <a:pt x="0" y="31"/>
                    </a:lnTo>
                    <a:lnTo>
                      <a:pt x="28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11" name="Freeform 253"/>
              <p:cNvSpPr>
                <a:spLocks noChangeArrowheads="1"/>
              </p:cNvSpPr>
              <p:nvPr/>
            </p:nvSpPr>
            <p:spPr bwMode="auto">
              <a:xfrm>
                <a:off x="439" y="2166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2 w 31"/>
                  <a:gd name="T3" fmla="*/ 31 h 31"/>
                  <a:gd name="T4" fmla="*/ 31 w 31"/>
                  <a:gd name="T5" fmla="*/ 14 h 31"/>
                  <a:gd name="T6" fmla="*/ 2 w 31"/>
                  <a:gd name="T7" fmla="*/ 0 h 31"/>
                  <a:gd name="T8" fmla="*/ 2 w 31"/>
                  <a:gd name="T9" fmla="*/ 0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2" y="31"/>
                    </a:lnTo>
                    <a:lnTo>
                      <a:pt x="31" y="14"/>
                    </a:lnTo>
                    <a:lnTo>
                      <a:pt x="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12" name="Freeform 254"/>
              <p:cNvSpPr>
                <a:spLocks noChangeArrowheads="1"/>
              </p:cNvSpPr>
              <p:nvPr/>
            </p:nvSpPr>
            <p:spPr bwMode="auto">
              <a:xfrm>
                <a:off x="2932" y="3004"/>
                <a:ext cx="29" cy="29"/>
              </a:xfrm>
              <a:custGeom>
                <a:avLst/>
                <a:gdLst>
                  <a:gd name="T0" fmla="*/ 0 w 29"/>
                  <a:gd name="T1" fmla="*/ 0 h 29"/>
                  <a:gd name="T2" fmla="*/ 0 w 29"/>
                  <a:gd name="T3" fmla="*/ 29 h 29"/>
                  <a:gd name="T4" fmla="*/ 29 w 29"/>
                  <a:gd name="T5" fmla="*/ 14 h 29"/>
                  <a:gd name="T6" fmla="*/ 0 w 29"/>
                  <a:gd name="T7" fmla="*/ 0 h 29"/>
                  <a:gd name="T8" fmla="*/ 0 w 29"/>
                  <a:gd name="T9" fmla="*/ 0 h 2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"/>
                  <a:gd name="T16" fmla="*/ 0 h 29"/>
                  <a:gd name="T17" fmla="*/ 29 w 29"/>
                  <a:gd name="T18" fmla="*/ 29 h 2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" h="29">
                    <a:moveTo>
                      <a:pt x="0" y="0"/>
                    </a:moveTo>
                    <a:lnTo>
                      <a:pt x="0" y="29"/>
                    </a:lnTo>
                    <a:lnTo>
                      <a:pt x="29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13" name="Freeform 255"/>
              <p:cNvSpPr>
                <a:spLocks noChangeArrowheads="1"/>
              </p:cNvSpPr>
              <p:nvPr/>
            </p:nvSpPr>
            <p:spPr bwMode="auto">
              <a:xfrm>
                <a:off x="2966" y="2786"/>
                <a:ext cx="220" cy="464"/>
              </a:xfrm>
              <a:custGeom>
                <a:avLst/>
                <a:gdLst>
                  <a:gd name="T0" fmla="*/ 108 w 220"/>
                  <a:gd name="T1" fmla="*/ 464 h 464"/>
                  <a:gd name="T2" fmla="*/ 127 w 220"/>
                  <a:gd name="T3" fmla="*/ 462 h 464"/>
                  <a:gd name="T4" fmla="*/ 144 w 220"/>
                  <a:gd name="T5" fmla="*/ 453 h 464"/>
                  <a:gd name="T6" fmla="*/ 161 w 220"/>
                  <a:gd name="T7" fmla="*/ 441 h 464"/>
                  <a:gd name="T8" fmla="*/ 175 w 220"/>
                  <a:gd name="T9" fmla="*/ 422 h 464"/>
                  <a:gd name="T10" fmla="*/ 187 w 220"/>
                  <a:gd name="T11" fmla="*/ 398 h 464"/>
                  <a:gd name="T12" fmla="*/ 198 w 220"/>
                  <a:gd name="T13" fmla="*/ 370 h 464"/>
                  <a:gd name="T14" fmla="*/ 208 w 220"/>
                  <a:gd name="T15" fmla="*/ 339 h 464"/>
                  <a:gd name="T16" fmla="*/ 213 w 220"/>
                  <a:gd name="T17" fmla="*/ 306 h 464"/>
                  <a:gd name="T18" fmla="*/ 217 w 220"/>
                  <a:gd name="T19" fmla="*/ 270 h 464"/>
                  <a:gd name="T20" fmla="*/ 220 w 220"/>
                  <a:gd name="T21" fmla="*/ 232 h 464"/>
                  <a:gd name="T22" fmla="*/ 217 w 220"/>
                  <a:gd name="T23" fmla="*/ 194 h 464"/>
                  <a:gd name="T24" fmla="*/ 213 w 220"/>
                  <a:gd name="T25" fmla="*/ 159 h 464"/>
                  <a:gd name="T26" fmla="*/ 208 w 220"/>
                  <a:gd name="T27" fmla="*/ 126 h 464"/>
                  <a:gd name="T28" fmla="*/ 198 w 220"/>
                  <a:gd name="T29" fmla="*/ 95 h 464"/>
                  <a:gd name="T30" fmla="*/ 187 w 220"/>
                  <a:gd name="T31" fmla="*/ 69 h 464"/>
                  <a:gd name="T32" fmla="*/ 175 w 220"/>
                  <a:gd name="T33" fmla="*/ 45 h 464"/>
                  <a:gd name="T34" fmla="*/ 161 w 220"/>
                  <a:gd name="T35" fmla="*/ 26 h 464"/>
                  <a:gd name="T36" fmla="*/ 144 w 220"/>
                  <a:gd name="T37" fmla="*/ 12 h 464"/>
                  <a:gd name="T38" fmla="*/ 127 w 220"/>
                  <a:gd name="T39" fmla="*/ 3 h 464"/>
                  <a:gd name="T40" fmla="*/ 111 w 220"/>
                  <a:gd name="T41" fmla="*/ 0 h 464"/>
                  <a:gd name="T42" fmla="*/ 92 w 220"/>
                  <a:gd name="T43" fmla="*/ 3 h 464"/>
                  <a:gd name="T44" fmla="*/ 75 w 220"/>
                  <a:gd name="T45" fmla="*/ 12 h 464"/>
                  <a:gd name="T46" fmla="*/ 59 w 220"/>
                  <a:gd name="T47" fmla="*/ 26 h 464"/>
                  <a:gd name="T48" fmla="*/ 45 w 220"/>
                  <a:gd name="T49" fmla="*/ 45 h 464"/>
                  <a:gd name="T50" fmla="*/ 33 w 220"/>
                  <a:gd name="T51" fmla="*/ 69 h 464"/>
                  <a:gd name="T52" fmla="*/ 21 w 220"/>
                  <a:gd name="T53" fmla="*/ 95 h 464"/>
                  <a:gd name="T54" fmla="*/ 11 w 220"/>
                  <a:gd name="T55" fmla="*/ 126 h 464"/>
                  <a:gd name="T56" fmla="*/ 7 w 220"/>
                  <a:gd name="T57" fmla="*/ 159 h 464"/>
                  <a:gd name="T58" fmla="*/ 2 w 220"/>
                  <a:gd name="T59" fmla="*/ 194 h 464"/>
                  <a:gd name="T60" fmla="*/ 0 w 220"/>
                  <a:gd name="T61" fmla="*/ 232 h 464"/>
                  <a:gd name="T62" fmla="*/ 2 w 220"/>
                  <a:gd name="T63" fmla="*/ 270 h 464"/>
                  <a:gd name="T64" fmla="*/ 7 w 220"/>
                  <a:gd name="T65" fmla="*/ 306 h 464"/>
                  <a:gd name="T66" fmla="*/ 11 w 220"/>
                  <a:gd name="T67" fmla="*/ 339 h 464"/>
                  <a:gd name="T68" fmla="*/ 21 w 220"/>
                  <a:gd name="T69" fmla="*/ 370 h 464"/>
                  <a:gd name="T70" fmla="*/ 33 w 220"/>
                  <a:gd name="T71" fmla="*/ 398 h 464"/>
                  <a:gd name="T72" fmla="*/ 45 w 220"/>
                  <a:gd name="T73" fmla="*/ 422 h 464"/>
                  <a:gd name="T74" fmla="*/ 59 w 220"/>
                  <a:gd name="T75" fmla="*/ 441 h 464"/>
                  <a:gd name="T76" fmla="*/ 75 w 220"/>
                  <a:gd name="T77" fmla="*/ 453 h 464"/>
                  <a:gd name="T78" fmla="*/ 92 w 220"/>
                  <a:gd name="T79" fmla="*/ 462 h 464"/>
                  <a:gd name="T80" fmla="*/ 111 w 220"/>
                  <a:gd name="T81" fmla="*/ 464 h 464"/>
                  <a:gd name="T82" fmla="*/ 111 w 220"/>
                  <a:gd name="T83" fmla="*/ 464 h 464"/>
                  <a:gd name="T84" fmla="*/ 108 w 220"/>
                  <a:gd name="T85" fmla="*/ 464 h 464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20"/>
                  <a:gd name="T130" fmla="*/ 0 h 464"/>
                  <a:gd name="T131" fmla="*/ 220 w 220"/>
                  <a:gd name="T132" fmla="*/ 464 h 464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20" h="464">
                    <a:moveTo>
                      <a:pt x="108" y="464"/>
                    </a:moveTo>
                    <a:lnTo>
                      <a:pt x="127" y="462"/>
                    </a:lnTo>
                    <a:lnTo>
                      <a:pt x="144" y="453"/>
                    </a:lnTo>
                    <a:lnTo>
                      <a:pt x="161" y="441"/>
                    </a:lnTo>
                    <a:lnTo>
                      <a:pt x="175" y="422"/>
                    </a:lnTo>
                    <a:lnTo>
                      <a:pt x="187" y="398"/>
                    </a:lnTo>
                    <a:lnTo>
                      <a:pt x="198" y="370"/>
                    </a:lnTo>
                    <a:lnTo>
                      <a:pt x="208" y="339"/>
                    </a:lnTo>
                    <a:lnTo>
                      <a:pt x="213" y="306"/>
                    </a:lnTo>
                    <a:lnTo>
                      <a:pt x="217" y="270"/>
                    </a:lnTo>
                    <a:lnTo>
                      <a:pt x="220" y="232"/>
                    </a:lnTo>
                    <a:lnTo>
                      <a:pt x="217" y="194"/>
                    </a:lnTo>
                    <a:lnTo>
                      <a:pt x="213" y="159"/>
                    </a:lnTo>
                    <a:lnTo>
                      <a:pt x="208" y="126"/>
                    </a:lnTo>
                    <a:lnTo>
                      <a:pt x="198" y="95"/>
                    </a:lnTo>
                    <a:lnTo>
                      <a:pt x="187" y="69"/>
                    </a:lnTo>
                    <a:lnTo>
                      <a:pt x="175" y="45"/>
                    </a:lnTo>
                    <a:lnTo>
                      <a:pt x="161" y="26"/>
                    </a:lnTo>
                    <a:lnTo>
                      <a:pt x="144" y="12"/>
                    </a:lnTo>
                    <a:lnTo>
                      <a:pt x="127" y="3"/>
                    </a:lnTo>
                    <a:lnTo>
                      <a:pt x="111" y="0"/>
                    </a:lnTo>
                    <a:lnTo>
                      <a:pt x="92" y="3"/>
                    </a:lnTo>
                    <a:lnTo>
                      <a:pt x="75" y="12"/>
                    </a:lnTo>
                    <a:lnTo>
                      <a:pt x="59" y="26"/>
                    </a:lnTo>
                    <a:lnTo>
                      <a:pt x="45" y="45"/>
                    </a:lnTo>
                    <a:lnTo>
                      <a:pt x="33" y="69"/>
                    </a:lnTo>
                    <a:lnTo>
                      <a:pt x="21" y="95"/>
                    </a:lnTo>
                    <a:lnTo>
                      <a:pt x="11" y="126"/>
                    </a:lnTo>
                    <a:lnTo>
                      <a:pt x="7" y="159"/>
                    </a:lnTo>
                    <a:lnTo>
                      <a:pt x="2" y="194"/>
                    </a:lnTo>
                    <a:lnTo>
                      <a:pt x="0" y="232"/>
                    </a:lnTo>
                    <a:lnTo>
                      <a:pt x="2" y="270"/>
                    </a:lnTo>
                    <a:lnTo>
                      <a:pt x="7" y="306"/>
                    </a:lnTo>
                    <a:lnTo>
                      <a:pt x="11" y="339"/>
                    </a:lnTo>
                    <a:lnTo>
                      <a:pt x="21" y="370"/>
                    </a:lnTo>
                    <a:lnTo>
                      <a:pt x="33" y="398"/>
                    </a:lnTo>
                    <a:lnTo>
                      <a:pt x="45" y="422"/>
                    </a:lnTo>
                    <a:lnTo>
                      <a:pt x="59" y="441"/>
                    </a:lnTo>
                    <a:lnTo>
                      <a:pt x="75" y="453"/>
                    </a:lnTo>
                    <a:lnTo>
                      <a:pt x="92" y="462"/>
                    </a:lnTo>
                    <a:lnTo>
                      <a:pt x="111" y="464"/>
                    </a:lnTo>
                    <a:lnTo>
                      <a:pt x="108" y="46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14" name="Freeform 256"/>
              <p:cNvSpPr>
                <a:spLocks noChangeArrowheads="1"/>
              </p:cNvSpPr>
              <p:nvPr/>
            </p:nvSpPr>
            <p:spPr bwMode="auto">
              <a:xfrm>
                <a:off x="2966" y="2786"/>
                <a:ext cx="220" cy="464"/>
              </a:xfrm>
              <a:custGeom>
                <a:avLst/>
                <a:gdLst>
                  <a:gd name="T0" fmla="*/ 108 w 220"/>
                  <a:gd name="T1" fmla="*/ 464 h 464"/>
                  <a:gd name="T2" fmla="*/ 127 w 220"/>
                  <a:gd name="T3" fmla="*/ 462 h 464"/>
                  <a:gd name="T4" fmla="*/ 144 w 220"/>
                  <a:gd name="T5" fmla="*/ 453 h 464"/>
                  <a:gd name="T6" fmla="*/ 161 w 220"/>
                  <a:gd name="T7" fmla="*/ 441 h 464"/>
                  <a:gd name="T8" fmla="*/ 175 w 220"/>
                  <a:gd name="T9" fmla="*/ 422 h 464"/>
                  <a:gd name="T10" fmla="*/ 187 w 220"/>
                  <a:gd name="T11" fmla="*/ 398 h 464"/>
                  <a:gd name="T12" fmla="*/ 198 w 220"/>
                  <a:gd name="T13" fmla="*/ 370 h 464"/>
                  <a:gd name="T14" fmla="*/ 208 w 220"/>
                  <a:gd name="T15" fmla="*/ 339 h 464"/>
                  <a:gd name="T16" fmla="*/ 213 w 220"/>
                  <a:gd name="T17" fmla="*/ 306 h 464"/>
                  <a:gd name="T18" fmla="*/ 217 w 220"/>
                  <a:gd name="T19" fmla="*/ 270 h 464"/>
                  <a:gd name="T20" fmla="*/ 220 w 220"/>
                  <a:gd name="T21" fmla="*/ 232 h 464"/>
                  <a:gd name="T22" fmla="*/ 217 w 220"/>
                  <a:gd name="T23" fmla="*/ 194 h 464"/>
                  <a:gd name="T24" fmla="*/ 213 w 220"/>
                  <a:gd name="T25" fmla="*/ 159 h 464"/>
                  <a:gd name="T26" fmla="*/ 208 w 220"/>
                  <a:gd name="T27" fmla="*/ 126 h 464"/>
                  <a:gd name="T28" fmla="*/ 198 w 220"/>
                  <a:gd name="T29" fmla="*/ 95 h 464"/>
                  <a:gd name="T30" fmla="*/ 187 w 220"/>
                  <a:gd name="T31" fmla="*/ 69 h 464"/>
                  <a:gd name="T32" fmla="*/ 175 w 220"/>
                  <a:gd name="T33" fmla="*/ 45 h 464"/>
                  <a:gd name="T34" fmla="*/ 161 w 220"/>
                  <a:gd name="T35" fmla="*/ 26 h 464"/>
                  <a:gd name="T36" fmla="*/ 144 w 220"/>
                  <a:gd name="T37" fmla="*/ 12 h 464"/>
                  <a:gd name="T38" fmla="*/ 127 w 220"/>
                  <a:gd name="T39" fmla="*/ 3 h 464"/>
                  <a:gd name="T40" fmla="*/ 111 w 220"/>
                  <a:gd name="T41" fmla="*/ 0 h 464"/>
                  <a:gd name="T42" fmla="*/ 92 w 220"/>
                  <a:gd name="T43" fmla="*/ 3 h 464"/>
                  <a:gd name="T44" fmla="*/ 75 w 220"/>
                  <a:gd name="T45" fmla="*/ 12 h 464"/>
                  <a:gd name="T46" fmla="*/ 59 w 220"/>
                  <a:gd name="T47" fmla="*/ 26 h 464"/>
                  <a:gd name="T48" fmla="*/ 45 w 220"/>
                  <a:gd name="T49" fmla="*/ 45 h 464"/>
                  <a:gd name="T50" fmla="*/ 33 w 220"/>
                  <a:gd name="T51" fmla="*/ 69 h 464"/>
                  <a:gd name="T52" fmla="*/ 21 w 220"/>
                  <a:gd name="T53" fmla="*/ 95 h 464"/>
                  <a:gd name="T54" fmla="*/ 11 w 220"/>
                  <a:gd name="T55" fmla="*/ 126 h 464"/>
                  <a:gd name="T56" fmla="*/ 7 w 220"/>
                  <a:gd name="T57" fmla="*/ 159 h 464"/>
                  <a:gd name="T58" fmla="*/ 2 w 220"/>
                  <a:gd name="T59" fmla="*/ 194 h 464"/>
                  <a:gd name="T60" fmla="*/ 0 w 220"/>
                  <a:gd name="T61" fmla="*/ 232 h 464"/>
                  <a:gd name="T62" fmla="*/ 2 w 220"/>
                  <a:gd name="T63" fmla="*/ 270 h 464"/>
                  <a:gd name="T64" fmla="*/ 7 w 220"/>
                  <a:gd name="T65" fmla="*/ 306 h 464"/>
                  <a:gd name="T66" fmla="*/ 11 w 220"/>
                  <a:gd name="T67" fmla="*/ 339 h 464"/>
                  <a:gd name="T68" fmla="*/ 21 w 220"/>
                  <a:gd name="T69" fmla="*/ 370 h 464"/>
                  <a:gd name="T70" fmla="*/ 33 w 220"/>
                  <a:gd name="T71" fmla="*/ 398 h 464"/>
                  <a:gd name="T72" fmla="*/ 45 w 220"/>
                  <a:gd name="T73" fmla="*/ 422 h 464"/>
                  <a:gd name="T74" fmla="*/ 59 w 220"/>
                  <a:gd name="T75" fmla="*/ 441 h 464"/>
                  <a:gd name="T76" fmla="*/ 75 w 220"/>
                  <a:gd name="T77" fmla="*/ 453 h 464"/>
                  <a:gd name="T78" fmla="*/ 92 w 220"/>
                  <a:gd name="T79" fmla="*/ 462 h 464"/>
                  <a:gd name="T80" fmla="*/ 111 w 220"/>
                  <a:gd name="T81" fmla="*/ 464 h 464"/>
                  <a:gd name="T82" fmla="*/ 111 w 220"/>
                  <a:gd name="T83" fmla="*/ 464 h 464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20"/>
                  <a:gd name="T127" fmla="*/ 0 h 464"/>
                  <a:gd name="T128" fmla="*/ 220 w 220"/>
                  <a:gd name="T129" fmla="*/ 464 h 464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20" h="464">
                    <a:moveTo>
                      <a:pt x="108" y="464"/>
                    </a:moveTo>
                    <a:lnTo>
                      <a:pt x="127" y="462"/>
                    </a:lnTo>
                    <a:lnTo>
                      <a:pt x="144" y="453"/>
                    </a:lnTo>
                    <a:lnTo>
                      <a:pt x="161" y="441"/>
                    </a:lnTo>
                    <a:lnTo>
                      <a:pt x="175" y="422"/>
                    </a:lnTo>
                    <a:lnTo>
                      <a:pt x="187" y="398"/>
                    </a:lnTo>
                    <a:lnTo>
                      <a:pt x="198" y="370"/>
                    </a:lnTo>
                    <a:lnTo>
                      <a:pt x="208" y="339"/>
                    </a:lnTo>
                    <a:lnTo>
                      <a:pt x="213" y="306"/>
                    </a:lnTo>
                    <a:lnTo>
                      <a:pt x="217" y="270"/>
                    </a:lnTo>
                    <a:lnTo>
                      <a:pt x="220" y="232"/>
                    </a:lnTo>
                    <a:lnTo>
                      <a:pt x="217" y="194"/>
                    </a:lnTo>
                    <a:lnTo>
                      <a:pt x="213" y="159"/>
                    </a:lnTo>
                    <a:lnTo>
                      <a:pt x="208" y="126"/>
                    </a:lnTo>
                    <a:lnTo>
                      <a:pt x="198" y="95"/>
                    </a:lnTo>
                    <a:lnTo>
                      <a:pt x="187" y="69"/>
                    </a:lnTo>
                    <a:lnTo>
                      <a:pt x="175" y="45"/>
                    </a:lnTo>
                    <a:lnTo>
                      <a:pt x="161" y="26"/>
                    </a:lnTo>
                    <a:lnTo>
                      <a:pt x="144" y="12"/>
                    </a:lnTo>
                    <a:lnTo>
                      <a:pt x="127" y="3"/>
                    </a:lnTo>
                    <a:lnTo>
                      <a:pt x="111" y="0"/>
                    </a:lnTo>
                    <a:lnTo>
                      <a:pt x="92" y="3"/>
                    </a:lnTo>
                    <a:lnTo>
                      <a:pt x="75" y="12"/>
                    </a:lnTo>
                    <a:lnTo>
                      <a:pt x="59" y="26"/>
                    </a:lnTo>
                    <a:lnTo>
                      <a:pt x="45" y="45"/>
                    </a:lnTo>
                    <a:lnTo>
                      <a:pt x="33" y="69"/>
                    </a:lnTo>
                    <a:lnTo>
                      <a:pt x="21" y="95"/>
                    </a:lnTo>
                    <a:lnTo>
                      <a:pt x="11" y="126"/>
                    </a:lnTo>
                    <a:lnTo>
                      <a:pt x="7" y="159"/>
                    </a:lnTo>
                    <a:lnTo>
                      <a:pt x="2" y="194"/>
                    </a:lnTo>
                    <a:lnTo>
                      <a:pt x="0" y="232"/>
                    </a:lnTo>
                    <a:lnTo>
                      <a:pt x="2" y="270"/>
                    </a:lnTo>
                    <a:lnTo>
                      <a:pt x="7" y="306"/>
                    </a:lnTo>
                    <a:lnTo>
                      <a:pt x="11" y="339"/>
                    </a:lnTo>
                    <a:lnTo>
                      <a:pt x="21" y="370"/>
                    </a:lnTo>
                    <a:lnTo>
                      <a:pt x="33" y="398"/>
                    </a:lnTo>
                    <a:lnTo>
                      <a:pt x="45" y="422"/>
                    </a:lnTo>
                    <a:lnTo>
                      <a:pt x="59" y="441"/>
                    </a:lnTo>
                    <a:lnTo>
                      <a:pt x="75" y="453"/>
                    </a:lnTo>
                    <a:lnTo>
                      <a:pt x="92" y="462"/>
                    </a:lnTo>
                    <a:lnTo>
                      <a:pt x="111" y="464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15" name="Rectangle 257"/>
              <p:cNvSpPr>
                <a:spLocks noChangeArrowheads="1"/>
              </p:cNvSpPr>
              <p:nvPr/>
            </p:nvSpPr>
            <p:spPr bwMode="auto">
              <a:xfrm>
                <a:off x="2831" y="290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80316" name="Rectangle 258"/>
              <p:cNvSpPr>
                <a:spLocks noChangeArrowheads="1"/>
              </p:cNvSpPr>
              <p:nvPr/>
            </p:nvSpPr>
            <p:spPr bwMode="auto">
              <a:xfrm>
                <a:off x="2864" y="290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6</a:t>
                </a:r>
              </a:p>
            </p:txBody>
          </p:sp>
          <p:sp>
            <p:nvSpPr>
              <p:cNvPr id="80317" name="Line 259"/>
              <p:cNvSpPr>
                <a:spLocks noChangeShapeType="1"/>
              </p:cNvSpPr>
              <p:nvPr/>
            </p:nvSpPr>
            <p:spPr bwMode="auto">
              <a:xfrm flipH="1" flipV="1">
                <a:off x="3227" y="2979"/>
                <a:ext cx="45" cy="78"/>
              </a:xfrm>
              <a:prstGeom prst="line">
                <a:avLst/>
              </a:prstGeom>
              <a:noFill/>
              <a:ln w="1116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18" name="Rectangle 260"/>
              <p:cNvSpPr>
                <a:spLocks noChangeArrowheads="1"/>
              </p:cNvSpPr>
              <p:nvPr/>
            </p:nvSpPr>
            <p:spPr bwMode="auto">
              <a:xfrm>
                <a:off x="3214" y="290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3</a:t>
                </a:r>
              </a:p>
            </p:txBody>
          </p:sp>
          <p:sp>
            <p:nvSpPr>
              <p:cNvPr id="80319" name="Rectangle 261"/>
              <p:cNvSpPr>
                <a:spLocks noChangeArrowheads="1"/>
              </p:cNvSpPr>
              <p:nvPr/>
            </p:nvSpPr>
            <p:spPr bwMode="auto">
              <a:xfrm>
                <a:off x="3247" y="2903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2</a:t>
                </a:r>
              </a:p>
            </p:txBody>
          </p:sp>
          <p:sp>
            <p:nvSpPr>
              <p:cNvPr id="80320" name="Rectangle 262"/>
              <p:cNvSpPr>
                <a:spLocks noChangeArrowheads="1"/>
              </p:cNvSpPr>
              <p:nvPr/>
            </p:nvSpPr>
            <p:spPr bwMode="auto">
              <a:xfrm>
                <a:off x="1661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80321" name="Rectangle 263"/>
              <p:cNvSpPr>
                <a:spLocks noChangeArrowheads="1"/>
              </p:cNvSpPr>
              <p:nvPr/>
            </p:nvSpPr>
            <p:spPr bwMode="auto">
              <a:xfrm>
                <a:off x="1677" y="293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80322" name="Rectangle 264"/>
              <p:cNvSpPr>
                <a:spLocks noChangeArrowheads="1"/>
              </p:cNvSpPr>
              <p:nvPr/>
            </p:nvSpPr>
            <p:spPr bwMode="auto">
              <a:xfrm>
                <a:off x="1710" y="2934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80323" name="Rectangle 265"/>
              <p:cNvSpPr>
                <a:spLocks noChangeArrowheads="1"/>
              </p:cNvSpPr>
              <p:nvPr/>
            </p:nvSpPr>
            <p:spPr bwMode="auto">
              <a:xfrm>
                <a:off x="1739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324" name="Rectangle 266"/>
              <p:cNvSpPr>
                <a:spLocks noChangeArrowheads="1"/>
              </p:cNvSpPr>
              <p:nvPr/>
            </p:nvSpPr>
            <p:spPr bwMode="auto">
              <a:xfrm>
                <a:off x="1755" y="2934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325" name="Rectangle 267"/>
              <p:cNvSpPr>
                <a:spLocks noChangeArrowheads="1"/>
              </p:cNvSpPr>
              <p:nvPr/>
            </p:nvSpPr>
            <p:spPr bwMode="auto">
              <a:xfrm>
                <a:off x="1774" y="293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80326" name="Rectangle 268"/>
              <p:cNvSpPr>
                <a:spLocks noChangeArrowheads="1"/>
              </p:cNvSpPr>
              <p:nvPr/>
            </p:nvSpPr>
            <p:spPr bwMode="auto">
              <a:xfrm>
                <a:off x="1808" y="2934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80327" name="Rectangle 269"/>
              <p:cNvSpPr>
                <a:spLocks noChangeArrowheads="1"/>
              </p:cNvSpPr>
              <p:nvPr/>
            </p:nvSpPr>
            <p:spPr bwMode="auto">
              <a:xfrm>
                <a:off x="1836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328" name="Rectangle 270"/>
              <p:cNvSpPr>
                <a:spLocks noChangeArrowheads="1"/>
              </p:cNvSpPr>
              <p:nvPr/>
            </p:nvSpPr>
            <p:spPr bwMode="auto">
              <a:xfrm>
                <a:off x="1852" y="2934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80329" name="Rectangle 271"/>
              <p:cNvSpPr>
                <a:spLocks noChangeArrowheads="1"/>
              </p:cNvSpPr>
              <p:nvPr/>
            </p:nvSpPr>
            <p:spPr bwMode="auto">
              <a:xfrm>
                <a:off x="1867" y="293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80330" name="Rectangle 272"/>
              <p:cNvSpPr>
                <a:spLocks noChangeArrowheads="1"/>
              </p:cNvSpPr>
              <p:nvPr/>
            </p:nvSpPr>
            <p:spPr bwMode="auto">
              <a:xfrm>
                <a:off x="1898" y="293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80331" name="Rectangle 273"/>
              <p:cNvSpPr>
                <a:spLocks noChangeArrowheads="1"/>
              </p:cNvSpPr>
              <p:nvPr/>
            </p:nvSpPr>
            <p:spPr bwMode="auto">
              <a:xfrm>
                <a:off x="1931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80332" name="Rectangle 274"/>
              <p:cNvSpPr>
                <a:spLocks noChangeArrowheads="1"/>
              </p:cNvSpPr>
              <p:nvPr/>
            </p:nvSpPr>
            <p:spPr bwMode="auto">
              <a:xfrm>
                <a:off x="1947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[</a:t>
                </a:r>
              </a:p>
            </p:txBody>
          </p:sp>
          <p:sp>
            <p:nvSpPr>
              <p:cNvPr id="80333" name="Rectangle 275"/>
              <p:cNvSpPr>
                <a:spLocks noChangeArrowheads="1"/>
              </p:cNvSpPr>
              <p:nvPr/>
            </p:nvSpPr>
            <p:spPr bwMode="auto">
              <a:xfrm>
                <a:off x="1964" y="293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80334" name="Rectangle 276"/>
              <p:cNvSpPr>
                <a:spLocks noChangeArrowheads="1"/>
              </p:cNvSpPr>
              <p:nvPr/>
            </p:nvSpPr>
            <p:spPr bwMode="auto">
              <a:xfrm>
                <a:off x="1995" y="293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5</a:t>
                </a:r>
              </a:p>
            </p:txBody>
          </p:sp>
          <p:sp>
            <p:nvSpPr>
              <p:cNvPr id="80335" name="Rectangle 277"/>
              <p:cNvSpPr>
                <a:spLocks noChangeArrowheads="1"/>
              </p:cNvSpPr>
              <p:nvPr/>
            </p:nvSpPr>
            <p:spPr bwMode="auto">
              <a:xfrm>
                <a:off x="2028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80336" name="Rectangle 278"/>
              <p:cNvSpPr>
                <a:spLocks noChangeArrowheads="1"/>
              </p:cNvSpPr>
              <p:nvPr/>
            </p:nvSpPr>
            <p:spPr bwMode="auto">
              <a:xfrm>
                <a:off x="2044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80337" name="Rectangle 279"/>
              <p:cNvSpPr>
                <a:spLocks noChangeArrowheads="1"/>
              </p:cNvSpPr>
              <p:nvPr/>
            </p:nvSpPr>
            <p:spPr bwMode="auto">
              <a:xfrm>
                <a:off x="2061" y="293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0</a:t>
                </a:r>
              </a:p>
            </p:txBody>
          </p:sp>
          <p:sp>
            <p:nvSpPr>
              <p:cNvPr id="80338" name="Rectangle 280"/>
              <p:cNvSpPr>
                <a:spLocks noChangeArrowheads="1"/>
              </p:cNvSpPr>
              <p:nvPr/>
            </p:nvSpPr>
            <p:spPr bwMode="auto">
              <a:xfrm>
                <a:off x="2094" y="293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]</a:t>
                </a:r>
              </a:p>
            </p:txBody>
          </p:sp>
          <p:sp>
            <p:nvSpPr>
              <p:cNvPr id="80339" name="Freeform 281"/>
              <p:cNvSpPr>
                <a:spLocks noChangeArrowheads="1"/>
              </p:cNvSpPr>
              <p:nvPr/>
            </p:nvSpPr>
            <p:spPr bwMode="auto">
              <a:xfrm>
                <a:off x="3742" y="930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3 w 31"/>
                  <a:gd name="T3" fmla="*/ 31 h 31"/>
                  <a:gd name="T4" fmla="*/ 31 w 31"/>
                  <a:gd name="T5" fmla="*/ 16 h 31"/>
                  <a:gd name="T6" fmla="*/ 3 w 31"/>
                  <a:gd name="T7" fmla="*/ 0 h 31"/>
                  <a:gd name="T8" fmla="*/ 3 w 31"/>
                  <a:gd name="T9" fmla="*/ 0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3" y="31"/>
                    </a:lnTo>
                    <a:lnTo>
                      <a:pt x="31" y="16"/>
                    </a:lnTo>
                    <a:lnTo>
                      <a:pt x="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40" name="Freeform 282"/>
              <p:cNvSpPr>
                <a:spLocks noChangeArrowheads="1"/>
              </p:cNvSpPr>
              <p:nvPr/>
            </p:nvSpPr>
            <p:spPr bwMode="auto">
              <a:xfrm>
                <a:off x="3742" y="1280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3 w 31"/>
                  <a:gd name="T3" fmla="*/ 31 h 31"/>
                  <a:gd name="T4" fmla="*/ 31 w 31"/>
                  <a:gd name="T5" fmla="*/ 17 h 31"/>
                  <a:gd name="T6" fmla="*/ 3 w 31"/>
                  <a:gd name="T7" fmla="*/ 3 h 31"/>
                  <a:gd name="T8" fmla="*/ 3 w 31"/>
                  <a:gd name="T9" fmla="*/ 3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3" y="31"/>
                    </a:lnTo>
                    <a:lnTo>
                      <a:pt x="31" y="17"/>
                    </a:lnTo>
                    <a:lnTo>
                      <a:pt x="3" y="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41" name="Freeform 283"/>
              <p:cNvSpPr>
                <a:spLocks noChangeArrowheads="1"/>
              </p:cNvSpPr>
              <p:nvPr/>
            </p:nvSpPr>
            <p:spPr bwMode="auto">
              <a:xfrm>
                <a:off x="5168" y="2422"/>
                <a:ext cx="111" cy="371"/>
              </a:xfrm>
              <a:custGeom>
                <a:avLst/>
                <a:gdLst>
                  <a:gd name="T0" fmla="*/ 0 w 111"/>
                  <a:gd name="T1" fmla="*/ 52 h 371"/>
                  <a:gd name="T2" fmla="*/ 2 w 111"/>
                  <a:gd name="T3" fmla="*/ 45 h 371"/>
                  <a:gd name="T4" fmla="*/ 5 w 111"/>
                  <a:gd name="T5" fmla="*/ 35 h 371"/>
                  <a:gd name="T6" fmla="*/ 7 w 111"/>
                  <a:gd name="T7" fmla="*/ 28 h 371"/>
                  <a:gd name="T8" fmla="*/ 12 w 111"/>
                  <a:gd name="T9" fmla="*/ 21 h 371"/>
                  <a:gd name="T10" fmla="*/ 19 w 111"/>
                  <a:gd name="T11" fmla="*/ 14 h 371"/>
                  <a:gd name="T12" fmla="*/ 24 w 111"/>
                  <a:gd name="T13" fmla="*/ 9 h 371"/>
                  <a:gd name="T14" fmla="*/ 31 w 111"/>
                  <a:gd name="T15" fmla="*/ 4 h 371"/>
                  <a:gd name="T16" fmla="*/ 40 w 111"/>
                  <a:gd name="T17" fmla="*/ 2 h 371"/>
                  <a:gd name="T18" fmla="*/ 47 w 111"/>
                  <a:gd name="T19" fmla="*/ 0 h 371"/>
                  <a:gd name="T20" fmla="*/ 57 w 111"/>
                  <a:gd name="T21" fmla="*/ 0 h 371"/>
                  <a:gd name="T22" fmla="*/ 66 w 111"/>
                  <a:gd name="T23" fmla="*/ 0 h 371"/>
                  <a:gd name="T24" fmla="*/ 73 w 111"/>
                  <a:gd name="T25" fmla="*/ 2 h 371"/>
                  <a:gd name="T26" fmla="*/ 80 w 111"/>
                  <a:gd name="T27" fmla="*/ 4 h 371"/>
                  <a:gd name="T28" fmla="*/ 87 w 111"/>
                  <a:gd name="T29" fmla="*/ 9 h 371"/>
                  <a:gd name="T30" fmla="*/ 95 w 111"/>
                  <a:gd name="T31" fmla="*/ 14 h 371"/>
                  <a:gd name="T32" fmla="*/ 99 w 111"/>
                  <a:gd name="T33" fmla="*/ 21 h 371"/>
                  <a:gd name="T34" fmla="*/ 104 w 111"/>
                  <a:gd name="T35" fmla="*/ 28 h 371"/>
                  <a:gd name="T36" fmla="*/ 109 w 111"/>
                  <a:gd name="T37" fmla="*/ 35 h 371"/>
                  <a:gd name="T38" fmla="*/ 111 w 111"/>
                  <a:gd name="T39" fmla="*/ 45 h 371"/>
                  <a:gd name="T40" fmla="*/ 111 w 111"/>
                  <a:gd name="T41" fmla="*/ 54 h 371"/>
                  <a:gd name="T42" fmla="*/ 111 w 111"/>
                  <a:gd name="T43" fmla="*/ 315 h 371"/>
                  <a:gd name="T44" fmla="*/ 111 w 111"/>
                  <a:gd name="T45" fmla="*/ 324 h 371"/>
                  <a:gd name="T46" fmla="*/ 109 w 111"/>
                  <a:gd name="T47" fmla="*/ 333 h 371"/>
                  <a:gd name="T48" fmla="*/ 104 w 111"/>
                  <a:gd name="T49" fmla="*/ 341 h 371"/>
                  <a:gd name="T50" fmla="*/ 99 w 111"/>
                  <a:gd name="T51" fmla="*/ 348 h 371"/>
                  <a:gd name="T52" fmla="*/ 95 w 111"/>
                  <a:gd name="T53" fmla="*/ 355 h 371"/>
                  <a:gd name="T54" fmla="*/ 87 w 111"/>
                  <a:gd name="T55" fmla="*/ 360 h 371"/>
                  <a:gd name="T56" fmla="*/ 80 w 111"/>
                  <a:gd name="T57" fmla="*/ 364 h 371"/>
                  <a:gd name="T58" fmla="*/ 73 w 111"/>
                  <a:gd name="T59" fmla="*/ 367 h 371"/>
                  <a:gd name="T60" fmla="*/ 66 w 111"/>
                  <a:gd name="T61" fmla="*/ 369 h 371"/>
                  <a:gd name="T62" fmla="*/ 57 w 111"/>
                  <a:gd name="T63" fmla="*/ 371 h 371"/>
                  <a:gd name="T64" fmla="*/ 47 w 111"/>
                  <a:gd name="T65" fmla="*/ 369 h 371"/>
                  <a:gd name="T66" fmla="*/ 40 w 111"/>
                  <a:gd name="T67" fmla="*/ 367 h 371"/>
                  <a:gd name="T68" fmla="*/ 31 w 111"/>
                  <a:gd name="T69" fmla="*/ 364 h 371"/>
                  <a:gd name="T70" fmla="*/ 24 w 111"/>
                  <a:gd name="T71" fmla="*/ 360 h 371"/>
                  <a:gd name="T72" fmla="*/ 19 w 111"/>
                  <a:gd name="T73" fmla="*/ 355 h 371"/>
                  <a:gd name="T74" fmla="*/ 12 w 111"/>
                  <a:gd name="T75" fmla="*/ 348 h 371"/>
                  <a:gd name="T76" fmla="*/ 7 w 111"/>
                  <a:gd name="T77" fmla="*/ 341 h 371"/>
                  <a:gd name="T78" fmla="*/ 5 w 111"/>
                  <a:gd name="T79" fmla="*/ 333 h 371"/>
                  <a:gd name="T80" fmla="*/ 2 w 111"/>
                  <a:gd name="T81" fmla="*/ 324 h 371"/>
                  <a:gd name="T82" fmla="*/ 2 w 111"/>
                  <a:gd name="T83" fmla="*/ 315 h 371"/>
                  <a:gd name="T84" fmla="*/ 2 w 111"/>
                  <a:gd name="T85" fmla="*/ 54 h 371"/>
                  <a:gd name="T86" fmla="*/ 2 w 111"/>
                  <a:gd name="T87" fmla="*/ 54 h 371"/>
                  <a:gd name="T88" fmla="*/ 0 w 111"/>
                  <a:gd name="T89" fmla="*/ 52 h 371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11"/>
                  <a:gd name="T136" fmla="*/ 0 h 371"/>
                  <a:gd name="T137" fmla="*/ 111 w 111"/>
                  <a:gd name="T138" fmla="*/ 371 h 371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11" h="371">
                    <a:moveTo>
                      <a:pt x="0" y="52"/>
                    </a:moveTo>
                    <a:lnTo>
                      <a:pt x="2" y="45"/>
                    </a:lnTo>
                    <a:lnTo>
                      <a:pt x="5" y="35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9" y="14"/>
                    </a:lnTo>
                    <a:lnTo>
                      <a:pt x="24" y="9"/>
                    </a:lnTo>
                    <a:lnTo>
                      <a:pt x="31" y="4"/>
                    </a:lnTo>
                    <a:lnTo>
                      <a:pt x="40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6" y="0"/>
                    </a:lnTo>
                    <a:lnTo>
                      <a:pt x="73" y="2"/>
                    </a:lnTo>
                    <a:lnTo>
                      <a:pt x="80" y="4"/>
                    </a:lnTo>
                    <a:lnTo>
                      <a:pt x="87" y="9"/>
                    </a:lnTo>
                    <a:lnTo>
                      <a:pt x="95" y="14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9" y="35"/>
                    </a:lnTo>
                    <a:lnTo>
                      <a:pt x="111" y="45"/>
                    </a:lnTo>
                    <a:lnTo>
                      <a:pt x="111" y="54"/>
                    </a:lnTo>
                    <a:lnTo>
                      <a:pt x="111" y="315"/>
                    </a:lnTo>
                    <a:lnTo>
                      <a:pt x="111" y="324"/>
                    </a:lnTo>
                    <a:lnTo>
                      <a:pt x="109" y="333"/>
                    </a:lnTo>
                    <a:lnTo>
                      <a:pt x="104" y="341"/>
                    </a:lnTo>
                    <a:lnTo>
                      <a:pt x="99" y="348"/>
                    </a:lnTo>
                    <a:lnTo>
                      <a:pt x="95" y="355"/>
                    </a:lnTo>
                    <a:lnTo>
                      <a:pt x="87" y="360"/>
                    </a:lnTo>
                    <a:lnTo>
                      <a:pt x="80" y="364"/>
                    </a:lnTo>
                    <a:lnTo>
                      <a:pt x="73" y="367"/>
                    </a:lnTo>
                    <a:lnTo>
                      <a:pt x="66" y="369"/>
                    </a:lnTo>
                    <a:lnTo>
                      <a:pt x="57" y="371"/>
                    </a:lnTo>
                    <a:lnTo>
                      <a:pt x="47" y="369"/>
                    </a:lnTo>
                    <a:lnTo>
                      <a:pt x="40" y="367"/>
                    </a:lnTo>
                    <a:lnTo>
                      <a:pt x="31" y="364"/>
                    </a:lnTo>
                    <a:lnTo>
                      <a:pt x="24" y="360"/>
                    </a:lnTo>
                    <a:lnTo>
                      <a:pt x="19" y="355"/>
                    </a:lnTo>
                    <a:lnTo>
                      <a:pt x="12" y="348"/>
                    </a:lnTo>
                    <a:lnTo>
                      <a:pt x="7" y="341"/>
                    </a:lnTo>
                    <a:lnTo>
                      <a:pt x="5" y="333"/>
                    </a:lnTo>
                    <a:lnTo>
                      <a:pt x="2" y="324"/>
                    </a:lnTo>
                    <a:lnTo>
                      <a:pt x="2" y="315"/>
                    </a:lnTo>
                    <a:lnTo>
                      <a:pt x="2" y="54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42" name="Freeform 284"/>
              <p:cNvSpPr>
                <a:spLocks noChangeArrowheads="1"/>
              </p:cNvSpPr>
              <p:nvPr/>
            </p:nvSpPr>
            <p:spPr bwMode="auto">
              <a:xfrm>
                <a:off x="5168" y="2422"/>
                <a:ext cx="111" cy="371"/>
              </a:xfrm>
              <a:custGeom>
                <a:avLst/>
                <a:gdLst>
                  <a:gd name="T0" fmla="*/ 0 w 111"/>
                  <a:gd name="T1" fmla="*/ 52 h 371"/>
                  <a:gd name="T2" fmla="*/ 2 w 111"/>
                  <a:gd name="T3" fmla="*/ 45 h 371"/>
                  <a:gd name="T4" fmla="*/ 5 w 111"/>
                  <a:gd name="T5" fmla="*/ 35 h 371"/>
                  <a:gd name="T6" fmla="*/ 7 w 111"/>
                  <a:gd name="T7" fmla="*/ 28 h 371"/>
                  <a:gd name="T8" fmla="*/ 12 w 111"/>
                  <a:gd name="T9" fmla="*/ 21 h 371"/>
                  <a:gd name="T10" fmla="*/ 19 w 111"/>
                  <a:gd name="T11" fmla="*/ 14 h 371"/>
                  <a:gd name="T12" fmla="*/ 24 w 111"/>
                  <a:gd name="T13" fmla="*/ 9 h 371"/>
                  <a:gd name="T14" fmla="*/ 31 w 111"/>
                  <a:gd name="T15" fmla="*/ 4 h 371"/>
                  <a:gd name="T16" fmla="*/ 40 w 111"/>
                  <a:gd name="T17" fmla="*/ 2 h 371"/>
                  <a:gd name="T18" fmla="*/ 47 w 111"/>
                  <a:gd name="T19" fmla="*/ 0 h 371"/>
                  <a:gd name="T20" fmla="*/ 57 w 111"/>
                  <a:gd name="T21" fmla="*/ 0 h 371"/>
                  <a:gd name="T22" fmla="*/ 66 w 111"/>
                  <a:gd name="T23" fmla="*/ 0 h 371"/>
                  <a:gd name="T24" fmla="*/ 73 w 111"/>
                  <a:gd name="T25" fmla="*/ 2 h 371"/>
                  <a:gd name="T26" fmla="*/ 80 w 111"/>
                  <a:gd name="T27" fmla="*/ 4 h 371"/>
                  <a:gd name="T28" fmla="*/ 87 w 111"/>
                  <a:gd name="T29" fmla="*/ 9 h 371"/>
                  <a:gd name="T30" fmla="*/ 95 w 111"/>
                  <a:gd name="T31" fmla="*/ 14 h 371"/>
                  <a:gd name="T32" fmla="*/ 99 w 111"/>
                  <a:gd name="T33" fmla="*/ 21 h 371"/>
                  <a:gd name="T34" fmla="*/ 104 w 111"/>
                  <a:gd name="T35" fmla="*/ 28 h 371"/>
                  <a:gd name="T36" fmla="*/ 109 w 111"/>
                  <a:gd name="T37" fmla="*/ 35 h 371"/>
                  <a:gd name="T38" fmla="*/ 111 w 111"/>
                  <a:gd name="T39" fmla="*/ 45 h 371"/>
                  <a:gd name="T40" fmla="*/ 111 w 111"/>
                  <a:gd name="T41" fmla="*/ 54 h 371"/>
                  <a:gd name="T42" fmla="*/ 111 w 111"/>
                  <a:gd name="T43" fmla="*/ 315 h 371"/>
                  <a:gd name="T44" fmla="*/ 111 w 111"/>
                  <a:gd name="T45" fmla="*/ 324 h 371"/>
                  <a:gd name="T46" fmla="*/ 109 w 111"/>
                  <a:gd name="T47" fmla="*/ 333 h 371"/>
                  <a:gd name="T48" fmla="*/ 104 w 111"/>
                  <a:gd name="T49" fmla="*/ 341 h 371"/>
                  <a:gd name="T50" fmla="*/ 99 w 111"/>
                  <a:gd name="T51" fmla="*/ 348 h 371"/>
                  <a:gd name="T52" fmla="*/ 95 w 111"/>
                  <a:gd name="T53" fmla="*/ 355 h 371"/>
                  <a:gd name="T54" fmla="*/ 87 w 111"/>
                  <a:gd name="T55" fmla="*/ 360 h 371"/>
                  <a:gd name="T56" fmla="*/ 80 w 111"/>
                  <a:gd name="T57" fmla="*/ 364 h 371"/>
                  <a:gd name="T58" fmla="*/ 73 w 111"/>
                  <a:gd name="T59" fmla="*/ 367 h 371"/>
                  <a:gd name="T60" fmla="*/ 66 w 111"/>
                  <a:gd name="T61" fmla="*/ 369 h 371"/>
                  <a:gd name="T62" fmla="*/ 57 w 111"/>
                  <a:gd name="T63" fmla="*/ 371 h 371"/>
                  <a:gd name="T64" fmla="*/ 47 w 111"/>
                  <a:gd name="T65" fmla="*/ 369 h 371"/>
                  <a:gd name="T66" fmla="*/ 40 w 111"/>
                  <a:gd name="T67" fmla="*/ 367 h 371"/>
                  <a:gd name="T68" fmla="*/ 31 w 111"/>
                  <a:gd name="T69" fmla="*/ 364 h 371"/>
                  <a:gd name="T70" fmla="*/ 24 w 111"/>
                  <a:gd name="T71" fmla="*/ 360 h 371"/>
                  <a:gd name="T72" fmla="*/ 19 w 111"/>
                  <a:gd name="T73" fmla="*/ 355 h 371"/>
                  <a:gd name="T74" fmla="*/ 12 w 111"/>
                  <a:gd name="T75" fmla="*/ 348 h 371"/>
                  <a:gd name="T76" fmla="*/ 7 w 111"/>
                  <a:gd name="T77" fmla="*/ 341 h 371"/>
                  <a:gd name="T78" fmla="*/ 5 w 111"/>
                  <a:gd name="T79" fmla="*/ 333 h 371"/>
                  <a:gd name="T80" fmla="*/ 2 w 111"/>
                  <a:gd name="T81" fmla="*/ 324 h 371"/>
                  <a:gd name="T82" fmla="*/ 2 w 111"/>
                  <a:gd name="T83" fmla="*/ 315 h 371"/>
                  <a:gd name="T84" fmla="*/ 2 w 111"/>
                  <a:gd name="T85" fmla="*/ 54 h 371"/>
                  <a:gd name="T86" fmla="*/ 2 w 111"/>
                  <a:gd name="T87" fmla="*/ 54 h 371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11"/>
                  <a:gd name="T133" fmla="*/ 0 h 371"/>
                  <a:gd name="T134" fmla="*/ 111 w 111"/>
                  <a:gd name="T135" fmla="*/ 371 h 371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11" h="371">
                    <a:moveTo>
                      <a:pt x="0" y="52"/>
                    </a:moveTo>
                    <a:lnTo>
                      <a:pt x="2" y="45"/>
                    </a:lnTo>
                    <a:lnTo>
                      <a:pt x="5" y="35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9" y="14"/>
                    </a:lnTo>
                    <a:lnTo>
                      <a:pt x="24" y="9"/>
                    </a:lnTo>
                    <a:lnTo>
                      <a:pt x="31" y="4"/>
                    </a:lnTo>
                    <a:lnTo>
                      <a:pt x="40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6" y="0"/>
                    </a:lnTo>
                    <a:lnTo>
                      <a:pt x="73" y="2"/>
                    </a:lnTo>
                    <a:lnTo>
                      <a:pt x="80" y="4"/>
                    </a:lnTo>
                    <a:lnTo>
                      <a:pt x="87" y="9"/>
                    </a:lnTo>
                    <a:lnTo>
                      <a:pt x="95" y="14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9" y="35"/>
                    </a:lnTo>
                    <a:lnTo>
                      <a:pt x="111" y="45"/>
                    </a:lnTo>
                    <a:lnTo>
                      <a:pt x="111" y="54"/>
                    </a:lnTo>
                    <a:lnTo>
                      <a:pt x="111" y="315"/>
                    </a:lnTo>
                    <a:lnTo>
                      <a:pt x="111" y="324"/>
                    </a:lnTo>
                    <a:lnTo>
                      <a:pt x="109" y="333"/>
                    </a:lnTo>
                    <a:lnTo>
                      <a:pt x="104" y="341"/>
                    </a:lnTo>
                    <a:lnTo>
                      <a:pt x="99" y="348"/>
                    </a:lnTo>
                    <a:lnTo>
                      <a:pt x="95" y="355"/>
                    </a:lnTo>
                    <a:lnTo>
                      <a:pt x="87" y="360"/>
                    </a:lnTo>
                    <a:lnTo>
                      <a:pt x="80" y="364"/>
                    </a:lnTo>
                    <a:lnTo>
                      <a:pt x="73" y="367"/>
                    </a:lnTo>
                    <a:lnTo>
                      <a:pt x="66" y="369"/>
                    </a:lnTo>
                    <a:lnTo>
                      <a:pt x="57" y="371"/>
                    </a:lnTo>
                    <a:lnTo>
                      <a:pt x="47" y="369"/>
                    </a:lnTo>
                    <a:lnTo>
                      <a:pt x="40" y="367"/>
                    </a:lnTo>
                    <a:lnTo>
                      <a:pt x="31" y="364"/>
                    </a:lnTo>
                    <a:lnTo>
                      <a:pt x="24" y="360"/>
                    </a:lnTo>
                    <a:lnTo>
                      <a:pt x="19" y="355"/>
                    </a:lnTo>
                    <a:lnTo>
                      <a:pt x="12" y="348"/>
                    </a:lnTo>
                    <a:lnTo>
                      <a:pt x="7" y="341"/>
                    </a:lnTo>
                    <a:lnTo>
                      <a:pt x="5" y="333"/>
                    </a:lnTo>
                    <a:lnTo>
                      <a:pt x="2" y="324"/>
                    </a:lnTo>
                    <a:lnTo>
                      <a:pt x="2" y="315"/>
                    </a:lnTo>
                    <a:lnTo>
                      <a:pt x="2" y="54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43" name="Rectangle 285"/>
              <p:cNvSpPr>
                <a:spLocks noChangeArrowheads="1"/>
              </p:cNvSpPr>
              <p:nvPr/>
            </p:nvSpPr>
            <p:spPr bwMode="auto">
              <a:xfrm>
                <a:off x="5192" y="270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0</a:t>
                </a:r>
              </a:p>
            </p:txBody>
          </p:sp>
          <p:sp>
            <p:nvSpPr>
              <p:cNvPr id="80344" name="Freeform 286"/>
              <p:cNvSpPr>
                <a:spLocks noChangeArrowheads="1"/>
              </p:cNvSpPr>
              <p:nvPr/>
            </p:nvSpPr>
            <p:spPr bwMode="auto">
              <a:xfrm>
                <a:off x="3534" y="2391"/>
                <a:ext cx="111" cy="369"/>
              </a:xfrm>
              <a:custGeom>
                <a:avLst/>
                <a:gdLst>
                  <a:gd name="T0" fmla="*/ 0 w 111"/>
                  <a:gd name="T1" fmla="*/ 52 h 369"/>
                  <a:gd name="T2" fmla="*/ 2 w 111"/>
                  <a:gd name="T3" fmla="*/ 45 h 369"/>
                  <a:gd name="T4" fmla="*/ 5 w 111"/>
                  <a:gd name="T5" fmla="*/ 35 h 369"/>
                  <a:gd name="T6" fmla="*/ 7 w 111"/>
                  <a:gd name="T7" fmla="*/ 28 h 369"/>
                  <a:gd name="T8" fmla="*/ 12 w 111"/>
                  <a:gd name="T9" fmla="*/ 21 h 369"/>
                  <a:gd name="T10" fmla="*/ 16 w 111"/>
                  <a:gd name="T11" fmla="*/ 14 h 369"/>
                  <a:gd name="T12" fmla="*/ 24 w 111"/>
                  <a:gd name="T13" fmla="*/ 9 h 369"/>
                  <a:gd name="T14" fmla="*/ 31 w 111"/>
                  <a:gd name="T15" fmla="*/ 5 h 369"/>
                  <a:gd name="T16" fmla="*/ 38 w 111"/>
                  <a:gd name="T17" fmla="*/ 2 h 369"/>
                  <a:gd name="T18" fmla="*/ 47 w 111"/>
                  <a:gd name="T19" fmla="*/ 0 h 369"/>
                  <a:gd name="T20" fmla="*/ 57 w 111"/>
                  <a:gd name="T21" fmla="*/ 0 h 369"/>
                  <a:gd name="T22" fmla="*/ 64 w 111"/>
                  <a:gd name="T23" fmla="*/ 0 h 369"/>
                  <a:gd name="T24" fmla="*/ 73 w 111"/>
                  <a:gd name="T25" fmla="*/ 2 h 369"/>
                  <a:gd name="T26" fmla="*/ 80 w 111"/>
                  <a:gd name="T27" fmla="*/ 5 h 369"/>
                  <a:gd name="T28" fmla="*/ 88 w 111"/>
                  <a:gd name="T29" fmla="*/ 9 h 369"/>
                  <a:gd name="T30" fmla="*/ 95 w 111"/>
                  <a:gd name="T31" fmla="*/ 14 h 369"/>
                  <a:gd name="T32" fmla="*/ 99 w 111"/>
                  <a:gd name="T33" fmla="*/ 21 h 369"/>
                  <a:gd name="T34" fmla="*/ 104 w 111"/>
                  <a:gd name="T35" fmla="*/ 28 h 369"/>
                  <a:gd name="T36" fmla="*/ 106 w 111"/>
                  <a:gd name="T37" fmla="*/ 35 h 369"/>
                  <a:gd name="T38" fmla="*/ 109 w 111"/>
                  <a:gd name="T39" fmla="*/ 45 h 369"/>
                  <a:gd name="T40" fmla="*/ 111 w 111"/>
                  <a:gd name="T41" fmla="*/ 54 h 369"/>
                  <a:gd name="T42" fmla="*/ 111 w 111"/>
                  <a:gd name="T43" fmla="*/ 315 h 369"/>
                  <a:gd name="T44" fmla="*/ 109 w 111"/>
                  <a:gd name="T45" fmla="*/ 324 h 369"/>
                  <a:gd name="T46" fmla="*/ 106 w 111"/>
                  <a:gd name="T47" fmla="*/ 334 h 369"/>
                  <a:gd name="T48" fmla="*/ 104 w 111"/>
                  <a:gd name="T49" fmla="*/ 341 h 369"/>
                  <a:gd name="T50" fmla="*/ 99 w 111"/>
                  <a:gd name="T51" fmla="*/ 348 h 369"/>
                  <a:gd name="T52" fmla="*/ 95 w 111"/>
                  <a:gd name="T53" fmla="*/ 355 h 369"/>
                  <a:gd name="T54" fmla="*/ 88 w 111"/>
                  <a:gd name="T55" fmla="*/ 360 h 369"/>
                  <a:gd name="T56" fmla="*/ 80 w 111"/>
                  <a:gd name="T57" fmla="*/ 364 h 369"/>
                  <a:gd name="T58" fmla="*/ 73 w 111"/>
                  <a:gd name="T59" fmla="*/ 367 h 369"/>
                  <a:gd name="T60" fmla="*/ 64 w 111"/>
                  <a:gd name="T61" fmla="*/ 369 h 369"/>
                  <a:gd name="T62" fmla="*/ 57 w 111"/>
                  <a:gd name="T63" fmla="*/ 369 h 369"/>
                  <a:gd name="T64" fmla="*/ 47 w 111"/>
                  <a:gd name="T65" fmla="*/ 369 h 369"/>
                  <a:gd name="T66" fmla="*/ 38 w 111"/>
                  <a:gd name="T67" fmla="*/ 367 h 369"/>
                  <a:gd name="T68" fmla="*/ 31 w 111"/>
                  <a:gd name="T69" fmla="*/ 364 h 369"/>
                  <a:gd name="T70" fmla="*/ 24 w 111"/>
                  <a:gd name="T71" fmla="*/ 360 h 369"/>
                  <a:gd name="T72" fmla="*/ 16 w 111"/>
                  <a:gd name="T73" fmla="*/ 355 h 369"/>
                  <a:gd name="T74" fmla="*/ 12 w 111"/>
                  <a:gd name="T75" fmla="*/ 348 h 369"/>
                  <a:gd name="T76" fmla="*/ 7 w 111"/>
                  <a:gd name="T77" fmla="*/ 341 h 369"/>
                  <a:gd name="T78" fmla="*/ 5 w 111"/>
                  <a:gd name="T79" fmla="*/ 334 h 369"/>
                  <a:gd name="T80" fmla="*/ 2 w 111"/>
                  <a:gd name="T81" fmla="*/ 324 h 369"/>
                  <a:gd name="T82" fmla="*/ 2 w 111"/>
                  <a:gd name="T83" fmla="*/ 315 h 369"/>
                  <a:gd name="T84" fmla="*/ 2 w 111"/>
                  <a:gd name="T85" fmla="*/ 54 h 369"/>
                  <a:gd name="T86" fmla="*/ 2 w 111"/>
                  <a:gd name="T87" fmla="*/ 54 h 369"/>
                  <a:gd name="T88" fmla="*/ 0 w 111"/>
                  <a:gd name="T89" fmla="*/ 52 h 369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11"/>
                  <a:gd name="T136" fmla="*/ 0 h 369"/>
                  <a:gd name="T137" fmla="*/ 111 w 111"/>
                  <a:gd name="T138" fmla="*/ 369 h 369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11" h="369">
                    <a:moveTo>
                      <a:pt x="0" y="52"/>
                    </a:moveTo>
                    <a:lnTo>
                      <a:pt x="2" y="45"/>
                    </a:lnTo>
                    <a:lnTo>
                      <a:pt x="5" y="35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6" y="14"/>
                    </a:lnTo>
                    <a:lnTo>
                      <a:pt x="24" y="9"/>
                    </a:lnTo>
                    <a:lnTo>
                      <a:pt x="31" y="5"/>
                    </a:lnTo>
                    <a:lnTo>
                      <a:pt x="38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4" y="0"/>
                    </a:lnTo>
                    <a:lnTo>
                      <a:pt x="73" y="2"/>
                    </a:lnTo>
                    <a:lnTo>
                      <a:pt x="80" y="5"/>
                    </a:lnTo>
                    <a:lnTo>
                      <a:pt x="88" y="9"/>
                    </a:lnTo>
                    <a:lnTo>
                      <a:pt x="95" y="14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6" y="35"/>
                    </a:lnTo>
                    <a:lnTo>
                      <a:pt x="109" y="45"/>
                    </a:lnTo>
                    <a:lnTo>
                      <a:pt x="111" y="54"/>
                    </a:lnTo>
                    <a:lnTo>
                      <a:pt x="111" y="315"/>
                    </a:lnTo>
                    <a:lnTo>
                      <a:pt x="109" y="324"/>
                    </a:lnTo>
                    <a:lnTo>
                      <a:pt x="106" y="334"/>
                    </a:lnTo>
                    <a:lnTo>
                      <a:pt x="104" y="341"/>
                    </a:lnTo>
                    <a:lnTo>
                      <a:pt x="99" y="348"/>
                    </a:lnTo>
                    <a:lnTo>
                      <a:pt x="95" y="355"/>
                    </a:lnTo>
                    <a:lnTo>
                      <a:pt x="88" y="360"/>
                    </a:lnTo>
                    <a:lnTo>
                      <a:pt x="80" y="364"/>
                    </a:lnTo>
                    <a:lnTo>
                      <a:pt x="73" y="367"/>
                    </a:lnTo>
                    <a:lnTo>
                      <a:pt x="64" y="369"/>
                    </a:lnTo>
                    <a:lnTo>
                      <a:pt x="57" y="369"/>
                    </a:lnTo>
                    <a:lnTo>
                      <a:pt x="47" y="369"/>
                    </a:lnTo>
                    <a:lnTo>
                      <a:pt x="38" y="367"/>
                    </a:lnTo>
                    <a:lnTo>
                      <a:pt x="31" y="364"/>
                    </a:lnTo>
                    <a:lnTo>
                      <a:pt x="24" y="360"/>
                    </a:lnTo>
                    <a:lnTo>
                      <a:pt x="16" y="355"/>
                    </a:lnTo>
                    <a:lnTo>
                      <a:pt x="12" y="348"/>
                    </a:lnTo>
                    <a:lnTo>
                      <a:pt x="7" y="341"/>
                    </a:lnTo>
                    <a:lnTo>
                      <a:pt x="5" y="334"/>
                    </a:lnTo>
                    <a:lnTo>
                      <a:pt x="2" y="324"/>
                    </a:lnTo>
                    <a:lnTo>
                      <a:pt x="2" y="315"/>
                    </a:lnTo>
                    <a:lnTo>
                      <a:pt x="2" y="54"/>
                    </a:lnTo>
                    <a:lnTo>
                      <a:pt x="0" y="5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45" name="Freeform 287"/>
              <p:cNvSpPr>
                <a:spLocks noChangeArrowheads="1"/>
              </p:cNvSpPr>
              <p:nvPr/>
            </p:nvSpPr>
            <p:spPr bwMode="auto">
              <a:xfrm>
                <a:off x="3534" y="2391"/>
                <a:ext cx="111" cy="369"/>
              </a:xfrm>
              <a:custGeom>
                <a:avLst/>
                <a:gdLst>
                  <a:gd name="T0" fmla="*/ 0 w 111"/>
                  <a:gd name="T1" fmla="*/ 52 h 369"/>
                  <a:gd name="T2" fmla="*/ 2 w 111"/>
                  <a:gd name="T3" fmla="*/ 45 h 369"/>
                  <a:gd name="T4" fmla="*/ 5 w 111"/>
                  <a:gd name="T5" fmla="*/ 35 h 369"/>
                  <a:gd name="T6" fmla="*/ 7 w 111"/>
                  <a:gd name="T7" fmla="*/ 28 h 369"/>
                  <a:gd name="T8" fmla="*/ 12 w 111"/>
                  <a:gd name="T9" fmla="*/ 21 h 369"/>
                  <a:gd name="T10" fmla="*/ 16 w 111"/>
                  <a:gd name="T11" fmla="*/ 14 h 369"/>
                  <a:gd name="T12" fmla="*/ 24 w 111"/>
                  <a:gd name="T13" fmla="*/ 9 h 369"/>
                  <a:gd name="T14" fmla="*/ 31 w 111"/>
                  <a:gd name="T15" fmla="*/ 5 h 369"/>
                  <a:gd name="T16" fmla="*/ 38 w 111"/>
                  <a:gd name="T17" fmla="*/ 2 h 369"/>
                  <a:gd name="T18" fmla="*/ 47 w 111"/>
                  <a:gd name="T19" fmla="*/ 0 h 369"/>
                  <a:gd name="T20" fmla="*/ 57 w 111"/>
                  <a:gd name="T21" fmla="*/ 0 h 369"/>
                  <a:gd name="T22" fmla="*/ 64 w 111"/>
                  <a:gd name="T23" fmla="*/ 0 h 369"/>
                  <a:gd name="T24" fmla="*/ 73 w 111"/>
                  <a:gd name="T25" fmla="*/ 2 h 369"/>
                  <a:gd name="T26" fmla="*/ 80 w 111"/>
                  <a:gd name="T27" fmla="*/ 5 h 369"/>
                  <a:gd name="T28" fmla="*/ 88 w 111"/>
                  <a:gd name="T29" fmla="*/ 9 h 369"/>
                  <a:gd name="T30" fmla="*/ 95 w 111"/>
                  <a:gd name="T31" fmla="*/ 14 h 369"/>
                  <a:gd name="T32" fmla="*/ 99 w 111"/>
                  <a:gd name="T33" fmla="*/ 21 h 369"/>
                  <a:gd name="T34" fmla="*/ 104 w 111"/>
                  <a:gd name="T35" fmla="*/ 28 h 369"/>
                  <a:gd name="T36" fmla="*/ 106 w 111"/>
                  <a:gd name="T37" fmla="*/ 35 h 369"/>
                  <a:gd name="T38" fmla="*/ 109 w 111"/>
                  <a:gd name="T39" fmla="*/ 45 h 369"/>
                  <a:gd name="T40" fmla="*/ 111 w 111"/>
                  <a:gd name="T41" fmla="*/ 54 h 369"/>
                  <a:gd name="T42" fmla="*/ 111 w 111"/>
                  <a:gd name="T43" fmla="*/ 315 h 369"/>
                  <a:gd name="T44" fmla="*/ 109 w 111"/>
                  <a:gd name="T45" fmla="*/ 324 h 369"/>
                  <a:gd name="T46" fmla="*/ 106 w 111"/>
                  <a:gd name="T47" fmla="*/ 334 h 369"/>
                  <a:gd name="T48" fmla="*/ 104 w 111"/>
                  <a:gd name="T49" fmla="*/ 341 h 369"/>
                  <a:gd name="T50" fmla="*/ 99 w 111"/>
                  <a:gd name="T51" fmla="*/ 348 h 369"/>
                  <a:gd name="T52" fmla="*/ 95 w 111"/>
                  <a:gd name="T53" fmla="*/ 355 h 369"/>
                  <a:gd name="T54" fmla="*/ 88 w 111"/>
                  <a:gd name="T55" fmla="*/ 360 h 369"/>
                  <a:gd name="T56" fmla="*/ 80 w 111"/>
                  <a:gd name="T57" fmla="*/ 364 h 369"/>
                  <a:gd name="T58" fmla="*/ 73 w 111"/>
                  <a:gd name="T59" fmla="*/ 367 h 369"/>
                  <a:gd name="T60" fmla="*/ 64 w 111"/>
                  <a:gd name="T61" fmla="*/ 369 h 369"/>
                  <a:gd name="T62" fmla="*/ 57 w 111"/>
                  <a:gd name="T63" fmla="*/ 369 h 369"/>
                  <a:gd name="T64" fmla="*/ 47 w 111"/>
                  <a:gd name="T65" fmla="*/ 369 h 369"/>
                  <a:gd name="T66" fmla="*/ 38 w 111"/>
                  <a:gd name="T67" fmla="*/ 367 h 369"/>
                  <a:gd name="T68" fmla="*/ 31 w 111"/>
                  <a:gd name="T69" fmla="*/ 364 h 369"/>
                  <a:gd name="T70" fmla="*/ 24 w 111"/>
                  <a:gd name="T71" fmla="*/ 360 h 369"/>
                  <a:gd name="T72" fmla="*/ 16 w 111"/>
                  <a:gd name="T73" fmla="*/ 355 h 369"/>
                  <a:gd name="T74" fmla="*/ 12 w 111"/>
                  <a:gd name="T75" fmla="*/ 348 h 369"/>
                  <a:gd name="T76" fmla="*/ 7 w 111"/>
                  <a:gd name="T77" fmla="*/ 341 h 369"/>
                  <a:gd name="T78" fmla="*/ 5 w 111"/>
                  <a:gd name="T79" fmla="*/ 334 h 369"/>
                  <a:gd name="T80" fmla="*/ 2 w 111"/>
                  <a:gd name="T81" fmla="*/ 324 h 369"/>
                  <a:gd name="T82" fmla="*/ 2 w 111"/>
                  <a:gd name="T83" fmla="*/ 315 h 369"/>
                  <a:gd name="T84" fmla="*/ 2 w 111"/>
                  <a:gd name="T85" fmla="*/ 54 h 369"/>
                  <a:gd name="T86" fmla="*/ 2 w 111"/>
                  <a:gd name="T87" fmla="*/ 54 h 36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11"/>
                  <a:gd name="T133" fmla="*/ 0 h 369"/>
                  <a:gd name="T134" fmla="*/ 111 w 111"/>
                  <a:gd name="T135" fmla="*/ 369 h 36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11" h="369">
                    <a:moveTo>
                      <a:pt x="0" y="52"/>
                    </a:moveTo>
                    <a:lnTo>
                      <a:pt x="2" y="45"/>
                    </a:lnTo>
                    <a:lnTo>
                      <a:pt x="5" y="35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6" y="14"/>
                    </a:lnTo>
                    <a:lnTo>
                      <a:pt x="24" y="9"/>
                    </a:lnTo>
                    <a:lnTo>
                      <a:pt x="31" y="5"/>
                    </a:lnTo>
                    <a:lnTo>
                      <a:pt x="38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4" y="0"/>
                    </a:lnTo>
                    <a:lnTo>
                      <a:pt x="73" y="2"/>
                    </a:lnTo>
                    <a:lnTo>
                      <a:pt x="80" y="5"/>
                    </a:lnTo>
                    <a:lnTo>
                      <a:pt x="88" y="9"/>
                    </a:lnTo>
                    <a:lnTo>
                      <a:pt x="95" y="14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6" y="35"/>
                    </a:lnTo>
                    <a:lnTo>
                      <a:pt x="109" y="45"/>
                    </a:lnTo>
                    <a:lnTo>
                      <a:pt x="111" y="54"/>
                    </a:lnTo>
                    <a:lnTo>
                      <a:pt x="111" y="315"/>
                    </a:lnTo>
                    <a:lnTo>
                      <a:pt x="109" y="324"/>
                    </a:lnTo>
                    <a:lnTo>
                      <a:pt x="106" y="334"/>
                    </a:lnTo>
                    <a:lnTo>
                      <a:pt x="104" y="341"/>
                    </a:lnTo>
                    <a:lnTo>
                      <a:pt x="99" y="348"/>
                    </a:lnTo>
                    <a:lnTo>
                      <a:pt x="95" y="355"/>
                    </a:lnTo>
                    <a:lnTo>
                      <a:pt x="88" y="360"/>
                    </a:lnTo>
                    <a:lnTo>
                      <a:pt x="80" y="364"/>
                    </a:lnTo>
                    <a:lnTo>
                      <a:pt x="73" y="367"/>
                    </a:lnTo>
                    <a:lnTo>
                      <a:pt x="64" y="369"/>
                    </a:lnTo>
                    <a:lnTo>
                      <a:pt x="57" y="369"/>
                    </a:lnTo>
                    <a:lnTo>
                      <a:pt x="47" y="369"/>
                    </a:lnTo>
                    <a:lnTo>
                      <a:pt x="38" y="367"/>
                    </a:lnTo>
                    <a:lnTo>
                      <a:pt x="31" y="364"/>
                    </a:lnTo>
                    <a:lnTo>
                      <a:pt x="24" y="360"/>
                    </a:lnTo>
                    <a:lnTo>
                      <a:pt x="16" y="355"/>
                    </a:lnTo>
                    <a:lnTo>
                      <a:pt x="12" y="348"/>
                    </a:lnTo>
                    <a:lnTo>
                      <a:pt x="7" y="341"/>
                    </a:lnTo>
                    <a:lnTo>
                      <a:pt x="5" y="334"/>
                    </a:lnTo>
                    <a:lnTo>
                      <a:pt x="2" y="324"/>
                    </a:lnTo>
                    <a:lnTo>
                      <a:pt x="2" y="315"/>
                    </a:lnTo>
                    <a:lnTo>
                      <a:pt x="2" y="54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46" name="Rectangle 288"/>
              <p:cNvSpPr>
                <a:spLocks noChangeArrowheads="1"/>
              </p:cNvSpPr>
              <p:nvPr/>
            </p:nvSpPr>
            <p:spPr bwMode="auto">
              <a:xfrm>
                <a:off x="3555" y="2410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0</a:t>
                </a:r>
              </a:p>
            </p:txBody>
          </p:sp>
          <p:sp>
            <p:nvSpPr>
              <p:cNvPr id="80347" name="Freeform 289"/>
              <p:cNvSpPr>
                <a:spLocks noChangeArrowheads="1"/>
              </p:cNvSpPr>
              <p:nvPr/>
            </p:nvSpPr>
            <p:spPr bwMode="auto">
              <a:xfrm>
                <a:off x="2241" y="2346"/>
                <a:ext cx="111" cy="372"/>
              </a:xfrm>
              <a:custGeom>
                <a:avLst/>
                <a:gdLst>
                  <a:gd name="T0" fmla="*/ 0 w 111"/>
                  <a:gd name="T1" fmla="*/ 54 h 372"/>
                  <a:gd name="T2" fmla="*/ 2 w 111"/>
                  <a:gd name="T3" fmla="*/ 45 h 372"/>
                  <a:gd name="T4" fmla="*/ 5 w 111"/>
                  <a:gd name="T5" fmla="*/ 38 h 372"/>
                  <a:gd name="T6" fmla="*/ 7 w 111"/>
                  <a:gd name="T7" fmla="*/ 28 h 372"/>
                  <a:gd name="T8" fmla="*/ 12 w 111"/>
                  <a:gd name="T9" fmla="*/ 21 h 372"/>
                  <a:gd name="T10" fmla="*/ 16 w 111"/>
                  <a:gd name="T11" fmla="*/ 16 h 372"/>
                  <a:gd name="T12" fmla="*/ 24 w 111"/>
                  <a:gd name="T13" fmla="*/ 9 h 372"/>
                  <a:gd name="T14" fmla="*/ 31 w 111"/>
                  <a:gd name="T15" fmla="*/ 7 h 372"/>
                  <a:gd name="T16" fmla="*/ 38 w 111"/>
                  <a:gd name="T17" fmla="*/ 2 h 372"/>
                  <a:gd name="T18" fmla="*/ 47 w 111"/>
                  <a:gd name="T19" fmla="*/ 0 h 372"/>
                  <a:gd name="T20" fmla="*/ 57 w 111"/>
                  <a:gd name="T21" fmla="*/ 0 h 372"/>
                  <a:gd name="T22" fmla="*/ 64 w 111"/>
                  <a:gd name="T23" fmla="*/ 0 h 372"/>
                  <a:gd name="T24" fmla="*/ 73 w 111"/>
                  <a:gd name="T25" fmla="*/ 2 h 372"/>
                  <a:gd name="T26" fmla="*/ 80 w 111"/>
                  <a:gd name="T27" fmla="*/ 7 h 372"/>
                  <a:gd name="T28" fmla="*/ 88 w 111"/>
                  <a:gd name="T29" fmla="*/ 9 h 372"/>
                  <a:gd name="T30" fmla="*/ 95 w 111"/>
                  <a:gd name="T31" fmla="*/ 16 h 372"/>
                  <a:gd name="T32" fmla="*/ 99 w 111"/>
                  <a:gd name="T33" fmla="*/ 21 h 372"/>
                  <a:gd name="T34" fmla="*/ 104 w 111"/>
                  <a:gd name="T35" fmla="*/ 28 h 372"/>
                  <a:gd name="T36" fmla="*/ 109 w 111"/>
                  <a:gd name="T37" fmla="*/ 38 h 372"/>
                  <a:gd name="T38" fmla="*/ 109 w 111"/>
                  <a:gd name="T39" fmla="*/ 45 h 372"/>
                  <a:gd name="T40" fmla="*/ 111 w 111"/>
                  <a:gd name="T41" fmla="*/ 54 h 372"/>
                  <a:gd name="T42" fmla="*/ 111 w 111"/>
                  <a:gd name="T43" fmla="*/ 317 h 372"/>
                  <a:gd name="T44" fmla="*/ 109 w 111"/>
                  <a:gd name="T45" fmla="*/ 327 h 372"/>
                  <a:gd name="T46" fmla="*/ 109 w 111"/>
                  <a:gd name="T47" fmla="*/ 334 h 372"/>
                  <a:gd name="T48" fmla="*/ 104 w 111"/>
                  <a:gd name="T49" fmla="*/ 341 h 372"/>
                  <a:gd name="T50" fmla="*/ 99 w 111"/>
                  <a:gd name="T51" fmla="*/ 348 h 372"/>
                  <a:gd name="T52" fmla="*/ 95 w 111"/>
                  <a:gd name="T53" fmla="*/ 355 h 372"/>
                  <a:gd name="T54" fmla="*/ 88 w 111"/>
                  <a:gd name="T55" fmla="*/ 360 h 372"/>
                  <a:gd name="T56" fmla="*/ 80 w 111"/>
                  <a:gd name="T57" fmla="*/ 364 h 372"/>
                  <a:gd name="T58" fmla="*/ 73 w 111"/>
                  <a:gd name="T59" fmla="*/ 369 h 372"/>
                  <a:gd name="T60" fmla="*/ 64 w 111"/>
                  <a:gd name="T61" fmla="*/ 372 h 372"/>
                  <a:gd name="T62" fmla="*/ 57 w 111"/>
                  <a:gd name="T63" fmla="*/ 372 h 372"/>
                  <a:gd name="T64" fmla="*/ 47 w 111"/>
                  <a:gd name="T65" fmla="*/ 372 h 372"/>
                  <a:gd name="T66" fmla="*/ 38 w 111"/>
                  <a:gd name="T67" fmla="*/ 369 h 372"/>
                  <a:gd name="T68" fmla="*/ 31 w 111"/>
                  <a:gd name="T69" fmla="*/ 364 h 372"/>
                  <a:gd name="T70" fmla="*/ 24 w 111"/>
                  <a:gd name="T71" fmla="*/ 360 h 372"/>
                  <a:gd name="T72" fmla="*/ 16 w 111"/>
                  <a:gd name="T73" fmla="*/ 355 h 372"/>
                  <a:gd name="T74" fmla="*/ 12 w 111"/>
                  <a:gd name="T75" fmla="*/ 348 h 372"/>
                  <a:gd name="T76" fmla="*/ 7 w 111"/>
                  <a:gd name="T77" fmla="*/ 341 h 372"/>
                  <a:gd name="T78" fmla="*/ 5 w 111"/>
                  <a:gd name="T79" fmla="*/ 334 h 372"/>
                  <a:gd name="T80" fmla="*/ 2 w 111"/>
                  <a:gd name="T81" fmla="*/ 327 h 372"/>
                  <a:gd name="T82" fmla="*/ 2 w 111"/>
                  <a:gd name="T83" fmla="*/ 317 h 372"/>
                  <a:gd name="T84" fmla="*/ 2 w 111"/>
                  <a:gd name="T85" fmla="*/ 54 h 372"/>
                  <a:gd name="T86" fmla="*/ 2 w 111"/>
                  <a:gd name="T87" fmla="*/ 54 h 372"/>
                  <a:gd name="T88" fmla="*/ 0 w 111"/>
                  <a:gd name="T89" fmla="*/ 54 h 372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11"/>
                  <a:gd name="T136" fmla="*/ 0 h 372"/>
                  <a:gd name="T137" fmla="*/ 111 w 111"/>
                  <a:gd name="T138" fmla="*/ 372 h 372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11" h="372">
                    <a:moveTo>
                      <a:pt x="0" y="54"/>
                    </a:moveTo>
                    <a:lnTo>
                      <a:pt x="2" y="45"/>
                    </a:lnTo>
                    <a:lnTo>
                      <a:pt x="5" y="38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6" y="16"/>
                    </a:lnTo>
                    <a:lnTo>
                      <a:pt x="24" y="9"/>
                    </a:lnTo>
                    <a:lnTo>
                      <a:pt x="31" y="7"/>
                    </a:lnTo>
                    <a:lnTo>
                      <a:pt x="38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4" y="0"/>
                    </a:lnTo>
                    <a:lnTo>
                      <a:pt x="73" y="2"/>
                    </a:lnTo>
                    <a:lnTo>
                      <a:pt x="80" y="7"/>
                    </a:lnTo>
                    <a:lnTo>
                      <a:pt x="88" y="9"/>
                    </a:lnTo>
                    <a:lnTo>
                      <a:pt x="95" y="16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9" y="38"/>
                    </a:lnTo>
                    <a:lnTo>
                      <a:pt x="109" y="45"/>
                    </a:lnTo>
                    <a:lnTo>
                      <a:pt x="111" y="54"/>
                    </a:lnTo>
                    <a:lnTo>
                      <a:pt x="111" y="317"/>
                    </a:lnTo>
                    <a:lnTo>
                      <a:pt x="109" y="327"/>
                    </a:lnTo>
                    <a:lnTo>
                      <a:pt x="109" y="334"/>
                    </a:lnTo>
                    <a:lnTo>
                      <a:pt x="104" y="341"/>
                    </a:lnTo>
                    <a:lnTo>
                      <a:pt x="99" y="348"/>
                    </a:lnTo>
                    <a:lnTo>
                      <a:pt x="95" y="355"/>
                    </a:lnTo>
                    <a:lnTo>
                      <a:pt x="88" y="360"/>
                    </a:lnTo>
                    <a:lnTo>
                      <a:pt x="80" y="364"/>
                    </a:lnTo>
                    <a:lnTo>
                      <a:pt x="73" y="369"/>
                    </a:lnTo>
                    <a:lnTo>
                      <a:pt x="64" y="372"/>
                    </a:lnTo>
                    <a:lnTo>
                      <a:pt x="57" y="372"/>
                    </a:lnTo>
                    <a:lnTo>
                      <a:pt x="47" y="372"/>
                    </a:lnTo>
                    <a:lnTo>
                      <a:pt x="38" y="369"/>
                    </a:lnTo>
                    <a:lnTo>
                      <a:pt x="31" y="364"/>
                    </a:lnTo>
                    <a:lnTo>
                      <a:pt x="24" y="360"/>
                    </a:lnTo>
                    <a:lnTo>
                      <a:pt x="16" y="355"/>
                    </a:lnTo>
                    <a:lnTo>
                      <a:pt x="12" y="348"/>
                    </a:lnTo>
                    <a:lnTo>
                      <a:pt x="7" y="341"/>
                    </a:lnTo>
                    <a:lnTo>
                      <a:pt x="5" y="334"/>
                    </a:lnTo>
                    <a:lnTo>
                      <a:pt x="2" y="327"/>
                    </a:lnTo>
                    <a:lnTo>
                      <a:pt x="2" y="317"/>
                    </a:lnTo>
                    <a:lnTo>
                      <a:pt x="2" y="54"/>
                    </a:lnTo>
                    <a:lnTo>
                      <a:pt x="0" y="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48" name="Freeform 290"/>
              <p:cNvSpPr>
                <a:spLocks noChangeArrowheads="1"/>
              </p:cNvSpPr>
              <p:nvPr/>
            </p:nvSpPr>
            <p:spPr bwMode="auto">
              <a:xfrm>
                <a:off x="2241" y="2346"/>
                <a:ext cx="111" cy="372"/>
              </a:xfrm>
              <a:custGeom>
                <a:avLst/>
                <a:gdLst>
                  <a:gd name="T0" fmla="*/ 0 w 111"/>
                  <a:gd name="T1" fmla="*/ 54 h 372"/>
                  <a:gd name="T2" fmla="*/ 2 w 111"/>
                  <a:gd name="T3" fmla="*/ 45 h 372"/>
                  <a:gd name="T4" fmla="*/ 5 w 111"/>
                  <a:gd name="T5" fmla="*/ 38 h 372"/>
                  <a:gd name="T6" fmla="*/ 7 w 111"/>
                  <a:gd name="T7" fmla="*/ 28 h 372"/>
                  <a:gd name="T8" fmla="*/ 12 w 111"/>
                  <a:gd name="T9" fmla="*/ 21 h 372"/>
                  <a:gd name="T10" fmla="*/ 16 w 111"/>
                  <a:gd name="T11" fmla="*/ 16 h 372"/>
                  <a:gd name="T12" fmla="*/ 24 w 111"/>
                  <a:gd name="T13" fmla="*/ 9 h 372"/>
                  <a:gd name="T14" fmla="*/ 31 w 111"/>
                  <a:gd name="T15" fmla="*/ 7 h 372"/>
                  <a:gd name="T16" fmla="*/ 38 w 111"/>
                  <a:gd name="T17" fmla="*/ 2 h 372"/>
                  <a:gd name="T18" fmla="*/ 47 w 111"/>
                  <a:gd name="T19" fmla="*/ 0 h 372"/>
                  <a:gd name="T20" fmla="*/ 57 w 111"/>
                  <a:gd name="T21" fmla="*/ 0 h 372"/>
                  <a:gd name="T22" fmla="*/ 64 w 111"/>
                  <a:gd name="T23" fmla="*/ 0 h 372"/>
                  <a:gd name="T24" fmla="*/ 73 w 111"/>
                  <a:gd name="T25" fmla="*/ 2 h 372"/>
                  <a:gd name="T26" fmla="*/ 80 w 111"/>
                  <a:gd name="T27" fmla="*/ 7 h 372"/>
                  <a:gd name="T28" fmla="*/ 88 w 111"/>
                  <a:gd name="T29" fmla="*/ 9 h 372"/>
                  <a:gd name="T30" fmla="*/ 95 w 111"/>
                  <a:gd name="T31" fmla="*/ 16 h 372"/>
                  <a:gd name="T32" fmla="*/ 99 w 111"/>
                  <a:gd name="T33" fmla="*/ 21 h 372"/>
                  <a:gd name="T34" fmla="*/ 104 w 111"/>
                  <a:gd name="T35" fmla="*/ 28 h 372"/>
                  <a:gd name="T36" fmla="*/ 109 w 111"/>
                  <a:gd name="T37" fmla="*/ 38 h 372"/>
                  <a:gd name="T38" fmla="*/ 109 w 111"/>
                  <a:gd name="T39" fmla="*/ 45 h 372"/>
                  <a:gd name="T40" fmla="*/ 111 w 111"/>
                  <a:gd name="T41" fmla="*/ 54 h 372"/>
                  <a:gd name="T42" fmla="*/ 111 w 111"/>
                  <a:gd name="T43" fmla="*/ 317 h 372"/>
                  <a:gd name="T44" fmla="*/ 109 w 111"/>
                  <a:gd name="T45" fmla="*/ 327 h 372"/>
                  <a:gd name="T46" fmla="*/ 109 w 111"/>
                  <a:gd name="T47" fmla="*/ 334 h 372"/>
                  <a:gd name="T48" fmla="*/ 104 w 111"/>
                  <a:gd name="T49" fmla="*/ 341 h 372"/>
                  <a:gd name="T50" fmla="*/ 99 w 111"/>
                  <a:gd name="T51" fmla="*/ 348 h 372"/>
                  <a:gd name="T52" fmla="*/ 95 w 111"/>
                  <a:gd name="T53" fmla="*/ 355 h 372"/>
                  <a:gd name="T54" fmla="*/ 88 w 111"/>
                  <a:gd name="T55" fmla="*/ 360 h 372"/>
                  <a:gd name="T56" fmla="*/ 80 w 111"/>
                  <a:gd name="T57" fmla="*/ 364 h 372"/>
                  <a:gd name="T58" fmla="*/ 73 w 111"/>
                  <a:gd name="T59" fmla="*/ 369 h 372"/>
                  <a:gd name="T60" fmla="*/ 64 w 111"/>
                  <a:gd name="T61" fmla="*/ 372 h 372"/>
                  <a:gd name="T62" fmla="*/ 57 w 111"/>
                  <a:gd name="T63" fmla="*/ 372 h 372"/>
                  <a:gd name="T64" fmla="*/ 47 w 111"/>
                  <a:gd name="T65" fmla="*/ 372 h 372"/>
                  <a:gd name="T66" fmla="*/ 38 w 111"/>
                  <a:gd name="T67" fmla="*/ 369 h 372"/>
                  <a:gd name="T68" fmla="*/ 31 w 111"/>
                  <a:gd name="T69" fmla="*/ 364 h 372"/>
                  <a:gd name="T70" fmla="*/ 24 w 111"/>
                  <a:gd name="T71" fmla="*/ 360 h 372"/>
                  <a:gd name="T72" fmla="*/ 16 w 111"/>
                  <a:gd name="T73" fmla="*/ 355 h 372"/>
                  <a:gd name="T74" fmla="*/ 12 w 111"/>
                  <a:gd name="T75" fmla="*/ 348 h 372"/>
                  <a:gd name="T76" fmla="*/ 7 w 111"/>
                  <a:gd name="T77" fmla="*/ 341 h 372"/>
                  <a:gd name="T78" fmla="*/ 5 w 111"/>
                  <a:gd name="T79" fmla="*/ 334 h 372"/>
                  <a:gd name="T80" fmla="*/ 2 w 111"/>
                  <a:gd name="T81" fmla="*/ 327 h 372"/>
                  <a:gd name="T82" fmla="*/ 2 w 111"/>
                  <a:gd name="T83" fmla="*/ 317 h 372"/>
                  <a:gd name="T84" fmla="*/ 2 w 111"/>
                  <a:gd name="T85" fmla="*/ 54 h 372"/>
                  <a:gd name="T86" fmla="*/ 2 w 111"/>
                  <a:gd name="T87" fmla="*/ 54 h 372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11"/>
                  <a:gd name="T133" fmla="*/ 0 h 372"/>
                  <a:gd name="T134" fmla="*/ 111 w 111"/>
                  <a:gd name="T135" fmla="*/ 372 h 372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11" h="372">
                    <a:moveTo>
                      <a:pt x="0" y="54"/>
                    </a:moveTo>
                    <a:lnTo>
                      <a:pt x="2" y="45"/>
                    </a:lnTo>
                    <a:lnTo>
                      <a:pt x="5" y="38"/>
                    </a:lnTo>
                    <a:lnTo>
                      <a:pt x="7" y="28"/>
                    </a:lnTo>
                    <a:lnTo>
                      <a:pt x="12" y="21"/>
                    </a:lnTo>
                    <a:lnTo>
                      <a:pt x="16" y="16"/>
                    </a:lnTo>
                    <a:lnTo>
                      <a:pt x="24" y="9"/>
                    </a:lnTo>
                    <a:lnTo>
                      <a:pt x="31" y="7"/>
                    </a:lnTo>
                    <a:lnTo>
                      <a:pt x="38" y="2"/>
                    </a:lnTo>
                    <a:lnTo>
                      <a:pt x="47" y="0"/>
                    </a:lnTo>
                    <a:lnTo>
                      <a:pt x="57" y="0"/>
                    </a:lnTo>
                    <a:lnTo>
                      <a:pt x="64" y="0"/>
                    </a:lnTo>
                    <a:lnTo>
                      <a:pt x="73" y="2"/>
                    </a:lnTo>
                    <a:lnTo>
                      <a:pt x="80" y="7"/>
                    </a:lnTo>
                    <a:lnTo>
                      <a:pt x="88" y="9"/>
                    </a:lnTo>
                    <a:lnTo>
                      <a:pt x="95" y="16"/>
                    </a:lnTo>
                    <a:lnTo>
                      <a:pt x="99" y="21"/>
                    </a:lnTo>
                    <a:lnTo>
                      <a:pt x="104" y="28"/>
                    </a:lnTo>
                    <a:lnTo>
                      <a:pt x="109" y="38"/>
                    </a:lnTo>
                    <a:lnTo>
                      <a:pt x="109" y="45"/>
                    </a:lnTo>
                    <a:lnTo>
                      <a:pt x="111" y="54"/>
                    </a:lnTo>
                    <a:lnTo>
                      <a:pt x="111" y="317"/>
                    </a:lnTo>
                    <a:lnTo>
                      <a:pt x="109" y="327"/>
                    </a:lnTo>
                    <a:lnTo>
                      <a:pt x="109" y="334"/>
                    </a:lnTo>
                    <a:lnTo>
                      <a:pt x="104" y="341"/>
                    </a:lnTo>
                    <a:lnTo>
                      <a:pt x="99" y="348"/>
                    </a:lnTo>
                    <a:lnTo>
                      <a:pt x="95" y="355"/>
                    </a:lnTo>
                    <a:lnTo>
                      <a:pt x="88" y="360"/>
                    </a:lnTo>
                    <a:lnTo>
                      <a:pt x="80" y="364"/>
                    </a:lnTo>
                    <a:lnTo>
                      <a:pt x="73" y="369"/>
                    </a:lnTo>
                    <a:lnTo>
                      <a:pt x="64" y="372"/>
                    </a:lnTo>
                    <a:lnTo>
                      <a:pt x="57" y="372"/>
                    </a:lnTo>
                    <a:lnTo>
                      <a:pt x="47" y="372"/>
                    </a:lnTo>
                    <a:lnTo>
                      <a:pt x="38" y="369"/>
                    </a:lnTo>
                    <a:lnTo>
                      <a:pt x="31" y="364"/>
                    </a:lnTo>
                    <a:lnTo>
                      <a:pt x="24" y="360"/>
                    </a:lnTo>
                    <a:lnTo>
                      <a:pt x="16" y="355"/>
                    </a:lnTo>
                    <a:lnTo>
                      <a:pt x="12" y="348"/>
                    </a:lnTo>
                    <a:lnTo>
                      <a:pt x="7" y="341"/>
                    </a:lnTo>
                    <a:lnTo>
                      <a:pt x="5" y="334"/>
                    </a:lnTo>
                    <a:lnTo>
                      <a:pt x="2" y="327"/>
                    </a:lnTo>
                    <a:lnTo>
                      <a:pt x="2" y="317"/>
                    </a:lnTo>
                    <a:lnTo>
                      <a:pt x="2" y="54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49" name="Rectangle 291"/>
              <p:cNvSpPr>
                <a:spLocks noChangeArrowheads="1"/>
              </p:cNvSpPr>
              <p:nvPr/>
            </p:nvSpPr>
            <p:spPr bwMode="auto">
              <a:xfrm>
                <a:off x="2270" y="2439"/>
                <a:ext cx="47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M</a:t>
                </a:r>
              </a:p>
            </p:txBody>
          </p:sp>
          <p:sp>
            <p:nvSpPr>
              <p:cNvPr id="80350" name="Rectangle 292"/>
              <p:cNvSpPr>
                <a:spLocks noChangeArrowheads="1"/>
              </p:cNvSpPr>
              <p:nvPr/>
            </p:nvSpPr>
            <p:spPr bwMode="auto">
              <a:xfrm>
                <a:off x="2319" y="2439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51" name="Rectangle 293"/>
              <p:cNvSpPr>
                <a:spLocks noChangeArrowheads="1"/>
              </p:cNvSpPr>
              <p:nvPr/>
            </p:nvSpPr>
            <p:spPr bwMode="auto">
              <a:xfrm>
                <a:off x="2281" y="249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80352" name="Rectangle 294"/>
              <p:cNvSpPr>
                <a:spLocks noChangeArrowheads="1"/>
              </p:cNvSpPr>
              <p:nvPr/>
            </p:nvSpPr>
            <p:spPr bwMode="auto">
              <a:xfrm>
                <a:off x="2312" y="2495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53" name="Rectangle 295"/>
              <p:cNvSpPr>
                <a:spLocks noChangeArrowheads="1"/>
              </p:cNvSpPr>
              <p:nvPr/>
            </p:nvSpPr>
            <p:spPr bwMode="auto">
              <a:xfrm>
                <a:off x="2281" y="2555"/>
                <a:ext cx="2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x</a:t>
                </a:r>
              </a:p>
            </p:txBody>
          </p:sp>
          <p:sp>
            <p:nvSpPr>
              <p:cNvPr id="80354" name="Rectangle 296"/>
              <p:cNvSpPr>
                <a:spLocks noChangeArrowheads="1"/>
              </p:cNvSpPr>
              <p:nvPr/>
            </p:nvSpPr>
            <p:spPr bwMode="auto">
              <a:xfrm>
                <a:off x="2262" y="23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0</a:t>
                </a:r>
              </a:p>
            </p:txBody>
          </p:sp>
          <p:sp>
            <p:nvSpPr>
              <p:cNvPr id="80355" name="Rectangle 297"/>
              <p:cNvSpPr>
                <a:spLocks noChangeArrowheads="1"/>
              </p:cNvSpPr>
              <p:nvPr/>
            </p:nvSpPr>
            <p:spPr bwMode="auto">
              <a:xfrm>
                <a:off x="2262" y="262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80356" name="Rectangle 298"/>
              <p:cNvSpPr>
                <a:spLocks noChangeArrowheads="1"/>
              </p:cNvSpPr>
              <p:nvPr/>
            </p:nvSpPr>
            <p:spPr bwMode="auto">
              <a:xfrm>
                <a:off x="2267" y="1617"/>
                <a:ext cx="47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9966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996633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80357" name="Rectangle 299"/>
              <p:cNvSpPr>
                <a:spLocks noChangeArrowheads="1"/>
              </p:cNvSpPr>
              <p:nvPr/>
            </p:nvSpPr>
            <p:spPr bwMode="auto">
              <a:xfrm>
                <a:off x="2306" y="1617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9966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996633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80358" name="Rectangle 300"/>
              <p:cNvSpPr>
                <a:spLocks noChangeArrowheads="1"/>
              </p:cNvSpPr>
              <p:nvPr/>
            </p:nvSpPr>
            <p:spPr bwMode="auto">
              <a:xfrm>
                <a:off x="2339" y="1617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9966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996633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80359" name="Rectangle 301"/>
              <p:cNvSpPr>
                <a:spLocks noChangeArrowheads="1"/>
              </p:cNvSpPr>
              <p:nvPr/>
            </p:nvSpPr>
            <p:spPr bwMode="auto">
              <a:xfrm>
                <a:off x="2374" y="1617"/>
                <a:ext cx="22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9966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996633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360" name="Rectangle 302"/>
              <p:cNvSpPr>
                <a:spLocks noChangeArrowheads="1"/>
              </p:cNvSpPr>
              <p:nvPr/>
            </p:nvSpPr>
            <p:spPr bwMode="auto">
              <a:xfrm>
                <a:off x="2390" y="1617"/>
                <a:ext cx="26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9966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996633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361" name="Rectangle 303"/>
              <p:cNvSpPr>
                <a:spLocks noChangeArrowheads="1"/>
              </p:cNvSpPr>
              <p:nvPr/>
            </p:nvSpPr>
            <p:spPr bwMode="auto">
              <a:xfrm>
                <a:off x="2409" y="1617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9966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996633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80362" name="Rectangle 304"/>
              <p:cNvSpPr>
                <a:spLocks noChangeArrowheads="1"/>
              </p:cNvSpPr>
              <p:nvPr/>
            </p:nvSpPr>
            <p:spPr bwMode="auto">
              <a:xfrm>
                <a:off x="2442" y="1617"/>
                <a:ext cx="18" cy="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996633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996633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80363" name="Freeform 305"/>
              <p:cNvSpPr>
                <a:spLocks noChangeArrowheads="1"/>
              </p:cNvSpPr>
              <p:nvPr/>
            </p:nvSpPr>
            <p:spPr bwMode="auto">
              <a:xfrm>
                <a:off x="2191" y="1633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3 w 31"/>
                  <a:gd name="T3" fmla="*/ 31 h 31"/>
                  <a:gd name="T4" fmla="*/ 31 w 31"/>
                  <a:gd name="T5" fmla="*/ 17 h 31"/>
                  <a:gd name="T6" fmla="*/ 0 w 31"/>
                  <a:gd name="T7" fmla="*/ 2 h 31"/>
                  <a:gd name="T8" fmla="*/ 0 w 31"/>
                  <a:gd name="T9" fmla="*/ 2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3" y="31"/>
                    </a:lnTo>
                    <a:lnTo>
                      <a:pt x="31" y="17"/>
                    </a:lnTo>
                    <a:lnTo>
                      <a:pt x="0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64" name="Rectangle 306"/>
              <p:cNvSpPr>
                <a:spLocks noChangeArrowheads="1"/>
              </p:cNvSpPr>
              <p:nvPr/>
            </p:nvSpPr>
            <p:spPr bwMode="auto">
              <a:xfrm>
                <a:off x="3851" y="1087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80365" name="Rectangle 307"/>
              <p:cNvSpPr>
                <a:spLocks noChangeArrowheads="1"/>
              </p:cNvSpPr>
              <p:nvPr/>
            </p:nvSpPr>
            <p:spPr bwMode="auto">
              <a:xfrm>
                <a:off x="3889" y="108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80366" name="Rectangle 308"/>
              <p:cNvSpPr>
                <a:spLocks noChangeArrowheads="1"/>
              </p:cNvSpPr>
              <p:nvPr/>
            </p:nvSpPr>
            <p:spPr bwMode="auto">
              <a:xfrm>
                <a:off x="3922" y="108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80367" name="Rectangle 309"/>
              <p:cNvSpPr>
                <a:spLocks noChangeArrowheads="1"/>
              </p:cNvSpPr>
              <p:nvPr/>
            </p:nvSpPr>
            <p:spPr bwMode="auto">
              <a:xfrm>
                <a:off x="4018" y="1056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80368" name="Rectangle 310"/>
              <p:cNvSpPr>
                <a:spLocks noChangeArrowheads="1"/>
              </p:cNvSpPr>
              <p:nvPr/>
            </p:nvSpPr>
            <p:spPr bwMode="auto">
              <a:xfrm>
                <a:off x="4057" y="105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80369" name="Rectangle 311"/>
              <p:cNvSpPr>
                <a:spLocks noChangeArrowheads="1"/>
              </p:cNvSpPr>
              <p:nvPr/>
            </p:nvSpPr>
            <p:spPr bwMode="auto">
              <a:xfrm>
                <a:off x="4090" y="1056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80370" name="Rectangle 312"/>
              <p:cNvSpPr>
                <a:spLocks noChangeArrowheads="1"/>
              </p:cNvSpPr>
              <p:nvPr/>
            </p:nvSpPr>
            <p:spPr bwMode="auto">
              <a:xfrm>
                <a:off x="4133" y="1056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71" name="Rectangle 313"/>
              <p:cNvSpPr>
                <a:spLocks noChangeArrowheads="1"/>
              </p:cNvSpPr>
              <p:nvPr/>
            </p:nvSpPr>
            <p:spPr bwMode="auto">
              <a:xfrm>
                <a:off x="3974" y="1115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372" name="Rectangle 314"/>
              <p:cNvSpPr>
                <a:spLocks noChangeArrowheads="1"/>
              </p:cNvSpPr>
              <p:nvPr/>
            </p:nvSpPr>
            <p:spPr bwMode="auto">
              <a:xfrm>
                <a:off x="3993" y="111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80373" name="Rectangle 315"/>
              <p:cNvSpPr>
                <a:spLocks noChangeArrowheads="1"/>
              </p:cNvSpPr>
              <p:nvPr/>
            </p:nvSpPr>
            <p:spPr bwMode="auto">
              <a:xfrm>
                <a:off x="4024" y="1115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80374" name="Rectangle 316"/>
              <p:cNvSpPr>
                <a:spLocks noChangeArrowheads="1"/>
              </p:cNvSpPr>
              <p:nvPr/>
            </p:nvSpPr>
            <p:spPr bwMode="auto">
              <a:xfrm>
                <a:off x="4055" y="111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80375" name="Rectangle 317"/>
              <p:cNvSpPr>
                <a:spLocks noChangeArrowheads="1"/>
              </p:cNvSpPr>
              <p:nvPr/>
            </p:nvSpPr>
            <p:spPr bwMode="auto">
              <a:xfrm>
                <a:off x="4088" y="1115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80376" name="Rectangle 318"/>
              <p:cNvSpPr>
                <a:spLocks noChangeArrowheads="1"/>
              </p:cNvSpPr>
              <p:nvPr/>
            </p:nvSpPr>
            <p:spPr bwMode="auto">
              <a:xfrm>
                <a:off x="4100" y="111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377" name="Rectangle 319"/>
              <p:cNvSpPr>
                <a:spLocks noChangeArrowheads="1"/>
              </p:cNvSpPr>
              <p:nvPr/>
            </p:nvSpPr>
            <p:spPr bwMode="auto">
              <a:xfrm>
                <a:off x="4605" y="864"/>
                <a:ext cx="47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M</a:t>
                </a:r>
              </a:p>
            </p:txBody>
          </p:sp>
          <p:sp>
            <p:nvSpPr>
              <p:cNvPr id="80378" name="Rectangle 320"/>
              <p:cNvSpPr>
                <a:spLocks noChangeArrowheads="1"/>
              </p:cNvSpPr>
              <p:nvPr/>
            </p:nvSpPr>
            <p:spPr bwMode="auto">
              <a:xfrm>
                <a:off x="4654" y="864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79" name="Rectangle 321"/>
              <p:cNvSpPr>
                <a:spLocks noChangeArrowheads="1"/>
              </p:cNvSpPr>
              <p:nvPr/>
            </p:nvSpPr>
            <p:spPr bwMode="auto">
              <a:xfrm>
                <a:off x="4614" y="92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80380" name="Rectangle 322"/>
              <p:cNvSpPr>
                <a:spLocks noChangeArrowheads="1"/>
              </p:cNvSpPr>
              <p:nvPr/>
            </p:nvSpPr>
            <p:spPr bwMode="auto">
              <a:xfrm>
                <a:off x="4647" y="921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81" name="Rectangle 323"/>
              <p:cNvSpPr>
                <a:spLocks noChangeArrowheads="1"/>
              </p:cNvSpPr>
              <p:nvPr/>
            </p:nvSpPr>
            <p:spPr bwMode="auto">
              <a:xfrm>
                <a:off x="4614" y="980"/>
                <a:ext cx="2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x</a:t>
                </a:r>
              </a:p>
            </p:txBody>
          </p:sp>
          <p:sp>
            <p:nvSpPr>
              <p:cNvPr id="80382" name="Rectangle 324"/>
              <p:cNvSpPr>
                <a:spLocks noChangeArrowheads="1"/>
              </p:cNvSpPr>
              <p:nvPr/>
            </p:nvSpPr>
            <p:spPr bwMode="auto">
              <a:xfrm>
                <a:off x="4597" y="75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0</a:t>
                </a:r>
              </a:p>
            </p:txBody>
          </p:sp>
          <p:sp>
            <p:nvSpPr>
              <p:cNvPr id="80383" name="Rectangle 325"/>
              <p:cNvSpPr>
                <a:spLocks noChangeArrowheads="1"/>
              </p:cNvSpPr>
              <p:nvPr/>
            </p:nvSpPr>
            <p:spPr bwMode="auto">
              <a:xfrm>
                <a:off x="4597" y="1087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80384" name="Freeform 326"/>
              <p:cNvSpPr>
                <a:spLocks noChangeArrowheads="1"/>
              </p:cNvSpPr>
              <p:nvPr/>
            </p:nvSpPr>
            <p:spPr bwMode="auto">
              <a:xfrm>
                <a:off x="1632" y="1650"/>
                <a:ext cx="566" cy="753"/>
              </a:xfrm>
              <a:custGeom>
                <a:avLst/>
                <a:gdLst>
                  <a:gd name="T0" fmla="*/ 0 w 566"/>
                  <a:gd name="T1" fmla="*/ 753 h 753"/>
                  <a:gd name="T2" fmla="*/ 0 w 566"/>
                  <a:gd name="T3" fmla="*/ 0 h 753"/>
                  <a:gd name="T4" fmla="*/ 566 w 566"/>
                  <a:gd name="T5" fmla="*/ 0 h 753"/>
                  <a:gd name="T6" fmla="*/ 0 60000 65536"/>
                  <a:gd name="T7" fmla="*/ 0 60000 65536"/>
                  <a:gd name="T8" fmla="*/ 0 60000 65536"/>
                  <a:gd name="T9" fmla="*/ 0 w 566"/>
                  <a:gd name="T10" fmla="*/ 0 h 753"/>
                  <a:gd name="T11" fmla="*/ 566 w 566"/>
                  <a:gd name="T12" fmla="*/ 753 h 7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6" h="753">
                    <a:moveTo>
                      <a:pt x="0" y="753"/>
                    </a:moveTo>
                    <a:lnTo>
                      <a:pt x="0" y="0"/>
                    </a:lnTo>
                    <a:lnTo>
                      <a:pt x="566" y="0"/>
                    </a:ln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85" name="Freeform 327"/>
              <p:cNvSpPr>
                <a:spLocks noChangeArrowheads="1"/>
              </p:cNvSpPr>
              <p:nvPr/>
            </p:nvSpPr>
            <p:spPr bwMode="auto">
              <a:xfrm>
                <a:off x="1201" y="790"/>
                <a:ext cx="3356" cy="370"/>
              </a:xfrm>
              <a:custGeom>
                <a:avLst/>
                <a:gdLst>
                  <a:gd name="T0" fmla="*/ 3356 w 3356"/>
                  <a:gd name="T1" fmla="*/ 0 h 370"/>
                  <a:gd name="T2" fmla="*/ 2136 w 3356"/>
                  <a:gd name="T3" fmla="*/ 2 h 370"/>
                  <a:gd name="T4" fmla="*/ 2136 w 3356"/>
                  <a:gd name="T5" fmla="*/ 370 h 370"/>
                  <a:gd name="T6" fmla="*/ 0 w 3356"/>
                  <a:gd name="T7" fmla="*/ 370 h 37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356"/>
                  <a:gd name="T13" fmla="*/ 0 h 370"/>
                  <a:gd name="T14" fmla="*/ 3356 w 3356"/>
                  <a:gd name="T15" fmla="*/ 370 h 37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356" h="370">
                    <a:moveTo>
                      <a:pt x="3356" y="0"/>
                    </a:moveTo>
                    <a:lnTo>
                      <a:pt x="2136" y="2"/>
                    </a:lnTo>
                    <a:lnTo>
                      <a:pt x="2136" y="370"/>
                    </a:lnTo>
                    <a:lnTo>
                      <a:pt x="0" y="370"/>
                    </a:lnTo>
                  </a:path>
                </a:pathLst>
              </a:custGeom>
              <a:noFill/>
              <a:ln w="1908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86" name="Freeform 328"/>
              <p:cNvSpPr>
                <a:spLocks noChangeArrowheads="1"/>
              </p:cNvSpPr>
              <p:nvPr/>
            </p:nvSpPr>
            <p:spPr bwMode="auto">
              <a:xfrm>
                <a:off x="3323" y="930"/>
                <a:ext cx="29" cy="31"/>
              </a:xfrm>
              <a:custGeom>
                <a:avLst/>
                <a:gdLst>
                  <a:gd name="T0" fmla="*/ 14 w 29"/>
                  <a:gd name="T1" fmla="*/ 28 h 31"/>
                  <a:gd name="T2" fmla="*/ 17 w 29"/>
                  <a:gd name="T3" fmla="*/ 31 h 31"/>
                  <a:gd name="T4" fmla="*/ 19 w 29"/>
                  <a:gd name="T5" fmla="*/ 28 h 31"/>
                  <a:gd name="T6" fmla="*/ 21 w 29"/>
                  <a:gd name="T7" fmla="*/ 28 h 31"/>
                  <a:gd name="T8" fmla="*/ 24 w 29"/>
                  <a:gd name="T9" fmla="*/ 28 h 31"/>
                  <a:gd name="T10" fmla="*/ 26 w 29"/>
                  <a:gd name="T11" fmla="*/ 26 h 31"/>
                  <a:gd name="T12" fmla="*/ 26 w 29"/>
                  <a:gd name="T13" fmla="*/ 24 h 31"/>
                  <a:gd name="T14" fmla="*/ 29 w 29"/>
                  <a:gd name="T15" fmla="*/ 21 h 31"/>
                  <a:gd name="T16" fmla="*/ 29 w 29"/>
                  <a:gd name="T17" fmla="*/ 21 h 31"/>
                  <a:gd name="T18" fmla="*/ 29 w 29"/>
                  <a:gd name="T19" fmla="*/ 19 h 31"/>
                  <a:gd name="T20" fmla="*/ 29 w 29"/>
                  <a:gd name="T21" fmla="*/ 16 h 31"/>
                  <a:gd name="T22" fmla="*/ 29 w 29"/>
                  <a:gd name="T23" fmla="*/ 14 h 31"/>
                  <a:gd name="T24" fmla="*/ 29 w 29"/>
                  <a:gd name="T25" fmla="*/ 12 h 31"/>
                  <a:gd name="T26" fmla="*/ 29 w 29"/>
                  <a:gd name="T27" fmla="*/ 9 h 31"/>
                  <a:gd name="T28" fmla="*/ 26 w 29"/>
                  <a:gd name="T29" fmla="*/ 7 h 31"/>
                  <a:gd name="T30" fmla="*/ 26 w 29"/>
                  <a:gd name="T31" fmla="*/ 5 h 31"/>
                  <a:gd name="T32" fmla="*/ 24 w 29"/>
                  <a:gd name="T33" fmla="*/ 5 h 31"/>
                  <a:gd name="T34" fmla="*/ 21 w 29"/>
                  <a:gd name="T35" fmla="*/ 2 h 31"/>
                  <a:gd name="T36" fmla="*/ 19 w 29"/>
                  <a:gd name="T37" fmla="*/ 2 h 31"/>
                  <a:gd name="T38" fmla="*/ 17 w 29"/>
                  <a:gd name="T39" fmla="*/ 2 h 31"/>
                  <a:gd name="T40" fmla="*/ 14 w 29"/>
                  <a:gd name="T41" fmla="*/ 0 h 31"/>
                  <a:gd name="T42" fmla="*/ 12 w 29"/>
                  <a:gd name="T43" fmla="*/ 2 h 31"/>
                  <a:gd name="T44" fmla="*/ 10 w 29"/>
                  <a:gd name="T45" fmla="*/ 2 h 31"/>
                  <a:gd name="T46" fmla="*/ 7 w 29"/>
                  <a:gd name="T47" fmla="*/ 2 h 31"/>
                  <a:gd name="T48" fmla="*/ 7 w 29"/>
                  <a:gd name="T49" fmla="*/ 5 h 31"/>
                  <a:gd name="T50" fmla="*/ 5 w 29"/>
                  <a:gd name="T51" fmla="*/ 5 h 31"/>
                  <a:gd name="T52" fmla="*/ 2 w 29"/>
                  <a:gd name="T53" fmla="*/ 7 h 31"/>
                  <a:gd name="T54" fmla="*/ 2 w 29"/>
                  <a:gd name="T55" fmla="*/ 9 h 31"/>
                  <a:gd name="T56" fmla="*/ 0 w 29"/>
                  <a:gd name="T57" fmla="*/ 12 h 31"/>
                  <a:gd name="T58" fmla="*/ 0 w 29"/>
                  <a:gd name="T59" fmla="*/ 14 h 31"/>
                  <a:gd name="T60" fmla="*/ 0 w 29"/>
                  <a:gd name="T61" fmla="*/ 16 h 31"/>
                  <a:gd name="T62" fmla="*/ 0 w 29"/>
                  <a:gd name="T63" fmla="*/ 19 h 31"/>
                  <a:gd name="T64" fmla="*/ 0 w 29"/>
                  <a:gd name="T65" fmla="*/ 21 h 31"/>
                  <a:gd name="T66" fmla="*/ 2 w 29"/>
                  <a:gd name="T67" fmla="*/ 21 h 31"/>
                  <a:gd name="T68" fmla="*/ 2 w 29"/>
                  <a:gd name="T69" fmla="*/ 24 h 31"/>
                  <a:gd name="T70" fmla="*/ 5 w 29"/>
                  <a:gd name="T71" fmla="*/ 26 h 31"/>
                  <a:gd name="T72" fmla="*/ 7 w 29"/>
                  <a:gd name="T73" fmla="*/ 28 h 31"/>
                  <a:gd name="T74" fmla="*/ 7 w 29"/>
                  <a:gd name="T75" fmla="*/ 28 h 31"/>
                  <a:gd name="T76" fmla="*/ 10 w 29"/>
                  <a:gd name="T77" fmla="*/ 28 h 31"/>
                  <a:gd name="T78" fmla="*/ 12 w 29"/>
                  <a:gd name="T79" fmla="*/ 31 h 31"/>
                  <a:gd name="T80" fmla="*/ 14 w 29"/>
                  <a:gd name="T81" fmla="*/ 31 h 31"/>
                  <a:gd name="T82" fmla="*/ 14 w 29"/>
                  <a:gd name="T83" fmla="*/ 31 h 31"/>
                  <a:gd name="T84" fmla="*/ 14 w 29"/>
                  <a:gd name="T85" fmla="*/ 28 h 3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29"/>
                  <a:gd name="T130" fmla="*/ 0 h 31"/>
                  <a:gd name="T131" fmla="*/ 29 w 29"/>
                  <a:gd name="T132" fmla="*/ 31 h 31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29" h="31">
                    <a:moveTo>
                      <a:pt x="14" y="28"/>
                    </a:moveTo>
                    <a:lnTo>
                      <a:pt x="17" y="31"/>
                    </a:lnTo>
                    <a:lnTo>
                      <a:pt x="19" y="28"/>
                    </a:lnTo>
                    <a:lnTo>
                      <a:pt x="21" y="28"/>
                    </a:lnTo>
                    <a:lnTo>
                      <a:pt x="24" y="28"/>
                    </a:lnTo>
                    <a:lnTo>
                      <a:pt x="26" y="26"/>
                    </a:lnTo>
                    <a:lnTo>
                      <a:pt x="26" y="24"/>
                    </a:lnTo>
                    <a:lnTo>
                      <a:pt x="29" y="21"/>
                    </a:lnTo>
                    <a:lnTo>
                      <a:pt x="29" y="19"/>
                    </a:lnTo>
                    <a:lnTo>
                      <a:pt x="29" y="16"/>
                    </a:lnTo>
                    <a:lnTo>
                      <a:pt x="29" y="14"/>
                    </a:lnTo>
                    <a:lnTo>
                      <a:pt x="29" y="12"/>
                    </a:lnTo>
                    <a:lnTo>
                      <a:pt x="29" y="9"/>
                    </a:lnTo>
                    <a:lnTo>
                      <a:pt x="26" y="7"/>
                    </a:lnTo>
                    <a:lnTo>
                      <a:pt x="26" y="5"/>
                    </a:lnTo>
                    <a:lnTo>
                      <a:pt x="24" y="5"/>
                    </a:lnTo>
                    <a:lnTo>
                      <a:pt x="21" y="2"/>
                    </a:lnTo>
                    <a:lnTo>
                      <a:pt x="19" y="2"/>
                    </a:lnTo>
                    <a:lnTo>
                      <a:pt x="17" y="2"/>
                    </a:lnTo>
                    <a:lnTo>
                      <a:pt x="14" y="0"/>
                    </a:lnTo>
                    <a:lnTo>
                      <a:pt x="12" y="2"/>
                    </a:lnTo>
                    <a:lnTo>
                      <a:pt x="10" y="2"/>
                    </a:lnTo>
                    <a:lnTo>
                      <a:pt x="7" y="2"/>
                    </a:lnTo>
                    <a:lnTo>
                      <a:pt x="7" y="5"/>
                    </a:lnTo>
                    <a:lnTo>
                      <a:pt x="5" y="5"/>
                    </a:lnTo>
                    <a:lnTo>
                      <a:pt x="2" y="7"/>
                    </a:lnTo>
                    <a:lnTo>
                      <a:pt x="2" y="9"/>
                    </a:lnTo>
                    <a:lnTo>
                      <a:pt x="0" y="12"/>
                    </a:lnTo>
                    <a:lnTo>
                      <a:pt x="0" y="14"/>
                    </a:lnTo>
                    <a:lnTo>
                      <a:pt x="0" y="16"/>
                    </a:lnTo>
                    <a:lnTo>
                      <a:pt x="0" y="19"/>
                    </a:lnTo>
                    <a:lnTo>
                      <a:pt x="0" y="21"/>
                    </a:lnTo>
                    <a:lnTo>
                      <a:pt x="2" y="21"/>
                    </a:lnTo>
                    <a:lnTo>
                      <a:pt x="2" y="24"/>
                    </a:lnTo>
                    <a:lnTo>
                      <a:pt x="5" y="26"/>
                    </a:lnTo>
                    <a:lnTo>
                      <a:pt x="7" y="28"/>
                    </a:lnTo>
                    <a:lnTo>
                      <a:pt x="10" y="28"/>
                    </a:lnTo>
                    <a:lnTo>
                      <a:pt x="12" y="31"/>
                    </a:lnTo>
                    <a:lnTo>
                      <a:pt x="14" y="31"/>
                    </a:lnTo>
                    <a:lnTo>
                      <a:pt x="14" y="2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87" name="Freeform 329"/>
              <p:cNvSpPr>
                <a:spLocks noChangeArrowheads="1"/>
              </p:cNvSpPr>
              <p:nvPr/>
            </p:nvSpPr>
            <p:spPr bwMode="auto">
              <a:xfrm>
                <a:off x="2492" y="2296"/>
                <a:ext cx="31" cy="31"/>
              </a:xfrm>
              <a:custGeom>
                <a:avLst/>
                <a:gdLst>
                  <a:gd name="T0" fmla="*/ 0 w 31"/>
                  <a:gd name="T1" fmla="*/ 0 h 31"/>
                  <a:gd name="T2" fmla="*/ 2 w 31"/>
                  <a:gd name="T3" fmla="*/ 31 h 31"/>
                  <a:gd name="T4" fmla="*/ 31 w 31"/>
                  <a:gd name="T5" fmla="*/ 17 h 31"/>
                  <a:gd name="T6" fmla="*/ 2 w 31"/>
                  <a:gd name="T7" fmla="*/ 2 h 31"/>
                  <a:gd name="T8" fmla="*/ 2 w 31"/>
                  <a:gd name="T9" fmla="*/ 2 h 31"/>
                  <a:gd name="T10" fmla="*/ 0 w 31"/>
                  <a:gd name="T11" fmla="*/ 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1"/>
                  <a:gd name="T19" fmla="*/ 0 h 31"/>
                  <a:gd name="T20" fmla="*/ 31 w 31"/>
                  <a:gd name="T21" fmla="*/ 31 h 3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1" h="31">
                    <a:moveTo>
                      <a:pt x="0" y="0"/>
                    </a:moveTo>
                    <a:lnTo>
                      <a:pt x="2" y="31"/>
                    </a:lnTo>
                    <a:lnTo>
                      <a:pt x="31" y="17"/>
                    </a:lnTo>
                    <a:lnTo>
                      <a:pt x="2" y="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88" name="Line 330"/>
              <p:cNvSpPr>
                <a:spLocks noChangeShapeType="1"/>
              </p:cNvSpPr>
              <p:nvPr/>
            </p:nvSpPr>
            <p:spPr bwMode="auto">
              <a:xfrm flipH="1">
                <a:off x="2110" y="2310"/>
                <a:ext cx="395" cy="3"/>
              </a:xfrm>
              <a:prstGeom prst="line">
                <a:avLst/>
              </a:prstGeom>
              <a:noFill/>
              <a:ln w="1908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389" name="Freeform 331"/>
              <p:cNvSpPr>
                <a:spLocks noChangeArrowheads="1"/>
              </p:cNvSpPr>
              <p:nvPr/>
            </p:nvSpPr>
            <p:spPr bwMode="auto">
              <a:xfrm>
                <a:off x="2527" y="2057"/>
                <a:ext cx="656" cy="687"/>
              </a:xfrm>
              <a:custGeom>
                <a:avLst/>
                <a:gdLst>
                  <a:gd name="T0" fmla="*/ 656 w 656"/>
                  <a:gd name="T1" fmla="*/ 684 h 687"/>
                  <a:gd name="T2" fmla="*/ 656 w 656"/>
                  <a:gd name="T3" fmla="*/ 0 h 687"/>
                  <a:gd name="T4" fmla="*/ 0 w 656"/>
                  <a:gd name="T5" fmla="*/ 0 h 687"/>
                  <a:gd name="T6" fmla="*/ 0 w 656"/>
                  <a:gd name="T7" fmla="*/ 687 h 687"/>
                  <a:gd name="T8" fmla="*/ 656 w 656"/>
                  <a:gd name="T9" fmla="*/ 687 h 687"/>
                  <a:gd name="T10" fmla="*/ 656 w 656"/>
                  <a:gd name="T11" fmla="*/ 687 h 687"/>
                  <a:gd name="T12" fmla="*/ 656 w 656"/>
                  <a:gd name="T13" fmla="*/ 684 h 6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656"/>
                  <a:gd name="T22" fmla="*/ 0 h 687"/>
                  <a:gd name="T23" fmla="*/ 656 w 656"/>
                  <a:gd name="T24" fmla="*/ 687 h 68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656" h="687">
                    <a:moveTo>
                      <a:pt x="656" y="684"/>
                    </a:moveTo>
                    <a:lnTo>
                      <a:pt x="656" y="0"/>
                    </a:lnTo>
                    <a:lnTo>
                      <a:pt x="0" y="0"/>
                    </a:lnTo>
                    <a:lnTo>
                      <a:pt x="0" y="687"/>
                    </a:lnTo>
                    <a:lnTo>
                      <a:pt x="656" y="687"/>
                    </a:lnTo>
                    <a:lnTo>
                      <a:pt x="656" y="68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90" name="Freeform 332"/>
              <p:cNvSpPr>
                <a:spLocks noChangeArrowheads="1"/>
              </p:cNvSpPr>
              <p:nvPr/>
            </p:nvSpPr>
            <p:spPr bwMode="auto">
              <a:xfrm>
                <a:off x="2527" y="2057"/>
                <a:ext cx="656" cy="687"/>
              </a:xfrm>
              <a:custGeom>
                <a:avLst/>
                <a:gdLst>
                  <a:gd name="T0" fmla="*/ 656 w 656"/>
                  <a:gd name="T1" fmla="*/ 684 h 687"/>
                  <a:gd name="T2" fmla="*/ 656 w 656"/>
                  <a:gd name="T3" fmla="*/ 0 h 687"/>
                  <a:gd name="T4" fmla="*/ 0 w 656"/>
                  <a:gd name="T5" fmla="*/ 0 h 687"/>
                  <a:gd name="T6" fmla="*/ 0 w 656"/>
                  <a:gd name="T7" fmla="*/ 687 h 687"/>
                  <a:gd name="T8" fmla="*/ 656 w 656"/>
                  <a:gd name="T9" fmla="*/ 687 h 687"/>
                  <a:gd name="T10" fmla="*/ 656 w 656"/>
                  <a:gd name="T11" fmla="*/ 687 h 68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56"/>
                  <a:gd name="T19" fmla="*/ 0 h 687"/>
                  <a:gd name="T20" fmla="*/ 656 w 656"/>
                  <a:gd name="T21" fmla="*/ 687 h 68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56" h="687">
                    <a:moveTo>
                      <a:pt x="656" y="684"/>
                    </a:moveTo>
                    <a:lnTo>
                      <a:pt x="656" y="0"/>
                    </a:lnTo>
                    <a:lnTo>
                      <a:pt x="0" y="0"/>
                    </a:lnTo>
                    <a:lnTo>
                      <a:pt x="0" y="687"/>
                    </a:lnTo>
                    <a:lnTo>
                      <a:pt x="656" y="687"/>
                    </a:lnTo>
                  </a:path>
                </a:pathLst>
              </a:custGeom>
              <a:noFill/>
              <a:ln w="1116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391" name="Rectangle 333"/>
              <p:cNvSpPr>
                <a:spLocks noChangeArrowheads="1"/>
              </p:cNvSpPr>
              <p:nvPr/>
            </p:nvSpPr>
            <p:spPr bwMode="auto">
              <a:xfrm>
                <a:off x="2731" y="2365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392" name="Rectangle 334"/>
              <p:cNvSpPr>
                <a:spLocks noChangeArrowheads="1"/>
              </p:cNvSpPr>
              <p:nvPr/>
            </p:nvSpPr>
            <p:spPr bwMode="auto">
              <a:xfrm>
                <a:off x="2771" y="23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80393" name="Rectangle 335"/>
              <p:cNvSpPr>
                <a:spLocks noChangeArrowheads="1"/>
              </p:cNvSpPr>
              <p:nvPr/>
            </p:nvSpPr>
            <p:spPr bwMode="auto">
              <a:xfrm>
                <a:off x="2805" y="23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g</a:t>
                </a:r>
              </a:p>
            </p:txBody>
          </p:sp>
          <p:sp>
            <p:nvSpPr>
              <p:cNvPr id="80394" name="Rectangle 336"/>
              <p:cNvSpPr>
                <a:spLocks noChangeArrowheads="1"/>
              </p:cNvSpPr>
              <p:nvPr/>
            </p:nvSpPr>
            <p:spPr bwMode="auto">
              <a:xfrm>
                <a:off x="2837" y="2365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80395" name="Rectangle 337"/>
              <p:cNvSpPr>
                <a:spLocks noChangeArrowheads="1"/>
              </p:cNvSpPr>
              <p:nvPr/>
            </p:nvSpPr>
            <p:spPr bwMode="auto">
              <a:xfrm>
                <a:off x="2850" y="2365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80396" name="Rectangle 338"/>
              <p:cNvSpPr>
                <a:spLocks noChangeArrowheads="1"/>
              </p:cNvSpPr>
              <p:nvPr/>
            </p:nvSpPr>
            <p:spPr bwMode="auto">
              <a:xfrm>
                <a:off x="2880" y="2365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397" name="Rectangle 339"/>
              <p:cNvSpPr>
                <a:spLocks noChangeArrowheads="1"/>
              </p:cNvSpPr>
              <p:nvPr/>
            </p:nvSpPr>
            <p:spPr bwMode="auto">
              <a:xfrm>
                <a:off x="2895" y="2365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80398" name="Rectangle 340"/>
              <p:cNvSpPr>
                <a:spLocks noChangeArrowheads="1"/>
              </p:cNvSpPr>
              <p:nvPr/>
            </p:nvSpPr>
            <p:spPr bwMode="auto">
              <a:xfrm>
                <a:off x="2928" y="2365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399" name="Rectangle 341"/>
              <p:cNvSpPr>
                <a:spLocks noChangeArrowheads="1"/>
              </p:cNvSpPr>
              <p:nvPr/>
            </p:nvSpPr>
            <p:spPr bwMode="auto">
              <a:xfrm>
                <a:off x="2947" y="2365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80400" name="Rectangle 342"/>
              <p:cNvSpPr>
                <a:spLocks noChangeArrowheads="1"/>
              </p:cNvSpPr>
              <p:nvPr/>
            </p:nvSpPr>
            <p:spPr bwMode="auto">
              <a:xfrm>
                <a:off x="2549" y="2424"/>
                <a:ext cx="54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W</a:t>
                </a:r>
              </a:p>
            </p:txBody>
          </p:sp>
          <p:sp>
            <p:nvSpPr>
              <p:cNvPr id="80401" name="Rectangle 343"/>
              <p:cNvSpPr>
                <a:spLocks noChangeArrowheads="1"/>
              </p:cNvSpPr>
              <p:nvPr/>
            </p:nvSpPr>
            <p:spPr bwMode="auto">
              <a:xfrm>
                <a:off x="2608" y="2424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402" name="Rectangle 344"/>
              <p:cNvSpPr>
                <a:spLocks noChangeArrowheads="1"/>
              </p:cNvSpPr>
              <p:nvPr/>
            </p:nvSpPr>
            <p:spPr bwMode="auto">
              <a:xfrm>
                <a:off x="2626" y="2424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80403" name="Rectangle 345"/>
              <p:cNvSpPr>
                <a:spLocks noChangeArrowheads="1"/>
              </p:cNvSpPr>
              <p:nvPr/>
            </p:nvSpPr>
            <p:spPr bwMode="auto">
              <a:xfrm>
                <a:off x="2639" y="2424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404" name="Rectangle 346"/>
              <p:cNvSpPr>
                <a:spLocks noChangeArrowheads="1"/>
              </p:cNvSpPr>
              <p:nvPr/>
            </p:nvSpPr>
            <p:spPr bwMode="auto">
              <a:xfrm>
                <a:off x="2655" y="242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80405" name="Rectangle 347"/>
              <p:cNvSpPr>
                <a:spLocks noChangeArrowheads="1"/>
              </p:cNvSpPr>
              <p:nvPr/>
            </p:nvSpPr>
            <p:spPr bwMode="auto">
              <a:xfrm>
                <a:off x="2688" y="2424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406" name="Rectangle 348"/>
              <p:cNvSpPr>
                <a:spLocks noChangeArrowheads="1"/>
              </p:cNvSpPr>
              <p:nvPr/>
            </p:nvSpPr>
            <p:spPr bwMode="auto">
              <a:xfrm>
                <a:off x="2551" y="2481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407" name="Rectangle 349"/>
              <p:cNvSpPr>
                <a:spLocks noChangeArrowheads="1"/>
              </p:cNvSpPr>
              <p:nvPr/>
            </p:nvSpPr>
            <p:spPr bwMode="auto">
              <a:xfrm>
                <a:off x="2572" y="248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80408" name="Rectangle 350"/>
              <p:cNvSpPr>
                <a:spLocks noChangeArrowheads="1"/>
              </p:cNvSpPr>
              <p:nvPr/>
            </p:nvSpPr>
            <p:spPr bwMode="auto">
              <a:xfrm>
                <a:off x="2603" y="248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g</a:t>
                </a:r>
              </a:p>
            </p:txBody>
          </p:sp>
          <p:sp>
            <p:nvSpPr>
              <p:cNvPr id="80409" name="Rectangle 351"/>
              <p:cNvSpPr>
                <a:spLocks noChangeArrowheads="1"/>
              </p:cNvSpPr>
              <p:nvPr/>
            </p:nvSpPr>
            <p:spPr bwMode="auto">
              <a:xfrm>
                <a:off x="2636" y="2481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80410" name="Rectangle 352"/>
              <p:cNvSpPr>
                <a:spLocks noChangeArrowheads="1"/>
              </p:cNvSpPr>
              <p:nvPr/>
            </p:nvSpPr>
            <p:spPr bwMode="auto">
              <a:xfrm>
                <a:off x="2651" y="2481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80411" name="Rectangle 353"/>
              <p:cNvSpPr>
                <a:spLocks noChangeArrowheads="1"/>
              </p:cNvSpPr>
              <p:nvPr/>
            </p:nvSpPr>
            <p:spPr bwMode="auto">
              <a:xfrm>
                <a:off x="2679" y="2481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412" name="Rectangle 354"/>
              <p:cNvSpPr>
                <a:spLocks noChangeArrowheads="1"/>
              </p:cNvSpPr>
              <p:nvPr/>
            </p:nvSpPr>
            <p:spPr bwMode="auto">
              <a:xfrm>
                <a:off x="2696" y="248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80413" name="Rectangle 355"/>
              <p:cNvSpPr>
                <a:spLocks noChangeArrowheads="1"/>
              </p:cNvSpPr>
              <p:nvPr/>
            </p:nvSpPr>
            <p:spPr bwMode="auto">
              <a:xfrm>
                <a:off x="2726" y="2481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414" name="Rectangle 356"/>
              <p:cNvSpPr>
                <a:spLocks noChangeArrowheads="1"/>
              </p:cNvSpPr>
              <p:nvPr/>
            </p:nvSpPr>
            <p:spPr bwMode="auto">
              <a:xfrm>
                <a:off x="2549" y="2600"/>
                <a:ext cx="54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W</a:t>
                </a:r>
              </a:p>
            </p:txBody>
          </p:sp>
          <p:sp>
            <p:nvSpPr>
              <p:cNvPr id="80415" name="Rectangle 357"/>
              <p:cNvSpPr>
                <a:spLocks noChangeArrowheads="1"/>
              </p:cNvSpPr>
              <p:nvPr/>
            </p:nvSpPr>
            <p:spPr bwMode="auto">
              <a:xfrm>
                <a:off x="2608" y="2600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416" name="Rectangle 358"/>
              <p:cNvSpPr>
                <a:spLocks noChangeArrowheads="1"/>
              </p:cNvSpPr>
              <p:nvPr/>
            </p:nvSpPr>
            <p:spPr bwMode="auto">
              <a:xfrm>
                <a:off x="2626" y="2600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80417" name="Rectangle 359"/>
              <p:cNvSpPr>
                <a:spLocks noChangeArrowheads="1"/>
              </p:cNvSpPr>
              <p:nvPr/>
            </p:nvSpPr>
            <p:spPr bwMode="auto">
              <a:xfrm>
                <a:off x="2639" y="2600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418" name="Rectangle 360"/>
              <p:cNvSpPr>
                <a:spLocks noChangeArrowheads="1"/>
              </p:cNvSpPr>
              <p:nvPr/>
            </p:nvSpPr>
            <p:spPr bwMode="auto">
              <a:xfrm>
                <a:off x="2655" y="2600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80419" name="Rectangle 361"/>
              <p:cNvSpPr>
                <a:spLocks noChangeArrowheads="1"/>
              </p:cNvSpPr>
              <p:nvPr/>
            </p:nvSpPr>
            <p:spPr bwMode="auto">
              <a:xfrm>
                <a:off x="2688" y="2600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420" name="Rectangle 362"/>
              <p:cNvSpPr>
                <a:spLocks noChangeArrowheads="1"/>
              </p:cNvSpPr>
              <p:nvPr/>
            </p:nvSpPr>
            <p:spPr bwMode="auto">
              <a:xfrm>
                <a:off x="2551" y="265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80421" name="Rectangle 363"/>
              <p:cNvSpPr>
                <a:spLocks noChangeArrowheads="1"/>
              </p:cNvSpPr>
              <p:nvPr/>
            </p:nvSpPr>
            <p:spPr bwMode="auto">
              <a:xfrm>
                <a:off x="2584" y="265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80422" name="Rectangle 364"/>
              <p:cNvSpPr>
                <a:spLocks noChangeArrowheads="1"/>
              </p:cNvSpPr>
              <p:nvPr/>
            </p:nvSpPr>
            <p:spPr bwMode="auto">
              <a:xfrm>
                <a:off x="2617" y="2656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423" name="Rectangle 365"/>
              <p:cNvSpPr>
                <a:spLocks noChangeArrowheads="1"/>
              </p:cNvSpPr>
              <p:nvPr/>
            </p:nvSpPr>
            <p:spPr bwMode="auto">
              <a:xfrm>
                <a:off x="2634" y="265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80424" name="Rectangle 366"/>
              <p:cNvSpPr>
                <a:spLocks noChangeArrowheads="1"/>
              </p:cNvSpPr>
              <p:nvPr/>
            </p:nvSpPr>
            <p:spPr bwMode="auto">
              <a:xfrm>
                <a:off x="3026" y="2162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425" name="Rectangle 367"/>
              <p:cNvSpPr>
                <a:spLocks noChangeArrowheads="1"/>
              </p:cNvSpPr>
              <p:nvPr/>
            </p:nvSpPr>
            <p:spPr bwMode="auto">
              <a:xfrm>
                <a:off x="3070" y="2162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80426" name="Rectangle 368"/>
              <p:cNvSpPr>
                <a:spLocks noChangeArrowheads="1"/>
              </p:cNvSpPr>
              <p:nvPr/>
            </p:nvSpPr>
            <p:spPr bwMode="auto">
              <a:xfrm>
                <a:off x="3103" y="2162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80427" name="Rectangle 369"/>
              <p:cNvSpPr>
                <a:spLocks noChangeArrowheads="1"/>
              </p:cNvSpPr>
              <p:nvPr/>
            </p:nvSpPr>
            <p:spPr bwMode="auto">
              <a:xfrm>
                <a:off x="3134" y="2162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80428" name="Rectangle 370"/>
              <p:cNvSpPr>
                <a:spLocks noChangeArrowheads="1"/>
              </p:cNvSpPr>
              <p:nvPr/>
            </p:nvSpPr>
            <p:spPr bwMode="auto">
              <a:xfrm>
                <a:off x="3167" y="2162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429" name="Rectangle 371"/>
              <p:cNvSpPr>
                <a:spLocks noChangeArrowheads="1"/>
              </p:cNvSpPr>
              <p:nvPr/>
            </p:nvSpPr>
            <p:spPr bwMode="auto">
              <a:xfrm>
                <a:off x="2992" y="221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80430" name="Rectangle 372"/>
              <p:cNvSpPr>
                <a:spLocks noChangeArrowheads="1"/>
              </p:cNvSpPr>
              <p:nvPr/>
            </p:nvSpPr>
            <p:spPr bwMode="auto">
              <a:xfrm>
                <a:off x="3025" y="221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80431" name="Rectangle 373"/>
              <p:cNvSpPr>
                <a:spLocks noChangeArrowheads="1"/>
              </p:cNvSpPr>
              <p:nvPr/>
            </p:nvSpPr>
            <p:spPr bwMode="auto">
              <a:xfrm>
                <a:off x="3058" y="2218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432" name="Rectangle 374"/>
              <p:cNvSpPr>
                <a:spLocks noChangeArrowheads="1"/>
              </p:cNvSpPr>
              <p:nvPr/>
            </p:nvSpPr>
            <p:spPr bwMode="auto">
              <a:xfrm>
                <a:off x="3074" y="221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80433" name="Rectangle 375"/>
              <p:cNvSpPr>
                <a:spLocks noChangeArrowheads="1"/>
              </p:cNvSpPr>
              <p:nvPr/>
            </p:nvSpPr>
            <p:spPr bwMode="auto">
              <a:xfrm>
                <a:off x="3105" y="2218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80434" name="Rectangle 376"/>
              <p:cNvSpPr>
                <a:spLocks noChangeArrowheads="1"/>
              </p:cNvSpPr>
              <p:nvPr/>
            </p:nvSpPr>
            <p:spPr bwMode="auto">
              <a:xfrm>
                <a:off x="3122" y="221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80435" name="Rectangle 377"/>
              <p:cNvSpPr>
                <a:spLocks noChangeArrowheads="1"/>
              </p:cNvSpPr>
              <p:nvPr/>
            </p:nvSpPr>
            <p:spPr bwMode="auto">
              <a:xfrm>
                <a:off x="3026" y="2379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436" name="Rectangle 378"/>
              <p:cNvSpPr>
                <a:spLocks noChangeArrowheads="1"/>
              </p:cNvSpPr>
              <p:nvPr/>
            </p:nvSpPr>
            <p:spPr bwMode="auto">
              <a:xfrm>
                <a:off x="3070" y="237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80437" name="Rectangle 379"/>
              <p:cNvSpPr>
                <a:spLocks noChangeArrowheads="1"/>
              </p:cNvSpPr>
              <p:nvPr/>
            </p:nvSpPr>
            <p:spPr bwMode="auto">
              <a:xfrm>
                <a:off x="3103" y="237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80438" name="Rectangle 380"/>
              <p:cNvSpPr>
                <a:spLocks noChangeArrowheads="1"/>
              </p:cNvSpPr>
              <p:nvPr/>
            </p:nvSpPr>
            <p:spPr bwMode="auto">
              <a:xfrm>
                <a:off x="3134" y="237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80439" name="Rectangle 381"/>
              <p:cNvSpPr>
                <a:spLocks noChangeArrowheads="1"/>
              </p:cNvSpPr>
              <p:nvPr/>
            </p:nvSpPr>
            <p:spPr bwMode="auto">
              <a:xfrm>
                <a:off x="3167" y="2379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440" name="Rectangle 382"/>
              <p:cNvSpPr>
                <a:spLocks noChangeArrowheads="1"/>
              </p:cNvSpPr>
              <p:nvPr/>
            </p:nvSpPr>
            <p:spPr bwMode="auto">
              <a:xfrm>
                <a:off x="2992" y="243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80441" name="Rectangle 383"/>
              <p:cNvSpPr>
                <a:spLocks noChangeArrowheads="1"/>
              </p:cNvSpPr>
              <p:nvPr/>
            </p:nvSpPr>
            <p:spPr bwMode="auto">
              <a:xfrm>
                <a:off x="3025" y="243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80442" name="Rectangle 384"/>
              <p:cNvSpPr>
                <a:spLocks noChangeArrowheads="1"/>
              </p:cNvSpPr>
              <p:nvPr/>
            </p:nvSpPr>
            <p:spPr bwMode="auto">
              <a:xfrm>
                <a:off x="3058" y="2439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443" name="Rectangle 385"/>
              <p:cNvSpPr>
                <a:spLocks noChangeArrowheads="1"/>
              </p:cNvSpPr>
              <p:nvPr/>
            </p:nvSpPr>
            <p:spPr bwMode="auto">
              <a:xfrm>
                <a:off x="3074" y="243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80444" name="Rectangle 386"/>
              <p:cNvSpPr>
                <a:spLocks noChangeArrowheads="1"/>
              </p:cNvSpPr>
              <p:nvPr/>
            </p:nvSpPr>
            <p:spPr bwMode="auto">
              <a:xfrm>
                <a:off x="3105" y="2439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80445" name="Rectangle 387"/>
              <p:cNvSpPr>
                <a:spLocks noChangeArrowheads="1"/>
              </p:cNvSpPr>
              <p:nvPr/>
            </p:nvSpPr>
            <p:spPr bwMode="auto">
              <a:xfrm>
                <a:off x="3122" y="243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2</a:t>
                </a:r>
              </a:p>
            </p:txBody>
          </p:sp>
          <p:sp>
            <p:nvSpPr>
              <p:cNvPr id="80446" name="Rectangle 388"/>
              <p:cNvSpPr>
                <a:spLocks noChangeArrowheads="1"/>
              </p:cNvSpPr>
              <p:nvPr/>
            </p:nvSpPr>
            <p:spPr bwMode="auto">
              <a:xfrm>
                <a:off x="2551" y="2074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447" name="Rectangle 389"/>
              <p:cNvSpPr>
                <a:spLocks noChangeArrowheads="1"/>
              </p:cNvSpPr>
              <p:nvPr/>
            </p:nvSpPr>
            <p:spPr bwMode="auto">
              <a:xfrm>
                <a:off x="2594" y="207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80448" name="Rectangle 390"/>
              <p:cNvSpPr>
                <a:spLocks noChangeArrowheads="1"/>
              </p:cNvSpPr>
              <p:nvPr/>
            </p:nvSpPr>
            <p:spPr bwMode="auto">
              <a:xfrm>
                <a:off x="2627" y="207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80449" name="Rectangle 391"/>
              <p:cNvSpPr>
                <a:spLocks noChangeArrowheads="1"/>
              </p:cNvSpPr>
              <p:nvPr/>
            </p:nvSpPr>
            <p:spPr bwMode="auto">
              <a:xfrm>
                <a:off x="2660" y="2074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d</a:t>
                </a:r>
              </a:p>
            </p:txBody>
          </p:sp>
          <p:sp>
            <p:nvSpPr>
              <p:cNvPr id="80450" name="Rectangle 392"/>
              <p:cNvSpPr>
                <a:spLocks noChangeArrowheads="1"/>
              </p:cNvSpPr>
              <p:nvPr/>
            </p:nvSpPr>
            <p:spPr bwMode="auto">
              <a:xfrm>
                <a:off x="2691" y="2074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451" name="Rectangle 393"/>
              <p:cNvSpPr>
                <a:spLocks noChangeArrowheads="1"/>
              </p:cNvSpPr>
              <p:nvPr/>
            </p:nvSpPr>
            <p:spPr bwMode="auto">
              <a:xfrm>
                <a:off x="2551" y="2131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452" name="Rectangle 394"/>
              <p:cNvSpPr>
                <a:spLocks noChangeArrowheads="1"/>
              </p:cNvSpPr>
              <p:nvPr/>
            </p:nvSpPr>
            <p:spPr bwMode="auto">
              <a:xfrm>
                <a:off x="2572" y="213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80453" name="Rectangle 395"/>
              <p:cNvSpPr>
                <a:spLocks noChangeArrowheads="1"/>
              </p:cNvSpPr>
              <p:nvPr/>
            </p:nvSpPr>
            <p:spPr bwMode="auto">
              <a:xfrm>
                <a:off x="2603" y="213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g</a:t>
                </a:r>
              </a:p>
            </p:txBody>
          </p:sp>
          <p:sp>
            <p:nvSpPr>
              <p:cNvPr id="80454" name="Rectangle 396"/>
              <p:cNvSpPr>
                <a:spLocks noChangeArrowheads="1"/>
              </p:cNvSpPr>
              <p:nvPr/>
            </p:nvSpPr>
            <p:spPr bwMode="auto">
              <a:xfrm>
                <a:off x="2636" y="2131"/>
                <a:ext cx="12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i</a:t>
                </a:r>
              </a:p>
            </p:txBody>
          </p:sp>
          <p:sp>
            <p:nvSpPr>
              <p:cNvPr id="80455" name="Rectangle 397"/>
              <p:cNvSpPr>
                <a:spLocks noChangeArrowheads="1"/>
              </p:cNvSpPr>
              <p:nvPr/>
            </p:nvSpPr>
            <p:spPr bwMode="auto">
              <a:xfrm>
                <a:off x="2651" y="2131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s</a:t>
                </a:r>
              </a:p>
            </p:txBody>
          </p:sp>
          <p:sp>
            <p:nvSpPr>
              <p:cNvPr id="80456" name="Rectangle 398"/>
              <p:cNvSpPr>
                <a:spLocks noChangeArrowheads="1"/>
              </p:cNvSpPr>
              <p:nvPr/>
            </p:nvSpPr>
            <p:spPr bwMode="auto">
              <a:xfrm>
                <a:off x="2679" y="2131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457" name="Rectangle 399"/>
              <p:cNvSpPr>
                <a:spLocks noChangeArrowheads="1"/>
              </p:cNvSpPr>
              <p:nvPr/>
            </p:nvSpPr>
            <p:spPr bwMode="auto">
              <a:xfrm>
                <a:off x="2696" y="213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  <p:sp>
            <p:nvSpPr>
              <p:cNvPr id="80458" name="Rectangle 400"/>
              <p:cNvSpPr>
                <a:spLocks noChangeArrowheads="1"/>
              </p:cNvSpPr>
              <p:nvPr/>
            </p:nvSpPr>
            <p:spPr bwMode="auto">
              <a:xfrm>
                <a:off x="2726" y="2131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459" name="Rectangle 401"/>
              <p:cNvSpPr>
                <a:spLocks noChangeArrowheads="1"/>
              </p:cNvSpPr>
              <p:nvPr/>
            </p:nvSpPr>
            <p:spPr bwMode="auto">
              <a:xfrm>
                <a:off x="2748" y="2131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zh-TW" altLang="en-GB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 </a:t>
                </a:r>
              </a:p>
            </p:txBody>
          </p:sp>
          <p:sp>
            <p:nvSpPr>
              <p:cNvPr id="80460" name="Rectangle 402"/>
              <p:cNvSpPr>
                <a:spLocks noChangeArrowheads="1"/>
              </p:cNvSpPr>
              <p:nvPr/>
            </p:nvSpPr>
            <p:spPr bwMode="auto">
              <a:xfrm>
                <a:off x="2762" y="2131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1</a:t>
                </a:r>
              </a:p>
            </p:txBody>
          </p:sp>
          <p:sp>
            <p:nvSpPr>
              <p:cNvPr id="80461" name="Rectangle 403"/>
              <p:cNvSpPr>
                <a:spLocks noChangeArrowheads="1"/>
              </p:cNvSpPr>
              <p:nvPr/>
            </p:nvSpPr>
            <p:spPr bwMode="auto">
              <a:xfrm>
                <a:off x="2551" y="2249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462" name="Rectangle 404"/>
              <p:cNvSpPr>
                <a:spLocks noChangeArrowheads="1"/>
              </p:cNvSpPr>
              <p:nvPr/>
            </p:nvSpPr>
            <p:spPr bwMode="auto">
              <a:xfrm>
                <a:off x="2594" y="2249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000000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000000"/>
                    </a:solidFill>
                    <a:latin typeface="Arial" charset="0"/>
                    <a:ea typeface="新細明體" charset="-120"/>
                  </a:rPr>
                  <a:t>e</a:t>
                </a:r>
              </a:p>
            </p:txBody>
          </p:sp>
        </p:grpSp>
        <p:sp>
          <p:nvSpPr>
            <p:cNvPr id="80082" name="Rectangle 405"/>
            <p:cNvSpPr>
              <a:spLocks noChangeArrowheads="1"/>
            </p:cNvSpPr>
            <p:nvPr/>
          </p:nvSpPr>
          <p:spPr bwMode="auto">
            <a:xfrm>
              <a:off x="2627" y="224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0083" name="Rectangle 406"/>
            <p:cNvSpPr>
              <a:spLocks noChangeArrowheads="1"/>
            </p:cNvSpPr>
            <p:nvPr/>
          </p:nvSpPr>
          <p:spPr bwMode="auto">
            <a:xfrm>
              <a:off x="2660" y="224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80084" name="Rectangle 407"/>
            <p:cNvSpPr>
              <a:spLocks noChangeArrowheads="1"/>
            </p:cNvSpPr>
            <p:nvPr/>
          </p:nvSpPr>
          <p:spPr bwMode="auto">
            <a:xfrm>
              <a:off x="2691" y="224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85" name="Rectangle 408"/>
            <p:cNvSpPr>
              <a:spLocks noChangeArrowheads="1"/>
            </p:cNvSpPr>
            <p:nvPr/>
          </p:nvSpPr>
          <p:spPr bwMode="auto">
            <a:xfrm>
              <a:off x="2551" y="230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086" name="Rectangle 409"/>
            <p:cNvSpPr>
              <a:spLocks noChangeArrowheads="1"/>
            </p:cNvSpPr>
            <p:nvPr/>
          </p:nvSpPr>
          <p:spPr bwMode="auto">
            <a:xfrm>
              <a:off x="2572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087" name="Rectangle 410"/>
            <p:cNvSpPr>
              <a:spLocks noChangeArrowheads="1"/>
            </p:cNvSpPr>
            <p:nvPr/>
          </p:nvSpPr>
          <p:spPr bwMode="auto">
            <a:xfrm>
              <a:off x="2603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80088" name="Rectangle 411"/>
            <p:cNvSpPr>
              <a:spLocks noChangeArrowheads="1"/>
            </p:cNvSpPr>
            <p:nvPr/>
          </p:nvSpPr>
          <p:spPr bwMode="auto">
            <a:xfrm>
              <a:off x="2636" y="2306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80089" name="Rectangle 412"/>
            <p:cNvSpPr>
              <a:spLocks noChangeArrowheads="1"/>
            </p:cNvSpPr>
            <p:nvPr/>
          </p:nvSpPr>
          <p:spPr bwMode="auto">
            <a:xfrm>
              <a:off x="2651" y="230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80090" name="Rectangle 413"/>
            <p:cNvSpPr>
              <a:spLocks noChangeArrowheads="1"/>
            </p:cNvSpPr>
            <p:nvPr/>
          </p:nvSpPr>
          <p:spPr bwMode="auto">
            <a:xfrm>
              <a:off x="2679" y="230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091" name="Rectangle 414"/>
            <p:cNvSpPr>
              <a:spLocks noChangeArrowheads="1"/>
            </p:cNvSpPr>
            <p:nvPr/>
          </p:nvSpPr>
          <p:spPr bwMode="auto">
            <a:xfrm>
              <a:off x="2696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092" name="Rectangle 415"/>
            <p:cNvSpPr>
              <a:spLocks noChangeArrowheads="1"/>
            </p:cNvSpPr>
            <p:nvPr/>
          </p:nvSpPr>
          <p:spPr bwMode="auto">
            <a:xfrm>
              <a:off x="2726" y="230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093" name="Rectangle 416"/>
            <p:cNvSpPr>
              <a:spLocks noChangeArrowheads="1"/>
            </p:cNvSpPr>
            <p:nvPr/>
          </p:nvSpPr>
          <p:spPr bwMode="auto">
            <a:xfrm>
              <a:off x="2748" y="230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80094" name="Rectangle 417"/>
            <p:cNvSpPr>
              <a:spLocks noChangeArrowheads="1"/>
            </p:cNvSpPr>
            <p:nvPr/>
          </p:nvSpPr>
          <p:spPr bwMode="auto">
            <a:xfrm>
              <a:off x="2762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80095" name="Freeform 418"/>
            <p:cNvSpPr>
              <a:spLocks noChangeArrowheads="1"/>
            </p:cNvSpPr>
            <p:nvPr/>
          </p:nvSpPr>
          <p:spPr bwMode="auto">
            <a:xfrm>
              <a:off x="2395" y="2606"/>
              <a:ext cx="2950" cy="886"/>
            </a:xfrm>
            <a:custGeom>
              <a:avLst/>
              <a:gdLst>
                <a:gd name="T0" fmla="*/ 2884 w 2950"/>
                <a:gd name="T1" fmla="*/ 0 h 886"/>
                <a:gd name="T2" fmla="*/ 2950 w 2950"/>
                <a:gd name="T3" fmla="*/ 0 h 886"/>
                <a:gd name="T4" fmla="*/ 2950 w 2950"/>
                <a:gd name="T5" fmla="*/ 886 h 886"/>
                <a:gd name="T6" fmla="*/ 0 w 2950"/>
                <a:gd name="T7" fmla="*/ 886 h 886"/>
                <a:gd name="T8" fmla="*/ 0 w 2950"/>
                <a:gd name="T9" fmla="*/ 57 h 886"/>
                <a:gd name="T10" fmla="*/ 109 w 2950"/>
                <a:gd name="T11" fmla="*/ 57 h 8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50"/>
                <a:gd name="T19" fmla="*/ 0 h 886"/>
                <a:gd name="T20" fmla="*/ 2950 w 2950"/>
                <a:gd name="T21" fmla="*/ 886 h 88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50" h="886">
                  <a:moveTo>
                    <a:pt x="2884" y="0"/>
                  </a:moveTo>
                  <a:lnTo>
                    <a:pt x="2950" y="0"/>
                  </a:lnTo>
                  <a:lnTo>
                    <a:pt x="2950" y="886"/>
                  </a:lnTo>
                  <a:lnTo>
                    <a:pt x="0" y="886"/>
                  </a:lnTo>
                  <a:lnTo>
                    <a:pt x="0" y="57"/>
                  </a:lnTo>
                  <a:lnTo>
                    <a:pt x="109" y="5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96" name="Line 419"/>
            <p:cNvSpPr>
              <a:spLocks noChangeShapeType="1"/>
            </p:cNvSpPr>
            <p:nvPr/>
          </p:nvSpPr>
          <p:spPr bwMode="auto">
            <a:xfrm flipH="1">
              <a:off x="2351" y="2486"/>
              <a:ext cx="154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097" name="Line 420"/>
            <p:cNvSpPr>
              <a:spLocks noChangeShapeType="1"/>
            </p:cNvSpPr>
            <p:nvPr/>
          </p:nvSpPr>
          <p:spPr bwMode="auto">
            <a:xfrm flipH="1">
              <a:off x="1634" y="2135"/>
              <a:ext cx="871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098" name="Freeform 421"/>
            <p:cNvSpPr>
              <a:spLocks noChangeArrowheads="1"/>
            </p:cNvSpPr>
            <p:nvPr/>
          </p:nvSpPr>
          <p:spPr bwMode="auto">
            <a:xfrm>
              <a:off x="1632" y="2403"/>
              <a:ext cx="829" cy="615"/>
            </a:xfrm>
            <a:custGeom>
              <a:avLst/>
              <a:gdLst>
                <a:gd name="T0" fmla="*/ 829 w 829"/>
                <a:gd name="T1" fmla="*/ 615 h 615"/>
                <a:gd name="T2" fmla="*/ 0 w 829"/>
                <a:gd name="T3" fmla="*/ 615 h 615"/>
                <a:gd name="T4" fmla="*/ 0 w 829"/>
                <a:gd name="T5" fmla="*/ 0 h 615"/>
                <a:gd name="T6" fmla="*/ 0 60000 65536"/>
                <a:gd name="T7" fmla="*/ 0 60000 65536"/>
                <a:gd name="T8" fmla="*/ 0 60000 65536"/>
                <a:gd name="T9" fmla="*/ 0 w 829"/>
                <a:gd name="T10" fmla="*/ 0 h 615"/>
                <a:gd name="T11" fmla="*/ 829 w 829"/>
                <a:gd name="T12" fmla="*/ 615 h 6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29" h="615">
                  <a:moveTo>
                    <a:pt x="829" y="615"/>
                  </a:moveTo>
                  <a:lnTo>
                    <a:pt x="0" y="615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099" name="Freeform 422"/>
            <p:cNvSpPr>
              <a:spLocks noChangeArrowheads="1"/>
            </p:cNvSpPr>
            <p:nvPr/>
          </p:nvSpPr>
          <p:spPr bwMode="auto">
            <a:xfrm>
              <a:off x="1618" y="2649"/>
              <a:ext cx="31" cy="28"/>
            </a:xfrm>
            <a:custGeom>
              <a:avLst/>
              <a:gdLst>
                <a:gd name="T0" fmla="*/ 14 w 31"/>
                <a:gd name="T1" fmla="*/ 28 h 28"/>
                <a:gd name="T2" fmla="*/ 19 w 31"/>
                <a:gd name="T3" fmla="*/ 28 h 28"/>
                <a:gd name="T4" fmla="*/ 21 w 31"/>
                <a:gd name="T5" fmla="*/ 28 h 28"/>
                <a:gd name="T6" fmla="*/ 21 w 31"/>
                <a:gd name="T7" fmla="*/ 26 h 28"/>
                <a:gd name="T8" fmla="*/ 24 w 31"/>
                <a:gd name="T9" fmla="*/ 26 h 28"/>
                <a:gd name="T10" fmla="*/ 26 w 31"/>
                <a:gd name="T11" fmla="*/ 24 h 28"/>
                <a:gd name="T12" fmla="*/ 29 w 31"/>
                <a:gd name="T13" fmla="*/ 24 h 28"/>
                <a:gd name="T14" fmla="*/ 29 w 31"/>
                <a:gd name="T15" fmla="*/ 21 h 28"/>
                <a:gd name="T16" fmla="*/ 31 w 31"/>
                <a:gd name="T17" fmla="*/ 19 h 28"/>
                <a:gd name="T18" fmla="*/ 31 w 31"/>
                <a:gd name="T19" fmla="*/ 17 h 28"/>
                <a:gd name="T20" fmla="*/ 31 w 31"/>
                <a:gd name="T21" fmla="*/ 14 h 28"/>
                <a:gd name="T22" fmla="*/ 31 w 31"/>
                <a:gd name="T23" fmla="*/ 12 h 28"/>
                <a:gd name="T24" fmla="*/ 31 w 31"/>
                <a:gd name="T25" fmla="*/ 9 h 28"/>
                <a:gd name="T26" fmla="*/ 29 w 31"/>
                <a:gd name="T27" fmla="*/ 7 h 28"/>
                <a:gd name="T28" fmla="*/ 29 w 31"/>
                <a:gd name="T29" fmla="*/ 5 h 28"/>
                <a:gd name="T30" fmla="*/ 26 w 31"/>
                <a:gd name="T31" fmla="*/ 5 h 28"/>
                <a:gd name="T32" fmla="*/ 24 w 31"/>
                <a:gd name="T33" fmla="*/ 2 h 28"/>
                <a:gd name="T34" fmla="*/ 21 w 31"/>
                <a:gd name="T35" fmla="*/ 0 h 28"/>
                <a:gd name="T36" fmla="*/ 21 w 31"/>
                <a:gd name="T37" fmla="*/ 0 h 28"/>
                <a:gd name="T38" fmla="*/ 19 w 31"/>
                <a:gd name="T39" fmla="*/ 0 h 28"/>
                <a:gd name="T40" fmla="*/ 17 w 31"/>
                <a:gd name="T41" fmla="*/ 0 h 28"/>
                <a:gd name="T42" fmla="*/ 14 w 31"/>
                <a:gd name="T43" fmla="*/ 0 h 28"/>
                <a:gd name="T44" fmla="*/ 12 w 31"/>
                <a:gd name="T45" fmla="*/ 0 h 28"/>
                <a:gd name="T46" fmla="*/ 10 w 31"/>
                <a:gd name="T47" fmla="*/ 0 h 28"/>
                <a:gd name="T48" fmla="*/ 7 w 31"/>
                <a:gd name="T49" fmla="*/ 2 h 28"/>
                <a:gd name="T50" fmla="*/ 5 w 31"/>
                <a:gd name="T51" fmla="*/ 5 h 28"/>
                <a:gd name="T52" fmla="*/ 5 w 31"/>
                <a:gd name="T53" fmla="*/ 5 h 28"/>
                <a:gd name="T54" fmla="*/ 2 w 31"/>
                <a:gd name="T55" fmla="*/ 7 h 28"/>
                <a:gd name="T56" fmla="*/ 2 w 31"/>
                <a:gd name="T57" fmla="*/ 9 h 28"/>
                <a:gd name="T58" fmla="*/ 2 w 31"/>
                <a:gd name="T59" fmla="*/ 12 h 28"/>
                <a:gd name="T60" fmla="*/ 0 w 31"/>
                <a:gd name="T61" fmla="*/ 14 h 28"/>
                <a:gd name="T62" fmla="*/ 2 w 31"/>
                <a:gd name="T63" fmla="*/ 17 h 28"/>
                <a:gd name="T64" fmla="*/ 2 w 31"/>
                <a:gd name="T65" fmla="*/ 19 h 28"/>
                <a:gd name="T66" fmla="*/ 2 w 31"/>
                <a:gd name="T67" fmla="*/ 21 h 28"/>
                <a:gd name="T68" fmla="*/ 5 w 31"/>
                <a:gd name="T69" fmla="*/ 24 h 28"/>
                <a:gd name="T70" fmla="*/ 5 w 31"/>
                <a:gd name="T71" fmla="*/ 24 h 28"/>
                <a:gd name="T72" fmla="*/ 7 w 31"/>
                <a:gd name="T73" fmla="*/ 26 h 28"/>
                <a:gd name="T74" fmla="*/ 10 w 31"/>
                <a:gd name="T75" fmla="*/ 26 h 28"/>
                <a:gd name="T76" fmla="*/ 12 w 31"/>
                <a:gd name="T77" fmla="*/ 28 h 28"/>
                <a:gd name="T78" fmla="*/ 14 w 31"/>
                <a:gd name="T79" fmla="*/ 28 h 28"/>
                <a:gd name="T80" fmla="*/ 17 w 31"/>
                <a:gd name="T81" fmla="*/ 28 h 28"/>
                <a:gd name="T82" fmla="*/ 17 w 31"/>
                <a:gd name="T83" fmla="*/ 28 h 28"/>
                <a:gd name="T84" fmla="*/ 14 w 31"/>
                <a:gd name="T85" fmla="*/ 28 h 2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8"/>
                <a:gd name="T131" fmla="*/ 31 w 31"/>
                <a:gd name="T132" fmla="*/ 28 h 2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8">
                  <a:moveTo>
                    <a:pt x="14" y="28"/>
                  </a:moveTo>
                  <a:lnTo>
                    <a:pt x="19" y="28"/>
                  </a:lnTo>
                  <a:lnTo>
                    <a:pt x="21" y="28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1" y="9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10" y="26"/>
                  </a:lnTo>
                  <a:lnTo>
                    <a:pt x="12" y="28"/>
                  </a:lnTo>
                  <a:lnTo>
                    <a:pt x="14" y="28"/>
                  </a:lnTo>
                  <a:lnTo>
                    <a:pt x="17" y="28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100" name="Rectangle 423"/>
            <p:cNvSpPr>
              <a:spLocks noChangeArrowheads="1"/>
            </p:cNvSpPr>
            <p:nvPr/>
          </p:nvSpPr>
          <p:spPr bwMode="auto">
            <a:xfrm>
              <a:off x="3018" y="29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80101" name="Rectangle 424"/>
            <p:cNvSpPr>
              <a:spLocks noChangeArrowheads="1"/>
            </p:cNvSpPr>
            <p:nvPr/>
          </p:nvSpPr>
          <p:spPr bwMode="auto">
            <a:xfrm>
              <a:off x="3056" y="2950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80102" name="Rectangle 425"/>
            <p:cNvSpPr>
              <a:spLocks noChangeArrowheads="1"/>
            </p:cNvSpPr>
            <p:nvPr/>
          </p:nvSpPr>
          <p:spPr bwMode="auto">
            <a:xfrm>
              <a:off x="3070" y="29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80103" name="Rectangle 426"/>
            <p:cNvSpPr>
              <a:spLocks noChangeArrowheads="1"/>
            </p:cNvSpPr>
            <p:nvPr/>
          </p:nvSpPr>
          <p:spPr bwMode="auto">
            <a:xfrm>
              <a:off x="3103" y="29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80104" name="Rectangle 427"/>
            <p:cNvSpPr>
              <a:spLocks noChangeArrowheads="1"/>
            </p:cNvSpPr>
            <p:nvPr/>
          </p:nvSpPr>
          <p:spPr bwMode="auto">
            <a:xfrm>
              <a:off x="3134" y="295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105" name="Rectangle 428"/>
            <p:cNvSpPr>
              <a:spLocks noChangeArrowheads="1"/>
            </p:cNvSpPr>
            <p:nvPr/>
          </p:nvSpPr>
          <p:spPr bwMode="auto">
            <a:xfrm>
              <a:off x="2984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106" name="Rectangle 429"/>
            <p:cNvSpPr>
              <a:spLocks noChangeArrowheads="1"/>
            </p:cNvSpPr>
            <p:nvPr/>
          </p:nvSpPr>
          <p:spPr bwMode="auto">
            <a:xfrm>
              <a:off x="3018" y="3019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80107" name="Rectangle 430"/>
            <p:cNvSpPr>
              <a:spLocks noChangeArrowheads="1"/>
            </p:cNvSpPr>
            <p:nvPr/>
          </p:nvSpPr>
          <p:spPr bwMode="auto">
            <a:xfrm>
              <a:off x="3046" y="301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108" name="Rectangle 431"/>
            <p:cNvSpPr>
              <a:spLocks noChangeArrowheads="1"/>
            </p:cNvSpPr>
            <p:nvPr/>
          </p:nvSpPr>
          <p:spPr bwMode="auto">
            <a:xfrm>
              <a:off x="3063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109" name="Rectangle 432"/>
            <p:cNvSpPr>
              <a:spLocks noChangeArrowheads="1"/>
            </p:cNvSpPr>
            <p:nvPr/>
          </p:nvSpPr>
          <p:spPr bwMode="auto">
            <a:xfrm>
              <a:off x="3096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80110" name="Rectangle 433"/>
            <p:cNvSpPr>
              <a:spLocks noChangeArrowheads="1"/>
            </p:cNvSpPr>
            <p:nvPr/>
          </p:nvSpPr>
          <p:spPr bwMode="auto">
            <a:xfrm>
              <a:off x="3127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80111" name="Line 434"/>
            <p:cNvSpPr>
              <a:spLocks noChangeShapeType="1"/>
            </p:cNvSpPr>
            <p:nvPr/>
          </p:nvSpPr>
          <p:spPr bwMode="auto">
            <a:xfrm flipH="1">
              <a:off x="3403" y="2706"/>
              <a:ext cx="113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112" name="Freeform 435"/>
            <p:cNvSpPr>
              <a:spLocks noChangeArrowheads="1"/>
            </p:cNvSpPr>
            <p:nvPr/>
          </p:nvSpPr>
          <p:spPr bwMode="auto">
            <a:xfrm>
              <a:off x="3183" y="2706"/>
              <a:ext cx="221" cy="312"/>
            </a:xfrm>
            <a:custGeom>
              <a:avLst/>
              <a:gdLst>
                <a:gd name="T0" fmla="*/ 0 w 221"/>
                <a:gd name="T1" fmla="*/ 312 h 312"/>
                <a:gd name="T2" fmla="*/ 221 w 221"/>
                <a:gd name="T3" fmla="*/ 312 h 312"/>
                <a:gd name="T4" fmla="*/ 221 w 221"/>
                <a:gd name="T5" fmla="*/ 0 h 312"/>
                <a:gd name="T6" fmla="*/ 0 60000 65536"/>
                <a:gd name="T7" fmla="*/ 0 60000 65536"/>
                <a:gd name="T8" fmla="*/ 0 60000 65536"/>
                <a:gd name="T9" fmla="*/ 0 w 221"/>
                <a:gd name="T10" fmla="*/ 0 h 312"/>
                <a:gd name="T11" fmla="*/ 221 w 221"/>
                <a:gd name="T12" fmla="*/ 312 h 3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" h="312">
                  <a:moveTo>
                    <a:pt x="0" y="312"/>
                  </a:moveTo>
                  <a:lnTo>
                    <a:pt x="221" y="312"/>
                  </a:lnTo>
                  <a:lnTo>
                    <a:pt x="221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113" name="Freeform 436"/>
            <p:cNvSpPr>
              <a:spLocks noChangeArrowheads="1"/>
            </p:cNvSpPr>
            <p:nvPr/>
          </p:nvSpPr>
          <p:spPr bwMode="auto">
            <a:xfrm>
              <a:off x="3389" y="2692"/>
              <a:ext cx="29" cy="28"/>
            </a:xfrm>
            <a:custGeom>
              <a:avLst/>
              <a:gdLst>
                <a:gd name="T0" fmla="*/ 15 w 29"/>
                <a:gd name="T1" fmla="*/ 28 h 28"/>
                <a:gd name="T2" fmla="*/ 17 w 29"/>
                <a:gd name="T3" fmla="*/ 28 h 28"/>
                <a:gd name="T4" fmla="*/ 19 w 29"/>
                <a:gd name="T5" fmla="*/ 28 h 28"/>
                <a:gd name="T6" fmla="*/ 22 w 29"/>
                <a:gd name="T7" fmla="*/ 28 h 28"/>
                <a:gd name="T8" fmla="*/ 24 w 29"/>
                <a:gd name="T9" fmla="*/ 26 h 28"/>
                <a:gd name="T10" fmla="*/ 24 w 29"/>
                <a:gd name="T11" fmla="*/ 26 h 28"/>
                <a:gd name="T12" fmla="*/ 26 w 29"/>
                <a:gd name="T13" fmla="*/ 23 h 28"/>
                <a:gd name="T14" fmla="*/ 26 w 29"/>
                <a:gd name="T15" fmla="*/ 21 h 28"/>
                <a:gd name="T16" fmla="*/ 29 w 29"/>
                <a:gd name="T17" fmla="*/ 18 h 28"/>
                <a:gd name="T18" fmla="*/ 29 w 29"/>
                <a:gd name="T19" fmla="*/ 16 h 28"/>
                <a:gd name="T20" fmla="*/ 29 w 29"/>
                <a:gd name="T21" fmla="*/ 14 h 28"/>
                <a:gd name="T22" fmla="*/ 29 w 29"/>
                <a:gd name="T23" fmla="*/ 11 h 28"/>
                <a:gd name="T24" fmla="*/ 29 w 29"/>
                <a:gd name="T25" fmla="*/ 9 h 28"/>
                <a:gd name="T26" fmla="*/ 26 w 29"/>
                <a:gd name="T27" fmla="*/ 7 h 28"/>
                <a:gd name="T28" fmla="*/ 26 w 29"/>
                <a:gd name="T29" fmla="*/ 7 h 28"/>
                <a:gd name="T30" fmla="*/ 24 w 29"/>
                <a:gd name="T31" fmla="*/ 4 h 28"/>
                <a:gd name="T32" fmla="*/ 24 w 29"/>
                <a:gd name="T33" fmla="*/ 2 h 28"/>
                <a:gd name="T34" fmla="*/ 22 w 29"/>
                <a:gd name="T35" fmla="*/ 2 h 28"/>
                <a:gd name="T36" fmla="*/ 19 w 29"/>
                <a:gd name="T37" fmla="*/ 0 h 28"/>
                <a:gd name="T38" fmla="*/ 17 w 29"/>
                <a:gd name="T39" fmla="*/ 0 h 28"/>
                <a:gd name="T40" fmla="*/ 15 w 29"/>
                <a:gd name="T41" fmla="*/ 0 h 28"/>
                <a:gd name="T42" fmla="*/ 12 w 29"/>
                <a:gd name="T43" fmla="*/ 0 h 28"/>
                <a:gd name="T44" fmla="*/ 10 w 29"/>
                <a:gd name="T45" fmla="*/ 0 h 28"/>
                <a:gd name="T46" fmla="*/ 8 w 29"/>
                <a:gd name="T47" fmla="*/ 2 h 28"/>
                <a:gd name="T48" fmla="*/ 5 w 29"/>
                <a:gd name="T49" fmla="*/ 2 h 28"/>
                <a:gd name="T50" fmla="*/ 5 w 29"/>
                <a:gd name="T51" fmla="*/ 4 h 28"/>
                <a:gd name="T52" fmla="*/ 3 w 29"/>
                <a:gd name="T53" fmla="*/ 7 h 28"/>
                <a:gd name="T54" fmla="*/ 3 w 29"/>
                <a:gd name="T55" fmla="*/ 7 h 28"/>
                <a:gd name="T56" fmla="*/ 0 w 29"/>
                <a:gd name="T57" fmla="*/ 9 h 28"/>
                <a:gd name="T58" fmla="*/ 0 w 29"/>
                <a:gd name="T59" fmla="*/ 11 h 28"/>
                <a:gd name="T60" fmla="*/ 0 w 29"/>
                <a:gd name="T61" fmla="*/ 14 h 28"/>
                <a:gd name="T62" fmla="*/ 0 w 29"/>
                <a:gd name="T63" fmla="*/ 16 h 28"/>
                <a:gd name="T64" fmla="*/ 0 w 29"/>
                <a:gd name="T65" fmla="*/ 18 h 28"/>
                <a:gd name="T66" fmla="*/ 3 w 29"/>
                <a:gd name="T67" fmla="*/ 21 h 28"/>
                <a:gd name="T68" fmla="*/ 3 w 29"/>
                <a:gd name="T69" fmla="*/ 23 h 28"/>
                <a:gd name="T70" fmla="*/ 5 w 29"/>
                <a:gd name="T71" fmla="*/ 26 h 28"/>
                <a:gd name="T72" fmla="*/ 5 w 29"/>
                <a:gd name="T73" fmla="*/ 26 h 28"/>
                <a:gd name="T74" fmla="*/ 8 w 29"/>
                <a:gd name="T75" fmla="*/ 28 h 28"/>
                <a:gd name="T76" fmla="*/ 10 w 29"/>
                <a:gd name="T77" fmla="*/ 28 h 28"/>
                <a:gd name="T78" fmla="*/ 12 w 29"/>
                <a:gd name="T79" fmla="*/ 28 h 28"/>
                <a:gd name="T80" fmla="*/ 15 w 29"/>
                <a:gd name="T81" fmla="*/ 28 h 28"/>
                <a:gd name="T82" fmla="*/ 15 w 29"/>
                <a:gd name="T83" fmla="*/ 28 h 2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8"/>
                <a:gd name="T128" fmla="*/ 29 w 29"/>
                <a:gd name="T129" fmla="*/ 28 h 2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8">
                  <a:moveTo>
                    <a:pt x="15" y="28"/>
                  </a:moveTo>
                  <a:lnTo>
                    <a:pt x="17" y="28"/>
                  </a:lnTo>
                  <a:lnTo>
                    <a:pt x="19" y="28"/>
                  </a:lnTo>
                  <a:lnTo>
                    <a:pt x="22" y="28"/>
                  </a:lnTo>
                  <a:lnTo>
                    <a:pt x="24" y="26"/>
                  </a:lnTo>
                  <a:lnTo>
                    <a:pt x="26" y="23"/>
                  </a:lnTo>
                  <a:lnTo>
                    <a:pt x="26" y="21"/>
                  </a:lnTo>
                  <a:lnTo>
                    <a:pt x="29" y="18"/>
                  </a:lnTo>
                  <a:lnTo>
                    <a:pt x="29" y="16"/>
                  </a:lnTo>
                  <a:lnTo>
                    <a:pt x="29" y="14"/>
                  </a:lnTo>
                  <a:lnTo>
                    <a:pt x="29" y="11"/>
                  </a:lnTo>
                  <a:lnTo>
                    <a:pt x="29" y="9"/>
                  </a:lnTo>
                  <a:lnTo>
                    <a:pt x="26" y="7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2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5" y="2"/>
                  </a:lnTo>
                  <a:lnTo>
                    <a:pt x="5" y="4"/>
                  </a:lnTo>
                  <a:lnTo>
                    <a:pt x="3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5" y="26"/>
                  </a:lnTo>
                  <a:lnTo>
                    <a:pt x="8" y="28"/>
                  </a:lnTo>
                  <a:lnTo>
                    <a:pt x="10" y="28"/>
                  </a:lnTo>
                  <a:lnTo>
                    <a:pt x="12" y="28"/>
                  </a:lnTo>
                  <a:lnTo>
                    <a:pt x="15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114" name="Rectangle 437"/>
            <p:cNvSpPr>
              <a:spLocks noChangeArrowheads="1"/>
            </p:cNvSpPr>
            <p:nvPr/>
          </p:nvSpPr>
          <p:spPr bwMode="auto">
            <a:xfrm>
              <a:off x="3563" y="2481"/>
              <a:ext cx="4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80115" name="Rectangle 438"/>
            <p:cNvSpPr>
              <a:spLocks noChangeArrowheads="1"/>
            </p:cNvSpPr>
            <p:nvPr/>
          </p:nvSpPr>
          <p:spPr bwMode="auto">
            <a:xfrm>
              <a:off x="3612" y="248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116" name="Rectangle 439"/>
            <p:cNvSpPr>
              <a:spLocks noChangeArrowheads="1"/>
            </p:cNvSpPr>
            <p:nvPr/>
          </p:nvSpPr>
          <p:spPr bwMode="auto">
            <a:xfrm>
              <a:off x="3574" y="254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80117" name="Rectangle 440"/>
            <p:cNvSpPr>
              <a:spLocks noChangeArrowheads="1"/>
            </p:cNvSpPr>
            <p:nvPr/>
          </p:nvSpPr>
          <p:spPr bwMode="auto">
            <a:xfrm>
              <a:off x="3605" y="254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118" name="Rectangle 441"/>
            <p:cNvSpPr>
              <a:spLocks noChangeArrowheads="1"/>
            </p:cNvSpPr>
            <p:nvPr/>
          </p:nvSpPr>
          <p:spPr bwMode="auto">
            <a:xfrm>
              <a:off x="3574" y="2600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80119" name="Rectangle 442"/>
            <p:cNvSpPr>
              <a:spLocks noChangeArrowheads="1"/>
            </p:cNvSpPr>
            <p:nvPr/>
          </p:nvSpPr>
          <p:spPr bwMode="auto">
            <a:xfrm>
              <a:off x="3555" y="267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80120" name="Line 443"/>
            <p:cNvSpPr>
              <a:spLocks noChangeShapeType="1"/>
            </p:cNvSpPr>
            <p:nvPr/>
          </p:nvSpPr>
          <p:spPr bwMode="auto">
            <a:xfrm flipH="1">
              <a:off x="3182" y="2225"/>
              <a:ext cx="571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121" name="Freeform 444"/>
            <p:cNvSpPr>
              <a:spLocks noChangeArrowheads="1"/>
            </p:cNvSpPr>
            <p:nvPr/>
          </p:nvSpPr>
          <p:spPr bwMode="auto">
            <a:xfrm>
              <a:off x="3775" y="2104"/>
              <a:ext cx="365" cy="590"/>
            </a:xfrm>
            <a:custGeom>
              <a:avLst/>
              <a:gdLst>
                <a:gd name="T0" fmla="*/ 0 w 365"/>
                <a:gd name="T1" fmla="*/ 0 h 590"/>
                <a:gd name="T2" fmla="*/ 0 w 365"/>
                <a:gd name="T3" fmla="*/ 239 h 590"/>
                <a:gd name="T4" fmla="*/ 62 w 365"/>
                <a:gd name="T5" fmla="*/ 296 h 590"/>
                <a:gd name="T6" fmla="*/ 0 w 365"/>
                <a:gd name="T7" fmla="*/ 353 h 590"/>
                <a:gd name="T8" fmla="*/ 0 w 365"/>
                <a:gd name="T9" fmla="*/ 590 h 590"/>
                <a:gd name="T10" fmla="*/ 365 w 365"/>
                <a:gd name="T11" fmla="*/ 410 h 590"/>
                <a:gd name="T12" fmla="*/ 365 w 365"/>
                <a:gd name="T13" fmla="*/ 183 h 590"/>
                <a:gd name="T14" fmla="*/ 0 w 365"/>
                <a:gd name="T15" fmla="*/ 3 h 590"/>
                <a:gd name="T16" fmla="*/ 0 w 365"/>
                <a:gd name="T17" fmla="*/ 3 h 590"/>
                <a:gd name="T18" fmla="*/ 0 w 365"/>
                <a:gd name="T19" fmla="*/ 0 h 5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5"/>
                <a:gd name="T31" fmla="*/ 0 h 590"/>
                <a:gd name="T32" fmla="*/ 365 w 365"/>
                <a:gd name="T33" fmla="*/ 590 h 59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5" h="590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3"/>
                  </a:lnTo>
                  <a:lnTo>
                    <a:pt x="0" y="590"/>
                  </a:lnTo>
                  <a:lnTo>
                    <a:pt x="365" y="410"/>
                  </a:lnTo>
                  <a:lnTo>
                    <a:pt x="365" y="183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122" name="Freeform 445"/>
            <p:cNvSpPr>
              <a:spLocks noChangeArrowheads="1"/>
            </p:cNvSpPr>
            <p:nvPr/>
          </p:nvSpPr>
          <p:spPr bwMode="auto">
            <a:xfrm>
              <a:off x="3775" y="2104"/>
              <a:ext cx="365" cy="590"/>
            </a:xfrm>
            <a:custGeom>
              <a:avLst/>
              <a:gdLst>
                <a:gd name="T0" fmla="*/ 0 w 365"/>
                <a:gd name="T1" fmla="*/ 0 h 590"/>
                <a:gd name="T2" fmla="*/ 0 w 365"/>
                <a:gd name="T3" fmla="*/ 239 h 590"/>
                <a:gd name="T4" fmla="*/ 62 w 365"/>
                <a:gd name="T5" fmla="*/ 296 h 590"/>
                <a:gd name="T6" fmla="*/ 0 w 365"/>
                <a:gd name="T7" fmla="*/ 353 h 590"/>
                <a:gd name="T8" fmla="*/ 0 w 365"/>
                <a:gd name="T9" fmla="*/ 590 h 590"/>
                <a:gd name="T10" fmla="*/ 365 w 365"/>
                <a:gd name="T11" fmla="*/ 410 h 590"/>
                <a:gd name="T12" fmla="*/ 365 w 365"/>
                <a:gd name="T13" fmla="*/ 183 h 590"/>
                <a:gd name="T14" fmla="*/ 0 w 365"/>
                <a:gd name="T15" fmla="*/ 3 h 590"/>
                <a:gd name="T16" fmla="*/ 0 w 365"/>
                <a:gd name="T17" fmla="*/ 3 h 5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5"/>
                <a:gd name="T28" fmla="*/ 0 h 590"/>
                <a:gd name="T29" fmla="*/ 365 w 365"/>
                <a:gd name="T30" fmla="*/ 590 h 5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5" h="590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3"/>
                  </a:lnTo>
                  <a:lnTo>
                    <a:pt x="0" y="590"/>
                  </a:lnTo>
                  <a:lnTo>
                    <a:pt x="365" y="410"/>
                  </a:lnTo>
                  <a:lnTo>
                    <a:pt x="365" y="183"/>
                  </a:lnTo>
                  <a:lnTo>
                    <a:pt x="0" y="3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123" name="Rectangle 446"/>
            <p:cNvSpPr>
              <a:spLocks noChangeArrowheads="1"/>
            </p:cNvSpPr>
            <p:nvPr/>
          </p:nvSpPr>
          <p:spPr bwMode="auto">
            <a:xfrm>
              <a:off x="4019" y="2382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0124" name="Rectangle 447"/>
            <p:cNvSpPr>
              <a:spLocks noChangeArrowheads="1"/>
            </p:cNvSpPr>
            <p:nvPr/>
          </p:nvSpPr>
          <p:spPr bwMode="auto">
            <a:xfrm>
              <a:off x="4057" y="23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80125" name="Rectangle 448"/>
            <p:cNvSpPr>
              <a:spLocks noChangeArrowheads="1"/>
            </p:cNvSpPr>
            <p:nvPr/>
          </p:nvSpPr>
          <p:spPr bwMode="auto">
            <a:xfrm>
              <a:off x="4090" y="2382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80126" name="Rectangle 449"/>
            <p:cNvSpPr>
              <a:spLocks noChangeArrowheads="1"/>
            </p:cNvSpPr>
            <p:nvPr/>
          </p:nvSpPr>
          <p:spPr bwMode="auto">
            <a:xfrm>
              <a:off x="4133" y="2382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127" name="Rectangle 450"/>
            <p:cNvSpPr>
              <a:spLocks noChangeArrowheads="1"/>
            </p:cNvSpPr>
            <p:nvPr/>
          </p:nvSpPr>
          <p:spPr bwMode="auto">
            <a:xfrm>
              <a:off x="3972" y="244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128" name="Rectangle 451"/>
            <p:cNvSpPr>
              <a:spLocks noChangeArrowheads="1"/>
            </p:cNvSpPr>
            <p:nvPr/>
          </p:nvSpPr>
          <p:spPr bwMode="auto">
            <a:xfrm>
              <a:off x="3993" y="244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129" name="Rectangle 452"/>
            <p:cNvSpPr>
              <a:spLocks noChangeArrowheads="1"/>
            </p:cNvSpPr>
            <p:nvPr/>
          </p:nvSpPr>
          <p:spPr bwMode="auto">
            <a:xfrm>
              <a:off x="4024" y="244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80130" name="Rectangle 453"/>
            <p:cNvSpPr>
              <a:spLocks noChangeArrowheads="1"/>
            </p:cNvSpPr>
            <p:nvPr/>
          </p:nvSpPr>
          <p:spPr bwMode="auto">
            <a:xfrm>
              <a:off x="4055" y="244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80131" name="Rectangle 454"/>
            <p:cNvSpPr>
              <a:spLocks noChangeArrowheads="1"/>
            </p:cNvSpPr>
            <p:nvPr/>
          </p:nvSpPr>
          <p:spPr bwMode="auto">
            <a:xfrm>
              <a:off x="4086" y="2441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80132" name="Rectangle 455"/>
            <p:cNvSpPr>
              <a:spLocks noChangeArrowheads="1"/>
            </p:cNvSpPr>
            <p:nvPr/>
          </p:nvSpPr>
          <p:spPr bwMode="auto">
            <a:xfrm>
              <a:off x="4100" y="244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133" name="Rectangle 456"/>
            <p:cNvSpPr>
              <a:spLocks noChangeArrowheads="1"/>
            </p:cNvSpPr>
            <p:nvPr/>
          </p:nvSpPr>
          <p:spPr bwMode="auto">
            <a:xfrm>
              <a:off x="4005" y="2289"/>
              <a:ext cx="3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Z</a:t>
              </a:r>
            </a:p>
          </p:txBody>
        </p:sp>
        <p:sp>
          <p:nvSpPr>
            <p:cNvPr id="80134" name="Rectangle 457"/>
            <p:cNvSpPr>
              <a:spLocks noChangeArrowheads="1"/>
            </p:cNvSpPr>
            <p:nvPr/>
          </p:nvSpPr>
          <p:spPr bwMode="auto">
            <a:xfrm>
              <a:off x="4041" y="228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135" name="Rectangle 458"/>
            <p:cNvSpPr>
              <a:spLocks noChangeArrowheads="1"/>
            </p:cNvSpPr>
            <p:nvPr/>
          </p:nvSpPr>
          <p:spPr bwMode="auto">
            <a:xfrm>
              <a:off x="4071" y="2289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136" name="Rectangle 459"/>
            <p:cNvSpPr>
              <a:spLocks noChangeArrowheads="1"/>
            </p:cNvSpPr>
            <p:nvPr/>
          </p:nvSpPr>
          <p:spPr bwMode="auto">
            <a:xfrm>
              <a:off x="4093" y="228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80137" name="Rectangle 460"/>
            <p:cNvSpPr>
              <a:spLocks noChangeArrowheads="1"/>
            </p:cNvSpPr>
            <p:nvPr/>
          </p:nvSpPr>
          <p:spPr bwMode="auto">
            <a:xfrm>
              <a:off x="4656" y="12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80138" name="Rectangle 461"/>
            <p:cNvSpPr>
              <a:spLocks noChangeArrowheads="1"/>
            </p:cNvSpPr>
            <p:nvPr/>
          </p:nvSpPr>
          <p:spPr bwMode="auto">
            <a:xfrm>
              <a:off x="4694" y="1250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80139" name="Rectangle 462"/>
            <p:cNvSpPr>
              <a:spLocks noChangeArrowheads="1"/>
            </p:cNvSpPr>
            <p:nvPr/>
          </p:nvSpPr>
          <p:spPr bwMode="auto">
            <a:xfrm>
              <a:off x="4737" y="12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80140" name="Rectangle 463"/>
            <p:cNvSpPr>
              <a:spLocks noChangeArrowheads="1"/>
            </p:cNvSpPr>
            <p:nvPr/>
          </p:nvSpPr>
          <p:spPr bwMode="auto">
            <a:xfrm>
              <a:off x="4777" y="1250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141" name="Rectangle 464"/>
            <p:cNvSpPr>
              <a:spLocks noChangeArrowheads="1"/>
            </p:cNvSpPr>
            <p:nvPr/>
          </p:nvSpPr>
          <p:spPr bwMode="auto">
            <a:xfrm>
              <a:off x="4796" y="1250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EB75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80142" name="Rectangle 465"/>
            <p:cNvSpPr>
              <a:spLocks noChangeArrowheads="1"/>
            </p:cNvSpPr>
            <p:nvPr/>
          </p:nvSpPr>
          <p:spPr bwMode="auto">
            <a:xfrm>
              <a:off x="4746" y="2626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80143" name="Rectangle 466"/>
            <p:cNvSpPr>
              <a:spLocks noChangeArrowheads="1"/>
            </p:cNvSpPr>
            <p:nvPr/>
          </p:nvSpPr>
          <p:spPr bwMode="auto">
            <a:xfrm>
              <a:off x="4789" y="262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0144" name="Rectangle 467"/>
            <p:cNvSpPr>
              <a:spLocks noChangeArrowheads="1"/>
            </p:cNvSpPr>
            <p:nvPr/>
          </p:nvSpPr>
          <p:spPr bwMode="auto">
            <a:xfrm>
              <a:off x="4822" y="262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145" name="Rectangle 468"/>
            <p:cNvSpPr>
              <a:spLocks noChangeArrowheads="1"/>
            </p:cNvSpPr>
            <p:nvPr/>
          </p:nvSpPr>
          <p:spPr bwMode="auto">
            <a:xfrm>
              <a:off x="4839" y="262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0146" name="Rectangle 469"/>
            <p:cNvSpPr>
              <a:spLocks noChangeArrowheads="1"/>
            </p:cNvSpPr>
            <p:nvPr/>
          </p:nvSpPr>
          <p:spPr bwMode="auto">
            <a:xfrm>
              <a:off x="4872" y="2626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147" name="Rectangle 470"/>
            <p:cNvSpPr>
              <a:spLocks noChangeArrowheads="1"/>
            </p:cNvSpPr>
            <p:nvPr/>
          </p:nvSpPr>
          <p:spPr bwMode="auto">
            <a:xfrm>
              <a:off x="4706" y="2694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80148" name="Rectangle 471"/>
            <p:cNvSpPr>
              <a:spLocks noChangeArrowheads="1"/>
            </p:cNvSpPr>
            <p:nvPr/>
          </p:nvSpPr>
          <p:spPr bwMode="auto">
            <a:xfrm>
              <a:off x="4753" y="26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149" name="Rectangle 472"/>
            <p:cNvSpPr>
              <a:spLocks noChangeArrowheads="1"/>
            </p:cNvSpPr>
            <p:nvPr/>
          </p:nvSpPr>
          <p:spPr bwMode="auto">
            <a:xfrm>
              <a:off x="4787" y="2694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80150" name="Rectangle 473"/>
            <p:cNvSpPr>
              <a:spLocks noChangeArrowheads="1"/>
            </p:cNvSpPr>
            <p:nvPr/>
          </p:nvSpPr>
          <p:spPr bwMode="auto">
            <a:xfrm>
              <a:off x="4836" y="26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80151" name="Rectangle 474"/>
            <p:cNvSpPr>
              <a:spLocks noChangeArrowheads="1"/>
            </p:cNvSpPr>
            <p:nvPr/>
          </p:nvSpPr>
          <p:spPr bwMode="auto">
            <a:xfrm>
              <a:off x="4867" y="2694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152" name="Rectangle 475"/>
            <p:cNvSpPr>
              <a:spLocks noChangeArrowheads="1"/>
            </p:cNvSpPr>
            <p:nvPr/>
          </p:nvSpPr>
          <p:spPr bwMode="auto">
            <a:xfrm>
              <a:off x="4889" y="2694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80153" name="Rectangle 476"/>
            <p:cNvSpPr>
              <a:spLocks noChangeArrowheads="1"/>
            </p:cNvSpPr>
            <p:nvPr/>
          </p:nvSpPr>
          <p:spPr bwMode="auto">
            <a:xfrm>
              <a:off x="4406" y="2739"/>
              <a:ext cx="5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80154" name="Rectangle 477"/>
            <p:cNvSpPr>
              <a:spLocks noChangeArrowheads="1"/>
            </p:cNvSpPr>
            <p:nvPr/>
          </p:nvSpPr>
          <p:spPr bwMode="auto">
            <a:xfrm>
              <a:off x="4462" y="2739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155" name="Rectangle 478"/>
            <p:cNvSpPr>
              <a:spLocks noChangeArrowheads="1"/>
            </p:cNvSpPr>
            <p:nvPr/>
          </p:nvSpPr>
          <p:spPr bwMode="auto">
            <a:xfrm>
              <a:off x="4481" y="2739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80156" name="Rectangle 479"/>
            <p:cNvSpPr>
              <a:spLocks noChangeArrowheads="1"/>
            </p:cNvSpPr>
            <p:nvPr/>
          </p:nvSpPr>
          <p:spPr bwMode="auto">
            <a:xfrm>
              <a:off x="4495" y="273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157" name="Rectangle 480"/>
            <p:cNvSpPr>
              <a:spLocks noChangeArrowheads="1"/>
            </p:cNvSpPr>
            <p:nvPr/>
          </p:nvSpPr>
          <p:spPr bwMode="auto">
            <a:xfrm>
              <a:off x="4510" y="27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158" name="Rectangle 481"/>
            <p:cNvSpPr>
              <a:spLocks noChangeArrowheads="1"/>
            </p:cNvSpPr>
            <p:nvPr/>
          </p:nvSpPr>
          <p:spPr bwMode="auto">
            <a:xfrm>
              <a:off x="4543" y="273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159" name="Rectangle 482"/>
            <p:cNvSpPr>
              <a:spLocks noChangeArrowheads="1"/>
            </p:cNvSpPr>
            <p:nvPr/>
          </p:nvSpPr>
          <p:spPr bwMode="auto">
            <a:xfrm>
              <a:off x="4408" y="279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80160" name="Rectangle 483"/>
            <p:cNvSpPr>
              <a:spLocks noChangeArrowheads="1"/>
            </p:cNvSpPr>
            <p:nvPr/>
          </p:nvSpPr>
          <p:spPr bwMode="auto">
            <a:xfrm>
              <a:off x="4439" y="279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0161" name="Rectangle 484"/>
            <p:cNvSpPr>
              <a:spLocks noChangeArrowheads="1"/>
            </p:cNvSpPr>
            <p:nvPr/>
          </p:nvSpPr>
          <p:spPr bwMode="auto">
            <a:xfrm>
              <a:off x="4472" y="279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162" name="Rectangle 485"/>
            <p:cNvSpPr>
              <a:spLocks noChangeArrowheads="1"/>
            </p:cNvSpPr>
            <p:nvPr/>
          </p:nvSpPr>
          <p:spPr bwMode="auto">
            <a:xfrm>
              <a:off x="4488" y="279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0163" name="Rectangle 486"/>
            <p:cNvSpPr>
              <a:spLocks noChangeArrowheads="1"/>
            </p:cNvSpPr>
            <p:nvPr/>
          </p:nvSpPr>
          <p:spPr bwMode="auto">
            <a:xfrm>
              <a:off x="4881" y="2413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164" name="Rectangle 487"/>
            <p:cNvSpPr>
              <a:spLocks noChangeArrowheads="1"/>
            </p:cNvSpPr>
            <p:nvPr/>
          </p:nvSpPr>
          <p:spPr bwMode="auto">
            <a:xfrm>
              <a:off x="4924" y="24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165" name="Rectangle 488"/>
            <p:cNvSpPr>
              <a:spLocks noChangeArrowheads="1"/>
            </p:cNvSpPr>
            <p:nvPr/>
          </p:nvSpPr>
          <p:spPr bwMode="auto">
            <a:xfrm>
              <a:off x="4957" y="24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0166" name="Rectangle 489"/>
            <p:cNvSpPr>
              <a:spLocks noChangeArrowheads="1"/>
            </p:cNvSpPr>
            <p:nvPr/>
          </p:nvSpPr>
          <p:spPr bwMode="auto">
            <a:xfrm>
              <a:off x="4988" y="24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80167" name="Rectangle 490"/>
            <p:cNvSpPr>
              <a:spLocks noChangeArrowheads="1"/>
            </p:cNvSpPr>
            <p:nvPr/>
          </p:nvSpPr>
          <p:spPr bwMode="auto">
            <a:xfrm>
              <a:off x="5021" y="2413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168" name="Rectangle 491"/>
            <p:cNvSpPr>
              <a:spLocks noChangeArrowheads="1"/>
            </p:cNvSpPr>
            <p:nvPr/>
          </p:nvSpPr>
          <p:spPr bwMode="auto">
            <a:xfrm>
              <a:off x="4900" y="24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80169" name="Rectangle 492"/>
            <p:cNvSpPr>
              <a:spLocks noChangeArrowheads="1"/>
            </p:cNvSpPr>
            <p:nvPr/>
          </p:nvSpPr>
          <p:spPr bwMode="auto">
            <a:xfrm>
              <a:off x="4931" y="24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0170" name="Rectangle 493"/>
            <p:cNvSpPr>
              <a:spLocks noChangeArrowheads="1"/>
            </p:cNvSpPr>
            <p:nvPr/>
          </p:nvSpPr>
          <p:spPr bwMode="auto">
            <a:xfrm>
              <a:off x="4964" y="246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171" name="Rectangle 494"/>
            <p:cNvSpPr>
              <a:spLocks noChangeArrowheads="1"/>
            </p:cNvSpPr>
            <p:nvPr/>
          </p:nvSpPr>
          <p:spPr bwMode="auto">
            <a:xfrm>
              <a:off x="4981" y="24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0172" name="Rectangle 495"/>
            <p:cNvSpPr>
              <a:spLocks noChangeArrowheads="1"/>
            </p:cNvSpPr>
            <p:nvPr/>
          </p:nvSpPr>
          <p:spPr bwMode="auto">
            <a:xfrm>
              <a:off x="5200" y="2514"/>
              <a:ext cx="4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80173" name="Rectangle 496"/>
            <p:cNvSpPr>
              <a:spLocks noChangeArrowheads="1"/>
            </p:cNvSpPr>
            <p:nvPr/>
          </p:nvSpPr>
          <p:spPr bwMode="auto">
            <a:xfrm>
              <a:off x="5246" y="251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174" name="Rectangle 497"/>
            <p:cNvSpPr>
              <a:spLocks noChangeArrowheads="1"/>
            </p:cNvSpPr>
            <p:nvPr/>
          </p:nvSpPr>
          <p:spPr bwMode="auto">
            <a:xfrm>
              <a:off x="5208" y="257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80175" name="Rectangle 498"/>
            <p:cNvSpPr>
              <a:spLocks noChangeArrowheads="1"/>
            </p:cNvSpPr>
            <p:nvPr/>
          </p:nvSpPr>
          <p:spPr bwMode="auto">
            <a:xfrm>
              <a:off x="5241" y="257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176" name="Rectangle 499"/>
            <p:cNvSpPr>
              <a:spLocks noChangeArrowheads="1"/>
            </p:cNvSpPr>
            <p:nvPr/>
          </p:nvSpPr>
          <p:spPr bwMode="auto">
            <a:xfrm>
              <a:off x="5208" y="2630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80177" name="Rectangle 500"/>
            <p:cNvSpPr>
              <a:spLocks noChangeArrowheads="1"/>
            </p:cNvSpPr>
            <p:nvPr/>
          </p:nvSpPr>
          <p:spPr bwMode="auto">
            <a:xfrm>
              <a:off x="5192" y="244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80178" name="Line 501"/>
            <p:cNvSpPr>
              <a:spLocks noChangeShapeType="1"/>
            </p:cNvSpPr>
            <p:nvPr/>
          </p:nvSpPr>
          <p:spPr bwMode="auto">
            <a:xfrm flipH="1">
              <a:off x="1634" y="2310"/>
              <a:ext cx="475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179" name="Rectangle 502"/>
            <p:cNvSpPr>
              <a:spLocks noChangeArrowheads="1"/>
            </p:cNvSpPr>
            <p:nvPr/>
          </p:nvSpPr>
          <p:spPr bwMode="auto">
            <a:xfrm>
              <a:off x="1662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80180" name="Rectangle 503"/>
            <p:cNvSpPr>
              <a:spLocks noChangeArrowheads="1"/>
            </p:cNvSpPr>
            <p:nvPr/>
          </p:nvSpPr>
          <p:spPr bwMode="auto">
            <a:xfrm>
              <a:off x="1677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80181" name="Rectangle 504"/>
            <p:cNvSpPr>
              <a:spLocks noChangeArrowheads="1"/>
            </p:cNvSpPr>
            <p:nvPr/>
          </p:nvSpPr>
          <p:spPr bwMode="auto">
            <a:xfrm>
              <a:off x="1710" y="257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80182" name="Rectangle 505"/>
            <p:cNvSpPr>
              <a:spLocks noChangeArrowheads="1"/>
            </p:cNvSpPr>
            <p:nvPr/>
          </p:nvSpPr>
          <p:spPr bwMode="auto">
            <a:xfrm>
              <a:off x="1739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183" name="Rectangle 506"/>
            <p:cNvSpPr>
              <a:spLocks noChangeArrowheads="1"/>
            </p:cNvSpPr>
            <p:nvPr/>
          </p:nvSpPr>
          <p:spPr bwMode="auto">
            <a:xfrm>
              <a:off x="1755" y="257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184" name="Rectangle 507"/>
            <p:cNvSpPr>
              <a:spLocks noChangeArrowheads="1"/>
            </p:cNvSpPr>
            <p:nvPr/>
          </p:nvSpPr>
          <p:spPr bwMode="auto">
            <a:xfrm>
              <a:off x="1774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80185" name="Rectangle 508"/>
            <p:cNvSpPr>
              <a:spLocks noChangeArrowheads="1"/>
            </p:cNvSpPr>
            <p:nvPr/>
          </p:nvSpPr>
          <p:spPr bwMode="auto">
            <a:xfrm>
              <a:off x="1808" y="257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80186" name="Rectangle 509"/>
            <p:cNvSpPr>
              <a:spLocks noChangeArrowheads="1"/>
            </p:cNvSpPr>
            <p:nvPr/>
          </p:nvSpPr>
          <p:spPr bwMode="auto">
            <a:xfrm>
              <a:off x="1836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187" name="Rectangle 510"/>
            <p:cNvSpPr>
              <a:spLocks noChangeArrowheads="1"/>
            </p:cNvSpPr>
            <p:nvPr/>
          </p:nvSpPr>
          <p:spPr bwMode="auto">
            <a:xfrm>
              <a:off x="1852" y="2578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80188" name="Rectangle 511"/>
            <p:cNvSpPr>
              <a:spLocks noChangeArrowheads="1"/>
            </p:cNvSpPr>
            <p:nvPr/>
          </p:nvSpPr>
          <p:spPr bwMode="auto">
            <a:xfrm>
              <a:off x="1867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80189" name="Rectangle 512"/>
            <p:cNvSpPr>
              <a:spLocks noChangeArrowheads="1"/>
            </p:cNvSpPr>
            <p:nvPr/>
          </p:nvSpPr>
          <p:spPr bwMode="auto">
            <a:xfrm>
              <a:off x="1898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80190" name="Rectangle 513"/>
            <p:cNvSpPr>
              <a:spLocks noChangeArrowheads="1"/>
            </p:cNvSpPr>
            <p:nvPr/>
          </p:nvSpPr>
          <p:spPr bwMode="auto">
            <a:xfrm>
              <a:off x="1931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80191" name="Rectangle 514"/>
            <p:cNvSpPr>
              <a:spLocks noChangeArrowheads="1"/>
            </p:cNvSpPr>
            <p:nvPr/>
          </p:nvSpPr>
          <p:spPr bwMode="auto">
            <a:xfrm>
              <a:off x="1947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80192" name="Rectangle 515"/>
            <p:cNvSpPr>
              <a:spLocks noChangeArrowheads="1"/>
            </p:cNvSpPr>
            <p:nvPr/>
          </p:nvSpPr>
          <p:spPr bwMode="auto">
            <a:xfrm>
              <a:off x="1964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80193" name="Rectangle 516"/>
            <p:cNvSpPr>
              <a:spLocks noChangeArrowheads="1"/>
            </p:cNvSpPr>
            <p:nvPr/>
          </p:nvSpPr>
          <p:spPr bwMode="auto">
            <a:xfrm>
              <a:off x="1995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80194" name="Rectangle 517"/>
            <p:cNvSpPr>
              <a:spLocks noChangeArrowheads="1"/>
            </p:cNvSpPr>
            <p:nvPr/>
          </p:nvSpPr>
          <p:spPr bwMode="auto">
            <a:xfrm>
              <a:off x="2028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80195" name="Rectangle 518"/>
            <p:cNvSpPr>
              <a:spLocks noChangeArrowheads="1"/>
            </p:cNvSpPr>
            <p:nvPr/>
          </p:nvSpPr>
          <p:spPr bwMode="auto">
            <a:xfrm>
              <a:off x="2044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80196" name="Rectangle 519"/>
            <p:cNvSpPr>
              <a:spLocks noChangeArrowheads="1"/>
            </p:cNvSpPr>
            <p:nvPr/>
          </p:nvSpPr>
          <p:spPr bwMode="auto">
            <a:xfrm>
              <a:off x="2061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80197" name="Rectangle 520"/>
            <p:cNvSpPr>
              <a:spLocks noChangeArrowheads="1"/>
            </p:cNvSpPr>
            <p:nvPr/>
          </p:nvSpPr>
          <p:spPr bwMode="auto">
            <a:xfrm>
              <a:off x="2094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80198" name="Rectangle 521"/>
            <p:cNvSpPr>
              <a:spLocks noChangeArrowheads="1"/>
            </p:cNvSpPr>
            <p:nvPr/>
          </p:nvSpPr>
          <p:spPr bwMode="auto">
            <a:xfrm>
              <a:off x="2125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80199" name="Line 522"/>
            <p:cNvSpPr>
              <a:spLocks noChangeShapeType="1"/>
            </p:cNvSpPr>
            <p:nvPr/>
          </p:nvSpPr>
          <p:spPr bwMode="auto">
            <a:xfrm flipH="1">
              <a:off x="3182" y="2443"/>
              <a:ext cx="334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200" name="Line 523"/>
            <p:cNvSpPr>
              <a:spLocks noChangeShapeType="1"/>
            </p:cNvSpPr>
            <p:nvPr/>
          </p:nvSpPr>
          <p:spPr bwMode="auto">
            <a:xfrm flipH="1">
              <a:off x="4139" y="2474"/>
              <a:ext cx="90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201" name="Freeform 524"/>
            <p:cNvSpPr>
              <a:spLocks noChangeArrowheads="1"/>
            </p:cNvSpPr>
            <p:nvPr/>
          </p:nvSpPr>
          <p:spPr bwMode="auto">
            <a:xfrm>
              <a:off x="4228" y="2476"/>
              <a:ext cx="921" cy="497"/>
            </a:xfrm>
            <a:custGeom>
              <a:avLst/>
              <a:gdLst>
                <a:gd name="T0" fmla="*/ 921 w 921"/>
                <a:gd name="T1" fmla="*/ 261 h 497"/>
                <a:gd name="T2" fmla="*/ 855 w 921"/>
                <a:gd name="T3" fmla="*/ 261 h 497"/>
                <a:gd name="T4" fmla="*/ 855 w 921"/>
                <a:gd name="T5" fmla="*/ 497 h 497"/>
                <a:gd name="T6" fmla="*/ 0 w 921"/>
                <a:gd name="T7" fmla="*/ 497 h 497"/>
                <a:gd name="T8" fmla="*/ 0 w 921"/>
                <a:gd name="T9" fmla="*/ 0 h 4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21"/>
                <a:gd name="T16" fmla="*/ 0 h 497"/>
                <a:gd name="T17" fmla="*/ 921 w 921"/>
                <a:gd name="T18" fmla="*/ 497 h 4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21" h="497">
                  <a:moveTo>
                    <a:pt x="921" y="261"/>
                  </a:moveTo>
                  <a:lnTo>
                    <a:pt x="855" y="261"/>
                  </a:lnTo>
                  <a:lnTo>
                    <a:pt x="855" y="497"/>
                  </a:lnTo>
                  <a:lnTo>
                    <a:pt x="0" y="497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02" name="Freeform 525"/>
            <p:cNvSpPr>
              <a:spLocks noChangeArrowheads="1"/>
            </p:cNvSpPr>
            <p:nvPr/>
          </p:nvSpPr>
          <p:spPr bwMode="auto">
            <a:xfrm>
              <a:off x="3508" y="1152"/>
              <a:ext cx="180" cy="289"/>
            </a:xfrm>
            <a:custGeom>
              <a:avLst/>
              <a:gdLst>
                <a:gd name="T0" fmla="*/ 90 w 180"/>
                <a:gd name="T1" fmla="*/ 287 h 289"/>
                <a:gd name="T2" fmla="*/ 104 w 180"/>
                <a:gd name="T3" fmla="*/ 287 h 289"/>
                <a:gd name="T4" fmla="*/ 118 w 180"/>
                <a:gd name="T5" fmla="*/ 280 h 289"/>
                <a:gd name="T6" fmla="*/ 132 w 180"/>
                <a:gd name="T7" fmla="*/ 273 h 289"/>
                <a:gd name="T8" fmla="*/ 144 w 180"/>
                <a:gd name="T9" fmla="*/ 261 h 289"/>
                <a:gd name="T10" fmla="*/ 154 w 180"/>
                <a:gd name="T11" fmla="*/ 247 h 289"/>
                <a:gd name="T12" fmla="*/ 163 w 180"/>
                <a:gd name="T13" fmla="*/ 230 h 289"/>
                <a:gd name="T14" fmla="*/ 170 w 180"/>
                <a:gd name="T15" fmla="*/ 211 h 289"/>
                <a:gd name="T16" fmla="*/ 175 w 180"/>
                <a:gd name="T17" fmla="*/ 190 h 289"/>
                <a:gd name="T18" fmla="*/ 180 w 180"/>
                <a:gd name="T19" fmla="*/ 169 h 289"/>
                <a:gd name="T20" fmla="*/ 180 w 180"/>
                <a:gd name="T21" fmla="*/ 145 h 289"/>
                <a:gd name="T22" fmla="*/ 180 w 180"/>
                <a:gd name="T23" fmla="*/ 121 h 289"/>
                <a:gd name="T24" fmla="*/ 175 w 180"/>
                <a:gd name="T25" fmla="*/ 100 h 289"/>
                <a:gd name="T26" fmla="*/ 170 w 180"/>
                <a:gd name="T27" fmla="*/ 79 h 289"/>
                <a:gd name="T28" fmla="*/ 163 w 180"/>
                <a:gd name="T29" fmla="*/ 60 h 289"/>
                <a:gd name="T30" fmla="*/ 154 w 180"/>
                <a:gd name="T31" fmla="*/ 43 h 289"/>
                <a:gd name="T32" fmla="*/ 144 w 180"/>
                <a:gd name="T33" fmla="*/ 29 h 289"/>
                <a:gd name="T34" fmla="*/ 132 w 180"/>
                <a:gd name="T35" fmla="*/ 17 h 289"/>
                <a:gd name="T36" fmla="*/ 118 w 180"/>
                <a:gd name="T37" fmla="*/ 8 h 289"/>
                <a:gd name="T38" fmla="*/ 104 w 180"/>
                <a:gd name="T39" fmla="*/ 3 h 289"/>
                <a:gd name="T40" fmla="*/ 90 w 180"/>
                <a:gd name="T41" fmla="*/ 0 h 289"/>
                <a:gd name="T42" fmla="*/ 76 w 180"/>
                <a:gd name="T43" fmla="*/ 3 h 289"/>
                <a:gd name="T44" fmla="*/ 61 w 180"/>
                <a:gd name="T45" fmla="*/ 8 h 289"/>
                <a:gd name="T46" fmla="*/ 50 w 180"/>
                <a:gd name="T47" fmla="*/ 17 h 289"/>
                <a:gd name="T48" fmla="*/ 38 w 180"/>
                <a:gd name="T49" fmla="*/ 29 h 289"/>
                <a:gd name="T50" fmla="*/ 26 w 180"/>
                <a:gd name="T51" fmla="*/ 43 h 289"/>
                <a:gd name="T52" fmla="*/ 16 w 180"/>
                <a:gd name="T53" fmla="*/ 60 h 289"/>
                <a:gd name="T54" fmla="*/ 9 w 180"/>
                <a:gd name="T55" fmla="*/ 79 h 289"/>
                <a:gd name="T56" fmla="*/ 5 w 180"/>
                <a:gd name="T57" fmla="*/ 100 h 289"/>
                <a:gd name="T58" fmla="*/ 2 w 180"/>
                <a:gd name="T59" fmla="*/ 121 h 289"/>
                <a:gd name="T60" fmla="*/ 0 w 180"/>
                <a:gd name="T61" fmla="*/ 145 h 289"/>
                <a:gd name="T62" fmla="*/ 2 w 180"/>
                <a:gd name="T63" fmla="*/ 169 h 289"/>
                <a:gd name="T64" fmla="*/ 5 w 180"/>
                <a:gd name="T65" fmla="*/ 190 h 289"/>
                <a:gd name="T66" fmla="*/ 9 w 180"/>
                <a:gd name="T67" fmla="*/ 211 h 289"/>
                <a:gd name="T68" fmla="*/ 16 w 180"/>
                <a:gd name="T69" fmla="*/ 230 h 289"/>
                <a:gd name="T70" fmla="*/ 26 w 180"/>
                <a:gd name="T71" fmla="*/ 247 h 289"/>
                <a:gd name="T72" fmla="*/ 38 w 180"/>
                <a:gd name="T73" fmla="*/ 261 h 289"/>
                <a:gd name="T74" fmla="*/ 50 w 180"/>
                <a:gd name="T75" fmla="*/ 273 h 289"/>
                <a:gd name="T76" fmla="*/ 61 w 180"/>
                <a:gd name="T77" fmla="*/ 280 h 289"/>
                <a:gd name="T78" fmla="*/ 76 w 180"/>
                <a:gd name="T79" fmla="*/ 287 h 289"/>
                <a:gd name="T80" fmla="*/ 90 w 180"/>
                <a:gd name="T81" fmla="*/ 289 h 289"/>
                <a:gd name="T82" fmla="*/ 90 w 180"/>
                <a:gd name="T83" fmla="*/ 289 h 289"/>
                <a:gd name="T84" fmla="*/ 90 w 180"/>
                <a:gd name="T85" fmla="*/ 287 h 28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80"/>
                <a:gd name="T130" fmla="*/ 0 h 289"/>
                <a:gd name="T131" fmla="*/ 180 w 180"/>
                <a:gd name="T132" fmla="*/ 289 h 28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80" h="289">
                  <a:moveTo>
                    <a:pt x="90" y="287"/>
                  </a:moveTo>
                  <a:lnTo>
                    <a:pt x="104" y="287"/>
                  </a:lnTo>
                  <a:lnTo>
                    <a:pt x="118" y="280"/>
                  </a:lnTo>
                  <a:lnTo>
                    <a:pt x="132" y="273"/>
                  </a:lnTo>
                  <a:lnTo>
                    <a:pt x="144" y="261"/>
                  </a:lnTo>
                  <a:lnTo>
                    <a:pt x="154" y="247"/>
                  </a:lnTo>
                  <a:lnTo>
                    <a:pt x="163" y="230"/>
                  </a:lnTo>
                  <a:lnTo>
                    <a:pt x="170" y="211"/>
                  </a:lnTo>
                  <a:lnTo>
                    <a:pt x="175" y="190"/>
                  </a:lnTo>
                  <a:lnTo>
                    <a:pt x="180" y="169"/>
                  </a:lnTo>
                  <a:lnTo>
                    <a:pt x="180" y="145"/>
                  </a:lnTo>
                  <a:lnTo>
                    <a:pt x="180" y="121"/>
                  </a:lnTo>
                  <a:lnTo>
                    <a:pt x="175" y="100"/>
                  </a:lnTo>
                  <a:lnTo>
                    <a:pt x="170" y="79"/>
                  </a:lnTo>
                  <a:lnTo>
                    <a:pt x="163" y="60"/>
                  </a:lnTo>
                  <a:lnTo>
                    <a:pt x="154" y="43"/>
                  </a:lnTo>
                  <a:lnTo>
                    <a:pt x="144" y="29"/>
                  </a:lnTo>
                  <a:lnTo>
                    <a:pt x="132" y="17"/>
                  </a:lnTo>
                  <a:lnTo>
                    <a:pt x="118" y="8"/>
                  </a:lnTo>
                  <a:lnTo>
                    <a:pt x="104" y="3"/>
                  </a:lnTo>
                  <a:lnTo>
                    <a:pt x="90" y="0"/>
                  </a:lnTo>
                  <a:lnTo>
                    <a:pt x="76" y="3"/>
                  </a:lnTo>
                  <a:lnTo>
                    <a:pt x="61" y="8"/>
                  </a:lnTo>
                  <a:lnTo>
                    <a:pt x="50" y="17"/>
                  </a:lnTo>
                  <a:lnTo>
                    <a:pt x="38" y="29"/>
                  </a:lnTo>
                  <a:lnTo>
                    <a:pt x="26" y="43"/>
                  </a:lnTo>
                  <a:lnTo>
                    <a:pt x="16" y="60"/>
                  </a:lnTo>
                  <a:lnTo>
                    <a:pt x="9" y="79"/>
                  </a:lnTo>
                  <a:lnTo>
                    <a:pt x="5" y="100"/>
                  </a:lnTo>
                  <a:lnTo>
                    <a:pt x="2" y="121"/>
                  </a:lnTo>
                  <a:lnTo>
                    <a:pt x="0" y="145"/>
                  </a:lnTo>
                  <a:lnTo>
                    <a:pt x="2" y="169"/>
                  </a:lnTo>
                  <a:lnTo>
                    <a:pt x="5" y="190"/>
                  </a:lnTo>
                  <a:lnTo>
                    <a:pt x="9" y="211"/>
                  </a:lnTo>
                  <a:lnTo>
                    <a:pt x="16" y="230"/>
                  </a:lnTo>
                  <a:lnTo>
                    <a:pt x="26" y="247"/>
                  </a:lnTo>
                  <a:lnTo>
                    <a:pt x="38" y="261"/>
                  </a:lnTo>
                  <a:lnTo>
                    <a:pt x="50" y="273"/>
                  </a:lnTo>
                  <a:lnTo>
                    <a:pt x="61" y="280"/>
                  </a:lnTo>
                  <a:lnTo>
                    <a:pt x="76" y="287"/>
                  </a:lnTo>
                  <a:lnTo>
                    <a:pt x="90" y="289"/>
                  </a:lnTo>
                  <a:lnTo>
                    <a:pt x="90" y="2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03" name="Freeform 526"/>
            <p:cNvSpPr>
              <a:spLocks noChangeArrowheads="1"/>
            </p:cNvSpPr>
            <p:nvPr/>
          </p:nvSpPr>
          <p:spPr bwMode="auto">
            <a:xfrm>
              <a:off x="3508" y="1152"/>
              <a:ext cx="180" cy="289"/>
            </a:xfrm>
            <a:custGeom>
              <a:avLst/>
              <a:gdLst>
                <a:gd name="T0" fmla="*/ 90 w 180"/>
                <a:gd name="T1" fmla="*/ 287 h 289"/>
                <a:gd name="T2" fmla="*/ 104 w 180"/>
                <a:gd name="T3" fmla="*/ 287 h 289"/>
                <a:gd name="T4" fmla="*/ 118 w 180"/>
                <a:gd name="T5" fmla="*/ 280 h 289"/>
                <a:gd name="T6" fmla="*/ 132 w 180"/>
                <a:gd name="T7" fmla="*/ 273 h 289"/>
                <a:gd name="T8" fmla="*/ 144 w 180"/>
                <a:gd name="T9" fmla="*/ 261 h 289"/>
                <a:gd name="T10" fmla="*/ 154 w 180"/>
                <a:gd name="T11" fmla="*/ 247 h 289"/>
                <a:gd name="T12" fmla="*/ 163 w 180"/>
                <a:gd name="T13" fmla="*/ 230 h 289"/>
                <a:gd name="T14" fmla="*/ 170 w 180"/>
                <a:gd name="T15" fmla="*/ 211 h 289"/>
                <a:gd name="T16" fmla="*/ 175 w 180"/>
                <a:gd name="T17" fmla="*/ 190 h 289"/>
                <a:gd name="T18" fmla="*/ 180 w 180"/>
                <a:gd name="T19" fmla="*/ 169 h 289"/>
                <a:gd name="T20" fmla="*/ 180 w 180"/>
                <a:gd name="T21" fmla="*/ 145 h 289"/>
                <a:gd name="T22" fmla="*/ 180 w 180"/>
                <a:gd name="T23" fmla="*/ 121 h 289"/>
                <a:gd name="T24" fmla="*/ 175 w 180"/>
                <a:gd name="T25" fmla="*/ 100 h 289"/>
                <a:gd name="T26" fmla="*/ 170 w 180"/>
                <a:gd name="T27" fmla="*/ 79 h 289"/>
                <a:gd name="T28" fmla="*/ 163 w 180"/>
                <a:gd name="T29" fmla="*/ 60 h 289"/>
                <a:gd name="T30" fmla="*/ 154 w 180"/>
                <a:gd name="T31" fmla="*/ 43 h 289"/>
                <a:gd name="T32" fmla="*/ 144 w 180"/>
                <a:gd name="T33" fmla="*/ 29 h 289"/>
                <a:gd name="T34" fmla="*/ 132 w 180"/>
                <a:gd name="T35" fmla="*/ 17 h 289"/>
                <a:gd name="T36" fmla="*/ 118 w 180"/>
                <a:gd name="T37" fmla="*/ 8 h 289"/>
                <a:gd name="T38" fmla="*/ 104 w 180"/>
                <a:gd name="T39" fmla="*/ 3 h 289"/>
                <a:gd name="T40" fmla="*/ 90 w 180"/>
                <a:gd name="T41" fmla="*/ 0 h 289"/>
                <a:gd name="T42" fmla="*/ 76 w 180"/>
                <a:gd name="T43" fmla="*/ 3 h 289"/>
                <a:gd name="T44" fmla="*/ 61 w 180"/>
                <a:gd name="T45" fmla="*/ 8 h 289"/>
                <a:gd name="T46" fmla="*/ 50 w 180"/>
                <a:gd name="T47" fmla="*/ 17 h 289"/>
                <a:gd name="T48" fmla="*/ 38 w 180"/>
                <a:gd name="T49" fmla="*/ 29 h 289"/>
                <a:gd name="T50" fmla="*/ 26 w 180"/>
                <a:gd name="T51" fmla="*/ 43 h 289"/>
                <a:gd name="T52" fmla="*/ 16 w 180"/>
                <a:gd name="T53" fmla="*/ 60 h 289"/>
                <a:gd name="T54" fmla="*/ 9 w 180"/>
                <a:gd name="T55" fmla="*/ 79 h 289"/>
                <a:gd name="T56" fmla="*/ 5 w 180"/>
                <a:gd name="T57" fmla="*/ 100 h 289"/>
                <a:gd name="T58" fmla="*/ 2 w 180"/>
                <a:gd name="T59" fmla="*/ 121 h 289"/>
                <a:gd name="T60" fmla="*/ 0 w 180"/>
                <a:gd name="T61" fmla="*/ 145 h 289"/>
                <a:gd name="T62" fmla="*/ 2 w 180"/>
                <a:gd name="T63" fmla="*/ 169 h 289"/>
                <a:gd name="T64" fmla="*/ 5 w 180"/>
                <a:gd name="T65" fmla="*/ 190 h 289"/>
                <a:gd name="T66" fmla="*/ 9 w 180"/>
                <a:gd name="T67" fmla="*/ 211 h 289"/>
                <a:gd name="T68" fmla="*/ 16 w 180"/>
                <a:gd name="T69" fmla="*/ 230 h 289"/>
                <a:gd name="T70" fmla="*/ 26 w 180"/>
                <a:gd name="T71" fmla="*/ 247 h 289"/>
                <a:gd name="T72" fmla="*/ 38 w 180"/>
                <a:gd name="T73" fmla="*/ 261 h 289"/>
                <a:gd name="T74" fmla="*/ 50 w 180"/>
                <a:gd name="T75" fmla="*/ 273 h 289"/>
                <a:gd name="T76" fmla="*/ 61 w 180"/>
                <a:gd name="T77" fmla="*/ 280 h 289"/>
                <a:gd name="T78" fmla="*/ 76 w 180"/>
                <a:gd name="T79" fmla="*/ 287 h 289"/>
                <a:gd name="T80" fmla="*/ 90 w 180"/>
                <a:gd name="T81" fmla="*/ 289 h 289"/>
                <a:gd name="T82" fmla="*/ 90 w 180"/>
                <a:gd name="T83" fmla="*/ 289 h 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80"/>
                <a:gd name="T127" fmla="*/ 0 h 289"/>
                <a:gd name="T128" fmla="*/ 180 w 180"/>
                <a:gd name="T129" fmla="*/ 289 h 28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80" h="289">
                  <a:moveTo>
                    <a:pt x="90" y="287"/>
                  </a:moveTo>
                  <a:lnTo>
                    <a:pt x="104" y="287"/>
                  </a:lnTo>
                  <a:lnTo>
                    <a:pt x="118" y="280"/>
                  </a:lnTo>
                  <a:lnTo>
                    <a:pt x="132" y="273"/>
                  </a:lnTo>
                  <a:lnTo>
                    <a:pt x="144" y="261"/>
                  </a:lnTo>
                  <a:lnTo>
                    <a:pt x="154" y="247"/>
                  </a:lnTo>
                  <a:lnTo>
                    <a:pt x="163" y="230"/>
                  </a:lnTo>
                  <a:lnTo>
                    <a:pt x="170" y="211"/>
                  </a:lnTo>
                  <a:lnTo>
                    <a:pt x="175" y="190"/>
                  </a:lnTo>
                  <a:lnTo>
                    <a:pt x="180" y="169"/>
                  </a:lnTo>
                  <a:lnTo>
                    <a:pt x="180" y="145"/>
                  </a:lnTo>
                  <a:lnTo>
                    <a:pt x="180" y="121"/>
                  </a:lnTo>
                  <a:lnTo>
                    <a:pt x="175" y="100"/>
                  </a:lnTo>
                  <a:lnTo>
                    <a:pt x="170" y="79"/>
                  </a:lnTo>
                  <a:lnTo>
                    <a:pt x="163" y="60"/>
                  </a:lnTo>
                  <a:lnTo>
                    <a:pt x="154" y="43"/>
                  </a:lnTo>
                  <a:lnTo>
                    <a:pt x="144" y="29"/>
                  </a:lnTo>
                  <a:lnTo>
                    <a:pt x="132" y="17"/>
                  </a:lnTo>
                  <a:lnTo>
                    <a:pt x="118" y="8"/>
                  </a:lnTo>
                  <a:lnTo>
                    <a:pt x="104" y="3"/>
                  </a:lnTo>
                  <a:lnTo>
                    <a:pt x="90" y="0"/>
                  </a:lnTo>
                  <a:lnTo>
                    <a:pt x="76" y="3"/>
                  </a:lnTo>
                  <a:lnTo>
                    <a:pt x="61" y="8"/>
                  </a:lnTo>
                  <a:lnTo>
                    <a:pt x="50" y="17"/>
                  </a:lnTo>
                  <a:lnTo>
                    <a:pt x="38" y="29"/>
                  </a:lnTo>
                  <a:lnTo>
                    <a:pt x="26" y="43"/>
                  </a:lnTo>
                  <a:lnTo>
                    <a:pt x="16" y="60"/>
                  </a:lnTo>
                  <a:lnTo>
                    <a:pt x="9" y="79"/>
                  </a:lnTo>
                  <a:lnTo>
                    <a:pt x="5" y="100"/>
                  </a:lnTo>
                  <a:lnTo>
                    <a:pt x="2" y="121"/>
                  </a:lnTo>
                  <a:lnTo>
                    <a:pt x="0" y="145"/>
                  </a:lnTo>
                  <a:lnTo>
                    <a:pt x="2" y="169"/>
                  </a:lnTo>
                  <a:lnTo>
                    <a:pt x="5" y="190"/>
                  </a:lnTo>
                  <a:lnTo>
                    <a:pt x="9" y="211"/>
                  </a:lnTo>
                  <a:lnTo>
                    <a:pt x="16" y="230"/>
                  </a:lnTo>
                  <a:lnTo>
                    <a:pt x="26" y="247"/>
                  </a:lnTo>
                  <a:lnTo>
                    <a:pt x="38" y="261"/>
                  </a:lnTo>
                  <a:lnTo>
                    <a:pt x="50" y="273"/>
                  </a:lnTo>
                  <a:lnTo>
                    <a:pt x="61" y="280"/>
                  </a:lnTo>
                  <a:lnTo>
                    <a:pt x="76" y="287"/>
                  </a:lnTo>
                  <a:lnTo>
                    <a:pt x="90" y="289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80204" name="Group 527"/>
            <p:cNvGrpSpPr>
              <a:grpSpLocks/>
            </p:cNvGrpSpPr>
            <p:nvPr/>
          </p:nvGrpSpPr>
          <p:grpSpPr bwMode="auto">
            <a:xfrm>
              <a:off x="3581" y="3038"/>
              <a:ext cx="179" cy="146"/>
              <a:chOff x="3581" y="3038"/>
              <a:chExt cx="179" cy="146"/>
            </a:xfrm>
          </p:grpSpPr>
          <p:sp>
            <p:nvSpPr>
              <p:cNvPr id="80252" name="Rectangle 528"/>
              <p:cNvSpPr>
                <a:spLocks noChangeArrowheads="1"/>
              </p:cNvSpPr>
              <p:nvPr/>
            </p:nvSpPr>
            <p:spPr bwMode="auto">
              <a:xfrm>
                <a:off x="3620" y="3038"/>
                <a:ext cx="46" cy="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80253" name="Rectangle 529"/>
              <p:cNvSpPr>
                <a:spLocks noChangeArrowheads="1"/>
              </p:cNvSpPr>
              <p:nvPr/>
            </p:nvSpPr>
            <p:spPr bwMode="auto">
              <a:xfrm>
                <a:off x="3659" y="3038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80254" name="Rectangle 530"/>
              <p:cNvSpPr>
                <a:spLocks noChangeArrowheads="1"/>
              </p:cNvSpPr>
              <p:nvPr/>
            </p:nvSpPr>
            <p:spPr bwMode="auto">
              <a:xfrm>
                <a:off x="3690" y="3038"/>
                <a:ext cx="47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80255" name="Rectangle 531"/>
              <p:cNvSpPr>
                <a:spLocks noChangeArrowheads="1"/>
              </p:cNvSpPr>
              <p:nvPr/>
            </p:nvSpPr>
            <p:spPr bwMode="auto">
              <a:xfrm>
                <a:off x="3733" y="3038"/>
                <a:ext cx="1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0256" name="Rectangle 532"/>
              <p:cNvSpPr>
                <a:spLocks noChangeArrowheads="1"/>
              </p:cNvSpPr>
              <p:nvPr/>
            </p:nvSpPr>
            <p:spPr bwMode="auto">
              <a:xfrm>
                <a:off x="3581" y="3106"/>
                <a:ext cx="36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80257" name="Rectangle 533"/>
              <p:cNvSpPr>
                <a:spLocks noChangeArrowheads="1"/>
              </p:cNvSpPr>
              <p:nvPr/>
            </p:nvSpPr>
            <p:spPr bwMode="auto">
              <a:xfrm>
                <a:off x="3610" y="3106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80258" name="Rectangle 534"/>
              <p:cNvSpPr>
                <a:spLocks noChangeArrowheads="1"/>
              </p:cNvSpPr>
              <p:nvPr/>
            </p:nvSpPr>
            <p:spPr bwMode="auto">
              <a:xfrm>
                <a:off x="3643" y="3106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80259" name="Rectangle 535"/>
              <p:cNvSpPr>
                <a:spLocks noChangeArrowheads="1"/>
              </p:cNvSpPr>
              <p:nvPr/>
            </p:nvSpPr>
            <p:spPr bwMode="auto">
              <a:xfrm>
                <a:off x="3676" y="3106"/>
                <a:ext cx="22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80260" name="Rectangle 536"/>
              <p:cNvSpPr>
                <a:spLocks noChangeArrowheads="1"/>
              </p:cNvSpPr>
              <p:nvPr/>
            </p:nvSpPr>
            <p:spPr bwMode="auto">
              <a:xfrm>
                <a:off x="3690" y="3106"/>
                <a:ext cx="26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80261" name="Rectangle 537"/>
              <p:cNvSpPr>
                <a:spLocks noChangeArrowheads="1"/>
              </p:cNvSpPr>
              <p:nvPr/>
            </p:nvSpPr>
            <p:spPr bwMode="auto">
              <a:xfrm>
                <a:off x="3710" y="3106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80262" name="Rectangle 538"/>
              <p:cNvSpPr>
                <a:spLocks noChangeArrowheads="1"/>
              </p:cNvSpPr>
              <p:nvPr/>
            </p:nvSpPr>
            <p:spPr bwMode="auto">
              <a:xfrm>
                <a:off x="3742" y="3106"/>
                <a:ext cx="18" cy="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buClr>
                    <a:srgbClr val="FFFFFF"/>
                  </a:buCl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FFFFFF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</p:grpSp>
        <p:sp>
          <p:nvSpPr>
            <p:cNvPr id="80205" name="Freeform 539"/>
            <p:cNvSpPr>
              <a:spLocks noChangeArrowheads="1"/>
            </p:cNvSpPr>
            <p:nvPr/>
          </p:nvSpPr>
          <p:spPr bwMode="auto">
            <a:xfrm>
              <a:off x="3532" y="3089"/>
              <a:ext cx="28" cy="31"/>
            </a:xfrm>
            <a:custGeom>
              <a:avLst/>
              <a:gdLst>
                <a:gd name="T0" fmla="*/ 0 w 28"/>
                <a:gd name="T1" fmla="*/ 0 h 31"/>
                <a:gd name="T2" fmla="*/ 0 w 28"/>
                <a:gd name="T3" fmla="*/ 31 h 31"/>
                <a:gd name="T4" fmla="*/ 28 w 28"/>
                <a:gd name="T5" fmla="*/ 17 h 31"/>
                <a:gd name="T6" fmla="*/ 0 w 28"/>
                <a:gd name="T7" fmla="*/ 3 h 31"/>
                <a:gd name="T8" fmla="*/ 0 w 28"/>
                <a:gd name="T9" fmla="*/ 3 h 31"/>
                <a:gd name="T10" fmla="*/ 0 w 28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"/>
                <a:gd name="T19" fmla="*/ 0 h 31"/>
                <a:gd name="T20" fmla="*/ 28 w 28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" h="31">
                  <a:moveTo>
                    <a:pt x="0" y="0"/>
                  </a:moveTo>
                  <a:lnTo>
                    <a:pt x="0" y="31"/>
                  </a:lnTo>
                  <a:lnTo>
                    <a:pt x="28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06" name="Line 540"/>
            <p:cNvSpPr>
              <a:spLocks noChangeShapeType="1"/>
            </p:cNvSpPr>
            <p:nvPr/>
          </p:nvSpPr>
          <p:spPr bwMode="auto">
            <a:xfrm>
              <a:off x="1436" y="2398"/>
              <a:ext cx="196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207" name="Freeform 541"/>
            <p:cNvSpPr>
              <a:spLocks noChangeArrowheads="1"/>
            </p:cNvSpPr>
            <p:nvPr/>
          </p:nvSpPr>
          <p:spPr bwMode="auto">
            <a:xfrm>
              <a:off x="1618" y="2386"/>
              <a:ext cx="31" cy="29"/>
            </a:xfrm>
            <a:custGeom>
              <a:avLst/>
              <a:gdLst>
                <a:gd name="T0" fmla="*/ 14 w 31"/>
                <a:gd name="T1" fmla="*/ 29 h 29"/>
                <a:gd name="T2" fmla="*/ 19 w 31"/>
                <a:gd name="T3" fmla="*/ 29 h 29"/>
                <a:gd name="T4" fmla="*/ 21 w 31"/>
                <a:gd name="T5" fmla="*/ 29 h 29"/>
                <a:gd name="T6" fmla="*/ 21 w 31"/>
                <a:gd name="T7" fmla="*/ 26 h 29"/>
                <a:gd name="T8" fmla="*/ 24 w 31"/>
                <a:gd name="T9" fmla="*/ 26 h 29"/>
                <a:gd name="T10" fmla="*/ 26 w 31"/>
                <a:gd name="T11" fmla="*/ 24 h 29"/>
                <a:gd name="T12" fmla="*/ 29 w 31"/>
                <a:gd name="T13" fmla="*/ 24 h 29"/>
                <a:gd name="T14" fmla="*/ 29 w 31"/>
                <a:gd name="T15" fmla="*/ 21 h 29"/>
                <a:gd name="T16" fmla="*/ 31 w 31"/>
                <a:gd name="T17" fmla="*/ 19 h 29"/>
                <a:gd name="T18" fmla="*/ 31 w 31"/>
                <a:gd name="T19" fmla="*/ 17 h 29"/>
                <a:gd name="T20" fmla="*/ 31 w 31"/>
                <a:gd name="T21" fmla="*/ 14 h 29"/>
                <a:gd name="T22" fmla="*/ 31 w 31"/>
                <a:gd name="T23" fmla="*/ 12 h 29"/>
                <a:gd name="T24" fmla="*/ 31 w 31"/>
                <a:gd name="T25" fmla="*/ 10 h 29"/>
                <a:gd name="T26" fmla="*/ 29 w 31"/>
                <a:gd name="T27" fmla="*/ 7 h 29"/>
                <a:gd name="T28" fmla="*/ 29 w 31"/>
                <a:gd name="T29" fmla="*/ 5 h 29"/>
                <a:gd name="T30" fmla="*/ 26 w 31"/>
                <a:gd name="T31" fmla="*/ 5 h 29"/>
                <a:gd name="T32" fmla="*/ 24 w 31"/>
                <a:gd name="T33" fmla="*/ 2 h 29"/>
                <a:gd name="T34" fmla="*/ 21 w 31"/>
                <a:gd name="T35" fmla="*/ 0 h 29"/>
                <a:gd name="T36" fmla="*/ 21 w 31"/>
                <a:gd name="T37" fmla="*/ 0 h 29"/>
                <a:gd name="T38" fmla="*/ 19 w 31"/>
                <a:gd name="T39" fmla="*/ 0 h 29"/>
                <a:gd name="T40" fmla="*/ 17 w 31"/>
                <a:gd name="T41" fmla="*/ 0 h 29"/>
                <a:gd name="T42" fmla="*/ 14 w 31"/>
                <a:gd name="T43" fmla="*/ 0 h 29"/>
                <a:gd name="T44" fmla="*/ 12 w 31"/>
                <a:gd name="T45" fmla="*/ 0 h 29"/>
                <a:gd name="T46" fmla="*/ 10 w 31"/>
                <a:gd name="T47" fmla="*/ 0 h 29"/>
                <a:gd name="T48" fmla="*/ 7 w 31"/>
                <a:gd name="T49" fmla="*/ 2 h 29"/>
                <a:gd name="T50" fmla="*/ 5 w 31"/>
                <a:gd name="T51" fmla="*/ 5 h 29"/>
                <a:gd name="T52" fmla="*/ 5 w 31"/>
                <a:gd name="T53" fmla="*/ 5 h 29"/>
                <a:gd name="T54" fmla="*/ 2 w 31"/>
                <a:gd name="T55" fmla="*/ 7 h 29"/>
                <a:gd name="T56" fmla="*/ 2 w 31"/>
                <a:gd name="T57" fmla="*/ 10 h 29"/>
                <a:gd name="T58" fmla="*/ 2 w 31"/>
                <a:gd name="T59" fmla="*/ 12 h 29"/>
                <a:gd name="T60" fmla="*/ 0 w 31"/>
                <a:gd name="T61" fmla="*/ 14 h 29"/>
                <a:gd name="T62" fmla="*/ 2 w 31"/>
                <a:gd name="T63" fmla="*/ 17 h 29"/>
                <a:gd name="T64" fmla="*/ 2 w 31"/>
                <a:gd name="T65" fmla="*/ 19 h 29"/>
                <a:gd name="T66" fmla="*/ 2 w 31"/>
                <a:gd name="T67" fmla="*/ 21 h 29"/>
                <a:gd name="T68" fmla="*/ 5 w 31"/>
                <a:gd name="T69" fmla="*/ 24 h 29"/>
                <a:gd name="T70" fmla="*/ 5 w 31"/>
                <a:gd name="T71" fmla="*/ 24 h 29"/>
                <a:gd name="T72" fmla="*/ 7 w 31"/>
                <a:gd name="T73" fmla="*/ 26 h 29"/>
                <a:gd name="T74" fmla="*/ 10 w 31"/>
                <a:gd name="T75" fmla="*/ 26 h 29"/>
                <a:gd name="T76" fmla="*/ 12 w 31"/>
                <a:gd name="T77" fmla="*/ 29 h 29"/>
                <a:gd name="T78" fmla="*/ 14 w 31"/>
                <a:gd name="T79" fmla="*/ 29 h 29"/>
                <a:gd name="T80" fmla="*/ 17 w 31"/>
                <a:gd name="T81" fmla="*/ 29 h 29"/>
                <a:gd name="T82" fmla="*/ 17 w 31"/>
                <a:gd name="T83" fmla="*/ 29 h 29"/>
                <a:gd name="T84" fmla="*/ 14 w 31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9"/>
                <a:gd name="T131" fmla="*/ 31 w 31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9">
                  <a:moveTo>
                    <a:pt x="14" y="29"/>
                  </a:moveTo>
                  <a:lnTo>
                    <a:pt x="19" y="29"/>
                  </a:lnTo>
                  <a:lnTo>
                    <a:pt x="21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1" y="10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10" y="26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7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08" name="Freeform 542"/>
            <p:cNvSpPr>
              <a:spLocks noChangeArrowheads="1"/>
            </p:cNvSpPr>
            <p:nvPr/>
          </p:nvSpPr>
          <p:spPr bwMode="auto">
            <a:xfrm>
              <a:off x="2096" y="2298"/>
              <a:ext cx="29" cy="29"/>
            </a:xfrm>
            <a:custGeom>
              <a:avLst/>
              <a:gdLst>
                <a:gd name="T0" fmla="*/ 12 w 29"/>
                <a:gd name="T1" fmla="*/ 29 h 29"/>
                <a:gd name="T2" fmla="*/ 17 w 29"/>
                <a:gd name="T3" fmla="*/ 29 h 29"/>
                <a:gd name="T4" fmla="*/ 19 w 29"/>
                <a:gd name="T5" fmla="*/ 29 h 29"/>
                <a:gd name="T6" fmla="*/ 22 w 29"/>
                <a:gd name="T7" fmla="*/ 27 h 29"/>
                <a:gd name="T8" fmla="*/ 22 w 29"/>
                <a:gd name="T9" fmla="*/ 27 h 29"/>
                <a:gd name="T10" fmla="*/ 24 w 29"/>
                <a:gd name="T11" fmla="*/ 24 h 29"/>
                <a:gd name="T12" fmla="*/ 26 w 29"/>
                <a:gd name="T13" fmla="*/ 22 h 29"/>
                <a:gd name="T14" fmla="*/ 26 w 29"/>
                <a:gd name="T15" fmla="*/ 22 h 29"/>
                <a:gd name="T16" fmla="*/ 29 w 29"/>
                <a:gd name="T17" fmla="*/ 19 h 29"/>
                <a:gd name="T18" fmla="*/ 29 w 29"/>
                <a:gd name="T19" fmla="*/ 17 h 29"/>
                <a:gd name="T20" fmla="*/ 29 w 29"/>
                <a:gd name="T21" fmla="*/ 15 h 29"/>
                <a:gd name="T22" fmla="*/ 29 w 29"/>
                <a:gd name="T23" fmla="*/ 12 h 29"/>
                <a:gd name="T24" fmla="*/ 29 w 29"/>
                <a:gd name="T25" fmla="*/ 10 h 29"/>
                <a:gd name="T26" fmla="*/ 26 w 29"/>
                <a:gd name="T27" fmla="*/ 8 h 29"/>
                <a:gd name="T28" fmla="*/ 26 w 29"/>
                <a:gd name="T29" fmla="*/ 5 h 29"/>
                <a:gd name="T30" fmla="*/ 24 w 29"/>
                <a:gd name="T31" fmla="*/ 3 h 29"/>
                <a:gd name="T32" fmla="*/ 22 w 29"/>
                <a:gd name="T33" fmla="*/ 3 h 29"/>
                <a:gd name="T34" fmla="*/ 22 w 29"/>
                <a:gd name="T35" fmla="*/ 0 h 29"/>
                <a:gd name="T36" fmla="*/ 19 w 29"/>
                <a:gd name="T37" fmla="*/ 0 h 29"/>
                <a:gd name="T38" fmla="*/ 17 w 29"/>
                <a:gd name="T39" fmla="*/ 0 h 29"/>
                <a:gd name="T40" fmla="*/ 15 w 29"/>
                <a:gd name="T41" fmla="*/ 0 h 29"/>
                <a:gd name="T42" fmla="*/ 12 w 29"/>
                <a:gd name="T43" fmla="*/ 0 h 29"/>
                <a:gd name="T44" fmla="*/ 10 w 29"/>
                <a:gd name="T45" fmla="*/ 0 h 29"/>
                <a:gd name="T46" fmla="*/ 8 w 29"/>
                <a:gd name="T47" fmla="*/ 0 h 29"/>
                <a:gd name="T48" fmla="*/ 5 w 29"/>
                <a:gd name="T49" fmla="*/ 3 h 29"/>
                <a:gd name="T50" fmla="*/ 3 w 29"/>
                <a:gd name="T51" fmla="*/ 3 h 29"/>
                <a:gd name="T52" fmla="*/ 3 w 29"/>
                <a:gd name="T53" fmla="*/ 5 h 29"/>
                <a:gd name="T54" fmla="*/ 0 w 29"/>
                <a:gd name="T55" fmla="*/ 8 h 29"/>
                <a:gd name="T56" fmla="*/ 0 w 29"/>
                <a:gd name="T57" fmla="*/ 10 h 29"/>
                <a:gd name="T58" fmla="*/ 0 w 29"/>
                <a:gd name="T59" fmla="*/ 12 h 29"/>
                <a:gd name="T60" fmla="*/ 0 w 29"/>
                <a:gd name="T61" fmla="*/ 15 h 29"/>
                <a:gd name="T62" fmla="*/ 0 w 29"/>
                <a:gd name="T63" fmla="*/ 17 h 29"/>
                <a:gd name="T64" fmla="*/ 0 w 29"/>
                <a:gd name="T65" fmla="*/ 19 h 29"/>
                <a:gd name="T66" fmla="*/ 0 w 29"/>
                <a:gd name="T67" fmla="*/ 22 h 29"/>
                <a:gd name="T68" fmla="*/ 3 w 29"/>
                <a:gd name="T69" fmla="*/ 22 h 29"/>
                <a:gd name="T70" fmla="*/ 3 w 29"/>
                <a:gd name="T71" fmla="*/ 24 h 29"/>
                <a:gd name="T72" fmla="*/ 5 w 29"/>
                <a:gd name="T73" fmla="*/ 27 h 29"/>
                <a:gd name="T74" fmla="*/ 8 w 29"/>
                <a:gd name="T75" fmla="*/ 27 h 29"/>
                <a:gd name="T76" fmla="*/ 10 w 29"/>
                <a:gd name="T77" fmla="*/ 29 h 29"/>
                <a:gd name="T78" fmla="*/ 12 w 29"/>
                <a:gd name="T79" fmla="*/ 29 h 29"/>
                <a:gd name="T80" fmla="*/ 15 w 29"/>
                <a:gd name="T81" fmla="*/ 29 h 29"/>
                <a:gd name="T82" fmla="*/ 15 w 29"/>
                <a:gd name="T83" fmla="*/ 29 h 29"/>
                <a:gd name="T84" fmla="*/ 12 w 29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29"/>
                <a:gd name="T131" fmla="*/ 29 w 29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29">
                  <a:moveTo>
                    <a:pt x="12" y="29"/>
                  </a:moveTo>
                  <a:lnTo>
                    <a:pt x="17" y="29"/>
                  </a:lnTo>
                  <a:lnTo>
                    <a:pt x="19" y="29"/>
                  </a:lnTo>
                  <a:lnTo>
                    <a:pt x="22" y="27"/>
                  </a:lnTo>
                  <a:lnTo>
                    <a:pt x="24" y="24"/>
                  </a:lnTo>
                  <a:lnTo>
                    <a:pt x="26" y="22"/>
                  </a:lnTo>
                  <a:lnTo>
                    <a:pt x="29" y="19"/>
                  </a:lnTo>
                  <a:lnTo>
                    <a:pt x="29" y="17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10"/>
                  </a:lnTo>
                  <a:lnTo>
                    <a:pt x="26" y="8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3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3" y="5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3" y="22"/>
                  </a:lnTo>
                  <a:lnTo>
                    <a:pt x="3" y="24"/>
                  </a:lnTo>
                  <a:lnTo>
                    <a:pt x="5" y="27"/>
                  </a:lnTo>
                  <a:lnTo>
                    <a:pt x="8" y="27"/>
                  </a:lnTo>
                  <a:lnTo>
                    <a:pt x="10" y="29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2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09" name="Freeform 543"/>
            <p:cNvSpPr>
              <a:spLocks noChangeArrowheads="1"/>
            </p:cNvSpPr>
            <p:nvPr/>
          </p:nvSpPr>
          <p:spPr bwMode="auto">
            <a:xfrm>
              <a:off x="1618" y="2123"/>
              <a:ext cx="31" cy="29"/>
            </a:xfrm>
            <a:custGeom>
              <a:avLst/>
              <a:gdLst>
                <a:gd name="T0" fmla="*/ 14 w 31"/>
                <a:gd name="T1" fmla="*/ 29 h 29"/>
                <a:gd name="T2" fmla="*/ 19 w 31"/>
                <a:gd name="T3" fmla="*/ 29 h 29"/>
                <a:gd name="T4" fmla="*/ 21 w 31"/>
                <a:gd name="T5" fmla="*/ 29 h 29"/>
                <a:gd name="T6" fmla="*/ 21 w 31"/>
                <a:gd name="T7" fmla="*/ 26 h 29"/>
                <a:gd name="T8" fmla="*/ 24 w 31"/>
                <a:gd name="T9" fmla="*/ 26 h 29"/>
                <a:gd name="T10" fmla="*/ 26 w 31"/>
                <a:gd name="T11" fmla="*/ 24 h 29"/>
                <a:gd name="T12" fmla="*/ 29 w 31"/>
                <a:gd name="T13" fmla="*/ 24 h 29"/>
                <a:gd name="T14" fmla="*/ 29 w 31"/>
                <a:gd name="T15" fmla="*/ 22 h 29"/>
                <a:gd name="T16" fmla="*/ 31 w 31"/>
                <a:gd name="T17" fmla="*/ 19 h 29"/>
                <a:gd name="T18" fmla="*/ 31 w 31"/>
                <a:gd name="T19" fmla="*/ 17 h 29"/>
                <a:gd name="T20" fmla="*/ 31 w 31"/>
                <a:gd name="T21" fmla="*/ 14 h 29"/>
                <a:gd name="T22" fmla="*/ 31 w 31"/>
                <a:gd name="T23" fmla="*/ 12 h 29"/>
                <a:gd name="T24" fmla="*/ 31 w 31"/>
                <a:gd name="T25" fmla="*/ 10 h 29"/>
                <a:gd name="T26" fmla="*/ 29 w 31"/>
                <a:gd name="T27" fmla="*/ 7 h 29"/>
                <a:gd name="T28" fmla="*/ 29 w 31"/>
                <a:gd name="T29" fmla="*/ 5 h 29"/>
                <a:gd name="T30" fmla="*/ 26 w 31"/>
                <a:gd name="T31" fmla="*/ 5 h 29"/>
                <a:gd name="T32" fmla="*/ 24 w 31"/>
                <a:gd name="T33" fmla="*/ 3 h 29"/>
                <a:gd name="T34" fmla="*/ 21 w 31"/>
                <a:gd name="T35" fmla="*/ 0 h 29"/>
                <a:gd name="T36" fmla="*/ 21 w 31"/>
                <a:gd name="T37" fmla="*/ 0 h 29"/>
                <a:gd name="T38" fmla="*/ 19 w 31"/>
                <a:gd name="T39" fmla="*/ 0 h 29"/>
                <a:gd name="T40" fmla="*/ 17 w 31"/>
                <a:gd name="T41" fmla="*/ 0 h 29"/>
                <a:gd name="T42" fmla="*/ 14 w 31"/>
                <a:gd name="T43" fmla="*/ 0 h 29"/>
                <a:gd name="T44" fmla="*/ 12 w 31"/>
                <a:gd name="T45" fmla="*/ 0 h 29"/>
                <a:gd name="T46" fmla="*/ 10 w 31"/>
                <a:gd name="T47" fmla="*/ 0 h 29"/>
                <a:gd name="T48" fmla="*/ 7 w 31"/>
                <a:gd name="T49" fmla="*/ 3 h 29"/>
                <a:gd name="T50" fmla="*/ 5 w 31"/>
                <a:gd name="T51" fmla="*/ 5 h 29"/>
                <a:gd name="T52" fmla="*/ 5 w 31"/>
                <a:gd name="T53" fmla="*/ 5 h 29"/>
                <a:gd name="T54" fmla="*/ 2 w 31"/>
                <a:gd name="T55" fmla="*/ 7 h 29"/>
                <a:gd name="T56" fmla="*/ 2 w 31"/>
                <a:gd name="T57" fmla="*/ 10 h 29"/>
                <a:gd name="T58" fmla="*/ 2 w 31"/>
                <a:gd name="T59" fmla="*/ 12 h 29"/>
                <a:gd name="T60" fmla="*/ 0 w 31"/>
                <a:gd name="T61" fmla="*/ 14 h 29"/>
                <a:gd name="T62" fmla="*/ 2 w 31"/>
                <a:gd name="T63" fmla="*/ 17 h 29"/>
                <a:gd name="T64" fmla="*/ 2 w 31"/>
                <a:gd name="T65" fmla="*/ 19 h 29"/>
                <a:gd name="T66" fmla="*/ 2 w 31"/>
                <a:gd name="T67" fmla="*/ 22 h 29"/>
                <a:gd name="T68" fmla="*/ 5 w 31"/>
                <a:gd name="T69" fmla="*/ 24 h 29"/>
                <a:gd name="T70" fmla="*/ 5 w 31"/>
                <a:gd name="T71" fmla="*/ 24 h 29"/>
                <a:gd name="T72" fmla="*/ 7 w 31"/>
                <a:gd name="T73" fmla="*/ 26 h 29"/>
                <a:gd name="T74" fmla="*/ 10 w 31"/>
                <a:gd name="T75" fmla="*/ 26 h 29"/>
                <a:gd name="T76" fmla="*/ 12 w 31"/>
                <a:gd name="T77" fmla="*/ 29 h 29"/>
                <a:gd name="T78" fmla="*/ 14 w 31"/>
                <a:gd name="T79" fmla="*/ 29 h 29"/>
                <a:gd name="T80" fmla="*/ 17 w 31"/>
                <a:gd name="T81" fmla="*/ 29 h 29"/>
                <a:gd name="T82" fmla="*/ 17 w 31"/>
                <a:gd name="T83" fmla="*/ 29 h 29"/>
                <a:gd name="T84" fmla="*/ 14 w 31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9"/>
                <a:gd name="T131" fmla="*/ 31 w 31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9">
                  <a:moveTo>
                    <a:pt x="14" y="29"/>
                  </a:moveTo>
                  <a:lnTo>
                    <a:pt x="19" y="29"/>
                  </a:lnTo>
                  <a:lnTo>
                    <a:pt x="21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1" y="10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10" y="26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7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10" name="Freeform 544"/>
            <p:cNvSpPr>
              <a:spLocks noChangeArrowheads="1"/>
            </p:cNvSpPr>
            <p:nvPr/>
          </p:nvSpPr>
          <p:spPr bwMode="auto">
            <a:xfrm>
              <a:off x="1618" y="2298"/>
              <a:ext cx="31" cy="29"/>
            </a:xfrm>
            <a:custGeom>
              <a:avLst/>
              <a:gdLst>
                <a:gd name="T0" fmla="*/ 14 w 31"/>
                <a:gd name="T1" fmla="*/ 29 h 29"/>
                <a:gd name="T2" fmla="*/ 19 w 31"/>
                <a:gd name="T3" fmla="*/ 29 h 29"/>
                <a:gd name="T4" fmla="*/ 21 w 31"/>
                <a:gd name="T5" fmla="*/ 29 h 29"/>
                <a:gd name="T6" fmla="*/ 21 w 31"/>
                <a:gd name="T7" fmla="*/ 27 h 29"/>
                <a:gd name="T8" fmla="*/ 24 w 31"/>
                <a:gd name="T9" fmla="*/ 27 h 29"/>
                <a:gd name="T10" fmla="*/ 26 w 31"/>
                <a:gd name="T11" fmla="*/ 24 h 29"/>
                <a:gd name="T12" fmla="*/ 29 w 31"/>
                <a:gd name="T13" fmla="*/ 24 h 29"/>
                <a:gd name="T14" fmla="*/ 29 w 31"/>
                <a:gd name="T15" fmla="*/ 22 h 29"/>
                <a:gd name="T16" fmla="*/ 31 w 31"/>
                <a:gd name="T17" fmla="*/ 19 h 29"/>
                <a:gd name="T18" fmla="*/ 31 w 31"/>
                <a:gd name="T19" fmla="*/ 17 h 29"/>
                <a:gd name="T20" fmla="*/ 31 w 31"/>
                <a:gd name="T21" fmla="*/ 15 h 29"/>
                <a:gd name="T22" fmla="*/ 31 w 31"/>
                <a:gd name="T23" fmla="*/ 12 h 29"/>
                <a:gd name="T24" fmla="*/ 31 w 31"/>
                <a:gd name="T25" fmla="*/ 10 h 29"/>
                <a:gd name="T26" fmla="*/ 29 w 31"/>
                <a:gd name="T27" fmla="*/ 8 h 29"/>
                <a:gd name="T28" fmla="*/ 29 w 31"/>
                <a:gd name="T29" fmla="*/ 5 h 29"/>
                <a:gd name="T30" fmla="*/ 26 w 31"/>
                <a:gd name="T31" fmla="*/ 5 h 29"/>
                <a:gd name="T32" fmla="*/ 24 w 31"/>
                <a:gd name="T33" fmla="*/ 3 h 29"/>
                <a:gd name="T34" fmla="*/ 21 w 31"/>
                <a:gd name="T35" fmla="*/ 0 h 29"/>
                <a:gd name="T36" fmla="*/ 21 w 31"/>
                <a:gd name="T37" fmla="*/ 0 h 29"/>
                <a:gd name="T38" fmla="*/ 19 w 31"/>
                <a:gd name="T39" fmla="*/ 0 h 29"/>
                <a:gd name="T40" fmla="*/ 17 w 31"/>
                <a:gd name="T41" fmla="*/ 0 h 29"/>
                <a:gd name="T42" fmla="*/ 14 w 31"/>
                <a:gd name="T43" fmla="*/ 0 h 29"/>
                <a:gd name="T44" fmla="*/ 12 w 31"/>
                <a:gd name="T45" fmla="*/ 0 h 29"/>
                <a:gd name="T46" fmla="*/ 10 w 31"/>
                <a:gd name="T47" fmla="*/ 0 h 29"/>
                <a:gd name="T48" fmla="*/ 7 w 31"/>
                <a:gd name="T49" fmla="*/ 3 h 29"/>
                <a:gd name="T50" fmla="*/ 5 w 31"/>
                <a:gd name="T51" fmla="*/ 5 h 29"/>
                <a:gd name="T52" fmla="*/ 5 w 31"/>
                <a:gd name="T53" fmla="*/ 5 h 29"/>
                <a:gd name="T54" fmla="*/ 2 w 31"/>
                <a:gd name="T55" fmla="*/ 8 h 29"/>
                <a:gd name="T56" fmla="*/ 2 w 31"/>
                <a:gd name="T57" fmla="*/ 10 h 29"/>
                <a:gd name="T58" fmla="*/ 2 w 31"/>
                <a:gd name="T59" fmla="*/ 12 h 29"/>
                <a:gd name="T60" fmla="*/ 0 w 31"/>
                <a:gd name="T61" fmla="*/ 15 h 29"/>
                <a:gd name="T62" fmla="*/ 2 w 31"/>
                <a:gd name="T63" fmla="*/ 17 h 29"/>
                <a:gd name="T64" fmla="*/ 2 w 31"/>
                <a:gd name="T65" fmla="*/ 19 h 29"/>
                <a:gd name="T66" fmla="*/ 2 w 31"/>
                <a:gd name="T67" fmla="*/ 22 h 29"/>
                <a:gd name="T68" fmla="*/ 5 w 31"/>
                <a:gd name="T69" fmla="*/ 24 h 29"/>
                <a:gd name="T70" fmla="*/ 5 w 31"/>
                <a:gd name="T71" fmla="*/ 24 h 29"/>
                <a:gd name="T72" fmla="*/ 7 w 31"/>
                <a:gd name="T73" fmla="*/ 27 h 29"/>
                <a:gd name="T74" fmla="*/ 10 w 31"/>
                <a:gd name="T75" fmla="*/ 27 h 29"/>
                <a:gd name="T76" fmla="*/ 12 w 31"/>
                <a:gd name="T77" fmla="*/ 29 h 29"/>
                <a:gd name="T78" fmla="*/ 14 w 31"/>
                <a:gd name="T79" fmla="*/ 29 h 29"/>
                <a:gd name="T80" fmla="*/ 17 w 31"/>
                <a:gd name="T81" fmla="*/ 29 h 29"/>
                <a:gd name="T82" fmla="*/ 17 w 31"/>
                <a:gd name="T83" fmla="*/ 29 h 29"/>
                <a:gd name="T84" fmla="*/ 14 w 31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9"/>
                <a:gd name="T131" fmla="*/ 31 w 31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9">
                  <a:moveTo>
                    <a:pt x="14" y="29"/>
                  </a:moveTo>
                  <a:lnTo>
                    <a:pt x="19" y="29"/>
                  </a:lnTo>
                  <a:lnTo>
                    <a:pt x="21" y="29"/>
                  </a:lnTo>
                  <a:lnTo>
                    <a:pt x="21" y="27"/>
                  </a:lnTo>
                  <a:lnTo>
                    <a:pt x="24" y="27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31" y="12"/>
                  </a:lnTo>
                  <a:lnTo>
                    <a:pt x="31" y="10"/>
                  </a:lnTo>
                  <a:lnTo>
                    <a:pt x="29" y="8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5" y="24"/>
                  </a:lnTo>
                  <a:lnTo>
                    <a:pt x="7" y="27"/>
                  </a:lnTo>
                  <a:lnTo>
                    <a:pt x="10" y="27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7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11" name="Freeform 545"/>
            <p:cNvSpPr>
              <a:spLocks noChangeArrowheads="1"/>
            </p:cNvSpPr>
            <p:nvPr/>
          </p:nvSpPr>
          <p:spPr bwMode="auto">
            <a:xfrm>
              <a:off x="3257" y="2431"/>
              <a:ext cx="31" cy="28"/>
            </a:xfrm>
            <a:custGeom>
              <a:avLst/>
              <a:gdLst>
                <a:gd name="T0" fmla="*/ 14 w 31"/>
                <a:gd name="T1" fmla="*/ 26 h 28"/>
                <a:gd name="T2" fmla="*/ 19 w 31"/>
                <a:gd name="T3" fmla="*/ 28 h 28"/>
                <a:gd name="T4" fmla="*/ 19 w 31"/>
                <a:gd name="T5" fmla="*/ 28 h 28"/>
                <a:gd name="T6" fmla="*/ 21 w 31"/>
                <a:gd name="T7" fmla="*/ 26 h 28"/>
                <a:gd name="T8" fmla="*/ 24 w 31"/>
                <a:gd name="T9" fmla="*/ 26 h 28"/>
                <a:gd name="T10" fmla="*/ 26 w 31"/>
                <a:gd name="T11" fmla="*/ 24 h 28"/>
                <a:gd name="T12" fmla="*/ 26 w 31"/>
                <a:gd name="T13" fmla="*/ 21 h 28"/>
                <a:gd name="T14" fmla="*/ 28 w 31"/>
                <a:gd name="T15" fmla="*/ 21 h 28"/>
                <a:gd name="T16" fmla="*/ 28 w 31"/>
                <a:gd name="T17" fmla="*/ 19 h 28"/>
                <a:gd name="T18" fmla="*/ 31 w 31"/>
                <a:gd name="T19" fmla="*/ 17 h 28"/>
                <a:gd name="T20" fmla="*/ 31 w 31"/>
                <a:gd name="T21" fmla="*/ 14 h 28"/>
                <a:gd name="T22" fmla="*/ 31 w 31"/>
                <a:gd name="T23" fmla="*/ 12 h 28"/>
                <a:gd name="T24" fmla="*/ 28 w 31"/>
                <a:gd name="T25" fmla="*/ 10 h 28"/>
                <a:gd name="T26" fmla="*/ 28 w 31"/>
                <a:gd name="T27" fmla="*/ 7 h 28"/>
                <a:gd name="T28" fmla="*/ 26 w 31"/>
                <a:gd name="T29" fmla="*/ 5 h 28"/>
                <a:gd name="T30" fmla="*/ 26 w 31"/>
                <a:gd name="T31" fmla="*/ 2 h 28"/>
                <a:gd name="T32" fmla="*/ 24 w 31"/>
                <a:gd name="T33" fmla="*/ 2 h 28"/>
                <a:gd name="T34" fmla="*/ 21 w 31"/>
                <a:gd name="T35" fmla="*/ 0 h 28"/>
                <a:gd name="T36" fmla="*/ 19 w 31"/>
                <a:gd name="T37" fmla="*/ 0 h 28"/>
                <a:gd name="T38" fmla="*/ 19 w 31"/>
                <a:gd name="T39" fmla="*/ 0 h 28"/>
                <a:gd name="T40" fmla="*/ 16 w 31"/>
                <a:gd name="T41" fmla="*/ 0 h 28"/>
                <a:gd name="T42" fmla="*/ 14 w 31"/>
                <a:gd name="T43" fmla="*/ 0 h 28"/>
                <a:gd name="T44" fmla="*/ 12 w 31"/>
                <a:gd name="T45" fmla="*/ 0 h 28"/>
                <a:gd name="T46" fmla="*/ 9 w 31"/>
                <a:gd name="T47" fmla="*/ 0 h 28"/>
                <a:gd name="T48" fmla="*/ 7 w 31"/>
                <a:gd name="T49" fmla="*/ 2 h 28"/>
                <a:gd name="T50" fmla="*/ 5 w 31"/>
                <a:gd name="T51" fmla="*/ 2 h 28"/>
                <a:gd name="T52" fmla="*/ 5 w 31"/>
                <a:gd name="T53" fmla="*/ 5 h 28"/>
                <a:gd name="T54" fmla="*/ 2 w 31"/>
                <a:gd name="T55" fmla="*/ 7 h 28"/>
                <a:gd name="T56" fmla="*/ 2 w 31"/>
                <a:gd name="T57" fmla="*/ 10 h 28"/>
                <a:gd name="T58" fmla="*/ 0 w 31"/>
                <a:gd name="T59" fmla="*/ 12 h 28"/>
                <a:gd name="T60" fmla="*/ 0 w 31"/>
                <a:gd name="T61" fmla="*/ 14 h 28"/>
                <a:gd name="T62" fmla="*/ 0 w 31"/>
                <a:gd name="T63" fmla="*/ 17 h 28"/>
                <a:gd name="T64" fmla="*/ 2 w 31"/>
                <a:gd name="T65" fmla="*/ 19 h 28"/>
                <a:gd name="T66" fmla="*/ 2 w 31"/>
                <a:gd name="T67" fmla="*/ 21 h 28"/>
                <a:gd name="T68" fmla="*/ 5 w 31"/>
                <a:gd name="T69" fmla="*/ 21 h 28"/>
                <a:gd name="T70" fmla="*/ 5 w 31"/>
                <a:gd name="T71" fmla="*/ 24 h 28"/>
                <a:gd name="T72" fmla="*/ 7 w 31"/>
                <a:gd name="T73" fmla="*/ 26 h 28"/>
                <a:gd name="T74" fmla="*/ 9 w 31"/>
                <a:gd name="T75" fmla="*/ 26 h 28"/>
                <a:gd name="T76" fmla="*/ 12 w 31"/>
                <a:gd name="T77" fmla="*/ 28 h 28"/>
                <a:gd name="T78" fmla="*/ 14 w 31"/>
                <a:gd name="T79" fmla="*/ 28 h 28"/>
                <a:gd name="T80" fmla="*/ 16 w 31"/>
                <a:gd name="T81" fmla="*/ 28 h 28"/>
                <a:gd name="T82" fmla="*/ 16 w 31"/>
                <a:gd name="T83" fmla="*/ 28 h 28"/>
                <a:gd name="T84" fmla="*/ 14 w 31"/>
                <a:gd name="T85" fmla="*/ 26 h 2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8"/>
                <a:gd name="T131" fmla="*/ 31 w 31"/>
                <a:gd name="T132" fmla="*/ 28 h 2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8">
                  <a:moveTo>
                    <a:pt x="14" y="26"/>
                  </a:moveTo>
                  <a:lnTo>
                    <a:pt x="19" y="28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5" y="21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9" y="26"/>
                  </a:lnTo>
                  <a:lnTo>
                    <a:pt x="12" y="28"/>
                  </a:lnTo>
                  <a:lnTo>
                    <a:pt x="14" y="28"/>
                  </a:lnTo>
                  <a:lnTo>
                    <a:pt x="16" y="28"/>
                  </a:lnTo>
                  <a:lnTo>
                    <a:pt x="14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12" name="Rectangle 546"/>
            <p:cNvSpPr>
              <a:spLocks noChangeArrowheads="1"/>
            </p:cNvSpPr>
            <p:nvPr/>
          </p:nvSpPr>
          <p:spPr bwMode="auto">
            <a:xfrm>
              <a:off x="3536" y="1229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80213" name="Rectangle 547"/>
            <p:cNvSpPr>
              <a:spLocks noChangeArrowheads="1"/>
            </p:cNvSpPr>
            <p:nvPr/>
          </p:nvSpPr>
          <p:spPr bwMode="auto">
            <a:xfrm>
              <a:off x="3574" y="122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h</a:t>
              </a:r>
            </a:p>
          </p:txBody>
        </p:sp>
        <p:sp>
          <p:nvSpPr>
            <p:cNvPr id="80214" name="Rectangle 548"/>
            <p:cNvSpPr>
              <a:spLocks noChangeArrowheads="1"/>
            </p:cNvSpPr>
            <p:nvPr/>
          </p:nvSpPr>
          <p:spPr bwMode="auto">
            <a:xfrm>
              <a:off x="3607" y="1229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80215" name="Rectangle 549"/>
            <p:cNvSpPr>
              <a:spLocks noChangeArrowheads="1"/>
            </p:cNvSpPr>
            <p:nvPr/>
          </p:nvSpPr>
          <p:spPr bwMode="auto">
            <a:xfrm>
              <a:off x="3622" y="122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80216" name="Rectangle 550"/>
            <p:cNvSpPr>
              <a:spLocks noChangeArrowheads="1"/>
            </p:cNvSpPr>
            <p:nvPr/>
          </p:nvSpPr>
          <p:spPr bwMode="auto">
            <a:xfrm>
              <a:off x="3638" y="122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217" name="Rectangle 551"/>
            <p:cNvSpPr>
              <a:spLocks noChangeArrowheads="1"/>
            </p:cNvSpPr>
            <p:nvPr/>
          </p:nvSpPr>
          <p:spPr bwMode="auto">
            <a:xfrm>
              <a:off x="3652" y="122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18" name="Rectangle 552"/>
            <p:cNvSpPr>
              <a:spLocks noChangeArrowheads="1"/>
            </p:cNvSpPr>
            <p:nvPr/>
          </p:nvSpPr>
          <p:spPr bwMode="auto">
            <a:xfrm>
              <a:off x="3527" y="1297"/>
              <a:ext cx="12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80219" name="Rectangle 553"/>
            <p:cNvSpPr>
              <a:spLocks noChangeArrowheads="1"/>
            </p:cNvSpPr>
            <p:nvPr/>
          </p:nvSpPr>
          <p:spPr bwMode="auto">
            <a:xfrm>
              <a:off x="3541" y="129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220" name="Rectangle 554"/>
            <p:cNvSpPr>
              <a:spLocks noChangeArrowheads="1"/>
            </p:cNvSpPr>
            <p:nvPr/>
          </p:nvSpPr>
          <p:spPr bwMode="auto">
            <a:xfrm>
              <a:off x="3574" y="129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80221" name="Rectangle 555"/>
            <p:cNvSpPr>
              <a:spLocks noChangeArrowheads="1"/>
            </p:cNvSpPr>
            <p:nvPr/>
          </p:nvSpPr>
          <p:spPr bwMode="auto">
            <a:xfrm>
              <a:off x="3588" y="129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80222" name="Rectangle 556"/>
            <p:cNvSpPr>
              <a:spLocks noChangeArrowheads="1"/>
            </p:cNvSpPr>
            <p:nvPr/>
          </p:nvSpPr>
          <p:spPr bwMode="auto">
            <a:xfrm>
              <a:off x="3605" y="129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80223" name="Rectangle 557"/>
            <p:cNvSpPr>
              <a:spLocks noChangeArrowheads="1"/>
            </p:cNvSpPr>
            <p:nvPr/>
          </p:nvSpPr>
          <p:spPr bwMode="auto">
            <a:xfrm>
              <a:off x="3622" y="129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80224" name="Freeform 558"/>
            <p:cNvSpPr>
              <a:spLocks noChangeArrowheads="1"/>
            </p:cNvSpPr>
            <p:nvPr/>
          </p:nvSpPr>
          <p:spPr bwMode="auto">
            <a:xfrm>
              <a:off x="2447" y="3004"/>
              <a:ext cx="28" cy="29"/>
            </a:xfrm>
            <a:custGeom>
              <a:avLst/>
              <a:gdLst>
                <a:gd name="T0" fmla="*/ 14 w 28"/>
                <a:gd name="T1" fmla="*/ 29 h 29"/>
                <a:gd name="T2" fmla="*/ 17 w 28"/>
                <a:gd name="T3" fmla="*/ 29 h 29"/>
                <a:gd name="T4" fmla="*/ 19 w 28"/>
                <a:gd name="T5" fmla="*/ 29 h 29"/>
                <a:gd name="T6" fmla="*/ 21 w 28"/>
                <a:gd name="T7" fmla="*/ 29 h 29"/>
                <a:gd name="T8" fmla="*/ 24 w 28"/>
                <a:gd name="T9" fmla="*/ 26 h 29"/>
                <a:gd name="T10" fmla="*/ 26 w 28"/>
                <a:gd name="T11" fmla="*/ 24 h 29"/>
                <a:gd name="T12" fmla="*/ 26 w 28"/>
                <a:gd name="T13" fmla="*/ 24 h 29"/>
                <a:gd name="T14" fmla="*/ 28 w 28"/>
                <a:gd name="T15" fmla="*/ 21 h 29"/>
                <a:gd name="T16" fmla="*/ 28 w 28"/>
                <a:gd name="T17" fmla="*/ 19 h 29"/>
                <a:gd name="T18" fmla="*/ 28 w 28"/>
                <a:gd name="T19" fmla="*/ 17 h 29"/>
                <a:gd name="T20" fmla="*/ 28 w 28"/>
                <a:gd name="T21" fmla="*/ 14 h 29"/>
                <a:gd name="T22" fmla="*/ 28 w 28"/>
                <a:gd name="T23" fmla="*/ 12 h 29"/>
                <a:gd name="T24" fmla="*/ 28 w 28"/>
                <a:gd name="T25" fmla="*/ 10 h 29"/>
                <a:gd name="T26" fmla="*/ 28 w 28"/>
                <a:gd name="T27" fmla="*/ 7 h 29"/>
                <a:gd name="T28" fmla="*/ 26 w 28"/>
                <a:gd name="T29" fmla="*/ 5 h 29"/>
                <a:gd name="T30" fmla="*/ 26 w 28"/>
                <a:gd name="T31" fmla="*/ 5 h 29"/>
                <a:gd name="T32" fmla="*/ 24 w 28"/>
                <a:gd name="T33" fmla="*/ 2 h 29"/>
                <a:gd name="T34" fmla="*/ 21 w 28"/>
                <a:gd name="T35" fmla="*/ 2 h 29"/>
                <a:gd name="T36" fmla="*/ 19 w 28"/>
                <a:gd name="T37" fmla="*/ 0 h 29"/>
                <a:gd name="T38" fmla="*/ 17 w 28"/>
                <a:gd name="T39" fmla="*/ 0 h 29"/>
                <a:gd name="T40" fmla="*/ 14 w 28"/>
                <a:gd name="T41" fmla="*/ 0 h 29"/>
                <a:gd name="T42" fmla="*/ 12 w 28"/>
                <a:gd name="T43" fmla="*/ 0 h 29"/>
                <a:gd name="T44" fmla="*/ 9 w 28"/>
                <a:gd name="T45" fmla="*/ 0 h 29"/>
                <a:gd name="T46" fmla="*/ 7 w 28"/>
                <a:gd name="T47" fmla="*/ 2 h 29"/>
                <a:gd name="T48" fmla="*/ 7 w 28"/>
                <a:gd name="T49" fmla="*/ 2 h 29"/>
                <a:gd name="T50" fmla="*/ 5 w 28"/>
                <a:gd name="T51" fmla="*/ 5 h 29"/>
                <a:gd name="T52" fmla="*/ 2 w 28"/>
                <a:gd name="T53" fmla="*/ 5 h 29"/>
                <a:gd name="T54" fmla="*/ 2 w 28"/>
                <a:gd name="T55" fmla="*/ 7 h 29"/>
                <a:gd name="T56" fmla="*/ 0 w 28"/>
                <a:gd name="T57" fmla="*/ 10 h 29"/>
                <a:gd name="T58" fmla="*/ 0 w 28"/>
                <a:gd name="T59" fmla="*/ 12 h 29"/>
                <a:gd name="T60" fmla="*/ 0 w 28"/>
                <a:gd name="T61" fmla="*/ 14 h 29"/>
                <a:gd name="T62" fmla="*/ 0 w 28"/>
                <a:gd name="T63" fmla="*/ 17 h 29"/>
                <a:gd name="T64" fmla="*/ 0 w 28"/>
                <a:gd name="T65" fmla="*/ 19 h 29"/>
                <a:gd name="T66" fmla="*/ 2 w 28"/>
                <a:gd name="T67" fmla="*/ 21 h 29"/>
                <a:gd name="T68" fmla="*/ 2 w 28"/>
                <a:gd name="T69" fmla="*/ 24 h 29"/>
                <a:gd name="T70" fmla="*/ 5 w 28"/>
                <a:gd name="T71" fmla="*/ 24 h 29"/>
                <a:gd name="T72" fmla="*/ 7 w 28"/>
                <a:gd name="T73" fmla="*/ 26 h 29"/>
                <a:gd name="T74" fmla="*/ 7 w 28"/>
                <a:gd name="T75" fmla="*/ 29 h 29"/>
                <a:gd name="T76" fmla="*/ 9 w 28"/>
                <a:gd name="T77" fmla="*/ 29 h 29"/>
                <a:gd name="T78" fmla="*/ 12 w 28"/>
                <a:gd name="T79" fmla="*/ 29 h 29"/>
                <a:gd name="T80" fmla="*/ 14 w 28"/>
                <a:gd name="T81" fmla="*/ 29 h 29"/>
                <a:gd name="T82" fmla="*/ 14 w 28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8"/>
                <a:gd name="T127" fmla="*/ 0 h 29"/>
                <a:gd name="T128" fmla="*/ 28 w 28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8" h="29">
                  <a:moveTo>
                    <a:pt x="14" y="29"/>
                  </a:moveTo>
                  <a:lnTo>
                    <a:pt x="17" y="29"/>
                  </a:lnTo>
                  <a:lnTo>
                    <a:pt x="19" y="29"/>
                  </a:lnTo>
                  <a:lnTo>
                    <a:pt x="21" y="29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8" y="17"/>
                  </a:lnTo>
                  <a:lnTo>
                    <a:pt x="28" y="14"/>
                  </a:lnTo>
                  <a:lnTo>
                    <a:pt x="28" y="12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25" name="Freeform 559"/>
            <p:cNvSpPr>
              <a:spLocks noChangeArrowheads="1"/>
            </p:cNvSpPr>
            <p:nvPr/>
          </p:nvSpPr>
          <p:spPr bwMode="auto">
            <a:xfrm>
              <a:off x="4214" y="2462"/>
              <a:ext cx="30" cy="28"/>
            </a:xfrm>
            <a:custGeom>
              <a:avLst/>
              <a:gdLst>
                <a:gd name="T0" fmla="*/ 14 w 30"/>
                <a:gd name="T1" fmla="*/ 28 h 28"/>
                <a:gd name="T2" fmla="*/ 16 w 30"/>
                <a:gd name="T3" fmla="*/ 28 h 28"/>
                <a:gd name="T4" fmla="*/ 18 w 30"/>
                <a:gd name="T5" fmla="*/ 28 h 28"/>
                <a:gd name="T6" fmla="*/ 21 w 30"/>
                <a:gd name="T7" fmla="*/ 26 h 28"/>
                <a:gd name="T8" fmla="*/ 23 w 30"/>
                <a:gd name="T9" fmla="*/ 26 h 28"/>
                <a:gd name="T10" fmla="*/ 26 w 30"/>
                <a:gd name="T11" fmla="*/ 24 h 28"/>
                <a:gd name="T12" fmla="*/ 26 w 30"/>
                <a:gd name="T13" fmla="*/ 21 h 28"/>
                <a:gd name="T14" fmla="*/ 28 w 30"/>
                <a:gd name="T15" fmla="*/ 21 h 28"/>
                <a:gd name="T16" fmla="*/ 28 w 30"/>
                <a:gd name="T17" fmla="*/ 19 h 28"/>
                <a:gd name="T18" fmla="*/ 28 w 30"/>
                <a:gd name="T19" fmla="*/ 16 h 28"/>
                <a:gd name="T20" fmla="*/ 30 w 30"/>
                <a:gd name="T21" fmla="*/ 14 h 28"/>
                <a:gd name="T22" fmla="*/ 28 w 30"/>
                <a:gd name="T23" fmla="*/ 12 h 28"/>
                <a:gd name="T24" fmla="*/ 28 w 30"/>
                <a:gd name="T25" fmla="*/ 9 h 28"/>
                <a:gd name="T26" fmla="*/ 28 w 30"/>
                <a:gd name="T27" fmla="*/ 7 h 28"/>
                <a:gd name="T28" fmla="*/ 26 w 30"/>
                <a:gd name="T29" fmla="*/ 5 h 28"/>
                <a:gd name="T30" fmla="*/ 26 w 30"/>
                <a:gd name="T31" fmla="*/ 2 h 28"/>
                <a:gd name="T32" fmla="*/ 23 w 30"/>
                <a:gd name="T33" fmla="*/ 2 h 28"/>
                <a:gd name="T34" fmla="*/ 21 w 30"/>
                <a:gd name="T35" fmla="*/ 0 h 28"/>
                <a:gd name="T36" fmla="*/ 18 w 30"/>
                <a:gd name="T37" fmla="*/ 0 h 28"/>
                <a:gd name="T38" fmla="*/ 16 w 30"/>
                <a:gd name="T39" fmla="*/ 0 h 28"/>
                <a:gd name="T40" fmla="*/ 14 w 30"/>
                <a:gd name="T41" fmla="*/ 0 h 28"/>
                <a:gd name="T42" fmla="*/ 11 w 30"/>
                <a:gd name="T43" fmla="*/ 0 h 28"/>
                <a:gd name="T44" fmla="*/ 9 w 30"/>
                <a:gd name="T45" fmla="*/ 0 h 28"/>
                <a:gd name="T46" fmla="*/ 9 w 30"/>
                <a:gd name="T47" fmla="*/ 0 h 28"/>
                <a:gd name="T48" fmla="*/ 7 w 30"/>
                <a:gd name="T49" fmla="*/ 2 h 28"/>
                <a:gd name="T50" fmla="*/ 4 w 30"/>
                <a:gd name="T51" fmla="*/ 2 h 28"/>
                <a:gd name="T52" fmla="*/ 2 w 30"/>
                <a:gd name="T53" fmla="*/ 5 h 28"/>
                <a:gd name="T54" fmla="*/ 2 w 30"/>
                <a:gd name="T55" fmla="*/ 7 h 28"/>
                <a:gd name="T56" fmla="*/ 2 w 30"/>
                <a:gd name="T57" fmla="*/ 9 h 28"/>
                <a:gd name="T58" fmla="*/ 0 w 30"/>
                <a:gd name="T59" fmla="*/ 12 h 28"/>
                <a:gd name="T60" fmla="*/ 0 w 30"/>
                <a:gd name="T61" fmla="*/ 14 h 28"/>
                <a:gd name="T62" fmla="*/ 0 w 30"/>
                <a:gd name="T63" fmla="*/ 16 h 28"/>
                <a:gd name="T64" fmla="*/ 2 w 30"/>
                <a:gd name="T65" fmla="*/ 19 h 28"/>
                <a:gd name="T66" fmla="*/ 2 w 30"/>
                <a:gd name="T67" fmla="*/ 21 h 28"/>
                <a:gd name="T68" fmla="*/ 2 w 30"/>
                <a:gd name="T69" fmla="*/ 21 h 28"/>
                <a:gd name="T70" fmla="*/ 4 w 30"/>
                <a:gd name="T71" fmla="*/ 24 h 28"/>
                <a:gd name="T72" fmla="*/ 7 w 30"/>
                <a:gd name="T73" fmla="*/ 26 h 28"/>
                <a:gd name="T74" fmla="*/ 9 w 30"/>
                <a:gd name="T75" fmla="*/ 26 h 28"/>
                <a:gd name="T76" fmla="*/ 9 w 30"/>
                <a:gd name="T77" fmla="*/ 28 h 28"/>
                <a:gd name="T78" fmla="*/ 11 w 30"/>
                <a:gd name="T79" fmla="*/ 28 h 28"/>
                <a:gd name="T80" fmla="*/ 14 w 30"/>
                <a:gd name="T81" fmla="*/ 28 h 28"/>
                <a:gd name="T82" fmla="*/ 14 w 30"/>
                <a:gd name="T83" fmla="*/ 28 h 2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8"/>
                <a:gd name="T128" fmla="*/ 30 w 30"/>
                <a:gd name="T129" fmla="*/ 28 h 2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8">
                  <a:moveTo>
                    <a:pt x="14" y="28"/>
                  </a:moveTo>
                  <a:lnTo>
                    <a:pt x="16" y="28"/>
                  </a:lnTo>
                  <a:lnTo>
                    <a:pt x="18" y="28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8" y="16"/>
                  </a:lnTo>
                  <a:lnTo>
                    <a:pt x="30" y="14"/>
                  </a:lnTo>
                  <a:lnTo>
                    <a:pt x="28" y="12"/>
                  </a:lnTo>
                  <a:lnTo>
                    <a:pt x="28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4" y="2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4" y="24"/>
                  </a:lnTo>
                  <a:lnTo>
                    <a:pt x="7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1" y="28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26" name="Rectangle 560"/>
            <p:cNvSpPr>
              <a:spLocks noChangeArrowheads="1"/>
            </p:cNvSpPr>
            <p:nvPr/>
          </p:nvSpPr>
          <p:spPr bwMode="auto">
            <a:xfrm>
              <a:off x="3849" y="2365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0227" name="Rectangle 561"/>
            <p:cNvSpPr>
              <a:spLocks noChangeArrowheads="1"/>
            </p:cNvSpPr>
            <p:nvPr/>
          </p:nvSpPr>
          <p:spPr bwMode="auto">
            <a:xfrm>
              <a:off x="3889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80228" name="Rectangle 562"/>
            <p:cNvSpPr>
              <a:spLocks noChangeArrowheads="1"/>
            </p:cNvSpPr>
            <p:nvPr/>
          </p:nvSpPr>
          <p:spPr bwMode="auto">
            <a:xfrm>
              <a:off x="3922" y="236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80229" name="Freeform 563"/>
            <p:cNvSpPr>
              <a:spLocks noChangeArrowheads="1"/>
            </p:cNvSpPr>
            <p:nvPr/>
          </p:nvSpPr>
          <p:spPr bwMode="auto">
            <a:xfrm>
              <a:off x="3475" y="1280"/>
              <a:ext cx="30" cy="31"/>
            </a:xfrm>
            <a:custGeom>
              <a:avLst/>
              <a:gdLst>
                <a:gd name="T0" fmla="*/ 0 w 30"/>
                <a:gd name="T1" fmla="*/ 0 h 31"/>
                <a:gd name="T2" fmla="*/ 0 w 30"/>
                <a:gd name="T3" fmla="*/ 31 h 31"/>
                <a:gd name="T4" fmla="*/ 30 w 30"/>
                <a:gd name="T5" fmla="*/ 17 h 31"/>
                <a:gd name="T6" fmla="*/ 0 w 30"/>
                <a:gd name="T7" fmla="*/ 3 h 31"/>
                <a:gd name="T8" fmla="*/ 0 w 30"/>
                <a:gd name="T9" fmla="*/ 3 h 31"/>
                <a:gd name="T10" fmla="*/ 0 w 30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"/>
                <a:gd name="T19" fmla="*/ 0 h 31"/>
                <a:gd name="T20" fmla="*/ 30 w 30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" h="31">
                  <a:moveTo>
                    <a:pt x="0" y="0"/>
                  </a:moveTo>
                  <a:lnTo>
                    <a:pt x="0" y="31"/>
                  </a:lnTo>
                  <a:lnTo>
                    <a:pt x="30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30" name="Freeform 564"/>
            <p:cNvSpPr>
              <a:spLocks noChangeArrowheads="1"/>
            </p:cNvSpPr>
            <p:nvPr/>
          </p:nvSpPr>
          <p:spPr bwMode="auto">
            <a:xfrm>
              <a:off x="3404" y="1297"/>
              <a:ext cx="80" cy="1409"/>
            </a:xfrm>
            <a:custGeom>
              <a:avLst/>
              <a:gdLst>
                <a:gd name="T0" fmla="*/ 0 w 80"/>
                <a:gd name="T1" fmla="*/ 1409 h 1409"/>
                <a:gd name="T2" fmla="*/ 0 w 80"/>
                <a:gd name="T3" fmla="*/ 0 h 1409"/>
                <a:gd name="T4" fmla="*/ 80 w 80"/>
                <a:gd name="T5" fmla="*/ 0 h 1409"/>
                <a:gd name="T6" fmla="*/ 0 60000 65536"/>
                <a:gd name="T7" fmla="*/ 0 60000 65536"/>
                <a:gd name="T8" fmla="*/ 0 60000 65536"/>
                <a:gd name="T9" fmla="*/ 0 w 80"/>
                <a:gd name="T10" fmla="*/ 0 h 1409"/>
                <a:gd name="T11" fmla="*/ 80 w 80"/>
                <a:gd name="T12" fmla="*/ 1409 h 14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" h="1409">
                  <a:moveTo>
                    <a:pt x="0" y="1409"/>
                  </a:moveTo>
                  <a:lnTo>
                    <a:pt x="0" y="0"/>
                  </a:lnTo>
                  <a:lnTo>
                    <a:pt x="8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31" name="Line 565"/>
            <p:cNvSpPr>
              <a:spLocks noChangeShapeType="1"/>
            </p:cNvSpPr>
            <p:nvPr/>
          </p:nvSpPr>
          <p:spPr bwMode="auto">
            <a:xfrm>
              <a:off x="3688" y="1294"/>
              <a:ext cx="64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232" name="Freeform 566"/>
            <p:cNvSpPr>
              <a:spLocks noChangeArrowheads="1"/>
            </p:cNvSpPr>
            <p:nvPr/>
          </p:nvSpPr>
          <p:spPr bwMode="auto">
            <a:xfrm>
              <a:off x="2044" y="2616"/>
              <a:ext cx="22" cy="2"/>
            </a:xfrm>
            <a:custGeom>
              <a:avLst/>
              <a:gdLst>
                <a:gd name="T0" fmla="*/ 0 w 22"/>
                <a:gd name="T1" fmla="*/ 0 h 2"/>
                <a:gd name="T2" fmla="*/ 22 w 22"/>
                <a:gd name="T3" fmla="*/ 2 h 2"/>
                <a:gd name="T4" fmla="*/ 0 w 22"/>
                <a:gd name="T5" fmla="*/ 0 h 2"/>
                <a:gd name="T6" fmla="*/ 0 60000 65536"/>
                <a:gd name="T7" fmla="*/ 0 60000 65536"/>
                <a:gd name="T8" fmla="*/ 0 60000 65536"/>
                <a:gd name="T9" fmla="*/ 0 w 22"/>
                <a:gd name="T10" fmla="*/ 0 h 2"/>
                <a:gd name="T11" fmla="*/ 22 w 22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2">
                  <a:moveTo>
                    <a:pt x="0" y="0"/>
                  </a:moveTo>
                  <a:lnTo>
                    <a:pt x="2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33" name="Line 567"/>
            <p:cNvSpPr>
              <a:spLocks noChangeShapeType="1"/>
            </p:cNvSpPr>
            <p:nvPr/>
          </p:nvSpPr>
          <p:spPr bwMode="auto">
            <a:xfrm>
              <a:off x="2044" y="2616"/>
              <a:ext cx="22" cy="2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234" name="Freeform 568"/>
            <p:cNvSpPr>
              <a:spLocks noChangeArrowheads="1"/>
            </p:cNvSpPr>
            <p:nvPr/>
          </p:nvSpPr>
          <p:spPr bwMode="auto">
            <a:xfrm>
              <a:off x="2044" y="2263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35" name="Line 569"/>
            <p:cNvSpPr>
              <a:spLocks noChangeShapeType="1"/>
            </p:cNvSpPr>
            <p:nvPr/>
          </p:nvSpPr>
          <p:spPr bwMode="auto">
            <a:xfrm>
              <a:off x="2044" y="2263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236" name="Freeform 570"/>
            <p:cNvSpPr>
              <a:spLocks noChangeArrowheads="1"/>
            </p:cNvSpPr>
            <p:nvPr/>
          </p:nvSpPr>
          <p:spPr bwMode="auto">
            <a:xfrm>
              <a:off x="2044" y="2088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37" name="Line 571"/>
            <p:cNvSpPr>
              <a:spLocks noChangeShapeType="1"/>
            </p:cNvSpPr>
            <p:nvPr/>
          </p:nvSpPr>
          <p:spPr bwMode="auto">
            <a:xfrm>
              <a:off x="2044" y="2088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238" name="Freeform 572"/>
            <p:cNvSpPr>
              <a:spLocks noChangeArrowheads="1"/>
            </p:cNvSpPr>
            <p:nvPr/>
          </p:nvSpPr>
          <p:spPr bwMode="auto">
            <a:xfrm>
              <a:off x="2042" y="1600"/>
              <a:ext cx="24" cy="1"/>
            </a:xfrm>
            <a:custGeom>
              <a:avLst/>
              <a:gdLst>
                <a:gd name="T0" fmla="*/ 0 w 24"/>
                <a:gd name="T1" fmla="*/ 0 h 1"/>
                <a:gd name="T2" fmla="*/ 24 w 24"/>
                <a:gd name="T3" fmla="*/ 0 h 1"/>
                <a:gd name="T4" fmla="*/ 0 w 24"/>
                <a:gd name="T5" fmla="*/ 0 h 1"/>
                <a:gd name="T6" fmla="*/ 0 60000 65536"/>
                <a:gd name="T7" fmla="*/ 0 60000 65536"/>
                <a:gd name="T8" fmla="*/ 0 60000 65536"/>
                <a:gd name="T9" fmla="*/ 0 w 24"/>
                <a:gd name="T10" fmla="*/ 0 h 1"/>
                <a:gd name="T11" fmla="*/ 24 w 2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" h="1">
                  <a:moveTo>
                    <a:pt x="0" y="0"/>
                  </a:move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39" name="Line 573"/>
            <p:cNvSpPr>
              <a:spLocks noChangeShapeType="1"/>
            </p:cNvSpPr>
            <p:nvPr/>
          </p:nvSpPr>
          <p:spPr bwMode="auto">
            <a:xfrm>
              <a:off x="2042" y="1600"/>
              <a:ext cx="24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240" name="Freeform 574"/>
            <p:cNvSpPr>
              <a:spLocks noChangeArrowheads="1"/>
            </p:cNvSpPr>
            <p:nvPr/>
          </p:nvSpPr>
          <p:spPr bwMode="auto">
            <a:xfrm>
              <a:off x="2044" y="2969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41" name="Line 575"/>
            <p:cNvSpPr>
              <a:spLocks noChangeShapeType="1"/>
            </p:cNvSpPr>
            <p:nvPr/>
          </p:nvSpPr>
          <p:spPr bwMode="auto">
            <a:xfrm>
              <a:off x="2044" y="2969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242" name="Freeform 576"/>
            <p:cNvSpPr>
              <a:spLocks noChangeArrowheads="1"/>
            </p:cNvSpPr>
            <p:nvPr/>
          </p:nvSpPr>
          <p:spPr bwMode="auto">
            <a:xfrm>
              <a:off x="2835" y="3272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43" name="Line 577"/>
            <p:cNvSpPr>
              <a:spLocks noChangeShapeType="1"/>
            </p:cNvSpPr>
            <p:nvPr/>
          </p:nvSpPr>
          <p:spPr bwMode="auto">
            <a:xfrm>
              <a:off x="2835" y="3272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244" name="Freeform 578"/>
            <p:cNvSpPr>
              <a:spLocks noChangeArrowheads="1"/>
            </p:cNvSpPr>
            <p:nvPr/>
          </p:nvSpPr>
          <p:spPr bwMode="auto">
            <a:xfrm>
              <a:off x="4346" y="2459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7 h 31"/>
                <a:gd name="T6" fmla="*/ 0 w 31"/>
                <a:gd name="T7" fmla="*/ 3 h 31"/>
                <a:gd name="T8" fmla="*/ 0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245" name="Rectangle 579"/>
            <p:cNvSpPr>
              <a:spLocks noChangeArrowheads="1"/>
            </p:cNvSpPr>
            <p:nvPr/>
          </p:nvSpPr>
          <p:spPr bwMode="auto">
            <a:xfrm>
              <a:off x="4405" y="2436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0246" name="Rectangle 580"/>
            <p:cNvSpPr>
              <a:spLocks noChangeArrowheads="1"/>
            </p:cNvSpPr>
            <p:nvPr/>
          </p:nvSpPr>
          <p:spPr bwMode="auto">
            <a:xfrm>
              <a:off x="4443" y="24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80247" name="Rectangle 581"/>
            <p:cNvSpPr>
              <a:spLocks noChangeArrowheads="1"/>
            </p:cNvSpPr>
            <p:nvPr/>
          </p:nvSpPr>
          <p:spPr bwMode="auto">
            <a:xfrm>
              <a:off x="4476" y="24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80248" name="Rectangle 582"/>
            <p:cNvSpPr>
              <a:spLocks noChangeArrowheads="1"/>
            </p:cNvSpPr>
            <p:nvPr/>
          </p:nvSpPr>
          <p:spPr bwMode="auto">
            <a:xfrm>
              <a:off x="4510" y="243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249" name="Rectangle 583"/>
            <p:cNvSpPr>
              <a:spLocks noChangeArrowheads="1"/>
            </p:cNvSpPr>
            <p:nvPr/>
          </p:nvSpPr>
          <p:spPr bwMode="auto">
            <a:xfrm>
              <a:off x="4528" y="24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0250" name="Rectangle 584"/>
            <p:cNvSpPr>
              <a:spLocks noChangeArrowheads="1"/>
            </p:cNvSpPr>
            <p:nvPr/>
          </p:nvSpPr>
          <p:spPr bwMode="auto">
            <a:xfrm>
              <a:off x="4562" y="243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80251" name="Rectangle 585"/>
            <p:cNvSpPr>
              <a:spLocks noChangeArrowheads="1"/>
            </p:cNvSpPr>
            <p:nvPr/>
          </p:nvSpPr>
          <p:spPr bwMode="auto">
            <a:xfrm>
              <a:off x="4590" y="243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buClr>
                  <a:srgbClr val="000000"/>
                </a:buCl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</p:grpSp>
      <p:sp>
        <p:nvSpPr>
          <p:cNvPr id="30282" name="Oval 586"/>
          <p:cNvSpPr>
            <a:spLocks noChangeArrowheads="1"/>
          </p:cNvSpPr>
          <p:nvPr/>
        </p:nvSpPr>
        <p:spPr bwMode="auto">
          <a:xfrm>
            <a:off x="6934200" y="4768888"/>
            <a:ext cx="838200" cy="914400"/>
          </a:xfrm>
          <a:prstGeom prst="ellipse">
            <a:avLst/>
          </a:prstGeom>
          <a:noFill/>
          <a:ln w="31680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2" name="AutoShape 4"/>
          <p:cNvSpPr>
            <a:spLocks/>
          </p:cNvSpPr>
          <p:nvPr/>
        </p:nvSpPr>
        <p:spPr bwMode="auto">
          <a:xfrm>
            <a:off x="5520286" y="5843736"/>
            <a:ext cx="914400" cy="609600"/>
          </a:xfrm>
          <a:prstGeom prst="borderCallout1">
            <a:avLst>
              <a:gd name="adj1" fmla="val 18750"/>
              <a:gd name="adj2" fmla="val 108333"/>
              <a:gd name="adj3" fmla="val -16667"/>
              <a:gd name="adj4" fmla="val 171356"/>
            </a:avLst>
          </a:prstGeom>
          <a:solidFill>
            <a:srgbClr val="3370BA"/>
          </a:solidFill>
          <a:ln w="9525">
            <a:solidFill>
              <a:srgbClr val="18457D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pPr algn="ctr" defTabSz="914400"/>
            <a:r>
              <a:rPr lang="en-US" altLang="en-US" sz="1600" kern="0" dirty="0">
                <a:solidFill>
                  <a:schemeClr val="bg1"/>
                </a:solidFill>
              </a:rPr>
              <a:t>2-bit </a:t>
            </a:r>
            <a:r>
              <a:rPr lang="en-US" altLang="en-US" sz="1600" kern="0" dirty="0" err="1">
                <a:solidFill>
                  <a:schemeClr val="bg1"/>
                </a:solidFill>
              </a:rPr>
              <a:t>ALUOp</a:t>
            </a:r>
            <a:endParaRPr lang="en-AU" altLang="en-US" sz="1600" kern="0" dirty="0">
              <a:solidFill>
                <a:schemeClr val="bg1"/>
              </a:solidFill>
            </a:endParaRPr>
          </a:p>
        </p:txBody>
      </p:sp>
      <p:sp>
        <p:nvSpPr>
          <p:cNvPr id="593" name="AutoShape 5"/>
          <p:cNvSpPr>
            <a:spLocks/>
          </p:cNvSpPr>
          <p:nvPr/>
        </p:nvSpPr>
        <p:spPr bwMode="auto">
          <a:xfrm>
            <a:off x="8464551" y="5186291"/>
            <a:ext cx="1233487" cy="552560"/>
          </a:xfrm>
          <a:prstGeom prst="borderCallout1">
            <a:avLst>
              <a:gd name="adj1" fmla="val 13236"/>
              <a:gd name="adj2" fmla="val -5292"/>
              <a:gd name="adj3" fmla="val -41912"/>
              <a:gd name="adj4" fmla="val -55458"/>
            </a:avLst>
          </a:prstGeom>
          <a:solidFill>
            <a:srgbClr val="3370BA"/>
          </a:solidFill>
          <a:ln w="9525">
            <a:solidFill>
              <a:srgbClr val="18457D"/>
            </a:solidFill>
            <a:miter lim="800000"/>
            <a:headEnd/>
            <a:tailEnd type="triangle" w="med" len="med"/>
          </a:ln>
        </p:spPr>
        <p:txBody>
          <a:bodyPr/>
          <a:lstStyle/>
          <a:p>
            <a:pPr algn="ctr" defTabSz="914400"/>
            <a:r>
              <a:rPr lang="en-US" altLang="en-US" sz="1600" kern="0" dirty="0">
                <a:solidFill>
                  <a:schemeClr val="bg1"/>
                </a:solidFill>
              </a:rPr>
              <a:t>4-bit ALU Control</a:t>
            </a:r>
            <a:endParaRPr lang="en-AU" altLang="en-US" sz="1600" kern="0" dirty="0">
              <a:solidFill>
                <a:schemeClr val="bg1"/>
              </a:solidFill>
            </a:endParaRPr>
          </a:p>
        </p:txBody>
      </p:sp>
      <p:sp>
        <p:nvSpPr>
          <p:cNvPr id="594" name="AutoShape 4"/>
          <p:cNvSpPr>
            <a:spLocks/>
          </p:cNvSpPr>
          <p:nvPr/>
        </p:nvSpPr>
        <p:spPr bwMode="auto">
          <a:xfrm>
            <a:off x="3854450" y="5531053"/>
            <a:ext cx="914400" cy="852323"/>
          </a:xfrm>
          <a:prstGeom prst="borderCallout1">
            <a:avLst>
              <a:gd name="adj1" fmla="val 18750"/>
              <a:gd name="adj2" fmla="val 108333"/>
              <a:gd name="adj3" fmla="val -16667"/>
              <a:gd name="adj4" fmla="val 171356"/>
            </a:avLst>
          </a:prstGeom>
          <a:solidFill>
            <a:srgbClr val="3370BA"/>
          </a:solidFill>
          <a:ln w="9525">
            <a:solidFill>
              <a:srgbClr val="18457D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defRPr/>
            </a:pPr>
            <a:r>
              <a:rPr lang="en-US" altLang="en-US" kern="0" dirty="0">
                <a:solidFill>
                  <a:schemeClr val="bg1"/>
                </a:solidFill>
                <a:latin typeface="+mn-lt"/>
              </a:rPr>
              <a:t>6-bit function code</a:t>
            </a:r>
            <a:endParaRPr lang="en-AU" altLang="en-US" kern="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13490019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dirty="0">
                <a:ea typeface="新細明體" charset="-120"/>
                <a:cs typeface="新細明體" charset="-120"/>
              </a:rPr>
              <a:t>Generation of ALU Control Input Bits (cont.)</a:t>
            </a:r>
          </a:p>
        </p:txBody>
      </p:sp>
      <p:sp>
        <p:nvSpPr>
          <p:cNvPr id="8192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79413" indent="-379413"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Two common implementation techniques:</a:t>
            </a:r>
          </a:p>
          <a:p>
            <a:pPr marL="785813" lvl="1" indent="-381000">
              <a:buClr>
                <a:srgbClr val="CD3333"/>
              </a:buClr>
              <a:buSzPct val="120000"/>
              <a:buFont typeface="Wingdings" charset="2"/>
              <a:buChar char="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1-level decoding</a:t>
            </a:r>
          </a:p>
          <a:p>
            <a:pPr marL="1179513" lvl="2" indent="-379413">
              <a:buClr>
                <a:srgbClr val="CD3333"/>
              </a:buClr>
              <a:buFont typeface="Tahoma" charset="0"/>
              <a:buChar char="―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more input bits</a:t>
            </a:r>
          </a:p>
          <a:p>
            <a:pPr marL="785813" lvl="1" indent="-381000">
              <a:buClr>
                <a:srgbClr val="CD3333"/>
              </a:buClr>
              <a:buSzPct val="120000"/>
              <a:buFont typeface="Wingdings" charset="2"/>
              <a:buChar char="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2-level decoding</a:t>
            </a:r>
          </a:p>
          <a:p>
            <a:pPr marL="1179513" lvl="2" indent="-379413">
              <a:buClr>
                <a:srgbClr val="CD3333"/>
              </a:buClr>
              <a:buFont typeface="Wingdings 2" charset="2"/>
              <a:buChar char="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less input bits, less complicated =&gt; potentially faster logic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746751" y="4591201"/>
            <a:ext cx="1666876" cy="646113"/>
            <a:chOff x="2660" y="2545"/>
            <a:chExt cx="1050" cy="407"/>
          </a:xfrm>
        </p:grpSpPr>
        <p:sp>
          <p:nvSpPr>
            <p:cNvPr id="81951" name="Text Box 4"/>
            <p:cNvSpPr txBox="1">
              <a:spLocks noChangeArrowheads="1"/>
            </p:cNvSpPr>
            <p:nvPr/>
          </p:nvSpPr>
          <p:spPr bwMode="auto">
            <a:xfrm>
              <a:off x="2660" y="2545"/>
              <a:ext cx="1050" cy="213"/>
            </a:xfrm>
            <a:prstGeom prst="rect">
              <a:avLst/>
            </a:prstGeom>
            <a:solidFill>
              <a:srgbClr val="CD3333"/>
            </a:solidFill>
            <a:ln w="2844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 algn="ctr">
                <a:lnSpc>
                  <a:spcPct val="100000"/>
                </a:lnSpc>
                <a:buClr>
                  <a:srgbClr val="FFFFFF"/>
                </a:buClr>
                <a:buFont typeface="Courier New" charset="0"/>
                <a:buNone/>
              </a:pPr>
              <a:r>
                <a:rPr lang="en-GB" altLang="zh-TW" sz="1600" b="1">
                  <a:solidFill>
                    <a:srgbClr val="FFFFFF"/>
                  </a:solidFill>
                  <a:latin typeface="Courier New" charset="0"/>
                  <a:ea typeface="新細明體" charset="-120"/>
                </a:rPr>
                <a:t>ALU Control</a:t>
              </a:r>
            </a:p>
          </p:txBody>
        </p:sp>
        <p:sp>
          <p:nvSpPr>
            <p:cNvPr id="81952" name="Text Box 5"/>
            <p:cNvSpPr txBox="1">
              <a:spLocks noChangeArrowheads="1"/>
            </p:cNvSpPr>
            <p:nvPr/>
          </p:nvSpPr>
          <p:spPr bwMode="auto">
            <a:xfrm>
              <a:off x="2934" y="2737"/>
              <a:ext cx="50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buFont typeface="Courier New" charset="0"/>
                <a:buNone/>
              </a:pPr>
              <a:r>
                <a:rPr lang="en-GB" altLang="zh-TW" sz="1600" b="1">
                  <a:solidFill>
                    <a:srgbClr val="402000"/>
                  </a:solidFill>
                  <a:latin typeface="Courier New" charset="0"/>
                  <a:ea typeface="新細明體" charset="-120"/>
                </a:rPr>
                <a:t>4 bit</a:t>
              </a:r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1987551" y="4056210"/>
            <a:ext cx="4121151" cy="2397126"/>
            <a:chOff x="292" y="2208"/>
            <a:chExt cx="2596" cy="1510"/>
          </a:xfrm>
        </p:grpSpPr>
        <p:sp>
          <p:nvSpPr>
            <p:cNvPr id="81940" name="Rectangle 7"/>
            <p:cNvSpPr>
              <a:spLocks noChangeArrowheads="1"/>
            </p:cNvSpPr>
            <p:nvPr/>
          </p:nvSpPr>
          <p:spPr bwMode="auto">
            <a:xfrm>
              <a:off x="622" y="2208"/>
              <a:ext cx="1920" cy="1057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40200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41" name="Text Box 8"/>
            <p:cNvSpPr txBox="1">
              <a:spLocks noChangeArrowheads="1"/>
            </p:cNvSpPr>
            <p:nvPr/>
          </p:nvSpPr>
          <p:spPr bwMode="auto">
            <a:xfrm>
              <a:off x="726" y="2297"/>
              <a:ext cx="581" cy="215"/>
            </a:xfrm>
            <a:prstGeom prst="rect">
              <a:avLst/>
            </a:prstGeom>
            <a:solidFill>
              <a:srgbClr val="FFFF99"/>
            </a:solidFill>
            <a:ln w="9360">
              <a:solidFill>
                <a:srgbClr val="0000FF"/>
              </a:solidFill>
              <a:miter lim="800000"/>
              <a:headEnd/>
              <a:tailEnd/>
            </a:ln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 algn="ctr">
                <a:lnSpc>
                  <a:spcPct val="100000"/>
                </a:lnSpc>
                <a:buFont typeface="Courier New" charset="0"/>
                <a:buNone/>
              </a:pPr>
              <a:r>
                <a:rPr lang="en-GB" altLang="zh-TW" sz="1600" b="1">
                  <a:solidFill>
                    <a:srgbClr val="402000"/>
                  </a:solidFill>
                  <a:latin typeface="Courier New" charset="0"/>
                  <a:ea typeface="新細明體" charset="-120"/>
                </a:rPr>
                <a:t>Opcode</a:t>
              </a:r>
            </a:p>
          </p:txBody>
        </p:sp>
        <p:sp>
          <p:nvSpPr>
            <p:cNvPr id="81942" name="Text Box 9"/>
            <p:cNvSpPr txBox="1">
              <a:spLocks noChangeArrowheads="1"/>
            </p:cNvSpPr>
            <p:nvPr/>
          </p:nvSpPr>
          <p:spPr bwMode="auto">
            <a:xfrm>
              <a:off x="1492" y="2297"/>
              <a:ext cx="768" cy="213"/>
            </a:xfrm>
            <a:prstGeom prst="rect">
              <a:avLst/>
            </a:prstGeom>
            <a:solidFill>
              <a:srgbClr val="D1FFE8"/>
            </a:solidFill>
            <a:ln w="9360">
              <a:solidFill>
                <a:srgbClr val="0000FF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 algn="ctr">
                <a:lnSpc>
                  <a:spcPct val="100000"/>
                </a:lnSpc>
                <a:buFont typeface="Courier New" charset="0"/>
                <a:buNone/>
              </a:pPr>
              <a:r>
                <a:rPr lang="en-GB" altLang="zh-TW" sz="1600" b="1">
                  <a:solidFill>
                    <a:srgbClr val="402000"/>
                  </a:solidFill>
                  <a:latin typeface="Courier New" charset="0"/>
                  <a:ea typeface="新細明體" charset="-120"/>
                </a:rPr>
                <a:t>ALU Op</a:t>
              </a:r>
            </a:p>
          </p:txBody>
        </p:sp>
        <p:sp>
          <p:nvSpPr>
            <p:cNvPr id="81943" name="Text Box 10"/>
            <p:cNvSpPr txBox="1">
              <a:spLocks noChangeArrowheads="1"/>
            </p:cNvSpPr>
            <p:nvPr/>
          </p:nvSpPr>
          <p:spPr bwMode="auto">
            <a:xfrm>
              <a:off x="1492" y="2721"/>
              <a:ext cx="768" cy="370"/>
            </a:xfrm>
            <a:prstGeom prst="rect">
              <a:avLst/>
            </a:prstGeom>
            <a:solidFill>
              <a:srgbClr val="D1FFE8"/>
            </a:solidFill>
            <a:ln w="9360">
              <a:solidFill>
                <a:srgbClr val="0000FF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 algn="ctr">
                <a:lnSpc>
                  <a:spcPct val="100000"/>
                </a:lnSpc>
                <a:buFont typeface="Courier New" charset="0"/>
                <a:buNone/>
              </a:pPr>
              <a:r>
                <a:rPr lang="en-GB" altLang="zh-TW" sz="1600" b="1">
                  <a:solidFill>
                    <a:srgbClr val="402000"/>
                  </a:solidFill>
                  <a:latin typeface="Courier New" charset="0"/>
                  <a:ea typeface="新細明體" charset="-120"/>
                </a:rPr>
                <a:t>Function</a:t>
              </a:r>
            </a:p>
            <a:p>
              <a:pPr algn="ctr">
                <a:lnSpc>
                  <a:spcPct val="100000"/>
                </a:lnSpc>
                <a:buFont typeface="Courier New" charset="0"/>
                <a:buNone/>
              </a:pPr>
              <a:r>
                <a:rPr lang="en-GB" altLang="zh-TW" sz="1600" b="1">
                  <a:solidFill>
                    <a:srgbClr val="402000"/>
                  </a:solidFill>
                  <a:latin typeface="Courier New" charset="0"/>
                  <a:ea typeface="新細明體" charset="-120"/>
                </a:rPr>
                <a:t>code</a:t>
              </a:r>
            </a:p>
          </p:txBody>
        </p:sp>
        <p:sp>
          <p:nvSpPr>
            <p:cNvPr id="81944" name="Text Box 11"/>
            <p:cNvSpPr txBox="1">
              <a:spLocks noChangeArrowheads="1"/>
            </p:cNvSpPr>
            <p:nvPr/>
          </p:nvSpPr>
          <p:spPr bwMode="auto">
            <a:xfrm>
              <a:off x="766" y="2473"/>
              <a:ext cx="50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 algn="ctr">
                <a:lnSpc>
                  <a:spcPct val="100000"/>
                </a:lnSpc>
                <a:buClr>
                  <a:srgbClr val="FF0000"/>
                </a:buClr>
                <a:buFont typeface="Courier New" charset="0"/>
                <a:buNone/>
              </a:pPr>
              <a:r>
                <a:rPr lang="en-GB" altLang="zh-TW" sz="1600" b="1">
                  <a:solidFill>
                    <a:srgbClr val="FF0000"/>
                  </a:solidFill>
                  <a:latin typeface="Courier New" charset="0"/>
                  <a:ea typeface="新細明體" charset="-120"/>
                </a:rPr>
                <a:t>6 bit</a:t>
              </a:r>
            </a:p>
          </p:txBody>
        </p:sp>
        <p:sp>
          <p:nvSpPr>
            <p:cNvPr id="81945" name="Text Box 12"/>
            <p:cNvSpPr txBox="1">
              <a:spLocks noChangeArrowheads="1"/>
            </p:cNvSpPr>
            <p:nvPr/>
          </p:nvSpPr>
          <p:spPr bwMode="auto">
            <a:xfrm>
              <a:off x="1582" y="3049"/>
              <a:ext cx="50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 algn="ctr">
                <a:lnSpc>
                  <a:spcPct val="100000"/>
                </a:lnSpc>
                <a:buClr>
                  <a:srgbClr val="FF0000"/>
                </a:buClr>
                <a:buFont typeface="Courier New" charset="0"/>
                <a:buNone/>
              </a:pPr>
              <a:r>
                <a:rPr lang="en-GB" altLang="zh-TW" sz="1600" b="1">
                  <a:solidFill>
                    <a:srgbClr val="FF0000"/>
                  </a:solidFill>
                  <a:latin typeface="Courier New" charset="0"/>
                  <a:ea typeface="新細明體" charset="-120"/>
                </a:rPr>
                <a:t>6 bit</a:t>
              </a:r>
            </a:p>
          </p:txBody>
        </p:sp>
        <p:sp>
          <p:nvSpPr>
            <p:cNvPr id="81946" name="Text Box 13"/>
            <p:cNvSpPr txBox="1">
              <a:spLocks noChangeArrowheads="1"/>
            </p:cNvSpPr>
            <p:nvPr/>
          </p:nvSpPr>
          <p:spPr bwMode="auto">
            <a:xfrm>
              <a:off x="1613" y="2465"/>
              <a:ext cx="50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buClr>
                  <a:srgbClr val="FF0000"/>
                </a:buClr>
                <a:buFont typeface="Courier New" charset="0"/>
                <a:buNone/>
              </a:pPr>
              <a:r>
                <a:rPr lang="en-GB" altLang="zh-TW" sz="1600" b="1">
                  <a:solidFill>
                    <a:srgbClr val="FF0000"/>
                  </a:solidFill>
                  <a:latin typeface="Courier New" charset="0"/>
                  <a:ea typeface="新細明體" charset="-120"/>
                </a:rPr>
                <a:t>2 bit</a:t>
              </a:r>
            </a:p>
          </p:txBody>
        </p:sp>
        <p:cxnSp>
          <p:nvCxnSpPr>
            <p:cNvPr id="81947" name="AutoShape 14"/>
            <p:cNvCxnSpPr>
              <a:cxnSpLocks noChangeShapeType="1"/>
              <a:stCxn id="81942" idx="3"/>
              <a:endCxn id="81951" idx="1"/>
            </p:cNvCxnSpPr>
            <p:nvPr/>
          </p:nvCxnSpPr>
          <p:spPr bwMode="auto">
            <a:xfrm>
              <a:off x="2260" y="2403"/>
              <a:ext cx="401" cy="248"/>
            </a:xfrm>
            <a:prstGeom prst="straightConnector1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948" name="AutoShape 15"/>
            <p:cNvCxnSpPr>
              <a:cxnSpLocks noChangeShapeType="1"/>
              <a:stCxn id="81943" idx="3"/>
              <a:endCxn id="81951" idx="1"/>
            </p:cNvCxnSpPr>
            <p:nvPr/>
          </p:nvCxnSpPr>
          <p:spPr bwMode="auto">
            <a:xfrm flipV="1">
              <a:off x="2260" y="2651"/>
              <a:ext cx="401" cy="252"/>
            </a:xfrm>
            <a:prstGeom prst="straightConnector1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949" name="AutoShape 16"/>
            <p:cNvCxnSpPr>
              <a:cxnSpLocks noChangeShapeType="1"/>
              <a:stCxn id="81941" idx="3"/>
              <a:endCxn id="81942" idx="1"/>
            </p:cNvCxnSpPr>
            <p:nvPr/>
          </p:nvCxnSpPr>
          <p:spPr bwMode="auto">
            <a:xfrm>
              <a:off x="1304" y="2403"/>
              <a:ext cx="188" cy="1"/>
            </a:xfrm>
            <a:prstGeom prst="straightConnector1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950" name="Text Box 17"/>
            <p:cNvSpPr txBox="1">
              <a:spLocks noChangeArrowheads="1"/>
            </p:cNvSpPr>
            <p:nvPr/>
          </p:nvSpPr>
          <p:spPr bwMode="auto">
            <a:xfrm>
              <a:off x="292" y="3313"/>
              <a:ext cx="2596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 algn="ctr">
                <a:lnSpc>
                  <a:spcPct val="100000"/>
                </a:lnSpc>
                <a:buFont typeface="Tahoma" charset="0"/>
                <a:buNone/>
              </a:pPr>
              <a:r>
                <a:rPr lang="en-GB" altLang="zh-TW" sz="18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2 levels of decoding: only 8 inputs are used to generate 3 outputs in 2</a:t>
              </a:r>
              <a:r>
                <a:rPr lang="en-GB" altLang="zh-TW" sz="1800" baseline="300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nd</a:t>
              </a:r>
              <a:r>
                <a:rPr lang="en-GB" altLang="zh-TW" sz="18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 level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6934202" y="4056210"/>
            <a:ext cx="3511551" cy="2397126"/>
            <a:chOff x="3408" y="2208"/>
            <a:chExt cx="2212" cy="1510"/>
          </a:xfrm>
        </p:grpSpPr>
        <p:sp>
          <p:nvSpPr>
            <p:cNvPr id="81932" name="Rectangle 19"/>
            <p:cNvSpPr>
              <a:spLocks noChangeArrowheads="1"/>
            </p:cNvSpPr>
            <p:nvPr/>
          </p:nvSpPr>
          <p:spPr bwMode="auto">
            <a:xfrm>
              <a:off x="3878" y="2208"/>
              <a:ext cx="1264" cy="1072"/>
            </a:xfrm>
            <a:prstGeom prst="rect">
              <a:avLst/>
            </a:prstGeom>
            <a:solidFill>
              <a:srgbClr val="FFFFFF"/>
            </a:solidFill>
            <a:ln w="19080">
              <a:solidFill>
                <a:srgbClr val="402000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933" name="Text Box 20"/>
            <p:cNvSpPr txBox="1">
              <a:spLocks noChangeArrowheads="1"/>
            </p:cNvSpPr>
            <p:nvPr/>
          </p:nvSpPr>
          <p:spPr bwMode="auto">
            <a:xfrm>
              <a:off x="4084" y="2297"/>
              <a:ext cx="816" cy="213"/>
            </a:xfrm>
            <a:prstGeom prst="rect">
              <a:avLst/>
            </a:prstGeom>
            <a:solidFill>
              <a:srgbClr val="D1FFE8"/>
            </a:solidFill>
            <a:ln w="9360">
              <a:solidFill>
                <a:srgbClr val="0000FF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 algn="ctr">
                <a:lnSpc>
                  <a:spcPct val="100000"/>
                </a:lnSpc>
                <a:buFont typeface="Courier New" charset="0"/>
                <a:buNone/>
              </a:pPr>
              <a:r>
                <a:rPr lang="en-GB" altLang="zh-TW" sz="1600" b="1">
                  <a:solidFill>
                    <a:srgbClr val="402000"/>
                  </a:solidFill>
                  <a:latin typeface="Courier New" charset="0"/>
                  <a:ea typeface="新細明體" charset="-120"/>
                </a:rPr>
                <a:t>Opcode</a:t>
              </a:r>
            </a:p>
          </p:txBody>
        </p:sp>
        <p:sp>
          <p:nvSpPr>
            <p:cNvPr id="81934" name="Text Box 21"/>
            <p:cNvSpPr txBox="1">
              <a:spLocks noChangeArrowheads="1"/>
            </p:cNvSpPr>
            <p:nvPr/>
          </p:nvSpPr>
          <p:spPr bwMode="auto">
            <a:xfrm>
              <a:off x="4084" y="2721"/>
              <a:ext cx="816" cy="370"/>
            </a:xfrm>
            <a:prstGeom prst="rect">
              <a:avLst/>
            </a:prstGeom>
            <a:solidFill>
              <a:srgbClr val="D1FFE8"/>
            </a:solidFill>
            <a:ln w="9360">
              <a:solidFill>
                <a:srgbClr val="0000FF"/>
              </a:solidFill>
              <a:miter lim="800000"/>
              <a:headEnd/>
              <a:tailEnd/>
            </a:ln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 algn="ctr">
                <a:lnSpc>
                  <a:spcPct val="100000"/>
                </a:lnSpc>
                <a:buFont typeface="Courier New" charset="0"/>
                <a:buNone/>
              </a:pPr>
              <a:r>
                <a:rPr lang="en-GB" altLang="zh-TW" sz="1600" b="1">
                  <a:solidFill>
                    <a:srgbClr val="402000"/>
                  </a:solidFill>
                  <a:latin typeface="Courier New" charset="0"/>
                  <a:ea typeface="新細明體" charset="-120"/>
                </a:rPr>
                <a:t>Function </a:t>
              </a:r>
            </a:p>
            <a:p>
              <a:pPr algn="ctr">
                <a:lnSpc>
                  <a:spcPct val="100000"/>
                </a:lnSpc>
                <a:buFont typeface="Courier New" charset="0"/>
                <a:buNone/>
              </a:pPr>
              <a:r>
                <a:rPr lang="en-GB" altLang="zh-TW" sz="1600" b="1">
                  <a:solidFill>
                    <a:srgbClr val="402000"/>
                  </a:solidFill>
                  <a:latin typeface="Courier New" charset="0"/>
                  <a:ea typeface="新細明體" charset="-120"/>
                </a:rPr>
                <a:t>code</a:t>
              </a:r>
            </a:p>
          </p:txBody>
        </p:sp>
        <p:sp>
          <p:nvSpPr>
            <p:cNvPr id="81935" name="Text Box 22"/>
            <p:cNvSpPr txBox="1">
              <a:spLocks noChangeArrowheads="1"/>
            </p:cNvSpPr>
            <p:nvPr/>
          </p:nvSpPr>
          <p:spPr bwMode="auto">
            <a:xfrm>
              <a:off x="4214" y="3065"/>
              <a:ext cx="50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 algn="ctr">
                <a:lnSpc>
                  <a:spcPct val="100000"/>
                </a:lnSpc>
                <a:buClr>
                  <a:srgbClr val="FF0000"/>
                </a:buClr>
                <a:buFont typeface="Courier New" charset="0"/>
                <a:buNone/>
              </a:pPr>
              <a:r>
                <a:rPr lang="en-GB" altLang="zh-TW" sz="1600" b="1">
                  <a:solidFill>
                    <a:srgbClr val="FF0000"/>
                  </a:solidFill>
                  <a:latin typeface="Courier New" charset="0"/>
                  <a:ea typeface="新細明體" charset="-120"/>
                </a:rPr>
                <a:t>6 bit</a:t>
              </a:r>
            </a:p>
          </p:txBody>
        </p:sp>
        <p:sp>
          <p:nvSpPr>
            <p:cNvPr id="81936" name="Text Box 23"/>
            <p:cNvSpPr txBox="1">
              <a:spLocks noChangeArrowheads="1"/>
            </p:cNvSpPr>
            <p:nvPr/>
          </p:nvSpPr>
          <p:spPr bwMode="auto">
            <a:xfrm>
              <a:off x="4239" y="2489"/>
              <a:ext cx="503" cy="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 algn="ctr">
                <a:lnSpc>
                  <a:spcPct val="100000"/>
                </a:lnSpc>
                <a:buClr>
                  <a:srgbClr val="FF0000"/>
                </a:buClr>
                <a:buFont typeface="Courier New" charset="0"/>
                <a:buNone/>
              </a:pPr>
              <a:r>
                <a:rPr lang="en-GB" altLang="zh-TW" sz="1600" b="1">
                  <a:solidFill>
                    <a:srgbClr val="FF0000"/>
                  </a:solidFill>
                  <a:latin typeface="Courier New" charset="0"/>
                  <a:ea typeface="新細明體" charset="-120"/>
                </a:rPr>
                <a:t>6 bit</a:t>
              </a:r>
            </a:p>
          </p:txBody>
        </p:sp>
        <p:cxnSp>
          <p:nvCxnSpPr>
            <p:cNvPr id="81937" name="AutoShape 24"/>
            <p:cNvCxnSpPr>
              <a:cxnSpLocks noChangeShapeType="1"/>
              <a:stCxn id="81933" idx="1"/>
              <a:endCxn id="81951" idx="3"/>
            </p:cNvCxnSpPr>
            <p:nvPr/>
          </p:nvCxnSpPr>
          <p:spPr bwMode="auto">
            <a:xfrm flipH="1">
              <a:off x="3710" y="2403"/>
              <a:ext cx="374" cy="248"/>
            </a:xfrm>
            <a:prstGeom prst="straightConnector1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1938" name="AutoShape 25"/>
            <p:cNvCxnSpPr>
              <a:cxnSpLocks noChangeShapeType="1"/>
              <a:stCxn id="81934" idx="1"/>
              <a:endCxn id="81951" idx="3"/>
            </p:cNvCxnSpPr>
            <p:nvPr/>
          </p:nvCxnSpPr>
          <p:spPr bwMode="auto">
            <a:xfrm flipH="1" flipV="1">
              <a:off x="3710" y="2651"/>
              <a:ext cx="374" cy="252"/>
            </a:xfrm>
            <a:prstGeom prst="straightConnector1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939" name="Text Box 26"/>
            <p:cNvSpPr txBox="1">
              <a:spLocks noChangeArrowheads="1"/>
            </p:cNvSpPr>
            <p:nvPr/>
          </p:nvSpPr>
          <p:spPr bwMode="auto">
            <a:xfrm>
              <a:off x="3408" y="3313"/>
              <a:ext cx="2212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 algn="ctr">
                <a:lnSpc>
                  <a:spcPct val="100000"/>
                </a:lnSpc>
                <a:buFont typeface="Tahoma" charset="0"/>
                <a:buNone/>
              </a:pPr>
              <a:r>
                <a:rPr lang="en-GB" altLang="zh-TW" sz="18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 level only, a logic circuit with 12 inputs is needed</a:t>
              </a:r>
            </a:p>
          </p:txBody>
        </p:sp>
      </p:grpSp>
      <p:sp>
        <p:nvSpPr>
          <p:cNvPr id="30747" name="Text Box 27"/>
          <p:cNvSpPr txBox="1">
            <a:spLocks noChangeArrowheads="1"/>
          </p:cNvSpPr>
          <p:nvPr/>
        </p:nvSpPr>
        <p:spPr bwMode="auto">
          <a:xfrm>
            <a:off x="7704138" y="3524398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j</a:t>
            </a:r>
            <a:endParaRPr lang="zh-TW" altLang="en-GB" sz="2800" dirty="0">
              <a:solidFill>
                <a:srgbClr val="CD3333"/>
              </a:solidFill>
              <a:latin typeface="Wingdings" charset="2"/>
              <a:ea typeface="新細明體" charset="-120"/>
            </a:endParaRPr>
          </a:p>
        </p:txBody>
      </p:sp>
      <p:sp>
        <p:nvSpPr>
          <p:cNvPr id="30748" name="Text Box 28"/>
          <p:cNvSpPr txBox="1">
            <a:spLocks noChangeArrowheads="1"/>
          </p:cNvSpPr>
          <p:nvPr/>
        </p:nvSpPr>
        <p:spPr bwMode="auto">
          <a:xfrm>
            <a:off x="2522538" y="3524398"/>
            <a:ext cx="501908" cy="525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spcBef>
                <a:spcPts val="700"/>
              </a:spcBef>
              <a:buClr>
                <a:srgbClr val="000000"/>
              </a:buClr>
            </a:pPr>
            <a:r>
              <a:rPr lang="en-US" altLang="zh-TW" sz="2800" dirty="0">
                <a:solidFill>
                  <a:srgbClr val="CD3333"/>
                </a:solidFill>
                <a:latin typeface="Wingdings 2" charset="2"/>
                <a:ea typeface="新細明體" charset="-120"/>
                <a:cs typeface="Wingdings 2" charset="2"/>
              </a:rPr>
              <a:t>k</a:t>
            </a:r>
            <a:endParaRPr lang="zh-TW" altLang="en-GB" sz="2800" dirty="0">
              <a:solidFill>
                <a:srgbClr val="CD3333"/>
              </a:solidFill>
              <a:latin typeface="Wingdings" charset="2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81698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0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1+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30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0-#ppt_w/2"/>
                                          </p:val>
                                        </p:tav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dirty="0">
                <a:ea typeface="新細明體" charset="-120"/>
                <a:cs typeface="新細明體" charset="-120"/>
              </a:rPr>
              <a:t>Implementing ALU Control Block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Assume 2-bit </a:t>
            </a:r>
            <a:r>
              <a:rPr lang="en-US" dirty="0" err="1"/>
              <a:t>ALUOp</a:t>
            </a:r>
            <a:r>
              <a:rPr lang="en-US" dirty="0"/>
              <a:t> derived from opcode</a:t>
            </a:r>
          </a:p>
          <a:p>
            <a:r>
              <a:rPr lang="en-US" dirty="0"/>
              <a:t>Combinational logic derives ALU control</a:t>
            </a:r>
          </a:p>
          <a:p>
            <a:endParaRPr lang="en-US" dirty="0"/>
          </a:p>
        </p:txBody>
      </p:sp>
      <p:graphicFrame>
        <p:nvGraphicFramePr>
          <p:cNvPr id="79" name="Group 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713513"/>
              </p:ext>
            </p:extLst>
          </p:nvPr>
        </p:nvGraphicFramePr>
        <p:xfrm>
          <a:off x="1981201" y="2453619"/>
          <a:ext cx="7921625" cy="3291840"/>
        </p:xfrm>
        <a:graphic>
          <a:graphicData uri="http://schemas.openxmlformats.org/drawingml/2006/table">
            <a:tbl>
              <a:tblPr/>
              <a:tblGrid>
                <a:gridCol w="1208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3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2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opcode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ALUOp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Operation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funct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ALU function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ALU control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lw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load word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XXXXXX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add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0010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sw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store word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XXXXXX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add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0010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beq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branch equal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XXXXXX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subtract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R-type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add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100000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add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0010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55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subtract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100010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subtract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AND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100100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AND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13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OR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100101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OR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0001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528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set-on-less-than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101010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set-on-less-than</a:t>
                      </a:r>
                      <a:endParaRPr kumimoji="0" lang="en-AU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0111</a:t>
                      </a:r>
                      <a:endParaRPr kumimoji="0" lang="en-A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352800" y="5898758"/>
            <a:ext cx="628698" cy="338554"/>
          </a:xfrm>
          <a:prstGeom prst="rect">
            <a:avLst/>
          </a:prstGeom>
          <a:solidFill>
            <a:srgbClr val="18457D"/>
          </a:solidFill>
          <a:ln w="9525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>
            <a:defPPr>
              <a:defRPr lang="en-GB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kern="0">
                <a:solidFill>
                  <a:srgbClr val="000000"/>
                </a:solidFill>
                <a:latin typeface="Arial" panose="020B0604020202020204" pitchFamily="34" charset="0"/>
                <a:ea typeface="+mn-ea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latin typeface="+mn-lt"/>
              </a:rPr>
              <a:t>input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96000" y="5898758"/>
            <a:ext cx="628698" cy="338554"/>
          </a:xfrm>
          <a:prstGeom prst="rect">
            <a:avLst/>
          </a:prstGeom>
          <a:solidFill>
            <a:srgbClr val="18457D"/>
          </a:solidFill>
          <a:ln w="9525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kern="0">
                <a:solidFill>
                  <a:schemeClr val="bg1"/>
                </a:solidFill>
              </a:defRPr>
            </a:lvl1pPr>
            <a:lvl2pPr marL="742950" indent="-285750">
              <a:defRPr sz="1600">
                <a:latin typeface="Arial" panose="020B0604020202020204" pitchFamily="34" charset="0"/>
              </a:defRPr>
            </a:lvl2pPr>
            <a:lvl3pPr marL="1143000" indent="-228600">
              <a:defRPr sz="1600">
                <a:latin typeface="Arial" panose="020B0604020202020204" pitchFamily="34" charset="0"/>
              </a:defRPr>
            </a:lvl3pPr>
            <a:lvl4pPr marL="1600200" indent="-228600">
              <a:defRPr sz="1600">
                <a:latin typeface="Arial" panose="020B0604020202020204" pitchFamily="34" charset="0"/>
              </a:defRPr>
            </a:lvl4pPr>
            <a:lvl5pPr marL="2057400" indent="-228600">
              <a:defRPr sz="1600"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9pPr>
          </a:lstStyle>
          <a:p>
            <a:r>
              <a:rPr lang="en-US" dirty="0"/>
              <a:t>input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928485" y="5898758"/>
            <a:ext cx="810443" cy="338554"/>
          </a:xfrm>
          <a:prstGeom prst="rect">
            <a:avLst/>
          </a:prstGeom>
          <a:solidFill>
            <a:srgbClr val="18457D"/>
          </a:solidFill>
          <a:ln w="9525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/>
          <a:lstStyle>
            <a:defPPr>
              <a:defRPr lang="en-US"/>
            </a:defPPr>
            <a:lvl1pPr marR="0" lvl="0" indent="0" algn="ctr" defTabSz="9144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kern="0">
                <a:solidFill>
                  <a:schemeClr val="bg1"/>
                </a:solidFill>
              </a:defRPr>
            </a:lvl1pPr>
            <a:lvl2pPr marL="742950" indent="-285750">
              <a:defRPr sz="1600">
                <a:latin typeface="Arial" panose="020B0604020202020204" pitchFamily="34" charset="0"/>
              </a:defRPr>
            </a:lvl2pPr>
            <a:lvl3pPr marL="1143000" indent="-228600">
              <a:defRPr sz="1600">
                <a:latin typeface="Arial" panose="020B0604020202020204" pitchFamily="34" charset="0"/>
              </a:defRPr>
            </a:lvl3pPr>
            <a:lvl4pPr marL="1600200" indent="-228600">
              <a:defRPr sz="1600">
                <a:latin typeface="Arial" panose="020B0604020202020204" pitchFamily="34" charset="0"/>
              </a:defRPr>
            </a:lvl4pPr>
            <a:lvl5pPr marL="2057400" indent="-228600">
              <a:defRPr sz="1600"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9pPr>
          </a:lstStyle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643031025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/>
            </a:pPr>
            <a:r>
              <a:rPr lang="en-GB" altLang="zh-TW" dirty="0">
                <a:ea typeface="新細明體" charset="-120"/>
                <a:cs typeface="新細明體" charset="-120"/>
              </a:rPr>
              <a:t>Implementing ALU Control Block (cont.)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09600" y="1124744"/>
            <a:ext cx="10972800" cy="204551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Start from truth table</a:t>
            </a:r>
          </a:p>
          <a:p>
            <a:r>
              <a:rPr lang="en-US" dirty="0"/>
              <a:t>Smart design converts many entries in the table to </a:t>
            </a:r>
            <a:r>
              <a:rPr lang="en-US" dirty="0">
                <a:solidFill>
                  <a:srgbClr val="C00000"/>
                </a:solidFill>
              </a:rPr>
              <a:t>don't-care</a:t>
            </a:r>
            <a:r>
              <a:rPr lang="en-US" dirty="0"/>
              <a:t> terms, leading to a simplified hardware implementation</a:t>
            </a:r>
          </a:p>
          <a:p>
            <a:r>
              <a:rPr lang="en-US" dirty="0"/>
              <a:t>Why we can come up with some many don’t care?</a:t>
            </a:r>
          </a:p>
          <a:p>
            <a:endParaRPr lang="en-US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62201" y="3224237"/>
            <a:ext cx="6615113" cy="3013075"/>
            <a:chOff x="528" y="1392"/>
            <a:chExt cx="4167" cy="1898"/>
          </a:xfrm>
        </p:grpSpPr>
        <p:sp>
          <p:nvSpPr>
            <p:cNvPr id="86029" name="Rectangle 4"/>
            <p:cNvSpPr>
              <a:spLocks noChangeArrowheads="1"/>
            </p:cNvSpPr>
            <p:nvPr/>
          </p:nvSpPr>
          <p:spPr bwMode="auto">
            <a:xfrm>
              <a:off x="3808" y="1814"/>
              <a:ext cx="888" cy="21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0010</a:t>
              </a:r>
            </a:p>
          </p:txBody>
        </p:sp>
        <p:sp>
          <p:nvSpPr>
            <p:cNvPr id="32773" name="Rectangle 5"/>
            <p:cNvSpPr>
              <a:spLocks noChangeArrowheads="1"/>
            </p:cNvSpPr>
            <p:nvPr/>
          </p:nvSpPr>
          <p:spPr bwMode="auto">
            <a:xfrm>
              <a:off x="3488" y="1814"/>
              <a:ext cx="320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774" name="Rectangle 6"/>
            <p:cNvSpPr>
              <a:spLocks noChangeArrowheads="1"/>
            </p:cNvSpPr>
            <p:nvPr/>
          </p:nvSpPr>
          <p:spPr bwMode="auto">
            <a:xfrm>
              <a:off x="3176" y="1814"/>
              <a:ext cx="312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775" name="Rectangle 7"/>
            <p:cNvSpPr>
              <a:spLocks noChangeArrowheads="1"/>
            </p:cNvSpPr>
            <p:nvPr/>
          </p:nvSpPr>
          <p:spPr bwMode="auto">
            <a:xfrm>
              <a:off x="2848" y="1814"/>
              <a:ext cx="328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776" name="Rectangle 8"/>
            <p:cNvSpPr>
              <a:spLocks noChangeArrowheads="1"/>
            </p:cNvSpPr>
            <p:nvPr/>
          </p:nvSpPr>
          <p:spPr bwMode="auto">
            <a:xfrm>
              <a:off x="2520" y="1814"/>
              <a:ext cx="328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777" name="Rectangle 9"/>
            <p:cNvSpPr>
              <a:spLocks noChangeArrowheads="1"/>
            </p:cNvSpPr>
            <p:nvPr/>
          </p:nvSpPr>
          <p:spPr bwMode="auto">
            <a:xfrm>
              <a:off x="2208" y="1814"/>
              <a:ext cx="312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778" name="Rectangle 10"/>
            <p:cNvSpPr>
              <a:spLocks noChangeArrowheads="1"/>
            </p:cNvSpPr>
            <p:nvPr/>
          </p:nvSpPr>
          <p:spPr bwMode="auto">
            <a:xfrm>
              <a:off x="1864" y="1814"/>
              <a:ext cx="344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86036" name="Rectangle 11"/>
            <p:cNvSpPr>
              <a:spLocks noChangeArrowheads="1"/>
            </p:cNvSpPr>
            <p:nvPr/>
          </p:nvSpPr>
          <p:spPr bwMode="auto">
            <a:xfrm>
              <a:off x="1184" y="1814"/>
              <a:ext cx="680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37" name="Rectangle 12"/>
            <p:cNvSpPr>
              <a:spLocks noChangeArrowheads="1"/>
            </p:cNvSpPr>
            <p:nvPr/>
          </p:nvSpPr>
          <p:spPr bwMode="auto">
            <a:xfrm>
              <a:off x="528" y="1814"/>
              <a:ext cx="656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38" name="Rectangle 13"/>
            <p:cNvSpPr>
              <a:spLocks noChangeArrowheads="1"/>
            </p:cNvSpPr>
            <p:nvPr/>
          </p:nvSpPr>
          <p:spPr bwMode="auto">
            <a:xfrm>
              <a:off x="3808" y="2025"/>
              <a:ext cx="888" cy="21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dirty="0">
                  <a:solidFill>
                    <a:srgbClr val="402000"/>
                  </a:solidFill>
                  <a:ea typeface="新細明體" charset="-120"/>
                </a:rPr>
                <a:t>0110</a:t>
              </a:r>
            </a:p>
          </p:txBody>
        </p:sp>
        <p:sp>
          <p:nvSpPr>
            <p:cNvPr id="32782" name="Rectangle 14"/>
            <p:cNvSpPr>
              <a:spLocks noChangeArrowheads="1"/>
            </p:cNvSpPr>
            <p:nvPr/>
          </p:nvSpPr>
          <p:spPr bwMode="auto">
            <a:xfrm>
              <a:off x="3488" y="2025"/>
              <a:ext cx="320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783" name="Rectangle 15"/>
            <p:cNvSpPr>
              <a:spLocks noChangeArrowheads="1"/>
            </p:cNvSpPr>
            <p:nvPr/>
          </p:nvSpPr>
          <p:spPr bwMode="auto">
            <a:xfrm>
              <a:off x="3176" y="2025"/>
              <a:ext cx="312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784" name="Rectangle 16"/>
            <p:cNvSpPr>
              <a:spLocks noChangeArrowheads="1"/>
            </p:cNvSpPr>
            <p:nvPr/>
          </p:nvSpPr>
          <p:spPr bwMode="auto">
            <a:xfrm>
              <a:off x="2848" y="2025"/>
              <a:ext cx="328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785" name="Rectangle 17"/>
            <p:cNvSpPr>
              <a:spLocks noChangeArrowheads="1"/>
            </p:cNvSpPr>
            <p:nvPr/>
          </p:nvSpPr>
          <p:spPr bwMode="auto">
            <a:xfrm>
              <a:off x="2520" y="2025"/>
              <a:ext cx="328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786" name="Rectangle 18"/>
            <p:cNvSpPr>
              <a:spLocks noChangeArrowheads="1"/>
            </p:cNvSpPr>
            <p:nvPr/>
          </p:nvSpPr>
          <p:spPr bwMode="auto">
            <a:xfrm>
              <a:off x="2208" y="2025"/>
              <a:ext cx="312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787" name="Rectangle 19"/>
            <p:cNvSpPr>
              <a:spLocks noChangeArrowheads="1"/>
            </p:cNvSpPr>
            <p:nvPr/>
          </p:nvSpPr>
          <p:spPr bwMode="auto">
            <a:xfrm>
              <a:off x="1864" y="2025"/>
              <a:ext cx="344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86045" name="Rectangle 20"/>
            <p:cNvSpPr>
              <a:spLocks noChangeArrowheads="1"/>
            </p:cNvSpPr>
            <p:nvPr/>
          </p:nvSpPr>
          <p:spPr bwMode="auto">
            <a:xfrm>
              <a:off x="1184" y="2025"/>
              <a:ext cx="680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1</a:t>
              </a:r>
            </a:p>
          </p:txBody>
        </p:sp>
        <p:sp>
          <p:nvSpPr>
            <p:cNvPr id="32789" name="Rectangle 21"/>
            <p:cNvSpPr>
              <a:spLocks noChangeArrowheads="1"/>
            </p:cNvSpPr>
            <p:nvPr/>
          </p:nvSpPr>
          <p:spPr bwMode="auto">
            <a:xfrm>
              <a:off x="528" y="2025"/>
              <a:ext cx="656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86047" name="Rectangle 22"/>
            <p:cNvSpPr>
              <a:spLocks noChangeArrowheads="1"/>
            </p:cNvSpPr>
            <p:nvPr/>
          </p:nvSpPr>
          <p:spPr bwMode="auto">
            <a:xfrm>
              <a:off x="3808" y="1392"/>
              <a:ext cx="888" cy="422"/>
            </a:xfrm>
            <a:prstGeom prst="rect">
              <a:avLst/>
            </a:prstGeom>
            <a:solidFill>
              <a:srgbClr val="CD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FFFFFF"/>
                  </a:solidFill>
                  <a:ea typeface="新細明體" charset="-120"/>
                </a:rPr>
                <a:t>Operation</a:t>
              </a:r>
            </a:p>
          </p:txBody>
        </p:sp>
        <p:sp>
          <p:nvSpPr>
            <p:cNvPr id="86048" name="Rectangle 23"/>
            <p:cNvSpPr>
              <a:spLocks noChangeArrowheads="1"/>
            </p:cNvSpPr>
            <p:nvPr/>
          </p:nvSpPr>
          <p:spPr bwMode="auto">
            <a:xfrm>
              <a:off x="1864" y="1392"/>
              <a:ext cx="1944" cy="21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FFFFFF"/>
                  </a:solidFill>
                  <a:ea typeface="新細明體" charset="-120"/>
                </a:rPr>
                <a:t>Function code</a:t>
              </a:r>
            </a:p>
          </p:txBody>
        </p:sp>
        <p:sp>
          <p:nvSpPr>
            <p:cNvPr id="86049" name="Rectangle 24"/>
            <p:cNvSpPr>
              <a:spLocks noChangeArrowheads="1"/>
            </p:cNvSpPr>
            <p:nvPr/>
          </p:nvSpPr>
          <p:spPr bwMode="auto">
            <a:xfrm>
              <a:off x="528" y="1392"/>
              <a:ext cx="1336" cy="21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FFFFFF"/>
                  </a:solidFill>
                  <a:ea typeface="新細明體" charset="-120"/>
                </a:rPr>
                <a:t>ALUOp</a:t>
              </a:r>
            </a:p>
          </p:txBody>
        </p:sp>
        <p:sp>
          <p:nvSpPr>
            <p:cNvPr id="86050" name="Rectangle 25"/>
            <p:cNvSpPr>
              <a:spLocks noChangeArrowheads="1"/>
            </p:cNvSpPr>
            <p:nvPr/>
          </p:nvSpPr>
          <p:spPr bwMode="auto">
            <a:xfrm>
              <a:off x="528" y="3080"/>
              <a:ext cx="656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1</a:t>
              </a:r>
            </a:p>
          </p:txBody>
        </p:sp>
        <p:sp>
          <p:nvSpPr>
            <p:cNvPr id="86051" name="Rectangle 26"/>
            <p:cNvSpPr>
              <a:spLocks noChangeArrowheads="1"/>
            </p:cNvSpPr>
            <p:nvPr/>
          </p:nvSpPr>
          <p:spPr bwMode="auto">
            <a:xfrm>
              <a:off x="528" y="2869"/>
              <a:ext cx="656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1</a:t>
              </a:r>
            </a:p>
          </p:txBody>
        </p:sp>
        <p:sp>
          <p:nvSpPr>
            <p:cNvPr id="86052" name="Rectangle 27"/>
            <p:cNvSpPr>
              <a:spLocks noChangeArrowheads="1"/>
            </p:cNvSpPr>
            <p:nvPr/>
          </p:nvSpPr>
          <p:spPr bwMode="auto">
            <a:xfrm>
              <a:off x="528" y="2658"/>
              <a:ext cx="656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1</a:t>
              </a:r>
            </a:p>
          </p:txBody>
        </p:sp>
        <p:sp>
          <p:nvSpPr>
            <p:cNvPr id="86053" name="Rectangle 28"/>
            <p:cNvSpPr>
              <a:spLocks noChangeArrowheads="1"/>
            </p:cNvSpPr>
            <p:nvPr/>
          </p:nvSpPr>
          <p:spPr bwMode="auto">
            <a:xfrm>
              <a:off x="528" y="2447"/>
              <a:ext cx="656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1</a:t>
              </a:r>
            </a:p>
          </p:txBody>
        </p:sp>
        <p:sp>
          <p:nvSpPr>
            <p:cNvPr id="86054" name="Rectangle 29"/>
            <p:cNvSpPr>
              <a:spLocks noChangeArrowheads="1"/>
            </p:cNvSpPr>
            <p:nvPr/>
          </p:nvSpPr>
          <p:spPr bwMode="auto">
            <a:xfrm>
              <a:off x="528" y="2236"/>
              <a:ext cx="656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1</a:t>
              </a:r>
            </a:p>
          </p:txBody>
        </p:sp>
        <p:sp>
          <p:nvSpPr>
            <p:cNvPr id="86055" name="Rectangle 30"/>
            <p:cNvSpPr>
              <a:spLocks noChangeArrowheads="1"/>
            </p:cNvSpPr>
            <p:nvPr/>
          </p:nvSpPr>
          <p:spPr bwMode="auto">
            <a:xfrm>
              <a:off x="528" y="1603"/>
              <a:ext cx="656" cy="21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FFFFFF"/>
                  </a:solidFill>
                  <a:ea typeface="新細明體" charset="-120"/>
                </a:rPr>
                <a:t>ALUOp1</a:t>
              </a:r>
            </a:p>
          </p:txBody>
        </p:sp>
        <p:sp>
          <p:nvSpPr>
            <p:cNvPr id="32799" name="Rectangle 31"/>
            <p:cNvSpPr>
              <a:spLocks noChangeArrowheads="1"/>
            </p:cNvSpPr>
            <p:nvPr/>
          </p:nvSpPr>
          <p:spPr bwMode="auto">
            <a:xfrm>
              <a:off x="1184" y="3080"/>
              <a:ext cx="680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800" name="Rectangle 32"/>
            <p:cNvSpPr>
              <a:spLocks noChangeArrowheads="1"/>
            </p:cNvSpPr>
            <p:nvPr/>
          </p:nvSpPr>
          <p:spPr bwMode="auto">
            <a:xfrm>
              <a:off x="1184" y="2869"/>
              <a:ext cx="680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801" name="Rectangle 33"/>
            <p:cNvSpPr>
              <a:spLocks noChangeArrowheads="1"/>
            </p:cNvSpPr>
            <p:nvPr/>
          </p:nvSpPr>
          <p:spPr bwMode="auto">
            <a:xfrm>
              <a:off x="1184" y="2658"/>
              <a:ext cx="680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802" name="Rectangle 34"/>
            <p:cNvSpPr>
              <a:spLocks noChangeArrowheads="1"/>
            </p:cNvSpPr>
            <p:nvPr/>
          </p:nvSpPr>
          <p:spPr bwMode="auto">
            <a:xfrm>
              <a:off x="1184" y="2447"/>
              <a:ext cx="680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803" name="Rectangle 35"/>
            <p:cNvSpPr>
              <a:spLocks noChangeArrowheads="1"/>
            </p:cNvSpPr>
            <p:nvPr/>
          </p:nvSpPr>
          <p:spPr bwMode="auto">
            <a:xfrm>
              <a:off x="1184" y="2236"/>
              <a:ext cx="680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86061" name="Rectangle 36"/>
            <p:cNvSpPr>
              <a:spLocks noChangeArrowheads="1"/>
            </p:cNvSpPr>
            <p:nvPr/>
          </p:nvSpPr>
          <p:spPr bwMode="auto">
            <a:xfrm>
              <a:off x="1184" y="1603"/>
              <a:ext cx="680" cy="21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FFFFFF"/>
                  </a:solidFill>
                  <a:ea typeface="新細明體" charset="-120"/>
                </a:rPr>
                <a:t>ALUOp0</a:t>
              </a:r>
            </a:p>
          </p:txBody>
        </p:sp>
        <p:sp>
          <p:nvSpPr>
            <p:cNvPr id="32805" name="Rectangle 37"/>
            <p:cNvSpPr>
              <a:spLocks noChangeArrowheads="1"/>
            </p:cNvSpPr>
            <p:nvPr/>
          </p:nvSpPr>
          <p:spPr bwMode="auto">
            <a:xfrm>
              <a:off x="1864" y="3080"/>
              <a:ext cx="344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806" name="Rectangle 38"/>
            <p:cNvSpPr>
              <a:spLocks noChangeArrowheads="1"/>
            </p:cNvSpPr>
            <p:nvPr/>
          </p:nvSpPr>
          <p:spPr bwMode="auto">
            <a:xfrm>
              <a:off x="1864" y="2869"/>
              <a:ext cx="344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807" name="Rectangle 39"/>
            <p:cNvSpPr>
              <a:spLocks noChangeArrowheads="1"/>
            </p:cNvSpPr>
            <p:nvPr/>
          </p:nvSpPr>
          <p:spPr bwMode="auto">
            <a:xfrm>
              <a:off x="1864" y="2658"/>
              <a:ext cx="344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808" name="Rectangle 40"/>
            <p:cNvSpPr>
              <a:spLocks noChangeArrowheads="1"/>
            </p:cNvSpPr>
            <p:nvPr/>
          </p:nvSpPr>
          <p:spPr bwMode="auto">
            <a:xfrm>
              <a:off x="1864" y="2447"/>
              <a:ext cx="344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809" name="Rectangle 41"/>
            <p:cNvSpPr>
              <a:spLocks noChangeArrowheads="1"/>
            </p:cNvSpPr>
            <p:nvPr/>
          </p:nvSpPr>
          <p:spPr bwMode="auto">
            <a:xfrm>
              <a:off x="1864" y="2236"/>
              <a:ext cx="344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86067" name="Rectangle 42"/>
            <p:cNvSpPr>
              <a:spLocks noChangeArrowheads="1"/>
            </p:cNvSpPr>
            <p:nvPr/>
          </p:nvSpPr>
          <p:spPr bwMode="auto">
            <a:xfrm>
              <a:off x="1864" y="1603"/>
              <a:ext cx="344" cy="21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FFFFFF"/>
                  </a:solidFill>
                  <a:ea typeface="新細明體" charset="-120"/>
                </a:rPr>
                <a:t>F5</a:t>
              </a:r>
            </a:p>
          </p:txBody>
        </p:sp>
        <p:sp>
          <p:nvSpPr>
            <p:cNvPr id="32811" name="Rectangle 43"/>
            <p:cNvSpPr>
              <a:spLocks noChangeArrowheads="1"/>
            </p:cNvSpPr>
            <p:nvPr/>
          </p:nvSpPr>
          <p:spPr bwMode="auto">
            <a:xfrm>
              <a:off x="2208" y="3080"/>
              <a:ext cx="312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812" name="Rectangle 44"/>
            <p:cNvSpPr>
              <a:spLocks noChangeArrowheads="1"/>
            </p:cNvSpPr>
            <p:nvPr/>
          </p:nvSpPr>
          <p:spPr bwMode="auto">
            <a:xfrm>
              <a:off x="2208" y="2869"/>
              <a:ext cx="312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813" name="Rectangle 45"/>
            <p:cNvSpPr>
              <a:spLocks noChangeArrowheads="1"/>
            </p:cNvSpPr>
            <p:nvPr/>
          </p:nvSpPr>
          <p:spPr bwMode="auto">
            <a:xfrm>
              <a:off x="2208" y="2658"/>
              <a:ext cx="312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814" name="Rectangle 46"/>
            <p:cNvSpPr>
              <a:spLocks noChangeArrowheads="1"/>
            </p:cNvSpPr>
            <p:nvPr/>
          </p:nvSpPr>
          <p:spPr bwMode="auto">
            <a:xfrm>
              <a:off x="2208" y="2447"/>
              <a:ext cx="312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32815" name="Rectangle 47"/>
            <p:cNvSpPr>
              <a:spLocks noChangeArrowheads="1"/>
            </p:cNvSpPr>
            <p:nvPr/>
          </p:nvSpPr>
          <p:spPr bwMode="auto">
            <a:xfrm>
              <a:off x="2208" y="2236"/>
              <a:ext cx="312" cy="211"/>
            </a:xfrm>
            <a:prstGeom prst="rect">
              <a:avLst/>
            </a:prstGeom>
            <a:solidFill>
              <a:srgbClr val="D1FFE8"/>
            </a:solidFill>
            <a:ln w="9525">
              <a:noFill/>
              <a:round/>
              <a:headEnd/>
              <a:tailEnd/>
            </a:ln>
            <a:effectLst/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CD3333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新細明體" charset="-120"/>
                </a:rPr>
                <a:t>X</a:t>
              </a:r>
            </a:p>
          </p:txBody>
        </p:sp>
        <p:sp>
          <p:nvSpPr>
            <p:cNvPr id="86073" name="Rectangle 48"/>
            <p:cNvSpPr>
              <a:spLocks noChangeArrowheads="1"/>
            </p:cNvSpPr>
            <p:nvPr/>
          </p:nvSpPr>
          <p:spPr bwMode="auto">
            <a:xfrm>
              <a:off x="2208" y="1603"/>
              <a:ext cx="312" cy="21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FFFFFF"/>
                  </a:solidFill>
                  <a:ea typeface="新細明體" charset="-120"/>
                </a:rPr>
                <a:t>F4</a:t>
              </a:r>
            </a:p>
          </p:txBody>
        </p:sp>
        <p:sp>
          <p:nvSpPr>
            <p:cNvPr id="86074" name="Rectangle 49"/>
            <p:cNvSpPr>
              <a:spLocks noChangeArrowheads="1"/>
            </p:cNvSpPr>
            <p:nvPr/>
          </p:nvSpPr>
          <p:spPr bwMode="auto">
            <a:xfrm>
              <a:off x="2520" y="3080"/>
              <a:ext cx="328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1</a:t>
              </a:r>
            </a:p>
          </p:txBody>
        </p:sp>
        <p:sp>
          <p:nvSpPr>
            <p:cNvPr id="86075" name="Rectangle 50"/>
            <p:cNvSpPr>
              <a:spLocks noChangeArrowheads="1"/>
            </p:cNvSpPr>
            <p:nvPr/>
          </p:nvSpPr>
          <p:spPr bwMode="auto">
            <a:xfrm>
              <a:off x="2520" y="2869"/>
              <a:ext cx="328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76" name="Rectangle 51"/>
            <p:cNvSpPr>
              <a:spLocks noChangeArrowheads="1"/>
            </p:cNvSpPr>
            <p:nvPr/>
          </p:nvSpPr>
          <p:spPr bwMode="auto">
            <a:xfrm>
              <a:off x="2520" y="2658"/>
              <a:ext cx="328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77" name="Rectangle 52"/>
            <p:cNvSpPr>
              <a:spLocks noChangeArrowheads="1"/>
            </p:cNvSpPr>
            <p:nvPr/>
          </p:nvSpPr>
          <p:spPr bwMode="auto">
            <a:xfrm>
              <a:off x="2520" y="2447"/>
              <a:ext cx="328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78" name="Rectangle 53"/>
            <p:cNvSpPr>
              <a:spLocks noChangeArrowheads="1"/>
            </p:cNvSpPr>
            <p:nvPr/>
          </p:nvSpPr>
          <p:spPr bwMode="auto">
            <a:xfrm>
              <a:off x="2520" y="2236"/>
              <a:ext cx="328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79" name="Rectangle 54"/>
            <p:cNvSpPr>
              <a:spLocks noChangeArrowheads="1"/>
            </p:cNvSpPr>
            <p:nvPr/>
          </p:nvSpPr>
          <p:spPr bwMode="auto">
            <a:xfrm>
              <a:off x="2520" y="1603"/>
              <a:ext cx="328" cy="21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FFFFFF"/>
                  </a:solidFill>
                  <a:ea typeface="新細明體" charset="-120"/>
                </a:rPr>
                <a:t>F3</a:t>
              </a:r>
            </a:p>
          </p:txBody>
        </p:sp>
        <p:sp>
          <p:nvSpPr>
            <p:cNvPr id="86080" name="Rectangle 55"/>
            <p:cNvSpPr>
              <a:spLocks noChangeArrowheads="1"/>
            </p:cNvSpPr>
            <p:nvPr/>
          </p:nvSpPr>
          <p:spPr bwMode="auto">
            <a:xfrm>
              <a:off x="2848" y="3080"/>
              <a:ext cx="328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81" name="Rectangle 56"/>
            <p:cNvSpPr>
              <a:spLocks noChangeArrowheads="1"/>
            </p:cNvSpPr>
            <p:nvPr/>
          </p:nvSpPr>
          <p:spPr bwMode="auto">
            <a:xfrm>
              <a:off x="2848" y="2869"/>
              <a:ext cx="328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1</a:t>
              </a:r>
            </a:p>
          </p:txBody>
        </p:sp>
        <p:sp>
          <p:nvSpPr>
            <p:cNvPr id="86082" name="Rectangle 57"/>
            <p:cNvSpPr>
              <a:spLocks noChangeArrowheads="1"/>
            </p:cNvSpPr>
            <p:nvPr/>
          </p:nvSpPr>
          <p:spPr bwMode="auto">
            <a:xfrm>
              <a:off x="2848" y="2658"/>
              <a:ext cx="328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1</a:t>
              </a:r>
            </a:p>
          </p:txBody>
        </p:sp>
        <p:sp>
          <p:nvSpPr>
            <p:cNvPr id="86083" name="Rectangle 58"/>
            <p:cNvSpPr>
              <a:spLocks noChangeArrowheads="1"/>
            </p:cNvSpPr>
            <p:nvPr/>
          </p:nvSpPr>
          <p:spPr bwMode="auto">
            <a:xfrm>
              <a:off x="2848" y="2447"/>
              <a:ext cx="328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84" name="Rectangle 59"/>
            <p:cNvSpPr>
              <a:spLocks noChangeArrowheads="1"/>
            </p:cNvSpPr>
            <p:nvPr/>
          </p:nvSpPr>
          <p:spPr bwMode="auto">
            <a:xfrm>
              <a:off x="2848" y="2236"/>
              <a:ext cx="328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85" name="Rectangle 60"/>
            <p:cNvSpPr>
              <a:spLocks noChangeArrowheads="1"/>
            </p:cNvSpPr>
            <p:nvPr/>
          </p:nvSpPr>
          <p:spPr bwMode="auto">
            <a:xfrm>
              <a:off x="2848" y="1603"/>
              <a:ext cx="328" cy="21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FFFFFF"/>
                  </a:solidFill>
                  <a:ea typeface="新細明體" charset="-120"/>
                </a:rPr>
                <a:t>F2</a:t>
              </a:r>
            </a:p>
          </p:txBody>
        </p:sp>
        <p:sp>
          <p:nvSpPr>
            <p:cNvPr id="86086" name="Rectangle 61"/>
            <p:cNvSpPr>
              <a:spLocks noChangeArrowheads="1"/>
            </p:cNvSpPr>
            <p:nvPr/>
          </p:nvSpPr>
          <p:spPr bwMode="auto">
            <a:xfrm>
              <a:off x="3176" y="3080"/>
              <a:ext cx="312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1</a:t>
              </a:r>
            </a:p>
          </p:txBody>
        </p:sp>
        <p:sp>
          <p:nvSpPr>
            <p:cNvPr id="86087" name="Rectangle 62"/>
            <p:cNvSpPr>
              <a:spLocks noChangeArrowheads="1"/>
            </p:cNvSpPr>
            <p:nvPr/>
          </p:nvSpPr>
          <p:spPr bwMode="auto">
            <a:xfrm>
              <a:off x="3176" y="2869"/>
              <a:ext cx="312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88" name="Rectangle 63"/>
            <p:cNvSpPr>
              <a:spLocks noChangeArrowheads="1"/>
            </p:cNvSpPr>
            <p:nvPr/>
          </p:nvSpPr>
          <p:spPr bwMode="auto">
            <a:xfrm>
              <a:off x="3176" y="2658"/>
              <a:ext cx="312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89" name="Rectangle 64"/>
            <p:cNvSpPr>
              <a:spLocks noChangeArrowheads="1"/>
            </p:cNvSpPr>
            <p:nvPr/>
          </p:nvSpPr>
          <p:spPr bwMode="auto">
            <a:xfrm>
              <a:off x="3176" y="2447"/>
              <a:ext cx="312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1</a:t>
              </a:r>
            </a:p>
          </p:txBody>
        </p:sp>
        <p:sp>
          <p:nvSpPr>
            <p:cNvPr id="86090" name="Rectangle 65"/>
            <p:cNvSpPr>
              <a:spLocks noChangeArrowheads="1"/>
            </p:cNvSpPr>
            <p:nvPr/>
          </p:nvSpPr>
          <p:spPr bwMode="auto">
            <a:xfrm>
              <a:off x="3176" y="2236"/>
              <a:ext cx="312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91" name="Rectangle 66"/>
            <p:cNvSpPr>
              <a:spLocks noChangeArrowheads="1"/>
            </p:cNvSpPr>
            <p:nvPr/>
          </p:nvSpPr>
          <p:spPr bwMode="auto">
            <a:xfrm>
              <a:off x="3176" y="1603"/>
              <a:ext cx="312" cy="21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FFFFFF"/>
                  </a:solidFill>
                  <a:ea typeface="新細明體" charset="-120"/>
                </a:rPr>
                <a:t>F1</a:t>
              </a:r>
            </a:p>
          </p:txBody>
        </p:sp>
        <p:sp>
          <p:nvSpPr>
            <p:cNvPr id="86092" name="Rectangle 67"/>
            <p:cNvSpPr>
              <a:spLocks noChangeArrowheads="1"/>
            </p:cNvSpPr>
            <p:nvPr/>
          </p:nvSpPr>
          <p:spPr bwMode="auto">
            <a:xfrm>
              <a:off x="3488" y="3080"/>
              <a:ext cx="320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93" name="Rectangle 68"/>
            <p:cNvSpPr>
              <a:spLocks noChangeArrowheads="1"/>
            </p:cNvSpPr>
            <p:nvPr/>
          </p:nvSpPr>
          <p:spPr bwMode="auto">
            <a:xfrm>
              <a:off x="3488" y="2869"/>
              <a:ext cx="320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dirty="0">
                  <a:solidFill>
                    <a:srgbClr val="402000"/>
                  </a:solidFill>
                  <a:ea typeface="新細明體" charset="-120"/>
                </a:rPr>
                <a:t>1</a:t>
              </a:r>
            </a:p>
          </p:txBody>
        </p:sp>
        <p:sp>
          <p:nvSpPr>
            <p:cNvPr id="86094" name="Rectangle 69"/>
            <p:cNvSpPr>
              <a:spLocks noChangeArrowheads="1"/>
            </p:cNvSpPr>
            <p:nvPr/>
          </p:nvSpPr>
          <p:spPr bwMode="auto">
            <a:xfrm>
              <a:off x="3488" y="2658"/>
              <a:ext cx="320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95" name="Rectangle 70"/>
            <p:cNvSpPr>
              <a:spLocks noChangeArrowheads="1"/>
            </p:cNvSpPr>
            <p:nvPr/>
          </p:nvSpPr>
          <p:spPr bwMode="auto">
            <a:xfrm>
              <a:off x="3488" y="2447"/>
              <a:ext cx="320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96" name="Rectangle 71"/>
            <p:cNvSpPr>
              <a:spLocks noChangeArrowheads="1"/>
            </p:cNvSpPr>
            <p:nvPr/>
          </p:nvSpPr>
          <p:spPr bwMode="auto">
            <a:xfrm>
              <a:off x="3488" y="2236"/>
              <a:ext cx="320" cy="211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</a:t>
              </a:r>
            </a:p>
          </p:txBody>
        </p:sp>
        <p:sp>
          <p:nvSpPr>
            <p:cNvPr id="86097" name="Rectangle 72"/>
            <p:cNvSpPr>
              <a:spLocks noChangeArrowheads="1"/>
            </p:cNvSpPr>
            <p:nvPr/>
          </p:nvSpPr>
          <p:spPr bwMode="auto">
            <a:xfrm>
              <a:off x="3488" y="1603"/>
              <a:ext cx="320" cy="21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b="1">
                  <a:solidFill>
                    <a:srgbClr val="FFFFFF"/>
                  </a:solidFill>
                  <a:ea typeface="新細明體" charset="-120"/>
                </a:rPr>
                <a:t>F0</a:t>
              </a:r>
            </a:p>
          </p:txBody>
        </p:sp>
        <p:sp>
          <p:nvSpPr>
            <p:cNvPr id="86098" name="Rectangle 73"/>
            <p:cNvSpPr>
              <a:spLocks noChangeArrowheads="1"/>
            </p:cNvSpPr>
            <p:nvPr/>
          </p:nvSpPr>
          <p:spPr bwMode="auto">
            <a:xfrm>
              <a:off x="3808" y="3080"/>
              <a:ext cx="888" cy="21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0111</a:t>
              </a:r>
            </a:p>
          </p:txBody>
        </p:sp>
        <p:sp>
          <p:nvSpPr>
            <p:cNvPr id="86099" name="Rectangle 74"/>
            <p:cNvSpPr>
              <a:spLocks noChangeArrowheads="1"/>
            </p:cNvSpPr>
            <p:nvPr/>
          </p:nvSpPr>
          <p:spPr bwMode="auto">
            <a:xfrm>
              <a:off x="3808" y="2869"/>
              <a:ext cx="888" cy="21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dirty="0">
                  <a:solidFill>
                    <a:srgbClr val="402000"/>
                  </a:solidFill>
                  <a:ea typeface="新細明體" charset="-120"/>
                </a:rPr>
                <a:t>0001</a:t>
              </a:r>
            </a:p>
          </p:txBody>
        </p:sp>
        <p:sp>
          <p:nvSpPr>
            <p:cNvPr id="86100" name="Rectangle 75"/>
            <p:cNvSpPr>
              <a:spLocks noChangeArrowheads="1"/>
            </p:cNvSpPr>
            <p:nvPr/>
          </p:nvSpPr>
          <p:spPr bwMode="auto">
            <a:xfrm>
              <a:off x="3808" y="2658"/>
              <a:ext cx="888" cy="21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dirty="0">
                  <a:solidFill>
                    <a:srgbClr val="402000"/>
                  </a:solidFill>
                  <a:ea typeface="新細明體" charset="-120"/>
                </a:rPr>
                <a:t>0000</a:t>
              </a:r>
            </a:p>
          </p:txBody>
        </p:sp>
        <p:sp>
          <p:nvSpPr>
            <p:cNvPr id="86101" name="Rectangle 76"/>
            <p:cNvSpPr>
              <a:spLocks noChangeArrowheads="1"/>
            </p:cNvSpPr>
            <p:nvPr/>
          </p:nvSpPr>
          <p:spPr bwMode="auto">
            <a:xfrm>
              <a:off x="3808" y="2447"/>
              <a:ext cx="888" cy="21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 dirty="0">
                  <a:solidFill>
                    <a:srgbClr val="402000"/>
                  </a:solidFill>
                  <a:ea typeface="新細明體" charset="-120"/>
                </a:rPr>
                <a:t>0110</a:t>
              </a:r>
            </a:p>
          </p:txBody>
        </p:sp>
        <p:sp>
          <p:nvSpPr>
            <p:cNvPr id="86102" name="Rectangle 77"/>
            <p:cNvSpPr>
              <a:spLocks noChangeArrowheads="1"/>
            </p:cNvSpPr>
            <p:nvPr/>
          </p:nvSpPr>
          <p:spPr bwMode="auto">
            <a:xfrm>
              <a:off x="3808" y="2236"/>
              <a:ext cx="888" cy="21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spcBef>
                  <a:spcPts val="400"/>
                </a:spcBef>
                <a:buClr>
                  <a:srgbClr val="000000"/>
                </a:buClr>
                <a:buSzPct val="90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2000">
                  <a:solidFill>
                    <a:srgbClr val="402000"/>
                  </a:solidFill>
                  <a:ea typeface="新細明體" charset="-120"/>
                </a:rPr>
                <a:t>0010</a:t>
              </a:r>
            </a:p>
          </p:txBody>
        </p:sp>
        <p:sp>
          <p:nvSpPr>
            <p:cNvPr id="86103" name="Line 78"/>
            <p:cNvSpPr>
              <a:spLocks noChangeShapeType="1"/>
            </p:cNvSpPr>
            <p:nvPr/>
          </p:nvSpPr>
          <p:spPr bwMode="auto">
            <a:xfrm>
              <a:off x="528" y="1392"/>
              <a:ext cx="4168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04" name="Line 79"/>
            <p:cNvSpPr>
              <a:spLocks noChangeShapeType="1"/>
            </p:cNvSpPr>
            <p:nvPr/>
          </p:nvSpPr>
          <p:spPr bwMode="auto">
            <a:xfrm>
              <a:off x="528" y="1814"/>
              <a:ext cx="4168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05" name="Line 80"/>
            <p:cNvSpPr>
              <a:spLocks noChangeShapeType="1"/>
            </p:cNvSpPr>
            <p:nvPr/>
          </p:nvSpPr>
          <p:spPr bwMode="auto">
            <a:xfrm>
              <a:off x="528" y="2447"/>
              <a:ext cx="4168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06" name="Line 81"/>
            <p:cNvSpPr>
              <a:spLocks noChangeShapeType="1"/>
            </p:cNvSpPr>
            <p:nvPr/>
          </p:nvSpPr>
          <p:spPr bwMode="auto">
            <a:xfrm>
              <a:off x="528" y="2658"/>
              <a:ext cx="4168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07" name="Line 82"/>
            <p:cNvSpPr>
              <a:spLocks noChangeShapeType="1"/>
            </p:cNvSpPr>
            <p:nvPr/>
          </p:nvSpPr>
          <p:spPr bwMode="auto">
            <a:xfrm>
              <a:off x="528" y="2869"/>
              <a:ext cx="4168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08" name="Line 83"/>
            <p:cNvSpPr>
              <a:spLocks noChangeShapeType="1"/>
            </p:cNvSpPr>
            <p:nvPr/>
          </p:nvSpPr>
          <p:spPr bwMode="auto">
            <a:xfrm>
              <a:off x="528" y="3080"/>
              <a:ext cx="4168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09" name="Line 84"/>
            <p:cNvSpPr>
              <a:spLocks noChangeShapeType="1"/>
            </p:cNvSpPr>
            <p:nvPr/>
          </p:nvSpPr>
          <p:spPr bwMode="auto">
            <a:xfrm>
              <a:off x="528" y="3291"/>
              <a:ext cx="4168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10" name="Line 85"/>
            <p:cNvSpPr>
              <a:spLocks noChangeShapeType="1"/>
            </p:cNvSpPr>
            <p:nvPr/>
          </p:nvSpPr>
          <p:spPr bwMode="auto">
            <a:xfrm>
              <a:off x="528" y="1392"/>
              <a:ext cx="1" cy="1899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11" name="Line 86"/>
            <p:cNvSpPr>
              <a:spLocks noChangeShapeType="1"/>
            </p:cNvSpPr>
            <p:nvPr/>
          </p:nvSpPr>
          <p:spPr bwMode="auto">
            <a:xfrm>
              <a:off x="4696" y="1392"/>
              <a:ext cx="1" cy="1899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12" name="Line 87"/>
            <p:cNvSpPr>
              <a:spLocks noChangeShapeType="1"/>
            </p:cNvSpPr>
            <p:nvPr/>
          </p:nvSpPr>
          <p:spPr bwMode="auto">
            <a:xfrm>
              <a:off x="3808" y="1392"/>
              <a:ext cx="1" cy="1899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13" name="Line 88"/>
            <p:cNvSpPr>
              <a:spLocks noChangeShapeType="1"/>
            </p:cNvSpPr>
            <p:nvPr/>
          </p:nvSpPr>
          <p:spPr bwMode="auto">
            <a:xfrm>
              <a:off x="1864" y="1392"/>
              <a:ext cx="1" cy="1899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14" name="Line 89"/>
            <p:cNvSpPr>
              <a:spLocks noChangeShapeType="1"/>
            </p:cNvSpPr>
            <p:nvPr/>
          </p:nvSpPr>
          <p:spPr bwMode="auto">
            <a:xfrm>
              <a:off x="528" y="1603"/>
              <a:ext cx="328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15" name="Line 90"/>
            <p:cNvSpPr>
              <a:spLocks noChangeShapeType="1"/>
            </p:cNvSpPr>
            <p:nvPr/>
          </p:nvSpPr>
          <p:spPr bwMode="auto">
            <a:xfrm>
              <a:off x="528" y="2236"/>
              <a:ext cx="4168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16" name="Line 91"/>
            <p:cNvSpPr>
              <a:spLocks noChangeShapeType="1"/>
            </p:cNvSpPr>
            <p:nvPr/>
          </p:nvSpPr>
          <p:spPr bwMode="auto">
            <a:xfrm>
              <a:off x="528" y="2025"/>
              <a:ext cx="4168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17" name="Line 92"/>
            <p:cNvSpPr>
              <a:spLocks noChangeShapeType="1"/>
            </p:cNvSpPr>
            <p:nvPr/>
          </p:nvSpPr>
          <p:spPr bwMode="auto">
            <a:xfrm>
              <a:off x="2208" y="1603"/>
              <a:ext cx="1" cy="1688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18" name="Line 93"/>
            <p:cNvSpPr>
              <a:spLocks noChangeShapeType="1"/>
            </p:cNvSpPr>
            <p:nvPr/>
          </p:nvSpPr>
          <p:spPr bwMode="auto">
            <a:xfrm>
              <a:off x="2520" y="1603"/>
              <a:ext cx="1" cy="1688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19" name="Line 94"/>
            <p:cNvSpPr>
              <a:spLocks noChangeShapeType="1"/>
            </p:cNvSpPr>
            <p:nvPr/>
          </p:nvSpPr>
          <p:spPr bwMode="auto">
            <a:xfrm>
              <a:off x="2848" y="1603"/>
              <a:ext cx="1" cy="1688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20" name="Line 95"/>
            <p:cNvSpPr>
              <a:spLocks noChangeShapeType="1"/>
            </p:cNvSpPr>
            <p:nvPr/>
          </p:nvSpPr>
          <p:spPr bwMode="auto">
            <a:xfrm>
              <a:off x="3176" y="1603"/>
              <a:ext cx="1" cy="1688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21" name="Line 96"/>
            <p:cNvSpPr>
              <a:spLocks noChangeShapeType="1"/>
            </p:cNvSpPr>
            <p:nvPr/>
          </p:nvSpPr>
          <p:spPr bwMode="auto">
            <a:xfrm>
              <a:off x="3488" y="1603"/>
              <a:ext cx="1" cy="1688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122" name="Line 97"/>
            <p:cNvSpPr>
              <a:spLocks noChangeShapeType="1"/>
            </p:cNvSpPr>
            <p:nvPr/>
          </p:nvSpPr>
          <p:spPr bwMode="auto">
            <a:xfrm>
              <a:off x="1184" y="1603"/>
              <a:ext cx="1" cy="1688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</p:grpSp>
      <p:grpSp>
        <p:nvGrpSpPr>
          <p:cNvPr id="3" name="Group 98"/>
          <p:cNvGrpSpPr>
            <a:grpSpLocks/>
          </p:cNvGrpSpPr>
          <p:nvPr/>
        </p:nvGrpSpPr>
        <p:grpSpPr bwMode="auto">
          <a:xfrm>
            <a:off x="8964611" y="3852888"/>
            <a:ext cx="1184274" cy="2343151"/>
            <a:chOff x="4687" y="1788"/>
            <a:chExt cx="746" cy="1476"/>
          </a:xfrm>
        </p:grpSpPr>
        <p:sp>
          <p:nvSpPr>
            <p:cNvPr id="86025" name="Text Box 99"/>
            <p:cNvSpPr txBox="1">
              <a:spLocks noChangeArrowheads="1"/>
            </p:cNvSpPr>
            <p:nvPr/>
          </p:nvSpPr>
          <p:spPr bwMode="auto">
            <a:xfrm>
              <a:off x="4687" y="1788"/>
              <a:ext cx="524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buFont typeface="Tahoma" charset="0"/>
                <a:buNone/>
              </a:pPr>
              <a:r>
                <a:rPr lang="en-GB" altLang="zh-TW" sz="2000" b="1" dirty="0" err="1">
                  <a:solidFill>
                    <a:srgbClr val="402000"/>
                  </a:solidFill>
                  <a:latin typeface="+mn-lt"/>
                  <a:ea typeface="新細明體" charset="-120"/>
                </a:rPr>
                <a:t>lw</a:t>
              </a:r>
              <a:r>
                <a:rPr lang="en-GB" altLang="zh-TW" sz="2000" b="1" dirty="0">
                  <a:solidFill>
                    <a:srgbClr val="402000"/>
                  </a:solidFill>
                  <a:latin typeface="+mn-lt"/>
                  <a:ea typeface="新細明體" charset="-120"/>
                </a:rPr>
                <a:t>, </a:t>
              </a:r>
              <a:r>
                <a:rPr lang="en-GB" altLang="zh-TW" sz="2000" b="1" dirty="0" err="1">
                  <a:solidFill>
                    <a:srgbClr val="402000"/>
                  </a:solidFill>
                  <a:latin typeface="+mn-lt"/>
                  <a:ea typeface="新細明體" charset="-120"/>
                </a:rPr>
                <a:t>sw</a:t>
              </a:r>
              <a:endParaRPr lang="en-GB" altLang="zh-TW" sz="2000" b="1" dirty="0">
                <a:solidFill>
                  <a:srgbClr val="402000"/>
                </a:solidFill>
                <a:latin typeface="+mn-lt"/>
                <a:ea typeface="新細明體" charset="-120"/>
              </a:endParaRPr>
            </a:p>
          </p:txBody>
        </p:sp>
        <p:sp>
          <p:nvSpPr>
            <p:cNvPr id="86026" name="Text Box 100"/>
            <p:cNvSpPr txBox="1">
              <a:spLocks noChangeArrowheads="1"/>
            </p:cNvSpPr>
            <p:nvPr/>
          </p:nvSpPr>
          <p:spPr bwMode="auto">
            <a:xfrm>
              <a:off x="4688" y="2016"/>
              <a:ext cx="370" cy="2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buFont typeface="Tahoma" charset="0"/>
                <a:buNone/>
              </a:pPr>
              <a:r>
                <a:rPr lang="en-GB" altLang="zh-TW" sz="2000" b="1">
                  <a:solidFill>
                    <a:srgbClr val="402000"/>
                  </a:solidFill>
                  <a:latin typeface="+mn-lt"/>
                  <a:ea typeface="新細明體" charset="-120"/>
                </a:rPr>
                <a:t>beq</a:t>
              </a:r>
            </a:p>
          </p:txBody>
        </p:sp>
        <p:sp>
          <p:nvSpPr>
            <p:cNvPr id="86027" name="Text Box 101"/>
            <p:cNvSpPr txBox="1">
              <a:spLocks noChangeArrowheads="1"/>
            </p:cNvSpPr>
            <p:nvPr/>
          </p:nvSpPr>
          <p:spPr bwMode="auto">
            <a:xfrm rot="16200000" flipH="1">
              <a:off x="4932" y="2476"/>
              <a:ext cx="502" cy="5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 algn="ctr">
                <a:lnSpc>
                  <a:spcPct val="100000"/>
                </a:lnSpc>
                <a:buFont typeface="Tahoma" charset="0"/>
                <a:buNone/>
              </a:pPr>
              <a:r>
                <a:rPr lang="en-GB" altLang="zh-TW" sz="2000" b="1">
                  <a:solidFill>
                    <a:srgbClr val="402000"/>
                  </a:solidFill>
                  <a:latin typeface="+mn-lt"/>
                  <a:ea typeface="新細明體" charset="-120"/>
                </a:rPr>
                <a:t>R-type</a:t>
              </a:r>
            </a:p>
            <a:p>
              <a:pPr algn="ctr">
                <a:lnSpc>
                  <a:spcPct val="100000"/>
                </a:lnSpc>
                <a:buFont typeface="Tahoma" charset="0"/>
                <a:buNone/>
              </a:pPr>
              <a:r>
                <a:rPr lang="en-GB" altLang="zh-TW" sz="2000" b="1">
                  <a:solidFill>
                    <a:srgbClr val="402000"/>
                  </a:solidFill>
                  <a:latin typeface="+mn-lt"/>
                  <a:ea typeface="新細明體" charset="-120"/>
                </a:rPr>
                <a:t>Instr.</a:t>
              </a:r>
            </a:p>
          </p:txBody>
        </p:sp>
        <p:sp>
          <p:nvSpPr>
            <p:cNvPr id="86028" name="AutoShape 102"/>
            <p:cNvSpPr>
              <a:spLocks/>
            </p:cNvSpPr>
            <p:nvPr/>
          </p:nvSpPr>
          <p:spPr bwMode="auto">
            <a:xfrm>
              <a:off x="4728" y="2248"/>
              <a:ext cx="176" cy="1016"/>
            </a:xfrm>
            <a:prstGeom prst="rightBrace">
              <a:avLst>
                <a:gd name="adj1" fmla="val 48106"/>
                <a:gd name="adj2" fmla="val 50000"/>
              </a:avLst>
            </a:prstGeom>
            <a:noFill/>
            <a:ln w="936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353105588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>
                <a:ea typeface="新細明體" charset="-120"/>
                <a:cs typeface="新細明體" charset="-120"/>
              </a:rPr>
              <a:t>Hardware Implementation of ALU Control Block</a:t>
            </a:r>
            <a:endParaRPr lang="en-US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2999656" y="1556792"/>
            <a:ext cx="6929438" cy="3635375"/>
            <a:chOff x="996" y="1011"/>
            <a:chExt cx="4365" cy="2290"/>
          </a:xfrm>
        </p:grpSpPr>
        <p:sp>
          <p:nvSpPr>
            <p:cNvPr id="6" name="Freeform 4"/>
            <p:cNvSpPr>
              <a:spLocks noChangeArrowheads="1"/>
            </p:cNvSpPr>
            <p:nvPr/>
          </p:nvSpPr>
          <p:spPr bwMode="auto">
            <a:xfrm>
              <a:off x="2123" y="1305"/>
              <a:ext cx="76" cy="76"/>
            </a:xfrm>
            <a:custGeom>
              <a:avLst/>
              <a:gdLst>
                <a:gd name="T0" fmla="*/ 76 w 76"/>
                <a:gd name="T1" fmla="*/ 0 h 76"/>
                <a:gd name="T2" fmla="*/ 0 w 76"/>
                <a:gd name="T3" fmla="*/ 0 h 76"/>
                <a:gd name="T4" fmla="*/ 40 w 76"/>
                <a:gd name="T5" fmla="*/ 76 h 76"/>
                <a:gd name="T6" fmla="*/ 76 w 76"/>
                <a:gd name="T7" fmla="*/ 0 h 76"/>
                <a:gd name="T8" fmla="*/ 76 w 76"/>
                <a:gd name="T9" fmla="*/ 0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6"/>
                <a:gd name="T16" fmla="*/ 0 h 76"/>
                <a:gd name="T17" fmla="*/ 76 w 76"/>
                <a:gd name="T18" fmla="*/ 76 h 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6" h="76">
                  <a:moveTo>
                    <a:pt x="76" y="0"/>
                  </a:moveTo>
                  <a:lnTo>
                    <a:pt x="0" y="0"/>
                  </a:lnTo>
                  <a:lnTo>
                    <a:pt x="40" y="76"/>
                  </a:lnTo>
                  <a:lnTo>
                    <a:pt x="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Freeform 5"/>
            <p:cNvSpPr>
              <a:spLocks noChangeArrowheads="1"/>
            </p:cNvSpPr>
            <p:nvPr/>
          </p:nvSpPr>
          <p:spPr bwMode="auto">
            <a:xfrm>
              <a:off x="1634" y="2588"/>
              <a:ext cx="1627" cy="98"/>
            </a:xfrm>
            <a:custGeom>
              <a:avLst/>
              <a:gdLst>
                <a:gd name="T0" fmla="*/ 0 w 1627"/>
                <a:gd name="T1" fmla="*/ 0 h 98"/>
                <a:gd name="T2" fmla="*/ 424 w 1627"/>
                <a:gd name="T3" fmla="*/ 0 h 98"/>
                <a:gd name="T4" fmla="*/ 424 w 1627"/>
                <a:gd name="T5" fmla="*/ 98 h 98"/>
                <a:gd name="T6" fmla="*/ 1627 w 1627"/>
                <a:gd name="T7" fmla="*/ 98 h 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27"/>
                <a:gd name="T13" fmla="*/ 0 h 98"/>
                <a:gd name="T14" fmla="*/ 1627 w 1627"/>
                <a:gd name="T15" fmla="*/ 98 h 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27" h="98">
                  <a:moveTo>
                    <a:pt x="0" y="0"/>
                  </a:moveTo>
                  <a:lnTo>
                    <a:pt x="424" y="0"/>
                  </a:lnTo>
                  <a:lnTo>
                    <a:pt x="424" y="98"/>
                  </a:lnTo>
                  <a:lnTo>
                    <a:pt x="1627" y="98"/>
                  </a:lnTo>
                </a:path>
              </a:pathLst>
            </a:custGeom>
            <a:noFill/>
            <a:ln w="237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Freeform 6"/>
            <p:cNvSpPr>
              <a:spLocks noChangeArrowheads="1"/>
            </p:cNvSpPr>
            <p:nvPr/>
          </p:nvSpPr>
          <p:spPr bwMode="auto">
            <a:xfrm>
              <a:off x="4737" y="2378"/>
              <a:ext cx="76" cy="76"/>
            </a:xfrm>
            <a:custGeom>
              <a:avLst/>
              <a:gdLst>
                <a:gd name="T0" fmla="*/ 0 w 76"/>
                <a:gd name="T1" fmla="*/ 0 h 76"/>
                <a:gd name="T2" fmla="*/ 0 w 76"/>
                <a:gd name="T3" fmla="*/ 76 h 76"/>
                <a:gd name="T4" fmla="*/ 76 w 76"/>
                <a:gd name="T5" fmla="*/ 40 h 76"/>
                <a:gd name="T6" fmla="*/ 0 w 76"/>
                <a:gd name="T7" fmla="*/ 0 h 76"/>
                <a:gd name="T8" fmla="*/ 0 w 76"/>
                <a:gd name="T9" fmla="*/ 0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6"/>
                <a:gd name="T16" fmla="*/ 0 h 76"/>
                <a:gd name="T17" fmla="*/ 76 w 76"/>
                <a:gd name="T18" fmla="*/ 76 h 7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6" h="76">
                  <a:moveTo>
                    <a:pt x="0" y="0"/>
                  </a:moveTo>
                  <a:lnTo>
                    <a:pt x="0" y="76"/>
                  </a:lnTo>
                  <a:lnTo>
                    <a:pt x="76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Freeform 7"/>
            <p:cNvSpPr>
              <a:spLocks noChangeArrowheads="1"/>
            </p:cNvSpPr>
            <p:nvPr/>
          </p:nvSpPr>
          <p:spPr bwMode="auto">
            <a:xfrm>
              <a:off x="2725" y="2178"/>
              <a:ext cx="293" cy="243"/>
            </a:xfrm>
            <a:custGeom>
              <a:avLst/>
              <a:gdLst>
                <a:gd name="T0" fmla="*/ 174 w 293"/>
                <a:gd name="T1" fmla="*/ 240 h 243"/>
                <a:gd name="T2" fmla="*/ 196 w 293"/>
                <a:gd name="T3" fmla="*/ 240 h 243"/>
                <a:gd name="T4" fmla="*/ 214 w 293"/>
                <a:gd name="T5" fmla="*/ 236 h 243"/>
                <a:gd name="T6" fmla="*/ 228 w 293"/>
                <a:gd name="T7" fmla="*/ 229 h 243"/>
                <a:gd name="T8" fmla="*/ 246 w 293"/>
                <a:gd name="T9" fmla="*/ 218 h 243"/>
                <a:gd name="T10" fmla="*/ 257 w 293"/>
                <a:gd name="T11" fmla="*/ 207 h 243"/>
                <a:gd name="T12" fmla="*/ 272 w 293"/>
                <a:gd name="T13" fmla="*/ 193 h 243"/>
                <a:gd name="T14" fmla="*/ 279 w 293"/>
                <a:gd name="T15" fmla="*/ 178 h 243"/>
                <a:gd name="T16" fmla="*/ 286 w 293"/>
                <a:gd name="T17" fmla="*/ 160 h 243"/>
                <a:gd name="T18" fmla="*/ 293 w 293"/>
                <a:gd name="T19" fmla="*/ 142 h 243"/>
                <a:gd name="T20" fmla="*/ 293 w 293"/>
                <a:gd name="T21" fmla="*/ 120 h 243"/>
                <a:gd name="T22" fmla="*/ 293 w 293"/>
                <a:gd name="T23" fmla="*/ 102 h 243"/>
                <a:gd name="T24" fmla="*/ 286 w 293"/>
                <a:gd name="T25" fmla="*/ 84 h 243"/>
                <a:gd name="T26" fmla="*/ 279 w 293"/>
                <a:gd name="T27" fmla="*/ 66 h 243"/>
                <a:gd name="T28" fmla="*/ 272 w 293"/>
                <a:gd name="T29" fmla="*/ 48 h 243"/>
                <a:gd name="T30" fmla="*/ 257 w 293"/>
                <a:gd name="T31" fmla="*/ 33 h 243"/>
                <a:gd name="T32" fmla="*/ 246 w 293"/>
                <a:gd name="T33" fmla="*/ 22 h 243"/>
                <a:gd name="T34" fmla="*/ 228 w 293"/>
                <a:gd name="T35" fmla="*/ 11 h 243"/>
                <a:gd name="T36" fmla="*/ 214 w 293"/>
                <a:gd name="T37" fmla="*/ 4 h 243"/>
                <a:gd name="T38" fmla="*/ 196 w 293"/>
                <a:gd name="T39" fmla="*/ 0 h 243"/>
                <a:gd name="T40" fmla="*/ 174 w 293"/>
                <a:gd name="T41" fmla="*/ 0 h 243"/>
                <a:gd name="T42" fmla="*/ 0 w 293"/>
                <a:gd name="T43" fmla="*/ 0 h 243"/>
                <a:gd name="T44" fmla="*/ 0 w 293"/>
                <a:gd name="T45" fmla="*/ 243 h 243"/>
                <a:gd name="T46" fmla="*/ 174 w 293"/>
                <a:gd name="T47" fmla="*/ 243 h 243"/>
                <a:gd name="T48" fmla="*/ 174 w 293"/>
                <a:gd name="T49" fmla="*/ 243 h 24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293"/>
                <a:gd name="T76" fmla="*/ 0 h 243"/>
                <a:gd name="T77" fmla="*/ 293 w 293"/>
                <a:gd name="T78" fmla="*/ 243 h 243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293" h="243">
                  <a:moveTo>
                    <a:pt x="174" y="240"/>
                  </a:moveTo>
                  <a:lnTo>
                    <a:pt x="196" y="240"/>
                  </a:lnTo>
                  <a:lnTo>
                    <a:pt x="214" y="236"/>
                  </a:lnTo>
                  <a:lnTo>
                    <a:pt x="228" y="229"/>
                  </a:lnTo>
                  <a:lnTo>
                    <a:pt x="246" y="218"/>
                  </a:lnTo>
                  <a:lnTo>
                    <a:pt x="257" y="207"/>
                  </a:lnTo>
                  <a:lnTo>
                    <a:pt x="272" y="193"/>
                  </a:lnTo>
                  <a:lnTo>
                    <a:pt x="279" y="178"/>
                  </a:lnTo>
                  <a:lnTo>
                    <a:pt x="286" y="160"/>
                  </a:lnTo>
                  <a:lnTo>
                    <a:pt x="293" y="142"/>
                  </a:lnTo>
                  <a:lnTo>
                    <a:pt x="293" y="120"/>
                  </a:lnTo>
                  <a:lnTo>
                    <a:pt x="293" y="102"/>
                  </a:lnTo>
                  <a:lnTo>
                    <a:pt x="286" y="84"/>
                  </a:lnTo>
                  <a:lnTo>
                    <a:pt x="279" y="66"/>
                  </a:lnTo>
                  <a:lnTo>
                    <a:pt x="272" y="48"/>
                  </a:lnTo>
                  <a:lnTo>
                    <a:pt x="257" y="33"/>
                  </a:lnTo>
                  <a:lnTo>
                    <a:pt x="246" y="22"/>
                  </a:lnTo>
                  <a:lnTo>
                    <a:pt x="228" y="11"/>
                  </a:lnTo>
                  <a:lnTo>
                    <a:pt x="214" y="4"/>
                  </a:lnTo>
                  <a:lnTo>
                    <a:pt x="196" y="0"/>
                  </a:lnTo>
                  <a:lnTo>
                    <a:pt x="174" y="0"/>
                  </a:lnTo>
                  <a:lnTo>
                    <a:pt x="0" y="0"/>
                  </a:lnTo>
                  <a:lnTo>
                    <a:pt x="0" y="243"/>
                  </a:lnTo>
                  <a:lnTo>
                    <a:pt x="174" y="243"/>
                  </a:lnTo>
                </a:path>
              </a:pathLst>
            </a:custGeom>
            <a:solidFill>
              <a:srgbClr val="FFFFFF"/>
            </a:solidFill>
            <a:ln w="237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Freeform 8"/>
            <p:cNvSpPr>
              <a:spLocks noChangeArrowheads="1"/>
            </p:cNvSpPr>
            <p:nvPr/>
          </p:nvSpPr>
          <p:spPr bwMode="auto">
            <a:xfrm>
              <a:off x="3276" y="2099"/>
              <a:ext cx="337" cy="243"/>
            </a:xfrm>
            <a:custGeom>
              <a:avLst/>
              <a:gdLst>
                <a:gd name="T0" fmla="*/ 32 w 337"/>
                <a:gd name="T1" fmla="*/ 123 h 243"/>
                <a:gd name="T2" fmla="*/ 32 w 337"/>
                <a:gd name="T3" fmla="*/ 141 h 243"/>
                <a:gd name="T4" fmla="*/ 32 w 337"/>
                <a:gd name="T5" fmla="*/ 156 h 243"/>
                <a:gd name="T6" fmla="*/ 29 w 337"/>
                <a:gd name="T7" fmla="*/ 166 h 243"/>
                <a:gd name="T8" fmla="*/ 29 w 337"/>
                <a:gd name="T9" fmla="*/ 177 h 243"/>
                <a:gd name="T10" fmla="*/ 25 w 337"/>
                <a:gd name="T11" fmla="*/ 188 h 243"/>
                <a:gd name="T12" fmla="*/ 22 w 337"/>
                <a:gd name="T13" fmla="*/ 199 h 243"/>
                <a:gd name="T14" fmla="*/ 18 w 337"/>
                <a:gd name="T15" fmla="*/ 206 h 243"/>
                <a:gd name="T16" fmla="*/ 14 w 337"/>
                <a:gd name="T17" fmla="*/ 217 h 243"/>
                <a:gd name="T18" fmla="*/ 7 w 337"/>
                <a:gd name="T19" fmla="*/ 232 h 243"/>
                <a:gd name="T20" fmla="*/ 0 w 337"/>
                <a:gd name="T21" fmla="*/ 243 h 243"/>
                <a:gd name="T22" fmla="*/ 3 w 337"/>
                <a:gd name="T23" fmla="*/ 243 h 243"/>
                <a:gd name="T24" fmla="*/ 18 w 337"/>
                <a:gd name="T25" fmla="*/ 243 h 243"/>
                <a:gd name="T26" fmla="*/ 36 w 337"/>
                <a:gd name="T27" fmla="*/ 243 h 243"/>
                <a:gd name="T28" fmla="*/ 61 w 337"/>
                <a:gd name="T29" fmla="*/ 243 h 243"/>
                <a:gd name="T30" fmla="*/ 87 w 337"/>
                <a:gd name="T31" fmla="*/ 243 h 243"/>
                <a:gd name="T32" fmla="*/ 116 w 337"/>
                <a:gd name="T33" fmla="*/ 243 h 243"/>
                <a:gd name="T34" fmla="*/ 145 w 337"/>
                <a:gd name="T35" fmla="*/ 243 h 243"/>
                <a:gd name="T36" fmla="*/ 167 w 337"/>
                <a:gd name="T37" fmla="*/ 243 h 243"/>
                <a:gd name="T38" fmla="*/ 188 w 337"/>
                <a:gd name="T39" fmla="*/ 239 h 243"/>
                <a:gd name="T40" fmla="*/ 203 w 337"/>
                <a:gd name="T41" fmla="*/ 239 h 243"/>
                <a:gd name="T42" fmla="*/ 225 w 337"/>
                <a:gd name="T43" fmla="*/ 228 h 243"/>
                <a:gd name="T44" fmla="*/ 246 w 337"/>
                <a:gd name="T45" fmla="*/ 221 h 243"/>
                <a:gd name="T46" fmla="*/ 264 w 337"/>
                <a:gd name="T47" fmla="*/ 210 h 243"/>
                <a:gd name="T48" fmla="*/ 283 w 337"/>
                <a:gd name="T49" fmla="*/ 195 h 243"/>
                <a:gd name="T50" fmla="*/ 297 w 337"/>
                <a:gd name="T51" fmla="*/ 185 h 243"/>
                <a:gd name="T52" fmla="*/ 308 w 337"/>
                <a:gd name="T53" fmla="*/ 170 h 243"/>
                <a:gd name="T54" fmla="*/ 319 w 337"/>
                <a:gd name="T55" fmla="*/ 156 h 243"/>
                <a:gd name="T56" fmla="*/ 326 w 337"/>
                <a:gd name="T57" fmla="*/ 145 h 243"/>
                <a:gd name="T58" fmla="*/ 333 w 337"/>
                <a:gd name="T59" fmla="*/ 134 h 243"/>
                <a:gd name="T60" fmla="*/ 337 w 337"/>
                <a:gd name="T61" fmla="*/ 123 h 243"/>
                <a:gd name="T62" fmla="*/ 333 w 337"/>
                <a:gd name="T63" fmla="*/ 112 h 243"/>
                <a:gd name="T64" fmla="*/ 326 w 337"/>
                <a:gd name="T65" fmla="*/ 101 h 243"/>
                <a:gd name="T66" fmla="*/ 319 w 337"/>
                <a:gd name="T67" fmla="*/ 90 h 243"/>
                <a:gd name="T68" fmla="*/ 308 w 337"/>
                <a:gd name="T69" fmla="*/ 76 h 243"/>
                <a:gd name="T70" fmla="*/ 297 w 337"/>
                <a:gd name="T71" fmla="*/ 61 h 243"/>
                <a:gd name="T72" fmla="*/ 283 w 337"/>
                <a:gd name="T73" fmla="*/ 50 h 243"/>
                <a:gd name="T74" fmla="*/ 264 w 337"/>
                <a:gd name="T75" fmla="*/ 36 h 243"/>
                <a:gd name="T76" fmla="*/ 246 w 337"/>
                <a:gd name="T77" fmla="*/ 25 h 243"/>
                <a:gd name="T78" fmla="*/ 225 w 337"/>
                <a:gd name="T79" fmla="*/ 14 h 243"/>
                <a:gd name="T80" fmla="*/ 203 w 337"/>
                <a:gd name="T81" fmla="*/ 7 h 243"/>
                <a:gd name="T82" fmla="*/ 188 w 337"/>
                <a:gd name="T83" fmla="*/ 7 h 243"/>
                <a:gd name="T84" fmla="*/ 167 w 337"/>
                <a:gd name="T85" fmla="*/ 3 h 243"/>
                <a:gd name="T86" fmla="*/ 145 w 337"/>
                <a:gd name="T87" fmla="*/ 3 h 243"/>
                <a:gd name="T88" fmla="*/ 116 w 337"/>
                <a:gd name="T89" fmla="*/ 3 h 243"/>
                <a:gd name="T90" fmla="*/ 87 w 337"/>
                <a:gd name="T91" fmla="*/ 0 h 243"/>
                <a:gd name="T92" fmla="*/ 61 w 337"/>
                <a:gd name="T93" fmla="*/ 0 h 243"/>
                <a:gd name="T94" fmla="*/ 36 w 337"/>
                <a:gd name="T95" fmla="*/ 0 h 243"/>
                <a:gd name="T96" fmla="*/ 18 w 337"/>
                <a:gd name="T97" fmla="*/ 0 h 243"/>
                <a:gd name="T98" fmla="*/ 3 w 337"/>
                <a:gd name="T99" fmla="*/ 3 h 243"/>
                <a:gd name="T100" fmla="*/ 0 w 337"/>
                <a:gd name="T101" fmla="*/ 3 h 243"/>
                <a:gd name="T102" fmla="*/ 7 w 337"/>
                <a:gd name="T103" fmla="*/ 14 h 243"/>
                <a:gd name="T104" fmla="*/ 14 w 337"/>
                <a:gd name="T105" fmla="*/ 29 h 243"/>
                <a:gd name="T106" fmla="*/ 18 w 337"/>
                <a:gd name="T107" fmla="*/ 39 h 243"/>
                <a:gd name="T108" fmla="*/ 22 w 337"/>
                <a:gd name="T109" fmla="*/ 50 h 243"/>
                <a:gd name="T110" fmla="*/ 25 w 337"/>
                <a:gd name="T111" fmla="*/ 61 h 243"/>
                <a:gd name="T112" fmla="*/ 29 w 337"/>
                <a:gd name="T113" fmla="*/ 72 h 243"/>
                <a:gd name="T114" fmla="*/ 29 w 337"/>
                <a:gd name="T115" fmla="*/ 83 h 243"/>
                <a:gd name="T116" fmla="*/ 32 w 337"/>
                <a:gd name="T117" fmla="*/ 98 h 243"/>
                <a:gd name="T118" fmla="*/ 32 w 337"/>
                <a:gd name="T119" fmla="*/ 108 h 243"/>
                <a:gd name="T120" fmla="*/ 32 w 337"/>
                <a:gd name="T121" fmla="*/ 127 h 243"/>
                <a:gd name="T122" fmla="*/ 32 w 337"/>
                <a:gd name="T123" fmla="*/ 127 h 243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37"/>
                <a:gd name="T187" fmla="*/ 0 h 243"/>
                <a:gd name="T188" fmla="*/ 337 w 337"/>
                <a:gd name="T189" fmla="*/ 243 h 243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37" h="243">
                  <a:moveTo>
                    <a:pt x="32" y="123"/>
                  </a:moveTo>
                  <a:lnTo>
                    <a:pt x="32" y="141"/>
                  </a:lnTo>
                  <a:lnTo>
                    <a:pt x="32" y="156"/>
                  </a:lnTo>
                  <a:lnTo>
                    <a:pt x="29" y="166"/>
                  </a:lnTo>
                  <a:lnTo>
                    <a:pt x="29" y="177"/>
                  </a:lnTo>
                  <a:lnTo>
                    <a:pt x="25" y="188"/>
                  </a:lnTo>
                  <a:lnTo>
                    <a:pt x="22" y="199"/>
                  </a:lnTo>
                  <a:lnTo>
                    <a:pt x="18" y="206"/>
                  </a:lnTo>
                  <a:lnTo>
                    <a:pt x="14" y="217"/>
                  </a:lnTo>
                  <a:lnTo>
                    <a:pt x="7" y="232"/>
                  </a:lnTo>
                  <a:lnTo>
                    <a:pt x="0" y="243"/>
                  </a:lnTo>
                  <a:lnTo>
                    <a:pt x="3" y="243"/>
                  </a:lnTo>
                  <a:lnTo>
                    <a:pt x="18" y="243"/>
                  </a:lnTo>
                  <a:lnTo>
                    <a:pt x="36" y="243"/>
                  </a:lnTo>
                  <a:lnTo>
                    <a:pt x="61" y="243"/>
                  </a:lnTo>
                  <a:lnTo>
                    <a:pt x="87" y="243"/>
                  </a:lnTo>
                  <a:lnTo>
                    <a:pt x="116" y="243"/>
                  </a:lnTo>
                  <a:lnTo>
                    <a:pt x="145" y="243"/>
                  </a:lnTo>
                  <a:lnTo>
                    <a:pt x="167" y="243"/>
                  </a:lnTo>
                  <a:lnTo>
                    <a:pt x="188" y="239"/>
                  </a:lnTo>
                  <a:lnTo>
                    <a:pt x="203" y="239"/>
                  </a:lnTo>
                  <a:lnTo>
                    <a:pt x="225" y="228"/>
                  </a:lnTo>
                  <a:lnTo>
                    <a:pt x="246" y="221"/>
                  </a:lnTo>
                  <a:lnTo>
                    <a:pt x="264" y="210"/>
                  </a:lnTo>
                  <a:lnTo>
                    <a:pt x="283" y="195"/>
                  </a:lnTo>
                  <a:lnTo>
                    <a:pt x="297" y="185"/>
                  </a:lnTo>
                  <a:lnTo>
                    <a:pt x="308" y="170"/>
                  </a:lnTo>
                  <a:lnTo>
                    <a:pt x="319" y="156"/>
                  </a:lnTo>
                  <a:lnTo>
                    <a:pt x="326" y="145"/>
                  </a:lnTo>
                  <a:lnTo>
                    <a:pt x="333" y="134"/>
                  </a:lnTo>
                  <a:lnTo>
                    <a:pt x="337" y="123"/>
                  </a:lnTo>
                  <a:lnTo>
                    <a:pt x="333" y="112"/>
                  </a:lnTo>
                  <a:lnTo>
                    <a:pt x="326" y="101"/>
                  </a:lnTo>
                  <a:lnTo>
                    <a:pt x="319" y="90"/>
                  </a:lnTo>
                  <a:lnTo>
                    <a:pt x="308" y="76"/>
                  </a:lnTo>
                  <a:lnTo>
                    <a:pt x="297" y="61"/>
                  </a:lnTo>
                  <a:lnTo>
                    <a:pt x="283" y="50"/>
                  </a:lnTo>
                  <a:lnTo>
                    <a:pt x="264" y="36"/>
                  </a:lnTo>
                  <a:lnTo>
                    <a:pt x="246" y="25"/>
                  </a:lnTo>
                  <a:lnTo>
                    <a:pt x="225" y="14"/>
                  </a:lnTo>
                  <a:lnTo>
                    <a:pt x="203" y="7"/>
                  </a:lnTo>
                  <a:lnTo>
                    <a:pt x="188" y="7"/>
                  </a:lnTo>
                  <a:lnTo>
                    <a:pt x="167" y="3"/>
                  </a:lnTo>
                  <a:lnTo>
                    <a:pt x="145" y="3"/>
                  </a:lnTo>
                  <a:lnTo>
                    <a:pt x="116" y="3"/>
                  </a:lnTo>
                  <a:lnTo>
                    <a:pt x="87" y="0"/>
                  </a:lnTo>
                  <a:lnTo>
                    <a:pt x="61" y="0"/>
                  </a:lnTo>
                  <a:lnTo>
                    <a:pt x="36" y="0"/>
                  </a:lnTo>
                  <a:lnTo>
                    <a:pt x="18" y="0"/>
                  </a:lnTo>
                  <a:lnTo>
                    <a:pt x="3" y="3"/>
                  </a:lnTo>
                  <a:lnTo>
                    <a:pt x="0" y="3"/>
                  </a:lnTo>
                  <a:lnTo>
                    <a:pt x="7" y="14"/>
                  </a:lnTo>
                  <a:lnTo>
                    <a:pt x="14" y="29"/>
                  </a:lnTo>
                  <a:lnTo>
                    <a:pt x="18" y="39"/>
                  </a:lnTo>
                  <a:lnTo>
                    <a:pt x="22" y="50"/>
                  </a:lnTo>
                  <a:lnTo>
                    <a:pt x="25" y="61"/>
                  </a:lnTo>
                  <a:lnTo>
                    <a:pt x="29" y="72"/>
                  </a:lnTo>
                  <a:lnTo>
                    <a:pt x="29" y="83"/>
                  </a:lnTo>
                  <a:lnTo>
                    <a:pt x="32" y="98"/>
                  </a:lnTo>
                  <a:lnTo>
                    <a:pt x="32" y="108"/>
                  </a:lnTo>
                  <a:lnTo>
                    <a:pt x="32" y="127"/>
                  </a:lnTo>
                </a:path>
              </a:pathLst>
            </a:custGeom>
            <a:solidFill>
              <a:srgbClr val="FFFFFF"/>
            </a:solidFill>
            <a:ln w="237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9"/>
            <p:cNvSpPr>
              <a:spLocks noChangeShapeType="1"/>
            </p:cNvSpPr>
            <p:nvPr/>
          </p:nvSpPr>
          <p:spPr bwMode="auto">
            <a:xfrm flipH="1">
              <a:off x="2582" y="2218"/>
              <a:ext cx="144" cy="4"/>
            </a:xfrm>
            <a:prstGeom prst="line">
              <a:avLst/>
            </a:prstGeom>
            <a:noFill/>
            <a:ln w="237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Line 10"/>
            <p:cNvSpPr>
              <a:spLocks noChangeShapeType="1"/>
            </p:cNvSpPr>
            <p:nvPr/>
          </p:nvSpPr>
          <p:spPr bwMode="auto">
            <a:xfrm flipH="1">
              <a:off x="3017" y="2298"/>
              <a:ext cx="282" cy="1"/>
            </a:xfrm>
            <a:prstGeom prst="line">
              <a:avLst/>
            </a:prstGeom>
            <a:noFill/>
            <a:ln w="237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/>
            <p:cNvSpPr>
              <a:spLocks noChangeArrowheads="1"/>
            </p:cNvSpPr>
            <p:nvPr/>
          </p:nvSpPr>
          <p:spPr bwMode="auto">
            <a:xfrm>
              <a:off x="2167" y="1591"/>
              <a:ext cx="1131" cy="555"/>
            </a:xfrm>
            <a:custGeom>
              <a:avLst/>
              <a:gdLst>
                <a:gd name="T0" fmla="*/ 1131 w 1131"/>
                <a:gd name="T1" fmla="*/ 551 h 555"/>
                <a:gd name="T2" fmla="*/ 989 w 1131"/>
                <a:gd name="T3" fmla="*/ 555 h 555"/>
                <a:gd name="T4" fmla="*/ 989 w 1131"/>
                <a:gd name="T5" fmla="*/ 0 h 555"/>
                <a:gd name="T6" fmla="*/ 0 w 1131"/>
                <a:gd name="T7" fmla="*/ 0 h 55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31"/>
                <a:gd name="T13" fmla="*/ 0 h 555"/>
                <a:gd name="T14" fmla="*/ 1131 w 1131"/>
                <a:gd name="T15" fmla="*/ 555 h 55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31" h="555">
                  <a:moveTo>
                    <a:pt x="1131" y="551"/>
                  </a:moveTo>
                  <a:lnTo>
                    <a:pt x="989" y="555"/>
                  </a:lnTo>
                  <a:lnTo>
                    <a:pt x="989" y="0"/>
                  </a:lnTo>
                  <a:lnTo>
                    <a:pt x="0" y="0"/>
                  </a:lnTo>
                </a:path>
              </a:pathLst>
            </a:custGeom>
            <a:noFill/>
            <a:ln w="237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H="1">
              <a:off x="2582" y="2530"/>
              <a:ext cx="677" cy="4"/>
            </a:xfrm>
            <a:prstGeom prst="line">
              <a:avLst/>
            </a:prstGeom>
            <a:noFill/>
            <a:ln w="237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3"/>
            <p:cNvSpPr>
              <a:spLocks noChangeArrowheads="1"/>
            </p:cNvSpPr>
            <p:nvPr/>
          </p:nvSpPr>
          <p:spPr bwMode="auto">
            <a:xfrm>
              <a:off x="3276" y="2490"/>
              <a:ext cx="337" cy="243"/>
            </a:xfrm>
            <a:custGeom>
              <a:avLst/>
              <a:gdLst>
                <a:gd name="T0" fmla="*/ 32 w 337"/>
                <a:gd name="T1" fmla="*/ 123 h 243"/>
                <a:gd name="T2" fmla="*/ 32 w 337"/>
                <a:gd name="T3" fmla="*/ 138 h 243"/>
                <a:gd name="T4" fmla="*/ 32 w 337"/>
                <a:gd name="T5" fmla="*/ 152 h 243"/>
                <a:gd name="T6" fmla="*/ 29 w 337"/>
                <a:gd name="T7" fmla="*/ 163 h 243"/>
                <a:gd name="T8" fmla="*/ 29 w 337"/>
                <a:gd name="T9" fmla="*/ 174 h 243"/>
                <a:gd name="T10" fmla="*/ 25 w 337"/>
                <a:gd name="T11" fmla="*/ 185 h 243"/>
                <a:gd name="T12" fmla="*/ 22 w 337"/>
                <a:gd name="T13" fmla="*/ 196 h 243"/>
                <a:gd name="T14" fmla="*/ 18 w 337"/>
                <a:gd name="T15" fmla="*/ 207 h 243"/>
                <a:gd name="T16" fmla="*/ 14 w 337"/>
                <a:gd name="T17" fmla="*/ 214 h 243"/>
                <a:gd name="T18" fmla="*/ 7 w 337"/>
                <a:gd name="T19" fmla="*/ 229 h 243"/>
                <a:gd name="T20" fmla="*/ 0 w 337"/>
                <a:gd name="T21" fmla="*/ 239 h 243"/>
                <a:gd name="T22" fmla="*/ 3 w 337"/>
                <a:gd name="T23" fmla="*/ 239 h 243"/>
                <a:gd name="T24" fmla="*/ 18 w 337"/>
                <a:gd name="T25" fmla="*/ 243 h 243"/>
                <a:gd name="T26" fmla="*/ 36 w 337"/>
                <a:gd name="T27" fmla="*/ 243 h 243"/>
                <a:gd name="T28" fmla="*/ 61 w 337"/>
                <a:gd name="T29" fmla="*/ 243 h 243"/>
                <a:gd name="T30" fmla="*/ 87 w 337"/>
                <a:gd name="T31" fmla="*/ 243 h 243"/>
                <a:gd name="T32" fmla="*/ 116 w 337"/>
                <a:gd name="T33" fmla="*/ 239 h 243"/>
                <a:gd name="T34" fmla="*/ 145 w 337"/>
                <a:gd name="T35" fmla="*/ 239 h 243"/>
                <a:gd name="T36" fmla="*/ 167 w 337"/>
                <a:gd name="T37" fmla="*/ 239 h 243"/>
                <a:gd name="T38" fmla="*/ 188 w 337"/>
                <a:gd name="T39" fmla="*/ 236 h 243"/>
                <a:gd name="T40" fmla="*/ 203 w 337"/>
                <a:gd name="T41" fmla="*/ 236 h 243"/>
                <a:gd name="T42" fmla="*/ 225 w 337"/>
                <a:gd name="T43" fmla="*/ 229 h 243"/>
                <a:gd name="T44" fmla="*/ 246 w 337"/>
                <a:gd name="T45" fmla="*/ 218 h 243"/>
                <a:gd name="T46" fmla="*/ 264 w 337"/>
                <a:gd name="T47" fmla="*/ 207 h 243"/>
                <a:gd name="T48" fmla="*/ 283 w 337"/>
                <a:gd name="T49" fmla="*/ 192 h 243"/>
                <a:gd name="T50" fmla="*/ 297 w 337"/>
                <a:gd name="T51" fmla="*/ 181 h 243"/>
                <a:gd name="T52" fmla="*/ 308 w 337"/>
                <a:gd name="T53" fmla="*/ 167 h 243"/>
                <a:gd name="T54" fmla="*/ 319 w 337"/>
                <a:gd name="T55" fmla="*/ 152 h 243"/>
                <a:gd name="T56" fmla="*/ 326 w 337"/>
                <a:gd name="T57" fmla="*/ 142 h 243"/>
                <a:gd name="T58" fmla="*/ 333 w 337"/>
                <a:gd name="T59" fmla="*/ 131 h 243"/>
                <a:gd name="T60" fmla="*/ 337 w 337"/>
                <a:gd name="T61" fmla="*/ 120 h 243"/>
                <a:gd name="T62" fmla="*/ 333 w 337"/>
                <a:gd name="T63" fmla="*/ 109 h 243"/>
                <a:gd name="T64" fmla="*/ 326 w 337"/>
                <a:gd name="T65" fmla="*/ 98 h 243"/>
                <a:gd name="T66" fmla="*/ 319 w 337"/>
                <a:gd name="T67" fmla="*/ 87 h 243"/>
                <a:gd name="T68" fmla="*/ 308 w 337"/>
                <a:gd name="T69" fmla="*/ 73 h 243"/>
                <a:gd name="T70" fmla="*/ 297 w 337"/>
                <a:gd name="T71" fmla="*/ 58 h 243"/>
                <a:gd name="T72" fmla="*/ 283 w 337"/>
                <a:gd name="T73" fmla="*/ 47 h 243"/>
                <a:gd name="T74" fmla="*/ 264 w 337"/>
                <a:gd name="T75" fmla="*/ 33 h 243"/>
                <a:gd name="T76" fmla="*/ 246 w 337"/>
                <a:gd name="T77" fmla="*/ 22 h 243"/>
                <a:gd name="T78" fmla="*/ 225 w 337"/>
                <a:gd name="T79" fmla="*/ 15 h 243"/>
                <a:gd name="T80" fmla="*/ 203 w 337"/>
                <a:gd name="T81" fmla="*/ 4 h 243"/>
                <a:gd name="T82" fmla="*/ 188 w 337"/>
                <a:gd name="T83" fmla="*/ 4 h 243"/>
                <a:gd name="T84" fmla="*/ 167 w 337"/>
                <a:gd name="T85" fmla="*/ 0 h 243"/>
                <a:gd name="T86" fmla="*/ 145 w 337"/>
                <a:gd name="T87" fmla="*/ 0 h 243"/>
                <a:gd name="T88" fmla="*/ 116 w 337"/>
                <a:gd name="T89" fmla="*/ 0 h 243"/>
                <a:gd name="T90" fmla="*/ 87 w 337"/>
                <a:gd name="T91" fmla="*/ 0 h 243"/>
                <a:gd name="T92" fmla="*/ 61 w 337"/>
                <a:gd name="T93" fmla="*/ 0 h 243"/>
                <a:gd name="T94" fmla="*/ 36 w 337"/>
                <a:gd name="T95" fmla="*/ 0 h 243"/>
                <a:gd name="T96" fmla="*/ 18 w 337"/>
                <a:gd name="T97" fmla="*/ 0 h 243"/>
                <a:gd name="T98" fmla="*/ 3 w 337"/>
                <a:gd name="T99" fmla="*/ 0 h 243"/>
                <a:gd name="T100" fmla="*/ 0 w 337"/>
                <a:gd name="T101" fmla="*/ 0 h 243"/>
                <a:gd name="T102" fmla="*/ 7 w 337"/>
                <a:gd name="T103" fmla="*/ 11 h 243"/>
                <a:gd name="T104" fmla="*/ 14 w 337"/>
                <a:gd name="T105" fmla="*/ 26 h 243"/>
                <a:gd name="T106" fmla="*/ 18 w 337"/>
                <a:gd name="T107" fmla="*/ 36 h 243"/>
                <a:gd name="T108" fmla="*/ 22 w 337"/>
                <a:gd name="T109" fmla="*/ 47 h 243"/>
                <a:gd name="T110" fmla="*/ 25 w 337"/>
                <a:gd name="T111" fmla="*/ 58 h 243"/>
                <a:gd name="T112" fmla="*/ 29 w 337"/>
                <a:gd name="T113" fmla="*/ 69 h 243"/>
                <a:gd name="T114" fmla="*/ 29 w 337"/>
                <a:gd name="T115" fmla="*/ 80 h 243"/>
                <a:gd name="T116" fmla="*/ 32 w 337"/>
                <a:gd name="T117" fmla="*/ 94 h 243"/>
                <a:gd name="T118" fmla="*/ 32 w 337"/>
                <a:gd name="T119" fmla="*/ 109 h 243"/>
                <a:gd name="T120" fmla="*/ 32 w 337"/>
                <a:gd name="T121" fmla="*/ 123 h 243"/>
                <a:gd name="T122" fmla="*/ 32 w 337"/>
                <a:gd name="T123" fmla="*/ 123 h 243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37"/>
                <a:gd name="T187" fmla="*/ 0 h 243"/>
                <a:gd name="T188" fmla="*/ 337 w 337"/>
                <a:gd name="T189" fmla="*/ 243 h 243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37" h="243">
                  <a:moveTo>
                    <a:pt x="32" y="123"/>
                  </a:moveTo>
                  <a:lnTo>
                    <a:pt x="32" y="138"/>
                  </a:lnTo>
                  <a:lnTo>
                    <a:pt x="32" y="152"/>
                  </a:lnTo>
                  <a:lnTo>
                    <a:pt x="29" y="163"/>
                  </a:lnTo>
                  <a:lnTo>
                    <a:pt x="29" y="174"/>
                  </a:lnTo>
                  <a:lnTo>
                    <a:pt x="25" y="185"/>
                  </a:lnTo>
                  <a:lnTo>
                    <a:pt x="22" y="196"/>
                  </a:lnTo>
                  <a:lnTo>
                    <a:pt x="18" y="207"/>
                  </a:lnTo>
                  <a:lnTo>
                    <a:pt x="14" y="214"/>
                  </a:lnTo>
                  <a:lnTo>
                    <a:pt x="7" y="229"/>
                  </a:lnTo>
                  <a:lnTo>
                    <a:pt x="0" y="239"/>
                  </a:lnTo>
                  <a:lnTo>
                    <a:pt x="3" y="239"/>
                  </a:lnTo>
                  <a:lnTo>
                    <a:pt x="18" y="243"/>
                  </a:lnTo>
                  <a:lnTo>
                    <a:pt x="36" y="243"/>
                  </a:lnTo>
                  <a:lnTo>
                    <a:pt x="61" y="243"/>
                  </a:lnTo>
                  <a:lnTo>
                    <a:pt x="87" y="243"/>
                  </a:lnTo>
                  <a:lnTo>
                    <a:pt x="116" y="239"/>
                  </a:lnTo>
                  <a:lnTo>
                    <a:pt x="145" y="239"/>
                  </a:lnTo>
                  <a:lnTo>
                    <a:pt x="167" y="239"/>
                  </a:lnTo>
                  <a:lnTo>
                    <a:pt x="188" y="236"/>
                  </a:lnTo>
                  <a:lnTo>
                    <a:pt x="203" y="236"/>
                  </a:lnTo>
                  <a:lnTo>
                    <a:pt x="225" y="229"/>
                  </a:lnTo>
                  <a:lnTo>
                    <a:pt x="246" y="218"/>
                  </a:lnTo>
                  <a:lnTo>
                    <a:pt x="264" y="207"/>
                  </a:lnTo>
                  <a:lnTo>
                    <a:pt x="283" y="192"/>
                  </a:lnTo>
                  <a:lnTo>
                    <a:pt x="297" y="181"/>
                  </a:lnTo>
                  <a:lnTo>
                    <a:pt x="308" y="167"/>
                  </a:lnTo>
                  <a:lnTo>
                    <a:pt x="319" y="152"/>
                  </a:lnTo>
                  <a:lnTo>
                    <a:pt x="326" y="142"/>
                  </a:lnTo>
                  <a:lnTo>
                    <a:pt x="333" y="131"/>
                  </a:lnTo>
                  <a:lnTo>
                    <a:pt x="337" y="120"/>
                  </a:lnTo>
                  <a:lnTo>
                    <a:pt x="333" y="109"/>
                  </a:lnTo>
                  <a:lnTo>
                    <a:pt x="326" y="98"/>
                  </a:lnTo>
                  <a:lnTo>
                    <a:pt x="319" y="87"/>
                  </a:lnTo>
                  <a:lnTo>
                    <a:pt x="308" y="73"/>
                  </a:lnTo>
                  <a:lnTo>
                    <a:pt x="297" y="58"/>
                  </a:lnTo>
                  <a:lnTo>
                    <a:pt x="283" y="47"/>
                  </a:lnTo>
                  <a:lnTo>
                    <a:pt x="264" y="33"/>
                  </a:lnTo>
                  <a:lnTo>
                    <a:pt x="246" y="22"/>
                  </a:lnTo>
                  <a:lnTo>
                    <a:pt x="225" y="15"/>
                  </a:lnTo>
                  <a:lnTo>
                    <a:pt x="203" y="4"/>
                  </a:lnTo>
                  <a:lnTo>
                    <a:pt x="188" y="4"/>
                  </a:lnTo>
                  <a:lnTo>
                    <a:pt x="167" y="0"/>
                  </a:lnTo>
                  <a:lnTo>
                    <a:pt x="145" y="0"/>
                  </a:lnTo>
                  <a:lnTo>
                    <a:pt x="116" y="0"/>
                  </a:lnTo>
                  <a:lnTo>
                    <a:pt x="87" y="0"/>
                  </a:lnTo>
                  <a:lnTo>
                    <a:pt x="61" y="0"/>
                  </a:lnTo>
                  <a:lnTo>
                    <a:pt x="36" y="0"/>
                  </a:lnTo>
                  <a:lnTo>
                    <a:pt x="18" y="0"/>
                  </a:lnTo>
                  <a:lnTo>
                    <a:pt x="3" y="0"/>
                  </a:lnTo>
                  <a:lnTo>
                    <a:pt x="0" y="0"/>
                  </a:lnTo>
                  <a:lnTo>
                    <a:pt x="7" y="11"/>
                  </a:lnTo>
                  <a:lnTo>
                    <a:pt x="14" y="26"/>
                  </a:lnTo>
                  <a:lnTo>
                    <a:pt x="18" y="36"/>
                  </a:lnTo>
                  <a:lnTo>
                    <a:pt x="22" y="47"/>
                  </a:lnTo>
                  <a:lnTo>
                    <a:pt x="25" y="58"/>
                  </a:lnTo>
                  <a:lnTo>
                    <a:pt x="29" y="69"/>
                  </a:lnTo>
                  <a:lnTo>
                    <a:pt x="29" y="80"/>
                  </a:lnTo>
                  <a:lnTo>
                    <a:pt x="32" y="94"/>
                  </a:lnTo>
                  <a:lnTo>
                    <a:pt x="32" y="109"/>
                  </a:lnTo>
                  <a:lnTo>
                    <a:pt x="32" y="123"/>
                  </a:lnTo>
                </a:path>
              </a:pathLst>
            </a:custGeom>
            <a:solidFill>
              <a:srgbClr val="FFFFFF"/>
            </a:solidFill>
            <a:ln w="237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H="1">
              <a:off x="3612" y="2610"/>
              <a:ext cx="778" cy="1"/>
            </a:xfrm>
            <a:prstGeom prst="line">
              <a:avLst/>
            </a:prstGeom>
            <a:noFill/>
            <a:ln w="237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/>
            <p:cNvSpPr>
              <a:spLocks noChangeArrowheads="1"/>
            </p:cNvSpPr>
            <p:nvPr/>
          </p:nvSpPr>
          <p:spPr bwMode="auto">
            <a:xfrm>
              <a:off x="2725" y="2878"/>
              <a:ext cx="293" cy="243"/>
            </a:xfrm>
            <a:custGeom>
              <a:avLst/>
              <a:gdLst>
                <a:gd name="T0" fmla="*/ 174 w 293"/>
                <a:gd name="T1" fmla="*/ 239 h 243"/>
                <a:gd name="T2" fmla="*/ 196 w 293"/>
                <a:gd name="T3" fmla="*/ 239 h 243"/>
                <a:gd name="T4" fmla="*/ 214 w 293"/>
                <a:gd name="T5" fmla="*/ 236 h 243"/>
                <a:gd name="T6" fmla="*/ 228 w 293"/>
                <a:gd name="T7" fmla="*/ 228 h 243"/>
                <a:gd name="T8" fmla="*/ 246 w 293"/>
                <a:gd name="T9" fmla="*/ 218 h 243"/>
                <a:gd name="T10" fmla="*/ 257 w 293"/>
                <a:gd name="T11" fmla="*/ 207 h 243"/>
                <a:gd name="T12" fmla="*/ 272 w 293"/>
                <a:gd name="T13" fmla="*/ 192 h 243"/>
                <a:gd name="T14" fmla="*/ 279 w 293"/>
                <a:gd name="T15" fmla="*/ 178 h 243"/>
                <a:gd name="T16" fmla="*/ 286 w 293"/>
                <a:gd name="T17" fmla="*/ 160 h 243"/>
                <a:gd name="T18" fmla="*/ 293 w 293"/>
                <a:gd name="T19" fmla="*/ 141 h 243"/>
                <a:gd name="T20" fmla="*/ 293 w 293"/>
                <a:gd name="T21" fmla="*/ 120 h 243"/>
                <a:gd name="T22" fmla="*/ 293 w 293"/>
                <a:gd name="T23" fmla="*/ 102 h 243"/>
                <a:gd name="T24" fmla="*/ 286 w 293"/>
                <a:gd name="T25" fmla="*/ 83 h 243"/>
                <a:gd name="T26" fmla="*/ 279 w 293"/>
                <a:gd name="T27" fmla="*/ 65 h 243"/>
                <a:gd name="T28" fmla="*/ 272 w 293"/>
                <a:gd name="T29" fmla="*/ 47 h 243"/>
                <a:gd name="T30" fmla="*/ 257 w 293"/>
                <a:gd name="T31" fmla="*/ 33 h 243"/>
                <a:gd name="T32" fmla="*/ 246 w 293"/>
                <a:gd name="T33" fmla="*/ 22 h 243"/>
                <a:gd name="T34" fmla="*/ 228 w 293"/>
                <a:gd name="T35" fmla="*/ 11 h 243"/>
                <a:gd name="T36" fmla="*/ 214 w 293"/>
                <a:gd name="T37" fmla="*/ 4 h 243"/>
                <a:gd name="T38" fmla="*/ 196 w 293"/>
                <a:gd name="T39" fmla="*/ 0 h 243"/>
                <a:gd name="T40" fmla="*/ 174 w 293"/>
                <a:gd name="T41" fmla="*/ 0 h 243"/>
                <a:gd name="T42" fmla="*/ 0 w 293"/>
                <a:gd name="T43" fmla="*/ 0 h 243"/>
                <a:gd name="T44" fmla="*/ 0 w 293"/>
                <a:gd name="T45" fmla="*/ 243 h 243"/>
                <a:gd name="T46" fmla="*/ 174 w 293"/>
                <a:gd name="T47" fmla="*/ 243 h 243"/>
                <a:gd name="T48" fmla="*/ 174 w 293"/>
                <a:gd name="T49" fmla="*/ 243 h 24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293"/>
                <a:gd name="T76" fmla="*/ 0 h 243"/>
                <a:gd name="T77" fmla="*/ 293 w 293"/>
                <a:gd name="T78" fmla="*/ 243 h 243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293" h="243">
                  <a:moveTo>
                    <a:pt x="174" y="239"/>
                  </a:moveTo>
                  <a:lnTo>
                    <a:pt x="196" y="239"/>
                  </a:lnTo>
                  <a:lnTo>
                    <a:pt x="214" y="236"/>
                  </a:lnTo>
                  <a:lnTo>
                    <a:pt x="228" y="228"/>
                  </a:lnTo>
                  <a:lnTo>
                    <a:pt x="246" y="218"/>
                  </a:lnTo>
                  <a:lnTo>
                    <a:pt x="257" y="207"/>
                  </a:lnTo>
                  <a:lnTo>
                    <a:pt x="272" y="192"/>
                  </a:lnTo>
                  <a:lnTo>
                    <a:pt x="279" y="178"/>
                  </a:lnTo>
                  <a:lnTo>
                    <a:pt x="286" y="160"/>
                  </a:lnTo>
                  <a:lnTo>
                    <a:pt x="293" y="141"/>
                  </a:lnTo>
                  <a:lnTo>
                    <a:pt x="293" y="120"/>
                  </a:lnTo>
                  <a:lnTo>
                    <a:pt x="293" y="102"/>
                  </a:lnTo>
                  <a:lnTo>
                    <a:pt x="286" y="83"/>
                  </a:lnTo>
                  <a:lnTo>
                    <a:pt x="279" y="65"/>
                  </a:lnTo>
                  <a:lnTo>
                    <a:pt x="272" y="47"/>
                  </a:lnTo>
                  <a:lnTo>
                    <a:pt x="257" y="33"/>
                  </a:lnTo>
                  <a:lnTo>
                    <a:pt x="246" y="22"/>
                  </a:lnTo>
                  <a:lnTo>
                    <a:pt x="228" y="11"/>
                  </a:lnTo>
                  <a:lnTo>
                    <a:pt x="214" y="4"/>
                  </a:lnTo>
                  <a:lnTo>
                    <a:pt x="196" y="0"/>
                  </a:lnTo>
                  <a:lnTo>
                    <a:pt x="174" y="0"/>
                  </a:lnTo>
                  <a:lnTo>
                    <a:pt x="0" y="0"/>
                  </a:lnTo>
                  <a:lnTo>
                    <a:pt x="0" y="243"/>
                  </a:lnTo>
                  <a:lnTo>
                    <a:pt x="174" y="243"/>
                  </a:lnTo>
                </a:path>
              </a:pathLst>
            </a:custGeom>
            <a:solidFill>
              <a:srgbClr val="FFFFFF"/>
            </a:solidFill>
            <a:ln w="237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2167" y="1384"/>
              <a:ext cx="558" cy="1538"/>
            </a:xfrm>
            <a:custGeom>
              <a:avLst/>
              <a:gdLst>
                <a:gd name="T0" fmla="*/ 558 w 558"/>
                <a:gd name="T1" fmla="*/ 1534 h 1538"/>
                <a:gd name="T2" fmla="*/ 416 w 558"/>
                <a:gd name="T3" fmla="*/ 1538 h 1538"/>
                <a:gd name="T4" fmla="*/ 416 w 558"/>
                <a:gd name="T5" fmla="*/ 417 h 1538"/>
                <a:gd name="T6" fmla="*/ 0 w 558"/>
                <a:gd name="T7" fmla="*/ 417 h 1538"/>
                <a:gd name="T8" fmla="*/ 0 w 558"/>
                <a:gd name="T9" fmla="*/ 0 h 15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58"/>
                <a:gd name="T16" fmla="*/ 0 h 1538"/>
                <a:gd name="T17" fmla="*/ 558 w 558"/>
                <a:gd name="T18" fmla="*/ 1538 h 15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58" h="1538">
                  <a:moveTo>
                    <a:pt x="558" y="1534"/>
                  </a:moveTo>
                  <a:lnTo>
                    <a:pt x="416" y="1538"/>
                  </a:lnTo>
                  <a:lnTo>
                    <a:pt x="416" y="417"/>
                  </a:lnTo>
                  <a:lnTo>
                    <a:pt x="0" y="417"/>
                  </a:lnTo>
                  <a:lnTo>
                    <a:pt x="0" y="0"/>
                  </a:lnTo>
                </a:path>
              </a:pathLst>
            </a:custGeom>
            <a:noFill/>
            <a:ln w="237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 flipV="1">
              <a:off x="2159" y="1141"/>
              <a:ext cx="4" cy="208"/>
            </a:xfrm>
            <a:prstGeom prst="line">
              <a:avLst/>
            </a:prstGeom>
            <a:noFill/>
            <a:ln w="39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 flipH="1">
              <a:off x="2445" y="3074"/>
              <a:ext cx="281" cy="1"/>
            </a:xfrm>
            <a:prstGeom prst="line">
              <a:avLst/>
            </a:prstGeom>
            <a:noFill/>
            <a:ln w="237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9"/>
            <p:cNvSpPr>
              <a:spLocks noChangeArrowheads="1"/>
            </p:cNvSpPr>
            <p:nvPr/>
          </p:nvSpPr>
          <p:spPr bwMode="auto">
            <a:xfrm>
              <a:off x="2105" y="2954"/>
              <a:ext cx="341" cy="243"/>
            </a:xfrm>
            <a:custGeom>
              <a:avLst/>
              <a:gdLst>
                <a:gd name="T0" fmla="*/ 33 w 341"/>
                <a:gd name="T1" fmla="*/ 123 h 243"/>
                <a:gd name="T2" fmla="*/ 33 w 341"/>
                <a:gd name="T3" fmla="*/ 142 h 243"/>
                <a:gd name="T4" fmla="*/ 33 w 341"/>
                <a:gd name="T5" fmla="*/ 152 h 243"/>
                <a:gd name="T6" fmla="*/ 33 w 341"/>
                <a:gd name="T7" fmla="*/ 167 h 243"/>
                <a:gd name="T8" fmla="*/ 29 w 341"/>
                <a:gd name="T9" fmla="*/ 178 h 243"/>
                <a:gd name="T10" fmla="*/ 29 w 341"/>
                <a:gd name="T11" fmla="*/ 185 h 243"/>
                <a:gd name="T12" fmla="*/ 25 w 341"/>
                <a:gd name="T13" fmla="*/ 196 h 243"/>
                <a:gd name="T14" fmla="*/ 22 w 341"/>
                <a:gd name="T15" fmla="*/ 207 h 243"/>
                <a:gd name="T16" fmla="*/ 14 w 341"/>
                <a:gd name="T17" fmla="*/ 218 h 243"/>
                <a:gd name="T18" fmla="*/ 11 w 341"/>
                <a:gd name="T19" fmla="*/ 229 h 243"/>
                <a:gd name="T20" fmla="*/ 0 w 341"/>
                <a:gd name="T21" fmla="*/ 243 h 243"/>
                <a:gd name="T22" fmla="*/ 7 w 341"/>
                <a:gd name="T23" fmla="*/ 243 h 243"/>
                <a:gd name="T24" fmla="*/ 18 w 341"/>
                <a:gd name="T25" fmla="*/ 243 h 243"/>
                <a:gd name="T26" fmla="*/ 40 w 341"/>
                <a:gd name="T27" fmla="*/ 243 h 243"/>
                <a:gd name="T28" fmla="*/ 62 w 341"/>
                <a:gd name="T29" fmla="*/ 243 h 243"/>
                <a:gd name="T30" fmla="*/ 91 w 341"/>
                <a:gd name="T31" fmla="*/ 243 h 243"/>
                <a:gd name="T32" fmla="*/ 116 w 341"/>
                <a:gd name="T33" fmla="*/ 243 h 243"/>
                <a:gd name="T34" fmla="*/ 145 w 341"/>
                <a:gd name="T35" fmla="*/ 239 h 243"/>
                <a:gd name="T36" fmla="*/ 170 w 341"/>
                <a:gd name="T37" fmla="*/ 239 h 243"/>
                <a:gd name="T38" fmla="*/ 188 w 341"/>
                <a:gd name="T39" fmla="*/ 239 h 243"/>
                <a:gd name="T40" fmla="*/ 203 w 341"/>
                <a:gd name="T41" fmla="*/ 236 h 243"/>
                <a:gd name="T42" fmla="*/ 228 w 341"/>
                <a:gd name="T43" fmla="*/ 229 h 243"/>
                <a:gd name="T44" fmla="*/ 250 w 341"/>
                <a:gd name="T45" fmla="*/ 218 h 243"/>
                <a:gd name="T46" fmla="*/ 268 w 341"/>
                <a:gd name="T47" fmla="*/ 207 h 243"/>
                <a:gd name="T48" fmla="*/ 283 w 341"/>
                <a:gd name="T49" fmla="*/ 196 h 243"/>
                <a:gd name="T50" fmla="*/ 297 w 341"/>
                <a:gd name="T51" fmla="*/ 181 h 243"/>
                <a:gd name="T52" fmla="*/ 312 w 341"/>
                <a:gd name="T53" fmla="*/ 167 h 243"/>
                <a:gd name="T54" fmla="*/ 323 w 341"/>
                <a:gd name="T55" fmla="*/ 156 h 243"/>
                <a:gd name="T56" fmla="*/ 330 w 341"/>
                <a:gd name="T57" fmla="*/ 142 h 243"/>
                <a:gd name="T58" fmla="*/ 337 w 341"/>
                <a:gd name="T59" fmla="*/ 131 h 243"/>
                <a:gd name="T60" fmla="*/ 341 w 341"/>
                <a:gd name="T61" fmla="*/ 120 h 243"/>
                <a:gd name="T62" fmla="*/ 337 w 341"/>
                <a:gd name="T63" fmla="*/ 113 h 243"/>
                <a:gd name="T64" fmla="*/ 330 w 341"/>
                <a:gd name="T65" fmla="*/ 98 h 243"/>
                <a:gd name="T66" fmla="*/ 323 w 341"/>
                <a:gd name="T67" fmla="*/ 87 h 243"/>
                <a:gd name="T68" fmla="*/ 312 w 341"/>
                <a:gd name="T69" fmla="*/ 73 h 243"/>
                <a:gd name="T70" fmla="*/ 297 w 341"/>
                <a:gd name="T71" fmla="*/ 62 h 243"/>
                <a:gd name="T72" fmla="*/ 283 w 341"/>
                <a:gd name="T73" fmla="*/ 47 h 243"/>
                <a:gd name="T74" fmla="*/ 268 w 341"/>
                <a:gd name="T75" fmla="*/ 36 h 243"/>
                <a:gd name="T76" fmla="*/ 250 w 341"/>
                <a:gd name="T77" fmla="*/ 26 h 243"/>
                <a:gd name="T78" fmla="*/ 228 w 341"/>
                <a:gd name="T79" fmla="*/ 15 h 243"/>
                <a:gd name="T80" fmla="*/ 203 w 341"/>
                <a:gd name="T81" fmla="*/ 7 h 243"/>
                <a:gd name="T82" fmla="*/ 188 w 341"/>
                <a:gd name="T83" fmla="*/ 4 h 243"/>
                <a:gd name="T84" fmla="*/ 170 w 341"/>
                <a:gd name="T85" fmla="*/ 0 h 243"/>
                <a:gd name="T86" fmla="*/ 145 w 341"/>
                <a:gd name="T87" fmla="*/ 0 h 243"/>
                <a:gd name="T88" fmla="*/ 116 w 341"/>
                <a:gd name="T89" fmla="*/ 0 h 243"/>
                <a:gd name="T90" fmla="*/ 91 w 341"/>
                <a:gd name="T91" fmla="*/ 0 h 243"/>
                <a:gd name="T92" fmla="*/ 62 w 341"/>
                <a:gd name="T93" fmla="*/ 0 h 243"/>
                <a:gd name="T94" fmla="*/ 40 w 341"/>
                <a:gd name="T95" fmla="*/ 0 h 243"/>
                <a:gd name="T96" fmla="*/ 18 w 341"/>
                <a:gd name="T97" fmla="*/ 0 h 243"/>
                <a:gd name="T98" fmla="*/ 7 w 341"/>
                <a:gd name="T99" fmla="*/ 0 h 243"/>
                <a:gd name="T100" fmla="*/ 0 w 341"/>
                <a:gd name="T101" fmla="*/ 0 h 243"/>
                <a:gd name="T102" fmla="*/ 11 w 341"/>
                <a:gd name="T103" fmla="*/ 15 h 243"/>
                <a:gd name="T104" fmla="*/ 14 w 341"/>
                <a:gd name="T105" fmla="*/ 26 h 243"/>
                <a:gd name="T106" fmla="*/ 22 w 341"/>
                <a:gd name="T107" fmla="*/ 36 h 243"/>
                <a:gd name="T108" fmla="*/ 25 w 341"/>
                <a:gd name="T109" fmla="*/ 47 h 243"/>
                <a:gd name="T110" fmla="*/ 29 w 341"/>
                <a:gd name="T111" fmla="*/ 58 h 243"/>
                <a:gd name="T112" fmla="*/ 29 w 341"/>
                <a:gd name="T113" fmla="*/ 69 h 243"/>
                <a:gd name="T114" fmla="*/ 33 w 341"/>
                <a:gd name="T115" fmla="*/ 80 h 243"/>
                <a:gd name="T116" fmla="*/ 33 w 341"/>
                <a:gd name="T117" fmla="*/ 94 h 243"/>
                <a:gd name="T118" fmla="*/ 33 w 341"/>
                <a:gd name="T119" fmla="*/ 109 h 243"/>
                <a:gd name="T120" fmla="*/ 33 w 341"/>
                <a:gd name="T121" fmla="*/ 123 h 243"/>
                <a:gd name="T122" fmla="*/ 33 w 341"/>
                <a:gd name="T123" fmla="*/ 123 h 243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341"/>
                <a:gd name="T187" fmla="*/ 0 h 243"/>
                <a:gd name="T188" fmla="*/ 341 w 341"/>
                <a:gd name="T189" fmla="*/ 243 h 243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341" h="243">
                  <a:moveTo>
                    <a:pt x="33" y="123"/>
                  </a:moveTo>
                  <a:lnTo>
                    <a:pt x="33" y="142"/>
                  </a:lnTo>
                  <a:lnTo>
                    <a:pt x="33" y="152"/>
                  </a:lnTo>
                  <a:lnTo>
                    <a:pt x="33" y="167"/>
                  </a:lnTo>
                  <a:lnTo>
                    <a:pt x="29" y="178"/>
                  </a:lnTo>
                  <a:lnTo>
                    <a:pt x="29" y="185"/>
                  </a:lnTo>
                  <a:lnTo>
                    <a:pt x="25" y="196"/>
                  </a:lnTo>
                  <a:lnTo>
                    <a:pt x="22" y="207"/>
                  </a:lnTo>
                  <a:lnTo>
                    <a:pt x="14" y="218"/>
                  </a:lnTo>
                  <a:lnTo>
                    <a:pt x="11" y="229"/>
                  </a:lnTo>
                  <a:lnTo>
                    <a:pt x="0" y="243"/>
                  </a:lnTo>
                  <a:lnTo>
                    <a:pt x="7" y="243"/>
                  </a:lnTo>
                  <a:lnTo>
                    <a:pt x="18" y="243"/>
                  </a:lnTo>
                  <a:lnTo>
                    <a:pt x="40" y="243"/>
                  </a:lnTo>
                  <a:lnTo>
                    <a:pt x="62" y="243"/>
                  </a:lnTo>
                  <a:lnTo>
                    <a:pt x="91" y="243"/>
                  </a:lnTo>
                  <a:lnTo>
                    <a:pt x="116" y="243"/>
                  </a:lnTo>
                  <a:lnTo>
                    <a:pt x="145" y="239"/>
                  </a:lnTo>
                  <a:lnTo>
                    <a:pt x="170" y="239"/>
                  </a:lnTo>
                  <a:lnTo>
                    <a:pt x="188" y="239"/>
                  </a:lnTo>
                  <a:lnTo>
                    <a:pt x="203" y="236"/>
                  </a:lnTo>
                  <a:lnTo>
                    <a:pt x="228" y="229"/>
                  </a:lnTo>
                  <a:lnTo>
                    <a:pt x="250" y="218"/>
                  </a:lnTo>
                  <a:lnTo>
                    <a:pt x="268" y="207"/>
                  </a:lnTo>
                  <a:lnTo>
                    <a:pt x="283" y="196"/>
                  </a:lnTo>
                  <a:lnTo>
                    <a:pt x="297" y="181"/>
                  </a:lnTo>
                  <a:lnTo>
                    <a:pt x="312" y="167"/>
                  </a:lnTo>
                  <a:lnTo>
                    <a:pt x="323" y="156"/>
                  </a:lnTo>
                  <a:lnTo>
                    <a:pt x="330" y="142"/>
                  </a:lnTo>
                  <a:lnTo>
                    <a:pt x="337" y="131"/>
                  </a:lnTo>
                  <a:lnTo>
                    <a:pt x="341" y="120"/>
                  </a:lnTo>
                  <a:lnTo>
                    <a:pt x="337" y="113"/>
                  </a:lnTo>
                  <a:lnTo>
                    <a:pt x="330" y="98"/>
                  </a:lnTo>
                  <a:lnTo>
                    <a:pt x="323" y="87"/>
                  </a:lnTo>
                  <a:lnTo>
                    <a:pt x="312" y="73"/>
                  </a:lnTo>
                  <a:lnTo>
                    <a:pt x="297" y="62"/>
                  </a:lnTo>
                  <a:lnTo>
                    <a:pt x="283" y="47"/>
                  </a:lnTo>
                  <a:lnTo>
                    <a:pt x="268" y="36"/>
                  </a:lnTo>
                  <a:lnTo>
                    <a:pt x="250" y="26"/>
                  </a:lnTo>
                  <a:lnTo>
                    <a:pt x="228" y="15"/>
                  </a:lnTo>
                  <a:lnTo>
                    <a:pt x="203" y="7"/>
                  </a:lnTo>
                  <a:lnTo>
                    <a:pt x="188" y="4"/>
                  </a:lnTo>
                  <a:lnTo>
                    <a:pt x="170" y="0"/>
                  </a:lnTo>
                  <a:lnTo>
                    <a:pt x="145" y="0"/>
                  </a:lnTo>
                  <a:lnTo>
                    <a:pt x="116" y="0"/>
                  </a:lnTo>
                  <a:lnTo>
                    <a:pt x="91" y="0"/>
                  </a:lnTo>
                  <a:lnTo>
                    <a:pt x="62" y="0"/>
                  </a:lnTo>
                  <a:lnTo>
                    <a:pt x="40" y="0"/>
                  </a:lnTo>
                  <a:lnTo>
                    <a:pt x="18" y="0"/>
                  </a:lnTo>
                  <a:lnTo>
                    <a:pt x="7" y="0"/>
                  </a:lnTo>
                  <a:lnTo>
                    <a:pt x="0" y="0"/>
                  </a:lnTo>
                  <a:lnTo>
                    <a:pt x="11" y="15"/>
                  </a:lnTo>
                  <a:lnTo>
                    <a:pt x="14" y="26"/>
                  </a:lnTo>
                  <a:lnTo>
                    <a:pt x="22" y="36"/>
                  </a:lnTo>
                  <a:lnTo>
                    <a:pt x="25" y="47"/>
                  </a:lnTo>
                  <a:lnTo>
                    <a:pt x="29" y="58"/>
                  </a:lnTo>
                  <a:lnTo>
                    <a:pt x="29" y="69"/>
                  </a:lnTo>
                  <a:lnTo>
                    <a:pt x="33" y="80"/>
                  </a:lnTo>
                  <a:lnTo>
                    <a:pt x="33" y="94"/>
                  </a:lnTo>
                  <a:lnTo>
                    <a:pt x="33" y="109"/>
                  </a:lnTo>
                  <a:lnTo>
                    <a:pt x="33" y="123"/>
                  </a:lnTo>
                </a:path>
              </a:pathLst>
            </a:custGeom>
            <a:solidFill>
              <a:srgbClr val="FFFFFF"/>
            </a:solidFill>
            <a:ln w="237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Freeform 20"/>
            <p:cNvSpPr>
              <a:spLocks noChangeArrowheads="1"/>
            </p:cNvSpPr>
            <p:nvPr/>
          </p:nvSpPr>
          <p:spPr bwMode="auto">
            <a:xfrm>
              <a:off x="1637" y="2305"/>
              <a:ext cx="493" cy="849"/>
            </a:xfrm>
            <a:custGeom>
              <a:avLst/>
              <a:gdLst>
                <a:gd name="T0" fmla="*/ 490 w 493"/>
                <a:gd name="T1" fmla="*/ 693 h 849"/>
                <a:gd name="T2" fmla="*/ 352 w 493"/>
                <a:gd name="T3" fmla="*/ 693 h 849"/>
                <a:gd name="T4" fmla="*/ 352 w 493"/>
                <a:gd name="T5" fmla="*/ 0 h 849"/>
                <a:gd name="T6" fmla="*/ 0 w 493"/>
                <a:gd name="T7" fmla="*/ 0 h 849"/>
                <a:gd name="T8" fmla="*/ 0 w 493"/>
                <a:gd name="T9" fmla="*/ 849 h 849"/>
                <a:gd name="T10" fmla="*/ 493 w 493"/>
                <a:gd name="T11" fmla="*/ 849 h 84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93"/>
                <a:gd name="T19" fmla="*/ 0 h 849"/>
                <a:gd name="T20" fmla="*/ 493 w 493"/>
                <a:gd name="T21" fmla="*/ 849 h 84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93" h="849">
                  <a:moveTo>
                    <a:pt x="490" y="693"/>
                  </a:moveTo>
                  <a:lnTo>
                    <a:pt x="352" y="693"/>
                  </a:lnTo>
                  <a:lnTo>
                    <a:pt x="352" y="0"/>
                  </a:lnTo>
                  <a:lnTo>
                    <a:pt x="0" y="0"/>
                  </a:lnTo>
                  <a:lnTo>
                    <a:pt x="0" y="849"/>
                  </a:lnTo>
                  <a:lnTo>
                    <a:pt x="493" y="849"/>
                  </a:lnTo>
                </a:path>
              </a:pathLst>
            </a:custGeom>
            <a:noFill/>
            <a:ln w="237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Freeform 21"/>
            <p:cNvSpPr>
              <a:spLocks noChangeArrowheads="1"/>
            </p:cNvSpPr>
            <p:nvPr/>
          </p:nvSpPr>
          <p:spPr bwMode="auto">
            <a:xfrm>
              <a:off x="3240" y="2512"/>
              <a:ext cx="43" cy="43"/>
            </a:xfrm>
            <a:custGeom>
              <a:avLst/>
              <a:gdLst>
                <a:gd name="T0" fmla="*/ 21 w 43"/>
                <a:gd name="T1" fmla="*/ 40 h 43"/>
                <a:gd name="T2" fmla="*/ 25 w 43"/>
                <a:gd name="T3" fmla="*/ 43 h 43"/>
                <a:gd name="T4" fmla="*/ 29 w 43"/>
                <a:gd name="T5" fmla="*/ 40 h 43"/>
                <a:gd name="T6" fmla="*/ 32 w 43"/>
                <a:gd name="T7" fmla="*/ 40 h 43"/>
                <a:gd name="T8" fmla="*/ 36 w 43"/>
                <a:gd name="T9" fmla="*/ 40 h 43"/>
                <a:gd name="T10" fmla="*/ 39 w 43"/>
                <a:gd name="T11" fmla="*/ 36 h 43"/>
                <a:gd name="T12" fmla="*/ 39 w 43"/>
                <a:gd name="T13" fmla="*/ 33 h 43"/>
                <a:gd name="T14" fmla="*/ 43 w 43"/>
                <a:gd name="T15" fmla="*/ 29 h 43"/>
                <a:gd name="T16" fmla="*/ 43 w 43"/>
                <a:gd name="T17" fmla="*/ 29 h 43"/>
                <a:gd name="T18" fmla="*/ 43 w 43"/>
                <a:gd name="T19" fmla="*/ 25 h 43"/>
                <a:gd name="T20" fmla="*/ 43 w 43"/>
                <a:gd name="T21" fmla="*/ 22 h 43"/>
                <a:gd name="T22" fmla="*/ 43 w 43"/>
                <a:gd name="T23" fmla="*/ 18 h 43"/>
                <a:gd name="T24" fmla="*/ 43 w 43"/>
                <a:gd name="T25" fmla="*/ 14 h 43"/>
                <a:gd name="T26" fmla="*/ 43 w 43"/>
                <a:gd name="T27" fmla="*/ 11 h 43"/>
                <a:gd name="T28" fmla="*/ 39 w 43"/>
                <a:gd name="T29" fmla="*/ 7 h 43"/>
                <a:gd name="T30" fmla="*/ 39 w 43"/>
                <a:gd name="T31" fmla="*/ 4 h 43"/>
                <a:gd name="T32" fmla="*/ 36 w 43"/>
                <a:gd name="T33" fmla="*/ 4 h 43"/>
                <a:gd name="T34" fmla="*/ 32 w 43"/>
                <a:gd name="T35" fmla="*/ 0 h 43"/>
                <a:gd name="T36" fmla="*/ 29 w 43"/>
                <a:gd name="T37" fmla="*/ 0 h 43"/>
                <a:gd name="T38" fmla="*/ 25 w 43"/>
                <a:gd name="T39" fmla="*/ 0 h 43"/>
                <a:gd name="T40" fmla="*/ 21 w 43"/>
                <a:gd name="T41" fmla="*/ 0 h 43"/>
                <a:gd name="T42" fmla="*/ 18 w 43"/>
                <a:gd name="T43" fmla="*/ 0 h 43"/>
                <a:gd name="T44" fmla="*/ 14 w 43"/>
                <a:gd name="T45" fmla="*/ 0 h 43"/>
                <a:gd name="T46" fmla="*/ 14 w 43"/>
                <a:gd name="T47" fmla="*/ 0 h 43"/>
                <a:gd name="T48" fmla="*/ 10 w 43"/>
                <a:gd name="T49" fmla="*/ 4 h 43"/>
                <a:gd name="T50" fmla="*/ 7 w 43"/>
                <a:gd name="T51" fmla="*/ 4 h 43"/>
                <a:gd name="T52" fmla="*/ 7 w 43"/>
                <a:gd name="T53" fmla="*/ 7 h 43"/>
                <a:gd name="T54" fmla="*/ 3 w 43"/>
                <a:gd name="T55" fmla="*/ 11 h 43"/>
                <a:gd name="T56" fmla="*/ 3 w 43"/>
                <a:gd name="T57" fmla="*/ 14 h 43"/>
                <a:gd name="T58" fmla="*/ 0 w 43"/>
                <a:gd name="T59" fmla="*/ 18 h 43"/>
                <a:gd name="T60" fmla="*/ 0 w 43"/>
                <a:gd name="T61" fmla="*/ 22 h 43"/>
                <a:gd name="T62" fmla="*/ 0 w 43"/>
                <a:gd name="T63" fmla="*/ 25 h 43"/>
                <a:gd name="T64" fmla="*/ 3 w 43"/>
                <a:gd name="T65" fmla="*/ 29 h 43"/>
                <a:gd name="T66" fmla="*/ 3 w 43"/>
                <a:gd name="T67" fmla="*/ 29 h 43"/>
                <a:gd name="T68" fmla="*/ 7 w 43"/>
                <a:gd name="T69" fmla="*/ 33 h 43"/>
                <a:gd name="T70" fmla="*/ 7 w 43"/>
                <a:gd name="T71" fmla="*/ 36 h 43"/>
                <a:gd name="T72" fmla="*/ 10 w 43"/>
                <a:gd name="T73" fmla="*/ 40 h 43"/>
                <a:gd name="T74" fmla="*/ 14 w 43"/>
                <a:gd name="T75" fmla="*/ 40 h 43"/>
                <a:gd name="T76" fmla="*/ 14 w 43"/>
                <a:gd name="T77" fmla="*/ 40 h 43"/>
                <a:gd name="T78" fmla="*/ 18 w 43"/>
                <a:gd name="T79" fmla="*/ 43 h 43"/>
                <a:gd name="T80" fmla="*/ 21 w 43"/>
                <a:gd name="T81" fmla="*/ 43 h 43"/>
                <a:gd name="T82" fmla="*/ 21 w 43"/>
                <a:gd name="T83" fmla="*/ 43 h 43"/>
                <a:gd name="T84" fmla="*/ 21 w 43"/>
                <a:gd name="T85" fmla="*/ 40 h 4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3"/>
                <a:gd name="T130" fmla="*/ 0 h 43"/>
                <a:gd name="T131" fmla="*/ 43 w 43"/>
                <a:gd name="T132" fmla="*/ 43 h 43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3" h="43">
                  <a:moveTo>
                    <a:pt x="21" y="40"/>
                  </a:moveTo>
                  <a:lnTo>
                    <a:pt x="25" y="43"/>
                  </a:lnTo>
                  <a:lnTo>
                    <a:pt x="29" y="40"/>
                  </a:lnTo>
                  <a:lnTo>
                    <a:pt x="32" y="40"/>
                  </a:lnTo>
                  <a:lnTo>
                    <a:pt x="36" y="40"/>
                  </a:lnTo>
                  <a:lnTo>
                    <a:pt x="39" y="36"/>
                  </a:lnTo>
                  <a:lnTo>
                    <a:pt x="39" y="33"/>
                  </a:lnTo>
                  <a:lnTo>
                    <a:pt x="43" y="29"/>
                  </a:lnTo>
                  <a:lnTo>
                    <a:pt x="43" y="25"/>
                  </a:lnTo>
                  <a:lnTo>
                    <a:pt x="43" y="22"/>
                  </a:lnTo>
                  <a:lnTo>
                    <a:pt x="43" y="18"/>
                  </a:lnTo>
                  <a:lnTo>
                    <a:pt x="43" y="14"/>
                  </a:lnTo>
                  <a:lnTo>
                    <a:pt x="43" y="11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6" y="4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0" y="4"/>
                  </a:lnTo>
                  <a:lnTo>
                    <a:pt x="7" y="4"/>
                  </a:lnTo>
                  <a:lnTo>
                    <a:pt x="7" y="7"/>
                  </a:lnTo>
                  <a:lnTo>
                    <a:pt x="3" y="11"/>
                  </a:lnTo>
                  <a:lnTo>
                    <a:pt x="3" y="14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3" y="29"/>
                  </a:lnTo>
                  <a:lnTo>
                    <a:pt x="7" y="33"/>
                  </a:lnTo>
                  <a:lnTo>
                    <a:pt x="7" y="36"/>
                  </a:lnTo>
                  <a:lnTo>
                    <a:pt x="10" y="40"/>
                  </a:lnTo>
                  <a:lnTo>
                    <a:pt x="14" y="40"/>
                  </a:lnTo>
                  <a:lnTo>
                    <a:pt x="18" y="43"/>
                  </a:lnTo>
                  <a:lnTo>
                    <a:pt x="21" y="43"/>
                  </a:lnTo>
                  <a:lnTo>
                    <a:pt x="21" y="4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22"/>
            <p:cNvSpPr>
              <a:spLocks noChangeArrowheads="1"/>
            </p:cNvSpPr>
            <p:nvPr/>
          </p:nvSpPr>
          <p:spPr bwMode="auto">
            <a:xfrm>
              <a:off x="3240" y="2512"/>
              <a:ext cx="43" cy="43"/>
            </a:xfrm>
            <a:custGeom>
              <a:avLst/>
              <a:gdLst>
                <a:gd name="T0" fmla="*/ 21 w 43"/>
                <a:gd name="T1" fmla="*/ 40 h 43"/>
                <a:gd name="T2" fmla="*/ 25 w 43"/>
                <a:gd name="T3" fmla="*/ 43 h 43"/>
                <a:gd name="T4" fmla="*/ 29 w 43"/>
                <a:gd name="T5" fmla="*/ 40 h 43"/>
                <a:gd name="T6" fmla="*/ 32 w 43"/>
                <a:gd name="T7" fmla="*/ 40 h 43"/>
                <a:gd name="T8" fmla="*/ 36 w 43"/>
                <a:gd name="T9" fmla="*/ 40 h 43"/>
                <a:gd name="T10" fmla="*/ 39 w 43"/>
                <a:gd name="T11" fmla="*/ 36 h 43"/>
                <a:gd name="T12" fmla="*/ 39 w 43"/>
                <a:gd name="T13" fmla="*/ 33 h 43"/>
                <a:gd name="T14" fmla="*/ 43 w 43"/>
                <a:gd name="T15" fmla="*/ 29 h 43"/>
                <a:gd name="T16" fmla="*/ 43 w 43"/>
                <a:gd name="T17" fmla="*/ 29 h 43"/>
                <a:gd name="T18" fmla="*/ 43 w 43"/>
                <a:gd name="T19" fmla="*/ 25 h 43"/>
                <a:gd name="T20" fmla="*/ 43 w 43"/>
                <a:gd name="T21" fmla="*/ 22 h 43"/>
                <a:gd name="T22" fmla="*/ 43 w 43"/>
                <a:gd name="T23" fmla="*/ 18 h 43"/>
                <a:gd name="T24" fmla="*/ 43 w 43"/>
                <a:gd name="T25" fmla="*/ 14 h 43"/>
                <a:gd name="T26" fmla="*/ 43 w 43"/>
                <a:gd name="T27" fmla="*/ 11 h 43"/>
                <a:gd name="T28" fmla="*/ 39 w 43"/>
                <a:gd name="T29" fmla="*/ 7 h 43"/>
                <a:gd name="T30" fmla="*/ 39 w 43"/>
                <a:gd name="T31" fmla="*/ 4 h 43"/>
                <a:gd name="T32" fmla="*/ 36 w 43"/>
                <a:gd name="T33" fmla="*/ 4 h 43"/>
                <a:gd name="T34" fmla="*/ 32 w 43"/>
                <a:gd name="T35" fmla="*/ 0 h 43"/>
                <a:gd name="T36" fmla="*/ 29 w 43"/>
                <a:gd name="T37" fmla="*/ 0 h 43"/>
                <a:gd name="T38" fmla="*/ 25 w 43"/>
                <a:gd name="T39" fmla="*/ 0 h 43"/>
                <a:gd name="T40" fmla="*/ 21 w 43"/>
                <a:gd name="T41" fmla="*/ 0 h 43"/>
                <a:gd name="T42" fmla="*/ 18 w 43"/>
                <a:gd name="T43" fmla="*/ 0 h 43"/>
                <a:gd name="T44" fmla="*/ 14 w 43"/>
                <a:gd name="T45" fmla="*/ 0 h 43"/>
                <a:gd name="T46" fmla="*/ 14 w 43"/>
                <a:gd name="T47" fmla="*/ 0 h 43"/>
                <a:gd name="T48" fmla="*/ 10 w 43"/>
                <a:gd name="T49" fmla="*/ 4 h 43"/>
                <a:gd name="T50" fmla="*/ 7 w 43"/>
                <a:gd name="T51" fmla="*/ 4 h 43"/>
                <a:gd name="T52" fmla="*/ 7 w 43"/>
                <a:gd name="T53" fmla="*/ 7 h 43"/>
                <a:gd name="T54" fmla="*/ 3 w 43"/>
                <a:gd name="T55" fmla="*/ 11 h 43"/>
                <a:gd name="T56" fmla="*/ 3 w 43"/>
                <a:gd name="T57" fmla="*/ 14 h 43"/>
                <a:gd name="T58" fmla="*/ 0 w 43"/>
                <a:gd name="T59" fmla="*/ 18 h 43"/>
                <a:gd name="T60" fmla="*/ 0 w 43"/>
                <a:gd name="T61" fmla="*/ 22 h 43"/>
                <a:gd name="T62" fmla="*/ 0 w 43"/>
                <a:gd name="T63" fmla="*/ 25 h 43"/>
                <a:gd name="T64" fmla="*/ 3 w 43"/>
                <a:gd name="T65" fmla="*/ 29 h 43"/>
                <a:gd name="T66" fmla="*/ 3 w 43"/>
                <a:gd name="T67" fmla="*/ 29 h 43"/>
                <a:gd name="T68" fmla="*/ 7 w 43"/>
                <a:gd name="T69" fmla="*/ 33 h 43"/>
                <a:gd name="T70" fmla="*/ 7 w 43"/>
                <a:gd name="T71" fmla="*/ 36 h 43"/>
                <a:gd name="T72" fmla="*/ 10 w 43"/>
                <a:gd name="T73" fmla="*/ 40 h 43"/>
                <a:gd name="T74" fmla="*/ 14 w 43"/>
                <a:gd name="T75" fmla="*/ 40 h 43"/>
                <a:gd name="T76" fmla="*/ 14 w 43"/>
                <a:gd name="T77" fmla="*/ 40 h 43"/>
                <a:gd name="T78" fmla="*/ 18 w 43"/>
                <a:gd name="T79" fmla="*/ 43 h 43"/>
                <a:gd name="T80" fmla="*/ 21 w 43"/>
                <a:gd name="T81" fmla="*/ 43 h 43"/>
                <a:gd name="T82" fmla="*/ 21 w 43"/>
                <a:gd name="T83" fmla="*/ 43 h 43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3"/>
                <a:gd name="T127" fmla="*/ 0 h 43"/>
                <a:gd name="T128" fmla="*/ 43 w 43"/>
                <a:gd name="T129" fmla="*/ 43 h 43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3" h="43">
                  <a:moveTo>
                    <a:pt x="21" y="40"/>
                  </a:moveTo>
                  <a:lnTo>
                    <a:pt x="25" y="43"/>
                  </a:lnTo>
                  <a:lnTo>
                    <a:pt x="29" y="40"/>
                  </a:lnTo>
                  <a:lnTo>
                    <a:pt x="32" y="40"/>
                  </a:lnTo>
                  <a:lnTo>
                    <a:pt x="36" y="40"/>
                  </a:lnTo>
                  <a:lnTo>
                    <a:pt x="39" y="36"/>
                  </a:lnTo>
                  <a:lnTo>
                    <a:pt x="39" y="33"/>
                  </a:lnTo>
                  <a:lnTo>
                    <a:pt x="43" y="29"/>
                  </a:lnTo>
                  <a:lnTo>
                    <a:pt x="43" y="25"/>
                  </a:lnTo>
                  <a:lnTo>
                    <a:pt x="43" y="22"/>
                  </a:lnTo>
                  <a:lnTo>
                    <a:pt x="43" y="18"/>
                  </a:lnTo>
                  <a:lnTo>
                    <a:pt x="43" y="14"/>
                  </a:lnTo>
                  <a:lnTo>
                    <a:pt x="43" y="11"/>
                  </a:lnTo>
                  <a:lnTo>
                    <a:pt x="39" y="7"/>
                  </a:lnTo>
                  <a:lnTo>
                    <a:pt x="39" y="4"/>
                  </a:lnTo>
                  <a:lnTo>
                    <a:pt x="36" y="4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0" y="4"/>
                  </a:lnTo>
                  <a:lnTo>
                    <a:pt x="7" y="4"/>
                  </a:lnTo>
                  <a:lnTo>
                    <a:pt x="7" y="7"/>
                  </a:lnTo>
                  <a:lnTo>
                    <a:pt x="3" y="11"/>
                  </a:lnTo>
                  <a:lnTo>
                    <a:pt x="3" y="14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3" y="29"/>
                  </a:lnTo>
                  <a:lnTo>
                    <a:pt x="7" y="33"/>
                  </a:lnTo>
                  <a:lnTo>
                    <a:pt x="7" y="36"/>
                  </a:lnTo>
                  <a:lnTo>
                    <a:pt x="10" y="40"/>
                  </a:lnTo>
                  <a:lnTo>
                    <a:pt x="14" y="40"/>
                  </a:lnTo>
                  <a:lnTo>
                    <a:pt x="18" y="43"/>
                  </a:lnTo>
                  <a:lnTo>
                    <a:pt x="21" y="43"/>
                  </a:lnTo>
                </a:path>
              </a:pathLst>
            </a:custGeom>
            <a:solidFill>
              <a:srgbClr val="FFFFFF"/>
            </a:solidFill>
            <a:ln w="237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Freeform 23"/>
            <p:cNvSpPr>
              <a:spLocks noChangeArrowheads="1"/>
            </p:cNvSpPr>
            <p:nvPr/>
          </p:nvSpPr>
          <p:spPr bwMode="auto">
            <a:xfrm>
              <a:off x="3240" y="2664"/>
              <a:ext cx="43" cy="44"/>
            </a:xfrm>
            <a:custGeom>
              <a:avLst/>
              <a:gdLst>
                <a:gd name="T0" fmla="*/ 21 w 43"/>
                <a:gd name="T1" fmla="*/ 44 h 44"/>
                <a:gd name="T2" fmla="*/ 25 w 43"/>
                <a:gd name="T3" fmla="*/ 44 h 44"/>
                <a:gd name="T4" fmla="*/ 29 w 43"/>
                <a:gd name="T5" fmla="*/ 44 h 44"/>
                <a:gd name="T6" fmla="*/ 32 w 43"/>
                <a:gd name="T7" fmla="*/ 44 h 44"/>
                <a:gd name="T8" fmla="*/ 36 w 43"/>
                <a:gd name="T9" fmla="*/ 40 h 44"/>
                <a:gd name="T10" fmla="*/ 39 w 43"/>
                <a:gd name="T11" fmla="*/ 40 h 44"/>
                <a:gd name="T12" fmla="*/ 39 w 43"/>
                <a:gd name="T13" fmla="*/ 36 h 44"/>
                <a:gd name="T14" fmla="*/ 43 w 43"/>
                <a:gd name="T15" fmla="*/ 33 h 44"/>
                <a:gd name="T16" fmla="*/ 43 w 43"/>
                <a:gd name="T17" fmla="*/ 29 h 44"/>
                <a:gd name="T18" fmla="*/ 43 w 43"/>
                <a:gd name="T19" fmla="*/ 26 h 44"/>
                <a:gd name="T20" fmla="*/ 43 w 43"/>
                <a:gd name="T21" fmla="*/ 22 h 44"/>
                <a:gd name="T22" fmla="*/ 43 w 43"/>
                <a:gd name="T23" fmla="*/ 18 h 44"/>
                <a:gd name="T24" fmla="*/ 43 w 43"/>
                <a:gd name="T25" fmla="*/ 18 h 44"/>
                <a:gd name="T26" fmla="*/ 43 w 43"/>
                <a:gd name="T27" fmla="*/ 15 h 44"/>
                <a:gd name="T28" fmla="*/ 39 w 43"/>
                <a:gd name="T29" fmla="*/ 11 h 44"/>
                <a:gd name="T30" fmla="*/ 39 w 43"/>
                <a:gd name="T31" fmla="*/ 7 h 44"/>
                <a:gd name="T32" fmla="*/ 36 w 43"/>
                <a:gd name="T33" fmla="*/ 7 h 44"/>
                <a:gd name="T34" fmla="*/ 32 w 43"/>
                <a:gd name="T35" fmla="*/ 4 h 44"/>
                <a:gd name="T36" fmla="*/ 29 w 43"/>
                <a:gd name="T37" fmla="*/ 4 h 44"/>
                <a:gd name="T38" fmla="*/ 25 w 43"/>
                <a:gd name="T39" fmla="*/ 4 h 44"/>
                <a:gd name="T40" fmla="*/ 21 w 43"/>
                <a:gd name="T41" fmla="*/ 0 h 44"/>
                <a:gd name="T42" fmla="*/ 18 w 43"/>
                <a:gd name="T43" fmla="*/ 4 h 44"/>
                <a:gd name="T44" fmla="*/ 14 w 43"/>
                <a:gd name="T45" fmla="*/ 4 h 44"/>
                <a:gd name="T46" fmla="*/ 14 w 43"/>
                <a:gd name="T47" fmla="*/ 4 h 44"/>
                <a:gd name="T48" fmla="*/ 10 w 43"/>
                <a:gd name="T49" fmla="*/ 7 h 44"/>
                <a:gd name="T50" fmla="*/ 7 w 43"/>
                <a:gd name="T51" fmla="*/ 7 h 44"/>
                <a:gd name="T52" fmla="*/ 7 w 43"/>
                <a:gd name="T53" fmla="*/ 11 h 44"/>
                <a:gd name="T54" fmla="*/ 3 w 43"/>
                <a:gd name="T55" fmla="*/ 15 h 44"/>
                <a:gd name="T56" fmla="*/ 3 w 43"/>
                <a:gd name="T57" fmla="*/ 18 h 44"/>
                <a:gd name="T58" fmla="*/ 0 w 43"/>
                <a:gd name="T59" fmla="*/ 18 h 44"/>
                <a:gd name="T60" fmla="*/ 0 w 43"/>
                <a:gd name="T61" fmla="*/ 22 h 44"/>
                <a:gd name="T62" fmla="*/ 0 w 43"/>
                <a:gd name="T63" fmla="*/ 26 h 44"/>
                <a:gd name="T64" fmla="*/ 3 w 43"/>
                <a:gd name="T65" fmla="*/ 29 h 44"/>
                <a:gd name="T66" fmla="*/ 3 w 43"/>
                <a:gd name="T67" fmla="*/ 33 h 44"/>
                <a:gd name="T68" fmla="*/ 7 w 43"/>
                <a:gd name="T69" fmla="*/ 36 h 44"/>
                <a:gd name="T70" fmla="*/ 7 w 43"/>
                <a:gd name="T71" fmla="*/ 40 h 44"/>
                <a:gd name="T72" fmla="*/ 10 w 43"/>
                <a:gd name="T73" fmla="*/ 40 h 44"/>
                <a:gd name="T74" fmla="*/ 14 w 43"/>
                <a:gd name="T75" fmla="*/ 44 h 44"/>
                <a:gd name="T76" fmla="*/ 14 w 43"/>
                <a:gd name="T77" fmla="*/ 44 h 44"/>
                <a:gd name="T78" fmla="*/ 18 w 43"/>
                <a:gd name="T79" fmla="*/ 44 h 44"/>
                <a:gd name="T80" fmla="*/ 21 w 43"/>
                <a:gd name="T81" fmla="*/ 44 h 44"/>
                <a:gd name="T82" fmla="*/ 21 w 43"/>
                <a:gd name="T83" fmla="*/ 44 h 4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3"/>
                <a:gd name="T127" fmla="*/ 0 h 44"/>
                <a:gd name="T128" fmla="*/ 43 w 43"/>
                <a:gd name="T129" fmla="*/ 44 h 4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3" h="44">
                  <a:moveTo>
                    <a:pt x="21" y="44"/>
                  </a:moveTo>
                  <a:lnTo>
                    <a:pt x="25" y="44"/>
                  </a:lnTo>
                  <a:lnTo>
                    <a:pt x="29" y="44"/>
                  </a:lnTo>
                  <a:lnTo>
                    <a:pt x="32" y="44"/>
                  </a:lnTo>
                  <a:lnTo>
                    <a:pt x="36" y="40"/>
                  </a:lnTo>
                  <a:lnTo>
                    <a:pt x="39" y="40"/>
                  </a:lnTo>
                  <a:lnTo>
                    <a:pt x="39" y="36"/>
                  </a:lnTo>
                  <a:lnTo>
                    <a:pt x="43" y="33"/>
                  </a:lnTo>
                  <a:lnTo>
                    <a:pt x="43" y="29"/>
                  </a:lnTo>
                  <a:lnTo>
                    <a:pt x="43" y="26"/>
                  </a:lnTo>
                  <a:lnTo>
                    <a:pt x="43" y="22"/>
                  </a:lnTo>
                  <a:lnTo>
                    <a:pt x="43" y="18"/>
                  </a:lnTo>
                  <a:lnTo>
                    <a:pt x="43" y="15"/>
                  </a:lnTo>
                  <a:lnTo>
                    <a:pt x="39" y="11"/>
                  </a:lnTo>
                  <a:lnTo>
                    <a:pt x="39" y="7"/>
                  </a:lnTo>
                  <a:lnTo>
                    <a:pt x="36" y="7"/>
                  </a:lnTo>
                  <a:lnTo>
                    <a:pt x="32" y="4"/>
                  </a:lnTo>
                  <a:lnTo>
                    <a:pt x="29" y="4"/>
                  </a:lnTo>
                  <a:lnTo>
                    <a:pt x="25" y="4"/>
                  </a:lnTo>
                  <a:lnTo>
                    <a:pt x="21" y="0"/>
                  </a:lnTo>
                  <a:lnTo>
                    <a:pt x="18" y="4"/>
                  </a:lnTo>
                  <a:lnTo>
                    <a:pt x="14" y="4"/>
                  </a:lnTo>
                  <a:lnTo>
                    <a:pt x="10" y="7"/>
                  </a:lnTo>
                  <a:lnTo>
                    <a:pt x="7" y="7"/>
                  </a:lnTo>
                  <a:lnTo>
                    <a:pt x="7" y="11"/>
                  </a:lnTo>
                  <a:lnTo>
                    <a:pt x="3" y="15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3" y="29"/>
                  </a:lnTo>
                  <a:lnTo>
                    <a:pt x="3" y="33"/>
                  </a:lnTo>
                  <a:lnTo>
                    <a:pt x="7" y="36"/>
                  </a:lnTo>
                  <a:lnTo>
                    <a:pt x="7" y="40"/>
                  </a:lnTo>
                  <a:lnTo>
                    <a:pt x="10" y="40"/>
                  </a:lnTo>
                  <a:lnTo>
                    <a:pt x="14" y="44"/>
                  </a:lnTo>
                  <a:lnTo>
                    <a:pt x="18" y="44"/>
                  </a:lnTo>
                  <a:lnTo>
                    <a:pt x="21" y="4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24"/>
            <p:cNvSpPr>
              <a:spLocks noChangeArrowheads="1"/>
            </p:cNvSpPr>
            <p:nvPr/>
          </p:nvSpPr>
          <p:spPr bwMode="auto">
            <a:xfrm>
              <a:off x="3240" y="2664"/>
              <a:ext cx="43" cy="44"/>
            </a:xfrm>
            <a:custGeom>
              <a:avLst/>
              <a:gdLst>
                <a:gd name="T0" fmla="*/ 21 w 43"/>
                <a:gd name="T1" fmla="*/ 44 h 44"/>
                <a:gd name="T2" fmla="*/ 25 w 43"/>
                <a:gd name="T3" fmla="*/ 44 h 44"/>
                <a:gd name="T4" fmla="*/ 29 w 43"/>
                <a:gd name="T5" fmla="*/ 44 h 44"/>
                <a:gd name="T6" fmla="*/ 32 w 43"/>
                <a:gd name="T7" fmla="*/ 44 h 44"/>
                <a:gd name="T8" fmla="*/ 36 w 43"/>
                <a:gd name="T9" fmla="*/ 40 h 44"/>
                <a:gd name="T10" fmla="*/ 39 w 43"/>
                <a:gd name="T11" fmla="*/ 40 h 44"/>
                <a:gd name="T12" fmla="*/ 39 w 43"/>
                <a:gd name="T13" fmla="*/ 36 h 44"/>
                <a:gd name="T14" fmla="*/ 43 w 43"/>
                <a:gd name="T15" fmla="*/ 33 h 44"/>
                <a:gd name="T16" fmla="*/ 43 w 43"/>
                <a:gd name="T17" fmla="*/ 29 h 44"/>
                <a:gd name="T18" fmla="*/ 43 w 43"/>
                <a:gd name="T19" fmla="*/ 26 h 44"/>
                <a:gd name="T20" fmla="*/ 43 w 43"/>
                <a:gd name="T21" fmla="*/ 22 h 44"/>
                <a:gd name="T22" fmla="*/ 43 w 43"/>
                <a:gd name="T23" fmla="*/ 18 h 44"/>
                <a:gd name="T24" fmla="*/ 43 w 43"/>
                <a:gd name="T25" fmla="*/ 18 h 44"/>
                <a:gd name="T26" fmla="*/ 43 w 43"/>
                <a:gd name="T27" fmla="*/ 15 h 44"/>
                <a:gd name="T28" fmla="*/ 39 w 43"/>
                <a:gd name="T29" fmla="*/ 11 h 44"/>
                <a:gd name="T30" fmla="*/ 39 w 43"/>
                <a:gd name="T31" fmla="*/ 7 h 44"/>
                <a:gd name="T32" fmla="*/ 36 w 43"/>
                <a:gd name="T33" fmla="*/ 7 h 44"/>
                <a:gd name="T34" fmla="*/ 32 w 43"/>
                <a:gd name="T35" fmla="*/ 4 h 44"/>
                <a:gd name="T36" fmla="*/ 29 w 43"/>
                <a:gd name="T37" fmla="*/ 4 h 44"/>
                <a:gd name="T38" fmla="*/ 25 w 43"/>
                <a:gd name="T39" fmla="*/ 4 h 44"/>
                <a:gd name="T40" fmla="*/ 21 w 43"/>
                <a:gd name="T41" fmla="*/ 0 h 44"/>
                <a:gd name="T42" fmla="*/ 18 w 43"/>
                <a:gd name="T43" fmla="*/ 4 h 44"/>
                <a:gd name="T44" fmla="*/ 14 w 43"/>
                <a:gd name="T45" fmla="*/ 4 h 44"/>
                <a:gd name="T46" fmla="*/ 14 w 43"/>
                <a:gd name="T47" fmla="*/ 4 h 44"/>
                <a:gd name="T48" fmla="*/ 10 w 43"/>
                <a:gd name="T49" fmla="*/ 7 h 44"/>
                <a:gd name="T50" fmla="*/ 7 w 43"/>
                <a:gd name="T51" fmla="*/ 7 h 44"/>
                <a:gd name="T52" fmla="*/ 7 w 43"/>
                <a:gd name="T53" fmla="*/ 11 h 44"/>
                <a:gd name="T54" fmla="*/ 3 w 43"/>
                <a:gd name="T55" fmla="*/ 15 h 44"/>
                <a:gd name="T56" fmla="*/ 3 w 43"/>
                <a:gd name="T57" fmla="*/ 18 h 44"/>
                <a:gd name="T58" fmla="*/ 0 w 43"/>
                <a:gd name="T59" fmla="*/ 18 h 44"/>
                <a:gd name="T60" fmla="*/ 0 w 43"/>
                <a:gd name="T61" fmla="*/ 22 h 44"/>
                <a:gd name="T62" fmla="*/ 0 w 43"/>
                <a:gd name="T63" fmla="*/ 26 h 44"/>
                <a:gd name="T64" fmla="*/ 3 w 43"/>
                <a:gd name="T65" fmla="*/ 29 h 44"/>
                <a:gd name="T66" fmla="*/ 3 w 43"/>
                <a:gd name="T67" fmla="*/ 33 h 44"/>
                <a:gd name="T68" fmla="*/ 7 w 43"/>
                <a:gd name="T69" fmla="*/ 36 h 44"/>
                <a:gd name="T70" fmla="*/ 7 w 43"/>
                <a:gd name="T71" fmla="*/ 40 h 44"/>
                <a:gd name="T72" fmla="*/ 10 w 43"/>
                <a:gd name="T73" fmla="*/ 40 h 44"/>
                <a:gd name="T74" fmla="*/ 14 w 43"/>
                <a:gd name="T75" fmla="*/ 44 h 44"/>
                <a:gd name="T76" fmla="*/ 14 w 43"/>
                <a:gd name="T77" fmla="*/ 44 h 44"/>
                <a:gd name="T78" fmla="*/ 18 w 43"/>
                <a:gd name="T79" fmla="*/ 44 h 44"/>
                <a:gd name="T80" fmla="*/ 21 w 43"/>
                <a:gd name="T81" fmla="*/ 44 h 44"/>
                <a:gd name="T82" fmla="*/ 21 w 43"/>
                <a:gd name="T83" fmla="*/ 44 h 4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3"/>
                <a:gd name="T127" fmla="*/ 0 h 44"/>
                <a:gd name="T128" fmla="*/ 43 w 43"/>
                <a:gd name="T129" fmla="*/ 44 h 4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3" h="44">
                  <a:moveTo>
                    <a:pt x="21" y="44"/>
                  </a:moveTo>
                  <a:lnTo>
                    <a:pt x="25" y="44"/>
                  </a:lnTo>
                  <a:lnTo>
                    <a:pt x="29" y="44"/>
                  </a:lnTo>
                  <a:lnTo>
                    <a:pt x="32" y="44"/>
                  </a:lnTo>
                  <a:lnTo>
                    <a:pt x="36" y="40"/>
                  </a:lnTo>
                  <a:lnTo>
                    <a:pt x="39" y="40"/>
                  </a:lnTo>
                  <a:lnTo>
                    <a:pt x="39" y="36"/>
                  </a:lnTo>
                  <a:lnTo>
                    <a:pt x="43" y="33"/>
                  </a:lnTo>
                  <a:lnTo>
                    <a:pt x="43" y="29"/>
                  </a:lnTo>
                  <a:lnTo>
                    <a:pt x="43" y="26"/>
                  </a:lnTo>
                  <a:lnTo>
                    <a:pt x="43" y="22"/>
                  </a:lnTo>
                  <a:lnTo>
                    <a:pt x="43" y="18"/>
                  </a:lnTo>
                  <a:lnTo>
                    <a:pt x="43" y="15"/>
                  </a:lnTo>
                  <a:lnTo>
                    <a:pt x="39" y="11"/>
                  </a:lnTo>
                  <a:lnTo>
                    <a:pt x="39" y="7"/>
                  </a:lnTo>
                  <a:lnTo>
                    <a:pt x="36" y="7"/>
                  </a:lnTo>
                  <a:lnTo>
                    <a:pt x="32" y="4"/>
                  </a:lnTo>
                  <a:lnTo>
                    <a:pt x="29" y="4"/>
                  </a:lnTo>
                  <a:lnTo>
                    <a:pt x="25" y="4"/>
                  </a:lnTo>
                  <a:lnTo>
                    <a:pt x="21" y="0"/>
                  </a:lnTo>
                  <a:lnTo>
                    <a:pt x="18" y="4"/>
                  </a:lnTo>
                  <a:lnTo>
                    <a:pt x="14" y="4"/>
                  </a:lnTo>
                  <a:lnTo>
                    <a:pt x="10" y="7"/>
                  </a:lnTo>
                  <a:lnTo>
                    <a:pt x="7" y="7"/>
                  </a:lnTo>
                  <a:lnTo>
                    <a:pt x="7" y="11"/>
                  </a:lnTo>
                  <a:lnTo>
                    <a:pt x="3" y="15"/>
                  </a:lnTo>
                  <a:lnTo>
                    <a:pt x="3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3" y="29"/>
                  </a:lnTo>
                  <a:lnTo>
                    <a:pt x="3" y="33"/>
                  </a:lnTo>
                  <a:lnTo>
                    <a:pt x="7" y="36"/>
                  </a:lnTo>
                  <a:lnTo>
                    <a:pt x="7" y="40"/>
                  </a:lnTo>
                  <a:lnTo>
                    <a:pt x="10" y="40"/>
                  </a:lnTo>
                  <a:lnTo>
                    <a:pt x="14" y="44"/>
                  </a:lnTo>
                  <a:lnTo>
                    <a:pt x="18" y="44"/>
                  </a:lnTo>
                  <a:lnTo>
                    <a:pt x="21" y="44"/>
                  </a:lnTo>
                </a:path>
              </a:pathLst>
            </a:custGeom>
            <a:solidFill>
              <a:srgbClr val="FFFFFF"/>
            </a:solidFill>
            <a:ln w="2376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3660" y="2063"/>
              <a:ext cx="9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3754" y="2063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3820" y="2063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3888" y="2063"/>
              <a:ext cx="4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3928" y="2063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3997" y="2063"/>
              <a:ext cx="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4030" y="2063"/>
              <a:ext cx="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4055" y="2063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4124" y="2063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4189" y="2063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3660" y="2451"/>
              <a:ext cx="9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3754" y="2451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39" name="Rectangle 37"/>
            <p:cNvSpPr>
              <a:spLocks noChangeArrowheads="1"/>
            </p:cNvSpPr>
            <p:nvPr/>
          </p:nvSpPr>
          <p:spPr bwMode="auto">
            <a:xfrm>
              <a:off x="3820" y="2451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0" name="Rectangle 38"/>
            <p:cNvSpPr>
              <a:spLocks noChangeArrowheads="1"/>
            </p:cNvSpPr>
            <p:nvPr/>
          </p:nvSpPr>
          <p:spPr bwMode="auto">
            <a:xfrm>
              <a:off x="3888" y="2451"/>
              <a:ext cx="4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1" name="Rectangle 39"/>
            <p:cNvSpPr>
              <a:spLocks noChangeArrowheads="1"/>
            </p:cNvSpPr>
            <p:nvPr/>
          </p:nvSpPr>
          <p:spPr bwMode="auto">
            <a:xfrm>
              <a:off x="3928" y="2451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>
              <a:off x="3997" y="2451"/>
              <a:ext cx="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3" name="Rectangle 41"/>
            <p:cNvSpPr>
              <a:spLocks noChangeArrowheads="1"/>
            </p:cNvSpPr>
            <p:nvPr/>
          </p:nvSpPr>
          <p:spPr bwMode="auto">
            <a:xfrm>
              <a:off x="4030" y="2451"/>
              <a:ext cx="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4055" y="2451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4124" y="2451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46" name="Rectangle 44"/>
            <p:cNvSpPr>
              <a:spLocks noChangeArrowheads="1"/>
            </p:cNvSpPr>
            <p:nvPr/>
          </p:nvSpPr>
          <p:spPr bwMode="auto">
            <a:xfrm>
              <a:off x="4189" y="2451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47" name="Rectangle 45"/>
            <p:cNvSpPr>
              <a:spLocks noChangeArrowheads="1"/>
            </p:cNvSpPr>
            <p:nvPr/>
          </p:nvSpPr>
          <p:spPr bwMode="auto">
            <a:xfrm>
              <a:off x="3660" y="2839"/>
              <a:ext cx="9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3754" y="2839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49" name="Rectangle 47"/>
            <p:cNvSpPr>
              <a:spLocks noChangeArrowheads="1"/>
            </p:cNvSpPr>
            <p:nvPr/>
          </p:nvSpPr>
          <p:spPr bwMode="auto">
            <a:xfrm>
              <a:off x="3820" y="2839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50" name="Rectangle 48"/>
            <p:cNvSpPr>
              <a:spLocks noChangeArrowheads="1"/>
            </p:cNvSpPr>
            <p:nvPr/>
          </p:nvSpPr>
          <p:spPr bwMode="auto">
            <a:xfrm>
              <a:off x="3888" y="2839"/>
              <a:ext cx="4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1" name="Rectangle 49"/>
            <p:cNvSpPr>
              <a:spLocks noChangeArrowheads="1"/>
            </p:cNvSpPr>
            <p:nvPr/>
          </p:nvSpPr>
          <p:spPr bwMode="auto">
            <a:xfrm>
              <a:off x="3928" y="2839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52" name="Rectangle 50"/>
            <p:cNvSpPr>
              <a:spLocks noChangeArrowheads="1"/>
            </p:cNvSpPr>
            <p:nvPr/>
          </p:nvSpPr>
          <p:spPr bwMode="auto">
            <a:xfrm>
              <a:off x="3997" y="2839"/>
              <a:ext cx="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3" name="Rectangle 51"/>
            <p:cNvSpPr>
              <a:spLocks noChangeArrowheads="1"/>
            </p:cNvSpPr>
            <p:nvPr/>
          </p:nvSpPr>
          <p:spPr bwMode="auto">
            <a:xfrm>
              <a:off x="4030" y="2839"/>
              <a:ext cx="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54" name="Rectangle 52"/>
            <p:cNvSpPr>
              <a:spLocks noChangeArrowheads="1"/>
            </p:cNvSpPr>
            <p:nvPr/>
          </p:nvSpPr>
          <p:spPr bwMode="auto">
            <a:xfrm>
              <a:off x="4055" y="2839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4124" y="2839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4189" y="2839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57" name="Line 55"/>
            <p:cNvSpPr>
              <a:spLocks noChangeShapeType="1"/>
            </p:cNvSpPr>
            <p:nvPr/>
          </p:nvSpPr>
          <p:spPr bwMode="auto">
            <a:xfrm>
              <a:off x="4400" y="2414"/>
              <a:ext cx="358" cy="4"/>
            </a:xfrm>
            <a:prstGeom prst="line">
              <a:avLst/>
            </a:prstGeom>
            <a:noFill/>
            <a:ln w="39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Rectangle 56"/>
            <p:cNvSpPr>
              <a:spLocks noChangeArrowheads="1"/>
            </p:cNvSpPr>
            <p:nvPr/>
          </p:nvSpPr>
          <p:spPr bwMode="auto">
            <a:xfrm>
              <a:off x="4827" y="2346"/>
              <a:ext cx="9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59" name="Rectangle 57"/>
            <p:cNvSpPr>
              <a:spLocks noChangeArrowheads="1"/>
            </p:cNvSpPr>
            <p:nvPr/>
          </p:nvSpPr>
          <p:spPr bwMode="auto">
            <a:xfrm>
              <a:off x="4918" y="2346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60" name="Rectangle 58"/>
            <p:cNvSpPr>
              <a:spLocks noChangeArrowheads="1"/>
            </p:cNvSpPr>
            <p:nvPr/>
          </p:nvSpPr>
          <p:spPr bwMode="auto">
            <a:xfrm>
              <a:off x="4987" y="2346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1" name="Rectangle 59"/>
            <p:cNvSpPr>
              <a:spLocks noChangeArrowheads="1"/>
            </p:cNvSpPr>
            <p:nvPr/>
          </p:nvSpPr>
          <p:spPr bwMode="auto">
            <a:xfrm>
              <a:off x="5056" y="2346"/>
              <a:ext cx="4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2" name="Rectangle 60"/>
            <p:cNvSpPr>
              <a:spLocks noChangeArrowheads="1"/>
            </p:cNvSpPr>
            <p:nvPr/>
          </p:nvSpPr>
          <p:spPr bwMode="auto">
            <a:xfrm>
              <a:off x="5096" y="2346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3" name="Rectangle 61"/>
            <p:cNvSpPr>
              <a:spLocks noChangeArrowheads="1"/>
            </p:cNvSpPr>
            <p:nvPr/>
          </p:nvSpPr>
          <p:spPr bwMode="auto">
            <a:xfrm>
              <a:off x="5161" y="2346"/>
              <a:ext cx="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4" name="Rectangle 62"/>
            <p:cNvSpPr>
              <a:spLocks noChangeArrowheads="1"/>
            </p:cNvSpPr>
            <p:nvPr/>
          </p:nvSpPr>
          <p:spPr bwMode="auto">
            <a:xfrm>
              <a:off x="5193" y="2346"/>
              <a:ext cx="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5" name="Rectangle 63"/>
            <p:cNvSpPr>
              <a:spLocks noChangeArrowheads="1"/>
            </p:cNvSpPr>
            <p:nvPr/>
          </p:nvSpPr>
          <p:spPr bwMode="auto">
            <a:xfrm>
              <a:off x="5222" y="2346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66" name="Rectangle 64"/>
            <p:cNvSpPr>
              <a:spLocks noChangeArrowheads="1"/>
            </p:cNvSpPr>
            <p:nvPr/>
          </p:nvSpPr>
          <p:spPr bwMode="auto">
            <a:xfrm>
              <a:off x="5288" y="2346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67" name="Rectangle 65"/>
            <p:cNvSpPr>
              <a:spLocks noChangeArrowheads="1"/>
            </p:cNvSpPr>
            <p:nvPr/>
          </p:nvSpPr>
          <p:spPr bwMode="auto">
            <a:xfrm>
              <a:off x="2212" y="1642"/>
              <a:ext cx="8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68" name="Rectangle 66"/>
            <p:cNvSpPr>
              <a:spLocks noChangeArrowheads="1"/>
            </p:cNvSpPr>
            <p:nvPr/>
          </p:nvSpPr>
          <p:spPr bwMode="auto">
            <a:xfrm>
              <a:off x="2290" y="1642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69" name="Rectangle 67"/>
            <p:cNvSpPr>
              <a:spLocks noChangeArrowheads="1"/>
            </p:cNvSpPr>
            <p:nvPr/>
          </p:nvSpPr>
          <p:spPr bwMode="auto">
            <a:xfrm>
              <a:off x="2359" y="1642"/>
              <a:ext cx="8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0" name="Rectangle 68"/>
            <p:cNvSpPr>
              <a:spLocks noChangeArrowheads="1"/>
            </p:cNvSpPr>
            <p:nvPr/>
          </p:nvSpPr>
          <p:spPr bwMode="auto">
            <a:xfrm>
              <a:off x="2446" y="1642"/>
              <a:ext cx="9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1" name="Rectangle 69"/>
            <p:cNvSpPr>
              <a:spLocks noChangeArrowheads="1"/>
            </p:cNvSpPr>
            <p:nvPr/>
          </p:nvSpPr>
          <p:spPr bwMode="auto">
            <a:xfrm>
              <a:off x="2540" y="1642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72" name="Rectangle 70"/>
            <p:cNvSpPr>
              <a:spLocks noChangeArrowheads="1"/>
            </p:cNvSpPr>
            <p:nvPr/>
          </p:nvSpPr>
          <p:spPr bwMode="auto">
            <a:xfrm>
              <a:off x="2605" y="1642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73" name="Freeform 71"/>
            <p:cNvSpPr>
              <a:spLocks noChangeArrowheads="1"/>
            </p:cNvSpPr>
            <p:nvPr/>
          </p:nvSpPr>
          <p:spPr bwMode="auto">
            <a:xfrm>
              <a:off x="1634" y="2374"/>
              <a:ext cx="1091" cy="497"/>
            </a:xfrm>
            <a:custGeom>
              <a:avLst/>
              <a:gdLst>
                <a:gd name="T0" fmla="*/ 0 w 1091"/>
                <a:gd name="T1" fmla="*/ 493 h 497"/>
                <a:gd name="T2" fmla="*/ 286 w 1091"/>
                <a:gd name="T3" fmla="*/ 497 h 497"/>
                <a:gd name="T4" fmla="*/ 286 w 1091"/>
                <a:gd name="T5" fmla="*/ 0 h 497"/>
                <a:gd name="T6" fmla="*/ 1091 w 1091"/>
                <a:gd name="T7" fmla="*/ 0 h 49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91"/>
                <a:gd name="T13" fmla="*/ 0 h 497"/>
                <a:gd name="T14" fmla="*/ 1091 w 1091"/>
                <a:gd name="T15" fmla="*/ 497 h 49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91" h="497">
                  <a:moveTo>
                    <a:pt x="0" y="493"/>
                  </a:moveTo>
                  <a:lnTo>
                    <a:pt x="286" y="497"/>
                  </a:lnTo>
                  <a:lnTo>
                    <a:pt x="286" y="0"/>
                  </a:lnTo>
                  <a:lnTo>
                    <a:pt x="1091" y="0"/>
                  </a:lnTo>
                </a:path>
              </a:pathLst>
            </a:custGeom>
            <a:noFill/>
            <a:ln w="237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Freeform 72"/>
            <p:cNvSpPr>
              <a:spLocks noChangeArrowheads="1"/>
            </p:cNvSpPr>
            <p:nvPr/>
          </p:nvSpPr>
          <p:spPr bwMode="auto">
            <a:xfrm>
              <a:off x="1612" y="2563"/>
              <a:ext cx="47" cy="47"/>
            </a:xfrm>
            <a:custGeom>
              <a:avLst/>
              <a:gdLst>
                <a:gd name="T0" fmla="*/ 22 w 47"/>
                <a:gd name="T1" fmla="*/ 47 h 47"/>
                <a:gd name="T2" fmla="*/ 29 w 47"/>
                <a:gd name="T3" fmla="*/ 47 h 47"/>
                <a:gd name="T4" fmla="*/ 33 w 47"/>
                <a:gd name="T5" fmla="*/ 47 h 47"/>
                <a:gd name="T6" fmla="*/ 36 w 47"/>
                <a:gd name="T7" fmla="*/ 47 h 47"/>
                <a:gd name="T8" fmla="*/ 36 w 47"/>
                <a:gd name="T9" fmla="*/ 43 h 47"/>
                <a:gd name="T10" fmla="*/ 40 w 47"/>
                <a:gd name="T11" fmla="*/ 40 h 47"/>
                <a:gd name="T12" fmla="*/ 43 w 47"/>
                <a:gd name="T13" fmla="*/ 40 h 47"/>
                <a:gd name="T14" fmla="*/ 43 w 47"/>
                <a:gd name="T15" fmla="*/ 36 h 47"/>
                <a:gd name="T16" fmla="*/ 47 w 47"/>
                <a:gd name="T17" fmla="*/ 32 h 47"/>
                <a:gd name="T18" fmla="*/ 47 w 47"/>
                <a:gd name="T19" fmla="*/ 29 h 47"/>
                <a:gd name="T20" fmla="*/ 47 w 47"/>
                <a:gd name="T21" fmla="*/ 25 h 47"/>
                <a:gd name="T22" fmla="*/ 47 w 47"/>
                <a:gd name="T23" fmla="*/ 21 h 47"/>
                <a:gd name="T24" fmla="*/ 47 w 47"/>
                <a:gd name="T25" fmla="*/ 18 h 47"/>
                <a:gd name="T26" fmla="*/ 43 w 47"/>
                <a:gd name="T27" fmla="*/ 14 h 47"/>
                <a:gd name="T28" fmla="*/ 43 w 47"/>
                <a:gd name="T29" fmla="*/ 11 h 47"/>
                <a:gd name="T30" fmla="*/ 40 w 47"/>
                <a:gd name="T31" fmla="*/ 7 h 47"/>
                <a:gd name="T32" fmla="*/ 36 w 47"/>
                <a:gd name="T33" fmla="*/ 7 h 47"/>
                <a:gd name="T34" fmla="*/ 36 w 47"/>
                <a:gd name="T35" fmla="*/ 3 h 47"/>
                <a:gd name="T36" fmla="*/ 33 w 47"/>
                <a:gd name="T37" fmla="*/ 3 h 47"/>
                <a:gd name="T38" fmla="*/ 29 w 47"/>
                <a:gd name="T39" fmla="*/ 3 h 47"/>
                <a:gd name="T40" fmla="*/ 25 w 47"/>
                <a:gd name="T41" fmla="*/ 0 h 47"/>
                <a:gd name="T42" fmla="*/ 22 w 47"/>
                <a:gd name="T43" fmla="*/ 3 h 47"/>
                <a:gd name="T44" fmla="*/ 18 w 47"/>
                <a:gd name="T45" fmla="*/ 3 h 47"/>
                <a:gd name="T46" fmla="*/ 14 w 47"/>
                <a:gd name="T47" fmla="*/ 3 h 47"/>
                <a:gd name="T48" fmla="*/ 11 w 47"/>
                <a:gd name="T49" fmla="*/ 7 h 47"/>
                <a:gd name="T50" fmla="*/ 7 w 47"/>
                <a:gd name="T51" fmla="*/ 7 h 47"/>
                <a:gd name="T52" fmla="*/ 4 w 47"/>
                <a:gd name="T53" fmla="*/ 11 h 47"/>
                <a:gd name="T54" fmla="*/ 4 w 47"/>
                <a:gd name="T55" fmla="*/ 14 h 47"/>
                <a:gd name="T56" fmla="*/ 0 w 47"/>
                <a:gd name="T57" fmla="*/ 18 h 47"/>
                <a:gd name="T58" fmla="*/ 0 w 47"/>
                <a:gd name="T59" fmla="*/ 21 h 47"/>
                <a:gd name="T60" fmla="*/ 0 w 47"/>
                <a:gd name="T61" fmla="*/ 25 h 47"/>
                <a:gd name="T62" fmla="*/ 0 w 47"/>
                <a:gd name="T63" fmla="*/ 29 h 47"/>
                <a:gd name="T64" fmla="*/ 0 w 47"/>
                <a:gd name="T65" fmla="*/ 32 h 47"/>
                <a:gd name="T66" fmla="*/ 4 w 47"/>
                <a:gd name="T67" fmla="*/ 36 h 47"/>
                <a:gd name="T68" fmla="*/ 4 w 47"/>
                <a:gd name="T69" fmla="*/ 40 h 47"/>
                <a:gd name="T70" fmla="*/ 7 w 47"/>
                <a:gd name="T71" fmla="*/ 40 h 47"/>
                <a:gd name="T72" fmla="*/ 11 w 47"/>
                <a:gd name="T73" fmla="*/ 43 h 47"/>
                <a:gd name="T74" fmla="*/ 14 w 47"/>
                <a:gd name="T75" fmla="*/ 47 h 47"/>
                <a:gd name="T76" fmla="*/ 18 w 47"/>
                <a:gd name="T77" fmla="*/ 47 h 47"/>
                <a:gd name="T78" fmla="*/ 22 w 47"/>
                <a:gd name="T79" fmla="*/ 47 h 47"/>
                <a:gd name="T80" fmla="*/ 25 w 47"/>
                <a:gd name="T81" fmla="*/ 47 h 47"/>
                <a:gd name="T82" fmla="*/ 25 w 47"/>
                <a:gd name="T83" fmla="*/ 47 h 47"/>
                <a:gd name="T84" fmla="*/ 22 w 47"/>
                <a:gd name="T85" fmla="*/ 47 h 4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7"/>
                <a:gd name="T130" fmla="*/ 0 h 47"/>
                <a:gd name="T131" fmla="*/ 47 w 47"/>
                <a:gd name="T132" fmla="*/ 47 h 4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7" h="47">
                  <a:moveTo>
                    <a:pt x="22" y="47"/>
                  </a:moveTo>
                  <a:lnTo>
                    <a:pt x="29" y="47"/>
                  </a:lnTo>
                  <a:lnTo>
                    <a:pt x="33" y="47"/>
                  </a:lnTo>
                  <a:lnTo>
                    <a:pt x="36" y="47"/>
                  </a:lnTo>
                  <a:lnTo>
                    <a:pt x="36" y="43"/>
                  </a:lnTo>
                  <a:lnTo>
                    <a:pt x="40" y="40"/>
                  </a:lnTo>
                  <a:lnTo>
                    <a:pt x="43" y="40"/>
                  </a:lnTo>
                  <a:lnTo>
                    <a:pt x="43" y="36"/>
                  </a:lnTo>
                  <a:lnTo>
                    <a:pt x="47" y="32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21"/>
                  </a:lnTo>
                  <a:lnTo>
                    <a:pt x="47" y="18"/>
                  </a:lnTo>
                  <a:lnTo>
                    <a:pt x="43" y="14"/>
                  </a:lnTo>
                  <a:lnTo>
                    <a:pt x="43" y="11"/>
                  </a:lnTo>
                  <a:lnTo>
                    <a:pt x="40" y="7"/>
                  </a:lnTo>
                  <a:lnTo>
                    <a:pt x="36" y="7"/>
                  </a:lnTo>
                  <a:lnTo>
                    <a:pt x="36" y="3"/>
                  </a:lnTo>
                  <a:lnTo>
                    <a:pt x="33" y="3"/>
                  </a:lnTo>
                  <a:lnTo>
                    <a:pt x="29" y="3"/>
                  </a:lnTo>
                  <a:lnTo>
                    <a:pt x="25" y="0"/>
                  </a:lnTo>
                  <a:lnTo>
                    <a:pt x="22" y="3"/>
                  </a:lnTo>
                  <a:lnTo>
                    <a:pt x="18" y="3"/>
                  </a:lnTo>
                  <a:lnTo>
                    <a:pt x="14" y="3"/>
                  </a:lnTo>
                  <a:lnTo>
                    <a:pt x="11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4" y="14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2"/>
                  </a:lnTo>
                  <a:lnTo>
                    <a:pt x="4" y="36"/>
                  </a:lnTo>
                  <a:lnTo>
                    <a:pt x="4" y="40"/>
                  </a:lnTo>
                  <a:lnTo>
                    <a:pt x="7" y="40"/>
                  </a:lnTo>
                  <a:lnTo>
                    <a:pt x="11" y="43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2" y="47"/>
                  </a:lnTo>
                  <a:lnTo>
                    <a:pt x="25" y="47"/>
                  </a:lnTo>
                  <a:lnTo>
                    <a:pt x="22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Freeform 73"/>
            <p:cNvSpPr>
              <a:spLocks noChangeArrowheads="1"/>
            </p:cNvSpPr>
            <p:nvPr/>
          </p:nvSpPr>
          <p:spPr bwMode="auto">
            <a:xfrm>
              <a:off x="1612" y="2845"/>
              <a:ext cx="47" cy="48"/>
            </a:xfrm>
            <a:custGeom>
              <a:avLst/>
              <a:gdLst>
                <a:gd name="T0" fmla="*/ 22 w 47"/>
                <a:gd name="T1" fmla="*/ 48 h 48"/>
                <a:gd name="T2" fmla="*/ 29 w 47"/>
                <a:gd name="T3" fmla="*/ 48 h 48"/>
                <a:gd name="T4" fmla="*/ 33 w 47"/>
                <a:gd name="T5" fmla="*/ 48 h 48"/>
                <a:gd name="T6" fmla="*/ 36 w 47"/>
                <a:gd name="T7" fmla="*/ 44 h 48"/>
                <a:gd name="T8" fmla="*/ 36 w 47"/>
                <a:gd name="T9" fmla="*/ 44 h 48"/>
                <a:gd name="T10" fmla="*/ 40 w 47"/>
                <a:gd name="T11" fmla="*/ 40 h 48"/>
                <a:gd name="T12" fmla="*/ 43 w 47"/>
                <a:gd name="T13" fmla="*/ 40 h 48"/>
                <a:gd name="T14" fmla="*/ 43 w 47"/>
                <a:gd name="T15" fmla="*/ 37 h 48"/>
                <a:gd name="T16" fmla="*/ 47 w 47"/>
                <a:gd name="T17" fmla="*/ 33 h 48"/>
                <a:gd name="T18" fmla="*/ 47 w 47"/>
                <a:gd name="T19" fmla="*/ 29 h 48"/>
                <a:gd name="T20" fmla="*/ 47 w 47"/>
                <a:gd name="T21" fmla="*/ 26 h 48"/>
                <a:gd name="T22" fmla="*/ 47 w 47"/>
                <a:gd name="T23" fmla="*/ 22 h 48"/>
                <a:gd name="T24" fmla="*/ 47 w 47"/>
                <a:gd name="T25" fmla="*/ 19 h 48"/>
                <a:gd name="T26" fmla="*/ 43 w 47"/>
                <a:gd name="T27" fmla="*/ 15 h 48"/>
                <a:gd name="T28" fmla="*/ 43 w 47"/>
                <a:gd name="T29" fmla="*/ 11 h 48"/>
                <a:gd name="T30" fmla="*/ 40 w 47"/>
                <a:gd name="T31" fmla="*/ 8 h 48"/>
                <a:gd name="T32" fmla="*/ 36 w 47"/>
                <a:gd name="T33" fmla="*/ 8 h 48"/>
                <a:gd name="T34" fmla="*/ 36 w 47"/>
                <a:gd name="T35" fmla="*/ 4 h 48"/>
                <a:gd name="T36" fmla="*/ 33 w 47"/>
                <a:gd name="T37" fmla="*/ 4 h 48"/>
                <a:gd name="T38" fmla="*/ 29 w 47"/>
                <a:gd name="T39" fmla="*/ 0 h 48"/>
                <a:gd name="T40" fmla="*/ 25 w 47"/>
                <a:gd name="T41" fmla="*/ 0 h 48"/>
                <a:gd name="T42" fmla="*/ 22 w 47"/>
                <a:gd name="T43" fmla="*/ 0 h 48"/>
                <a:gd name="T44" fmla="*/ 18 w 47"/>
                <a:gd name="T45" fmla="*/ 4 h 48"/>
                <a:gd name="T46" fmla="*/ 14 w 47"/>
                <a:gd name="T47" fmla="*/ 4 h 48"/>
                <a:gd name="T48" fmla="*/ 11 w 47"/>
                <a:gd name="T49" fmla="*/ 8 h 48"/>
                <a:gd name="T50" fmla="*/ 7 w 47"/>
                <a:gd name="T51" fmla="*/ 8 h 48"/>
                <a:gd name="T52" fmla="*/ 4 w 47"/>
                <a:gd name="T53" fmla="*/ 11 h 48"/>
                <a:gd name="T54" fmla="*/ 4 w 47"/>
                <a:gd name="T55" fmla="*/ 15 h 48"/>
                <a:gd name="T56" fmla="*/ 0 w 47"/>
                <a:gd name="T57" fmla="*/ 19 h 48"/>
                <a:gd name="T58" fmla="*/ 0 w 47"/>
                <a:gd name="T59" fmla="*/ 22 h 48"/>
                <a:gd name="T60" fmla="*/ 0 w 47"/>
                <a:gd name="T61" fmla="*/ 26 h 48"/>
                <a:gd name="T62" fmla="*/ 0 w 47"/>
                <a:gd name="T63" fmla="*/ 29 h 48"/>
                <a:gd name="T64" fmla="*/ 0 w 47"/>
                <a:gd name="T65" fmla="*/ 33 h 48"/>
                <a:gd name="T66" fmla="*/ 4 w 47"/>
                <a:gd name="T67" fmla="*/ 37 h 48"/>
                <a:gd name="T68" fmla="*/ 4 w 47"/>
                <a:gd name="T69" fmla="*/ 40 h 48"/>
                <a:gd name="T70" fmla="*/ 7 w 47"/>
                <a:gd name="T71" fmla="*/ 40 h 48"/>
                <a:gd name="T72" fmla="*/ 11 w 47"/>
                <a:gd name="T73" fmla="*/ 44 h 48"/>
                <a:gd name="T74" fmla="*/ 14 w 47"/>
                <a:gd name="T75" fmla="*/ 44 h 48"/>
                <a:gd name="T76" fmla="*/ 18 w 47"/>
                <a:gd name="T77" fmla="*/ 48 h 48"/>
                <a:gd name="T78" fmla="*/ 22 w 47"/>
                <a:gd name="T79" fmla="*/ 48 h 48"/>
                <a:gd name="T80" fmla="*/ 25 w 47"/>
                <a:gd name="T81" fmla="*/ 48 h 48"/>
                <a:gd name="T82" fmla="*/ 25 w 47"/>
                <a:gd name="T83" fmla="*/ 48 h 48"/>
                <a:gd name="T84" fmla="*/ 22 w 47"/>
                <a:gd name="T85" fmla="*/ 48 h 4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7"/>
                <a:gd name="T130" fmla="*/ 0 h 48"/>
                <a:gd name="T131" fmla="*/ 47 w 47"/>
                <a:gd name="T132" fmla="*/ 48 h 4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7" h="48">
                  <a:moveTo>
                    <a:pt x="22" y="48"/>
                  </a:moveTo>
                  <a:lnTo>
                    <a:pt x="29" y="48"/>
                  </a:lnTo>
                  <a:lnTo>
                    <a:pt x="33" y="48"/>
                  </a:lnTo>
                  <a:lnTo>
                    <a:pt x="36" y="44"/>
                  </a:lnTo>
                  <a:lnTo>
                    <a:pt x="40" y="40"/>
                  </a:lnTo>
                  <a:lnTo>
                    <a:pt x="43" y="40"/>
                  </a:lnTo>
                  <a:lnTo>
                    <a:pt x="43" y="37"/>
                  </a:lnTo>
                  <a:lnTo>
                    <a:pt x="47" y="33"/>
                  </a:lnTo>
                  <a:lnTo>
                    <a:pt x="47" y="29"/>
                  </a:lnTo>
                  <a:lnTo>
                    <a:pt x="47" y="26"/>
                  </a:lnTo>
                  <a:lnTo>
                    <a:pt x="47" y="22"/>
                  </a:lnTo>
                  <a:lnTo>
                    <a:pt x="47" y="19"/>
                  </a:lnTo>
                  <a:lnTo>
                    <a:pt x="43" y="15"/>
                  </a:lnTo>
                  <a:lnTo>
                    <a:pt x="43" y="11"/>
                  </a:lnTo>
                  <a:lnTo>
                    <a:pt x="40" y="8"/>
                  </a:lnTo>
                  <a:lnTo>
                    <a:pt x="36" y="8"/>
                  </a:lnTo>
                  <a:lnTo>
                    <a:pt x="36" y="4"/>
                  </a:lnTo>
                  <a:lnTo>
                    <a:pt x="33" y="4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2" y="0"/>
                  </a:lnTo>
                  <a:lnTo>
                    <a:pt x="18" y="4"/>
                  </a:lnTo>
                  <a:lnTo>
                    <a:pt x="14" y="4"/>
                  </a:lnTo>
                  <a:lnTo>
                    <a:pt x="11" y="8"/>
                  </a:lnTo>
                  <a:lnTo>
                    <a:pt x="7" y="8"/>
                  </a:lnTo>
                  <a:lnTo>
                    <a:pt x="4" y="11"/>
                  </a:lnTo>
                  <a:lnTo>
                    <a:pt x="4" y="15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4" y="37"/>
                  </a:lnTo>
                  <a:lnTo>
                    <a:pt x="4" y="40"/>
                  </a:lnTo>
                  <a:lnTo>
                    <a:pt x="7" y="40"/>
                  </a:lnTo>
                  <a:lnTo>
                    <a:pt x="11" y="44"/>
                  </a:lnTo>
                  <a:lnTo>
                    <a:pt x="14" y="44"/>
                  </a:lnTo>
                  <a:lnTo>
                    <a:pt x="18" y="48"/>
                  </a:lnTo>
                  <a:lnTo>
                    <a:pt x="22" y="48"/>
                  </a:lnTo>
                  <a:lnTo>
                    <a:pt x="25" y="48"/>
                  </a:lnTo>
                  <a:lnTo>
                    <a:pt x="22" y="4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Rectangle 74"/>
            <p:cNvSpPr>
              <a:spLocks noChangeArrowheads="1"/>
            </p:cNvSpPr>
            <p:nvPr/>
          </p:nvSpPr>
          <p:spPr bwMode="auto">
            <a:xfrm>
              <a:off x="1681" y="2146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77" name="Rectangle 75"/>
            <p:cNvSpPr>
              <a:spLocks noChangeArrowheads="1"/>
            </p:cNvSpPr>
            <p:nvPr/>
          </p:nvSpPr>
          <p:spPr bwMode="auto">
            <a:xfrm>
              <a:off x="1753" y="2146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78" name="Rectangle 76"/>
            <p:cNvSpPr>
              <a:spLocks noChangeArrowheads="1"/>
            </p:cNvSpPr>
            <p:nvPr/>
          </p:nvSpPr>
          <p:spPr bwMode="auto">
            <a:xfrm>
              <a:off x="1681" y="2429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79" name="Rectangle 77"/>
            <p:cNvSpPr>
              <a:spLocks noChangeArrowheads="1"/>
            </p:cNvSpPr>
            <p:nvPr/>
          </p:nvSpPr>
          <p:spPr bwMode="auto">
            <a:xfrm>
              <a:off x="1753" y="2429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80" name="Rectangle 78"/>
            <p:cNvSpPr>
              <a:spLocks noChangeArrowheads="1"/>
            </p:cNvSpPr>
            <p:nvPr/>
          </p:nvSpPr>
          <p:spPr bwMode="auto">
            <a:xfrm>
              <a:off x="1681" y="2708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81" name="Rectangle 79"/>
            <p:cNvSpPr>
              <a:spLocks noChangeArrowheads="1"/>
            </p:cNvSpPr>
            <p:nvPr/>
          </p:nvSpPr>
          <p:spPr bwMode="auto">
            <a:xfrm>
              <a:off x="1753" y="2708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82" name="Rectangle 80"/>
            <p:cNvSpPr>
              <a:spLocks noChangeArrowheads="1"/>
            </p:cNvSpPr>
            <p:nvPr/>
          </p:nvSpPr>
          <p:spPr bwMode="auto">
            <a:xfrm>
              <a:off x="1681" y="2991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83" name="Rectangle 81"/>
            <p:cNvSpPr>
              <a:spLocks noChangeArrowheads="1"/>
            </p:cNvSpPr>
            <p:nvPr/>
          </p:nvSpPr>
          <p:spPr bwMode="auto">
            <a:xfrm>
              <a:off x="1753" y="2991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84" name="Freeform 82"/>
            <p:cNvSpPr>
              <a:spLocks noChangeArrowheads="1"/>
            </p:cNvSpPr>
            <p:nvPr/>
          </p:nvSpPr>
          <p:spPr bwMode="auto">
            <a:xfrm>
              <a:off x="1612" y="2704"/>
              <a:ext cx="47" cy="47"/>
            </a:xfrm>
            <a:custGeom>
              <a:avLst/>
              <a:gdLst>
                <a:gd name="T0" fmla="*/ 22 w 47"/>
                <a:gd name="T1" fmla="*/ 47 h 47"/>
                <a:gd name="T2" fmla="*/ 29 w 47"/>
                <a:gd name="T3" fmla="*/ 47 h 47"/>
                <a:gd name="T4" fmla="*/ 33 w 47"/>
                <a:gd name="T5" fmla="*/ 47 h 47"/>
                <a:gd name="T6" fmla="*/ 36 w 47"/>
                <a:gd name="T7" fmla="*/ 47 h 47"/>
                <a:gd name="T8" fmla="*/ 36 w 47"/>
                <a:gd name="T9" fmla="*/ 44 h 47"/>
                <a:gd name="T10" fmla="*/ 40 w 47"/>
                <a:gd name="T11" fmla="*/ 40 h 47"/>
                <a:gd name="T12" fmla="*/ 43 w 47"/>
                <a:gd name="T13" fmla="*/ 40 h 47"/>
                <a:gd name="T14" fmla="*/ 43 w 47"/>
                <a:gd name="T15" fmla="*/ 36 h 47"/>
                <a:gd name="T16" fmla="*/ 47 w 47"/>
                <a:gd name="T17" fmla="*/ 33 h 47"/>
                <a:gd name="T18" fmla="*/ 47 w 47"/>
                <a:gd name="T19" fmla="*/ 29 h 47"/>
                <a:gd name="T20" fmla="*/ 47 w 47"/>
                <a:gd name="T21" fmla="*/ 25 h 47"/>
                <a:gd name="T22" fmla="*/ 47 w 47"/>
                <a:gd name="T23" fmla="*/ 22 h 47"/>
                <a:gd name="T24" fmla="*/ 47 w 47"/>
                <a:gd name="T25" fmla="*/ 18 h 47"/>
                <a:gd name="T26" fmla="*/ 43 w 47"/>
                <a:gd name="T27" fmla="*/ 15 h 47"/>
                <a:gd name="T28" fmla="*/ 43 w 47"/>
                <a:gd name="T29" fmla="*/ 11 h 47"/>
                <a:gd name="T30" fmla="*/ 40 w 47"/>
                <a:gd name="T31" fmla="*/ 7 h 47"/>
                <a:gd name="T32" fmla="*/ 36 w 47"/>
                <a:gd name="T33" fmla="*/ 7 h 47"/>
                <a:gd name="T34" fmla="*/ 36 w 47"/>
                <a:gd name="T35" fmla="*/ 4 h 47"/>
                <a:gd name="T36" fmla="*/ 33 w 47"/>
                <a:gd name="T37" fmla="*/ 4 h 47"/>
                <a:gd name="T38" fmla="*/ 29 w 47"/>
                <a:gd name="T39" fmla="*/ 0 h 47"/>
                <a:gd name="T40" fmla="*/ 25 w 47"/>
                <a:gd name="T41" fmla="*/ 0 h 47"/>
                <a:gd name="T42" fmla="*/ 22 w 47"/>
                <a:gd name="T43" fmla="*/ 0 h 47"/>
                <a:gd name="T44" fmla="*/ 18 w 47"/>
                <a:gd name="T45" fmla="*/ 4 h 47"/>
                <a:gd name="T46" fmla="*/ 14 w 47"/>
                <a:gd name="T47" fmla="*/ 4 h 47"/>
                <a:gd name="T48" fmla="*/ 11 w 47"/>
                <a:gd name="T49" fmla="*/ 7 h 47"/>
                <a:gd name="T50" fmla="*/ 7 w 47"/>
                <a:gd name="T51" fmla="*/ 7 h 47"/>
                <a:gd name="T52" fmla="*/ 4 w 47"/>
                <a:gd name="T53" fmla="*/ 11 h 47"/>
                <a:gd name="T54" fmla="*/ 4 w 47"/>
                <a:gd name="T55" fmla="*/ 15 h 47"/>
                <a:gd name="T56" fmla="*/ 0 w 47"/>
                <a:gd name="T57" fmla="*/ 18 h 47"/>
                <a:gd name="T58" fmla="*/ 0 w 47"/>
                <a:gd name="T59" fmla="*/ 22 h 47"/>
                <a:gd name="T60" fmla="*/ 0 w 47"/>
                <a:gd name="T61" fmla="*/ 25 h 47"/>
                <a:gd name="T62" fmla="*/ 0 w 47"/>
                <a:gd name="T63" fmla="*/ 29 h 47"/>
                <a:gd name="T64" fmla="*/ 0 w 47"/>
                <a:gd name="T65" fmla="*/ 33 h 47"/>
                <a:gd name="T66" fmla="*/ 4 w 47"/>
                <a:gd name="T67" fmla="*/ 36 h 47"/>
                <a:gd name="T68" fmla="*/ 4 w 47"/>
                <a:gd name="T69" fmla="*/ 40 h 47"/>
                <a:gd name="T70" fmla="*/ 7 w 47"/>
                <a:gd name="T71" fmla="*/ 40 h 47"/>
                <a:gd name="T72" fmla="*/ 11 w 47"/>
                <a:gd name="T73" fmla="*/ 44 h 47"/>
                <a:gd name="T74" fmla="*/ 14 w 47"/>
                <a:gd name="T75" fmla="*/ 47 h 47"/>
                <a:gd name="T76" fmla="*/ 18 w 47"/>
                <a:gd name="T77" fmla="*/ 47 h 47"/>
                <a:gd name="T78" fmla="*/ 22 w 47"/>
                <a:gd name="T79" fmla="*/ 47 h 47"/>
                <a:gd name="T80" fmla="*/ 25 w 47"/>
                <a:gd name="T81" fmla="*/ 47 h 47"/>
                <a:gd name="T82" fmla="*/ 25 w 47"/>
                <a:gd name="T83" fmla="*/ 47 h 47"/>
                <a:gd name="T84" fmla="*/ 22 w 47"/>
                <a:gd name="T85" fmla="*/ 47 h 4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7"/>
                <a:gd name="T130" fmla="*/ 0 h 47"/>
                <a:gd name="T131" fmla="*/ 47 w 47"/>
                <a:gd name="T132" fmla="*/ 47 h 4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7" h="47">
                  <a:moveTo>
                    <a:pt x="22" y="47"/>
                  </a:moveTo>
                  <a:lnTo>
                    <a:pt x="29" y="47"/>
                  </a:lnTo>
                  <a:lnTo>
                    <a:pt x="33" y="47"/>
                  </a:lnTo>
                  <a:lnTo>
                    <a:pt x="36" y="47"/>
                  </a:lnTo>
                  <a:lnTo>
                    <a:pt x="36" y="44"/>
                  </a:lnTo>
                  <a:lnTo>
                    <a:pt x="40" y="40"/>
                  </a:lnTo>
                  <a:lnTo>
                    <a:pt x="43" y="40"/>
                  </a:lnTo>
                  <a:lnTo>
                    <a:pt x="43" y="36"/>
                  </a:lnTo>
                  <a:lnTo>
                    <a:pt x="47" y="33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22"/>
                  </a:lnTo>
                  <a:lnTo>
                    <a:pt x="47" y="18"/>
                  </a:lnTo>
                  <a:lnTo>
                    <a:pt x="43" y="15"/>
                  </a:lnTo>
                  <a:lnTo>
                    <a:pt x="43" y="11"/>
                  </a:lnTo>
                  <a:lnTo>
                    <a:pt x="40" y="7"/>
                  </a:lnTo>
                  <a:lnTo>
                    <a:pt x="36" y="7"/>
                  </a:lnTo>
                  <a:lnTo>
                    <a:pt x="36" y="4"/>
                  </a:lnTo>
                  <a:lnTo>
                    <a:pt x="33" y="4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2" y="0"/>
                  </a:lnTo>
                  <a:lnTo>
                    <a:pt x="18" y="4"/>
                  </a:lnTo>
                  <a:lnTo>
                    <a:pt x="14" y="4"/>
                  </a:lnTo>
                  <a:lnTo>
                    <a:pt x="11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4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4" y="36"/>
                  </a:lnTo>
                  <a:lnTo>
                    <a:pt x="4" y="40"/>
                  </a:lnTo>
                  <a:lnTo>
                    <a:pt x="7" y="40"/>
                  </a:lnTo>
                  <a:lnTo>
                    <a:pt x="11" y="44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2" y="47"/>
                  </a:lnTo>
                  <a:lnTo>
                    <a:pt x="25" y="47"/>
                  </a:lnTo>
                  <a:lnTo>
                    <a:pt x="22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Rectangle 83"/>
            <p:cNvSpPr>
              <a:spLocks noChangeArrowheads="1"/>
            </p:cNvSpPr>
            <p:nvPr/>
          </p:nvSpPr>
          <p:spPr bwMode="auto">
            <a:xfrm>
              <a:off x="1007" y="2559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86" name="Rectangle 84"/>
            <p:cNvSpPr>
              <a:spLocks noChangeArrowheads="1"/>
            </p:cNvSpPr>
            <p:nvPr/>
          </p:nvSpPr>
          <p:spPr bwMode="auto">
            <a:xfrm>
              <a:off x="1083" y="2559"/>
              <a:ext cx="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87" name="Rectangle 85"/>
            <p:cNvSpPr>
              <a:spLocks noChangeArrowheads="1"/>
            </p:cNvSpPr>
            <p:nvPr/>
          </p:nvSpPr>
          <p:spPr bwMode="auto">
            <a:xfrm>
              <a:off x="1115" y="2559"/>
              <a:ext cx="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(</a:t>
              </a:r>
            </a:p>
          </p:txBody>
        </p:sp>
        <p:sp>
          <p:nvSpPr>
            <p:cNvPr id="88" name="Rectangle 86"/>
            <p:cNvSpPr>
              <a:spLocks noChangeArrowheads="1"/>
            </p:cNvSpPr>
            <p:nvPr/>
          </p:nvSpPr>
          <p:spPr bwMode="auto">
            <a:xfrm>
              <a:off x="1155" y="2559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89" name="Rectangle 87"/>
            <p:cNvSpPr>
              <a:spLocks noChangeArrowheads="1"/>
            </p:cNvSpPr>
            <p:nvPr/>
          </p:nvSpPr>
          <p:spPr bwMode="auto">
            <a:xfrm>
              <a:off x="1224" y="2559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–</a:t>
              </a:r>
            </a:p>
          </p:txBody>
        </p:sp>
        <p:sp>
          <p:nvSpPr>
            <p:cNvPr id="90" name="Rectangle 88"/>
            <p:cNvSpPr>
              <a:spLocks noChangeArrowheads="1"/>
            </p:cNvSpPr>
            <p:nvPr/>
          </p:nvSpPr>
          <p:spPr bwMode="auto">
            <a:xfrm>
              <a:off x="1315" y="2559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91" name="Rectangle 89"/>
            <p:cNvSpPr>
              <a:spLocks noChangeArrowheads="1"/>
            </p:cNvSpPr>
            <p:nvPr/>
          </p:nvSpPr>
          <p:spPr bwMode="auto">
            <a:xfrm>
              <a:off x="1380" y="2559"/>
              <a:ext cx="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)</a:t>
              </a:r>
            </a:p>
          </p:txBody>
        </p:sp>
        <p:sp>
          <p:nvSpPr>
            <p:cNvPr id="92" name="Freeform 90"/>
            <p:cNvSpPr>
              <a:spLocks noChangeArrowheads="1"/>
            </p:cNvSpPr>
            <p:nvPr/>
          </p:nvSpPr>
          <p:spPr bwMode="auto">
            <a:xfrm>
              <a:off x="2141" y="1569"/>
              <a:ext cx="47" cy="47"/>
            </a:xfrm>
            <a:custGeom>
              <a:avLst/>
              <a:gdLst>
                <a:gd name="T0" fmla="*/ 22 w 47"/>
                <a:gd name="T1" fmla="*/ 44 h 47"/>
                <a:gd name="T2" fmla="*/ 29 w 47"/>
                <a:gd name="T3" fmla="*/ 47 h 47"/>
                <a:gd name="T4" fmla="*/ 33 w 47"/>
                <a:gd name="T5" fmla="*/ 47 h 47"/>
                <a:gd name="T6" fmla="*/ 36 w 47"/>
                <a:gd name="T7" fmla="*/ 44 h 47"/>
                <a:gd name="T8" fmla="*/ 36 w 47"/>
                <a:gd name="T9" fmla="*/ 44 h 47"/>
                <a:gd name="T10" fmla="*/ 40 w 47"/>
                <a:gd name="T11" fmla="*/ 40 h 47"/>
                <a:gd name="T12" fmla="*/ 44 w 47"/>
                <a:gd name="T13" fmla="*/ 37 h 47"/>
                <a:gd name="T14" fmla="*/ 44 w 47"/>
                <a:gd name="T15" fmla="*/ 33 h 47"/>
                <a:gd name="T16" fmla="*/ 47 w 47"/>
                <a:gd name="T17" fmla="*/ 29 h 47"/>
                <a:gd name="T18" fmla="*/ 47 w 47"/>
                <a:gd name="T19" fmla="*/ 26 h 47"/>
                <a:gd name="T20" fmla="*/ 47 w 47"/>
                <a:gd name="T21" fmla="*/ 22 h 47"/>
                <a:gd name="T22" fmla="*/ 47 w 47"/>
                <a:gd name="T23" fmla="*/ 18 h 47"/>
                <a:gd name="T24" fmla="*/ 47 w 47"/>
                <a:gd name="T25" fmla="*/ 15 h 47"/>
                <a:gd name="T26" fmla="*/ 44 w 47"/>
                <a:gd name="T27" fmla="*/ 11 h 47"/>
                <a:gd name="T28" fmla="*/ 44 w 47"/>
                <a:gd name="T29" fmla="*/ 11 h 47"/>
                <a:gd name="T30" fmla="*/ 40 w 47"/>
                <a:gd name="T31" fmla="*/ 8 h 47"/>
                <a:gd name="T32" fmla="*/ 36 w 47"/>
                <a:gd name="T33" fmla="*/ 4 h 47"/>
                <a:gd name="T34" fmla="*/ 36 w 47"/>
                <a:gd name="T35" fmla="*/ 4 h 47"/>
                <a:gd name="T36" fmla="*/ 33 w 47"/>
                <a:gd name="T37" fmla="*/ 0 h 47"/>
                <a:gd name="T38" fmla="*/ 29 w 47"/>
                <a:gd name="T39" fmla="*/ 0 h 47"/>
                <a:gd name="T40" fmla="*/ 26 w 47"/>
                <a:gd name="T41" fmla="*/ 0 h 47"/>
                <a:gd name="T42" fmla="*/ 22 w 47"/>
                <a:gd name="T43" fmla="*/ 0 h 47"/>
                <a:gd name="T44" fmla="*/ 18 w 47"/>
                <a:gd name="T45" fmla="*/ 0 h 47"/>
                <a:gd name="T46" fmla="*/ 15 w 47"/>
                <a:gd name="T47" fmla="*/ 4 h 47"/>
                <a:gd name="T48" fmla="*/ 11 w 47"/>
                <a:gd name="T49" fmla="*/ 4 h 47"/>
                <a:gd name="T50" fmla="*/ 7 w 47"/>
                <a:gd name="T51" fmla="*/ 8 h 47"/>
                <a:gd name="T52" fmla="*/ 4 w 47"/>
                <a:gd name="T53" fmla="*/ 11 h 47"/>
                <a:gd name="T54" fmla="*/ 4 w 47"/>
                <a:gd name="T55" fmla="*/ 11 h 47"/>
                <a:gd name="T56" fmla="*/ 4 w 47"/>
                <a:gd name="T57" fmla="*/ 15 h 47"/>
                <a:gd name="T58" fmla="*/ 0 w 47"/>
                <a:gd name="T59" fmla="*/ 18 h 47"/>
                <a:gd name="T60" fmla="*/ 0 w 47"/>
                <a:gd name="T61" fmla="*/ 22 h 47"/>
                <a:gd name="T62" fmla="*/ 0 w 47"/>
                <a:gd name="T63" fmla="*/ 26 h 47"/>
                <a:gd name="T64" fmla="*/ 4 w 47"/>
                <a:gd name="T65" fmla="*/ 29 h 47"/>
                <a:gd name="T66" fmla="*/ 4 w 47"/>
                <a:gd name="T67" fmla="*/ 33 h 47"/>
                <a:gd name="T68" fmla="*/ 4 w 47"/>
                <a:gd name="T69" fmla="*/ 37 h 47"/>
                <a:gd name="T70" fmla="*/ 7 w 47"/>
                <a:gd name="T71" fmla="*/ 40 h 47"/>
                <a:gd name="T72" fmla="*/ 11 w 47"/>
                <a:gd name="T73" fmla="*/ 44 h 47"/>
                <a:gd name="T74" fmla="*/ 15 w 47"/>
                <a:gd name="T75" fmla="*/ 44 h 47"/>
                <a:gd name="T76" fmla="*/ 18 w 47"/>
                <a:gd name="T77" fmla="*/ 47 h 47"/>
                <a:gd name="T78" fmla="*/ 22 w 47"/>
                <a:gd name="T79" fmla="*/ 47 h 47"/>
                <a:gd name="T80" fmla="*/ 26 w 47"/>
                <a:gd name="T81" fmla="*/ 47 h 47"/>
                <a:gd name="T82" fmla="*/ 26 w 47"/>
                <a:gd name="T83" fmla="*/ 47 h 47"/>
                <a:gd name="T84" fmla="*/ 22 w 47"/>
                <a:gd name="T85" fmla="*/ 44 h 4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7"/>
                <a:gd name="T130" fmla="*/ 0 h 47"/>
                <a:gd name="T131" fmla="*/ 47 w 47"/>
                <a:gd name="T132" fmla="*/ 47 h 4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7" h="47">
                  <a:moveTo>
                    <a:pt x="22" y="44"/>
                  </a:moveTo>
                  <a:lnTo>
                    <a:pt x="29" y="47"/>
                  </a:lnTo>
                  <a:lnTo>
                    <a:pt x="33" y="47"/>
                  </a:lnTo>
                  <a:lnTo>
                    <a:pt x="36" y="44"/>
                  </a:lnTo>
                  <a:lnTo>
                    <a:pt x="40" y="40"/>
                  </a:lnTo>
                  <a:lnTo>
                    <a:pt x="44" y="37"/>
                  </a:lnTo>
                  <a:lnTo>
                    <a:pt x="44" y="33"/>
                  </a:lnTo>
                  <a:lnTo>
                    <a:pt x="47" y="29"/>
                  </a:lnTo>
                  <a:lnTo>
                    <a:pt x="47" y="26"/>
                  </a:lnTo>
                  <a:lnTo>
                    <a:pt x="47" y="22"/>
                  </a:lnTo>
                  <a:lnTo>
                    <a:pt x="47" y="18"/>
                  </a:lnTo>
                  <a:lnTo>
                    <a:pt x="47" y="15"/>
                  </a:lnTo>
                  <a:lnTo>
                    <a:pt x="44" y="11"/>
                  </a:lnTo>
                  <a:lnTo>
                    <a:pt x="40" y="8"/>
                  </a:lnTo>
                  <a:lnTo>
                    <a:pt x="36" y="4"/>
                  </a:lnTo>
                  <a:lnTo>
                    <a:pt x="33" y="0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5" y="4"/>
                  </a:lnTo>
                  <a:lnTo>
                    <a:pt x="11" y="4"/>
                  </a:lnTo>
                  <a:lnTo>
                    <a:pt x="7" y="8"/>
                  </a:lnTo>
                  <a:lnTo>
                    <a:pt x="4" y="11"/>
                  </a:lnTo>
                  <a:lnTo>
                    <a:pt x="4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4" y="29"/>
                  </a:lnTo>
                  <a:lnTo>
                    <a:pt x="4" y="33"/>
                  </a:lnTo>
                  <a:lnTo>
                    <a:pt x="4" y="37"/>
                  </a:lnTo>
                  <a:lnTo>
                    <a:pt x="7" y="40"/>
                  </a:lnTo>
                  <a:lnTo>
                    <a:pt x="11" y="44"/>
                  </a:lnTo>
                  <a:lnTo>
                    <a:pt x="15" y="44"/>
                  </a:lnTo>
                  <a:lnTo>
                    <a:pt x="18" y="47"/>
                  </a:lnTo>
                  <a:lnTo>
                    <a:pt x="22" y="47"/>
                  </a:lnTo>
                  <a:lnTo>
                    <a:pt x="26" y="47"/>
                  </a:lnTo>
                  <a:lnTo>
                    <a:pt x="22" y="4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Rectangle 91"/>
            <p:cNvSpPr>
              <a:spLocks noChangeArrowheads="1"/>
            </p:cNvSpPr>
            <p:nvPr/>
          </p:nvSpPr>
          <p:spPr bwMode="auto">
            <a:xfrm>
              <a:off x="2212" y="1432"/>
              <a:ext cx="8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94" name="Rectangle 92"/>
            <p:cNvSpPr>
              <a:spLocks noChangeArrowheads="1"/>
            </p:cNvSpPr>
            <p:nvPr/>
          </p:nvSpPr>
          <p:spPr bwMode="auto">
            <a:xfrm>
              <a:off x="2290" y="1432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95" name="Rectangle 93"/>
            <p:cNvSpPr>
              <a:spLocks noChangeArrowheads="1"/>
            </p:cNvSpPr>
            <p:nvPr/>
          </p:nvSpPr>
          <p:spPr bwMode="auto">
            <a:xfrm>
              <a:off x="2359" y="1432"/>
              <a:ext cx="8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96" name="Rectangle 94"/>
            <p:cNvSpPr>
              <a:spLocks noChangeArrowheads="1"/>
            </p:cNvSpPr>
            <p:nvPr/>
          </p:nvSpPr>
          <p:spPr bwMode="auto">
            <a:xfrm>
              <a:off x="2446" y="1432"/>
              <a:ext cx="9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97" name="Rectangle 95"/>
            <p:cNvSpPr>
              <a:spLocks noChangeArrowheads="1"/>
            </p:cNvSpPr>
            <p:nvPr/>
          </p:nvSpPr>
          <p:spPr bwMode="auto">
            <a:xfrm>
              <a:off x="2540" y="1432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98" name="Rectangle 96"/>
            <p:cNvSpPr>
              <a:spLocks noChangeArrowheads="1"/>
            </p:cNvSpPr>
            <p:nvPr/>
          </p:nvSpPr>
          <p:spPr bwMode="auto">
            <a:xfrm>
              <a:off x="2605" y="1432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99" name="Freeform 97"/>
            <p:cNvSpPr>
              <a:spLocks noChangeArrowheads="1"/>
            </p:cNvSpPr>
            <p:nvPr/>
          </p:nvSpPr>
          <p:spPr bwMode="auto">
            <a:xfrm>
              <a:off x="1500" y="1384"/>
              <a:ext cx="3041" cy="1918"/>
            </a:xfrm>
            <a:custGeom>
              <a:avLst/>
              <a:gdLst>
                <a:gd name="T0" fmla="*/ 3041 w 3041"/>
                <a:gd name="T1" fmla="*/ 1918 h 1918"/>
                <a:gd name="T2" fmla="*/ 3041 w 3041"/>
                <a:gd name="T3" fmla="*/ 0 h 1918"/>
                <a:gd name="T4" fmla="*/ 0 w 3041"/>
                <a:gd name="T5" fmla="*/ 0 h 1918"/>
                <a:gd name="T6" fmla="*/ 0 w 3041"/>
                <a:gd name="T7" fmla="*/ 1918 h 1918"/>
                <a:gd name="T8" fmla="*/ 3041 w 3041"/>
                <a:gd name="T9" fmla="*/ 1918 h 1918"/>
                <a:gd name="T10" fmla="*/ 3041 w 3041"/>
                <a:gd name="T11" fmla="*/ 1918 h 19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41"/>
                <a:gd name="T19" fmla="*/ 0 h 1918"/>
                <a:gd name="T20" fmla="*/ 3041 w 3041"/>
                <a:gd name="T21" fmla="*/ 1918 h 191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41" h="1918">
                  <a:moveTo>
                    <a:pt x="3041" y="1918"/>
                  </a:moveTo>
                  <a:lnTo>
                    <a:pt x="3041" y="0"/>
                  </a:lnTo>
                  <a:lnTo>
                    <a:pt x="0" y="0"/>
                  </a:lnTo>
                  <a:lnTo>
                    <a:pt x="0" y="1918"/>
                  </a:lnTo>
                  <a:lnTo>
                    <a:pt x="3041" y="1918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Rectangle 98"/>
            <p:cNvSpPr>
              <a:spLocks noChangeArrowheads="1"/>
            </p:cNvSpPr>
            <p:nvPr/>
          </p:nvSpPr>
          <p:spPr bwMode="auto">
            <a:xfrm>
              <a:off x="1992" y="1011"/>
              <a:ext cx="8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01" name="Rectangle 99"/>
            <p:cNvSpPr>
              <a:spLocks noChangeArrowheads="1"/>
            </p:cNvSpPr>
            <p:nvPr/>
          </p:nvSpPr>
          <p:spPr bwMode="auto">
            <a:xfrm>
              <a:off x="2069" y="1011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102" name="Rectangle 100"/>
            <p:cNvSpPr>
              <a:spLocks noChangeArrowheads="1"/>
            </p:cNvSpPr>
            <p:nvPr/>
          </p:nvSpPr>
          <p:spPr bwMode="auto">
            <a:xfrm>
              <a:off x="2138" y="1011"/>
              <a:ext cx="8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103" name="Rectangle 101"/>
            <p:cNvSpPr>
              <a:spLocks noChangeArrowheads="1"/>
            </p:cNvSpPr>
            <p:nvPr/>
          </p:nvSpPr>
          <p:spPr bwMode="auto">
            <a:xfrm>
              <a:off x="2225" y="1011"/>
              <a:ext cx="9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04" name="Rectangle 102"/>
            <p:cNvSpPr>
              <a:spLocks noChangeArrowheads="1"/>
            </p:cNvSpPr>
            <p:nvPr/>
          </p:nvSpPr>
          <p:spPr bwMode="auto">
            <a:xfrm>
              <a:off x="2319" y="1011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105" name="Rectangle 103"/>
            <p:cNvSpPr>
              <a:spLocks noChangeArrowheads="1"/>
            </p:cNvSpPr>
            <p:nvPr/>
          </p:nvSpPr>
          <p:spPr bwMode="auto">
            <a:xfrm>
              <a:off x="2774" y="1222"/>
              <a:ext cx="8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06" name="Rectangle 104"/>
            <p:cNvSpPr>
              <a:spLocks noChangeArrowheads="1"/>
            </p:cNvSpPr>
            <p:nvPr/>
          </p:nvSpPr>
          <p:spPr bwMode="auto">
            <a:xfrm>
              <a:off x="2852" y="1222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107" name="Rectangle 105"/>
            <p:cNvSpPr>
              <a:spLocks noChangeArrowheads="1"/>
            </p:cNvSpPr>
            <p:nvPr/>
          </p:nvSpPr>
          <p:spPr bwMode="auto">
            <a:xfrm>
              <a:off x="2921" y="1222"/>
              <a:ext cx="87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108" name="Rectangle 106"/>
            <p:cNvSpPr>
              <a:spLocks noChangeArrowheads="1"/>
            </p:cNvSpPr>
            <p:nvPr/>
          </p:nvSpPr>
          <p:spPr bwMode="auto">
            <a:xfrm>
              <a:off x="3007" y="1222"/>
              <a:ext cx="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09" name="Rectangle 107"/>
            <p:cNvSpPr>
              <a:spLocks noChangeArrowheads="1"/>
            </p:cNvSpPr>
            <p:nvPr/>
          </p:nvSpPr>
          <p:spPr bwMode="auto">
            <a:xfrm>
              <a:off x="3040" y="1222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110" name="Rectangle 108"/>
            <p:cNvSpPr>
              <a:spLocks noChangeArrowheads="1"/>
            </p:cNvSpPr>
            <p:nvPr/>
          </p:nvSpPr>
          <p:spPr bwMode="auto">
            <a:xfrm>
              <a:off x="3102" y="1222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11" name="Rectangle 109"/>
            <p:cNvSpPr>
              <a:spLocks noChangeArrowheads="1"/>
            </p:cNvSpPr>
            <p:nvPr/>
          </p:nvSpPr>
          <p:spPr bwMode="auto">
            <a:xfrm>
              <a:off x="3167" y="1222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12" name="Rectangle 110"/>
            <p:cNvSpPr>
              <a:spLocks noChangeArrowheads="1"/>
            </p:cNvSpPr>
            <p:nvPr/>
          </p:nvSpPr>
          <p:spPr bwMode="auto">
            <a:xfrm>
              <a:off x="3236" y="1222"/>
              <a:ext cx="4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13" name="Rectangle 111"/>
            <p:cNvSpPr>
              <a:spLocks noChangeArrowheads="1"/>
            </p:cNvSpPr>
            <p:nvPr/>
          </p:nvSpPr>
          <p:spPr bwMode="auto">
            <a:xfrm>
              <a:off x="3269" y="1222"/>
              <a:ext cx="4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14" name="Rectangle 112"/>
            <p:cNvSpPr>
              <a:spLocks noChangeArrowheads="1"/>
            </p:cNvSpPr>
            <p:nvPr/>
          </p:nvSpPr>
          <p:spPr bwMode="auto">
            <a:xfrm>
              <a:off x="3308" y="1222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15" name="Rectangle 113"/>
            <p:cNvSpPr>
              <a:spLocks noChangeArrowheads="1"/>
            </p:cNvSpPr>
            <p:nvPr/>
          </p:nvSpPr>
          <p:spPr bwMode="auto">
            <a:xfrm>
              <a:off x="3377" y="1222"/>
              <a:ext cx="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116" name="Rectangle 114"/>
            <p:cNvSpPr>
              <a:spLocks noChangeArrowheads="1"/>
            </p:cNvSpPr>
            <p:nvPr/>
          </p:nvSpPr>
          <p:spPr bwMode="auto">
            <a:xfrm>
              <a:off x="3402" y="1222"/>
              <a:ext cx="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17" name="Rectangle 115"/>
            <p:cNvSpPr>
              <a:spLocks noChangeArrowheads="1"/>
            </p:cNvSpPr>
            <p:nvPr/>
          </p:nvSpPr>
          <p:spPr bwMode="auto">
            <a:xfrm>
              <a:off x="3435" y="1222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b</a:t>
              </a:r>
            </a:p>
          </p:txBody>
        </p:sp>
        <p:sp>
          <p:nvSpPr>
            <p:cNvPr id="118" name="Rectangle 116"/>
            <p:cNvSpPr>
              <a:spLocks noChangeArrowheads="1"/>
            </p:cNvSpPr>
            <p:nvPr/>
          </p:nvSpPr>
          <p:spPr bwMode="auto">
            <a:xfrm>
              <a:off x="3504" y="1222"/>
              <a:ext cx="3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119" name="Rectangle 117"/>
            <p:cNvSpPr>
              <a:spLocks noChangeArrowheads="1"/>
            </p:cNvSpPr>
            <p:nvPr/>
          </p:nvSpPr>
          <p:spPr bwMode="auto">
            <a:xfrm>
              <a:off x="3530" y="1222"/>
              <a:ext cx="7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20" name="Rectangle 118"/>
            <p:cNvSpPr>
              <a:spLocks noChangeArrowheads="1"/>
            </p:cNvSpPr>
            <p:nvPr/>
          </p:nvSpPr>
          <p:spPr bwMode="auto">
            <a:xfrm>
              <a:off x="3598" y="1222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121" name="Rectangle 119"/>
            <p:cNvSpPr>
              <a:spLocks noChangeArrowheads="1"/>
            </p:cNvSpPr>
            <p:nvPr/>
          </p:nvSpPr>
          <p:spPr bwMode="auto">
            <a:xfrm>
              <a:off x="3656" y="1222"/>
              <a:ext cx="68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500" b="1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k</a:t>
              </a:r>
            </a:p>
          </p:txBody>
        </p:sp>
        <p:sp>
          <p:nvSpPr>
            <p:cNvPr id="122" name="Line 120"/>
            <p:cNvSpPr>
              <a:spLocks noChangeShapeType="1"/>
            </p:cNvSpPr>
            <p:nvPr/>
          </p:nvSpPr>
          <p:spPr bwMode="auto">
            <a:xfrm flipH="1">
              <a:off x="1499" y="2726"/>
              <a:ext cx="136" cy="3"/>
            </a:xfrm>
            <a:prstGeom prst="line">
              <a:avLst/>
            </a:prstGeom>
            <a:noFill/>
            <a:ln w="39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121"/>
            <p:cNvSpPr>
              <a:spLocks noChangeArrowheads="1"/>
            </p:cNvSpPr>
            <p:nvPr/>
          </p:nvSpPr>
          <p:spPr bwMode="auto">
            <a:xfrm>
              <a:off x="1438" y="2686"/>
              <a:ext cx="76" cy="80"/>
            </a:xfrm>
            <a:custGeom>
              <a:avLst/>
              <a:gdLst>
                <a:gd name="T0" fmla="*/ 0 w 76"/>
                <a:gd name="T1" fmla="*/ 0 h 80"/>
                <a:gd name="T2" fmla="*/ 0 w 76"/>
                <a:gd name="T3" fmla="*/ 80 h 80"/>
                <a:gd name="T4" fmla="*/ 76 w 76"/>
                <a:gd name="T5" fmla="*/ 40 h 80"/>
                <a:gd name="T6" fmla="*/ 0 w 76"/>
                <a:gd name="T7" fmla="*/ 4 h 80"/>
                <a:gd name="T8" fmla="*/ 0 w 76"/>
                <a:gd name="T9" fmla="*/ 4 h 80"/>
                <a:gd name="T10" fmla="*/ 0 w 76"/>
                <a:gd name="T11" fmla="*/ 0 h 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6"/>
                <a:gd name="T19" fmla="*/ 0 h 80"/>
                <a:gd name="T20" fmla="*/ 76 w 76"/>
                <a:gd name="T21" fmla="*/ 80 h 8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6" h="80">
                  <a:moveTo>
                    <a:pt x="0" y="0"/>
                  </a:moveTo>
                  <a:lnTo>
                    <a:pt x="0" y="80"/>
                  </a:lnTo>
                  <a:lnTo>
                    <a:pt x="76" y="40"/>
                  </a:ln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4" name="Line 122"/>
            <p:cNvSpPr>
              <a:spLocks noChangeShapeType="1"/>
            </p:cNvSpPr>
            <p:nvPr/>
          </p:nvSpPr>
          <p:spPr bwMode="auto">
            <a:xfrm flipH="1">
              <a:off x="995" y="2722"/>
              <a:ext cx="520" cy="4"/>
            </a:xfrm>
            <a:prstGeom prst="line">
              <a:avLst/>
            </a:prstGeom>
            <a:noFill/>
            <a:ln w="39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123"/>
            <p:cNvSpPr>
              <a:spLocks noChangeArrowheads="1"/>
            </p:cNvSpPr>
            <p:nvPr/>
          </p:nvSpPr>
          <p:spPr bwMode="auto">
            <a:xfrm>
              <a:off x="2562" y="2197"/>
              <a:ext cx="47" cy="47"/>
            </a:xfrm>
            <a:custGeom>
              <a:avLst/>
              <a:gdLst>
                <a:gd name="T0" fmla="*/ 21 w 47"/>
                <a:gd name="T1" fmla="*/ 47 h 47"/>
                <a:gd name="T2" fmla="*/ 25 w 47"/>
                <a:gd name="T3" fmla="*/ 47 h 47"/>
                <a:gd name="T4" fmla="*/ 29 w 47"/>
                <a:gd name="T5" fmla="*/ 47 h 47"/>
                <a:gd name="T6" fmla="*/ 32 w 47"/>
                <a:gd name="T7" fmla="*/ 43 h 47"/>
                <a:gd name="T8" fmla="*/ 36 w 47"/>
                <a:gd name="T9" fmla="*/ 43 h 47"/>
                <a:gd name="T10" fmla="*/ 40 w 47"/>
                <a:gd name="T11" fmla="*/ 39 h 47"/>
                <a:gd name="T12" fmla="*/ 43 w 47"/>
                <a:gd name="T13" fmla="*/ 36 h 47"/>
                <a:gd name="T14" fmla="*/ 43 w 47"/>
                <a:gd name="T15" fmla="*/ 36 h 47"/>
                <a:gd name="T16" fmla="*/ 43 w 47"/>
                <a:gd name="T17" fmla="*/ 32 h 47"/>
                <a:gd name="T18" fmla="*/ 47 w 47"/>
                <a:gd name="T19" fmla="*/ 29 h 47"/>
                <a:gd name="T20" fmla="*/ 47 w 47"/>
                <a:gd name="T21" fmla="*/ 25 h 47"/>
                <a:gd name="T22" fmla="*/ 47 w 47"/>
                <a:gd name="T23" fmla="*/ 21 h 47"/>
                <a:gd name="T24" fmla="*/ 43 w 47"/>
                <a:gd name="T25" fmla="*/ 18 h 47"/>
                <a:gd name="T26" fmla="*/ 43 w 47"/>
                <a:gd name="T27" fmla="*/ 14 h 47"/>
                <a:gd name="T28" fmla="*/ 43 w 47"/>
                <a:gd name="T29" fmla="*/ 10 h 47"/>
                <a:gd name="T30" fmla="*/ 40 w 47"/>
                <a:gd name="T31" fmla="*/ 7 h 47"/>
                <a:gd name="T32" fmla="*/ 36 w 47"/>
                <a:gd name="T33" fmla="*/ 3 h 47"/>
                <a:gd name="T34" fmla="*/ 32 w 47"/>
                <a:gd name="T35" fmla="*/ 3 h 47"/>
                <a:gd name="T36" fmla="*/ 29 w 47"/>
                <a:gd name="T37" fmla="*/ 3 h 47"/>
                <a:gd name="T38" fmla="*/ 25 w 47"/>
                <a:gd name="T39" fmla="*/ 0 h 47"/>
                <a:gd name="T40" fmla="*/ 21 w 47"/>
                <a:gd name="T41" fmla="*/ 0 h 47"/>
                <a:gd name="T42" fmla="*/ 18 w 47"/>
                <a:gd name="T43" fmla="*/ 0 h 47"/>
                <a:gd name="T44" fmla="*/ 14 w 47"/>
                <a:gd name="T45" fmla="*/ 3 h 47"/>
                <a:gd name="T46" fmla="*/ 11 w 47"/>
                <a:gd name="T47" fmla="*/ 3 h 47"/>
                <a:gd name="T48" fmla="*/ 11 w 47"/>
                <a:gd name="T49" fmla="*/ 3 h 47"/>
                <a:gd name="T50" fmla="*/ 7 w 47"/>
                <a:gd name="T51" fmla="*/ 7 h 47"/>
                <a:gd name="T52" fmla="*/ 3 w 47"/>
                <a:gd name="T53" fmla="*/ 10 h 47"/>
                <a:gd name="T54" fmla="*/ 3 w 47"/>
                <a:gd name="T55" fmla="*/ 14 h 47"/>
                <a:gd name="T56" fmla="*/ 0 w 47"/>
                <a:gd name="T57" fmla="*/ 18 h 47"/>
                <a:gd name="T58" fmla="*/ 0 w 47"/>
                <a:gd name="T59" fmla="*/ 21 h 47"/>
                <a:gd name="T60" fmla="*/ 0 w 47"/>
                <a:gd name="T61" fmla="*/ 25 h 47"/>
                <a:gd name="T62" fmla="*/ 0 w 47"/>
                <a:gd name="T63" fmla="*/ 29 h 47"/>
                <a:gd name="T64" fmla="*/ 0 w 47"/>
                <a:gd name="T65" fmla="*/ 32 h 47"/>
                <a:gd name="T66" fmla="*/ 3 w 47"/>
                <a:gd name="T67" fmla="*/ 36 h 47"/>
                <a:gd name="T68" fmla="*/ 3 w 47"/>
                <a:gd name="T69" fmla="*/ 36 h 47"/>
                <a:gd name="T70" fmla="*/ 7 w 47"/>
                <a:gd name="T71" fmla="*/ 39 h 47"/>
                <a:gd name="T72" fmla="*/ 11 w 47"/>
                <a:gd name="T73" fmla="*/ 43 h 47"/>
                <a:gd name="T74" fmla="*/ 11 w 47"/>
                <a:gd name="T75" fmla="*/ 43 h 47"/>
                <a:gd name="T76" fmla="*/ 14 w 47"/>
                <a:gd name="T77" fmla="*/ 47 h 47"/>
                <a:gd name="T78" fmla="*/ 18 w 47"/>
                <a:gd name="T79" fmla="*/ 47 h 47"/>
                <a:gd name="T80" fmla="*/ 21 w 47"/>
                <a:gd name="T81" fmla="*/ 47 h 47"/>
                <a:gd name="T82" fmla="*/ 21 w 47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7"/>
                <a:gd name="T127" fmla="*/ 0 h 47"/>
                <a:gd name="T128" fmla="*/ 47 w 47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7" h="47">
                  <a:moveTo>
                    <a:pt x="21" y="47"/>
                  </a:moveTo>
                  <a:lnTo>
                    <a:pt x="25" y="47"/>
                  </a:lnTo>
                  <a:lnTo>
                    <a:pt x="29" y="47"/>
                  </a:lnTo>
                  <a:lnTo>
                    <a:pt x="32" y="43"/>
                  </a:lnTo>
                  <a:lnTo>
                    <a:pt x="36" y="43"/>
                  </a:lnTo>
                  <a:lnTo>
                    <a:pt x="40" y="39"/>
                  </a:lnTo>
                  <a:lnTo>
                    <a:pt x="43" y="36"/>
                  </a:lnTo>
                  <a:lnTo>
                    <a:pt x="43" y="32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21"/>
                  </a:lnTo>
                  <a:lnTo>
                    <a:pt x="43" y="18"/>
                  </a:lnTo>
                  <a:lnTo>
                    <a:pt x="43" y="14"/>
                  </a:lnTo>
                  <a:lnTo>
                    <a:pt x="43" y="10"/>
                  </a:lnTo>
                  <a:lnTo>
                    <a:pt x="40" y="7"/>
                  </a:lnTo>
                  <a:lnTo>
                    <a:pt x="36" y="3"/>
                  </a:lnTo>
                  <a:lnTo>
                    <a:pt x="32" y="3"/>
                  </a:lnTo>
                  <a:lnTo>
                    <a:pt x="29" y="3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4" y="3"/>
                  </a:lnTo>
                  <a:lnTo>
                    <a:pt x="11" y="3"/>
                  </a:lnTo>
                  <a:lnTo>
                    <a:pt x="7" y="7"/>
                  </a:lnTo>
                  <a:lnTo>
                    <a:pt x="3" y="10"/>
                  </a:lnTo>
                  <a:lnTo>
                    <a:pt x="3" y="14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2"/>
                  </a:lnTo>
                  <a:lnTo>
                    <a:pt x="3" y="36"/>
                  </a:lnTo>
                  <a:lnTo>
                    <a:pt x="7" y="39"/>
                  </a:lnTo>
                  <a:lnTo>
                    <a:pt x="11" y="43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6" name="Freeform 124"/>
            <p:cNvSpPr>
              <a:spLocks noChangeArrowheads="1"/>
            </p:cNvSpPr>
            <p:nvPr/>
          </p:nvSpPr>
          <p:spPr bwMode="auto">
            <a:xfrm>
              <a:off x="2562" y="2508"/>
              <a:ext cx="47" cy="47"/>
            </a:xfrm>
            <a:custGeom>
              <a:avLst/>
              <a:gdLst>
                <a:gd name="T0" fmla="*/ 21 w 47"/>
                <a:gd name="T1" fmla="*/ 47 h 47"/>
                <a:gd name="T2" fmla="*/ 25 w 47"/>
                <a:gd name="T3" fmla="*/ 47 h 47"/>
                <a:gd name="T4" fmla="*/ 29 w 47"/>
                <a:gd name="T5" fmla="*/ 47 h 47"/>
                <a:gd name="T6" fmla="*/ 32 w 47"/>
                <a:gd name="T7" fmla="*/ 44 h 47"/>
                <a:gd name="T8" fmla="*/ 36 w 47"/>
                <a:gd name="T9" fmla="*/ 44 h 47"/>
                <a:gd name="T10" fmla="*/ 40 w 47"/>
                <a:gd name="T11" fmla="*/ 40 h 47"/>
                <a:gd name="T12" fmla="*/ 43 w 47"/>
                <a:gd name="T13" fmla="*/ 37 h 47"/>
                <a:gd name="T14" fmla="*/ 43 w 47"/>
                <a:gd name="T15" fmla="*/ 37 h 47"/>
                <a:gd name="T16" fmla="*/ 43 w 47"/>
                <a:gd name="T17" fmla="*/ 33 h 47"/>
                <a:gd name="T18" fmla="*/ 47 w 47"/>
                <a:gd name="T19" fmla="*/ 29 h 47"/>
                <a:gd name="T20" fmla="*/ 47 w 47"/>
                <a:gd name="T21" fmla="*/ 26 h 47"/>
                <a:gd name="T22" fmla="*/ 47 w 47"/>
                <a:gd name="T23" fmla="*/ 22 h 47"/>
                <a:gd name="T24" fmla="*/ 43 w 47"/>
                <a:gd name="T25" fmla="*/ 18 h 47"/>
                <a:gd name="T26" fmla="*/ 43 w 47"/>
                <a:gd name="T27" fmla="*/ 15 h 47"/>
                <a:gd name="T28" fmla="*/ 43 w 47"/>
                <a:gd name="T29" fmla="*/ 11 h 47"/>
                <a:gd name="T30" fmla="*/ 40 w 47"/>
                <a:gd name="T31" fmla="*/ 8 h 47"/>
                <a:gd name="T32" fmla="*/ 36 w 47"/>
                <a:gd name="T33" fmla="*/ 8 h 47"/>
                <a:gd name="T34" fmla="*/ 32 w 47"/>
                <a:gd name="T35" fmla="*/ 4 h 47"/>
                <a:gd name="T36" fmla="*/ 29 w 47"/>
                <a:gd name="T37" fmla="*/ 4 h 47"/>
                <a:gd name="T38" fmla="*/ 25 w 47"/>
                <a:gd name="T39" fmla="*/ 0 h 47"/>
                <a:gd name="T40" fmla="*/ 21 w 47"/>
                <a:gd name="T41" fmla="*/ 0 h 47"/>
                <a:gd name="T42" fmla="*/ 18 w 47"/>
                <a:gd name="T43" fmla="*/ 0 h 47"/>
                <a:gd name="T44" fmla="*/ 14 w 47"/>
                <a:gd name="T45" fmla="*/ 4 h 47"/>
                <a:gd name="T46" fmla="*/ 11 w 47"/>
                <a:gd name="T47" fmla="*/ 4 h 47"/>
                <a:gd name="T48" fmla="*/ 11 w 47"/>
                <a:gd name="T49" fmla="*/ 8 h 47"/>
                <a:gd name="T50" fmla="*/ 7 w 47"/>
                <a:gd name="T51" fmla="*/ 8 h 47"/>
                <a:gd name="T52" fmla="*/ 3 w 47"/>
                <a:gd name="T53" fmla="*/ 11 h 47"/>
                <a:gd name="T54" fmla="*/ 3 w 47"/>
                <a:gd name="T55" fmla="*/ 15 h 47"/>
                <a:gd name="T56" fmla="*/ 0 w 47"/>
                <a:gd name="T57" fmla="*/ 18 h 47"/>
                <a:gd name="T58" fmla="*/ 0 w 47"/>
                <a:gd name="T59" fmla="*/ 22 h 47"/>
                <a:gd name="T60" fmla="*/ 0 w 47"/>
                <a:gd name="T61" fmla="*/ 26 h 47"/>
                <a:gd name="T62" fmla="*/ 0 w 47"/>
                <a:gd name="T63" fmla="*/ 29 h 47"/>
                <a:gd name="T64" fmla="*/ 0 w 47"/>
                <a:gd name="T65" fmla="*/ 33 h 47"/>
                <a:gd name="T66" fmla="*/ 3 w 47"/>
                <a:gd name="T67" fmla="*/ 37 h 47"/>
                <a:gd name="T68" fmla="*/ 3 w 47"/>
                <a:gd name="T69" fmla="*/ 37 h 47"/>
                <a:gd name="T70" fmla="*/ 7 w 47"/>
                <a:gd name="T71" fmla="*/ 40 h 47"/>
                <a:gd name="T72" fmla="*/ 11 w 47"/>
                <a:gd name="T73" fmla="*/ 44 h 47"/>
                <a:gd name="T74" fmla="*/ 11 w 47"/>
                <a:gd name="T75" fmla="*/ 44 h 47"/>
                <a:gd name="T76" fmla="*/ 14 w 47"/>
                <a:gd name="T77" fmla="*/ 47 h 47"/>
                <a:gd name="T78" fmla="*/ 18 w 47"/>
                <a:gd name="T79" fmla="*/ 47 h 47"/>
                <a:gd name="T80" fmla="*/ 21 w 47"/>
                <a:gd name="T81" fmla="*/ 47 h 47"/>
                <a:gd name="T82" fmla="*/ 21 w 47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7"/>
                <a:gd name="T127" fmla="*/ 0 h 47"/>
                <a:gd name="T128" fmla="*/ 47 w 47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7" h="47">
                  <a:moveTo>
                    <a:pt x="21" y="47"/>
                  </a:moveTo>
                  <a:lnTo>
                    <a:pt x="25" y="47"/>
                  </a:lnTo>
                  <a:lnTo>
                    <a:pt x="29" y="47"/>
                  </a:lnTo>
                  <a:lnTo>
                    <a:pt x="32" y="44"/>
                  </a:lnTo>
                  <a:lnTo>
                    <a:pt x="36" y="44"/>
                  </a:lnTo>
                  <a:lnTo>
                    <a:pt x="40" y="40"/>
                  </a:lnTo>
                  <a:lnTo>
                    <a:pt x="43" y="37"/>
                  </a:lnTo>
                  <a:lnTo>
                    <a:pt x="43" y="33"/>
                  </a:lnTo>
                  <a:lnTo>
                    <a:pt x="47" y="29"/>
                  </a:lnTo>
                  <a:lnTo>
                    <a:pt x="47" y="26"/>
                  </a:lnTo>
                  <a:lnTo>
                    <a:pt x="47" y="22"/>
                  </a:lnTo>
                  <a:lnTo>
                    <a:pt x="43" y="18"/>
                  </a:lnTo>
                  <a:lnTo>
                    <a:pt x="43" y="15"/>
                  </a:lnTo>
                  <a:lnTo>
                    <a:pt x="43" y="11"/>
                  </a:lnTo>
                  <a:lnTo>
                    <a:pt x="40" y="8"/>
                  </a:lnTo>
                  <a:lnTo>
                    <a:pt x="36" y="8"/>
                  </a:lnTo>
                  <a:lnTo>
                    <a:pt x="32" y="4"/>
                  </a:lnTo>
                  <a:lnTo>
                    <a:pt x="29" y="4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4" y="4"/>
                  </a:lnTo>
                  <a:lnTo>
                    <a:pt x="11" y="4"/>
                  </a:lnTo>
                  <a:lnTo>
                    <a:pt x="11" y="8"/>
                  </a:lnTo>
                  <a:lnTo>
                    <a:pt x="7" y="8"/>
                  </a:lnTo>
                  <a:lnTo>
                    <a:pt x="3" y="11"/>
                  </a:lnTo>
                  <a:lnTo>
                    <a:pt x="3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3" y="37"/>
                  </a:lnTo>
                  <a:lnTo>
                    <a:pt x="7" y="40"/>
                  </a:lnTo>
                  <a:lnTo>
                    <a:pt x="11" y="44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7" name="Line 125"/>
            <p:cNvSpPr>
              <a:spLocks noChangeShapeType="1"/>
            </p:cNvSpPr>
            <p:nvPr/>
          </p:nvSpPr>
          <p:spPr bwMode="auto">
            <a:xfrm>
              <a:off x="3018" y="2998"/>
              <a:ext cx="1374" cy="1"/>
            </a:xfrm>
            <a:prstGeom prst="line">
              <a:avLst/>
            </a:prstGeom>
            <a:noFill/>
            <a:ln w="237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126"/>
            <p:cNvSpPr>
              <a:spLocks noChangeArrowheads="1"/>
            </p:cNvSpPr>
            <p:nvPr/>
          </p:nvSpPr>
          <p:spPr bwMode="auto">
            <a:xfrm>
              <a:off x="4371" y="2204"/>
              <a:ext cx="43" cy="47"/>
            </a:xfrm>
            <a:custGeom>
              <a:avLst/>
              <a:gdLst>
                <a:gd name="T0" fmla="*/ 21 w 43"/>
                <a:gd name="T1" fmla="*/ 43 h 47"/>
                <a:gd name="T2" fmla="*/ 25 w 43"/>
                <a:gd name="T3" fmla="*/ 47 h 47"/>
                <a:gd name="T4" fmla="*/ 29 w 43"/>
                <a:gd name="T5" fmla="*/ 43 h 47"/>
                <a:gd name="T6" fmla="*/ 32 w 43"/>
                <a:gd name="T7" fmla="*/ 43 h 47"/>
                <a:gd name="T8" fmla="*/ 36 w 43"/>
                <a:gd name="T9" fmla="*/ 43 h 47"/>
                <a:gd name="T10" fmla="*/ 39 w 43"/>
                <a:gd name="T11" fmla="*/ 40 h 47"/>
                <a:gd name="T12" fmla="*/ 39 w 43"/>
                <a:gd name="T13" fmla="*/ 36 h 47"/>
                <a:gd name="T14" fmla="*/ 43 w 43"/>
                <a:gd name="T15" fmla="*/ 32 h 47"/>
                <a:gd name="T16" fmla="*/ 43 w 43"/>
                <a:gd name="T17" fmla="*/ 29 h 47"/>
                <a:gd name="T18" fmla="*/ 43 w 43"/>
                <a:gd name="T19" fmla="*/ 25 h 47"/>
                <a:gd name="T20" fmla="*/ 43 w 43"/>
                <a:gd name="T21" fmla="*/ 22 h 47"/>
                <a:gd name="T22" fmla="*/ 43 w 43"/>
                <a:gd name="T23" fmla="*/ 18 h 47"/>
                <a:gd name="T24" fmla="*/ 43 w 43"/>
                <a:gd name="T25" fmla="*/ 14 h 47"/>
                <a:gd name="T26" fmla="*/ 43 w 43"/>
                <a:gd name="T27" fmla="*/ 11 h 47"/>
                <a:gd name="T28" fmla="*/ 39 w 43"/>
                <a:gd name="T29" fmla="*/ 11 h 47"/>
                <a:gd name="T30" fmla="*/ 39 w 43"/>
                <a:gd name="T31" fmla="*/ 7 h 47"/>
                <a:gd name="T32" fmla="*/ 36 w 43"/>
                <a:gd name="T33" fmla="*/ 3 h 47"/>
                <a:gd name="T34" fmla="*/ 32 w 43"/>
                <a:gd name="T35" fmla="*/ 3 h 47"/>
                <a:gd name="T36" fmla="*/ 29 w 43"/>
                <a:gd name="T37" fmla="*/ 0 h 47"/>
                <a:gd name="T38" fmla="*/ 25 w 43"/>
                <a:gd name="T39" fmla="*/ 0 h 47"/>
                <a:gd name="T40" fmla="*/ 21 w 43"/>
                <a:gd name="T41" fmla="*/ 0 h 47"/>
                <a:gd name="T42" fmla="*/ 18 w 43"/>
                <a:gd name="T43" fmla="*/ 0 h 47"/>
                <a:gd name="T44" fmla="*/ 14 w 43"/>
                <a:gd name="T45" fmla="*/ 0 h 47"/>
                <a:gd name="T46" fmla="*/ 10 w 43"/>
                <a:gd name="T47" fmla="*/ 3 h 47"/>
                <a:gd name="T48" fmla="*/ 7 w 43"/>
                <a:gd name="T49" fmla="*/ 3 h 47"/>
                <a:gd name="T50" fmla="*/ 3 w 43"/>
                <a:gd name="T51" fmla="*/ 7 h 47"/>
                <a:gd name="T52" fmla="*/ 3 w 43"/>
                <a:gd name="T53" fmla="*/ 11 h 47"/>
                <a:gd name="T54" fmla="*/ 0 w 43"/>
                <a:gd name="T55" fmla="*/ 11 h 47"/>
                <a:gd name="T56" fmla="*/ 0 w 43"/>
                <a:gd name="T57" fmla="*/ 14 h 47"/>
                <a:gd name="T58" fmla="*/ 0 w 43"/>
                <a:gd name="T59" fmla="*/ 18 h 47"/>
                <a:gd name="T60" fmla="*/ 0 w 43"/>
                <a:gd name="T61" fmla="*/ 22 h 47"/>
                <a:gd name="T62" fmla="*/ 0 w 43"/>
                <a:gd name="T63" fmla="*/ 25 h 47"/>
                <a:gd name="T64" fmla="*/ 0 w 43"/>
                <a:gd name="T65" fmla="*/ 29 h 47"/>
                <a:gd name="T66" fmla="*/ 0 w 43"/>
                <a:gd name="T67" fmla="*/ 32 h 47"/>
                <a:gd name="T68" fmla="*/ 3 w 43"/>
                <a:gd name="T69" fmla="*/ 36 h 47"/>
                <a:gd name="T70" fmla="*/ 3 w 43"/>
                <a:gd name="T71" fmla="*/ 40 h 47"/>
                <a:gd name="T72" fmla="*/ 7 w 43"/>
                <a:gd name="T73" fmla="*/ 43 h 47"/>
                <a:gd name="T74" fmla="*/ 10 w 43"/>
                <a:gd name="T75" fmla="*/ 43 h 47"/>
                <a:gd name="T76" fmla="*/ 14 w 43"/>
                <a:gd name="T77" fmla="*/ 43 h 47"/>
                <a:gd name="T78" fmla="*/ 18 w 43"/>
                <a:gd name="T79" fmla="*/ 47 h 47"/>
                <a:gd name="T80" fmla="*/ 21 w 43"/>
                <a:gd name="T81" fmla="*/ 47 h 47"/>
                <a:gd name="T82" fmla="*/ 21 w 43"/>
                <a:gd name="T83" fmla="*/ 47 h 47"/>
                <a:gd name="T84" fmla="*/ 21 w 43"/>
                <a:gd name="T85" fmla="*/ 43 h 4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3"/>
                <a:gd name="T130" fmla="*/ 0 h 47"/>
                <a:gd name="T131" fmla="*/ 43 w 43"/>
                <a:gd name="T132" fmla="*/ 47 h 4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3" h="47">
                  <a:moveTo>
                    <a:pt x="21" y="43"/>
                  </a:moveTo>
                  <a:lnTo>
                    <a:pt x="25" y="47"/>
                  </a:lnTo>
                  <a:lnTo>
                    <a:pt x="29" y="43"/>
                  </a:lnTo>
                  <a:lnTo>
                    <a:pt x="32" y="43"/>
                  </a:lnTo>
                  <a:lnTo>
                    <a:pt x="36" y="43"/>
                  </a:lnTo>
                  <a:lnTo>
                    <a:pt x="39" y="40"/>
                  </a:lnTo>
                  <a:lnTo>
                    <a:pt x="39" y="36"/>
                  </a:lnTo>
                  <a:lnTo>
                    <a:pt x="43" y="32"/>
                  </a:lnTo>
                  <a:lnTo>
                    <a:pt x="43" y="29"/>
                  </a:lnTo>
                  <a:lnTo>
                    <a:pt x="43" y="25"/>
                  </a:lnTo>
                  <a:lnTo>
                    <a:pt x="43" y="22"/>
                  </a:lnTo>
                  <a:lnTo>
                    <a:pt x="43" y="18"/>
                  </a:lnTo>
                  <a:lnTo>
                    <a:pt x="43" y="14"/>
                  </a:lnTo>
                  <a:lnTo>
                    <a:pt x="43" y="11"/>
                  </a:lnTo>
                  <a:lnTo>
                    <a:pt x="39" y="11"/>
                  </a:lnTo>
                  <a:lnTo>
                    <a:pt x="39" y="7"/>
                  </a:lnTo>
                  <a:lnTo>
                    <a:pt x="36" y="3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0" y="3"/>
                  </a:lnTo>
                  <a:lnTo>
                    <a:pt x="7" y="3"/>
                  </a:lnTo>
                  <a:lnTo>
                    <a:pt x="3" y="7"/>
                  </a:lnTo>
                  <a:lnTo>
                    <a:pt x="3" y="11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2"/>
                  </a:lnTo>
                  <a:lnTo>
                    <a:pt x="3" y="36"/>
                  </a:lnTo>
                  <a:lnTo>
                    <a:pt x="3" y="40"/>
                  </a:lnTo>
                  <a:lnTo>
                    <a:pt x="7" y="43"/>
                  </a:lnTo>
                  <a:lnTo>
                    <a:pt x="10" y="43"/>
                  </a:lnTo>
                  <a:lnTo>
                    <a:pt x="14" y="43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1" y="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9" name="Freeform 127"/>
            <p:cNvSpPr>
              <a:spLocks noChangeArrowheads="1"/>
            </p:cNvSpPr>
            <p:nvPr/>
          </p:nvSpPr>
          <p:spPr bwMode="auto">
            <a:xfrm>
              <a:off x="4371" y="2588"/>
              <a:ext cx="47" cy="47"/>
            </a:xfrm>
            <a:custGeom>
              <a:avLst/>
              <a:gdLst>
                <a:gd name="T0" fmla="*/ 21 w 47"/>
                <a:gd name="T1" fmla="*/ 47 h 47"/>
                <a:gd name="T2" fmla="*/ 25 w 47"/>
                <a:gd name="T3" fmla="*/ 47 h 47"/>
                <a:gd name="T4" fmla="*/ 29 w 47"/>
                <a:gd name="T5" fmla="*/ 47 h 47"/>
                <a:gd name="T6" fmla="*/ 32 w 47"/>
                <a:gd name="T7" fmla="*/ 44 h 47"/>
                <a:gd name="T8" fmla="*/ 36 w 47"/>
                <a:gd name="T9" fmla="*/ 44 h 47"/>
                <a:gd name="T10" fmla="*/ 39 w 47"/>
                <a:gd name="T11" fmla="*/ 40 h 47"/>
                <a:gd name="T12" fmla="*/ 39 w 47"/>
                <a:gd name="T13" fmla="*/ 36 h 47"/>
                <a:gd name="T14" fmla="*/ 43 w 47"/>
                <a:gd name="T15" fmla="*/ 36 h 47"/>
                <a:gd name="T16" fmla="*/ 43 w 47"/>
                <a:gd name="T17" fmla="*/ 33 h 47"/>
                <a:gd name="T18" fmla="*/ 47 w 47"/>
                <a:gd name="T19" fmla="*/ 29 h 47"/>
                <a:gd name="T20" fmla="*/ 47 w 47"/>
                <a:gd name="T21" fmla="*/ 25 h 47"/>
                <a:gd name="T22" fmla="*/ 47 w 47"/>
                <a:gd name="T23" fmla="*/ 22 h 47"/>
                <a:gd name="T24" fmla="*/ 43 w 47"/>
                <a:gd name="T25" fmla="*/ 18 h 47"/>
                <a:gd name="T26" fmla="*/ 43 w 47"/>
                <a:gd name="T27" fmla="*/ 15 h 47"/>
                <a:gd name="T28" fmla="*/ 39 w 47"/>
                <a:gd name="T29" fmla="*/ 11 h 47"/>
                <a:gd name="T30" fmla="*/ 39 w 47"/>
                <a:gd name="T31" fmla="*/ 7 h 47"/>
                <a:gd name="T32" fmla="*/ 36 w 47"/>
                <a:gd name="T33" fmla="*/ 4 h 47"/>
                <a:gd name="T34" fmla="*/ 32 w 47"/>
                <a:gd name="T35" fmla="*/ 4 h 47"/>
                <a:gd name="T36" fmla="*/ 29 w 47"/>
                <a:gd name="T37" fmla="*/ 0 h 47"/>
                <a:gd name="T38" fmla="*/ 25 w 47"/>
                <a:gd name="T39" fmla="*/ 0 h 47"/>
                <a:gd name="T40" fmla="*/ 21 w 47"/>
                <a:gd name="T41" fmla="*/ 0 h 47"/>
                <a:gd name="T42" fmla="*/ 18 w 47"/>
                <a:gd name="T43" fmla="*/ 0 h 47"/>
                <a:gd name="T44" fmla="*/ 14 w 47"/>
                <a:gd name="T45" fmla="*/ 0 h 47"/>
                <a:gd name="T46" fmla="*/ 10 w 47"/>
                <a:gd name="T47" fmla="*/ 4 h 47"/>
                <a:gd name="T48" fmla="*/ 7 w 47"/>
                <a:gd name="T49" fmla="*/ 4 h 47"/>
                <a:gd name="T50" fmla="*/ 7 w 47"/>
                <a:gd name="T51" fmla="*/ 7 h 47"/>
                <a:gd name="T52" fmla="*/ 3 w 47"/>
                <a:gd name="T53" fmla="*/ 11 h 47"/>
                <a:gd name="T54" fmla="*/ 3 w 47"/>
                <a:gd name="T55" fmla="*/ 15 h 47"/>
                <a:gd name="T56" fmla="*/ 0 w 47"/>
                <a:gd name="T57" fmla="*/ 18 h 47"/>
                <a:gd name="T58" fmla="*/ 0 w 47"/>
                <a:gd name="T59" fmla="*/ 22 h 47"/>
                <a:gd name="T60" fmla="*/ 0 w 47"/>
                <a:gd name="T61" fmla="*/ 25 h 47"/>
                <a:gd name="T62" fmla="*/ 0 w 47"/>
                <a:gd name="T63" fmla="*/ 29 h 47"/>
                <a:gd name="T64" fmla="*/ 0 w 47"/>
                <a:gd name="T65" fmla="*/ 33 h 47"/>
                <a:gd name="T66" fmla="*/ 3 w 47"/>
                <a:gd name="T67" fmla="*/ 36 h 47"/>
                <a:gd name="T68" fmla="*/ 3 w 47"/>
                <a:gd name="T69" fmla="*/ 36 h 47"/>
                <a:gd name="T70" fmla="*/ 7 w 47"/>
                <a:gd name="T71" fmla="*/ 40 h 47"/>
                <a:gd name="T72" fmla="*/ 7 w 47"/>
                <a:gd name="T73" fmla="*/ 44 h 47"/>
                <a:gd name="T74" fmla="*/ 10 w 47"/>
                <a:gd name="T75" fmla="*/ 44 h 47"/>
                <a:gd name="T76" fmla="*/ 14 w 47"/>
                <a:gd name="T77" fmla="*/ 47 h 47"/>
                <a:gd name="T78" fmla="*/ 18 w 47"/>
                <a:gd name="T79" fmla="*/ 47 h 47"/>
                <a:gd name="T80" fmla="*/ 21 w 47"/>
                <a:gd name="T81" fmla="*/ 47 h 47"/>
                <a:gd name="T82" fmla="*/ 21 w 47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7"/>
                <a:gd name="T127" fmla="*/ 0 h 47"/>
                <a:gd name="T128" fmla="*/ 47 w 47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7" h="47">
                  <a:moveTo>
                    <a:pt x="21" y="47"/>
                  </a:moveTo>
                  <a:lnTo>
                    <a:pt x="25" y="47"/>
                  </a:lnTo>
                  <a:lnTo>
                    <a:pt x="29" y="47"/>
                  </a:lnTo>
                  <a:lnTo>
                    <a:pt x="32" y="44"/>
                  </a:lnTo>
                  <a:lnTo>
                    <a:pt x="36" y="44"/>
                  </a:lnTo>
                  <a:lnTo>
                    <a:pt x="39" y="40"/>
                  </a:lnTo>
                  <a:lnTo>
                    <a:pt x="39" y="36"/>
                  </a:lnTo>
                  <a:lnTo>
                    <a:pt x="43" y="36"/>
                  </a:lnTo>
                  <a:lnTo>
                    <a:pt x="43" y="33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22"/>
                  </a:lnTo>
                  <a:lnTo>
                    <a:pt x="43" y="18"/>
                  </a:lnTo>
                  <a:lnTo>
                    <a:pt x="43" y="15"/>
                  </a:lnTo>
                  <a:lnTo>
                    <a:pt x="39" y="11"/>
                  </a:lnTo>
                  <a:lnTo>
                    <a:pt x="39" y="7"/>
                  </a:lnTo>
                  <a:lnTo>
                    <a:pt x="36" y="4"/>
                  </a:lnTo>
                  <a:lnTo>
                    <a:pt x="32" y="4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0" y="4"/>
                  </a:lnTo>
                  <a:lnTo>
                    <a:pt x="7" y="4"/>
                  </a:lnTo>
                  <a:lnTo>
                    <a:pt x="7" y="7"/>
                  </a:lnTo>
                  <a:lnTo>
                    <a:pt x="3" y="11"/>
                  </a:lnTo>
                  <a:lnTo>
                    <a:pt x="3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3" y="36"/>
                  </a:lnTo>
                  <a:lnTo>
                    <a:pt x="7" y="40"/>
                  </a:lnTo>
                  <a:lnTo>
                    <a:pt x="7" y="44"/>
                  </a:lnTo>
                  <a:lnTo>
                    <a:pt x="10" y="44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Freeform 128"/>
            <p:cNvSpPr>
              <a:spLocks noChangeArrowheads="1"/>
            </p:cNvSpPr>
            <p:nvPr/>
          </p:nvSpPr>
          <p:spPr bwMode="auto">
            <a:xfrm>
              <a:off x="4371" y="2976"/>
              <a:ext cx="47" cy="47"/>
            </a:xfrm>
            <a:custGeom>
              <a:avLst/>
              <a:gdLst>
                <a:gd name="T0" fmla="*/ 21 w 47"/>
                <a:gd name="T1" fmla="*/ 43 h 47"/>
                <a:gd name="T2" fmla="*/ 25 w 47"/>
                <a:gd name="T3" fmla="*/ 47 h 47"/>
                <a:gd name="T4" fmla="*/ 29 w 47"/>
                <a:gd name="T5" fmla="*/ 47 h 47"/>
                <a:gd name="T6" fmla="*/ 32 w 47"/>
                <a:gd name="T7" fmla="*/ 43 h 47"/>
                <a:gd name="T8" fmla="*/ 36 w 47"/>
                <a:gd name="T9" fmla="*/ 43 h 47"/>
                <a:gd name="T10" fmla="*/ 39 w 47"/>
                <a:gd name="T11" fmla="*/ 40 h 47"/>
                <a:gd name="T12" fmla="*/ 43 w 47"/>
                <a:gd name="T13" fmla="*/ 36 h 47"/>
                <a:gd name="T14" fmla="*/ 43 w 47"/>
                <a:gd name="T15" fmla="*/ 33 h 47"/>
                <a:gd name="T16" fmla="*/ 47 w 47"/>
                <a:gd name="T17" fmla="*/ 29 h 47"/>
                <a:gd name="T18" fmla="*/ 47 w 47"/>
                <a:gd name="T19" fmla="*/ 25 h 47"/>
                <a:gd name="T20" fmla="*/ 47 w 47"/>
                <a:gd name="T21" fmla="*/ 22 h 47"/>
                <a:gd name="T22" fmla="*/ 47 w 47"/>
                <a:gd name="T23" fmla="*/ 18 h 47"/>
                <a:gd name="T24" fmla="*/ 47 w 47"/>
                <a:gd name="T25" fmla="*/ 14 h 47"/>
                <a:gd name="T26" fmla="*/ 43 w 47"/>
                <a:gd name="T27" fmla="*/ 11 h 47"/>
                <a:gd name="T28" fmla="*/ 43 w 47"/>
                <a:gd name="T29" fmla="*/ 11 h 47"/>
                <a:gd name="T30" fmla="*/ 39 w 47"/>
                <a:gd name="T31" fmla="*/ 7 h 47"/>
                <a:gd name="T32" fmla="*/ 36 w 47"/>
                <a:gd name="T33" fmla="*/ 4 h 47"/>
                <a:gd name="T34" fmla="*/ 32 w 47"/>
                <a:gd name="T35" fmla="*/ 4 h 47"/>
                <a:gd name="T36" fmla="*/ 29 w 47"/>
                <a:gd name="T37" fmla="*/ 0 h 47"/>
                <a:gd name="T38" fmla="*/ 25 w 47"/>
                <a:gd name="T39" fmla="*/ 0 h 47"/>
                <a:gd name="T40" fmla="*/ 21 w 47"/>
                <a:gd name="T41" fmla="*/ 0 h 47"/>
                <a:gd name="T42" fmla="*/ 18 w 47"/>
                <a:gd name="T43" fmla="*/ 0 h 47"/>
                <a:gd name="T44" fmla="*/ 14 w 47"/>
                <a:gd name="T45" fmla="*/ 0 h 47"/>
                <a:gd name="T46" fmla="*/ 10 w 47"/>
                <a:gd name="T47" fmla="*/ 4 h 47"/>
                <a:gd name="T48" fmla="*/ 10 w 47"/>
                <a:gd name="T49" fmla="*/ 4 h 47"/>
                <a:gd name="T50" fmla="*/ 7 w 47"/>
                <a:gd name="T51" fmla="*/ 7 h 47"/>
                <a:gd name="T52" fmla="*/ 3 w 47"/>
                <a:gd name="T53" fmla="*/ 11 h 47"/>
                <a:gd name="T54" fmla="*/ 3 w 47"/>
                <a:gd name="T55" fmla="*/ 11 h 47"/>
                <a:gd name="T56" fmla="*/ 0 w 47"/>
                <a:gd name="T57" fmla="*/ 14 h 47"/>
                <a:gd name="T58" fmla="*/ 0 w 47"/>
                <a:gd name="T59" fmla="*/ 18 h 47"/>
                <a:gd name="T60" fmla="*/ 0 w 47"/>
                <a:gd name="T61" fmla="*/ 22 h 47"/>
                <a:gd name="T62" fmla="*/ 0 w 47"/>
                <a:gd name="T63" fmla="*/ 25 h 47"/>
                <a:gd name="T64" fmla="*/ 0 w 47"/>
                <a:gd name="T65" fmla="*/ 29 h 47"/>
                <a:gd name="T66" fmla="*/ 3 w 47"/>
                <a:gd name="T67" fmla="*/ 33 h 47"/>
                <a:gd name="T68" fmla="*/ 3 w 47"/>
                <a:gd name="T69" fmla="*/ 36 h 47"/>
                <a:gd name="T70" fmla="*/ 7 w 47"/>
                <a:gd name="T71" fmla="*/ 40 h 47"/>
                <a:gd name="T72" fmla="*/ 10 w 47"/>
                <a:gd name="T73" fmla="*/ 43 h 47"/>
                <a:gd name="T74" fmla="*/ 10 w 47"/>
                <a:gd name="T75" fmla="*/ 43 h 47"/>
                <a:gd name="T76" fmla="*/ 14 w 47"/>
                <a:gd name="T77" fmla="*/ 47 h 47"/>
                <a:gd name="T78" fmla="*/ 18 w 47"/>
                <a:gd name="T79" fmla="*/ 47 h 47"/>
                <a:gd name="T80" fmla="*/ 21 w 47"/>
                <a:gd name="T81" fmla="*/ 47 h 47"/>
                <a:gd name="T82" fmla="*/ 21 w 47"/>
                <a:gd name="T83" fmla="*/ 47 h 47"/>
                <a:gd name="T84" fmla="*/ 21 w 47"/>
                <a:gd name="T85" fmla="*/ 43 h 47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47"/>
                <a:gd name="T130" fmla="*/ 0 h 47"/>
                <a:gd name="T131" fmla="*/ 47 w 47"/>
                <a:gd name="T132" fmla="*/ 47 h 47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47" h="47">
                  <a:moveTo>
                    <a:pt x="21" y="43"/>
                  </a:moveTo>
                  <a:lnTo>
                    <a:pt x="25" y="47"/>
                  </a:lnTo>
                  <a:lnTo>
                    <a:pt x="29" y="47"/>
                  </a:lnTo>
                  <a:lnTo>
                    <a:pt x="32" y="43"/>
                  </a:lnTo>
                  <a:lnTo>
                    <a:pt x="36" y="43"/>
                  </a:lnTo>
                  <a:lnTo>
                    <a:pt x="39" y="40"/>
                  </a:lnTo>
                  <a:lnTo>
                    <a:pt x="43" y="36"/>
                  </a:lnTo>
                  <a:lnTo>
                    <a:pt x="43" y="33"/>
                  </a:lnTo>
                  <a:lnTo>
                    <a:pt x="47" y="29"/>
                  </a:lnTo>
                  <a:lnTo>
                    <a:pt x="47" y="25"/>
                  </a:lnTo>
                  <a:lnTo>
                    <a:pt x="47" y="22"/>
                  </a:lnTo>
                  <a:lnTo>
                    <a:pt x="47" y="18"/>
                  </a:lnTo>
                  <a:lnTo>
                    <a:pt x="47" y="14"/>
                  </a:lnTo>
                  <a:lnTo>
                    <a:pt x="43" y="11"/>
                  </a:lnTo>
                  <a:lnTo>
                    <a:pt x="39" y="7"/>
                  </a:lnTo>
                  <a:lnTo>
                    <a:pt x="36" y="4"/>
                  </a:lnTo>
                  <a:lnTo>
                    <a:pt x="32" y="4"/>
                  </a:lnTo>
                  <a:lnTo>
                    <a:pt x="29" y="0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4" y="0"/>
                  </a:lnTo>
                  <a:lnTo>
                    <a:pt x="10" y="4"/>
                  </a:lnTo>
                  <a:lnTo>
                    <a:pt x="7" y="7"/>
                  </a:lnTo>
                  <a:lnTo>
                    <a:pt x="3" y="11"/>
                  </a:lnTo>
                  <a:lnTo>
                    <a:pt x="0" y="14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3" y="33"/>
                  </a:lnTo>
                  <a:lnTo>
                    <a:pt x="3" y="36"/>
                  </a:lnTo>
                  <a:lnTo>
                    <a:pt x="7" y="40"/>
                  </a:lnTo>
                  <a:lnTo>
                    <a:pt x="10" y="43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1" y="4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1" name="Freeform 129"/>
            <p:cNvSpPr>
              <a:spLocks noChangeArrowheads="1"/>
            </p:cNvSpPr>
            <p:nvPr/>
          </p:nvSpPr>
          <p:spPr bwMode="auto">
            <a:xfrm>
              <a:off x="4371" y="2392"/>
              <a:ext cx="43" cy="47"/>
            </a:xfrm>
            <a:custGeom>
              <a:avLst/>
              <a:gdLst>
                <a:gd name="T0" fmla="*/ 21 w 43"/>
                <a:gd name="T1" fmla="*/ 47 h 47"/>
                <a:gd name="T2" fmla="*/ 25 w 43"/>
                <a:gd name="T3" fmla="*/ 47 h 47"/>
                <a:gd name="T4" fmla="*/ 29 w 43"/>
                <a:gd name="T5" fmla="*/ 47 h 47"/>
                <a:gd name="T6" fmla="*/ 32 w 43"/>
                <a:gd name="T7" fmla="*/ 44 h 47"/>
                <a:gd name="T8" fmla="*/ 36 w 43"/>
                <a:gd name="T9" fmla="*/ 44 h 47"/>
                <a:gd name="T10" fmla="*/ 39 w 43"/>
                <a:gd name="T11" fmla="*/ 40 h 47"/>
                <a:gd name="T12" fmla="*/ 39 w 43"/>
                <a:gd name="T13" fmla="*/ 37 h 47"/>
                <a:gd name="T14" fmla="*/ 43 w 43"/>
                <a:gd name="T15" fmla="*/ 37 h 47"/>
                <a:gd name="T16" fmla="*/ 43 w 43"/>
                <a:gd name="T17" fmla="*/ 33 h 47"/>
                <a:gd name="T18" fmla="*/ 43 w 43"/>
                <a:gd name="T19" fmla="*/ 29 h 47"/>
                <a:gd name="T20" fmla="*/ 43 w 43"/>
                <a:gd name="T21" fmla="*/ 26 h 47"/>
                <a:gd name="T22" fmla="*/ 43 w 43"/>
                <a:gd name="T23" fmla="*/ 22 h 47"/>
                <a:gd name="T24" fmla="*/ 43 w 43"/>
                <a:gd name="T25" fmla="*/ 18 h 47"/>
                <a:gd name="T26" fmla="*/ 43 w 43"/>
                <a:gd name="T27" fmla="*/ 15 h 47"/>
                <a:gd name="T28" fmla="*/ 39 w 43"/>
                <a:gd name="T29" fmla="*/ 11 h 47"/>
                <a:gd name="T30" fmla="*/ 39 w 43"/>
                <a:gd name="T31" fmla="*/ 8 h 47"/>
                <a:gd name="T32" fmla="*/ 36 w 43"/>
                <a:gd name="T33" fmla="*/ 4 h 47"/>
                <a:gd name="T34" fmla="*/ 32 w 43"/>
                <a:gd name="T35" fmla="*/ 4 h 47"/>
                <a:gd name="T36" fmla="*/ 29 w 43"/>
                <a:gd name="T37" fmla="*/ 4 h 47"/>
                <a:gd name="T38" fmla="*/ 25 w 43"/>
                <a:gd name="T39" fmla="*/ 0 h 47"/>
                <a:gd name="T40" fmla="*/ 21 w 43"/>
                <a:gd name="T41" fmla="*/ 0 h 47"/>
                <a:gd name="T42" fmla="*/ 18 w 43"/>
                <a:gd name="T43" fmla="*/ 0 h 47"/>
                <a:gd name="T44" fmla="*/ 14 w 43"/>
                <a:gd name="T45" fmla="*/ 4 h 47"/>
                <a:gd name="T46" fmla="*/ 10 w 43"/>
                <a:gd name="T47" fmla="*/ 4 h 47"/>
                <a:gd name="T48" fmla="*/ 7 w 43"/>
                <a:gd name="T49" fmla="*/ 4 h 47"/>
                <a:gd name="T50" fmla="*/ 3 w 43"/>
                <a:gd name="T51" fmla="*/ 8 h 47"/>
                <a:gd name="T52" fmla="*/ 3 w 43"/>
                <a:gd name="T53" fmla="*/ 11 h 47"/>
                <a:gd name="T54" fmla="*/ 0 w 43"/>
                <a:gd name="T55" fmla="*/ 15 h 47"/>
                <a:gd name="T56" fmla="*/ 0 w 43"/>
                <a:gd name="T57" fmla="*/ 18 h 47"/>
                <a:gd name="T58" fmla="*/ 0 w 43"/>
                <a:gd name="T59" fmla="*/ 22 h 47"/>
                <a:gd name="T60" fmla="*/ 0 w 43"/>
                <a:gd name="T61" fmla="*/ 26 h 47"/>
                <a:gd name="T62" fmla="*/ 0 w 43"/>
                <a:gd name="T63" fmla="*/ 29 h 47"/>
                <a:gd name="T64" fmla="*/ 0 w 43"/>
                <a:gd name="T65" fmla="*/ 33 h 47"/>
                <a:gd name="T66" fmla="*/ 0 w 43"/>
                <a:gd name="T67" fmla="*/ 37 h 47"/>
                <a:gd name="T68" fmla="*/ 3 w 43"/>
                <a:gd name="T69" fmla="*/ 37 h 47"/>
                <a:gd name="T70" fmla="*/ 3 w 43"/>
                <a:gd name="T71" fmla="*/ 40 h 47"/>
                <a:gd name="T72" fmla="*/ 7 w 43"/>
                <a:gd name="T73" fmla="*/ 44 h 47"/>
                <a:gd name="T74" fmla="*/ 10 w 43"/>
                <a:gd name="T75" fmla="*/ 44 h 47"/>
                <a:gd name="T76" fmla="*/ 14 w 43"/>
                <a:gd name="T77" fmla="*/ 47 h 47"/>
                <a:gd name="T78" fmla="*/ 18 w 43"/>
                <a:gd name="T79" fmla="*/ 47 h 47"/>
                <a:gd name="T80" fmla="*/ 21 w 43"/>
                <a:gd name="T81" fmla="*/ 47 h 47"/>
                <a:gd name="T82" fmla="*/ 21 w 43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3"/>
                <a:gd name="T127" fmla="*/ 0 h 47"/>
                <a:gd name="T128" fmla="*/ 43 w 43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3" h="47">
                  <a:moveTo>
                    <a:pt x="21" y="47"/>
                  </a:moveTo>
                  <a:lnTo>
                    <a:pt x="25" y="47"/>
                  </a:lnTo>
                  <a:lnTo>
                    <a:pt x="29" y="47"/>
                  </a:lnTo>
                  <a:lnTo>
                    <a:pt x="32" y="44"/>
                  </a:lnTo>
                  <a:lnTo>
                    <a:pt x="36" y="44"/>
                  </a:lnTo>
                  <a:lnTo>
                    <a:pt x="39" y="40"/>
                  </a:lnTo>
                  <a:lnTo>
                    <a:pt x="39" y="37"/>
                  </a:lnTo>
                  <a:lnTo>
                    <a:pt x="43" y="37"/>
                  </a:lnTo>
                  <a:lnTo>
                    <a:pt x="43" y="33"/>
                  </a:lnTo>
                  <a:lnTo>
                    <a:pt x="43" y="29"/>
                  </a:lnTo>
                  <a:lnTo>
                    <a:pt x="43" y="26"/>
                  </a:lnTo>
                  <a:lnTo>
                    <a:pt x="43" y="22"/>
                  </a:lnTo>
                  <a:lnTo>
                    <a:pt x="43" y="18"/>
                  </a:lnTo>
                  <a:lnTo>
                    <a:pt x="43" y="15"/>
                  </a:lnTo>
                  <a:lnTo>
                    <a:pt x="39" y="11"/>
                  </a:lnTo>
                  <a:lnTo>
                    <a:pt x="39" y="8"/>
                  </a:lnTo>
                  <a:lnTo>
                    <a:pt x="36" y="4"/>
                  </a:lnTo>
                  <a:lnTo>
                    <a:pt x="32" y="4"/>
                  </a:lnTo>
                  <a:lnTo>
                    <a:pt x="29" y="4"/>
                  </a:lnTo>
                  <a:lnTo>
                    <a:pt x="25" y="0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4" y="4"/>
                  </a:lnTo>
                  <a:lnTo>
                    <a:pt x="10" y="4"/>
                  </a:lnTo>
                  <a:lnTo>
                    <a:pt x="7" y="4"/>
                  </a:lnTo>
                  <a:lnTo>
                    <a:pt x="3" y="8"/>
                  </a:lnTo>
                  <a:lnTo>
                    <a:pt x="3" y="11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0" y="29"/>
                  </a:lnTo>
                  <a:lnTo>
                    <a:pt x="0" y="33"/>
                  </a:lnTo>
                  <a:lnTo>
                    <a:pt x="0" y="37"/>
                  </a:lnTo>
                  <a:lnTo>
                    <a:pt x="3" y="37"/>
                  </a:lnTo>
                  <a:lnTo>
                    <a:pt x="3" y="40"/>
                  </a:lnTo>
                  <a:lnTo>
                    <a:pt x="7" y="44"/>
                  </a:lnTo>
                  <a:lnTo>
                    <a:pt x="10" y="44"/>
                  </a:lnTo>
                  <a:lnTo>
                    <a:pt x="14" y="47"/>
                  </a:lnTo>
                  <a:lnTo>
                    <a:pt x="18" y="47"/>
                  </a:lnTo>
                  <a:lnTo>
                    <a:pt x="21" y="4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2" name="Line 130"/>
            <p:cNvSpPr>
              <a:spLocks noChangeShapeType="1"/>
            </p:cNvSpPr>
            <p:nvPr/>
          </p:nvSpPr>
          <p:spPr bwMode="auto">
            <a:xfrm flipV="1">
              <a:off x="4389" y="2221"/>
              <a:ext cx="3" cy="778"/>
            </a:xfrm>
            <a:prstGeom prst="line">
              <a:avLst/>
            </a:prstGeom>
            <a:noFill/>
            <a:ln w="396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131"/>
            <p:cNvSpPr>
              <a:spLocks noChangeShapeType="1"/>
            </p:cNvSpPr>
            <p:nvPr/>
          </p:nvSpPr>
          <p:spPr bwMode="auto">
            <a:xfrm flipH="1">
              <a:off x="3612" y="2222"/>
              <a:ext cx="778" cy="1"/>
            </a:xfrm>
            <a:prstGeom prst="line">
              <a:avLst/>
            </a:prstGeom>
            <a:noFill/>
            <a:ln w="237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0831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Next: the Main Control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24744"/>
            <a:ext cx="11031016" cy="5256584"/>
          </a:xfrm>
        </p:spPr>
        <p:txBody>
          <a:bodyPr/>
          <a:lstStyle/>
          <a:p>
            <a:r>
              <a:rPr lang="en-US" dirty="0"/>
              <a:t>Different instructions desire different operations in </a:t>
            </a:r>
            <a:r>
              <a:rPr lang="en-US" dirty="0" err="1"/>
              <a:t>datapath</a:t>
            </a:r>
            <a:endParaRPr lang="en-US" dirty="0"/>
          </a:p>
          <a:p>
            <a:r>
              <a:rPr lang="en-US" dirty="0"/>
              <a:t>Proper control signals in </a:t>
            </a:r>
            <a:r>
              <a:rPr lang="en-US" dirty="0" err="1"/>
              <a:t>datapath</a:t>
            </a:r>
            <a:r>
              <a:rPr lang="en-US" dirty="0"/>
              <a:t> make this happen</a:t>
            </a:r>
          </a:p>
          <a:p>
            <a:r>
              <a:rPr lang="en-US" dirty="0"/>
              <a:t>Control signals are derived from instruction</a:t>
            </a:r>
          </a:p>
          <a:p>
            <a:endParaRPr lang="en-US" dirty="0"/>
          </a:p>
        </p:txBody>
      </p:sp>
      <p:grpSp>
        <p:nvGrpSpPr>
          <p:cNvPr id="5" name="Group 4"/>
          <p:cNvGrpSpPr>
            <a:grpSpLocks/>
          </p:cNvGrpSpPr>
          <p:nvPr/>
        </p:nvGrpSpPr>
        <p:grpSpPr bwMode="auto">
          <a:xfrm>
            <a:off x="2655441" y="2549139"/>
            <a:ext cx="6913563" cy="773113"/>
            <a:chOff x="703" y="981"/>
            <a:chExt cx="4355" cy="487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703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0</a:t>
              </a:r>
              <a:endParaRPr lang="en-AU" altLang="en-US" sz="2000"/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152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rs</a:t>
              </a:r>
              <a:endParaRPr lang="en-AU" altLang="en-US" sz="2000"/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220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rt</a:t>
              </a:r>
              <a:endParaRPr lang="en-AU" altLang="en-US" sz="2000"/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2880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rd</a:t>
              </a:r>
              <a:endParaRPr lang="en-AU" altLang="en-US" sz="2000"/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356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shamt</a:t>
              </a:r>
              <a:endParaRPr lang="en-AU" altLang="en-US" sz="2000"/>
            </a:p>
          </p:txBody>
        </p:sp>
        <p:sp>
          <p:nvSpPr>
            <p:cNvPr id="11" name="Text Box 10"/>
            <p:cNvSpPr txBox="1">
              <a:spLocks noChangeArrowheads="1"/>
            </p:cNvSpPr>
            <p:nvPr/>
          </p:nvSpPr>
          <p:spPr bwMode="auto">
            <a:xfrm>
              <a:off x="4241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funct</a:t>
              </a:r>
              <a:endParaRPr lang="en-AU" altLang="en-US" sz="2000"/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879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31:26</a:t>
              </a:r>
              <a:endParaRPr lang="en-AU" altLang="en-US"/>
            </a:p>
          </p:txBody>
        </p:sp>
        <p:sp>
          <p:nvSpPr>
            <p:cNvPr id="13" name="Text Box 12"/>
            <p:cNvSpPr txBox="1">
              <a:spLocks noChangeArrowheads="1"/>
            </p:cNvSpPr>
            <p:nvPr/>
          </p:nvSpPr>
          <p:spPr bwMode="auto">
            <a:xfrm>
              <a:off x="4488" y="1256"/>
              <a:ext cx="2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5:0</a:t>
              </a:r>
              <a:endParaRPr lang="en-AU" altLang="en-US"/>
            </a:p>
          </p:txBody>
        </p:sp>
        <p:sp>
          <p:nvSpPr>
            <p:cNvPr id="14" name="Text Box 13"/>
            <p:cNvSpPr txBox="1">
              <a:spLocks noChangeArrowheads="1"/>
            </p:cNvSpPr>
            <p:nvPr/>
          </p:nvSpPr>
          <p:spPr bwMode="auto">
            <a:xfrm>
              <a:off x="1650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25:21</a:t>
              </a:r>
              <a:endParaRPr lang="en-AU" altLang="en-US"/>
            </a:p>
          </p:txBody>
        </p:sp>
        <p:sp>
          <p:nvSpPr>
            <p:cNvPr id="15" name="Text Box 14"/>
            <p:cNvSpPr txBox="1">
              <a:spLocks noChangeArrowheads="1"/>
            </p:cNvSpPr>
            <p:nvPr/>
          </p:nvSpPr>
          <p:spPr bwMode="auto">
            <a:xfrm>
              <a:off x="2331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20:16</a:t>
              </a:r>
              <a:endParaRPr lang="en-AU" altLang="en-US"/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3011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15:11</a:t>
              </a:r>
              <a:endParaRPr lang="en-AU" altLang="en-US"/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3727" y="1256"/>
              <a:ext cx="36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10:6</a:t>
              </a:r>
              <a:endParaRPr lang="en-AU" altLang="en-US"/>
            </a:p>
          </p:txBody>
        </p:sp>
      </p:grpSp>
      <p:grpSp>
        <p:nvGrpSpPr>
          <p:cNvPr id="18" name="Group 17"/>
          <p:cNvGrpSpPr>
            <a:grpSpLocks/>
          </p:cNvGrpSpPr>
          <p:nvPr/>
        </p:nvGrpSpPr>
        <p:grpSpPr bwMode="auto">
          <a:xfrm>
            <a:off x="2655441" y="3557202"/>
            <a:ext cx="6913563" cy="773112"/>
            <a:chOff x="884" y="981"/>
            <a:chExt cx="4355" cy="487"/>
          </a:xfrm>
        </p:grpSpPr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35 or 43</a:t>
              </a:r>
              <a:endParaRPr lang="en-AU" altLang="en-US" sz="2000"/>
            </a:p>
          </p:txBody>
        </p:sp>
        <p:sp>
          <p:nvSpPr>
            <p:cNvPr id="20" name="Text Box 19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rs</a:t>
              </a:r>
              <a:endParaRPr lang="en-AU" altLang="en-US" sz="2000"/>
            </a:p>
          </p:txBody>
        </p:sp>
        <p:sp>
          <p:nvSpPr>
            <p:cNvPr id="21" name="Text Box 20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rt</a:t>
              </a:r>
              <a:endParaRPr lang="en-AU" altLang="en-US" sz="2000"/>
            </a:p>
          </p:txBody>
        </p:sp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address</a:t>
              </a:r>
              <a:endParaRPr lang="en-AU" altLang="en-US" sz="2000"/>
            </a:p>
          </p:txBody>
        </p:sp>
        <p:sp>
          <p:nvSpPr>
            <p:cNvPr id="23" name="Text Box 22"/>
            <p:cNvSpPr txBox="1">
              <a:spLocks noChangeArrowheads="1"/>
            </p:cNvSpPr>
            <p:nvPr/>
          </p:nvSpPr>
          <p:spPr bwMode="auto">
            <a:xfrm>
              <a:off x="1060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31:26</a:t>
              </a:r>
              <a:endParaRPr lang="en-AU" altLang="en-US"/>
            </a:p>
          </p:txBody>
        </p:sp>
        <p:sp>
          <p:nvSpPr>
            <p:cNvPr id="24" name="Text Box 23"/>
            <p:cNvSpPr txBox="1">
              <a:spLocks noChangeArrowheads="1"/>
            </p:cNvSpPr>
            <p:nvPr/>
          </p:nvSpPr>
          <p:spPr bwMode="auto">
            <a:xfrm>
              <a:off x="1831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25:21</a:t>
              </a:r>
              <a:endParaRPr lang="en-AU" altLang="en-US"/>
            </a:p>
          </p:txBody>
        </p:sp>
        <p:sp>
          <p:nvSpPr>
            <p:cNvPr id="25" name="Text Box 24"/>
            <p:cNvSpPr txBox="1">
              <a:spLocks noChangeArrowheads="1"/>
            </p:cNvSpPr>
            <p:nvPr/>
          </p:nvSpPr>
          <p:spPr bwMode="auto">
            <a:xfrm>
              <a:off x="2512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20:16</a:t>
              </a:r>
              <a:endParaRPr lang="en-AU" altLang="en-US"/>
            </a:p>
          </p:txBody>
        </p:sp>
        <p:sp>
          <p:nvSpPr>
            <p:cNvPr id="26" name="Text Box 25"/>
            <p:cNvSpPr txBox="1">
              <a:spLocks noChangeArrowheads="1"/>
            </p:cNvSpPr>
            <p:nvPr/>
          </p:nvSpPr>
          <p:spPr bwMode="auto">
            <a:xfrm>
              <a:off x="4000" y="1256"/>
              <a:ext cx="36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15:0</a:t>
              </a:r>
              <a:endParaRPr lang="en-AU" altLang="en-US"/>
            </a:p>
          </p:txBody>
        </p:sp>
      </p:grpSp>
      <p:grpSp>
        <p:nvGrpSpPr>
          <p:cNvPr id="27" name="Group 26"/>
          <p:cNvGrpSpPr>
            <a:grpSpLocks/>
          </p:cNvGrpSpPr>
          <p:nvPr/>
        </p:nvGrpSpPr>
        <p:grpSpPr bwMode="auto">
          <a:xfrm>
            <a:off x="2655441" y="4541452"/>
            <a:ext cx="6913563" cy="773112"/>
            <a:chOff x="884" y="981"/>
            <a:chExt cx="4355" cy="487"/>
          </a:xfrm>
        </p:grpSpPr>
        <p:sp>
          <p:nvSpPr>
            <p:cNvPr id="28" name="Text Box 27"/>
            <p:cNvSpPr txBox="1">
              <a:spLocks noChangeArrowheads="1"/>
            </p:cNvSpPr>
            <p:nvPr/>
          </p:nvSpPr>
          <p:spPr bwMode="auto">
            <a:xfrm>
              <a:off x="884" y="981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4</a:t>
              </a:r>
              <a:endParaRPr lang="en-AU" altLang="en-US" sz="2000"/>
            </a:p>
          </p:txBody>
        </p:sp>
        <p:sp>
          <p:nvSpPr>
            <p:cNvPr id="29" name="Text Box 28"/>
            <p:cNvSpPr txBox="1">
              <a:spLocks noChangeArrowheads="1"/>
            </p:cNvSpPr>
            <p:nvPr/>
          </p:nvSpPr>
          <p:spPr bwMode="auto">
            <a:xfrm>
              <a:off x="170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rs</a:t>
              </a:r>
              <a:endParaRPr lang="en-AU" altLang="en-US" sz="2000"/>
            </a:p>
          </p:txBody>
        </p:sp>
        <p:sp>
          <p:nvSpPr>
            <p:cNvPr id="30" name="Text Box 29"/>
            <p:cNvSpPr txBox="1">
              <a:spLocks noChangeArrowheads="1"/>
            </p:cNvSpPr>
            <p:nvPr/>
          </p:nvSpPr>
          <p:spPr bwMode="auto">
            <a:xfrm>
              <a:off x="2381" y="981"/>
              <a:ext cx="680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rt</a:t>
              </a:r>
              <a:endParaRPr lang="en-AU" altLang="en-US" sz="2000"/>
            </a:p>
          </p:txBody>
        </p:sp>
        <p:sp>
          <p:nvSpPr>
            <p:cNvPr id="31" name="Text Box 30"/>
            <p:cNvSpPr txBox="1">
              <a:spLocks noChangeArrowheads="1"/>
            </p:cNvSpPr>
            <p:nvPr/>
          </p:nvSpPr>
          <p:spPr bwMode="auto">
            <a:xfrm>
              <a:off x="3061" y="981"/>
              <a:ext cx="217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/>
                <a:t>address</a:t>
              </a:r>
              <a:endParaRPr lang="en-AU" altLang="en-US" sz="2000"/>
            </a:p>
          </p:txBody>
        </p:sp>
        <p:sp>
          <p:nvSpPr>
            <p:cNvPr id="32" name="Text Box 31"/>
            <p:cNvSpPr txBox="1">
              <a:spLocks noChangeArrowheads="1"/>
            </p:cNvSpPr>
            <p:nvPr/>
          </p:nvSpPr>
          <p:spPr bwMode="auto">
            <a:xfrm>
              <a:off x="1060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31:26</a:t>
              </a:r>
              <a:endParaRPr lang="en-AU" altLang="en-US"/>
            </a:p>
          </p:txBody>
        </p:sp>
        <p:sp>
          <p:nvSpPr>
            <p:cNvPr id="33" name="Text Box 32"/>
            <p:cNvSpPr txBox="1">
              <a:spLocks noChangeArrowheads="1"/>
            </p:cNvSpPr>
            <p:nvPr/>
          </p:nvSpPr>
          <p:spPr bwMode="auto">
            <a:xfrm>
              <a:off x="1831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25:21</a:t>
              </a:r>
              <a:endParaRPr lang="en-AU" altLang="en-US"/>
            </a:p>
          </p:txBody>
        </p:sp>
        <p:sp>
          <p:nvSpPr>
            <p:cNvPr id="34" name="Text Box 33"/>
            <p:cNvSpPr txBox="1">
              <a:spLocks noChangeArrowheads="1"/>
            </p:cNvSpPr>
            <p:nvPr/>
          </p:nvSpPr>
          <p:spPr bwMode="auto">
            <a:xfrm>
              <a:off x="2512" y="1256"/>
              <a:ext cx="43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20:16</a:t>
              </a:r>
              <a:endParaRPr lang="en-AU" altLang="en-US"/>
            </a:p>
          </p:txBody>
        </p:sp>
        <p:sp>
          <p:nvSpPr>
            <p:cNvPr id="35" name="Text Box 34"/>
            <p:cNvSpPr txBox="1">
              <a:spLocks noChangeArrowheads="1"/>
            </p:cNvSpPr>
            <p:nvPr/>
          </p:nvSpPr>
          <p:spPr bwMode="auto">
            <a:xfrm>
              <a:off x="4000" y="1256"/>
              <a:ext cx="36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/>
                <a:t>15:0</a:t>
              </a:r>
              <a:endParaRPr lang="en-AU" altLang="en-US"/>
            </a:p>
          </p:txBody>
        </p:sp>
      </p:grpSp>
      <p:sp>
        <p:nvSpPr>
          <p:cNvPr id="36" name="Text Box 35"/>
          <p:cNvSpPr txBox="1">
            <a:spLocks noChangeArrowheads="1"/>
          </p:cNvSpPr>
          <p:nvPr/>
        </p:nvSpPr>
        <p:spPr bwMode="auto">
          <a:xfrm>
            <a:off x="1631504" y="2601527"/>
            <a:ext cx="857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1800"/>
              <a:t>R-type</a:t>
            </a:r>
            <a:endParaRPr lang="en-AU" altLang="en-US" sz="1800"/>
          </a:p>
        </p:txBody>
      </p:sp>
      <p:sp>
        <p:nvSpPr>
          <p:cNvPr id="37" name="Text Box 36"/>
          <p:cNvSpPr txBox="1">
            <a:spLocks noChangeArrowheads="1"/>
          </p:cNvSpPr>
          <p:nvPr/>
        </p:nvSpPr>
        <p:spPr bwMode="auto">
          <a:xfrm>
            <a:off x="1631504" y="3466714"/>
            <a:ext cx="75565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1800"/>
              <a:t>Load/</a:t>
            </a:r>
            <a:br>
              <a:rPr lang="en-US" altLang="en-US" sz="1800"/>
            </a:br>
            <a:r>
              <a:rPr lang="en-US" altLang="en-US" sz="1800"/>
              <a:t>Store</a:t>
            </a:r>
            <a:endParaRPr lang="en-AU" altLang="en-US" sz="1800"/>
          </a:p>
        </p:txBody>
      </p:sp>
      <p:sp>
        <p:nvSpPr>
          <p:cNvPr id="38" name="Text Box 37"/>
          <p:cNvSpPr txBox="1">
            <a:spLocks noChangeArrowheads="1"/>
          </p:cNvSpPr>
          <p:nvPr/>
        </p:nvSpPr>
        <p:spPr bwMode="auto">
          <a:xfrm>
            <a:off x="1631504" y="4617652"/>
            <a:ext cx="908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1800"/>
              <a:t>Branch</a:t>
            </a:r>
            <a:endParaRPr lang="en-AU" altLang="en-US" sz="1800"/>
          </a:p>
        </p:txBody>
      </p:sp>
      <p:sp>
        <p:nvSpPr>
          <p:cNvPr id="39" name="AutoShape 38"/>
          <p:cNvSpPr>
            <a:spLocks/>
          </p:cNvSpPr>
          <p:nvPr/>
        </p:nvSpPr>
        <p:spPr bwMode="auto">
          <a:xfrm rot="16200000">
            <a:off x="3232498" y="4974045"/>
            <a:ext cx="144462" cy="1152525"/>
          </a:xfrm>
          <a:prstGeom prst="leftBrace">
            <a:avLst>
              <a:gd name="adj1" fmla="val 6648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0" name="AutoShape 39"/>
          <p:cNvSpPr>
            <a:spLocks/>
          </p:cNvSpPr>
          <p:nvPr/>
        </p:nvSpPr>
        <p:spPr bwMode="auto">
          <a:xfrm rot="16200000">
            <a:off x="4420742" y="5082789"/>
            <a:ext cx="144462" cy="935037"/>
          </a:xfrm>
          <a:prstGeom prst="leftBrace">
            <a:avLst>
              <a:gd name="adj1" fmla="val 5393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1" name="AutoShape 40"/>
          <p:cNvSpPr>
            <a:spLocks/>
          </p:cNvSpPr>
          <p:nvPr/>
        </p:nvSpPr>
        <p:spPr bwMode="auto">
          <a:xfrm rot="16200000">
            <a:off x="5500242" y="5082789"/>
            <a:ext cx="144462" cy="935037"/>
          </a:xfrm>
          <a:prstGeom prst="leftBrace">
            <a:avLst>
              <a:gd name="adj1" fmla="val 53938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2" name="Text Box 41"/>
          <p:cNvSpPr txBox="1">
            <a:spLocks noChangeArrowheads="1"/>
          </p:cNvSpPr>
          <p:nvPr/>
        </p:nvSpPr>
        <p:spPr bwMode="auto">
          <a:xfrm>
            <a:off x="2801491" y="5693977"/>
            <a:ext cx="1008063" cy="338554"/>
          </a:xfrm>
          <a:prstGeom prst="rect">
            <a:avLst/>
          </a:prstGeom>
          <a:solidFill>
            <a:srgbClr val="3370BA"/>
          </a:solidFill>
          <a:ln w="9525">
            <a:solidFill>
              <a:srgbClr val="18457D"/>
            </a:solidFill>
            <a:miter lim="800000"/>
            <a:headEnd/>
            <a:tailEnd type="triangle" w="med" len="med"/>
          </a:ln>
        </p:spPr>
        <p:txBody>
          <a:bodyPr/>
          <a:lstStyle>
            <a:defPPr>
              <a:defRPr lang="en-US"/>
            </a:defPPr>
            <a:lvl1pPr algn="ctr" defTabSz="914400">
              <a:defRPr sz="1600" kern="0">
                <a:solidFill>
                  <a:schemeClr val="bg1"/>
                </a:solidFill>
              </a:defRPr>
            </a:lvl1pPr>
            <a:lvl2pPr marL="742950" indent="-285750">
              <a:defRPr sz="1600">
                <a:latin typeface="Arial" panose="020B0604020202020204" pitchFamily="34" charset="0"/>
              </a:defRPr>
            </a:lvl2pPr>
            <a:lvl3pPr marL="1143000" indent="-228600">
              <a:defRPr sz="1600">
                <a:latin typeface="Arial" panose="020B0604020202020204" pitchFamily="34" charset="0"/>
              </a:defRPr>
            </a:lvl3pPr>
            <a:lvl4pPr marL="1600200" indent="-228600">
              <a:defRPr sz="1600">
                <a:latin typeface="Arial" panose="020B0604020202020204" pitchFamily="34" charset="0"/>
              </a:defRPr>
            </a:lvl4pPr>
            <a:lvl5pPr marL="2057400" indent="-228600">
              <a:defRPr sz="1600"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opcode</a:t>
            </a:r>
            <a:endParaRPr lang="en-AU" altLang="en-US" dirty="0"/>
          </a:p>
        </p:txBody>
      </p:sp>
      <p:sp>
        <p:nvSpPr>
          <p:cNvPr id="43" name="Text Box 42"/>
          <p:cNvSpPr txBox="1">
            <a:spLocks noChangeArrowheads="1"/>
          </p:cNvSpPr>
          <p:nvPr/>
        </p:nvSpPr>
        <p:spPr bwMode="auto">
          <a:xfrm>
            <a:off x="3952429" y="5693977"/>
            <a:ext cx="1008062" cy="584775"/>
          </a:xfrm>
          <a:prstGeom prst="rect">
            <a:avLst/>
          </a:prstGeom>
          <a:solidFill>
            <a:srgbClr val="3370BA"/>
          </a:solidFill>
          <a:ln w="9525">
            <a:solidFill>
              <a:srgbClr val="18457D"/>
            </a:solidFill>
            <a:miter lim="800000"/>
            <a:headEnd/>
            <a:tailEnd type="triangle" w="med" len="med"/>
          </a:ln>
        </p:spPr>
        <p:txBody>
          <a:bodyPr/>
          <a:lstStyle>
            <a:defPPr>
              <a:defRPr lang="en-US"/>
            </a:defPPr>
            <a:lvl1pPr algn="ctr" defTabSz="914400">
              <a:defRPr sz="1600" kern="0">
                <a:solidFill>
                  <a:schemeClr val="bg1"/>
                </a:solidFill>
              </a:defRPr>
            </a:lvl1pPr>
            <a:lvl2pPr marL="742950" indent="-285750">
              <a:defRPr sz="1600">
                <a:latin typeface="Arial" panose="020B0604020202020204" pitchFamily="34" charset="0"/>
              </a:defRPr>
            </a:lvl2pPr>
            <a:lvl3pPr marL="1143000" indent="-228600">
              <a:defRPr sz="1600">
                <a:latin typeface="Arial" panose="020B0604020202020204" pitchFamily="34" charset="0"/>
              </a:defRPr>
            </a:lvl3pPr>
            <a:lvl4pPr marL="1600200" indent="-228600">
              <a:defRPr sz="1600">
                <a:latin typeface="Arial" panose="020B0604020202020204" pitchFamily="34" charset="0"/>
              </a:defRPr>
            </a:lvl4pPr>
            <a:lvl5pPr marL="2057400" indent="-228600">
              <a:defRPr sz="1600"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always read</a:t>
            </a:r>
            <a:endParaRPr lang="en-AU" altLang="en-US" dirty="0"/>
          </a:p>
        </p:txBody>
      </p:sp>
      <p:sp>
        <p:nvSpPr>
          <p:cNvPr id="44" name="Text Box 43"/>
          <p:cNvSpPr txBox="1">
            <a:spLocks noChangeArrowheads="1"/>
          </p:cNvSpPr>
          <p:nvPr/>
        </p:nvSpPr>
        <p:spPr bwMode="auto">
          <a:xfrm>
            <a:off x="5104954" y="5693977"/>
            <a:ext cx="1008062" cy="830997"/>
          </a:xfrm>
          <a:prstGeom prst="rect">
            <a:avLst/>
          </a:prstGeom>
          <a:solidFill>
            <a:srgbClr val="3370BA"/>
          </a:solidFill>
          <a:ln w="9525">
            <a:solidFill>
              <a:srgbClr val="18457D"/>
            </a:solidFill>
            <a:miter lim="800000"/>
            <a:headEnd/>
            <a:tailEnd type="triangle" w="med" len="med"/>
          </a:ln>
        </p:spPr>
        <p:txBody>
          <a:bodyPr/>
          <a:lstStyle>
            <a:defPPr>
              <a:defRPr lang="en-US"/>
            </a:defPPr>
            <a:lvl1pPr algn="ctr" defTabSz="914400">
              <a:defRPr sz="1600" kern="0">
                <a:solidFill>
                  <a:schemeClr val="bg1"/>
                </a:solidFill>
              </a:defRPr>
            </a:lvl1pPr>
            <a:lvl2pPr marL="742950" indent="-285750">
              <a:defRPr sz="1600">
                <a:latin typeface="Arial" panose="020B0604020202020204" pitchFamily="34" charset="0"/>
              </a:defRPr>
            </a:lvl2pPr>
            <a:lvl3pPr marL="1143000" indent="-228600">
              <a:defRPr sz="1600">
                <a:latin typeface="Arial" panose="020B0604020202020204" pitchFamily="34" charset="0"/>
              </a:defRPr>
            </a:lvl3pPr>
            <a:lvl4pPr marL="1600200" indent="-228600">
              <a:defRPr sz="1600">
                <a:latin typeface="Arial" panose="020B0604020202020204" pitchFamily="34" charset="0"/>
              </a:defRPr>
            </a:lvl4pPr>
            <a:lvl5pPr marL="2057400" indent="-228600">
              <a:defRPr sz="1600"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read, except for load</a:t>
            </a:r>
            <a:endParaRPr lang="en-AU" altLang="en-US" dirty="0"/>
          </a:p>
        </p:txBody>
      </p:sp>
      <p:sp>
        <p:nvSpPr>
          <p:cNvPr id="45" name="Text Box 44"/>
          <p:cNvSpPr txBox="1">
            <a:spLocks noChangeArrowheads="1"/>
          </p:cNvSpPr>
          <p:nvPr/>
        </p:nvSpPr>
        <p:spPr bwMode="auto">
          <a:xfrm>
            <a:off x="6617841" y="5693977"/>
            <a:ext cx="1223963" cy="830997"/>
          </a:xfrm>
          <a:prstGeom prst="rect">
            <a:avLst/>
          </a:prstGeom>
          <a:solidFill>
            <a:srgbClr val="3370BA"/>
          </a:solidFill>
          <a:ln w="9525">
            <a:solidFill>
              <a:srgbClr val="18457D"/>
            </a:solidFill>
            <a:miter lim="800000"/>
            <a:headEnd/>
            <a:tailEnd type="triangle" w="med" len="med"/>
          </a:ln>
        </p:spPr>
        <p:txBody>
          <a:bodyPr/>
          <a:lstStyle>
            <a:defPPr>
              <a:defRPr lang="en-US"/>
            </a:defPPr>
            <a:lvl1pPr algn="ctr" defTabSz="914400">
              <a:defRPr sz="1600" kern="0">
                <a:solidFill>
                  <a:schemeClr val="bg1"/>
                </a:solidFill>
              </a:defRPr>
            </a:lvl1pPr>
            <a:lvl2pPr marL="742950" indent="-285750">
              <a:defRPr sz="1600">
                <a:latin typeface="Arial" panose="020B0604020202020204" pitchFamily="34" charset="0"/>
              </a:defRPr>
            </a:lvl2pPr>
            <a:lvl3pPr marL="1143000" indent="-228600">
              <a:defRPr sz="1600">
                <a:latin typeface="Arial" panose="020B0604020202020204" pitchFamily="34" charset="0"/>
              </a:defRPr>
            </a:lvl3pPr>
            <a:lvl4pPr marL="1600200" indent="-228600">
              <a:defRPr sz="1600">
                <a:latin typeface="Arial" panose="020B0604020202020204" pitchFamily="34" charset="0"/>
              </a:defRPr>
            </a:lvl4pPr>
            <a:lvl5pPr marL="2057400" indent="-228600">
              <a:defRPr sz="1600"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write for R-type and load</a:t>
            </a:r>
            <a:endParaRPr lang="en-AU" altLang="en-US" dirty="0"/>
          </a:p>
        </p:txBody>
      </p:sp>
      <p:sp>
        <p:nvSpPr>
          <p:cNvPr id="46" name="Line 45"/>
          <p:cNvSpPr>
            <a:spLocks noChangeShapeType="1"/>
          </p:cNvSpPr>
          <p:nvPr/>
        </p:nvSpPr>
        <p:spPr bwMode="auto">
          <a:xfrm flipH="1" flipV="1">
            <a:off x="6041579" y="4036627"/>
            <a:ext cx="576262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46"/>
          <p:cNvSpPr>
            <a:spLocks noChangeShapeType="1"/>
          </p:cNvSpPr>
          <p:nvPr/>
        </p:nvSpPr>
        <p:spPr bwMode="auto">
          <a:xfrm flipH="1" flipV="1">
            <a:off x="6328916" y="3028564"/>
            <a:ext cx="360363" cy="25923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Text Box 47"/>
          <p:cNvSpPr txBox="1">
            <a:spLocks noChangeArrowheads="1"/>
          </p:cNvSpPr>
          <p:nvPr/>
        </p:nvSpPr>
        <p:spPr bwMode="auto">
          <a:xfrm>
            <a:off x="8345041" y="5693977"/>
            <a:ext cx="1439863" cy="584775"/>
          </a:xfrm>
          <a:prstGeom prst="rect">
            <a:avLst/>
          </a:prstGeom>
          <a:solidFill>
            <a:srgbClr val="3370BA"/>
          </a:solidFill>
          <a:ln w="9525">
            <a:solidFill>
              <a:srgbClr val="18457D"/>
            </a:solidFill>
            <a:miter lim="800000"/>
            <a:headEnd/>
            <a:tailEnd type="triangle" w="med" len="med"/>
          </a:ln>
        </p:spPr>
        <p:txBody>
          <a:bodyPr/>
          <a:lstStyle>
            <a:defPPr>
              <a:defRPr lang="en-US"/>
            </a:defPPr>
            <a:lvl1pPr algn="ctr" defTabSz="914400">
              <a:defRPr sz="1600" kern="0">
                <a:solidFill>
                  <a:schemeClr val="bg1"/>
                </a:solidFill>
              </a:defRPr>
            </a:lvl1pPr>
            <a:lvl2pPr marL="742950" indent="-285750">
              <a:defRPr sz="1600">
                <a:latin typeface="Arial" panose="020B0604020202020204" pitchFamily="34" charset="0"/>
              </a:defRPr>
            </a:lvl2pPr>
            <a:lvl3pPr marL="1143000" indent="-228600">
              <a:defRPr sz="1600">
                <a:latin typeface="Arial" panose="020B0604020202020204" pitchFamily="34" charset="0"/>
              </a:defRPr>
            </a:lvl3pPr>
            <a:lvl4pPr marL="1600200" indent="-228600">
              <a:defRPr sz="1600">
                <a:latin typeface="Arial" panose="020B0604020202020204" pitchFamily="34" charset="0"/>
              </a:defRPr>
            </a:lvl4pPr>
            <a:lvl5pPr marL="2057400" indent="-228600">
              <a:defRPr sz="1600"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latin typeface="Arial" panose="020B0604020202020204" pitchFamily="34" charset="0"/>
              </a:defRPr>
            </a:lvl9pPr>
          </a:lstStyle>
          <a:p>
            <a:r>
              <a:rPr lang="en-US" altLang="en-US" dirty="0"/>
              <a:t>sign-extend and add</a:t>
            </a:r>
            <a:endParaRPr lang="en-AU" altLang="en-US" dirty="0"/>
          </a:p>
        </p:txBody>
      </p:sp>
      <p:sp>
        <p:nvSpPr>
          <p:cNvPr id="49" name="Line 48"/>
          <p:cNvSpPr>
            <a:spLocks noChangeShapeType="1"/>
          </p:cNvSpPr>
          <p:nvPr/>
        </p:nvSpPr>
        <p:spPr bwMode="auto">
          <a:xfrm flipH="1" flipV="1">
            <a:off x="8489504" y="5044689"/>
            <a:ext cx="71437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49"/>
          <p:cNvSpPr>
            <a:spLocks noChangeShapeType="1"/>
          </p:cNvSpPr>
          <p:nvPr/>
        </p:nvSpPr>
        <p:spPr bwMode="auto">
          <a:xfrm flipV="1">
            <a:off x="8633966" y="4036627"/>
            <a:ext cx="0" cy="15843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848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>
                <a:ea typeface="新細明體" charset="-120"/>
                <a:cs typeface="新細明體" charset="-120"/>
              </a:rPr>
              <a:t>Control Signals in Single-cycle Implementation</a:t>
            </a:r>
            <a:endParaRPr lang="en-US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2351584" y="1052736"/>
            <a:ext cx="7491877" cy="5305281"/>
            <a:chOff x="384" y="624"/>
            <a:chExt cx="4921" cy="3293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3224" y="2207"/>
              <a:ext cx="2080" cy="31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The next PC picks up the output of the adder that computes the branch target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1200" y="2207"/>
              <a:ext cx="2024" cy="31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The next PC picks up the output of the adder that computes PC+4</a:t>
              </a: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384" y="2207"/>
              <a:ext cx="816" cy="317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PCSrc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3224" y="2524"/>
              <a:ext cx="2080" cy="4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Enable read from memory. Memory contents designated by the address are put on the Read data output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1200" y="2524"/>
              <a:ext cx="2024" cy="4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None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384" y="2524"/>
              <a:ext cx="816" cy="46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MemRead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3224" y="2988"/>
              <a:ext cx="2080" cy="6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Enable write to memory. Overwrite the memory contents designated by the address with the value on the Write data input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1200" y="2988"/>
              <a:ext cx="2024" cy="61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None</a:t>
              </a: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384" y="2988"/>
              <a:ext cx="816" cy="61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MemWrite</a:t>
              </a: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3224" y="3599"/>
              <a:ext cx="2080" cy="31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Feed the Write data input of the register file with output from memory</a:t>
              </a: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3224" y="1743"/>
              <a:ext cx="2080" cy="4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The second ALU operand is the sign-extended, lower 16 bits of the instruction</a:t>
              </a: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3224" y="1279"/>
              <a:ext cx="2080" cy="4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Enable data write to the register specified by the register destination number</a:t>
              </a: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3224" y="815"/>
              <a:ext cx="2080" cy="4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The register destination number for the Write register comes from </a:t>
              </a:r>
              <a:r>
                <a:rPr lang="en-GB" altLang="zh-TW" sz="1400" b="1">
                  <a:solidFill>
                    <a:srgbClr val="402000"/>
                  </a:solidFill>
                  <a:ea typeface="新細明體" charset="-120"/>
                </a:rPr>
                <a:t>rd</a:t>
              </a: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 field (bits 15-11)</a:t>
              </a: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3224" y="624"/>
              <a:ext cx="2080" cy="19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FFFFFF"/>
                  </a:solidFill>
                  <a:ea typeface="新細明體" charset="-120"/>
                </a:rPr>
                <a:t>Effect when asserted</a:t>
              </a: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1200" y="3599"/>
              <a:ext cx="2024" cy="31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Feed the Write data input of the register file with output from ALU</a:t>
              </a: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1200" y="1743"/>
              <a:ext cx="2024" cy="4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The second ALU operand comes from the second register file output (Read data port 2).</a:t>
              </a: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1200" y="1279"/>
              <a:ext cx="2024" cy="4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None</a:t>
              </a: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1200" y="815"/>
              <a:ext cx="2024" cy="4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dirty="0">
                  <a:solidFill>
                    <a:srgbClr val="402000"/>
                  </a:solidFill>
                  <a:ea typeface="新細明體" charset="-120"/>
                </a:rPr>
                <a:t>The register destination number for the Write register comes from </a:t>
              </a:r>
              <a:r>
                <a:rPr lang="en-GB" altLang="zh-TW" sz="1400" b="1" dirty="0" err="1">
                  <a:solidFill>
                    <a:srgbClr val="402000"/>
                  </a:solidFill>
                  <a:ea typeface="新細明體" charset="-120"/>
                </a:rPr>
                <a:t>rt</a:t>
              </a:r>
              <a:r>
                <a:rPr lang="en-GB" altLang="zh-TW" sz="1400" dirty="0">
                  <a:solidFill>
                    <a:srgbClr val="402000"/>
                  </a:solidFill>
                  <a:ea typeface="新細明體" charset="-120"/>
                </a:rPr>
                <a:t> field (bits 20-16)</a:t>
              </a: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1200" y="624"/>
              <a:ext cx="2024" cy="19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FFFFFF"/>
                  </a:solidFill>
                  <a:ea typeface="新細明體" charset="-120"/>
                </a:rPr>
                <a:t>Effect when deasserted</a:t>
              </a: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384" y="3599"/>
              <a:ext cx="816" cy="317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MemtoReg</a:t>
              </a: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384" y="1743"/>
              <a:ext cx="816" cy="46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ALUSrc</a:t>
              </a: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384" y="1279"/>
              <a:ext cx="816" cy="46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RegWrite</a:t>
              </a: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384" y="815"/>
              <a:ext cx="816" cy="464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18360" rIns="90000" bIns="18360" anchor="ctr"/>
            <a:lstStyle/>
            <a:p>
              <a:pPr>
                <a:lnSpc>
                  <a:spcPct val="11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ea typeface="新細明體" charset="-120"/>
                </a:rPr>
                <a:t>RegDst</a:t>
              </a: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384" y="624"/>
              <a:ext cx="816" cy="19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FFFFFF"/>
                  </a:solidFill>
                  <a:ea typeface="新細明體" charset="-120"/>
                </a:rPr>
                <a:t>Signal name</a:t>
              </a:r>
            </a:p>
          </p:txBody>
        </p:sp>
        <p:sp>
          <p:nvSpPr>
            <p:cNvPr id="30" name="Line 28"/>
            <p:cNvSpPr>
              <a:spLocks noChangeShapeType="1"/>
            </p:cNvSpPr>
            <p:nvPr/>
          </p:nvSpPr>
          <p:spPr bwMode="auto">
            <a:xfrm>
              <a:off x="384" y="624"/>
              <a:ext cx="4920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Line 29"/>
            <p:cNvSpPr>
              <a:spLocks noChangeShapeType="1"/>
            </p:cNvSpPr>
            <p:nvPr/>
          </p:nvSpPr>
          <p:spPr bwMode="auto">
            <a:xfrm>
              <a:off x="384" y="815"/>
              <a:ext cx="492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Line 30"/>
            <p:cNvSpPr>
              <a:spLocks noChangeShapeType="1"/>
            </p:cNvSpPr>
            <p:nvPr/>
          </p:nvSpPr>
          <p:spPr bwMode="auto">
            <a:xfrm>
              <a:off x="384" y="1279"/>
              <a:ext cx="492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1"/>
            <p:cNvSpPr>
              <a:spLocks noChangeShapeType="1"/>
            </p:cNvSpPr>
            <p:nvPr/>
          </p:nvSpPr>
          <p:spPr bwMode="auto">
            <a:xfrm>
              <a:off x="384" y="1743"/>
              <a:ext cx="492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32"/>
            <p:cNvSpPr>
              <a:spLocks noChangeShapeType="1"/>
            </p:cNvSpPr>
            <p:nvPr/>
          </p:nvSpPr>
          <p:spPr bwMode="auto">
            <a:xfrm>
              <a:off x="384" y="2207"/>
              <a:ext cx="492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>
              <a:off x="384" y="3916"/>
              <a:ext cx="4920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>
              <a:off x="1200" y="624"/>
              <a:ext cx="1" cy="3292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>
              <a:off x="3224" y="624"/>
              <a:ext cx="1" cy="3292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>
              <a:off x="384" y="3599"/>
              <a:ext cx="492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>
              <a:off x="384" y="2988"/>
              <a:ext cx="492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>
              <a:off x="384" y="2524"/>
              <a:ext cx="4920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>
              <a:off x="384" y="815"/>
              <a:ext cx="1" cy="310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Line 40"/>
            <p:cNvSpPr>
              <a:spLocks noChangeShapeType="1"/>
            </p:cNvSpPr>
            <p:nvPr/>
          </p:nvSpPr>
          <p:spPr bwMode="auto">
            <a:xfrm>
              <a:off x="384" y="624"/>
              <a:ext cx="1" cy="19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>
              <a:off x="5304" y="815"/>
              <a:ext cx="1" cy="310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42"/>
            <p:cNvSpPr>
              <a:spLocks noChangeShapeType="1"/>
            </p:cNvSpPr>
            <p:nvPr/>
          </p:nvSpPr>
          <p:spPr bwMode="auto">
            <a:xfrm>
              <a:off x="5304" y="624"/>
              <a:ext cx="1" cy="19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9568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>
                <a:ea typeface="新細明體" charset="-120"/>
                <a:cs typeface="新細明體" charset="-120"/>
              </a:rPr>
              <a:t>Setting of Control Signals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24744"/>
            <a:ext cx="11031016" cy="5256584"/>
          </a:xfrm>
        </p:spPr>
        <p:txBody>
          <a:bodyPr/>
          <a:lstStyle/>
          <a:p>
            <a:pPr marL="379413" indent="-379413">
              <a:lnSpc>
                <a:spcPct val="100000"/>
              </a:lnSpc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The </a:t>
            </a:r>
            <a:r>
              <a:rPr lang="en-GB" altLang="zh-TW" dirty="0">
                <a:solidFill>
                  <a:srgbClr val="CD3333"/>
                </a:solidFill>
                <a:ea typeface="新細明體" charset="-120"/>
              </a:rPr>
              <a:t>9 control signals</a:t>
            </a:r>
            <a:r>
              <a:rPr lang="en-GB" altLang="zh-TW" dirty="0">
                <a:ea typeface="新細明體" charset="-120"/>
              </a:rPr>
              <a:t> (</a:t>
            </a:r>
            <a:r>
              <a:rPr lang="en-GB" altLang="zh-TW" u="sng" dirty="0">
                <a:ea typeface="新細明體" charset="-120"/>
              </a:rPr>
              <a:t>7 from previous table + 2 from </a:t>
            </a:r>
            <a:r>
              <a:rPr lang="en-GB" altLang="zh-TW" u="sng" dirty="0" err="1">
                <a:ea typeface="新細明體" charset="-120"/>
              </a:rPr>
              <a:t>ALUOp</a:t>
            </a:r>
            <a:r>
              <a:rPr lang="en-GB" altLang="zh-TW" dirty="0">
                <a:ea typeface="新細明體" charset="-120"/>
              </a:rPr>
              <a:t>) can be set based entirely on the 6-bit opcode, with the exception of </a:t>
            </a:r>
            <a:r>
              <a:rPr lang="en-GB" altLang="zh-TW" dirty="0" err="1">
                <a:ea typeface="新細明體" charset="-120"/>
              </a:rPr>
              <a:t>PCSrc</a:t>
            </a:r>
            <a:endParaRPr lang="en-GB" altLang="zh-TW" dirty="0">
              <a:ea typeface="新細明體" charset="-120"/>
            </a:endParaRPr>
          </a:p>
          <a:p>
            <a:pPr marL="379413" indent="-379413">
              <a:lnSpc>
                <a:spcPct val="100000"/>
              </a:lnSpc>
              <a:buFont typeface="Wingdings" charset="2"/>
              <a:buNone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endParaRPr lang="en-GB" altLang="zh-TW" dirty="0">
              <a:ea typeface="新細明體" charset="-120"/>
            </a:endParaRPr>
          </a:p>
          <a:p>
            <a:pPr marL="379413" indent="-379413">
              <a:lnSpc>
                <a:spcPct val="100000"/>
              </a:lnSpc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 err="1">
                <a:solidFill>
                  <a:srgbClr val="CD3333"/>
                </a:solidFill>
                <a:ea typeface="新細明體" charset="-120"/>
              </a:rPr>
              <a:t>PCSrc</a:t>
            </a:r>
            <a:r>
              <a:rPr lang="en-GB" altLang="zh-TW" dirty="0">
                <a:ea typeface="新細明體" charset="-120"/>
              </a:rPr>
              <a:t> control line is set if both conditions hold simultaneously:</a:t>
            </a:r>
          </a:p>
          <a:p>
            <a:pPr marL="785813" lvl="1" indent="-381000">
              <a:lnSpc>
                <a:spcPct val="100000"/>
              </a:lnSpc>
              <a:buFont typeface="Tahoma" charset="0"/>
              <a:buAutoNum type="alphaLcPeriod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Instruction is a branch, e.g. </a:t>
            </a:r>
            <a:r>
              <a:rPr lang="en-GB" altLang="zh-TW" b="1" dirty="0" err="1">
                <a:solidFill>
                  <a:srgbClr val="0000CC"/>
                </a:solidFill>
                <a:latin typeface="Courier New" charset="0"/>
                <a:ea typeface="新細明體" charset="-120"/>
              </a:rPr>
              <a:t>beq</a:t>
            </a:r>
            <a:endParaRPr lang="en-GB" altLang="zh-TW" b="1" dirty="0">
              <a:solidFill>
                <a:srgbClr val="0000CC"/>
              </a:solidFill>
              <a:latin typeface="Courier New" charset="0"/>
              <a:ea typeface="新細明體" charset="-120"/>
            </a:endParaRPr>
          </a:p>
          <a:p>
            <a:pPr marL="785813" lvl="1" indent="-381000">
              <a:lnSpc>
                <a:spcPct val="100000"/>
              </a:lnSpc>
              <a:buFont typeface="Tahoma" charset="0"/>
              <a:buAutoNum type="alphaLcPeriod"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r>
              <a:rPr lang="en-GB" altLang="zh-TW" dirty="0">
                <a:ea typeface="新細明體" charset="-120"/>
              </a:rPr>
              <a:t>Zero output of ALU is true (i.e., two source operands are equal)</a:t>
            </a:r>
          </a:p>
          <a:p>
            <a:pPr marL="379413" indent="-379413">
              <a:lnSpc>
                <a:spcPct val="100000"/>
              </a:lnSpc>
              <a:buFont typeface="Wingdings" charset="2"/>
              <a:buNone/>
              <a:tabLst>
                <a:tab pos="1000125" algn="l"/>
                <a:tab pos="1914525" algn="l"/>
                <a:tab pos="2828925" algn="l"/>
                <a:tab pos="3743325" algn="l"/>
                <a:tab pos="4657725" algn="l"/>
                <a:tab pos="5572125" algn="l"/>
                <a:tab pos="6486525" algn="l"/>
                <a:tab pos="7400925" algn="l"/>
                <a:tab pos="8315325" algn="l"/>
                <a:tab pos="9229725" algn="l"/>
                <a:tab pos="10144125" algn="l"/>
              </a:tabLst>
            </a:pPr>
            <a:endParaRPr lang="en-GB" altLang="zh-TW" dirty="0">
              <a:ea typeface="新細明體" charset="-12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7298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>
                <a:ea typeface="新細明體" charset="-120"/>
                <a:cs typeface="新細明體" charset="-120"/>
              </a:rPr>
              <a:t>R-Type Instr. with Control</a:t>
            </a:r>
            <a:endParaRPr lang="en-US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704975" y="1316037"/>
            <a:ext cx="7975600" cy="4475163"/>
            <a:chOff x="384" y="672"/>
            <a:chExt cx="5024" cy="2819"/>
          </a:xfrm>
        </p:grpSpPr>
        <p:sp>
          <p:nvSpPr>
            <p:cNvPr id="6" name="Line 4"/>
            <p:cNvSpPr>
              <a:spLocks noChangeShapeType="1"/>
            </p:cNvSpPr>
            <p:nvPr/>
          </p:nvSpPr>
          <p:spPr bwMode="auto">
            <a:xfrm flipH="1">
              <a:off x="4227" y="2476"/>
              <a:ext cx="127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5"/>
            <p:cNvSpPr>
              <a:spLocks noChangeArrowheads="1"/>
            </p:cNvSpPr>
            <p:nvPr/>
          </p:nvSpPr>
          <p:spPr bwMode="auto">
            <a:xfrm>
              <a:off x="2482" y="1815"/>
              <a:ext cx="2229" cy="427"/>
            </a:xfrm>
            <a:custGeom>
              <a:avLst/>
              <a:gdLst>
                <a:gd name="T0" fmla="*/ 0 w 2229"/>
                <a:gd name="T1" fmla="*/ 0 h 427"/>
                <a:gd name="T2" fmla="*/ 2229 w 2229"/>
                <a:gd name="T3" fmla="*/ 0 h 427"/>
                <a:gd name="T4" fmla="*/ 2229 w 2229"/>
                <a:gd name="T5" fmla="*/ 427 h 427"/>
                <a:gd name="T6" fmla="*/ 0 60000 65536"/>
                <a:gd name="T7" fmla="*/ 0 60000 65536"/>
                <a:gd name="T8" fmla="*/ 0 60000 65536"/>
                <a:gd name="T9" fmla="*/ 0 w 2229"/>
                <a:gd name="T10" fmla="*/ 0 h 427"/>
                <a:gd name="T11" fmla="*/ 2229 w 2229"/>
                <a:gd name="T12" fmla="*/ 427 h 4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29" h="427">
                  <a:moveTo>
                    <a:pt x="0" y="0"/>
                  </a:moveTo>
                  <a:lnTo>
                    <a:pt x="2229" y="0"/>
                  </a:lnTo>
                  <a:lnTo>
                    <a:pt x="2229" y="427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2456" y="1465"/>
              <a:ext cx="1696" cy="1"/>
            </a:xfrm>
            <a:prstGeom prst="line">
              <a:avLst/>
            </a:prstGeom>
            <a:noFill/>
            <a:ln w="1116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>
              <a:spLocks noChangeArrowheads="1"/>
            </p:cNvSpPr>
            <p:nvPr/>
          </p:nvSpPr>
          <p:spPr bwMode="auto">
            <a:xfrm>
              <a:off x="2461" y="1903"/>
              <a:ext cx="1127" cy="488"/>
            </a:xfrm>
            <a:custGeom>
              <a:avLst/>
              <a:gdLst>
                <a:gd name="T0" fmla="*/ 0 w 1127"/>
                <a:gd name="T1" fmla="*/ 0 h 488"/>
                <a:gd name="T2" fmla="*/ 1127 w 1127"/>
                <a:gd name="T3" fmla="*/ 0 h 488"/>
                <a:gd name="T4" fmla="*/ 1127 w 1127"/>
                <a:gd name="T5" fmla="*/ 488 h 488"/>
                <a:gd name="T6" fmla="*/ 0 60000 65536"/>
                <a:gd name="T7" fmla="*/ 0 60000 65536"/>
                <a:gd name="T8" fmla="*/ 0 60000 65536"/>
                <a:gd name="T9" fmla="*/ 0 w 1127"/>
                <a:gd name="T10" fmla="*/ 0 h 488"/>
                <a:gd name="T11" fmla="*/ 1127 w 1127"/>
                <a:gd name="T12" fmla="*/ 488 h 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7" h="488">
                  <a:moveTo>
                    <a:pt x="0" y="0"/>
                  </a:moveTo>
                  <a:lnTo>
                    <a:pt x="1127" y="0"/>
                  </a:lnTo>
                  <a:lnTo>
                    <a:pt x="1127" y="488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Freeform 8"/>
            <p:cNvSpPr>
              <a:spLocks noChangeArrowheads="1"/>
            </p:cNvSpPr>
            <p:nvPr/>
          </p:nvSpPr>
          <p:spPr bwMode="auto">
            <a:xfrm>
              <a:off x="2494" y="1640"/>
              <a:ext cx="2731" cy="782"/>
            </a:xfrm>
            <a:custGeom>
              <a:avLst/>
              <a:gdLst>
                <a:gd name="T0" fmla="*/ 0 w 2731"/>
                <a:gd name="T1" fmla="*/ 0 h 782"/>
                <a:gd name="T2" fmla="*/ 2731 w 2731"/>
                <a:gd name="T3" fmla="*/ 0 h 782"/>
                <a:gd name="T4" fmla="*/ 2731 w 2731"/>
                <a:gd name="T5" fmla="*/ 782 h 782"/>
                <a:gd name="T6" fmla="*/ 0 60000 65536"/>
                <a:gd name="T7" fmla="*/ 0 60000 65536"/>
                <a:gd name="T8" fmla="*/ 0 60000 65536"/>
                <a:gd name="T9" fmla="*/ 0 w 2731"/>
                <a:gd name="T10" fmla="*/ 0 h 782"/>
                <a:gd name="T11" fmla="*/ 2731 w 2731"/>
                <a:gd name="T12" fmla="*/ 782 h 7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1" h="782">
                  <a:moveTo>
                    <a:pt x="0" y="0"/>
                  </a:moveTo>
                  <a:lnTo>
                    <a:pt x="2731" y="0"/>
                  </a:lnTo>
                  <a:lnTo>
                    <a:pt x="2731" y="782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9"/>
            <p:cNvSpPr>
              <a:spLocks noChangeArrowheads="1"/>
            </p:cNvSpPr>
            <p:nvPr/>
          </p:nvSpPr>
          <p:spPr bwMode="auto">
            <a:xfrm>
              <a:off x="2478" y="1553"/>
              <a:ext cx="2931" cy="1463"/>
            </a:xfrm>
            <a:custGeom>
              <a:avLst/>
              <a:gdLst>
                <a:gd name="T0" fmla="*/ 0 w 2931"/>
                <a:gd name="T1" fmla="*/ 0 h 1463"/>
                <a:gd name="T2" fmla="*/ 2931 w 2931"/>
                <a:gd name="T3" fmla="*/ 0 h 1463"/>
                <a:gd name="T4" fmla="*/ 2931 w 2931"/>
                <a:gd name="T5" fmla="*/ 1463 h 1463"/>
                <a:gd name="T6" fmla="*/ 2233 w 2931"/>
                <a:gd name="T7" fmla="*/ 1463 h 1463"/>
                <a:gd name="T8" fmla="*/ 2233 w 2931"/>
                <a:gd name="T9" fmla="*/ 1375 h 14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31"/>
                <a:gd name="T16" fmla="*/ 0 h 1463"/>
                <a:gd name="T17" fmla="*/ 2931 w 2931"/>
                <a:gd name="T18" fmla="*/ 1463 h 14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31" h="1463">
                  <a:moveTo>
                    <a:pt x="0" y="0"/>
                  </a:moveTo>
                  <a:lnTo>
                    <a:pt x="2931" y="0"/>
                  </a:lnTo>
                  <a:lnTo>
                    <a:pt x="2931" y="1463"/>
                  </a:lnTo>
                  <a:lnTo>
                    <a:pt x="2233" y="1463"/>
                  </a:lnTo>
                  <a:lnTo>
                    <a:pt x="2233" y="1375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Freeform 10"/>
            <p:cNvSpPr>
              <a:spLocks noChangeArrowheads="1"/>
            </p:cNvSpPr>
            <p:nvPr/>
          </p:nvSpPr>
          <p:spPr bwMode="auto">
            <a:xfrm>
              <a:off x="1568" y="1233"/>
              <a:ext cx="929" cy="1551"/>
            </a:xfrm>
            <a:custGeom>
              <a:avLst/>
              <a:gdLst>
                <a:gd name="T0" fmla="*/ 829 w 929"/>
                <a:gd name="T1" fmla="*/ 144 h 1551"/>
                <a:gd name="T2" fmla="*/ 929 w 929"/>
                <a:gd name="T3" fmla="*/ 144 h 1551"/>
                <a:gd name="T4" fmla="*/ 929 w 929"/>
                <a:gd name="T5" fmla="*/ 0 h 1551"/>
                <a:gd name="T6" fmla="*/ 0 w 929"/>
                <a:gd name="T7" fmla="*/ 0 h 1551"/>
                <a:gd name="T8" fmla="*/ 0 w 929"/>
                <a:gd name="T9" fmla="*/ 1551 h 1551"/>
                <a:gd name="T10" fmla="*/ 730 w 929"/>
                <a:gd name="T11" fmla="*/ 1551 h 1551"/>
                <a:gd name="T12" fmla="*/ 730 w 929"/>
                <a:gd name="T13" fmla="*/ 1485 h 15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29"/>
                <a:gd name="T22" fmla="*/ 0 h 1551"/>
                <a:gd name="T23" fmla="*/ 929 w 929"/>
                <a:gd name="T24" fmla="*/ 1551 h 15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29" h="1551">
                  <a:moveTo>
                    <a:pt x="829" y="144"/>
                  </a:moveTo>
                  <a:lnTo>
                    <a:pt x="929" y="144"/>
                  </a:lnTo>
                  <a:lnTo>
                    <a:pt x="929" y="0"/>
                  </a:lnTo>
                  <a:lnTo>
                    <a:pt x="0" y="0"/>
                  </a:lnTo>
                  <a:lnTo>
                    <a:pt x="0" y="1551"/>
                  </a:lnTo>
                  <a:lnTo>
                    <a:pt x="730" y="1551"/>
                  </a:lnTo>
                  <a:lnTo>
                    <a:pt x="730" y="1485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Freeform 11"/>
            <p:cNvSpPr>
              <a:spLocks noChangeArrowheads="1"/>
            </p:cNvSpPr>
            <p:nvPr/>
          </p:nvSpPr>
          <p:spPr bwMode="auto">
            <a:xfrm>
              <a:off x="2499" y="1728"/>
              <a:ext cx="1175" cy="1698"/>
            </a:xfrm>
            <a:custGeom>
              <a:avLst/>
              <a:gdLst>
                <a:gd name="T0" fmla="*/ 0 w 1175"/>
                <a:gd name="T1" fmla="*/ 0 h 1698"/>
                <a:gd name="T2" fmla="*/ 838 w 1175"/>
                <a:gd name="T3" fmla="*/ 0 h 1698"/>
                <a:gd name="T4" fmla="*/ 838 w 1175"/>
                <a:gd name="T5" fmla="*/ 1698 h 1698"/>
                <a:gd name="T6" fmla="*/ 1175 w 1175"/>
                <a:gd name="T7" fmla="*/ 1698 h 1698"/>
                <a:gd name="T8" fmla="*/ 1175 w 1175"/>
                <a:gd name="T9" fmla="*/ 1610 h 16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5"/>
                <a:gd name="T16" fmla="*/ 0 h 1698"/>
                <a:gd name="T17" fmla="*/ 1175 w 1175"/>
                <a:gd name="T18" fmla="*/ 1698 h 16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5" h="1698">
                  <a:moveTo>
                    <a:pt x="0" y="0"/>
                  </a:moveTo>
                  <a:lnTo>
                    <a:pt x="838" y="0"/>
                  </a:lnTo>
                  <a:lnTo>
                    <a:pt x="838" y="1698"/>
                  </a:lnTo>
                  <a:lnTo>
                    <a:pt x="1175" y="1698"/>
                  </a:lnTo>
                  <a:lnTo>
                    <a:pt x="1175" y="1610"/>
                  </a:lnTo>
                </a:path>
              </a:pathLst>
            </a:custGeom>
            <a:noFill/>
            <a:ln w="1908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Freeform 12"/>
            <p:cNvSpPr>
              <a:spLocks noChangeArrowheads="1"/>
            </p:cNvSpPr>
            <p:nvPr/>
          </p:nvSpPr>
          <p:spPr bwMode="auto">
            <a:xfrm>
              <a:off x="2407" y="1991"/>
              <a:ext cx="450" cy="66"/>
            </a:xfrm>
            <a:custGeom>
              <a:avLst/>
              <a:gdLst>
                <a:gd name="T0" fmla="*/ 0 w 450"/>
                <a:gd name="T1" fmla="*/ 0 h 66"/>
                <a:gd name="T2" fmla="*/ 450 w 450"/>
                <a:gd name="T3" fmla="*/ 0 h 66"/>
                <a:gd name="T4" fmla="*/ 450 w 450"/>
                <a:gd name="T5" fmla="*/ 66 h 66"/>
                <a:gd name="T6" fmla="*/ 0 60000 65536"/>
                <a:gd name="T7" fmla="*/ 0 60000 65536"/>
                <a:gd name="T8" fmla="*/ 0 60000 65536"/>
                <a:gd name="T9" fmla="*/ 0 w 450"/>
                <a:gd name="T10" fmla="*/ 0 h 66"/>
                <a:gd name="T11" fmla="*/ 450 w 450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0" h="66">
                  <a:moveTo>
                    <a:pt x="0" y="0"/>
                  </a:moveTo>
                  <a:lnTo>
                    <a:pt x="450" y="0"/>
                  </a:lnTo>
                  <a:lnTo>
                    <a:pt x="450" y="66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 flipH="1">
              <a:off x="1634" y="2661"/>
              <a:ext cx="589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2461" y="3018"/>
              <a:ext cx="476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/>
            <p:cNvSpPr>
              <a:spLocks noChangeArrowheads="1"/>
            </p:cNvSpPr>
            <p:nvPr/>
          </p:nvSpPr>
          <p:spPr bwMode="auto">
            <a:xfrm>
              <a:off x="2111" y="2313"/>
              <a:ext cx="111" cy="87"/>
            </a:xfrm>
            <a:custGeom>
              <a:avLst/>
              <a:gdLst>
                <a:gd name="T0" fmla="*/ 111 w 111"/>
                <a:gd name="T1" fmla="*/ 85 h 87"/>
                <a:gd name="T2" fmla="*/ 0 w 111"/>
                <a:gd name="T3" fmla="*/ 87 h 87"/>
                <a:gd name="T4" fmla="*/ 0 w 111"/>
                <a:gd name="T5" fmla="*/ 0 h 87"/>
                <a:gd name="T6" fmla="*/ 0 60000 65536"/>
                <a:gd name="T7" fmla="*/ 0 60000 65536"/>
                <a:gd name="T8" fmla="*/ 0 60000 65536"/>
                <a:gd name="T9" fmla="*/ 0 w 111"/>
                <a:gd name="T10" fmla="*/ 0 h 87"/>
                <a:gd name="T11" fmla="*/ 111 w 111"/>
                <a:gd name="T12" fmla="*/ 87 h 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" h="87">
                  <a:moveTo>
                    <a:pt x="111" y="85"/>
                  </a:moveTo>
                  <a:lnTo>
                    <a:pt x="0" y="87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3783" y="2647"/>
              <a:ext cx="87" cy="459"/>
            </a:xfrm>
            <a:custGeom>
              <a:avLst/>
              <a:gdLst>
                <a:gd name="T0" fmla="*/ 87 w 87"/>
                <a:gd name="T1" fmla="*/ 0 h 459"/>
                <a:gd name="T2" fmla="*/ 87 w 87"/>
                <a:gd name="T3" fmla="*/ 459 h 459"/>
                <a:gd name="T4" fmla="*/ 0 w 87"/>
                <a:gd name="T5" fmla="*/ 459 h 459"/>
                <a:gd name="T6" fmla="*/ 0 60000 65536"/>
                <a:gd name="T7" fmla="*/ 0 60000 65536"/>
                <a:gd name="T8" fmla="*/ 0 60000 65536"/>
                <a:gd name="T9" fmla="*/ 0 w 87"/>
                <a:gd name="T10" fmla="*/ 0 h 459"/>
                <a:gd name="T11" fmla="*/ 87 w 87"/>
                <a:gd name="T12" fmla="*/ 459 h 4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7" h="459">
                  <a:moveTo>
                    <a:pt x="87" y="0"/>
                  </a:moveTo>
                  <a:lnTo>
                    <a:pt x="87" y="459"/>
                  </a:lnTo>
                  <a:lnTo>
                    <a:pt x="0" y="459"/>
                  </a:lnTo>
                </a:path>
              </a:pathLst>
            </a:custGeom>
            <a:noFill/>
            <a:ln w="1908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Freeform 17"/>
            <p:cNvSpPr>
              <a:spLocks noChangeArrowheads="1"/>
            </p:cNvSpPr>
            <p:nvPr/>
          </p:nvSpPr>
          <p:spPr bwMode="auto">
            <a:xfrm>
              <a:off x="4140" y="1465"/>
              <a:ext cx="178" cy="860"/>
            </a:xfrm>
            <a:custGeom>
              <a:avLst/>
              <a:gdLst>
                <a:gd name="T0" fmla="*/ 0 w 178"/>
                <a:gd name="T1" fmla="*/ 860 h 860"/>
                <a:gd name="T2" fmla="*/ 88 w 178"/>
                <a:gd name="T3" fmla="*/ 860 h 860"/>
                <a:gd name="T4" fmla="*/ 88 w 178"/>
                <a:gd name="T5" fmla="*/ 0 h 860"/>
                <a:gd name="T6" fmla="*/ 178 w 178"/>
                <a:gd name="T7" fmla="*/ 0 h 8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8"/>
                <a:gd name="T13" fmla="*/ 0 h 860"/>
                <a:gd name="T14" fmla="*/ 178 w 178"/>
                <a:gd name="T15" fmla="*/ 860 h 8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8" h="860">
                  <a:moveTo>
                    <a:pt x="0" y="860"/>
                  </a:moveTo>
                  <a:lnTo>
                    <a:pt x="88" y="860"/>
                  </a:lnTo>
                  <a:lnTo>
                    <a:pt x="88" y="0"/>
                  </a:lnTo>
                  <a:lnTo>
                    <a:pt x="178" y="0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18"/>
            <p:cNvSpPr>
              <a:spLocks noChangeArrowheads="1"/>
            </p:cNvSpPr>
            <p:nvPr/>
          </p:nvSpPr>
          <p:spPr bwMode="auto">
            <a:xfrm>
              <a:off x="4150" y="1368"/>
              <a:ext cx="168" cy="97"/>
            </a:xfrm>
            <a:custGeom>
              <a:avLst/>
              <a:gdLst>
                <a:gd name="T0" fmla="*/ 0 w 168"/>
                <a:gd name="T1" fmla="*/ 97 h 97"/>
                <a:gd name="T2" fmla="*/ 2 w 168"/>
                <a:gd name="T3" fmla="*/ 0 h 97"/>
                <a:gd name="T4" fmla="*/ 168 w 168"/>
                <a:gd name="T5" fmla="*/ 0 h 97"/>
                <a:gd name="T6" fmla="*/ 0 60000 65536"/>
                <a:gd name="T7" fmla="*/ 0 60000 65536"/>
                <a:gd name="T8" fmla="*/ 0 60000 65536"/>
                <a:gd name="T9" fmla="*/ 0 w 168"/>
                <a:gd name="T10" fmla="*/ 0 h 97"/>
                <a:gd name="T11" fmla="*/ 168 w 168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97">
                  <a:moveTo>
                    <a:pt x="0" y="97"/>
                  </a:moveTo>
                  <a:lnTo>
                    <a:pt x="2" y="0"/>
                  </a:lnTo>
                  <a:lnTo>
                    <a:pt x="168" y="0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19"/>
            <p:cNvSpPr>
              <a:spLocks noChangeArrowheads="1"/>
            </p:cNvSpPr>
            <p:nvPr/>
          </p:nvSpPr>
          <p:spPr bwMode="auto">
            <a:xfrm>
              <a:off x="4500" y="1174"/>
              <a:ext cx="133" cy="244"/>
            </a:xfrm>
            <a:custGeom>
              <a:avLst/>
              <a:gdLst>
                <a:gd name="T0" fmla="*/ 130 w 133"/>
                <a:gd name="T1" fmla="*/ 0 h 244"/>
                <a:gd name="T2" fmla="*/ 133 w 133"/>
                <a:gd name="T3" fmla="*/ 244 h 244"/>
                <a:gd name="T4" fmla="*/ 0 w 133"/>
                <a:gd name="T5" fmla="*/ 244 h 244"/>
                <a:gd name="T6" fmla="*/ 0 60000 65536"/>
                <a:gd name="T7" fmla="*/ 0 60000 65536"/>
                <a:gd name="T8" fmla="*/ 0 60000 65536"/>
                <a:gd name="T9" fmla="*/ 0 w 133"/>
                <a:gd name="T10" fmla="*/ 0 h 244"/>
                <a:gd name="T11" fmla="*/ 133 w 133"/>
                <a:gd name="T12" fmla="*/ 244 h 2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3" h="244">
                  <a:moveTo>
                    <a:pt x="130" y="0"/>
                  </a:moveTo>
                  <a:lnTo>
                    <a:pt x="133" y="244"/>
                  </a:lnTo>
                  <a:lnTo>
                    <a:pt x="0" y="244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Freeform 20"/>
            <p:cNvSpPr>
              <a:spLocks noChangeArrowheads="1"/>
            </p:cNvSpPr>
            <p:nvPr/>
          </p:nvSpPr>
          <p:spPr bwMode="auto">
            <a:xfrm>
              <a:off x="4315" y="1342"/>
              <a:ext cx="185" cy="151"/>
            </a:xfrm>
            <a:custGeom>
              <a:avLst/>
              <a:gdLst>
                <a:gd name="T0" fmla="*/ 109 w 185"/>
                <a:gd name="T1" fmla="*/ 151 h 151"/>
                <a:gd name="T2" fmla="*/ 124 w 185"/>
                <a:gd name="T3" fmla="*/ 151 h 151"/>
                <a:gd name="T4" fmla="*/ 135 w 185"/>
                <a:gd name="T5" fmla="*/ 147 h 151"/>
                <a:gd name="T6" fmla="*/ 145 w 185"/>
                <a:gd name="T7" fmla="*/ 144 h 151"/>
                <a:gd name="T8" fmla="*/ 154 w 185"/>
                <a:gd name="T9" fmla="*/ 137 h 151"/>
                <a:gd name="T10" fmla="*/ 164 w 185"/>
                <a:gd name="T11" fmla="*/ 130 h 151"/>
                <a:gd name="T12" fmla="*/ 171 w 185"/>
                <a:gd name="T13" fmla="*/ 121 h 151"/>
                <a:gd name="T14" fmla="*/ 178 w 185"/>
                <a:gd name="T15" fmla="*/ 111 h 151"/>
                <a:gd name="T16" fmla="*/ 183 w 185"/>
                <a:gd name="T17" fmla="*/ 99 h 151"/>
                <a:gd name="T18" fmla="*/ 185 w 185"/>
                <a:gd name="T19" fmla="*/ 87 h 151"/>
                <a:gd name="T20" fmla="*/ 185 w 185"/>
                <a:gd name="T21" fmla="*/ 76 h 151"/>
                <a:gd name="T22" fmla="*/ 185 w 185"/>
                <a:gd name="T23" fmla="*/ 64 h 151"/>
                <a:gd name="T24" fmla="*/ 183 w 185"/>
                <a:gd name="T25" fmla="*/ 52 h 151"/>
                <a:gd name="T26" fmla="*/ 178 w 185"/>
                <a:gd name="T27" fmla="*/ 40 h 151"/>
                <a:gd name="T28" fmla="*/ 171 w 185"/>
                <a:gd name="T29" fmla="*/ 31 h 151"/>
                <a:gd name="T30" fmla="*/ 164 w 185"/>
                <a:gd name="T31" fmla="*/ 21 h 151"/>
                <a:gd name="T32" fmla="*/ 154 w 185"/>
                <a:gd name="T33" fmla="*/ 14 h 151"/>
                <a:gd name="T34" fmla="*/ 145 w 185"/>
                <a:gd name="T35" fmla="*/ 7 h 151"/>
                <a:gd name="T36" fmla="*/ 135 w 185"/>
                <a:gd name="T37" fmla="*/ 2 h 151"/>
                <a:gd name="T38" fmla="*/ 124 w 185"/>
                <a:gd name="T39" fmla="*/ 0 h 151"/>
                <a:gd name="T40" fmla="*/ 112 w 185"/>
                <a:gd name="T41" fmla="*/ 0 h 151"/>
                <a:gd name="T42" fmla="*/ 0 w 185"/>
                <a:gd name="T43" fmla="*/ 0 h 151"/>
                <a:gd name="T44" fmla="*/ 0 w 185"/>
                <a:gd name="T45" fmla="*/ 151 h 151"/>
                <a:gd name="T46" fmla="*/ 112 w 185"/>
                <a:gd name="T47" fmla="*/ 151 h 151"/>
                <a:gd name="T48" fmla="*/ 112 w 185"/>
                <a:gd name="T49" fmla="*/ 151 h 151"/>
                <a:gd name="T50" fmla="*/ 109 w 185"/>
                <a:gd name="T51" fmla="*/ 151 h 151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85"/>
                <a:gd name="T79" fmla="*/ 0 h 151"/>
                <a:gd name="T80" fmla="*/ 185 w 185"/>
                <a:gd name="T81" fmla="*/ 151 h 151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85" h="151">
                  <a:moveTo>
                    <a:pt x="109" y="151"/>
                  </a:moveTo>
                  <a:lnTo>
                    <a:pt x="124" y="151"/>
                  </a:lnTo>
                  <a:lnTo>
                    <a:pt x="135" y="147"/>
                  </a:lnTo>
                  <a:lnTo>
                    <a:pt x="145" y="144"/>
                  </a:lnTo>
                  <a:lnTo>
                    <a:pt x="154" y="137"/>
                  </a:lnTo>
                  <a:lnTo>
                    <a:pt x="164" y="130"/>
                  </a:lnTo>
                  <a:lnTo>
                    <a:pt x="171" y="121"/>
                  </a:lnTo>
                  <a:lnTo>
                    <a:pt x="178" y="111"/>
                  </a:lnTo>
                  <a:lnTo>
                    <a:pt x="183" y="99"/>
                  </a:lnTo>
                  <a:lnTo>
                    <a:pt x="185" y="87"/>
                  </a:lnTo>
                  <a:lnTo>
                    <a:pt x="185" y="76"/>
                  </a:lnTo>
                  <a:lnTo>
                    <a:pt x="185" y="64"/>
                  </a:lnTo>
                  <a:lnTo>
                    <a:pt x="183" y="52"/>
                  </a:lnTo>
                  <a:lnTo>
                    <a:pt x="178" y="40"/>
                  </a:lnTo>
                  <a:lnTo>
                    <a:pt x="171" y="31"/>
                  </a:lnTo>
                  <a:lnTo>
                    <a:pt x="164" y="21"/>
                  </a:lnTo>
                  <a:lnTo>
                    <a:pt x="154" y="14"/>
                  </a:lnTo>
                  <a:lnTo>
                    <a:pt x="145" y="7"/>
                  </a:lnTo>
                  <a:lnTo>
                    <a:pt x="135" y="2"/>
                  </a:lnTo>
                  <a:lnTo>
                    <a:pt x="124" y="0"/>
                  </a:lnTo>
                  <a:lnTo>
                    <a:pt x="112" y="0"/>
                  </a:lnTo>
                  <a:lnTo>
                    <a:pt x="0" y="0"/>
                  </a:lnTo>
                  <a:lnTo>
                    <a:pt x="0" y="151"/>
                  </a:lnTo>
                  <a:lnTo>
                    <a:pt x="112" y="151"/>
                  </a:lnTo>
                  <a:lnTo>
                    <a:pt x="109" y="1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Freeform 21"/>
            <p:cNvSpPr>
              <a:spLocks noChangeArrowheads="1"/>
            </p:cNvSpPr>
            <p:nvPr/>
          </p:nvSpPr>
          <p:spPr bwMode="auto">
            <a:xfrm>
              <a:off x="4315" y="1342"/>
              <a:ext cx="185" cy="151"/>
            </a:xfrm>
            <a:custGeom>
              <a:avLst/>
              <a:gdLst>
                <a:gd name="T0" fmla="*/ 109 w 185"/>
                <a:gd name="T1" fmla="*/ 151 h 151"/>
                <a:gd name="T2" fmla="*/ 124 w 185"/>
                <a:gd name="T3" fmla="*/ 151 h 151"/>
                <a:gd name="T4" fmla="*/ 135 w 185"/>
                <a:gd name="T5" fmla="*/ 147 h 151"/>
                <a:gd name="T6" fmla="*/ 145 w 185"/>
                <a:gd name="T7" fmla="*/ 144 h 151"/>
                <a:gd name="T8" fmla="*/ 154 w 185"/>
                <a:gd name="T9" fmla="*/ 137 h 151"/>
                <a:gd name="T10" fmla="*/ 164 w 185"/>
                <a:gd name="T11" fmla="*/ 130 h 151"/>
                <a:gd name="T12" fmla="*/ 171 w 185"/>
                <a:gd name="T13" fmla="*/ 121 h 151"/>
                <a:gd name="T14" fmla="*/ 178 w 185"/>
                <a:gd name="T15" fmla="*/ 111 h 151"/>
                <a:gd name="T16" fmla="*/ 183 w 185"/>
                <a:gd name="T17" fmla="*/ 99 h 151"/>
                <a:gd name="T18" fmla="*/ 185 w 185"/>
                <a:gd name="T19" fmla="*/ 87 h 151"/>
                <a:gd name="T20" fmla="*/ 185 w 185"/>
                <a:gd name="T21" fmla="*/ 76 h 151"/>
                <a:gd name="T22" fmla="*/ 185 w 185"/>
                <a:gd name="T23" fmla="*/ 64 h 151"/>
                <a:gd name="T24" fmla="*/ 183 w 185"/>
                <a:gd name="T25" fmla="*/ 52 h 151"/>
                <a:gd name="T26" fmla="*/ 178 w 185"/>
                <a:gd name="T27" fmla="*/ 40 h 151"/>
                <a:gd name="T28" fmla="*/ 171 w 185"/>
                <a:gd name="T29" fmla="*/ 31 h 151"/>
                <a:gd name="T30" fmla="*/ 164 w 185"/>
                <a:gd name="T31" fmla="*/ 21 h 151"/>
                <a:gd name="T32" fmla="*/ 154 w 185"/>
                <a:gd name="T33" fmla="*/ 14 h 151"/>
                <a:gd name="T34" fmla="*/ 145 w 185"/>
                <a:gd name="T35" fmla="*/ 7 h 151"/>
                <a:gd name="T36" fmla="*/ 135 w 185"/>
                <a:gd name="T37" fmla="*/ 2 h 151"/>
                <a:gd name="T38" fmla="*/ 124 w 185"/>
                <a:gd name="T39" fmla="*/ 0 h 151"/>
                <a:gd name="T40" fmla="*/ 112 w 185"/>
                <a:gd name="T41" fmla="*/ 0 h 151"/>
                <a:gd name="T42" fmla="*/ 0 w 185"/>
                <a:gd name="T43" fmla="*/ 0 h 151"/>
                <a:gd name="T44" fmla="*/ 0 w 185"/>
                <a:gd name="T45" fmla="*/ 151 h 151"/>
                <a:gd name="T46" fmla="*/ 112 w 185"/>
                <a:gd name="T47" fmla="*/ 151 h 151"/>
                <a:gd name="T48" fmla="*/ 112 w 185"/>
                <a:gd name="T49" fmla="*/ 151 h 15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85"/>
                <a:gd name="T76" fmla="*/ 0 h 151"/>
                <a:gd name="T77" fmla="*/ 185 w 185"/>
                <a:gd name="T78" fmla="*/ 151 h 15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85" h="151">
                  <a:moveTo>
                    <a:pt x="109" y="151"/>
                  </a:moveTo>
                  <a:lnTo>
                    <a:pt x="124" y="151"/>
                  </a:lnTo>
                  <a:lnTo>
                    <a:pt x="135" y="147"/>
                  </a:lnTo>
                  <a:lnTo>
                    <a:pt x="145" y="144"/>
                  </a:lnTo>
                  <a:lnTo>
                    <a:pt x="154" y="137"/>
                  </a:lnTo>
                  <a:lnTo>
                    <a:pt x="164" y="130"/>
                  </a:lnTo>
                  <a:lnTo>
                    <a:pt x="171" y="121"/>
                  </a:lnTo>
                  <a:lnTo>
                    <a:pt x="178" y="111"/>
                  </a:lnTo>
                  <a:lnTo>
                    <a:pt x="183" y="99"/>
                  </a:lnTo>
                  <a:lnTo>
                    <a:pt x="185" y="87"/>
                  </a:lnTo>
                  <a:lnTo>
                    <a:pt x="185" y="76"/>
                  </a:lnTo>
                  <a:lnTo>
                    <a:pt x="185" y="64"/>
                  </a:lnTo>
                  <a:lnTo>
                    <a:pt x="183" y="52"/>
                  </a:lnTo>
                  <a:lnTo>
                    <a:pt x="178" y="40"/>
                  </a:lnTo>
                  <a:lnTo>
                    <a:pt x="171" y="31"/>
                  </a:lnTo>
                  <a:lnTo>
                    <a:pt x="164" y="21"/>
                  </a:lnTo>
                  <a:lnTo>
                    <a:pt x="154" y="14"/>
                  </a:lnTo>
                  <a:lnTo>
                    <a:pt x="145" y="7"/>
                  </a:lnTo>
                  <a:lnTo>
                    <a:pt x="135" y="2"/>
                  </a:lnTo>
                  <a:lnTo>
                    <a:pt x="124" y="0"/>
                  </a:lnTo>
                  <a:lnTo>
                    <a:pt x="112" y="0"/>
                  </a:lnTo>
                  <a:lnTo>
                    <a:pt x="0" y="0"/>
                  </a:lnTo>
                  <a:lnTo>
                    <a:pt x="0" y="151"/>
                  </a:lnTo>
                  <a:lnTo>
                    <a:pt x="112" y="151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22"/>
            <p:cNvSpPr>
              <a:spLocks noChangeArrowheads="1"/>
            </p:cNvSpPr>
            <p:nvPr/>
          </p:nvSpPr>
          <p:spPr bwMode="auto">
            <a:xfrm>
              <a:off x="2208" y="2384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6 h 31"/>
                <a:gd name="T6" fmla="*/ 0 w 31"/>
                <a:gd name="T7" fmla="*/ 2 h 31"/>
                <a:gd name="T8" fmla="*/ 0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Freeform 23"/>
            <p:cNvSpPr>
              <a:spLocks noChangeArrowheads="1"/>
            </p:cNvSpPr>
            <p:nvPr/>
          </p:nvSpPr>
          <p:spPr bwMode="auto">
            <a:xfrm>
              <a:off x="2208" y="2647"/>
              <a:ext cx="31" cy="30"/>
            </a:xfrm>
            <a:custGeom>
              <a:avLst/>
              <a:gdLst>
                <a:gd name="T0" fmla="*/ 0 w 31"/>
                <a:gd name="T1" fmla="*/ 0 h 30"/>
                <a:gd name="T2" fmla="*/ 0 w 31"/>
                <a:gd name="T3" fmla="*/ 30 h 30"/>
                <a:gd name="T4" fmla="*/ 31 w 31"/>
                <a:gd name="T5" fmla="*/ 16 h 30"/>
                <a:gd name="T6" fmla="*/ 0 w 31"/>
                <a:gd name="T7" fmla="*/ 2 h 30"/>
                <a:gd name="T8" fmla="*/ 0 w 31"/>
                <a:gd name="T9" fmla="*/ 2 h 30"/>
                <a:gd name="T10" fmla="*/ 0 w 31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0"/>
                <a:gd name="T20" fmla="*/ 31 w 31"/>
                <a:gd name="T21" fmla="*/ 30 h 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0">
                  <a:moveTo>
                    <a:pt x="0" y="0"/>
                  </a:moveTo>
                  <a:lnTo>
                    <a:pt x="0" y="30"/>
                  </a:lnTo>
                  <a:lnTo>
                    <a:pt x="31" y="1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24"/>
            <p:cNvSpPr>
              <a:spLocks noChangeArrowheads="1"/>
            </p:cNvSpPr>
            <p:nvPr/>
          </p:nvSpPr>
          <p:spPr bwMode="auto">
            <a:xfrm>
              <a:off x="2492" y="2471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7 h 31"/>
                <a:gd name="T6" fmla="*/ 2 w 31"/>
                <a:gd name="T7" fmla="*/ 3 h 31"/>
                <a:gd name="T8" fmla="*/ 2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7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 flipH="1" flipV="1">
              <a:off x="2844" y="2979"/>
              <a:ext cx="44" cy="78"/>
            </a:xfrm>
            <a:prstGeom prst="line">
              <a:avLst/>
            </a:prstGeom>
            <a:noFill/>
            <a:ln w="11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 noChangeArrowheads="1"/>
            </p:cNvSpPr>
            <p:nvPr/>
          </p:nvSpPr>
          <p:spPr bwMode="auto">
            <a:xfrm>
              <a:off x="472" y="2029"/>
              <a:ext cx="111" cy="305"/>
            </a:xfrm>
            <a:custGeom>
              <a:avLst/>
              <a:gdLst>
                <a:gd name="T0" fmla="*/ 109 w 111"/>
                <a:gd name="T1" fmla="*/ 305 h 305"/>
                <a:gd name="T2" fmla="*/ 111 w 111"/>
                <a:gd name="T3" fmla="*/ 0 h 305"/>
                <a:gd name="T4" fmla="*/ 0 w 111"/>
                <a:gd name="T5" fmla="*/ 0 h 305"/>
                <a:gd name="T6" fmla="*/ 0 w 111"/>
                <a:gd name="T7" fmla="*/ 305 h 305"/>
                <a:gd name="T8" fmla="*/ 111 w 111"/>
                <a:gd name="T9" fmla="*/ 305 h 305"/>
                <a:gd name="T10" fmla="*/ 111 w 111"/>
                <a:gd name="T11" fmla="*/ 305 h 305"/>
                <a:gd name="T12" fmla="*/ 109 w 111"/>
                <a:gd name="T13" fmla="*/ 305 h 3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1"/>
                <a:gd name="T22" fmla="*/ 0 h 305"/>
                <a:gd name="T23" fmla="*/ 111 w 111"/>
                <a:gd name="T24" fmla="*/ 305 h 30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1" h="305">
                  <a:moveTo>
                    <a:pt x="109" y="305"/>
                  </a:moveTo>
                  <a:lnTo>
                    <a:pt x="111" y="0"/>
                  </a:lnTo>
                  <a:lnTo>
                    <a:pt x="0" y="0"/>
                  </a:lnTo>
                  <a:lnTo>
                    <a:pt x="0" y="305"/>
                  </a:lnTo>
                  <a:lnTo>
                    <a:pt x="111" y="305"/>
                  </a:lnTo>
                  <a:lnTo>
                    <a:pt x="109" y="3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Freeform 27"/>
            <p:cNvSpPr>
              <a:spLocks noChangeArrowheads="1"/>
            </p:cNvSpPr>
            <p:nvPr/>
          </p:nvSpPr>
          <p:spPr bwMode="auto">
            <a:xfrm>
              <a:off x="472" y="2029"/>
              <a:ext cx="111" cy="305"/>
            </a:xfrm>
            <a:custGeom>
              <a:avLst/>
              <a:gdLst>
                <a:gd name="T0" fmla="*/ 109 w 111"/>
                <a:gd name="T1" fmla="*/ 305 h 305"/>
                <a:gd name="T2" fmla="*/ 111 w 111"/>
                <a:gd name="T3" fmla="*/ 0 h 305"/>
                <a:gd name="T4" fmla="*/ 0 w 111"/>
                <a:gd name="T5" fmla="*/ 0 h 305"/>
                <a:gd name="T6" fmla="*/ 0 w 111"/>
                <a:gd name="T7" fmla="*/ 305 h 305"/>
                <a:gd name="T8" fmla="*/ 111 w 111"/>
                <a:gd name="T9" fmla="*/ 305 h 305"/>
                <a:gd name="T10" fmla="*/ 111 w 111"/>
                <a:gd name="T11" fmla="*/ 305 h 3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1"/>
                <a:gd name="T19" fmla="*/ 0 h 305"/>
                <a:gd name="T20" fmla="*/ 111 w 111"/>
                <a:gd name="T21" fmla="*/ 305 h 3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1" h="305">
                  <a:moveTo>
                    <a:pt x="109" y="305"/>
                  </a:moveTo>
                  <a:lnTo>
                    <a:pt x="111" y="0"/>
                  </a:lnTo>
                  <a:lnTo>
                    <a:pt x="0" y="0"/>
                  </a:lnTo>
                  <a:lnTo>
                    <a:pt x="0" y="305"/>
                  </a:lnTo>
                  <a:lnTo>
                    <a:pt x="111" y="305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489" y="2145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529" y="214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32" name="Freeform 30"/>
            <p:cNvSpPr>
              <a:spLocks noChangeArrowheads="1"/>
            </p:cNvSpPr>
            <p:nvPr/>
          </p:nvSpPr>
          <p:spPr bwMode="auto">
            <a:xfrm>
              <a:off x="780" y="2059"/>
              <a:ext cx="656" cy="685"/>
            </a:xfrm>
            <a:custGeom>
              <a:avLst/>
              <a:gdLst>
                <a:gd name="T0" fmla="*/ 656 w 656"/>
                <a:gd name="T1" fmla="*/ 685 h 685"/>
                <a:gd name="T2" fmla="*/ 656 w 656"/>
                <a:gd name="T3" fmla="*/ 0 h 685"/>
                <a:gd name="T4" fmla="*/ 0 w 656"/>
                <a:gd name="T5" fmla="*/ 0 h 685"/>
                <a:gd name="T6" fmla="*/ 0 w 656"/>
                <a:gd name="T7" fmla="*/ 685 h 685"/>
                <a:gd name="T8" fmla="*/ 656 w 656"/>
                <a:gd name="T9" fmla="*/ 685 h 685"/>
                <a:gd name="T10" fmla="*/ 656 w 656"/>
                <a:gd name="T11" fmla="*/ 685 h 6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6"/>
                <a:gd name="T19" fmla="*/ 0 h 685"/>
                <a:gd name="T20" fmla="*/ 656 w 656"/>
                <a:gd name="T21" fmla="*/ 685 h 6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6" h="685">
                  <a:moveTo>
                    <a:pt x="656" y="685"/>
                  </a:moveTo>
                  <a:lnTo>
                    <a:pt x="656" y="0"/>
                  </a:lnTo>
                  <a:lnTo>
                    <a:pt x="0" y="0"/>
                  </a:lnTo>
                  <a:lnTo>
                    <a:pt x="0" y="685"/>
                  </a:lnTo>
                  <a:lnTo>
                    <a:pt x="656" y="6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31"/>
            <p:cNvSpPr>
              <a:spLocks noChangeArrowheads="1"/>
            </p:cNvSpPr>
            <p:nvPr/>
          </p:nvSpPr>
          <p:spPr bwMode="auto">
            <a:xfrm>
              <a:off x="780" y="2059"/>
              <a:ext cx="656" cy="685"/>
            </a:xfrm>
            <a:custGeom>
              <a:avLst/>
              <a:gdLst>
                <a:gd name="T0" fmla="*/ 656 w 656"/>
                <a:gd name="T1" fmla="*/ 685 h 685"/>
                <a:gd name="T2" fmla="*/ 656 w 656"/>
                <a:gd name="T3" fmla="*/ 0 h 685"/>
                <a:gd name="T4" fmla="*/ 0 w 656"/>
                <a:gd name="T5" fmla="*/ 0 h 685"/>
                <a:gd name="T6" fmla="*/ 0 w 656"/>
                <a:gd name="T7" fmla="*/ 685 h 685"/>
                <a:gd name="T8" fmla="*/ 656 w 656"/>
                <a:gd name="T9" fmla="*/ 685 h 685"/>
                <a:gd name="T10" fmla="*/ 656 w 656"/>
                <a:gd name="T11" fmla="*/ 685 h 6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6"/>
                <a:gd name="T19" fmla="*/ 0 h 685"/>
                <a:gd name="T20" fmla="*/ 656 w 656"/>
                <a:gd name="T21" fmla="*/ 685 h 6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6" h="685">
                  <a:moveTo>
                    <a:pt x="656" y="685"/>
                  </a:moveTo>
                  <a:lnTo>
                    <a:pt x="656" y="0"/>
                  </a:lnTo>
                  <a:lnTo>
                    <a:pt x="0" y="0"/>
                  </a:lnTo>
                  <a:lnTo>
                    <a:pt x="0" y="685"/>
                  </a:lnTo>
                  <a:lnTo>
                    <a:pt x="656" y="685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818" y="2481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834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867" y="248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896" y="248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912" y="248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9" name="Rectangle 37"/>
            <p:cNvSpPr>
              <a:spLocks noChangeArrowheads="1"/>
            </p:cNvSpPr>
            <p:nvPr/>
          </p:nvSpPr>
          <p:spPr bwMode="auto">
            <a:xfrm>
              <a:off x="931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40" name="Rectangle 38"/>
            <p:cNvSpPr>
              <a:spLocks noChangeArrowheads="1"/>
            </p:cNvSpPr>
            <p:nvPr/>
          </p:nvSpPr>
          <p:spPr bwMode="auto">
            <a:xfrm>
              <a:off x="964" y="248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41" name="Rectangle 39"/>
            <p:cNvSpPr>
              <a:spLocks noChangeArrowheads="1"/>
            </p:cNvSpPr>
            <p:nvPr/>
          </p:nvSpPr>
          <p:spPr bwMode="auto">
            <a:xfrm>
              <a:off x="993" y="248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>
              <a:off x="1008" y="2481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43" name="Rectangle 41"/>
            <p:cNvSpPr>
              <a:spLocks noChangeArrowheads="1"/>
            </p:cNvSpPr>
            <p:nvPr/>
          </p:nvSpPr>
          <p:spPr bwMode="auto">
            <a:xfrm>
              <a:off x="1024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1054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1088" y="248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Rectangle 44"/>
            <p:cNvSpPr>
              <a:spLocks noChangeArrowheads="1"/>
            </p:cNvSpPr>
            <p:nvPr/>
          </p:nvSpPr>
          <p:spPr bwMode="auto">
            <a:xfrm>
              <a:off x="858" y="2550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47" name="Rectangle 45"/>
            <p:cNvSpPr>
              <a:spLocks noChangeArrowheads="1"/>
            </p:cNvSpPr>
            <p:nvPr/>
          </p:nvSpPr>
          <p:spPr bwMode="auto">
            <a:xfrm>
              <a:off x="905" y="25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938" y="2550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49" name="Rectangle 47"/>
            <p:cNvSpPr>
              <a:spLocks noChangeArrowheads="1"/>
            </p:cNvSpPr>
            <p:nvPr/>
          </p:nvSpPr>
          <p:spPr bwMode="auto">
            <a:xfrm>
              <a:off x="986" y="25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50" name="Rectangle 48"/>
            <p:cNvSpPr>
              <a:spLocks noChangeArrowheads="1"/>
            </p:cNvSpPr>
            <p:nvPr/>
          </p:nvSpPr>
          <p:spPr bwMode="auto">
            <a:xfrm>
              <a:off x="1019" y="2550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1" name="Rectangle 49"/>
            <p:cNvSpPr>
              <a:spLocks noChangeArrowheads="1"/>
            </p:cNvSpPr>
            <p:nvPr/>
          </p:nvSpPr>
          <p:spPr bwMode="auto">
            <a:xfrm>
              <a:off x="1039" y="2550"/>
              <a:ext cx="2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52" name="Rectangle 50"/>
            <p:cNvSpPr>
              <a:spLocks noChangeArrowheads="1"/>
            </p:cNvSpPr>
            <p:nvPr/>
          </p:nvSpPr>
          <p:spPr bwMode="auto">
            <a:xfrm>
              <a:off x="803" y="2117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3" name="Rectangle 51"/>
            <p:cNvSpPr>
              <a:spLocks noChangeArrowheads="1"/>
            </p:cNvSpPr>
            <p:nvPr/>
          </p:nvSpPr>
          <p:spPr bwMode="auto">
            <a:xfrm>
              <a:off x="846" y="211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54" name="Rectangle 52"/>
            <p:cNvSpPr>
              <a:spLocks noChangeArrowheads="1"/>
            </p:cNvSpPr>
            <p:nvPr/>
          </p:nvSpPr>
          <p:spPr bwMode="auto">
            <a:xfrm>
              <a:off x="879" y="211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912" y="211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943" y="2117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Rectangle 55"/>
            <p:cNvSpPr>
              <a:spLocks noChangeArrowheads="1"/>
            </p:cNvSpPr>
            <p:nvPr/>
          </p:nvSpPr>
          <p:spPr bwMode="auto">
            <a:xfrm>
              <a:off x="803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58" name="Rectangle 56"/>
            <p:cNvSpPr>
              <a:spLocks noChangeArrowheads="1"/>
            </p:cNvSpPr>
            <p:nvPr/>
          </p:nvSpPr>
          <p:spPr bwMode="auto">
            <a:xfrm>
              <a:off x="837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59" name="Rectangle 57"/>
            <p:cNvSpPr>
              <a:spLocks noChangeArrowheads="1"/>
            </p:cNvSpPr>
            <p:nvPr/>
          </p:nvSpPr>
          <p:spPr bwMode="auto">
            <a:xfrm>
              <a:off x="870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0" name="Rectangle 58"/>
            <p:cNvSpPr>
              <a:spLocks noChangeArrowheads="1"/>
            </p:cNvSpPr>
            <p:nvPr/>
          </p:nvSpPr>
          <p:spPr bwMode="auto">
            <a:xfrm>
              <a:off x="901" y="217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1" name="Rectangle 59"/>
            <p:cNvSpPr>
              <a:spLocks noChangeArrowheads="1"/>
            </p:cNvSpPr>
            <p:nvPr/>
          </p:nvSpPr>
          <p:spPr bwMode="auto">
            <a:xfrm>
              <a:off x="922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2" name="Rectangle 60"/>
            <p:cNvSpPr>
              <a:spLocks noChangeArrowheads="1"/>
            </p:cNvSpPr>
            <p:nvPr/>
          </p:nvSpPr>
          <p:spPr bwMode="auto">
            <a:xfrm>
              <a:off x="953" y="217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3" name="Rectangle 61"/>
            <p:cNvSpPr>
              <a:spLocks noChangeArrowheads="1"/>
            </p:cNvSpPr>
            <p:nvPr/>
          </p:nvSpPr>
          <p:spPr bwMode="auto">
            <a:xfrm>
              <a:off x="983" y="217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4" name="Rectangle 62"/>
            <p:cNvSpPr>
              <a:spLocks noChangeArrowheads="1"/>
            </p:cNvSpPr>
            <p:nvPr/>
          </p:nvSpPr>
          <p:spPr bwMode="auto">
            <a:xfrm>
              <a:off x="1147" y="2337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5" name="Rectangle 63"/>
            <p:cNvSpPr>
              <a:spLocks noChangeArrowheads="1"/>
            </p:cNvSpPr>
            <p:nvPr/>
          </p:nvSpPr>
          <p:spPr bwMode="auto">
            <a:xfrm>
              <a:off x="1163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66" name="Rectangle 64"/>
            <p:cNvSpPr>
              <a:spLocks noChangeArrowheads="1"/>
            </p:cNvSpPr>
            <p:nvPr/>
          </p:nvSpPr>
          <p:spPr bwMode="auto">
            <a:xfrm>
              <a:off x="1194" y="2337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7" name="Rectangle 65"/>
            <p:cNvSpPr>
              <a:spLocks noChangeArrowheads="1"/>
            </p:cNvSpPr>
            <p:nvPr/>
          </p:nvSpPr>
          <p:spPr bwMode="auto">
            <a:xfrm>
              <a:off x="1225" y="233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8" name="Rectangle 66"/>
            <p:cNvSpPr>
              <a:spLocks noChangeArrowheads="1"/>
            </p:cNvSpPr>
            <p:nvPr/>
          </p:nvSpPr>
          <p:spPr bwMode="auto">
            <a:xfrm>
              <a:off x="1242" y="2337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" name="Rectangle 67"/>
            <p:cNvSpPr>
              <a:spLocks noChangeArrowheads="1"/>
            </p:cNvSpPr>
            <p:nvPr/>
          </p:nvSpPr>
          <p:spPr bwMode="auto">
            <a:xfrm>
              <a:off x="1261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0" name="Rectangle 68"/>
            <p:cNvSpPr>
              <a:spLocks noChangeArrowheads="1"/>
            </p:cNvSpPr>
            <p:nvPr/>
          </p:nvSpPr>
          <p:spPr bwMode="auto">
            <a:xfrm>
              <a:off x="1294" y="2337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71" name="Rectangle 69"/>
            <p:cNvSpPr>
              <a:spLocks noChangeArrowheads="1"/>
            </p:cNvSpPr>
            <p:nvPr/>
          </p:nvSpPr>
          <p:spPr bwMode="auto">
            <a:xfrm>
              <a:off x="1322" y="233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2" name="Rectangle 70"/>
            <p:cNvSpPr>
              <a:spLocks noChangeArrowheads="1"/>
            </p:cNvSpPr>
            <p:nvPr/>
          </p:nvSpPr>
          <p:spPr bwMode="auto">
            <a:xfrm>
              <a:off x="1339" y="2337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3" name="Rectangle 71"/>
            <p:cNvSpPr>
              <a:spLocks noChangeArrowheads="1"/>
            </p:cNvSpPr>
            <p:nvPr/>
          </p:nvSpPr>
          <p:spPr bwMode="auto">
            <a:xfrm>
              <a:off x="1350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4" name="Rectangle 72"/>
            <p:cNvSpPr>
              <a:spLocks noChangeArrowheads="1"/>
            </p:cNvSpPr>
            <p:nvPr/>
          </p:nvSpPr>
          <p:spPr bwMode="auto">
            <a:xfrm>
              <a:off x="1384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5" name="Rectangle 73"/>
            <p:cNvSpPr>
              <a:spLocks noChangeArrowheads="1"/>
            </p:cNvSpPr>
            <p:nvPr/>
          </p:nvSpPr>
          <p:spPr bwMode="auto">
            <a:xfrm>
              <a:off x="1417" y="2337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Rectangle 74"/>
            <p:cNvSpPr>
              <a:spLocks noChangeArrowheads="1"/>
            </p:cNvSpPr>
            <p:nvPr/>
          </p:nvSpPr>
          <p:spPr bwMode="auto">
            <a:xfrm>
              <a:off x="1246" y="239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77" name="Rectangle 75"/>
            <p:cNvSpPr>
              <a:spLocks noChangeArrowheads="1"/>
            </p:cNvSpPr>
            <p:nvPr/>
          </p:nvSpPr>
          <p:spPr bwMode="auto">
            <a:xfrm>
              <a:off x="1263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78" name="Rectangle 76"/>
            <p:cNvSpPr>
              <a:spLocks noChangeArrowheads="1"/>
            </p:cNvSpPr>
            <p:nvPr/>
          </p:nvSpPr>
          <p:spPr bwMode="auto">
            <a:xfrm>
              <a:off x="1296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79" name="Rectangle 77"/>
            <p:cNvSpPr>
              <a:spLocks noChangeArrowheads="1"/>
            </p:cNvSpPr>
            <p:nvPr/>
          </p:nvSpPr>
          <p:spPr bwMode="auto">
            <a:xfrm>
              <a:off x="1329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–</a:t>
              </a:r>
            </a:p>
          </p:txBody>
        </p:sp>
        <p:sp>
          <p:nvSpPr>
            <p:cNvPr id="80" name="Rectangle 78"/>
            <p:cNvSpPr>
              <a:spLocks noChangeArrowheads="1"/>
            </p:cNvSpPr>
            <p:nvPr/>
          </p:nvSpPr>
          <p:spPr bwMode="auto">
            <a:xfrm>
              <a:off x="1372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81" name="Rectangle 79"/>
            <p:cNvSpPr>
              <a:spLocks noChangeArrowheads="1"/>
            </p:cNvSpPr>
            <p:nvPr/>
          </p:nvSpPr>
          <p:spPr bwMode="auto">
            <a:xfrm>
              <a:off x="1405" y="239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82" name="Line 80"/>
            <p:cNvSpPr>
              <a:spLocks noChangeShapeType="1"/>
            </p:cNvSpPr>
            <p:nvPr/>
          </p:nvSpPr>
          <p:spPr bwMode="auto">
            <a:xfrm flipH="1">
              <a:off x="5037" y="2474"/>
              <a:ext cx="113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1"/>
            <p:cNvSpPr>
              <a:spLocks noChangeArrowheads="1"/>
            </p:cNvSpPr>
            <p:nvPr/>
          </p:nvSpPr>
          <p:spPr bwMode="auto">
            <a:xfrm>
              <a:off x="4382" y="2242"/>
              <a:ext cx="658" cy="686"/>
            </a:xfrm>
            <a:custGeom>
              <a:avLst/>
              <a:gdLst>
                <a:gd name="T0" fmla="*/ 656 w 658"/>
                <a:gd name="T1" fmla="*/ 686 h 686"/>
                <a:gd name="T2" fmla="*/ 658 w 658"/>
                <a:gd name="T3" fmla="*/ 0 h 686"/>
                <a:gd name="T4" fmla="*/ 0 w 658"/>
                <a:gd name="T5" fmla="*/ 0 h 686"/>
                <a:gd name="T6" fmla="*/ 0 w 658"/>
                <a:gd name="T7" fmla="*/ 686 h 686"/>
                <a:gd name="T8" fmla="*/ 658 w 658"/>
                <a:gd name="T9" fmla="*/ 686 h 686"/>
                <a:gd name="T10" fmla="*/ 658 w 658"/>
                <a:gd name="T11" fmla="*/ 686 h 686"/>
                <a:gd name="T12" fmla="*/ 656 w 658"/>
                <a:gd name="T13" fmla="*/ 686 h 6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8"/>
                <a:gd name="T22" fmla="*/ 0 h 686"/>
                <a:gd name="T23" fmla="*/ 658 w 658"/>
                <a:gd name="T24" fmla="*/ 686 h 68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8" h="686">
                  <a:moveTo>
                    <a:pt x="656" y="686"/>
                  </a:moveTo>
                  <a:lnTo>
                    <a:pt x="658" y="0"/>
                  </a:lnTo>
                  <a:lnTo>
                    <a:pt x="0" y="0"/>
                  </a:lnTo>
                  <a:lnTo>
                    <a:pt x="0" y="686"/>
                  </a:lnTo>
                  <a:lnTo>
                    <a:pt x="658" y="686"/>
                  </a:lnTo>
                  <a:lnTo>
                    <a:pt x="656" y="6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Freeform 82"/>
            <p:cNvSpPr>
              <a:spLocks noChangeArrowheads="1"/>
            </p:cNvSpPr>
            <p:nvPr/>
          </p:nvSpPr>
          <p:spPr bwMode="auto">
            <a:xfrm>
              <a:off x="4382" y="2242"/>
              <a:ext cx="658" cy="686"/>
            </a:xfrm>
            <a:custGeom>
              <a:avLst/>
              <a:gdLst>
                <a:gd name="T0" fmla="*/ 656 w 658"/>
                <a:gd name="T1" fmla="*/ 686 h 686"/>
                <a:gd name="T2" fmla="*/ 658 w 658"/>
                <a:gd name="T3" fmla="*/ 0 h 686"/>
                <a:gd name="T4" fmla="*/ 0 w 658"/>
                <a:gd name="T5" fmla="*/ 0 h 686"/>
                <a:gd name="T6" fmla="*/ 0 w 658"/>
                <a:gd name="T7" fmla="*/ 686 h 686"/>
                <a:gd name="T8" fmla="*/ 658 w 658"/>
                <a:gd name="T9" fmla="*/ 686 h 686"/>
                <a:gd name="T10" fmla="*/ 658 w 658"/>
                <a:gd name="T11" fmla="*/ 686 h 6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8"/>
                <a:gd name="T19" fmla="*/ 0 h 686"/>
                <a:gd name="T20" fmla="*/ 658 w 658"/>
                <a:gd name="T21" fmla="*/ 686 h 68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8" h="686">
                  <a:moveTo>
                    <a:pt x="656" y="686"/>
                  </a:moveTo>
                  <a:lnTo>
                    <a:pt x="658" y="0"/>
                  </a:lnTo>
                  <a:lnTo>
                    <a:pt x="0" y="0"/>
                  </a:lnTo>
                  <a:lnTo>
                    <a:pt x="0" y="686"/>
                  </a:lnTo>
                  <a:lnTo>
                    <a:pt x="658" y="686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Freeform 83"/>
            <p:cNvSpPr>
              <a:spLocks noChangeArrowheads="1"/>
            </p:cNvSpPr>
            <p:nvPr/>
          </p:nvSpPr>
          <p:spPr bwMode="auto">
            <a:xfrm>
              <a:off x="2492" y="2121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6 h 31"/>
                <a:gd name="T6" fmla="*/ 2 w 31"/>
                <a:gd name="T7" fmla="*/ 2 h 31"/>
                <a:gd name="T8" fmla="*/ 2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6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Freeform 84"/>
            <p:cNvSpPr>
              <a:spLocks noChangeArrowheads="1"/>
            </p:cNvSpPr>
            <p:nvPr/>
          </p:nvSpPr>
          <p:spPr bwMode="auto">
            <a:xfrm>
              <a:off x="2492" y="2647"/>
              <a:ext cx="31" cy="30"/>
            </a:xfrm>
            <a:custGeom>
              <a:avLst/>
              <a:gdLst>
                <a:gd name="T0" fmla="*/ 0 w 31"/>
                <a:gd name="T1" fmla="*/ 0 h 30"/>
                <a:gd name="T2" fmla="*/ 2 w 31"/>
                <a:gd name="T3" fmla="*/ 30 h 30"/>
                <a:gd name="T4" fmla="*/ 31 w 31"/>
                <a:gd name="T5" fmla="*/ 16 h 30"/>
                <a:gd name="T6" fmla="*/ 2 w 31"/>
                <a:gd name="T7" fmla="*/ 2 h 30"/>
                <a:gd name="T8" fmla="*/ 2 w 31"/>
                <a:gd name="T9" fmla="*/ 2 h 30"/>
                <a:gd name="T10" fmla="*/ 0 w 31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0"/>
                <a:gd name="T20" fmla="*/ 31 w 31"/>
                <a:gd name="T21" fmla="*/ 30 h 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0">
                  <a:moveTo>
                    <a:pt x="0" y="0"/>
                  </a:moveTo>
                  <a:lnTo>
                    <a:pt x="2" y="30"/>
                  </a:lnTo>
                  <a:lnTo>
                    <a:pt x="31" y="16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Rectangle 85"/>
            <p:cNvSpPr>
              <a:spLocks noChangeArrowheads="1"/>
            </p:cNvSpPr>
            <p:nvPr/>
          </p:nvSpPr>
          <p:spPr bwMode="auto">
            <a:xfrm>
              <a:off x="1662" y="2228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88" name="Rectangle 86"/>
            <p:cNvSpPr>
              <a:spLocks noChangeArrowheads="1"/>
            </p:cNvSpPr>
            <p:nvPr/>
          </p:nvSpPr>
          <p:spPr bwMode="auto">
            <a:xfrm>
              <a:off x="1677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89" name="Rectangle 87"/>
            <p:cNvSpPr>
              <a:spLocks noChangeArrowheads="1"/>
            </p:cNvSpPr>
            <p:nvPr/>
          </p:nvSpPr>
          <p:spPr bwMode="auto">
            <a:xfrm>
              <a:off x="1710" y="222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90" name="Rectangle 88"/>
            <p:cNvSpPr>
              <a:spLocks noChangeArrowheads="1"/>
            </p:cNvSpPr>
            <p:nvPr/>
          </p:nvSpPr>
          <p:spPr bwMode="auto">
            <a:xfrm>
              <a:off x="1739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91" name="Rectangle 89"/>
            <p:cNvSpPr>
              <a:spLocks noChangeArrowheads="1"/>
            </p:cNvSpPr>
            <p:nvPr/>
          </p:nvSpPr>
          <p:spPr bwMode="auto">
            <a:xfrm>
              <a:off x="1755" y="222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92" name="Rectangle 90"/>
            <p:cNvSpPr>
              <a:spLocks noChangeArrowheads="1"/>
            </p:cNvSpPr>
            <p:nvPr/>
          </p:nvSpPr>
          <p:spPr bwMode="auto">
            <a:xfrm>
              <a:off x="1774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93" name="Rectangle 91"/>
            <p:cNvSpPr>
              <a:spLocks noChangeArrowheads="1"/>
            </p:cNvSpPr>
            <p:nvPr/>
          </p:nvSpPr>
          <p:spPr bwMode="auto">
            <a:xfrm>
              <a:off x="1808" y="222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94" name="Rectangle 92"/>
            <p:cNvSpPr>
              <a:spLocks noChangeArrowheads="1"/>
            </p:cNvSpPr>
            <p:nvPr/>
          </p:nvSpPr>
          <p:spPr bwMode="auto">
            <a:xfrm>
              <a:off x="1836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95" name="Rectangle 93"/>
            <p:cNvSpPr>
              <a:spLocks noChangeArrowheads="1"/>
            </p:cNvSpPr>
            <p:nvPr/>
          </p:nvSpPr>
          <p:spPr bwMode="auto">
            <a:xfrm>
              <a:off x="1852" y="2228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96" name="Rectangle 94"/>
            <p:cNvSpPr>
              <a:spLocks noChangeArrowheads="1"/>
            </p:cNvSpPr>
            <p:nvPr/>
          </p:nvSpPr>
          <p:spPr bwMode="auto">
            <a:xfrm>
              <a:off x="1867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97" name="Rectangle 95"/>
            <p:cNvSpPr>
              <a:spLocks noChangeArrowheads="1"/>
            </p:cNvSpPr>
            <p:nvPr/>
          </p:nvSpPr>
          <p:spPr bwMode="auto">
            <a:xfrm>
              <a:off x="1898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98" name="Rectangle 96"/>
            <p:cNvSpPr>
              <a:spLocks noChangeArrowheads="1"/>
            </p:cNvSpPr>
            <p:nvPr/>
          </p:nvSpPr>
          <p:spPr bwMode="auto">
            <a:xfrm>
              <a:off x="1931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99" name="Rectangle 97"/>
            <p:cNvSpPr>
              <a:spLocks noChangeArrowheads="1"/>
            </p:cNvSpPr>
            <p:nvPr/>
          </p:nvSpPr>
          <p:spPr bwMode="auto">
            <a:xfrm>
              <a:off x="1947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100" name="Rectangle 98"/>
            <p:cNvSpPr>
              <a:spLocks noChangeArrowheads="1"/>
            </p:cNvSpPr>
            <p:nvPr/>
          </p:nvSpPr>
          <p:spPr bwMode="auto">
            <a:xfrm>
              <a:off x="1964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101" name="Rectangle 99"/>
            <p:cNvSpPr>
              <a:spLocks noChangeArrowheads="1"/>
            </p:cNvSpPr>
            <p:nvPr/>
          </p:nvSpPr>
          <p:spPr bwMode="auto">
            <a:xfrm>
              <a:off x="1995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102" name="Rectangle 100"/>
            <p:cNvSpPr>
              <a:spLocks noChangeArrowheads="1"/>
            </p:cNvSpPr>
            <p:nvPr/>
          </p:nvSpPr>
          <p:spPr bwMode="auto">
            <a:xfrm>
              <a:off x="2028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03" name="Rectangle 101"/>
            <p:cNvSpPr>
              <a:spLocks noChangeArrowheads="1"/>
            </p:cNvSpPr>
            <p:nvPr/>
          </p:nvSpPr>
          <p:spPr bwMode="auto">
            <a:xfrm>
              <a:off x="2044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04" name="Rectangle 102"/>
            <p:cNvSpPr>
              <a:spLocks noChangeArrowheads="1"/>
            </p:cNvSpPr>
            <p:nvPr/>
          </p:nvSpPr>
          <p:spPr bwMode="auto">
            <a:xfrm>
              <a:off x="2061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105" name="Rectangle 103"/>
            <p:cNvSpPr>
              <a:spLocks noChangeArrowheads="1"/>
            </p:cNvSpPr>
            <p:nvPr/>
          </p:nvSpPr>
          <p:spPr bwMode="auto">
            <a:xfrm>
              <a:off x="2094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6</a:t>
              </a:r>
            </a:p>
          </p:txBody>
        </p:sp>
        <p:sp>
          <p:nvSpPr>
            <p:cNvPr id="106" name="Rectangle 104"/>
            <p:cNvSpPr>
              <a:spLocks noChangeArrowheads="1"/>
            </p:cNvSpPr>
            <p:nvPr/>
          </p:nvSpPr>
          <p:spPr bwMode="auto">
            <a:xfrm>
              <a:off x="2125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107" name="Rectangle 105"/>
            <p:cNvSpPr>
              <a:spLocks noChangeArrowheads="1"/>
            </p:cNvSpPr>
            <p:nvPr/>
          </p:nvSpPr>
          <p:spPr bwMode="auto">
            <a:xfrm>
              <a:off x="1662" y="2053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08" name="Rectangle 106"/>
            <p:cNvSpPr>
              <a:spLocks noChangeArrowheads="1"/>
            </p:cNvSpPr>
            <p:nvPr/>
          </p:nvSpPr>
          <p:spPr bwMode="auto">
            <a:xfrm>
              <a:off x="1677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09" name="Rectangle 107"/>
            <p:cNvSpPr>
              <a:spLocks noChangeArrowheads="1"/>
            </p:cNvSpPr>
            <p:nvPr/>
          </p:nvSpPr>
          <p:spPr bwMode="auto">
            <a:xfrm>
              <a:off x="1710" y="2053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10" name="Rectangle 108"/>
            <p:cNvSpPr>
              <a:spLocks noChangeArrowheads="1"/>
            </p:cNvSpPr>
            <p:nvPr/>
          </p:nvSpPr>
          <p:spPr bwMode="auto">
            <a:xfrm>
              <a:off x="1739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11" name="Rectangle 109"/>
            <p:cNvSpPr>
              <a:spLocks noChangeArrowheads="1"/>
            </p:cNvSpPr>
            <p:nvPr/>
          </p:nvSpPr>
          <p:spPr bwMode="auto">
            <a:xfrm>
              <a:off x="1755" y="2053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12" name="Rectangle 110"/>
            <p:cNvSpPr>
              <a:spLocks noChangeArrowheads="1"/>
            </p:cNvSpPr>
            <p:nvPr/>
          </p:nvSpPr>
          <p:spPr bwMode="auto">
            <a:xfrm>
              <a:off x="1774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113" name="Rectangle 111"/>
            <p:cNvSpPr>
              <a:spLocks noChangeArrowheads="1"/>
            </p:cNvSpPr>
            <p:nvPr/>
          </p:nvSpPr>
          <p:spPr bwMode="auto">
            <a:xfrm>
              <a:off x="1808" y="2053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114" name="Rectangle 112"/>
            <p:cNvSpPr>
              <a:spLocks noChangeArrowheads="1"/>
            </p:cNvSpPr>
            <p:nvPr/>
          </p:nvSpPr>
          <p:spPr bwMode="auto">
            <a:xfrm>
              <a:off x="1836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15" name="Rectangle 113"/>
            <p:cNvSpPr>
              <a:spLocks noChangeArrowheads="1"/>
            </p:cNvSpPr>
            <p:nvPr/>
          </p:nvSpPr>
          <p:spPr bwMode="auto">
            <a:xfrm>
              <a:off x="1852" y="2053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16" name="Rectangle 114"/>
            <p:cNvSpPr>
              <a:spLocks noChangeArrowheads="1"/>
            </p:cNvSpPr>
            <p:nvPr/>
          </p:nvSpPr>
          <p:spPr bwMode="auto">
            <a:xfrm>
              <a:off x="1867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17" name="Rectangle 115"/>
            <p:cNvSpPr>
              <a:spLocks noChangeArrowheads="1"/>
            </p:cNvSpPr>
            <p:nvPr/>
          </p:nvSpPr>
          <p:spPr bwMode="auto">
            <a:xfrm>
              <a:off x="1898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18" name="Rectangle 116"/>
            <p:cNvSpPr>
              <a:spLocks noChangeArrowheads="1"/>
            </p:cNvSpPr>
            <p:nvPr/>
          </p:nvSpPr>
          <p:spPr bwMode="auto">
            <a:xfrm>
              <a:off x="1931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19" name="Rectangle 117"/>
            <p:cNvSpPr>
              <a:spLocks noChangeArrowheads="1"/>
            </p:cNvSpPr>
            <p:nvPr/>
          </p:nvSpPr>
          <p:spPr bwMode="auto">
            <a:xfrm>
              <a:off x="1947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120" name="Rectangle 118"/>
            <p:cNvSpPr>
              <a:spLocks noChangeArrowheads="1"/>
            </p:cNvSpPr>
            <p:nvPr/>
          </p:nvSpPr>
          <p:spPr bwMode="auto">
            <a:xfrm>
              <a:off x="1964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121" name="Rectangle 119"/>
            <p:cNvSpPr>
              <a:spLocks noChangeArrowheads="1"/>
            </p:cNvSpPr>
            <p:nvPr/>
          </p:nvSpPr>
          <p:spPr bwMode="auto">
            <a:xfrm>
              <a:off x="1995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122" name="Rectangle 120"/>
            <p:cNvSpPr>
              <a:spLocks noChangeArrowheads="1"/>
            </p:cNvSpPr>
            <p:nvPr/>
          </p:nvSpPr>
          <p:spPr bwMode="auto">
            <a:xfrm>
              <a:off x="2028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23" name="Rectangle 121"/>
            <p:cNvSpPr>
              <a:spLocks noChangeArrowheads="1"/>
            </p:cNvSpPr>
            <p:nvPr/>
          </p:nvSpPr>
          <p:spPr bwMode="auto">
            <a:xfrm>
              <a:off x="2044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24" name="Rectangle 122"/>
            <p:cNvSpPr>
              <a:spLocks noChangeArrowheads="1"/>
            </p:cNvSpPr>
            <p:nvPr/>
          </p:nvSpPr>
          <p:spPr bwMode="auto">
            <a:xfrm>
              <a:off x="2061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125" name="Rectangle 123"/>
            <p:cNvSpPr>
              <a:spLocks noChangeArrowheads="1"/>
            </p:cNvSpPr>
            <p:nvPr/>
          </p:nvSpPr>
          <p:spPr bwMode="auto">
            <a:xfrm>
              <a:off x="2094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126" name="Rectangle 124"/>
            <p:cNvSpPr>
              <a:spLocks noChangeArrowheads="1"/>
            </p:cNvSpPr>
            <p:nvPr/>
          </p:nvSpPr>
          <p:spPr bwMode="auto">
            <a:xfrm>
              <a:off x="2125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127" name="Freeform 125"/>
            <p:cNvSpPr>
              <a:spLocks noChangeArrowheads="1"/>
            </p:cNvSpPr>
            <p:nvPr/>
          </p:nvSpPr>
          <p:spPr bwMode="auto">
            <a:xfrm>
              <a:off x="647" y="1058"/>
              <a:ext cx="341" cy="1122"/>
            </a:xfrm>
            <a:custGeom>
              <a:avLst/>
              <a:gdLst>
                <a:gd name="T0" fmla="*/ 341 w 341"/>
                <a:gd name="T1" fmla="*/ 0 h 1122"/>
                <a:gd name="T2" fmla="*/ 0 w 341"/>
                <a:gd name="T3" fmla="*/ 0 h 1122"/>
                <a:gd name="T4" fmla="*/ 0 w 341"/>
                <a:gd name="T5" fmla="*/ 1122 h 1122"/>
                <a:gd name="T6" fmla="*/ 0 60000 65536"/>
                <a:gd name="T7" fmla="*/ 0 60000 65536"/>
                <a:gd name="T8" fmla="*/ 0 60000 65536"/>
                <a:gd name="T9" fmla="*/ 0 w 341"/>
                <a:gd name="T10" fmla="*/ 0 h 1122"/>
                <a:gd name="T11" fmla="*/ 341 w 341"/>
                <a:gd name="T12" fmla="*/ 1122 h 11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1" h="1122">
                  <a:moveTo>
                    <a:pt x="341" y="0"/>
                  </a:moveTo>
                  <a:lnTo>
                    <a:pt x="0" y="0"/>
                  </a:lnTo>
                  <a:lnTo>
                    <a:pt x="0" y="1122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" name="Line 126"/>
            <p:cNvSpPr>
              <a:spLocks noChangeShapeType="1"/>
            </p:cNvSpPr>
            <p:nvPr/>
          </p:nvSpPr>
          <p:spPr bwMode="auto">
            <a:xfrm flipH="1">
              <a:off x="881" y="1408"/>
              <a:ext cx="108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127"/>
            <p:cNvSpPr>
              <a:spLocks noChangeArrowheads="1"/>
            </p:cNvSpPr>
            <p:nvPr/>
          </p:nvSpPr>
          <p:spPr bwMode="auto">
            <a:xfrm>
              <a:off x="1012" y="939"/>
              <a:ext cx="189" cy="590"/>
            </a:xfrm>
            <a:custGeom>
              <a:avLst/>
              <a:gdLst>
                <a:gd name="T0" fmla="*/ 0 w 189"/>
                <a:gd name="T1" fmla="*/ 0 h 590"/>
                <a:gd name="T2" fmla="*/ 0 w 189"/>
                <a:gd name="T3" fmla="*/ 239 h 590"/>
                <a:gd name="T4" fmla="*/ 61 w 189"/>
                <a:gd name="T5" fmla="*/ 294 h 590"/>
                <a:gd name="T6" fmla="*/ 0 w 189"/>
                <a:gd name="T7" fmla="*/ 351 h 590"/>
                <a:gd name="T8" fmla="*/ 0 w 189"/>
                <a:gd name="T9" fmla="*/ 590 h 590"/>
                <a:gd name="T10" fmla="*/ 189 w 189"/>
                <a:gd name="T11" fmla="*/ 410 h 590"/>
                <a:gd name="T12" fmla="*/ 189 w 189"/>
                <a:gd name="T13" fmla="*/ 180 h 590"/>
                <a:gd name="T14" fmla="*/ 0 w 189"/>
                <a:gd name="T15" fmla="*/ 0 h 590"/>
                <a:gd name="T16" fmla="*/ 0 w 189"/>
                <a:gd name="T17" fmla="*/ 0 h 5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9"/>
                <a:gd name="T28" fmla="*/ 0 h 590"/>
                <a:gd name="T29" fmla="*/ 189 w 189"/>
                <a:gd name="T30" fmla="*/ 590 h 5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9" h="590">
                  <a:moveTo>
                    <a:pt x="0" y="0"/>
                  </a:moveTo>
                  <a:lnTo>
                    <a:pt x="0" y="239"/>
                  </a:lnTo>
                  <a:lnTo>
                    <a:pt x="61" y="294"/>
                  </a:lnTo>
                  <a:lnTo>
                    <a:pt x="0" y="351"/>
                  </a:lnTo>
                  <a:lnTo>
                    <a:pt x="0" y="590"/>
                  </a:lnTo>
                  <a:lnTo>
                    <a:pt x="189" y="410"/>
                  </a:lnTo>
                  <a:lnTo>
                    <a:pt x="189" y="180"/>
                  </a:lnTo>
                  <a:lnTo>
                    <a:pt x="0" y="0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Rectangle 128"/>
            <p:cNvSpPr>
              <a:spLocks noChangeArrowheads="1"/>
            </p:cNvSpPr>
            <p:nvPr/>
          </p:nvSpPr>
          <p:spPr bwMode="auto">
            <a:xfrm>
              <a:off x="1085" y="120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31" name="Rectangle 129"/>
            <p:cNvSpPr>
              <a:spLocks noChangeArrowheads="1"/>
            </p:cNvSpPr>
            <p:nvPr/>
          </p:nvSpPr>
          <p:spPr bwMode="auto">
            <a:xfrm>
              <a:off x="1126" y="120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32" name="Rectangle 130"/>
            <p:cNvSpPr>
              <a:spLocks noChangeArrowheads="1"/>
            </p:cNvSpPr>
            <p:nvPr/>
          </p:nvSpPr>
          <p:spPr bwMode="auto">
            <a:xfrm>
              <a:off x="1156" y="120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33" name="Freeform 131"/>
            <p:cNvSpPr>
              <a:spLocks noChangeArrowheads="1"/>
            </p:cNvSpPr>
            <p:nvPr/>
          </p:nvSpPr>
          <p:spPr bwMode="auto">
            <a:xfrm>
              <a:off x="3501" y="2429"/>
              <a:ext cx="31" cy="30"/>
            </a:xfrm>
            <a:custGeom>
              <a:avLst/>
              <a:gdLst>
                <a:gd name="T0" fmla="*/ 0 w 31"/>
                <a:gd name="T1" fmla="*/ 0 h 30"/>
                <a:gd name="T2" fmla="*/ 0 w 31"/>
                <a:gd name="T3" fmla="*/ 30 h 30"/>
                <a:gd name="T4" fmla="*/ 31 w 31"/>
                <a:gd name="T5" fmla="*/ 16 h 30"/>
                <a:gd name="T6" fmla="*/ 0 w 31"/>
                <a:gd name="T7" fmla="*/ 2 h 30"/>
                <a:gd name="T8" fmla="*/ 0 w 31"/>
                <a:gd name="T9" fmla="*/ 2 h 30"/>
                <a:gd name="T10" fmla="*/ 0 w 31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0"/>
                <a:gd name="T20" fmla="*/ 31 w 31"/>
                <a:gd name="T21" fmla="*/ 30 h 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0">
                  <a:moveTo>
                    <a:pt x="0" y="0"/>
                  </a:moveTo>
                  <a:lnTo>
                    <a:pt x="0" y="30"/>
                  </a:lnTo>
                  <a:lnTo>
                    <a:pt x="31" y="1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Freeform 132"/>
            <p:cNvSpPr>
              <a:spLocks noChangeArrowheads="1"/>
            </p:cNvSpPr>
            <p:nvPr/>
          </p:nvSpPr>
          <p:spPr bwMode="auto">
            <a:xfrm>
              <a:off x="3501" y="2692"/>
              <a:ext cx="31" cy="28"/>
            </a:xfrm>
            <a:custGeom>
              <a:avLst/>
              <a:gdLst>
                <a:gd name="T0" fmla="*/ 0 w 31"/>
                <a:gd name="T1" fmla="*/ 0 h 28"/>
                <a:gd name="T2" fmla="*/ 0 w 31"/>
                <a:gd name="T3" fmla="*/ 28 h 28"/>
                <a:gd name="T4" fmla="*/ 31 w 31"/>
                <a:gd name="T5" fmla="*/ 14 h 28"/>
                <a:gd name="T6" fmla="*/ 0 w 31"/>
                <a:gd name="T7" fmla="*/ 0 h 28"/>
                <a:gd name="T8" fmla="*/ 0 w 31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"/>
                <a:gd name="T16" fmla="*/ 0 h 28"/>
                <a:gd name="T17" fmla="*/ 31 w 31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" h="28">
                  <a:moveTo>
                    <a:pt x="0" y="0"/>
                  </a:moveTo>
                  <a:lnTo>
                    <a:pt x="0" y="28"/>
                  </a:lnTo>
                  <a:lnTo>
                    <a:pt x="31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Freeform 133"/>
            <p:cNvSpPr>
              <a:spLocks noChangeArrowheads="1"/>
            </p:cNvSpPr>
            <p:nvPr/>
          </p:nvSpPr>
          <p:spPr bwMode="auto">
            <a:xfrm>
              <a:off x="3742" y="2559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7 h 31"/>
                <a:gd name="T6" fmla="*/ 0 w 31"/>
                <a:gd name="T7" fmla="*/ 2 h 31"/>
                <a:gd name="T8" fmla="*/ 0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7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Line 134"/>
            <p:cNvSpPr>
              <a:spLocks noChangeShapeType="1"/>
            </p:cNvSpPr>
            <p:nvPr/>
          </p:nvSpPr>
          <p:spPr bwMode="auto">
            <a:xfrm flipH="1">
              <a:off x="3644" y="2576"/>
              <a:ext cx="109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35"/>
            <p:cNvSpPr>
              <a:spLocks noChangeArrowheads="1"/>
            </p:cNvSpPr>
            <p:nvPr/>
          </p:nvSpPr>
          <p:spPr bwMode="auto">
            <a:xfrm>
              <a:off x="3742" y="2208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7 h 31"/>
                <a:gd name="T6" fmla="*/ 0 w 31"/>
                <a:gd name="T7" fmla="*/ 3 h 31"/>
                <a:gd name="T8" fmla="*/ 0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Freeform 136"/>
            <p:cNvSpPr>
              <a:spLocks noChangeArrowheads="1"/>
            </p:cNvSpPr>
            <p:nvPr/>
          </p:nvSpPr>
          <p:spPr bwMode="auto">
            <a:xfrm>
              <a:off x="5135" y="2459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7 h 31"/>
                <a:gd name="T6" fmla="*/ 2 w 31"/>
                <a:gd name="T7" fmla="*/ 3 h 31"/>
                <a:gd name="T8" fmla="*/ 2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7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Freeform 137"/>
            <p:cNvSpPr>
              <a:spLocks noChangeArrowheads="1"/>
            </p:cNvSpPr>
            <p:nvPr/>
          </p:nvSpPr>
          <p:spPr bwMode="auto">
            <a:xfrm>
              <a:off x="5135" y="2722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5 h 31"/>
                <a:gd name="T6" fmla="*/ 2 w 31"/>
                <a:gd name="T7" fmla="*/ 0 h 31"/>
                <a:gd name="T8" fmla="*/ 2 w 31"/>
                <a:gd name="T9" fmla="*/ 0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5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" name="Freeform 138"/>
            <p:cNvSpPr>
              <a:spLocks noChangeArrowheads="1"/>
            </p:cNvSpPr>
            <p:nvPr/>
          </p:nvSpPr>
          <p:spPr bwMode="auto">
            <a:xfrm>
              <a:off x="4349" y="2789"/>
              <a:ext cx="28" cy="30"/>
            </a:xfrm>
            <a:custGeom>
              <a:avLst/>
              <a:gdLst>
                <a:gd name="T0" fmla="*/ 0 w 28"/>
                <a:gd name="T1" fmla="*/ 0 h 30"/>
                <a:gd name="T2" fmla="*/ 0 w 28"/>
                <a:gd name="T3" fmla="*/ 30 h 30"/>
                <a:gd name="T4" fmla="*/ 28 w 28"/>
                <a:gd name="T5" fmla="*/ 16 h 30"/>
                <a:gd name="T6" fmla="*/ 0 w 28"/>
                <a:gd name="T7" fmla="*/ 0 h 30"/>
                <a:gd name="T8" fmla="*/ 0 w 28"/>
                <a:gd name="T9" fmla="*/ 0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30"/>
                <a:gd name="T17" fmla="*/ 28 w 28"/>
                <a:gd name="T18" fmla="*/ 30 h 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30">
                  <a:moveTo>
                    <a:pt x="0" y="0"/>
                  </a:moveTo>
                  <a:lnTo>
                    <a:pt x="0" y="30"/>
                  </a:lnTo>
                  <a:lnTo>
                    <a:pt x="28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1" name="Freeform 139"/>
            <p:cNvSpPr>
              <a:spLocks noChangeArrowheads="1"/>
            </p:cNvSpPr>
            <p:nvPr/>
          </p:nvSpPr>
          <p:spPr bwMode="auto">
            <a:xfrm>
              <a:off x="3273" y="2445"/>
              <a:ext cx="1085" cy="360"/>
            </a:xfrm>
            <a:custGeom>
              <a:avLst/>
              <a:gdLst>
                <a:gd name="T0" fmla="*/ 1085 w 1085"/>
                <a:gd name="T1" fmla="*/ 358 h 360"/>
                <a:gd name="T2" fmla="*/ 0 w 1085"/>
                <a:gd name="T3" fmla="*/ 360 h 360"/>
                <a:gd name="T4" fmla="*/ 0 w 1085"/>
                <a:gd name="T5" fmla="*/ 0 h 360"/>
                <a:gd name="T6" fmla="*/ 0 60000 65536"/>
                <a:gd name="T7" fmla="*/ 0 60000 65536"/>
                <a:gd name="T8" fmla="*/ 0 60000 65536"/>
                <a:gd name="T9" fmla="*/ 0 w 1085"/>
                <a:gd name="T10" fmla="*/ 0 h 360"/>
                <a:gd name="T11" fmla="*/ 1085 w 1085"/>
                <a:gd name="T12" fmla="*/ 360 h 3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5" h="360">
                  <a:moveTo>
                    <a:pt x="1085" y="358"/>
                  </a:moveTo>
                  <a:lnTo>
                    <a:pt x="0" y="360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Freeform 140"/>
            <p:cNvSpPr>
              <a:spLocks noChangeArrowheads="1"/>
            </p:cNvSpPr>
            <p:nvPr/>
          </p:nvSpPr>
          <p:spPr bwMode="auto">
            <a:xfrm>
              <a:off x="3565" y="2874"/>
              <a:ext cx="218" cy="464"/>
            </a:xfrm>
            <a:custGeom>
              <a:avLst/>
              <a:gdLst>
                <a:gd name="T0" fmla="*/ 109 w 218"/>
                <a:gd name="T1" fmla="*/ 464 h 464"/>
                <a:gd name="T2" fmla="*/ 125 w 218"/>
                <a:gd name="T3" fmla="*/ 462 h 464"/>
                <a:gd name="T4" fmla="*/ 144 w 218"/>
                <a:gd name="T5" fmla="*/ 452 h 464"/>
                <a:gd name="T6" fmla="*/ 158 w 218"/>
                <a:gd name="T7" fmla="*/ 438 h 464"/>
                <a:gd name="T8" fmla="*/ 173 w 218"/>
                <a:gd name="T9" fmla="*/ 419 h 464"/>
                <a:gd name="T10" fmla="*/ 187 w 218"/>
                <a:gd name="T11" fmla="*/ 395 h 464"/>
                <a:gd name="T12" fmla="*/ 196 w 218"/>
                <a:gd name="T13" fmla="*/ 369 h 464"/>
                <a:gd name="T14" fmla="*/ 206 w 218"/>
                <a:gd name="T15" fmla="*/ 338 h 464"/>
                <a:gd name="T16" fmla="*/ 213 w 218"/>
                <a:gd name="T17" fmla="*/ 305 h 464"/>
                <a:gd name="T18" fmla="*/ 218 w 218"/>
                <a:gd name="T19" fmla="*/ 270 h 464"/>
                <a:gd name="T20" fmla="*/ 218 w 218"/>
                <a:gd name="T21" fmla="*/ 232 h 464"/>
                <a:gd name="T22" fmla="*/ 218 w 218"/>
                <a:gd name="T23" fmla="*/ 194 h 464"/>
                <a:gd name="T24" fmla="*/ 213 w 218"/>
                <a:gd name="T25" fmla="*/ 159 h 464"/>
                <a:gd name="T26" fmla="*/ 206 w 218"/>
                <a:gd name="T27" fmla="*/ 125 h 464"/>
                <a:gd name="T28" fmla="*/ 196 w 218"/>
                <a:gd name="T29" fmla="*/ 95 h 464"/>
                <a:gd name="T30" fmla="*/ 187 w 218"/>
                <a:gd name="T31" fmla="*/ 66 h 464"/>
                <a:gd name="T32" fmla="*/ 173 w 218"/>
                <a:gd name="T33" fmla="*/ 45 h 464"/>
                <a:gd name="T34" fmla="*/ 158 w 218"/>
                <a:gd name="T35" fmla="*/ 26 h 464"/>
                <a:gd name="T36" fmla="*/ 144 w 218"/>
                <a:gd name="T37" fmla="*/ 12 h 464"/>
                <a:gd name="T38" fmla="*/ 125 w 218"/>
                <a:gd name="T39" fmla="*/ 2 h 464"/>
                <a:gd name="T40" fmla="*/ 109 w 218"/>
                <a:gd name="T41" fmla="*/ 0 h 464"/>
                <a:gd name="T42" fmla="*/ 90 w 218"/>
                <a:gd name="T43" fmla="*/ 2 h 464"/>
                <a:gd name="T44" fmla="*/ 73 w 218"/>
                <a:gd name="T45" fmla="*/ 12 h 464"/>
                <a:gd name="T46" fmla="*/ 59 w 218"/>
                <a:gd name="T47" fmla="*/ 26 h 464"/>
                <a:gd name="T48" fmla="*/ 45 w 218"/>
                <a:gd name="T49" fmla="*/ 45 h 464"/>
                <a:gd name="T50" fmla="*/ 30 w 218"/>
                <a:gd name="T51" fmla="*/ 66 h 464"/>
                <a:gd name="T52" fmla="*/ 21 w 218"/>
                <a:gd name="T53" fmla="*/ 95 h 464"/>
                <a:gd name="T54" fmla="*/ 12 w 218"/>
                <a:gd name="T55" fmla="*/ 125 h 464"/>
                <a:gd name="T56" fmla="*/ 4 w 218"/>
                <a:gd name="T57" fmla="*/ 159 h 464"/>
                <a:gd name="T58" fmla="*/ 0 w 218"/>
                <a:gd name="T59" fmla="*/ 194 h 464"/>
                <a:gd name="T60" fmla="*/ 0 w 218"/>
                <a:gd name="T61" fmla="*/ 232 h 464"/>
                <a:gd name="T62" fmla="*/ 0 w 218"/>
                <a:gd name="T63" fmla="*/ 270 h 464"/>
                <a:gd name="T64" fmla="*/ 4 w 218"/>
                <a:gd name="T65" fmla="*/ 305 h 464"/>
                <a:gd name="T66" fmla="*/ 12 w 218"/>
                <a:gd name="T67" fmla="*/ 338 h 464"/>
                <a:gd name="T68" fmla="*/ 21 w 218"/>
                <a:gd name="T69" fmla="*/ 369 h 464"/>
                <a:gd name="T70" fmla="*/ 30 w 218"/>
                <a:gd name="T71" fmla="*/ 395 h 464"/>
                <a:gd name="T72" fmla="*/ 45 w 218"/>
                <a:gd name="T73" fmla="*/ 419 h 464"/>
                <a:gd name="T74" fmla="*/ 59 w 218"/>
                <a:gd name="T75" fmla="*/ 438 h 464"/>
                <a:gd name="T76" fmla="*/ 73 w 218"/>
                <a:gd name="T77" fmla="*/ 452 h 464"/>
                <a:gd name="T78" fmla="*/ 90 w 218"/>
                <a:gd name="T79" fmla="*/ 462 h 464"/>
                <a:gd name="T80" fmla="*/ 109 w 218"/>
                <a:gd name="T81" fmla="*/ 464 h 464"/>
                <a:gd name="T82" fmla="*/ 109 w 218"/>
                <a:gd name="T83" fmla="*/ 464 h 4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8"/>
                <a:gd name="T127" fmla="*/ 0 h 464"/>
                <a:gd name="T128" fmla="*/ 218 w 218"/>
                <a:gd name="T129" fmla="*/ 464 h 4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8" h="464">
                  <a:moveTo>
                    <a:pt x="109" y="464"/>
                  </a:moveTo>
                  <a:lnTo>
                    <a:pt x="125" y="462"/>
                  </a:lnTo>
                  <a:lnTo>
                    <a:pt x="144" y="452"/>
                  </a:lnTo>
                  <a:lnTo>
                    <a:pt x="158" y="438"/>
                  </a:lnTo>
                  <a:lnTo>
                    <a:pt x="173" y="419"/>
                  </a:lnTo>
                  <a:lnTo>
                    <a:pt x="187" y="395"/>
                  </a:lnTo>
                  <a:lnTo>
                    <a:pt x="196" y="369"/>
                  </a:lnTo>
                  <a:lnTo>
                    <a:pt x="206" y="338"/>
                  </a:lnTo>
                  <a:lnTo>
                    <a:pt x="213" y="305"/>
                  </a:lnTo>
                  <a:lnTo>
                    <a:pt x="218" y="270"/>
                  </a:lnTo>
                  <a:lnTo>
                    <a:pt x="218" y="232"/>
                  </a:lnTo>
                  <a:lnTo>
                    <a:pt x="218" y="194"/>
                  </a:lnTo>
                  <a:lnTo>
                    <a:pt x="213" y="159"/>
                  </a:lnTo>
                  <a:lnTo>
                    <a:pt x="206" y="125"/>
                  </a:lnTo>
                  <a:lnTo>
                    <a:pt x="196" y="95"/>
                  </a:lnTo>
                  <a:lnTo>
                    <a:pt x="187" y="66"/>
                  </a:lnTo>
                  <a:lnTo>
                    <a:pt x="173" y="45"/>
                  </a:lnTo>
                  <a:lnTo>
                    <a:pt x="158" y="26"/>
                  </a:lnTo>
                  <a:lnTo>
                    <a:pt x="144" y="12"/>
                  </a:lnTo>
                  <a:lnTo>
                    <a:pt x="125" y="2"/>
                  </a:lnTo>
                  <a:lnTo>
                    <a:pt x="109" y="0"/>
                  </a:lnTo>
                  <a:lnTo>
                    <a:pt x="90" y="2"/>
                  </a:lnTo>
                  <a:lnTo>
                    <a:pt x="73" y="12"/>
                  </a:lnTo>
                  <a:lnTo>
                    <a:pt x="59" y="26"/>
                  </a:lnTo>
                  <a:lnTo>
                    <a:pt x="45" y="45"/>
                  </a:lnTo>
                  <a:lnTo>
                    <a:pt x="30" y="66"/>
                  </a:lnTo>
                  <a:lnTo>
                    <a:pt x="21" y="95"/>
                  </a:lnTo>
                  <a:lnTo>
                    <a:pt x="12" y="125"/>
                  </a:lnTo>
                  <a:lnTo>
                    <a:pt x="4" y="159"/>
                  </a:lnTo>
                  <a:lnTo>
                    <a:pt x="0" y="194"/>
                  </a:lnTo>
                  <a:lnTo>
                    <a:pt x="0" y="232"/>
                  </a:lnTo>
                  <a:lnTo>
                    <a:pt x="0" y="270"/>
                  </a:lnTo>
                  <a:lnTo>
                    <a:pt x="4" y="305"/>
                  </a:lnTo>
                  <a:lnTo>
                    <a:pt x="12" y="338"/>
                  </a:lnTo>
                  <a:lnTo>
                    <a:pt x="21" y="369"/>
                  </a:lnTo>
                  <a:lnTo>
                    <a:pt x="30" y="395"/>
                  </a:lnTo>
                  <a:lnTo>
                    <a:pt x="45" y="419"/>
                  </a:lnTo>
                  <a:lnTo>
                    <a:pt x="59" y="438"/>
                  </a:lnTo>
                  <a:lnTo>
                    <a:pt x="73" y="452"/>
                  </a:lnTo>
                  <a:lnTo>
                    <a:pt x="90" y="462"/>
                  </a:lnTo>
                  <a:lnTo>
                    <a:pt x="109" y="4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Freeform 141"/>
            <p:cNvSpPr>
              <a:spLocks noChangeArrowheads="1"/>
            </p:cNvSpPr>
            <p:nvPr/>
          </p:nvSpPr>
          <p:spPr bwMode="auto">
            <a:xfrm>
              <a:off x="3565" y="2874"/>
              <a:ext cx="218" cy="464"/>
            </a:xfrm>
            <a:custGeom>
              <a:avLst/>
              <a:gdLst>
                <a:gd name="T0" fmla="*/ 109 w 218"/>
                <a:gd name="T1" fmla="*/ 464 h 464"/>
                <a:gd name="T2" fmla="*/ 125 w 218"/>
                <a:gd name="T3" fmla="*/ 462 h 464"/>
                <a:gd name="T4" fmla="*/ 144 w 218"/>
                <a:gd name="T5" fmla="*/ 452 h 464"/>
                <a:gd name="T6" fmla="*/ 158 w 218"/>
                <a:gd name="T7" fmla="*/ 438 h 464"/>
                <a:gd name="T8" fmla="*/ 173 w 218"/>
                <a:gd name="T9" fmla="*/ 419 h 464"/>
                <a:gd name="T10" fmla="*/ 187 w 218"/>
                <a:gd name="T11" fmla="*/ 395 h 464"/>
                <a:gd name="T12" fmla="*/ 196 w 218"/>
                <a:gd name="T13" fmla="*/ 369 h 464"/>
                <a:gd name="T14" fmla="*/ 206 w 218"/>
                <a:gd name="T15" fmla="*/ 338 h 464"/>
                <a:gd name="T16" fmla="*/ 213 w 218"/>
                <a:gd name="T17" fmla="*/ 305 h 464"/>
                <a:gd name="T18" fmla="*/ 218 w 218"/>
                <a:gd name="T19" fmla="*/ 270 h 464"/>
                <a:gd name="T20" fmla="*/ 218 w 218"/>
                <a:gd name="T21" fmla="*/ 232 h 464"/>
                <a:gd name="T22" fmla="*/ 218 w 218"/>
                <a:gd name="T23" fmla="*/ 194 h 464"/>
                <a:gd name="T24" fmla="*/ 213 w 218"/>
                <a:gd name="T25" fmla="*/ 159 h 464"/>
                <a:gd name="T26" fmla="*/ 206 w 218"/>
                <a:gd name="T27" fmla="*/ 125 h 464"/>
                <a:gd name="T28" fmla="*/ 196 w 218"/>
                <a:gd name="T29" fmla="*/ 95 h 464"/>
                <a:gd name="T30" fmla="*/ 187 w 218"/>
                <a:gd name="T31" fmla="*/ 66 h 464"/>
                <a:gd name="T32" fmla="*/ 173 w 218"/>
                <a:gd name="T33" fmla="*/ 45 h 464"/>
                <a:gd name="T34" fmla="*/ 158 w 218"/>
                <a:gd name="T35" fmla="*/ 26 h 464"/>
                <a:gd name="T36" fmla="*/ 144 w 218"/>
                <a:gd name="T37" fmla="*/ 12 h 464"/>
                <a:gd name="T38" fmla="*/ 125 w 218"/>
                <a:gd name="T39" fmla="*/ 2 h 464"/>
                <a:gd name="T40" fmla="*/ 109 w 218"/>
                <a:gd name="T41" fmla="*/ 0 h 464"/>
                <a:gd name="T42" fmla="*/ 90 w 218"/>
                <a:gd name="T43" fmla="*/ 2 h 464"/>
                <a:gd name="T44" fmla="*/ 73 w 218"/>
                <a:gd name="T45" fmla="*/ 12 h 464"/>
                <a:gd name="T46" fmla="*/ 59 w 218"/>
                <a:gd name="T47" fmla="*/ 26 h 464"/>
                <a:gd name="T48" fmla="*/ 45 w 218"/>
                <a:gd name="T49" fmla="*/ 45 h 464"/>
                <a:gd name="T50" fmla="*/ 30 w 218"/>
                <a:gd name="T51" fmla="*/ 66 h 464"/>
                <a:gd name="T52" fmla="*/ 21 w 218"/>
                <a:gd name="T53" fmla="*/ 95 h 464"/>
                <a:gd name="T54" fmla="*/ 12 w 218"/>
                <a:gd name="T55" fmla="*/ 125 h 464"/>
                <a:gd name="T56" fmla="*/ 4 w 218"/>
                <a:gd name="T57" fmla="*/ 159 h 464"/>
                <a:gd name="T58" fmla="*/ 0 w 218"/>
                <a:gd name="T59" fmla="*/ 194 h 464"/>
                <a:gd name="T60" fmla="*/ 0 w 218"/>
                <a:gd name="T61" fmla="*/ 232 h 464"/>
                <a:gd name="T62" fmla="*/ 0 w 218"/>
                <a:gd name="T63" fmla="*/ 270 h 464"/>
                <a:gd name="T64" fmla="*/ 4 w 218"/>
                <a:gd name="T65" fmla="*/ 305 h 464"/>
                <a:gd name="T66" fmla="*/ 12 w 218"/>
                <a:gd name="T67" fmla="*/ 338 h 464"/>
                <a:gd name="T68" fmla="*/ 21 w 218"/>
                <a:gd name="T69" fmla="*/ 369 h 464"/>
                <a:gd name="T70" fmla="*/ 30 w 218"/>
                <a:gd name="T71" fmla="*/ 395 h 464"/>
                <a:gd name="T72" fmla="*/ 45 w 218"/>
                <a:gd name="T73" fmla="*/ 419 h 464"/>
                <a:gd name="T74" fmla="*/ 59 w 218"/>
                <a:gd name="T75" fmla="*/ 438 h 464"/>
                <a:gd name="T76" fmla="*/ 73 w 218"/>
                <a:gd name="T77" fmla="*/ 452 h 464"/>
                <a:gd name="T78" fmla="*/ 90 w 218"/>
                <a:gd name="T79" fmla="*/ 462 h 464"/>
                <a:gd name="T80" fmla="*/ 109 w 218"/>
                <a:gd name="T81" fmla="*/ 464 h 464"/>
                <a:gd name="T82" fmla="*/ 109 w 218"/>
                <a:gd name="T83" fmla="*/ 464 h 4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8"/>
                <a:gd name="T127" fmla="*/ 0 h 464"/>
                <a:gd name="T128" fmla="*/ 218 w 218"/>
                <a:gd name="T129" fmla="*/ 464 h 4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8" h="464">
                  <a:moveTo>
                    <a:pt x="109" y="464"/>
                  </a:moveTo>
                  <a:lnTo>
                    <a:pt x="125" y="462"/>
                  </a:lnTo>
                  <a:lnTo>
                    <a:pt x="144" y="452"/>
                  </a:lnTo>
                  <a:lnTo>
                    <a:pt x="158" y="438"/>
                  </a:lnTo>
                  <a:lnTo>
                    <a:pt x="173" y="419"/>
                  </a:lnTo>
                  <a:lnTo>
                    <a:pt x="187" y="395"/>
                  </a:lnTo>
                  <a:lnTo>
                    <a:pt x="196" y="369"/>
                  </a:lnTo>
                  <a:lnTo>
                    <a:pt x="206" y="338"/>
                  </a:lnTo>
                  <a:lnTo>
                    <a:pt x="213" y="305"/>
                  </a:lnTo>
                  <a:lnTo>
                    <a:pt x="218" y="270"/>
                  </a:lnTo>
                  <a:lnTo>
                    <a:pt x="218" y="232"/>
                  </a:lnTo>
                  <a:lnTo>
                    <a:pt x="218" y="194"/>
                  </a:lnTo>
                  <a:lnTo>
                    <a:pt x="213" y="159"/>
                  </a:lnTo>
                  <a:lnTo>
                    <a:pt x="206" y="125"/>
                  </a:lnTo>
                  <a:lnTo>
                    <a:pt x="196" y="95"/>
                  </a:lnTo>
                  <a:lnTo>
                    <a:pt x="187" y="66"/>
                  </a:lnTo>
                  <a:lnTo>
                    <a:pt x="173" y="45"/>
                  </a:lnTo>
                  <a:lnTo>
                    <a:pt x="158" y="26"/>
                  </a:lnTo>
                  <a:lnTo>
                    <a:pt x="144" y="12"/>
                  </a:lnTo>
                  <a:lnTo>
                    <a:pt x="125" y="2"/>
                  </a:lnTo>
                  <a:lnTo>
                    <a:pt x="109" y="0"/>
                  </a:lnTo>
                  <a:lnTo>
                    <a:pt x="90" y="2"/>
                  </a:lnTo>
                  <a:lnTo>
                    <a:pt x="73" y="12"/>
                  </a:lnTo>
                  <a:lnTo>
                    <a:pt x="59" y="26"/>
                  </a:lnTo>
                  <a:lnTo>
                    <a:pt x="45" y="45"/>
                  </a:lnTo>
                  <a:lnTo>
                    <a:pt x="30" y="66"/>
                  </a:lnTo>
                  <a:lnTo>
                    <a:pt x="21" y="95"/>
                  </a:lnTo>
                  <a:lnTo>
                    <a:pt x="12" y="125"/>
                  </a:lnTo>
                  <a:lnTo>
                    <a:pt x="4" y="159"/>
                  </a:lnTo>
                  <a:lnTo>
                    <a:pt x="0" y="194"/>
                  </a:lnTo>
                  <a:lnTo>
                    <a:pt x="0" y="232"/>
                  </a:lnTo>
                  <a:lnTo>
                    <a:pt x="0" y="270"/>
                  </a:lnTo>
                  <a:lnTo>
                    <a:pt x="4" y="305"/>
                  </a:lnTo>
                  <a:lnTo>
                    <a:pt x="12" y="338"/>
                  </a:lnTo>
                  <a:lnTo>
                    <a:pt x="21" y="369"/>
                  </a:lnTo>
                  <a:lnTo>
                    <a:pt x="30" y="395"/>
                  </a:lnTo>
                  <a:lnTo>
                    <a:pt x="45" y="419"/>
                  </a:lnTo>
                  <a:lnTo>
                    <a:pt x="59" y="438"/>
                  </a:lnTo>
                  <a:lnTo>
                    <a:pt x="73" y="452"/>
                  </a:lnTo>
                  <a:lnTo>
                    <a:pt x="90" y="462"/>
                  </a:lnTo>
                  <a:lnTo>
                    <a:pt x="109" y="464"/>
                  </a:lnTo>
                </a:path>
              </a:pathLst>
            </a:custGeom>
            <a:solidFill>
              <a:srgbClr val="D9D9D9"/>
            </a:solidFill>
            <a:ln w="11160">
              <a:solidFill>
                <a:srgbClr val="EB75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" name="Rectangle 142"/>
            <p:cNvSpPr>
              <a:spLocks noChangeArrowheads="1"/>
            </p:cNvSpPr>
            <p:nvPr/>
          </p:nvSpPr>
          <p:spPr bwMode="auto">
            <a:xfrm>
              <a:off x="2490" y="3232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45" name="Rectangle 143"/>
            <p:cNvSpPr>
              <a:spLocks noChangeArrowheads="1"/>
            </p:cNvSpPr>
            <p:nvPr/>
          </p:nvSpPr>
          <p:spPr bwMode="auto">
            <a:xfrm>
              <a:off x="2506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46" name="Rectangle 144"/>
            <p:cNvSpPr>
              <a:spLocks noChangeArrowheads="1"/>
            </p:cNvSpPr>
            <p:nvPr/>
          </p:nvSpPr>
          <p:spPr bwMode="auto">
            <a:xfrm>
              <a:off x="2537" y="3232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47" name="Rectangle 145"/>
            <p:cNvSpPr>
              <a:spLocks noChangeArrowheads="1"/>
            </p:cNvSpPr>
            <p:nvPr/>
          </p:nvSpPr>
          <p:spPr bwMode="auto">
            <a:xfrm>
              <a:off x="2568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48" name="Rectangle 146"/>
            <p:cNvSpPr>
              <a:spLocks noChangeArrowheads="1"/>
            </p:cNvSpPr>
            <p:nvPr/>
          </p:nvSpPr>
          <p:spPr bwMode="auto">
            <a:xfrm>
              <a:off x="2584" y="3232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49" name="Rectangle 147"/>
            <p:cNvSpPr>
              <a:spLocks noChangeArrowheads="1"/>
            </p:cNvSpPr>
            <p:nvPr/>
          </p:nvSpPr>
          <p:spPr bwMode="auto">
            <a:xfrm>
              <a:off x="2603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150" name="Rectangle 148"/>
            <p:cNvSpPr>
              <a:spLocks noChangeArrowheads="1"/>
            </p:cNvSpPr>
            <p:nvPr/>
          </p:nvSpPr>
          <p:spPr bwMode="auto">
            <a:xfrm>
              <a:off x="2636" y="3232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151" name="Rectangle 149"/>
            <p:cNvSpPr>
              <a:spLocks noChangeArrowheads="1"/>
            </p:cNvSpPr>
            <p:nvPr/>
          </p:nvSpPr>
          <p:spPr bwMode="auto">
            <a:xfrm>
              <a:off x="2665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52" name="Rectangle 150"/>
            <p:cNvSpPr>
              <a:spLocks noChangeArrowheads="1"/>
            </p:cNvSpPr>
            <p:nvPr/>
          </p:nvSpPr>
          <p:spPr bwMode="auto">
            <a:xfrm>
              <a:off x="2680" y="3232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53" name="Rectangle 151"/>
            <p:cNvSpPr>
              <a:spLocks noChangeArrowheads="1"/>
            </p:cNvSpPr>
            <p:nvPr/>
          </p:nvSpPr>
          <p:spPr bwMode="auto">
            <a:xfrm>
              <a:off x="2693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54" name="Rectangle 152"/>
            <p:cNvSpPr>
              <a:spLocks noChangeArrowheads="1"/>
            </p:cNvSpPr>
            <p:nvPr/>
          </p:nvSpPr>
          <p:spPr bwMode="auto">
            <a:xfrm>
              <a:off x="2726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55" name="Rectangle 153"/>
            <p:cNvSpPr>
              <a:spLocks noChangeArrowheads="1"/>
            </p:cNvSpPr>
            <p:nvPr/>
          </p:nvSpPr>
          <p:spPr bwMode="auto">
            <a:xfrm>
              <a:off x="2760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56" name="Rectangle 154"/>
            <p:cNvSpPr>
              <a:spLocks noChangeArrowheads="1"/>
            </p:cNvSpPr>
            <p:nvPr/>
          </p:nvSpPr>
          <p:spPr bwMode="auto">
            <a:xfrm>
              <a:off x="2774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157" name="Rectangle 155"/>
            <p:cNvSpPr>
              <a:spLocks noChangeArrowheads="1"/>
            </p:cNvSpPr>
            <p:nvPr/>
          </p:nvSpPr>
          <p:spPr bwMode="auto">
            <a:xfrm>
              <a:off x="2790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158" name="Rectangle 156"/>
            <p:cNvSpPr>
              <a:spLocks noChangeArrowheads="1"/>
            </p:cNvSpPr>
            <p:nvPr/>
          </p:nvSpPr>
          <p:spPr bwMode="auto">
            <a:xfrm>
              <a:off x="2823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59" name="Rectangle 157"/>
            <p:cNvSpPr>
              <a:spLocks noChangeArrowheads="1"/>
            </p:cNvSpPr>
            <p:nvPr/>
          </p:nvSpPr>
          <p:spPr bwMode="auto">
            <a:xfrm>
              <a:off x="2840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60" name="Rectangle 158"/>
            <p:cNvSpPr>
              <a:spLocks noChangeArrowheads="1"/>
            </p:cNvSpPr>
            <p:nvPr/>
          </p:nvSpPr>
          <p:spPr bwMode="auto">
            <a:xfrm>
              <a:off x="2857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161" name="Rectangle 159"/>
            <p:cNvSpPr>
              <a:spLocks noChangeArrowheads="1"/>
            </p:cNvSpPr>
            <p:nvPr/>
          </p:nvSpPr>
          <p:spPr bwMode="auto">
            <a:xfrm>
              <a:off x="2887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162" name="Freeform 160"/>
            <p:cNvSpPr>
              <a:spLocks noChangeArrowheads="1"/>
            </p:cNvSpPr>
            <p:nvPr/>
          </p:nvSpPr>
          <p:spPr bwMode="auto">
            <a:xfrm>
              <a:off x="2461" y="3018"/>
              <a:ext cx="1080" cy="299"/>
            </a:xfrm>
            <a:custGeom>
              <a:avLst/>
              <a:gdLst>
                <a:gd name="T0" fmla="*/ 0 w 1080"/>
                <a:gd name="T1" fmla="*/ 0 h 299"/>
                <a:gd name="T2" fmla="*/ 0 w 1080"/>
                <a:gd name="T3" fmla="*/ 299 h 299"/>
                <a:gd name="T4" fmla="*/ 1014 w 1080"/>
                <a:gd name="T5" fmla="*/ 299 h 299"/>
                <a:gd name="T6" fmla="*/ 1014 w 1080"/>
                <a:gd name="T7" fmla="*/ 88 h 299"/>
                <a:gd name="T8" fmla="*/ 1080 w 1080"/>
                <a:gd name="T9" fmla="*/ 88 h 2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80"/>
                <a:gd name="T16" fmla="*/ 0 h 299"/>
                <a:gd name="T17" fmla="*/ 1080 w 1080"/>
                <a:gd name="T18" fmla="*/ 299 h 2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80" h="299">
                  <a:moveTo>
                    <a:pt x="0" y="0"/>
                  </a:moveTo>
                  <a:lnTo>
                    <a:pt x="0" y="299"/>
                  </a:lnTo>
                  <a:lnTo>
                    <a:pt x="1014" y="299"/>
                  </a:lnTo>
                  <a:lnTo>
                    <a:pt x="1014" y="88"/>
                  </a:lnTo>
                  <a:lnTo>
                    <a:pt x="1080" y="88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" name="Freeform 161"/>
            <p:cNvSpPr>
              <a:spLocks noChangeArrowheads="1"/>
            </p:cNvSpPr>
            <p:nvPr/>
          </p:nvSpPr>
          <p:spPr bwMode="auto">
            <a:xfrm>
              <a:off x="2224" y="1285"/>
              <a:ext cx="275" cy="727"/>
            </a:xfrm>
            <a:custGeom>
              <a:avLst/>
              <a:gdLst>
                <a:gd name="T0" fmla="*/ 138 w 275"/>
                <a:gd name="T1" fmla="*/ 727 h 727"/>
                <a:gd name="T2" fmla="*/ 161 w 275"/>
                <a:gd name="T3" fmla="*/ 722 h 727"/>
                <a:gd name="T4" fmla="*/ 180 w 275"/>
                <a:gd name="T5" fmla="*/ 710 h 727"/>
                <a:gd name="T6" fmla="*/ 202 w 275"/>
                <a:gd name="T7" fmla="*/ 687 h 727"/>
                <a:gd name="T8" fmla="*/ 218 w 275"/>
                <a:gd name="T9" fmla="*/ 658 h 727"/>
                <a:gd name="T10" fmla="*/ 235 w 275"/>
                <a:gd name="T11" fmla="*/ 620 h 727"/>
                <a:gd name="T12" fmla="*/ 249 w 275"/>
                <a:gd name="T13" fmla="*/ 580 h 727"/>
                <a:gd name="T14" fmla="*/ 261 w 275"/>
                <a:gd name="T15" fmla="*/ 530 h 727"/>
                <a:gd name="T16" fmla="*/ 268 w 275"/>
                <a:gd name="T17" fmla="*/ 478 h 727"/>
                <a:gd name="T18" fmla="*/ 273 w 275"/>
                <a:gd name="T19" fmla="*/ 424 h 727"/>
                <a:gd name="T20" fmla="*/ 275 w 275"/>
                <a:gd name="T21" fmla="*/ 365 h 727"/>
                <a:gd name="T22" fmla="*/ 273 w 275"/>
                <a:gd name="T23" fmla="*/ 305 h 727"/>
                <a:gd name="T24" fmla="*/ 268 w 275"/>
                <a:gd name="T25" fmla="*/ 249 h 727"/>
                <a:gd name="T26" fmla="*/ 261 w 275"/>
                <a:gd name="T27" fmla="*/ 197 h 727"/>
                <a:gd name="T28" fmla="*/ 249 w 275"/>
                <a:gd name="T29" fmla="*/ 149 h 727"/>
                <a:gd name="T30" fmla="*/ 235 w 275"/>
                <a:gd name="T31" fmla="*/ 107 h 727"/>
                <a:gd name="T32" fmla="*/ 218 w 275"/>
                <a:gd name="T33" fmla="*/ 71 h 727"/>
                <a:gd name="T34" fmla="*/ 202 w 275"/>
                <a:gd name="T35" fmla="*/ 40 h 727"/>
                <a:gd name="T36" fmla="*/ 180 w 275"/>
                <a:gd name="T37" fmla="*/ 19 h 727"/>
                <a:gd name="T38" fmla="*/ 161 w 275"/>
                <a:gd name="T39" fmla="*/ 5 h 727"/>
                <a:gd name="T40" fmla="*/ 138 w 275"/>
                <a:gd name="T41" fmla="*/ 0 h 727"/>
                <a:gd name="T42" fmla="*/ 116 w 275"/>
                <a:gd name="T43" fmla="*/ 5 h 727"/>
                <a:gd name="T44" fmla="*/ 95 w 275"/>
                <a:gd name="T45" fmla="*/ 19 h 727"/>
                <a:gd name="T46" fmla="*/ 76 w 275"/>
                <a:gd name="T47" fmla="*/ 40 h 727"/>
                <a:gd name="T48" fmla="*/ 57 w 275"/>
                <a:gd name="T49" fmla="*/ 71 h 727"/>
                <a:gd name="T50" fmla="*/ 41 w 275"/>
                <a:gd name="T51" fmla="*/ 107 h 727"/>
                <a:gd name="T52" fmla="*/ 26 w 275"/>
                <a:gd name="T53" fmla="*/ 149 h 727"/>
                <a:gd name="T54" fmla="*/ 17 w 275"/>
                <a:gd name="T55" fmla="*/ 197 h 727"/>
                <a:gd name="T56" fmla="*/ 7 w 275"/>
                <a:gd name="T57" fmla="*/ 249 h 727"/>
                <a:gd name="T58" fmla="*/ 3 w 275"/>
                <a:gd name="T59" fmla="*/ 305 h 727"/>
                <a:gd name="T60" fmla="*/ 0 w 275"/>
                <a:gd name="T61" fmla="*/ 365 h 727"/>
                <a:gd name="T62" fmla="*/ 3 w 275"/>
                <a:gd name="T63" fmla="*/ 424 h 727"/>
                <a:gd name="T64" fmla="*/ 7 w 275"/>
                <a:gd name="T65" fmla="*/ 478 h 727"/>
                <a:gd name="T66" fmla="*/ 17 w 275"/>
                <a:gd name="T67" fmla="*/ 530 h 727"/>
                <a:gd name="T68" fmla="*/ 26 w 275"/>
                <a:gd name="T69" fmla="*/ 580 h 727"/>
                <a:gd name="T70" fmla="*/ 41 w 275"/>
                <a:gd name="T71" fmla="*/ 620 h 727"/>
                <a:gd name="T72" fmla="*/ 57 w 275"/>
                <a:gd name="T73" fmla="*/ 658 h 727"/>
                <a:gd name="T74" fmla="*/ 76 w 275"/>
                <a:gd name="T75" fmla="*/ 687 h 727"/>
                <a:gd name="T76" fmla="*/ 95 w 275"/>
                <a:gd name="T77" fmla="*/ 710 h 727"/>
                <a:gd name="T78" fmla="*/ 116 w 275"/>
                <a:gd name="T79" fmla="*/ 722 h 727"/>
                <a:gd name="T80" fmla="*/ 138 w 275"/>
                <a:gd name="T81" fmla="*/ 727 h 727"/>
                <a:gd name="T82" fmla="*/ 138 w 275"/>
                <a:gd name="T83" fmla="*/ 727 h 72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75"/>
                <a:gd name="T127" fmla="*/ 0 h 727"/>
                <a:gd name="T128" fmla="*/ 275 w 275"/>
                <a:gd name="T129" fmla="*/ 727 h 72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75" h="727">
                  <a:moveTo>
                    <a:pt x="138" y="727"/>
                  </a:moveTo>
                  <a:lnTo>
                    <a:pt x="161" y="722"/>
                  </a:lnTo>
                  <a:lnTo>
                    <a:pt x="180" y="710"/>
                  </a:lnTo>
                  <a:lnTo>
                    <a:pt x="202" y="687"/>
                  </a:lnTo>
                  <a:lnTo>
                    <a:pt x="218" y="658"/>
                  </a:lnTo>
                  <a:lnTo>
                    <a:pt x="235" y="620"/>
                  </a:lnTo>
                  <a:lnTo>
                    <a:pt x="249" y="580"/>
                  </a:lnTo>
                  <a:lnTo>
                    <a:pt x="261" y="530"/>
                  </a:lnTo>
                  <a:lnTo>
                    <a:pt x="268" y="478"/>
                  </a:lnTo>
                  <a:lnTo>
                    <a:pt x="273" y="424"/>
                  </a:lnTo>
                  <a:lnTo>
                    <a:pt x="275" y="365"/>
                  </a:lnTo>
                  <a:lnTo>
                    <a:pt x="273" y="305"/>
                  </a:lnTo>
                  <a:lnTo>
                    <a:pt x="268" y="249"/>
                  </a:lnTo>
                  <a:lnTo>
                    <a:pt x="261" y="197"/>
                  </a:lnTo>
                  <a:lnTo>
                    <a:pt x="249" y="149"/>
                  </a:lnTo>
                  <a:lnTo>
                    <a:pt x="235" y="107"/>
                  </a:lnTo>
                  <a:lnTo>
                    <a:pt x="218" y="71"/>
                  </a:lnTo>
                  <a:lnTo>
                    <a:pt x="202" y="40"/>
                  </a:lnTo>
                  <a:lnTo>
                    <a:pt x="180" y="19"/>
                  </a:lnTo>
                  <a:lnTo>
                    <a:pt x="161" y="5"/>
                  </a:lnTo>
                  <a:lnTo>
                    <a:pt x="138" y="0"/>
                  </a:lnTo>
                  <a:lnTo>
                    <a:pt x="116" y="5"/>
                  </a:lnTo>
                  <a:lnTo>
                    <a:pt x="95" y="19"/>
                  </a:lnTo>
                  <a:lnTo>
                    <a:pt x="76" y="40"/>
                  </a:lnTo>
                  <a:lnTo>
                    <a:pt x="57" y="71"/>
                  </a:lnTo>
                  <a:lnTo>
                    <a:pt x="41" y="107"/>
                  </a:lnTo>
                  <a:lnTo>
                    <a:pt x="26" y="149"/>
                  </a:lnTo>
                  <a:lnTo>
                    <a:pt x="17" y="197"/>
                  </a:lnTo>
                  <a:lnTo>
                    <a:pt x="7" y="249"/>
                  </a:lnTo>
                  <a:lnTo>
                    <a:pt x="3" y="305"/>
                  </a:lnTo>
                  <a:lnTo>
                    <a:pt x="0" y="365"/>
                  </a:lnTo>
                  <a:lnTo>
                    <a:pt x="3" y="424"/>
                  </a:lnTo>
                  <a:lnTo>
                    <a:pt x="7" y="478"/>
                  </a:lnTo>
                  <a:lnTo>
                    <a:pt x="17" y="530"/>
                  </a:lnTo>
                  <a:lnTo>
                    <a:pt x="26" y="580"/>
                  </a:lnTo>
                  <a:lnTo>
                    <a:pt x="41" y="620"/>
                  </a:lnTo>
                  <a:lnTo>
                    <a:pt x="57" y="658"/>
                  </a:lnTo>
                  <a:lnTo>
                    <a:pt x="76" y="687"/>
                  </a:lnTo>
                  <a:lnTo>
                    <a:pt x="95" y="710"/>
                  </a:lnTo>
                  <a:lnTo>
                    <a:pt x="116" y="722"/>
                  </a:lnTo>
                  <a:lnTo>
                    <a:pt x="138" y="7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" name="Freeform 162"/>
            <p:cNvSpPr>
              <a:spLocks noChangeArrowheads="1"/>
            </p:cNvSpPr>
            <p:nvPr/>
          </p:nvSpPr>
          <p:spPr bwMode="auto">
            <a:xfrm>
              <a:off x="2224" y="1285"/>
              <a:ext cx="275" cy="727"/>
            </a:xfrm>
            <a:custGeom>
              <a:avLst/>
              <a:gdLst>
                <a:gd name="T0" fmla="*/ 138 w 275"/>
                <a:gd name="T1" fmla="*/ 727 h 727"/>
                <a:gd name="T2" fmla="*/ 161 w 275"/>
                <a:gd name="T3" fmla="*/ 722 h 727"/>
                <a:gd name="T4" fmla="*/ 180 w 275"/>
                <a:gd name="T5" fmla="*/ 710 h 727"/>
                <a:gd name="T6" fmla="*/ 202 w 275"/>
                <a:gd name="T7" fmla="*/ 687 h 727"/>
                <a:gd name="T8" fmla="*/ 218 w 275"/>
                <a:gd name="T9" fmla="*/ 658 h 727"/>
                <a:gd name="T10" fmla="*/ 235 w 275"/>
                <a:gd name="T11" fmla="*/ 620 h 727"/>
                <a:gd name="T12" fmla="*/ 249 w 275"/>
                <a:gd name="T13" fmla="*/ 580 h 727"/>
                <a:gd name="T14" fmla="*/ 261 w 275"/>
                <a:gd name="T15" fmla="*/ 530 h 727"/>
                <a:gd name="T16" fmla="*/ 268 w 275"/>
                <a:gd name="T17" fmla="*/ 478 h 727"/>
                <a:gd name="T18" fmla="*/ 273 w 275"/>
                <a:gd name="T19" fmla="*/ 424 h 727"/>
                <a:gd name="T20" fmla="*/ 275 w 275"/>
                <a:gd name="T21" fmla="*/ 365 h 727"/>
                <a:gd name="T22" fmla="*/ 273 w 275"/>
                <a:gd name="T23" fmla="*/ 305 h 727"/>
                <a:gd name="T24" fmla="*/ 268 w 275"/>
                <a:gd name="T25" fmla="*/ 249 h 727"/>
                <a:gd name="T26" fmla="*/ 261 w 275"/>
                <a:gd name="T27" fmla="*/ 197 h 727"/>
                <a:gd name="T28" fmla="*/ 249 w 275"/>
                <a:gd name="T29" fmla="*/ 149 h 727"/>
                <a:gd name="T30" fmla="*/ 235 w 275"/>
                <a:gd name="T31" fmla="*/ 107 h 727"/>
                <a:gd name="T32" fmla="*/ 218 w 275"/>
                <a:gd name="T33" fmla="*/ 71 h 727"/>
                <a:gd name="T34" fmla="*/ 202 w 275"/>
                <a:gd name="T35" fmla="*/ 40 h 727"/>
                <a:gd name="T36" fmla="*/ 180 w 275"/>
                <a:gd name="T37" fmla="*/ 19 h 727"/>
                <a:gd name="T38" fmla="*/ 161 w 275"/>
                <a:gd name="T39" fmla="*/ 5 h 727"/>
                <a:gd name="T40" fmla="*/ 138 w 275"/>
                <a:gd name="T41" fmla="*/ 0 h 727"/>
                <a:gd name="T42" fmla="*/ 116 w 275"/>
                <a:gd name="T43" fmla="*/ 5 h 727"/>
                <a:gd name="T44" fmla="*/ 95 w 275"/>
                <a:gd name="T45" fmla="*/ 19 h 727"/>
                <a:gd name="T46" fmla="*/ 76 w 275"/>
                <a:gd name="T47" fmla="*/ 40 h 727"/>
                <a:gd name="T48" fmla="*/ 57 w 275"/>
                <a:gd name="T49" fmla="*/ 71 h 727"/>
                <a:gd name="T50" fmla="*/ 41 w 275"/>
                <a:gd name="T51" fmla="*/ 107 h 727"/>
                <a:gd name="T52" fmla="*/ 26 w 275"/>
                <a:gd name="T53" fmla="*/ 149 h 727"/>
                <a:gd name="T54" fmla="*/ 17 w 275"/>
                <a:gd name="T55" fmla="*/ 197 h 727"/>
                <a:gd name="T56" fmla="*/ 7 w 275"/>
                <a:gd name="T57" fmla="*/ 249 h 727"/>
                <a:gd name="T58" fmla="*/ 3 w 275"/>
                <a:gd name="T59" fmla="*/ 305 h 727"/>
                <a:gd name="T60" fmla="*/ 0 w 275"/>
                <a:gd name="T61" fmla="*/ 365 h 727"/>
                <a:gd name="T62" fmla="*/ 3 w 275"/>
                <a:gd name="T63" fmla="*/ 424 h 727"/>
                <a:gd name="T64" fmla="*/ 7 w 275"/>
                <a:gd name="T65" fmla="*/ 478 h 727"/>
                <a:gd name="T66" fmla="*/ 17 w 275"/>
                <a:gd name="T67" fmla="*/ 530 h 727"/>
                <a:gd name="T68" fmla="*/ 26 w 275"/>
                <a:gd name="T69" fmla="*/ 580 h 727"/>
                <a:gd name="T70" fmla="*/ 41 w 275"/>
                <a:gd name="T71" fmla="*/ 620 h 727"/>
                <a:gd name="T72" fmla="*/ 57 w 275"/>
                <a:gd name="T73" fmla="*/ 658 h 727"/>
                <a:gd name="T74" fmla="*/ 76 w 275"/>
                <a:gd name="T75" fmla="*/ 687 h 727"/>
                <a:gd name="T76" fmla="*/ 95 w 275"/>
                <a:gd name="T77" fmla="*/ 710 h 727"/>
                <a:gd name="T78" fmla="*/ 116 w 275"/>
                <a:gd name="T79" fmla="*/ 722 h 727"/>
                <a:gd name="T80" fmla="*/ 138 w 275"/>
                <a:gd name="T81" fmla="*/ 727 h 727"/>
                <a:gd name="T82" fmla="*/ 138 w 275"/>
                <a:gd name="T83" fmla="*/ 727 h 72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75"/>
                <a:gd name="T127" fmla="*/ 0 h 727"/>
                <a:gd name="T128" fmla="*/ 275 w 275"/>
                <a:gd name="T129" fmla="*/ 727 h 72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75" h="727">
                  <a:moveTo>
                    <a:pt x="138" y="727"/>
                  </a:moveTo>
                  <a:lnTo>
                    <a:pt x="161" y="722"/>
                  </a:lnTo>
                  <a:lnTo>
                    <a:pt x="180" y="710"/>
                  </a:lnTo>
                  <a:lnTo>
                    <a:pt x="202" y="687"/>
                  </a:lnTo>
                  <a:lnTo>
                    <a:pt x="218" y="658"/>
                  </a:lnTo>
                  <a:lnTo>
                    <a:pt x="235" y="620"/>
                  </a:lnTo>
                  <a:lnTo>
                    <a:pt x="249" y="580"/>
                  </a:lnTo>
                  <a:lnTo>
                    <a:pt x="261" y="530"/>
                  </a:lnTo>
                  <a:lnTo>
                    <a:pt x="268" y="478"/>
                  </a:lnTo>
                  <a:lnTo>
                    <a:pt x="273" y="424"/>
                  </a:lnTo>
                  <a:lnTo>
                    <a:pt x="275" y="365"/>
                  </a:lnTo>
                  <a:lnTo>
                    <a:pt x="273" y="305"/>
                  </a:lnTo>
                  <a:lnTo>
                    <a:pt x="268" y="249"/>
                  </a:lnTo>
                  <a:lnTo>
                    <a:pt x="261" y="197"/>
                  </a:lnTo>
                  <a:lnTo>
                    <a:pt x="249" y="149"/>
                  </a:lnTo>
                  <a:lnTo>
                    <a:pt x="235" y="107"/>
                  </a:lnTo>
                  <a:lnTo>
                    <a:pt x="218" y="71"/>
                  </a:lnTo>
                  <a:lnTo>
                    <a:pt x="202" y="40"/>
                  </a:lnTo>
                  <a:lnTo>
                    <a:pt x="180" y="19"/>
                  </a:lnTo>
                  <a:lnTo>
                    <a:pt x="161" y="5"/>
                  </a:lnTo>
                  <a:lnTo>
                    <a:pt x="138" y="0"/>
                  </a:lnTo>
                  <a:lnTo>
                    <a:pt x="116" y="5"/>
                  </a:lnTo>
                  <a:lnTo>
                    <a:pt x="95" y="19"/>
                  </a:lnTo>
                  <a:lnTo>
                    <a:pt x="76" y="40"/>
                  </a:lnTo>
                  <a:lnTo>
                    <a:pt x="57" y="71"/>
                  </a:lnTo>
                  <a:lnTo>
                    <a:pt x="41" y="107"/>
                  </a:lnTo>
                  <a:lnTo>
                    <a:pt x="26" y="149"/>
                  </a:lnTo>
                  <a:lnTo>
                    <a:pt x="17" y="197"/>
                  </a:lnTo>
                  <a:lnTo>
                    <a:pt x="7" y="249"/>
                  </a:lnTo>
                  <a:lnTo>
                    <a:pt x="3" y="305"/>
                  </a:lnTo>
                  <a:lnTo>
                    <a:pt x="0" y="365"/>
                  </a:lnTo>
                  <a:lnTo>
                    <a:pt x="3" y="424"/>
                  </a:lnTo>
                  <a:lnTo>
                    <a:pt x="7" y="478"/>
                  </a:lnTo>
                  <a:lnTo>
                    <a:pt x="17" y="530"/>
                  </a:lnTo>
                  <a:lnTo>
                    <a:pt x="26" y="580"/>
                  </a:lnTo>
                  <a:lnTo>
                    <a:pt x="41" y="620"/>
                  </a:lnTo>
                  <a:lnTo>
                    <a:pt x="57" y="658"/>
                  </a:lnTo>
                  <a:lnTo>
                    <a:pt x="76" y="687"/>
                  </a:lnTo>
                  <a:lnTo>
                    <a:pt x="95" y="710"/>
                  </a:lnTo>
                  <a:lnTo>
                    <a:pt x="116" y="722"/>
                  </a:lnTo>
                  <a:lnTo>
                    <a:pt x="138" y="727"/>
                  </a:lnTo>
                </a:path>
              </a:pathLst>
            </a:custGeom>
            <a:solidFill>
              <a:srgbClr val="D9D9D9"/>
            </a:solidFill>
            <a:ln w="11160">
              <a:solidFill>
                <a:srgbClr val="EB75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" name="Rectangle 163"/>
            <p:cNvSpPr>
              <a:spLocks noChangeArrowheads="1"/>
            </p:cNvSpPr>
            <p:nvPr/>
          </p:nvSpPr>
          <p:spPr bwMode="auto">
            <a:xfrm>
              <a:off x="2521" y="1563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66" name="Rectangle 164"/>
            <p:cNvSpPr>
              <a:spLocks noChangeArrowheads="1"/>
            </p:cNvSpPr>
            <p:nvPr/>
          </p:nvSpPr>
          <p:spPr bwMode="auto">
            <a:xfrm>
              <a:off x="2570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67" name="Rectangle 165"/>
            <p:cNvSpPr>
              <a:spLocks noChangeArrowheads="1"/>
            </p:cNvSpPr>
            <p:nvPr/>
          </p:nvSpPr>
          <p:spPr bwMode="auto">
            <a:xfrm>
              <a:off x="2603" y="1563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68" name="Rectangle 166"/>
            <p:cNvSpPr>
              <a:spLocks noChangeArrowheads="1"/>
            </p:cNvSpPr>
            <p:nvPr/>
          </p:nvSpPr>
          <p:spPr bwMode="auto">
            <a:xfrm>
              <a:off x="2651" y="156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69" name="Rectangle 167"/>
            <p:cNvSpPr>
              <a:spLocks noChangeArrowheads="1"/>
            </p:cNvSpPr>
            <p:nvPr/>
          </p:nvSpPr>
          <p:spPr bwMode="auto">
            <a:xfrm>
              <a:off x="2667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70" name="Rectangle 168"/>
            <p:cNvSpPr>
              <a:spLocks noChangeArrowheads="1"/>
            </p:cNvSpPr>
            <p:nvPr/>
          </p:nvSpPr>
          <p:spPr bwMode="auto">
            <a:xfrm>
              <a:off x="2700" y="1563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71" name="Rectangle 169"/>
            <p:cNvSpPr>
              <a:spLocks noChangeArrowheads="1"/>
            </p:cNvSpPr>
            <p:nvPr/>
          </p:nvSpPr>
          <p:spPr bwMode="auto">
            <a:xfrm>
              <a:off x="2741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72" name="Rectangle 170"/>
            <p:cNvSpPr>
              <a:spLocks noChangeArrowheads="1"/>
            </p:cNvSpPr>
            <p:nvPr/>
          </p:nvSpPr>
          <p:spPr bwMode="auto">
            <a:xfrm>
              <a:off x="2774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173" name="Rectangle 171"/>
            <p:cNvSpPr>
              <a:spLocks noChangeArrowheads="1"/>
            </p:cNvSpPr>
            <p:nvPr/>
          </p:nvSpPr>
          <p:spPr bwMode="auto">
            <a:xfrm>
              <a:off x="2520" y="16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74" name="Rectangle 172"/>
            <p:cNvSpPr>
              <a:spLocks noChangeArrowheads="1"/>
            </p:cNvSpPr>
            <p:nvPr/>
          </p:nvSpPr>
          <p:spPr bwMode="auto">
            <a:xfrm>
              <a:off x="2561" y="16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175" name="Rectangle 173"/>
            <p:cNvSpPr>
              <a:spLocks noChangeArrowheads="1"/>
            </p:cNvSpPr>
            <p:nvPr/>
          </p:nvSpPr>
          <p:spPr bwMode="auto">
            <a:xfrm>
              <a:off x="2591" y="1650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176" name="Rectangle 174"/>
            <p:cNvSpPr>
              <a:spLocks noChangeArrowheads="1"/>
            </p:cNvSpPr>
            <p:nvPr/>
          </p:nvSpPr>
          <p:spPr bwMode="auto">
            <a:xfrm>
              <a:off x="2634" y="1650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77" name="Rectangle 175"/>
            <p:cNvSpPr>
              <a:spLocks noChangeArrowheads="1"/>
            </p:cNvSpPr>
            <p:nvPr/>
          </p:nvSpPr>
          <p:spPr bwMode="auto">
            <a:xfrm>
              <a:off x="2679" y="16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178" name="Rectangle 176"/>
            <p:cNvSpPr>
              <a:spLocks noChangeArrowheads="1"/>
            </p:cNvSpPr>
            <p:nvPr/>
          </p:nvSpPr>
          <p:spPr bwMode="auto">
            <a:xfrm>
              <a:off x="2521" y="1738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79" name="Rectangle 177"/>
            <p:cNvSpPr>
              <a:spLocks noChangeArrowheads="1"/>
            </p:cNvSpPr>
            <p:nvPr/>
          </p:nvSpPr>
          <p:spPr bwMode="auto">
            <a:xfrm>
              <a:off x="2570" y="173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80" name="Rectangle 178"/>
            <p:cNvSpPr>
              <a:spLocks noChangeArrowheads="1"/>
            </p:cNvSpPr>
            <p:nvPr/>
          </p:nvSpPr>
          <p:spPr bwMode="auto">
            <a:xfrm>
              <a:off x="2603" y="1738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81" name="Rectangle 179"/>
            <p:cNvSpPr>
              <a:spLocks noChangeArrowheads="1"/>
            </p:cNvSpPr>
            <p:nvPr/>
          </p:nvSpPr>
          <p:spPr bwMode="auto">
            <a:xfrm>
              <a:off x="2649" y="1738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182" name="Rectangle 180"/>
            <p:cNvSpPr>
              <a:spLocks noChangeArrowheads="1"/>
            </p:cNvSpPr>
            <p:nvPr/>
          </p:nvSpPr>
          <p:spPr bwMode="auto">
            <a:xfrm>
              <a:off x="2705" y="173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83" name="Rectangle 181"/>
            <p:cNvSpPr>
              <a:spLocks noChangeArrowheads="1"/>
            </p:cNvSpPr>
            <p:nvPr/>
          </p:nvSpPr>
          <p:spPr bwMode="auto">
            <a:xfrm>
              <a:off x="2726" y="1738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84" name="Rectangle 182"/>
            <p:cNvSpPr>
              <a:spLocks noChangeArrowheads="1"/>
            </p:cNvSpPr>
            <p:nvPr/>
          </p:nvSpPr>
          <p:spPr bwMode="auto">
            <a:xfrm>
              <a:off x="2738" y="173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85" name="Rectangle 183"/>
            <p:cNvSpPr>
              <a:spLocks noChangeArrowheads="1"/>
            </p:cNvSpPr>
            <p:nvPr/>
          </p:nvSpPr>
          <p:spPr bwMode="auto">
            <a:xfrm>
              <a:off x="2755" y="173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86" name="Rectangle 184"/>
            <p:cNvSpPr>
              <a:spLocks noChangeArrowheads="1"/>
            </p:cNvSpPr>
            <p:nvPr/>
          </p:nvSpPr>
          <p:spPr bwMode="auto">
            <a:xfrm>
              <a:off x="2520" y="1913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87" name="Rectangle 185"/>
            <p:cNvSpPr>
              <a:spLocks noChangeArrowheads="1"/>
            </p:cNvSpPr>
            <p:nvPr/>
          </p:nvSpPr>
          <p:spPr bwMode="auto">
            <a:xfrm>
              <a:off x="2563" y="19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88" name="Rectangle 186"/>
            <p:cNvSpPr>
              <a:spLocks noChangeArrowheads="1"/>
            </p:cNvSpPr>
            <p:nvPr/>
          </p:nvSpPr>
          <p:spPr bwMode="auto">
            <a:xfrm>
              <a:off x="2596" y="19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189" name="Rectangle 187"/>
            <p:cNvSpPr>
              <a:spLocks noChangeArrowheads="1"/>
            </p:cNvSpPr>
            <p:nvPr/>
          </p:nvSpPr>
          <p:spPr bwMode="auto">
            <a:xfrm>
              <a:off x="2627" y="1913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190" name="Rectangle 188"/>
            <p:cNvSpPr>
              <a:spLocks noChangeArrowheads="1"/>
            </p:cNvSpPr>
            <p:nvPr/>
          </p:nvSpPr>
          <p:spPr bwMode="auto">
            <a:xfrm>
              <a:off x="2684" y="1913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91" name="Rectangle 189"/>
            <p:cNvSpPr>
              <a:spLocks noChangeArrowheads="1"/>
            </p:cNvSpPr>
            <p:nvPr/>
          </p:nvSpPr>
          <p:spPr bwMode="auto">
            <a:xfrm>
              <a:off x="2702" y="1913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92" name="Rectangle 190"/>
            <p:cNvSpPr>
              <a:spLocks noChangeArrowheads="1"/>
            </p:cNvSpPr>
            <p:nvPr/>
          </p:nvSpPr>
          <p:spPr bwMode="auto">
            <a:xfrm>
              <a:off x="2715" y="191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93" name="Rectangle 191"/>
            <p:cNvSpPr>
              <a:spLocks noChangeArrowheads="1"/>
            </p:cNvSpPr>
            <p:nvPr/>
          </p:nvSpPr>
          <p:spPr bwMode="auto">
            <a:xfrm>
              <a:off x="2731" y="19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94" name="Rectangle 192"/>
            <p:cNvSpPr>
              <a:spLocks noChangeArrowheads="1"/>
            </p:cNvSpPr>
            <p:nvPr/>
          </p:nvSpPr>
          <p:spPr bwMode="auto">
            <a:xfrm>
              <a:off x="2521" y="1475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95" name="Rectangle 193"/>
            <p:cNvSpPr>
              <a:spLocks noChangeArrowheads="1"/>
            </p:cNvSpPr>
            <p:nvPr/>
          </p:nvSpPr>
          <p:spPr bwMode="auto">
            <a:xfrm>
              <a:off x="2570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96" name="Rectangle 194"/>
            <p:cNvSpPr>
              <a:spLocks noChangeArrowheads="1"/>
            </p:cNvSpPr>
            <p:nvPr/>
          </p:nvSpPr>
          <p:spPr bwMode="auto">
            <a:xfrm>
              <a:off x="2603" y="1475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97" name="Rectangle 195"/>
            <p:cNvSpPr>
              <a:spLocks noChangeArrowheads="1"/>
            </p:cNvSpPr>
            <p:nvPr/>
          </p:nvSpPr>
          <p:spPr bwMode="auto">
            <a:xfrm>
              <a:off x="2651" y="147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98" name="Rectangle 196"/>
            <p:cNvSpPr>
              <a:spLocks noChangeArrowheads="1"/>
            </p:cNvSpPr>
            <p:nvPr/>
          </p:nvSpPr>
          <p:spPr bwMode="auto">
            <a:xfrm>
              <a:off x="2693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99" name="Rectangle 197"/>
            <p:cNvSpPr>
              <a:spLocks noChangeArrowheads="1"/>
            </p:cNvSpPr>
            <p:nvPr/>
          </p:nvSpPr>
          <p:spPr bwMode="auto">
            <a:xfrm>
              <a:off x="2726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00" name="Rectangle 198"/>
            <p:cNvSpPr>
              <a:spLocks noChangeArrowheads="1"/>
            </p:cNvSpPr>
            <p:nvPr/>
          </p:nvSpPr>
          <p:spPr bwMode="auto">
            <a:xfrm>
              <a:off x="2757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01" name="Rectangle 199"/>
            <p:cNvSpPr>
              <a:spLocks noChangeArrowheads="1"/>
            </p:cNvSpPr>
            <p:nvPr/>
          </p:nvSpPr>
          <p:spPr bwMode="auto">
            <a:xfrm>
              <a:off x="2520" y="1387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B</a:t>
              </a:r>
            </a:p>
          </p:txBody>
        </p:sp>
        <p:sp>
          <p:nvSpPr>
            <p:cNvPr id="202" name="Rectangle 200"/>
            <p:cNvSpPr>
              <a:spLocks noChangeArrowheads="1"/>
            </p:cNvSpPr>
            <p:nvPr/>
          </p:nvSpPr>
          <p:spPr bwMode="auto">
            <a:xfrm>
              <a:off x="2561" y="1387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3" name="Rectangle 201"/>
            <p:cNvSpPr>
              <a:spLocks noChangeArrowheads="1"/>
            </p:cNvSpPr>
            <p:nvPr/>
          </p:nvSpPr>
          <p:spPr bwMode="auto">
            <a:xfrm>
              <a:off x="2580" y="13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04" name="Rectangle 202"/>
            <p:cNvSpPr>
              <a:spLocks noChangeArrowheads="1"/>
            </p:cNvSpPr>
            <p:nvPr/>
          </p:nvSpPr>
          <p:spPr bwMode="auto">
            <a:xfrm>
              <a:off x="2613" y="13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05" name="Rectangle 203"/>
            <p:cNvSpPr>
              <a:spLocks noChangeArrowheads="1"/>
            </p:cNvSpPr>
            <p:nvPr/>
          </p:nvSpPr>
          <p:spPr bwMode="auto">
            <a:xfrm>
              <a:off x="2643" y="1387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06" name="Rectangle 204"/>
            <p:cNvSpPr>
              <a:spLocks noChangeArrowheads="1"/>
            </p:cNvSpPr>
            <p:nvPr/>
          </p:nvSpPr>
          <p:spPr bwMode="auto">
            <a:xfrm>
              <a:off x="2674" y="13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h</a:t>
              </a:r>
            </a:p>
          </p:txBody>
        </p:sp>
        <p:sp>
          <p:nvSpPr>
            <p:cNvPr id="207" name="Rectangle 205"/>
            <p:cNvSpPr>
              <a:spLocks noChangeArrowheads="1"/>
            </p:cNvSpPr>
            <p:nvPr/>
          </p:nvSpPr>
          <p:spPr bwMode="auto">
            <a:xfrm>
              <a:off x="2520" y="1309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8" name="Rectangle 206"/>
            <p:cNvSpPr>
              <a:spLocks noChangeArrowheads="1"/>
            </p:cNvSpPr>
            <p:nvPr/>
          </p:nvSpPr>
          <p:spPr bwMode="auto">
            <a:xfrm>
              <a:off x="2563" y="130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09" name="Rectangle 207"/>
            <p:cNvSpPr>
              <a:spLocks noChangeArrowheads="1"/>
            </p:cNvSpPr>
            <p:nvPr/>
          </p:nvSpPr>
          <p:spPr bwMode="auto">
            <a:xfrm>
              <a:off x="2594" y="130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210" name="Rectangle 208"/>
            <p:cNvSpPr>
              <a:spLocks noChangeArrowheads="1"/>
            </p:cNvSpPr>
            <p:nvPr/>
          </p:nvSpPr>
          <p:spPr bwMode="auto">
            <a:xfrm>
              <a:off x="2627" y="1309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11" name="Rectangle 209"/>
            <p:cNvSpPr>
              <a:spLocks noChangeArrowheads="1"/>
            </p:cNvSpPr>
            <p:nvPr/>
          </p:nvSpPr>
          <p:spPr bwMode="auto">
            <a:xfrm>
              <a:off x="2670" y="1309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12" name="Rectangle 210"/>
            <p:cNvSpPr>
              <a:spLocks noChangeArrowheads="1"/>
            </p:cNvSpPr>
            <p:nvPr/>
          </p:nvSpPr>
          <p:spPr bwMode="auto">
            <a:xfrm>
              <a:off x="2698" y="130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13" name="Rectangle 211"/>
            <p:cNvSpPr>
              <a:spLocks noChangeArrowheads="1"/>
            </p:cNvSpPr>
            <p:nvPr/>
          </p:nvSpPr>
          <p:spPr bwMode="auto">
            <a:xfrm>
              <a:off x="2520" y="1825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14" name="Rectangle 212"/>
            <p:cNvSpPr>
              <a:spLocks noChangeArrowheads="1"/>
            </p:cNvSpPr>
            <p:nvPr/>
          </p:nvSpPr>
          <p:spPr bwMode="auto">
            <a:xfrm>
              <a:off x="2561" y="182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215" name="Rectangle 213"/>
            <p:cNvSpPr>
              <a:spLocks noChangeArrowheads="1"/>
            </p:cNvSpPr>
            <p:nvPr/>
          </p:nvSpPr>
          <p:spPr bwMode="auto">
            <a:xfrm>
              <a:off x="2591" y="182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16" name="Rectangle 214"/>
            <p:cNvSpPr>
              <a:spLocks noChangeArrowheads="1"/>
            </p:cNvSpPr>
            <p:nvPr/>
          </p:nvSpPr>
          <p:spPr bwMode="auto">
            <a:xfrm>
              <a:off x="2633" y="1825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17" name="Rectangle 215"/>
            <p:cNvSpPr>
              <a:spLocks noChangeArrowheads="1"/>
            </p:cNvSpPr>
            <p:nvPr/>
          </p:nvSpPr>
          <p:spPr bwMode="auto">
            <a:xfrm>
              <a:off x="2674" y="1825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18" name="Rectangle 216"/>
            <p:cNvSpPr>
              <a:spLocks noChangeArrowheads="1"/>
            </p:cNvSpPr>
            <p:nvPr/>
          </p:nvSpPr>
          <p:spPr bwMode="auto">
            <a:xfrm>
              <a:off x="2693" y="182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19" name="Rectangle 217"/>
            <p:cNvSpPr>
              <a:spLocks noChangeArrowheads="1"/>
            </p:cNvSpPr>
            <p:nvPr/>
          </p:nvSpPr>
          <p:spPr bwMode="auto">
            <a:xfrm>
              <a:off x="1662" y="1565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20" name="Rectangle 218"/>
            <p:cNvSpPr>
              <a:spLocks noChangeArrowheads="1"/>
            </p:cNvSpPr>
            <p:nvPr/>
          </p:nvSpPr>
          <p:spPr bwMode="auto">
            <a:xfrm>
              <a:off x="1677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21" name="Rectangle 219"/>
            <p:cNvSpPr>
              <a:spLocks noChangeArrowheads="1"/>
            </p:cNvSpPr>
            <p:nvPr/>
          </p:nvSpPr>
          <p:spPr bwMode="auto">
            <a:xfrm>
              <a:off x="1710" y="156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22" name="Rectangle 220"/>
            <p:cNvSpPr>
              <a:spLocks noChangeArrowheads="1"/>
            </p:cNvSpPr>
            <p:nvPr/>
          </p:nvSpPr>
          <p:spPr bwMode="auto">
            <a:xfrm>
              <a:off x="1739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23" name="Rectangle 221"/>
            <p:cNvSpPr>
              <a:spLocks noChangeArrowheads="1"/>
            </p:cNvSpPr>
            <p:nvPr/>
          </p:nvSpPr>
          <p:spPr bwMode="auto">
            <a:xfrm>
              <a:off x="1755" y="1565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24" name="Rectangle 222"/>
            <p:cNvSpPr>
              <a:spLocks noChangeArrowheads="1"/>
            </p:cNvSpPr>
            <p:nvPr/>
          </p:nvSpPr>
          <p:spPr bwMode="auto">
            <a:xfrm>
              <a:off x="1774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25" name="Rectangle 223"/>
            <p:cNvSpPr>
              <a:spLocks noChangeArrowheads="1"/>
            </p:cNvSpPr>
            <p:nvPr/>
          </p:nvSpPr>
          <p:spPr bwMode="auto">
            <a:xfrm>
              <a:off x="1808" y="156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26" name="Rectangle 224"/>
            <p:cNvSpPr>
              <a:spLocks noChangeArrowheads="1"/>
            </p:cNvSpPr>
            <p:nvPr/>
          </p:nvSpPr>
          <p:spPr bwMode="auto">
            <a:xfrm>
              <a:off x="1836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27" name="Rectangle 225"/>
            <p:cNvSpPr>
              <a:spLocks noChangeArrowheads="1"/>
            </p:cNvSpPr>
            <p:nvPr/>
          </p:nvSpPr>
          <p:spPr bwMode="auto">
            <a:xfrm>
              <a:off x="1852" y="1565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28" name="Rectangle 226"/>
            <p:cNvSpPr>
              <a:spLocks noChangeArrowheads="1"/>
            </p:cNvSpPr>
            <p:nvPr/>
          </p:nvSpPr>
          <p:spPr bwMode="auto">
            <a:xfrm>
              <a:off x="1867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29" name="Rectangle 227"/>
            <p:cNvSpPr>
              <a:spLocks noChangeArrowheads="1"/>
            </p:cNvSpPr>
            <p:nvPr/>
          </p:nvSpPr>
          <p:spPr bwMode="auto">
            <a:xfrm>
              <a:off x="1898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30" name="Rectangle 228"/>
            <p:cNvSpPr>
              <a:spLocks noChangeArrowheads="1"/>
            </p:cNvSpPr>
            <p:nvPr/>
          </p:nvSpPr>
          <p:spPr bwMode="auto">
            <a:xfrm>
              <a:off x="1931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31" name="Rectangle 229"/>
            <p:cNvSpPr>
              <a:spLocks noChangeArrowheads="1"/>
            </p:cNvSpPr>
            <p:nvPr/>
          </p:nvSpPr>
          <p:spPr bwMode="auto">
            <a:xfrm>
              <a:off x="1947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232" name="Rectangle 230"/>
            <p:cNvSpPr>
              <a:spLocks noChangeArrowheads="1"/>
            </p:cNvSpPr>
            <p:nvPr/>
          </p:nvSpPr>
          <p:spPr bwMode="auto">
            <a:xfrm>
              <a:off x="1964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233" name="Rectangle 231"/>
            <p:cNvSpPr>
              <a:spLocks noChangeArrowheads="1"/>
            </p:cNvSpPr>
            <p:nvPr/>
          </p:nvSpPr>
          <p:spPr bwMode="auto">
            <a:xfrm>
              <a:off x="1995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34" name="Rectangle 232"/>
            <p:cNvSpPr>
              <a:spLocks noChangeArrowheads="1"/>
            </p:cNvSpPr>
            <p:nvPr/>
          </p:nvSpPr>
          <p:spPr bwMode="auto">
            <a:xfrm>
              <a:off x="2028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35" name="Rectangle 233"/>
            <p:cNvSpPr>
              <a:spLocks noChangeArrowheads="1"/>
            </p:cNvSpPr>
            <p:nvPr/>
          </p:nvSpPr>
          <p:spPr bwMode="auto">
            <a:xfrm>
              <a:off x="2044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36" name="Rectangle 234"/>
            <p:cNvSpPr>
              <a:spLocks noChangeArrowheads="1"/>
            </p:cNvSpPr>
            <p:nvPr/>
          </p:nvSpPr>
          <p:spPr bwMode="auto">
            <a:xfrm>
              <a:off x="2061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237" name="Rectangle 235"/>
            <p:cNvSpPr>
              <a:spLocks noChangeArrowheads="1"/>
            </p:cNvSpPr>
            <p:nvPr/>
          </p:nvSpPr>
          <p:spPr bwMode="auto">
            <a:xfrm>
              <a:off x="2094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6</a:t>
              </a:r>
            </a:p>
          </p:txBody>
        </p:sp>
        <p:sp>
          <p:nvSpPr>
            <p:cNvPr id="238" name="Rectangle 236"/>
            <p:cNvSpPr>
              <a:spLocks noChangeArrowheads="1"/>
            </p:cNvSpPr>
            <p:nvPr/>
          </p:nvSpPr>
          <p:spPr bwMode="auto">
            <a:xfrm>
              <a:off x="2125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239" name="Freeform 237"/>
            <p:cNvSpPr>
              <a:spLocks noChangeArrowheads="1"/>
            </p:cNvSpPr>
            <p:nvPr/>
          </p:nvSpPr>
          <p:spPr bwMode="auto">
            <a:xfrm>
              <a:off x="633" y="2166"/>
              <a:ext cx="28" cy="28"/>
            </a:xfrm>
            <a:custGeom>
              <a:avLst/>
              <a:gdLst>
                <a:gd name="T0" fmla="*/ 14 w 28"/>
                <a:gd name="T1" fmla="*/ 28 h 28"/>
                <a:gd name="T2" fmla="*/ 17 w 28"/>
                <a:gd name="T3" fmla="*/ 28 h 28"/>
                <a:gd name="T4" fmla="*/ 19 w 28"/>
                <a:gd name="T5" fmla="*/ 28 h 28"/>
                <a:gd name="T6" fmla="*/ 21 w 28"/>
                <a:gd name="T7" fmla="*/ 28 h 28"/>
                <a:gd name="T8" fmla="*/ 24 w 28"/>
                <a:gd name="T9" fmla="*/ 26 h 28"/>
                <a:gd name="T10" fmla="*/ 26 w 28"/>
                <a:gd name="T11" fmla="*/ 26 h 28"/>
                <a:gd name="T12" fmla="*/ 26 w 28"/>
                <a:gd name="T13" fmla="*/ 24 h 28"/>
                <a:gd name="T14" fmla="*/ 28 w 28"/>
                <a:gd name="T15" fmla="*/ 21 h 28"/>
                <a:gd name="T16" fmla="*/ 28 w 28"/>
                <a:gd name="T17" fmla="*/ 19 h 28"/>
                <a:gd name="T18" fmla="*/ 28 w 28"/>
                <a:gd name="T19" fmla="*/ 16 h 28"/>
                <a:gd name="T20" fmla="*/ 28 w 28"/>
                <a:gd name="T21" fmla="*/ 14 h 28"/>
                <a:gd name="T22" fmla="*/ 28 w 28"/>
                <a:gd name="T23" fmla="*/ 12 h 28"/>
                <a:gd name="T24" fmla="*/ 28 w 28"/>
                <a:gd name="T25" fmla="*/ 9 h 28"/>
                <a:gd name="T26" fmla="*/ 28 w 28"/>
                <a:gd name="T27" fmla="*/ 7 h 28"/>
                <a:gd name="T28" fmla="*/ 26 w 28"/>
                <a:gd name="T29" fmla="*/ 7 h 28"/>
                <a:gd name="T30" fmla="*/ 26 w 28"/>
                <a:gd name="T31" fmla="*/ 5 h 28"/>
                <a:gd name="T32" fmla="*/ 24 w 28"/>
                <a:gd name="T33" fmla="*/ 2 h 28"/>
                <a:gd name="T34" fmla="*/ 21 w 28"/>
                <a:gd name="T35" fmla="*/ 2 h 28"/>
                <a:gd name="T36" fmla="*/ 19 w 28"/>
                <a:gd name="T37" fmla="*/ 0 h 28"/>
                <a:gd name="T38" fmla="*/ 17 w 28"/>
                <a:gd name="T39" fmla="*/ 0 h 28"/>
                <a:gd name="T40" fmla="*/ 14 w 28"/>
                <a:gd name="T41" fmla="*/ 0 h 28"/>
                <a:gd name="T42" fmla="*/ 12 w 28"/>
                <a:gd name="T43" fmla="*/ 0 h 28"/>
                <a:gd name="T44" fmla="*/ 9 w 28"/>
                <a:gd name="T45" fmla="*/ 0 h 28"/>
                <a:gd name="T46" fmla="*/ 7 w 28"/>
                <a:gd name="T47" fmla="*/ 2 h 28"/>
                <a:gd name="T48" fmla="*/ 7 w 28"/>
                <a:gd name="T49" fmla="*/ 2 h 28"/>
                <a:gd name="T50" fmla="*/ 5 w 28"/>
                <a:gd name="T51" fmla="*/ 5 h 28"/>
                <a:gd name="T52" fmla="*/ 2 w 28"/>
                <a:gd name="T53" fmla="*/ 7 h 28"/>
                <a:gd name="T54" fmla="*/ 2 w 28"/>
                <a:gd name="T55" fmla="*/ 7 h 28"/>
                <a:gd name="T56" fmla="*/ 0 w 28"/>
                <a:gd name="T57" fmla="*/ 9 h 28"/>
                <a:gd name="T58" fmla="*/ 0 w 28"/>
                <a:gd name="T59" fmla="*/ 12 h 28"/>
                <a:gd name="T60" fmla="*/ 0 w 28"/>
                <a:gd name="T61" fmla="*/ 14 h 28"/>
                <a:gd name="T62" fmla="*/ 0 w 28"/>
                <a:gd name="T63" fmla="*/ 16 h 28"/>
                <a:gd name="T64" fmla="*/ 0 w 28"/>
                <a:gd name="T65" fmla="*/ 19 h 28"/>
                <a:gd name="T66" fmla="*/ 2 w 28"/>
                <a:gd name="T67" fmla="*/ 21 h 28"/>
                <a:gd name="T68" fmla="*/ 2 w 28"/>
                <a:gd name="T69" fmla="*/ 24 h 28"/>
                <a:gd name="T70" fmla="*/ 5 w 28"/>
                <a:gd name="T71" fmla="*/ 26 h 28"/>
                <a:gd name="T72" fmla="*/ 7 w 28"/>
                <a:gd name="T73" fmla="*/ 26 h 28"/>
                <a:gd name="T74" fmla="*/ 7 w 28"/>
                <a:gd name="T75" fmla="*/ 28 h 28"/>
                <a:gd name="T76" fmla="*/ 9 w 28"/>
                <a:gd name="T77" fmla="*/ 28 h 28"/>
                <a:gd name="T78" fmla="*/ 12 w 28"/>
                <a:gd name="T79" fmla="*/ 28 h 28"/>
                <a:gd name="T80" fmla="*/ 14 w 28"/>
                <a:gd name="T81" fmla="*/ 28 h 28"/>
                <a:gd name="T82" fmla="*/ 14 w 28"/>
                <a:gd name="T83" fmla="*/ 28 h 2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8"/>
                <a:gd name="T127" fmla="*/ 0 h 28"/>
                <a:gd name="T128" fmla="*/ 28 w 28"/>
                <a:gd name="T129" fmla="*/ 28 h 2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8" h="28">
                  <a:moveTo>
                    <a:pt x="14" y="28"/>
                  </a:moveTo>
                  <a:lnTo>
                    <a:pt x="17" y="28"/>
                  </a:lnTo>
                  <a:lnTo>
                    <a:pt x="19" y="28"/>
                  </a:lnTo>
                  <a:lnTo>
                    <a:pt x="21" y="28"/>
                  </a:lnTo>
                  <a:lnTo>
                    <a:pt x="24" y="26"/>
                  </a:lnTo>
                  <a:lnTo>
                    <a:pt x="26" y="26"/>
                  </a:lnTo>
                  <a:lnTo>
                    <a:pt x="26" y="24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8" y="16"/>
                  </a:lnTo>
                  <a:lnTo>
                    <a:pt x="28" y="14"/>
                  </a:lnTo>
                  <a:lnTo>
                    <a:pt x="28" y="12"/>
                  </a:lnTo>
                  <a:lnTo>
                    <a:pt x="28" y="9"/>
                  </a:lnTo>
                  <a:lnTo>
                    <a:pt x="28" y="7"/>
                  </a:lnTo>
                  <a:lnTo>
                    <a:pt x="26" y="7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7" y="26"/>
                  </a:lnTo>
                  <a:lnTo>
                    <a:pt x="7" y="28"/>
                  </a:lnTo>
                  <a:lnTo>
                    <a:pt x="9" y="28"/>
                  </a:lnTo>
                  <a:lnTo>
                    <a:pt x="12" y="28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0" name="Freeform 238"/>
            <p:cNvSpPr>
              <a:spLocks noChangeArrowheads="1"/>
            </p:cNvSpPr>
            <p:nvPr/>
          </p:nvSpPr>
          <p:spPr bwMode="auto">
            <a:xfrm>
              <a:off x="979" y="1043"/>
              <a:ext cx="28" cy="31"/>
            </a:xfrm>
            <a:custGeom>
              <a:avLst/>
              <a:gdLst>
                <a:gd name="T0" fmla="*/ 0 w 28"/>
                <a:gd name="T1" fmla="*/ 0 h 31"/>
                <a:gd name="T2" fmla="*/ 0 w 28"/>
                <a:gd name="T3" fmla="*/ 31 h 31"/>
                <a:gd name="T4" fmla="*/ 28 w 28"/>
                <a:gd name="T5" fmla="*/ 17 h 31"/>
                <a:gd name="T6" fmla="*/ 0 w 28"/>
                <a:gd name="T7" fmla="*/ 0 h 31"/>
                <a:gd name="T8" fmla="*/ 0 w 28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31"/>
                <a:gd name="T17" fmla="*/ 28 w 28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31">
                  <a:moveTo>
                    <a:pt x="0" y="0"/>
                  </a:moveTo>
                  <a:lnTo>
                    <a:pt x="0" y="31"/>
                  </a:lnTo>
                  <a:lnTo>
                    <a:pt x="28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1" name="Freeform 239"/>
            <p:cNvSpPr>
              <a:spLocks noChangeArrowheads="1"/>
            </p:cNvSpPr>
            <p:nvPr/>
          </p:nvSpPr>
          <p:spPr bwMode="auto">
            <a:xfrm>
              <a:off x="979" y="1394"/>
              <a:ext cx="28" cy="31"/>
            </a:xfrm>
            <a:custGeom>
              <a:avLst/>
              <a:gdLst>
                <a:gd name="T0" fmla="*/ 0 w 28"/>
                <a:gd name="T1" fmla="*/ 0 h 31"/>
                <a:gd name="T2" fmla="*/ 0 w 28"/>
                <a:gd name="T3" fmla="*/ 31 h 31"/>
                <a:gd name="T4" fmla="*/ 28 w 28"/>
                <a:gd name="T5" fmla="*/ 17 h 31"/>
                <a:gd name="T6" fmla="*/ 0 w 28"/>
                <a:gd name="T7" fmla="*/ 0 h 31"/>
                <a:gd name="T8" fmla="*/ 0 w 28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31"/>
                <a:gd name="T17" fmla="*/ 28 w 28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31">
                  <a:moveTo>
                    <a:pt x="0" y="0"/>
                  </a:moveTo>
                  <a:lnTo>
                    <a:pt x="0" y="31"/>
                  </a:lnTo>
                  <a:lnTo>
                    <a:pt x="28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" name="Rectangle 240"/>
            <p:cNvSpPr>
              <a:spLocks noChangeArrowheads="1"/>
            </p:cNvSpPr>
            <p:nvPr/>
          </p:nvSpPr>
          <p:spPr bwMode="auto">
            <a:xfrm>
              <a:off x="822" y="13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4</a:t>
              </a:r>
            </a:p>
          </p:txBody>
        </p:sp>
        <p:sp>
          <p:nvSpPr>
            <p:cNvPr id="243" name="Line 241"/>
            <p:cNvSpPr>
              <a:spLocks noChangeShapeType="1"/>
            </p:cNvSpPr>
            <p:nvPr/>
          </p:nvSpPr>
          <p:spPr bwMode="auto">
            <a:xfrm flipH="1">
              <a:off x="3336" y="944"/>
              <a:ext cx="412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Freeform 242"/>
            <p:cNvSpPr>
              <a:spLocks noChangeArrowheads="1"/>
            </p:cNvSpPr>
            <p:nvPr/>
          </p:nvSpPr>
          <p:spPr bwMode="auto">
            <a:xfrm>
              <a:off x="3775" y="826"/>
              <a:ext cx="365" cy="589"/>
            </a:xfrm>
            <a:custGeom>
              <a:avLst/>
              <a:gdLst>
                <a:gd name="T0" fmla="*/ 0 w 365"/>
                <a:gd name="T1" fmla="*/ 0 h 589"/>
                <a:gd name="T2" fmla="*/ 0 w 365"/>
                <a:gd name="T3" fmla="*/ 239 h 589"/>
                <a:gd name="T4" fmla="*/ 62 w 365"/>
                <a:gd name="T5" fmla="*/ 296 h 589"/>
                <a:gd name="T6" fmla="*/ 0 w 365"/>
                <a:gd name="T7" fmla="*/ 352 h 589"/>
                <a:gd name="T8" fmla="*/ 0 w 365"/>
                <a:gd name="T9" fmla="*/ 589 h 589"/>
                <a:gd name="T10" fmla="*/ 365 w 365"/>
                <a:gd name="T11" fmla="*/ 409 h 589"/>
                <a:gd name="T12" fmla="*/ 365 w 365"/>
                <a:gd name="T13" fmla="*/ 180 h 589"/>
                <a:gd name="T14" fmla="*/ 0 w 365"/>
                <a:gd name="T15" fmla="*/ 2 h 589"/>
                <a:gd name="T16" fmla="*/ 0 w 365"/>
                <a:gd name="T17" fmla="*/ 2 h 589"/>
                <a:gd name="T18" fmla="*/ 0 w 365"/>
                <a:gd name="T19" fmla="*/ 0 h 5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5"/>
                <a:gd name="T31" fmla="*/ 0 h 589"/>
                <a:gd name="T32" fmla="*/ 365 w 365"/>
                <a:gd name="T33" fmla="*/ 589 h 5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5" h="589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2"/>
                  </a:lnTo>
                  <a:lnTo>
                    <a:pt x="0" y="589"/>
                  </a:lnTo>
                  <a:lnTo>
                    <a:pt x="365" y="409"/>
                  </a:lnTo>
                  <a:lnTo>
                    <a:pt x="365" y="180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" name="Freeform 243"/>
            <p:cNvSpPr>
              <a:spLocks noChangeArrowheads="1"/>
            </p:cNvSpPr>
            <p:nvPr/>
          </p:nvSpPr>
          <p:spPr bwMode="auto">
            <a:xfrm>
              <a:off x="3775" y="826"/>
              <a:ext cx="365" cy="589"/>
            </a:xfrm>
            <a:custGeom>
              <a:avLst/>
              <a:gdLst>
                <a:gd name="T0" fmla="*/ 0 w 365"/>
                <a:gd name="T1" fmla="*/ 0 h 589"/>
                <a:gd name="T2" fmla="*/ 0 w 365"/>
                <a:gd name="T3" fmla="*/ 239 h 589"/>
                <a:gd name="T4" fmla="*/ 62 w 365"/>
                <a:gd name="T5" fmla="*/ 296 h 589"/>
                <a:gd name="T6" fmla="*/ 0 w 365"/>
                <a:gd name="T7" fmla="*/ 352 h 589"/>
                <a:gd name="T8" fmla="*/ 0 w 365"/>
                <a:gd name="T9" fmla="*/ 589 h 589"/>
                <a:gd name="T10" fmla="*/ 365 w 365"/>
                <a:gd name="T11" fmla="*/ 409 h 589"/>
                <a:gd name="T12" fmla="*/ 365 w 365"/>
                <a:gd name="T13" fmla="*/ 180 h 589"/>
                <a:gd name="T14" fmla="*/ 0 w 365"/>
                <a:gd name="T15" fmla="*/ 2 h 589"/>
                <a:gd name="T16" fmla="*/ 0 w 365"/>
                <a:gd name="T17" fmla="*/ 2 h 5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5"/>
                <a:gd name="T28" fmla="*/ 0 h 589"/>
                <a:gd name="T29" fmla="*/ 365 w 365"/>
                <a:gd name="T30" fmla="*/ 589 h 58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5" h="589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2"/>
                  </a:lnTo>
                  <a:lnTo>
                    <a:pt x="0" y="589"/>
                  </a:lnTo>
                  <a:lnTo>
                    <a:pt x="365" y="409"/>
                  </a:lnTo>
                  <a:lnTo>
                    <a:pt x="365" y="180"/>
                  </a:lnTo>
                  <a:lnTo>
                    <a:pt x="0" y="2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" name="Line 244"/>
            <p:cNvSpPr>
              <a:spLocks noChangeShapeType="1"/>
            </p:cNvSpPr>
            <p:nvPr/>
          </p:nvSpPr>
          <p:spPr bwMode="auto">
            <a:xfrm flipH="1">
              <a:off x="4139" y="1119"/>
              <a:ext cx="419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Freeform 245"/>
            <p:cNvSpPr>
              <a:spLocks noChangeArrowheads="1"/>
            </p:cNvSpPr>
            <p:nvPr/>
          </p:nvSpPr>
          <p:spPr bwMode="auto">
            <a:xfrm>
              <a:off x="4543" y="776"/>
              <a:ext cx="30" cy="31"/>
            </a:xfrm>
            <a:custGeom>
              <a:avLst/>
              <a:gdLst>
                <a:gd name="T0" fmla="*/ 0 w 30"/>
                <a:gd name="T1" fmla="*/ 0 h 31"/>
                <a:gd name="T2" fmla="*/ 0 w 30"/>
                <a:gd name="T3" fmla="*/ 31 h 31"/>
                <a:gd name="T4" fmla="*/ 30 w 30"/>
                <a:gd name="T5" fmla="*/ 16 h 31"/>
                <a:gd name="T6" fmla="*/ 0 w 30"/>
                <a:gd name="T7" fmla="*/ 2 h 31"/>
                <a:gd name="T8" fmla="*/ 0 w 30"/>
                <a:gd name="T9" fmla="*/ 2 h 31"/>
                <a:gd name="T10" fmla="*/ 0 w 30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"/>
                <a:gd name="T19" fmla="*/ 0 h 31"/>
                <a:gd name="T20" fmla="*/ 30 w 30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" h="31">
                  <a:moveTo>
                    <a:pt x="0" y="0"/>
                  </a:moveTo>
                  <a:lnTo>
                    <a:pt x="0" y="31"/>
                  </a:lnTo>
                  <a:lnTo>
                    <a:pt x="30" y="1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" name="Freeform 246"/>
            <p:cNvSpPr>
              <a:spLocks noChangeArrowheads="1"/>
            </p:cNvSpPr>
            <p:nvPr/>
          </p:nvSpPr>
          <p:spPr bwMode="auto">
            <a:xfrm>
              <a:off x="4543" y="1105"/>
              <a:ext cx="30" cy="31"/>
            </a:xfrm>
            <a:custGeom>
              <a:avLst/>
              <a:gdLst>
                <a:gd name="T0" fmla="*/ 0 w 30"/>
                <a:gd name="T1" fmla="*/ 0 h 31"/>
                <a:gd name="T2" fmla="*/ 0 w 30"/>
                <a:gd name="T3" fmla="*/ 31 h 31"/>
                <a:gd name="T4" fmla="*/ 30 w 30"/>
                <a:gd name="T5" fmla="*/ 17 h 31"/>
                <a:gd name="T6" fmla="*/ 0 w 30"/>
                <a:gd name="T7" fmla="*/ 0 h 31"/>
                <a:gd name="T8" fmla="*/ 0 w 30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31"/>
                <a:gd name="T17" fmla="*/ 30 w 30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31">
                  <a:moveTo>
                    <a:pt x="0" y="0"/>
                  </a:moveTo>
                  <a:lnTo>
                    <a:pt x="0" y="31"/>
                  </a:lnTo>
                  <a:lnTo>
                    <a:pt x="3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" name="Freeform 247"/>
            <p:cNvSpPr>
              <a:spLocks noChangeArrowheads="1"/>
            </p:cNvSpPr>
            <p:nvPr/>
          </p:nvSpPr>
          <p:spPr bwMode="auto">
            <a:xfrm>
              <a:off x="4576" y="738"/>
              <a:ext cx="111" cy="438"/>
            </a:xfrm>
            <a:custGeom>
              <a:avLst/>
              <a:gdLst>
                <a:gd name="T0" fmla="*/ 0 w 111"/>
                <a:gd name="T1" fmla="*/ 54 h 438"/>
                <a:gd name="T2" fmla="*/ 2 w 111"/>
                <a:gd name="T3" fmla="*/ 45 h 438"/>
                <a:gd name="T4" fmla="*/ 5 w 111"/>
                <a:gd name="T5" fmla="*/ 38 h 438"/>
                <a:gd name="T6" fmla="*/ 7 w 111"/>
                <a:gd name="T7" fmla="*/ 28 h 438"/>
                <a:gd name="T8" fmla="*/ 12 w 111"/>
                <a:gd name="T9" fmla="*/ 21 h 438"/>
                <a:gd name="T10" fmla="*/ 16 w 111"/>
                <a:gd name="T11" fmla="*/ 17 h 438"/>
                <a:gd name="T12" fmla="*/ 24 w 111"/>
                <a:gd name="T13" fmla="*/ 10 h 438"/>
                <a:gd name="T14" fmla="*/ 31 w 111"/>
                <a:gd name="T15" fmla="*/ 7 h 438"/>
                <a:gd name="T16" fmla="*/ 38 w 111"/>
                <a:gd name="T17" fmla="*/ 2 h 438"/>
                <a:gd name="T18" fmla="*/ 47 w 111"/>
                <a:gd name="T19" fmla="*/ 0 h 438"/>
                <a:gd name="T20" fmla="*/ 57 w 111"/>
                <a:gd name="T21" fmla="*/ 0 h 438"/>
                <a:gd name="T22" fmla="*/ 64 w 111"/>
                <a:gd name="T23" fmla="*/ 0 h 438"/>
                <a:gd name="T24" fmla="*/ 73 w 111"/>
                <a:gd name="T25" fmla="*/ 2 h 438"/>
                <a:gd name="T26" fmla="*/ 80 w 111"/>
                <a:gd name="T27" fmla="*/ 7 h 438"/>
                <a:gd name="T28" fmla="*/ 87 w 111"/>
                <a:gd name="T29" fmla="*/ 10 h 438"/>
                <a:gd name="T30" fmla="*/ 95 w 111"/>
                <a:gd name="T31" fmla="*/ 17 h 438"/>
                <a:gd name="T32" fmla="*/ 99 w 111"/>
                <a:gd name="T33" fmla="*/ 21 h 438"/>
                <a:gd name="T34" fmla="*/ 104 w 111"/>
                <a:gd name="T35" fmla="*/ 28 h 438"/>
                <a:gd name="T36" fmla="*/ 106 w 111"/>
                <a:gd name="T37" fmla="*/ 38 h 438"/>
                <a:gd name="T38" fmla="*/ 109 w 111"/>
                <a:gd name="T39" fmla="*/ 45 h 438"/>
                <a:gd name="T40" fmla="*/ 111 w 111"/>
                <a:gd name="T41" fmla="*/ 54 h 438"/>
                <a:gd name="T42" fmla="*/ 111 w 111"/>
                <a:gd name="T43" fmla="*/ 384 h 438"/>
                <a:gd name="T44" fmla="*/ 109 w 111"/>
                <a:gd name="T45" fmla="*/ 391 h 438"/>
                <a:gd name="T46" fmla="*/ 106 w 111"/>
                <a:gd name="T47" fmla="*/ 400 h 438"/>
                <a:gd name="T48" fmla="*/ 104 w 111"/>
                <a:gd name="T49" fmla="*/ 407 h 438"/>
                <a:gd name="T50" fmla="*/ 99 w 111"/>
                <a:gd name="T51" fmla="*/ 414 h 438"/>
                <a:gd name="T52" fmla="*/ 95 w 111"/>
                <a:gd name="T53" fmla="*/ 422 h 438"/>
                <a:gd name="T54" fmla="*/ 87 w 111"/>
                <a:gd name="T55" fmla="*/ 426 h 438"/>
                <a:gd name="T56" fmla="*/ 80 w 111"/>
                <a:gd name="T57" fmla="*/ 431 h 438"/>
                <a:gd name="T58" fmla="*/ 73 w 111"/>
                <a:gd name="T59" fmla="*/ 433 h 438"/>
                <a:gd name="T60" fmla="*/ 64 w 111"/>
                <a:gd name="T61" fmla="*/ 436 h 438"/>
                <a:gd name="T62" fmla="*/ 57 w 111"/>
                <a:gd name="T63" fmla="*/ 438 h 438"/>
                <a:gd name="T64" fmla="*/ 47 w 111"/>
                <a:gd name="T65" fmla="*/ 436 h 438"/>
                <a:gd name="T66" fmla="*/ 38 w 111"/>
                <a:gd name="T67" fmla="*/ 433 h 438"/>
                <a:gd name="T68" fmla="*/ 31 w 111"/>
                <a:gd name="T69" fmla="*/ 431 h 438"/>
                <a:gd name="T70" fmla="*/ 24 w 111"/>
                <a:gd name="T71" fmla="*/ 426 h 438"/>
                <a:gd name="T72" fmla="*/ 16 w 111"/>
                <a:gd name="T73" fmla="*/ 422 h 438"/>
                <a:gd name="T74" fmla="*/ 12 w 111"/>
                <a:gd name="T75" fmla="*/ 414 h 438"/>
                <a:gd name="T76" fmla="*/ 7 w 111"/>
                <a:gd name="T77" fmla="*/ 407 h 438"/>
                <a:gd name="T78" fmla="*/ 5 w 111"/>
                <a:gd name="T79" fmla="*/ 400 h 438"/>
                <a:gd name="T80" fmla="*/ 2 w 111"/>
                <a:gd name="T81" fmla="*/ 391 h 438"/>
                <a:gd name="T82" fmla="*/ 2 w 111"/>
                <a:gd name="T83" fmla="*/ 384 h 438"/>
                <a:gd name="T84" fmla="*/ 2 w 111"/>
                <a:gd name="T85" fmla="*/ 54 h 438"/>
                <a:gd name="T86" fmla="*/ 2 w 111"/>
                <a:gd name="T87" fmla="*/ 54 h 438"/>
                <a:gd name="T88" fmla="*/ 0 w 111"/>
                <a:gd name="T89" fmla="*/ 54 h 43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11"/>
                <a:gd name="T136" fmla="*/ 0 h 438"/>
                <a:gd name="T137" fmla="*/ 111 w 111"/>
                <a:gd name="T138" fmla="*/ 438 h 43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11" h="438">
                  <a:moveTo>
                    <a:pt x="0" y="54"/>
                  </a:moveTo>
                  <a:lnTo>
                    <a:pt x="2" y="45"/>
                  </a:lnTo>
                  <a:lnTo>
                    <a:pt x="5" y="38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7"/>
                  </a:lnTo>
                  <a:lnTo>
                    <a:pt x="24" y="10"/>
                  </a:lnTo>
                  <a:lnTo>
                    <a:pt x="31" y="7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7" y="10"/>
                  </a:lnTo>
                  <a:lnTo>
                    <a:pt x="95" y="17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6" y="38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84"/>
                  </a:lnTo>
                  <a:lnTo>
                    <a:pt x="109" y="391"/>
                  </a:lnTo>
                  <a:lnTo>
                    <a:pt x="106" y="400"/>
                  </a:lnTo>
                  <a:lnTo>
                    <a:pt x="104" y="407"/>
                  </a:lnTo>
                  <a:lnTo>
                    <a:pt x="99" y="414"/>
                  </a:lnTo>
                  <a:lnTo>
                    <a:pt x="95" y="422"/>
                  </a:lnTo>
                  <a:lnTo>
                    <a:pt x="87" y="426"/>
                  </a:lnTo>
                  <a:lnTo>
                    <a:pt x="80" y="431"/>
                  </a:lnTo>
                  <a:lnTo>
                    <a:pt x="73" y="433"/>
                  </a:lnTo>
                  <a:lnTo>
                    <a:pt x="64" y="436"/>
                  </a:lnTo>
                  <a:lnTo>
                    <a:pt x="57" y="438"/>
                  </a:lnTo>
                  <a:lnTo>
                    <a:pt x="47" y="436"/>
                  </a:lnTo>
                  <a:lnTo>
                    <a:pt x="38" y="433"/>
                  </a:lnTo>
                  <a:lnTo>
                    <a:pt x="31" y="431"/>
                  </a:lnTo>
                  <a:lnTo>
                    <a:pt x="24" y="426"/>
                  </a:lnTo>
                  <a:lnTo>
                    <a:pt x="16" y="422"/>
                  </a:lnTo>
                  <a:lnTo>
                    <a:pt x="12" y="414"/>
                  </a:lnTo>
                  <a:lnTo>
                    <a:pt x="7" y="407"/>
                  </a:lnTo>
                  <a:lnTo>
                    <a:pt x="5" y="400"/>
                  </a:lnTo>
                  <a:lnTo>
                    <a:pt x="2" y="391"/>
                  </a:lnTo>
                  <a:lnTo>
                    <a:pt x="2" y="384"/>
                  </a:lnTo>
                  <a:lnTo>
                    <a:pt x="2" y="5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" name="Freeform 248"/>
            <p:cNvSpPr>
              <a:spLocks noChangeArrowheads="1"/>
            </p:cNvSpPr>
            <p:nvPr/>
          </p:nvSpPr>
          <p:spPr bwMode="auto">
            <a:xfrm>
              <a:off x="4576" y="738"/>
              <a:ext cx="111" cy="438"/>
            </a:xfrm>
            <a:custGeom>
              <a:avLst/>
              <a:gdLst>
                <a:gd name="T0" fmla="*/ 0 w 111"/>
                <a:gd name="T1" fmla="*/ 54 h 438"/>
                <a:gd name="T2" fmla="*/ 2 w 111"/>
                <a:gd name="T3" fmla="*/ 45 h 438"/>
                <a:gd name="T4" fmla="*/ 5 w 111"/>
                <a:gd name="T5" fmla="*/ 38 h 438"/>
                <a:gd name="T6" fmla="*/ 7 w 111"/>
                <a:gd name="T7" fmla="*/ 28 h 438"/>
                <a:gd name="T8" fmla="*/ 12 w 111"/>
                <a:gd name="T9" fmla="*/ 21 h 438"/>
                <a:gd name="T10" fmla="*/ 16 w 111"/>
                <a:gd name="T11" fmla="*/ 17 h 438"/>
                <a:gd name="T12" fmla="*/ 24 w 111"/>
                <a:gd name="T13" fmla="*/ 10 h 438"/>
                <a:gd name="T14" fmla="*/ 31 w 111"/>
                <a:gd name="T15" fmla="*/ 7 h 438"/>
                <a:gd name="T16" fmla="*/ 38 w 111"/>
                <a:gd name="T17" fmla="*/ 2 h 438"/>
                <a:gd name="T18" fmla="*/ 47 w 111"/>
                <a:gd name="T19" fmla="*/ 0 h 438"/>
                <a:gd name="T20" fmla="*/ 57 w 111"/>
                <a:gd name="T21" fmla="*/ 0 h 438"/>
                <a:gd name="T22" fmla="*/ 64 w 111"/>
                <a:gd name="T23" fmla="*/ 0 h 438"/>
                <a:gd name="T24" fmla="*/ 73 w 111"/>
                <a:gd name="T25" fmla="*/ 2 h 438"/>
                <a:gd name="T26" fmla="*/ 80 w 111"/>
                <a:gd name="T27" fmla="*/ 7 h 438"/>
                <a:gd name="T28" fmla="*/ 87 w 111"/>
                <a:gd name="T29" fmla="*/ 10 h 438"/>
                <a:gd name="T30" fmla="*/ 95 w 111"/>
                <a:gd name="T31" fmla="*/ 17 h 438"/>
                <a:gd name="T32" fmla="*/ 99 w 111"/>
                <a:gd name="T33" fmla="*/ 21 h 438"/>
                <a:gd name="T34" fmla="*/ 104 w 111"/>
                <a:gd name="T35" fmla="*/ 28 h 438"/>
                <a:gd name="T36" fmla="*/ 106 w 111"/>
                <a:gd name="T37" fmla="*/ 38 h 438"/>
                <a:gd name="T38" fmla="*/ 109 w 111"/>
                <a:gd name="T39" fmla="*/ 45 h 438"/>
                <a:gd name="T40" fmla="*/ 111 w 111"/>
                <a:gd name="T41" fmla="*/ 54 h 438"/>
                <a:gd name="T42" fmla="*/ 111 w 111"/>
                <a:gd name="T43" fmla="*/ 384 h 438"/>
                <a:gd name="T44" fmla="*/ 109 w 111"/>
                <a:gd name="T45" fmla="*/ 391 h 438"/>
                <a:gd name="T46" fmla="*/ 106 w 111"/>
                <a:gd name="T47" fmla="*/ 400 h 438"/>
                <a:gd name="T48" fmla="*/ 104 w 111"/>
                <a:gd name="T49" fmla="*/ 407 h 438"/>
                <a:gd name="T50" fmla="*/ 99 w 111"/>
                <a:gd name="T51" fmla="*/ 414 h 438"/>
                <a:gd name="T52" fmla="*/ 95 w 111"/>
                <a:gd name="T53" fmla="*/ 422 h 438"/>
                <a:gd name="T54" fmla="*/ 87 w 111"/>
                <a:gd name="T55" fmla="*/ 426 h 438"/>
                <a:gd name="T56" fmla="*/ 80 w 111"/>
                <a:gd name="T57" fmla="*/ 431 h 438"/>
                <a:gd name="T58" fmla="*/ 73 w 111"/>
                <a:gd name="T59" fmla="*/ 433 h 438"/>
                <a:gd name="T60" fmla="*/ 64 w 111"/>
                <a:gd name="T61" fmla="*/ 436 h 438"/>
                <a:gd name="T62" fmla="*/ 57 w 111"/>
                <a:gd name="T63" fmla="*/ 438 h 438"/>
                <a:gd name="T64" fmla="*/ 47 w 111"/>
                <a:gd name="T65" fmla="*/ 436 h 438"/>
                <a:gd name="T66" fmla="*/ 38 w 111"/>
                <a:gd name="T67" fmla="*/ 433 h 438"/>
                <a:gd name="T68" fmla="*/ 31 w 111"/>
                <a:gd name="T69" fmla="*/ 431 h 438"/>
                <a:gd name="T70" fmla="*/ 24 w 111"/>
                <a:gd name="T71" fmla="*/ 426 h 438"/>
                <a:gd name="T72" fmla="*/ 16 w 111"/>
                <a:gd name="T73" fmla="*/ 422 h 438"/>
                <a:gd name="T74" fmla="*/ 12 w 111"/>
                <a:gd name="T75" fmla="*/ 414 h 438"/>
                <a:gd name="T76" fmla="*/ 7 w 111"/>
                <a:gd name="T77" fmla="*/ 407 h 438"/>
                <a:gd name="T78" fmla="*/ 5 w 111"/>
                <a:gd name="T79" fmla="*/ 400 h 438"/>
                <a:gd name="T80" fmla="*/ 2 w 111"/>
                <a:gd name="T81" fmla="*/ 391 h 438"/>
                <a:gd name="T82" fmla="*/ 2 w 111"/>
                <a:gd name="T83" fmla="*/ 384 h 438"/>
                <a:gd name="T84" fmla="*/ 2 w 111"/>
                <a:gd name="T85" fmla="*/ 54 h 438"/>
                <a:gd name="T86" fmla="*/ 2 w 111"/>
                <a:gd name="T87" fmla="*/ 54 h 43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1"/>
                <a:gd name="T133" fmla="*/ 0 h 438"/>
                <a:gd name="T134" fmla="*/ 111 w 111"/>
                <a:gd name="T135" fmla="*/ 438 h 43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1" h="438">
                  <a:moveTo>
                    <a:pt x="0" y="54"/>
                  </a:moveTo>
                  <a:lnTo>
                    <a:pt x="2" y="45"/>
                  </a:lnTo>
                  <a:lnTo>
                    <a:pt x="5" y="38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7"/>
                  </a:lnTo>
                  <a:lnTo>
                    <a:pt x="24" y="10"/>
                  </a:lnTo>
                  <a:lnTo>
                    <a:pt x="31" y="7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7" y="10"/>
                  </a:lnTo>
                  <a:lnTo>
                    <a:pt x="95" y="17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6" y="38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84"/>
                  </a:lnTo>
                  <a:lnTo>
                    <a:pt x="109" y="391"/>
                  </a:lnTo>
                  <a:lnTo>
                    <a:pt x="106" y="400"/>
                  </a:lnTo>
                  <a:lnTo>
                    <a:pt x="104" y="407"/>
                  </a:lnTo>
                  <a:lnTo>
                    <a:pt x="99" y="414"/>
                  </a:lnTo>
                  <a:lnTo>
                    <a:pt x="95" y="422"/>
                  </a:lnTo>
                  <a:lnTo>
                    <a:pt x="87" y="426"/>
                  </a:lnTo>
                  <a:lnTo>
                    <a:pt x="80" y="431"/>
                  </a:lnTo>
                  <a:lnTo>
                    <a:pt x="73" y="433"/>
                  </a:lnTo>
                  <a:lnTo>
                    <a:pt x="64" y="436"/>
                  </a:lnTo>
                  <a:lnTo>
                    <a:pt x="57" y="438"/>
                  </a:lnTo>
                  <a:lnTo>
                    <a:pt x="47" y="436"/>
                  </a:lnTo>
                  <a:lnTo>
                    <a:pt x="38" y="433"/>
                  </a:lnTo>
                  <a:lnTo>
                    <a:pt x="31" y="431"/>
                  </a:lnTo>
                  <a:lnTo>
                    <a:pt x="24" y="426"/>
                  </a:lnTo>
                  <a:lnTo>
                    <a:pt x="16" y="422"/>
                  </a:lnTo>
                  <a:lnTo>
                    <a:pt x="12" y="414"/>
                  </a:lnTo>
                  <a:lnTo>
                    <a:pt x="7" y="407"/>
                  </a:lnTo>
                  <a:lnTo>
                    <a:pt x="5" y="400"/>
                  </a:lnTo>
                  <a:lnTo>
                    <a:pt x="2" y="391"/>
                  </a:lnTo>
                  <a:lnTo>
                    <a:pt x="2" y="384"/>
                  </a:lnTo>
                  <a:lnTo>
                    <a:pt x="2" y="54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" name="Freeform 249"/>
            <p:cNvSpPr>
              <a:spLocks noChangeArrowheads="1"/>
            </p:cNvSpPr>
            <p:nvPr/>
          </p:nvSpPr>
          <p:spPr bwMode="auto">
            <a:xfrm>
              <a:off x="384" y="672"/>
              <a:ext cx="4367" cy="1508"/>
            </a:xfrm>
            <a:custGeom>
              <a:avLst/>
              <a:gdLst>
                <a:gd name="T0" fmla="*/ 67 w 4367"/>
                <a:gd name="T1" fmla="*/ 1508 h 1508"/>
                <a:gd name="T2" fmla="*/ 0 w 4367"/>
                <a:gd name="T3" fmla="*/ 1508 h 1508"/>
                <a:gd name="T4" fmla="*/ 0 w 4367"/>
                <a:gd name="T5" fmla="*/ 0 h 1508"/>
                <a:gd name="T6" fmla="*/ 4367 w 4367"/>
                <a:gd name="T7" fmla="*/ 0 h 1508"/>
                <a:gd name="T8" fmla="*/ 4367 w 4367"/>
                <a:gd name="T9" fmla="*/ 284 h 1508"/>
                <a:gd name="T10" fmla="*/ 4303 w 4367"/>
                <a:gd name="T11" fmla="*/ 284 h 15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67"/>
                <a:gd name="T19" fmla="*/ 0 h 1508"/>
                <a:gd name="T20" fmla="*/ 4367 w 4367"/>
                <a:gd name="T21" fmla="*/ 1508 h 150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67" h="1508">
                  <a:moveTo>
                    <a:pt x="67" y="1508"/>
                  </a:moveTo>
                  <a:lnTo>
                    <a:pt x="0" y="1508"/>
                  </a:lnTo>
                  <a:lnTo>
                    <a:pt x="0" y="0"/>
                  </a:lnTo>
                  <a:lnTo>
                    <a:pt x="4367" y="0"/>
                  </a:lnTo>
                  <a:lnTo>
                    <a:pt x="4367" y="284"/>
                  </a:lnTo>
                  <a:lnTo>
                    <a:pt x="4303" y="284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" name="Line 250"/>
            <p:cNvSpPr>
              <a:spLocks noChangeShapeType="1"/>
            </p:cNvSpPr>
            <p:nvPr/>
          </p:nvSpPr>
          <p:spPr bwMode="auto">
            <a:xfrm>
              <a:off x="581" y="2180"/>
              <a:ext cx="175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Freeform 251"/>
            <p:cNvSpPr>
              <a:spLocks noChangeArrowheads="1"/>
            </p:cNvSpPr>
            <p:nvPr/>
          </p:nvSpPr>
          <p:spPr bwMode="auto">
            <a:xfrm>
              <a:off x="747" y="2166"/>
              <a:ext cx="28" cy="31"/>
            </a:xfrm>
            <a:custGeom>
              <a:avLst/>
              <a:gdLst>
                <a:gd name="T0" fmla="*/ 0 w 28"/>
                <a:gd name="T1" fmla="*/ 0 h 31"/>
                <a:gd name="T2" fmla="*/ 0 w 28"/>
                <a:gd name="T3" fmla="*/ 31 h 31"/>
                <a:gd name="T4" fmla="*/ 28 w 28"/>
                <a:gd name="T5" fmla="*/ 14 h 31"/>
                <a:gd name="T6" fmla="*/ 0 w 28"/>
                <a:gd name="T7" fmla="*/ 0 h 31"/>
                <a:gd name="T8" fmla="*/ 0 w 28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31"/>
                <a:gd name="T17" fmla="*/ 28 w 28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31">
                  <a:moveTo>
                    <a:pt x="0" y="0"/>
                  </a:moveTo>
                  <a:lnTo>
                    <a:pt x="0" y="31"/>
                  </a:lnTo>
                  <a:lnTo>
                    <a:pt x="28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4" name="Freeform 252"/>
            <p:cNvSpPr>
              <a:spLocks noChangeArrowheads="1"/>
            </p:cNvSpPr>
            <p:nvPr/>
          </p:nvSpPr>
          <p:spPr bwMode="auto">
            <a:xfrm>
              <a:off x="439" y="2166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4 h 31"/>
                <a:gd name="T6" fmla="*/ 2 w 31"/>
                <a:gd name="T7" fmla="*/ 0 h 31"/>
                <a:gd name="T8" fmla="*/ 2 w 31"/>
                <a:gd name="T9" fmla="*/ 0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" name="Freeform 253"/>
            <p:cNvSpPr>
              <a:spLocks noChangeArrowheads="1"/>
            </p:cNvSpPr>
            <p:nvPr/>
          </p:nvSpPr>
          <p:spPr bwMode="auto">
            <a:xfrm>
              <a:off x="2932" y="3004"/>
              <a:ext cx="29" cy="29"/>
            </a:xfrm>
            <a:custGeom>
              <a:avLst/>
              <a:gdLst>
                <a:gd name="T0" fmla="*/ 0 w 29"/>
                <a:gd name="T1" fmla="*/ 0 h 29"/>
                <a:gd name="T2" fmla="*/ 0 w 29"/>
                <a:gd name="T3" fmla="*/ 29 h 29"/>
                <a:gd name="T4" fmla="*/ 29 w 29"/>
                <a:gd name="T5" fmla="*/ 14 h 29"/>
                <a:gd name="T6" fmla="*/ 0 w 29"/>
                <a:gd name="T7" fmla="*/ 0 h 29"/>
                <a:gd name="T8" fmla="*/ 0 w 29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29"/>
                <a:gd name="T17" fmla="*/ 29 w 29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29">
                  <a:moveTo>
                    <a:pt x="0" y="0"/>
                  </a:moveTo>
                  <a:lnTo>
                    <a:pt x="0" y="29"/>
                  </a:lnTo>
                  <a:lnTo>
                    <a:pt x="29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" name="Freeform 254"/>
            <p:cNvSpPr>
              <a:spLocks noChangeArrowheads="1"/>
            </p:cNvSpPr>
            <p:nvPr/>
          </p:nvSpPr>
          <p:spPr bwMode="auto">
            <a:xfrm>
              <a:off x="2966" y="2786"/>
              <a:ext cx="220" cy="464"/>
            </a:xfrm>
            <a:custGeom>
              <a:avLst/>
              <a:gdLst>
                <a:gd name="T0" fmla="*/ 108 w 220"/>
                <a:gd name="T1" fmla="*/ 464 h 464"/>
                <a:gd name="T2" fmla="*/ 127 w 220"/>
                <a:gd name="T3" fmla="*/ 462 h 464"/>
                <a:gd name="T4" fmla="*/ 144 w 220"/>
                <a:gd name="T5" fmla="*/ 453 h 464"/>
                <a:gd name="T6" fmla="*/ 161 w 220"/>
                <a:gd name="T7" fmla="*/ 441 h 464"/>
                <a:gd name="T8" fmla="*/ 175 w 220"/>
                <a:gd name="T9" fmla="*/ 422 h 464"/>
                <a:gd name="T10" fmla="*/ 187 w 220"/>
                <a:gd name="T11" fmla="*/ 398 h 464"/>
                <a:gd name="T12" fmla="*/ 198 w 220"/>
                <a:gd name="T13" fmla="*/ 370 h 464"/>
                <a:gd name="T14" fmla="*/ 208 w 220"/>
                <a:gd name="T15" fmla="*/ 339 h 464"/>
                <a:gd name="T16" fmla="*/ 213 w 220"/>
                <a:gd name="T17" fmla="*/ 306 h 464"/>
                <a:gd name="T18" fmla="*/ 217 w 220"/>
                <a:gd name="T19" fmla="*/ 270 h 464"/>
                <a:gd name="T20" fmla="*/ 220 w 220"/>
                <a:gd name="T21" fmla="*/ 232 h 464"/>
                <a:gd name="T22" fmla="*/ 217 w 220"/>
                <a:gd name="T23" fmla="*/ 194 h 464"/>
                <a:gd name="T24" fmla="*/ 213 w 220"/>
                <a:gd name="T25" fmla="*/ 159 h 464"/>
                <a:gd name="T26" fmla="*/ 208 w 220"/>
                <a:gd name="T27" fmla="*/ 126 h 464"/>
                <a:gd name="T28" fmla="*/ 198 w 220"/>
                <a:gd name="T29" fmla="*/ 95 h 464"/>
                <a:gd name="T30" fmla="*/ 187 w 220"/>
                <a:gd name="T31" fmla="*/ 69 h 464"/>
                <a:gd name="T32" fmla="*/ 175 w 220"/>
                <a:gd name="T33" fmla="*/ 45 h 464"/>
                <a:gd name="T34" fmla="*/ 161 w 220"/>
                <a:gd name="T35" fmla="*/ 26 h 464"/>
                <a:gd name="T36" fmla="*/ 144 w 220"/>
                <a:gd name="T37" fmla="*/ 12 h 464"/>
                <a:gd name="T38" fmla="*/ 127 w 220"/>
                <a:gd name="T39" fmla="*/ 3 h 464"/>
                <a:gd name="T40" fmla="*/ 111 w 220"/>
                <a:gd name="T41" fmla="*/ 0 h 464"/>
                <a:gd name="T42" fmla="*/ 92 w 220"/>
                <a:gd name="T43" fmla="*/ 3 h 464"/>
                <a:gd name="T44" fmla="*/ 75 w 220"/>
                <a:gd name="T45" fmla="*/ 12 h 464"/>
                <a:gd name="T46" fmla="*/ 59 w 220"/>
                <a:gd name="T47" fmla="*/ 26 h 464"/>
                <a:gd name="T48" fmla="*/ 45 w 220"/>
                <a:gd name="T49" fmla="*/ 45 h 464"/>
                <a:gd name="T50" fmla="*/ 33 w 220"/>
                <a:gd name="T51" fmla="*/ 69 h 464"/>
                <a:gd name="T52" fmla="*/ 21 w 220"/>
                <a:gd name="T53" fmla="*/ 95 h 464"/>
                <a:gd name="T54" fmla="*/ 11 w 220"/>
                <a:gd name="T55" fmla="*/ 126 h 464"/>
                <a:gd name="T56" fmla="*/ 7 w 220"/>
                <a:gd name="T57" fmla="*/ 159 h 464"/>
                <a:gd name="T58" fmla="*/ 2 w 220"/>
                <a:gd name="T59" fmla="*/ 194 h 464"/>
                <a:gd name="T60" fmla="*/ 0 w 220"/>
                <a:gd name="T61" fmla="*/ 232 h 464"/>
                <a:gd name="T62" fmla="*/ 2 w 220"/>
                <a:gd name="T63" fmla="*/ 270 h 464"/>
                <a:gd name="T64" fmla="*/ 7 w 220"/>
                <a:gd name="T65" fmla="*/ 306 h 464"/>
                <a:gd name="T66" fmla="*/ 11 w 220"/>
                <a:gd name="T67" fmla="*/ 339 h 464"/>
                <a:gd name="T68" fmla="*/ 21 w 220"/>
                <a:gd name="T69" fmla="*/ 370 h 464"/>
                <a:gd name="T70" fmla="*/ 33 w 220"/>
                <a:gd name="T71" fmla="*/ 398 h 464"/>
                <a:gd name="T72" fmla="*/ 45 w 220"/>
                <a:gd name="T73" fmla="*/ 422 h 464"/>
                <a:gd name="T74" fmla="*/ 59 w 220"/>
                <a:gd name="T75" fmla="*/ 441 h 464"/>
                <a:gd name="T76" fmla="*/ 75 w 220"/>
                <a:gd name="T77" fmla="*/ 453 h 464"/>
                <a:gd name="T78" fmla="*/ 92 w 220"/>
                <a:gd name="T79" fmla="*/ 462 h 464"/>
                <a:gd name="T80" fmla="*/ 111 w 220"/>
                <a:gd name="T81" fmla="*/ 464 h 464"/>
                <a:gd name="T82" fmla="*/ 111 w 220"/>
                <a:gd name="T83" fmla="*/ 464 h 464"/>
                <a:gd name="T84" fmla="*/ 108 w 220"/>
                <a:gd name="T85" fmla="*/ 464 h 46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20"/>
                <a:gd name="T130" fmla="*/ 0 h 464"/>
                <a:gd name="T131" fmla="*/ 220 w 220"/>
                <a:gd name="T132" fmla="*/ 464 h 46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20" h="464">
                  <a:moveTo>
                    <a:pt x="108" y="464"/>
                  </a:moveTo>
                  <a:lnTo>
                    <a:pt x="127" y="462"/>
                  </a:lnTo>
                  <a:lnTo>
                    <a:pt x="144" y="453"/>
                  </a:lnTo>
                  <a:lnTo>
                    <a:pt x="161" y="441"/>
                  </a:lnTo>
                  <a:lnTo>
                    <a:pt x="175" y="422"/>
                  </a:lnTo>
                  <a:lnTo>
                    <a:pt x="187" y="398"/>
                  </a:lnTo>
                  <a:lnTo>
                    <a:pt x="198" y="370"/>
                  </a:lnTo>
                  <a:lnTo>
                    <a:pt x="208" y="339"/>
                  </a:lnTo>
                  <a:lnTo>
                    <a:pt x="213" y="306"/>
                  </a:lnTo>
                  <a:lnTo>
                    <a:pt x="217" y="270"/>
                  </a:lnTo>
                  <a:lnTo>
                    <a:pt x="220" y="232"/>
                  </a:lnTo>
                  <a:lnTo>
                    <a:pt x="217" y="194"/>
                  </a:lnTo>
                  <a:lnTo>
                    <a:pt x="213" y="159"/>
                  </a:lnTo>
                  <a:lnTo>
                    <a:pt x="208" y="126"/>
                  </a:lnTo>
                  <a:lnTo>
                    <a:pt x="198" y="95"/>
                  </a:lnTo>
                  <a:lnTo>
                    <a:pt x="187" y="69"/>
                  </a:lnTo>
                  <a:lnTo>
                    <a:pt x="175" y="45"/>
                  </a:lnTo>
                  <a:lnTo>
                    <a:pt x="161" y="26"/>
                  </a:lnTo>
                  <a:lnTo>
                    <a:pt x="144" y="12"/>
                  </a:lnTo>
                  <a:lnTo>
                    <a:pt x="127" y="3"/>
                  </a:lnTo>
                  <a:lnTo>
                    <a:pt x="111" y="0"/>
                  </a:lnTo>
                  <a:lnTo>
                    <a:pt x="92" y="3"/>
                  </a:lnTo>
                  <a:lnTo>
                    <a:pt x="75" y="12"/>
                  </a:lnTo>
                  <a:lnTo>
                    <a:pt x="59" y="26"/>
                  </a:lnTo>
                  <a:lnTo>
                    <a:pt x="45" y="45"/>
                  </a:lnTo>
                  <a:lnTo>
                    <a:pt x="33" y="69"/>
                  </a:lnTo>
                  <a:lnTo>
                    <a:pt x="21" y="95"/>
                  </a:lnTo>
                  <a:lnTo>
                    <a:pt x="11" y="126"/>
                  </a:lnTo>
                  <a:lnTo>
                    <a:pt x="7" y="159"/>
                  </a:lnTo>
                  <a:lnTo>
                    <a:pt x="2" y="194"/>
                  </a:lnTo>
                  <a:lnTo>
                    <a:pt x="0" y="232"/>
                  </a:lnTo>
                  <a:lnTo>
                    <a:pt x="2" y="270"/>
                  </a:lnTo>
                  <a:lnTo>
                    <a:pt x="7" y="306"/>
                  </a:lnTo>
                  <a:lnTo>
                    <a:pt x="11" y="339"/>
                  </a:lnTo>
                  <a:lnTo>
                    <a:pt x="21" y="370"/>
                  </a:lnTo>
                  <a:lnTo>
                    <a:pt x="33" y="398"/>
                  </a:lnTo>
                  <a:lnTo>
                    <a:pt x="45" y="422"/>
                  </a:lnTo>
                  <a:lnTo>
                    <a:pt x="59" y="441"/>
                  </a:lnTo>
                  <a:lnTo>
                    <a:pt x="75" y="453"/>
                  </a:lnTo>
                  <a:lnTo>
                    <a:pt x="92" y="462"/>
                  </a:lnTo>
                  <a:lnTo>
                    <a:pt x="111" y="464"/>
                  </a:lnTo>
                  <a:lnTo>
                    <a:pt x="108" y="4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7" name="Freeform 255"/>
            <p:cNvSpPr>
              <a:spLocks noChangeArrowheads="1"/>
            </p:cNvSpPr>
            <p:nvPr/>
          </p:nvSpPr>
          <p:spPr bwMode="auto">
            <a:xfrm>
              <a:off x="2966" y="2786"/>
              <a:ext cx="220" cy="464"/>
            </a:xfrm>
            <a:custGeom>
              <a:avLst/>
              <a:gdLst>
                <a:gd name="T0" fmla="*/ 108 w 220"/>
                <a:gd name="T1" fmla="*/ 464 h 464"/>
                <a:gd name="T2" fmla="*/ 127 w 220"/>
                <a:gd name="T3" fmla="*/ 462 h 464"/>
                <a:gd name="T4" fmla="*/ 144 w 220"/>
                <a:gd name="T5" fmla="*/ 453 h 464"/>
                <a:gd name="T6" fmla="*/ 161 w 220"/>
                <a:gd name="T7" fmla="*/ 441 h 464"/>
                <a:gd name="T8" fmla="*/ 175 w 220"/>
                <a:gd name="T9" fmla="*/ 422 h 464"/>
                <a:gd name="T10" fmla="*/ 187 w 220"/>
                <a:gd name="T11" fmla="*/ 398 h 464"/>
                <a:gd name="T12" fmla="*/ 198 w 220"/>
                <a:gd name="T13" fmla="*/ 370 h 464"/>
                <a:gd name="T14" fmla="*/ 208 w 220"/>
                <a:gd name="T15" fmla="*/ 339 h 464"/>
                <a:gd name="T16" fmla="*/ 213 w 220"/>
                <a:gd name="T17" fmla="*/ 306 h 464"/>
                <a:gd name="T18" fmla="*/ 217 w 220"/>
                <a:gd name="T19" fmla="*/ 270 h 464"/>
                <a:gd name="T20" fmla="*/ 220 w 220"/>
                <a:gd name="T21" fmla="*/ 232 h 464"/>
                <a:gd name="T22" fmla="*/ 217 w 220"/>
                <a:gd name="T23" fmla="*/ 194 h 464"/>
                <a:gd name="T24" fmla="*/ 213 w 220"/>
                <a:gd name="T25" fmla="*/ 159 h 464"/>
                <a:gd name="T26" fmla="*/ 208 w 220"/>
                <a:gd name="T27" fmla="*/ 126 h 464"/>
                <a:gd name="T28" fmla="*/ 198 w 220"/>
                <a:gd name="T29" fmla="*/ 95 h 464"/>
                <a:gd name="T30" fmla="*/ 187 w 220"/>
                <a:gd name="T31" fmla="*/ 69 h 464"/>
                <a:gd name="T32" fmla="*/ 175 w 220"/>
                <a:gd name="T33" fmla="*/ 45 h 464"/>
                <a:gd name="T34" fmla="*/ 161 w 220"/>
                <a:gd name="T35" fmla="*/ 26 h 464"/>
                <a:gd name="T36" fmla="*/ 144 w 220"/>
                <a:gd name="T37" fmla="*/ 12 h 464"/>
                <a:gd name="T38" fmla="*/ 127 w 220"/>
                <a:gd name="T39" fmla="*/ 3 h 464"/>
                <a:gd name="T40" fmla="*/ 111 w 220"/>
                <a:gd name="T41" fmla="*/ 0 h 464"/>
                <a:gd name="T42" fmla="*/ 92 w 220"/>
                <a:gd name="T43" fmla="*/ 3 h 464"/>
                <a:gd name="T44" fmla="*/ 75 w 220"/>
                <a:gd name="T45" fmla="*/ 12 h 464"/>
                <a:gd name="T46" fmla="*/ 59 w 220"/>
                <a:gd name="T47" fmla="*/ 26 h 464"/>
                <a:gd name="T48" fmla="*/ 45 w 220"/>
                <a:gd name="T49" fmla="*/ 45 h 464"/>
                <a:gd name="T50" fmla="*/ 33 w 220"/>
                <a:gd name="T51" fmla="*/ 69 h 464"/>
                <a:gd name="T52" fmla="*/ 21 w 220"/>
                <a:gd name="T53" fmla="*/ 95 h 464"/>
                <a:gd name="T54" fmla="*/ 11 w 220"/>
                <a:gd name="T55" fmla="*/ 126 h 464"/>
                <a:gd name="T56" fmla="*/ 7 w 220"/>
                <a:gd name="T57" fmla="*/ 159 h 464"/>
                <a:gd name="T58" fmla="*/ 2 w 220"/>
                <a:gd name="T59" fmla="*/ 194 h 464"/>
                <a:gd name="T60" fmla="*/ 0 w 220"/>
                <a:gd name="T61" fmla="*/ 232 h 464"/>
                <a:gd name="T62" fmla="*/ 2 w 220"/>
                <a:gd name="T63" fmla="*/ 270 h 464"/>
                <a:gd name="T64" fmla="*/ 7 w 220"/>
                <a:gd name="T65" fmla="*/ 306 h 464"/>
                <a:gd name="T66" fmla="*/ 11 w 220"/>
                <a:gd name="T67" fmla="*/ 339 h 464"/>
                <a:gd name="T68" fmla="*/ 21 w 220"/>
                <a:gd name="T69" fmla="*/ 370 h 464"/>
                <a:gd name="T70" fmla="*/ 33 w 220"/>
                <a:gd name="T71" fmla="*/ 398 h 464"/>
                <a:gd name="T72" fmla="*/ 45 w 220"/>
                <a:gd name="T73" fmla="*/ 422 h 464"/>
                <a:gd name="T74" fmla="*/ 59 w 220"/>
                <a:gd name="T75" fmla="*/ 441 h 464"/>
                <a:gd name="T76" fmla="*/ 75 w 220"/>
                <a:gd name="T77" fmla="*/ 453 h 464"/>
                <a:gd name="T78" fmla="*/ 92 w 220"/>
                <a:gd name="T79" fmla="*/ 462 h 464"/>
                <a:gd name="T80" fmla="*/ 111 w 220"/>
                <a:gd name="T81" fmla="*/ 464 h 464"/>
                <a:gd name="T82" fmla="*/ 111 w 220"/>
                <a:gd name="T83" fmla="*/ 464 h 4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20"/>
                <a:gd name="T127" fmla="*/ 0 h 464"/>
                <a:gd name="T128" fmla="*/ 220 w 220"/>
                <a:gd name="T129" fmla="*/ 464 h 4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20" h="464">
                  <a:moveTo>
                    <a:pt x="108" y="464"/>
                  </a:moveTo>
                  <a:lnTo>
                    <a:pt x="127" y="462"/>
                  </a:lnTo>
                  <a:lnTo>
                    <a:pt x="144" y="453"/>
                  </a:lnTo>
                  <a:lnTo>
                    <a:pt x="161" y="441"/>
                  </a:lnTo>
                  <a:lnTo>
                    <a:pt x="175" y="422"/>
                  </a:lnTo>
                  <a:lnTo>
                    <a:pt x="187" y="398"/>
                  </a:lnTo>
                  <a:lnTo>
                    <a:pt x="198" y="370"/>
                  </a:lnTo>
                  <a:lnTo>
                    <a:pt x="208" y="339"/>
                  </a:lnTo>
                  <a:lnTo>
                    <a:pt x="213" y="306"/>
                  </a:lnTo>
                  <a:lnTo>
                    <a:pt x="217" y="270"/>
                  </a:lnTo>
                  <a:lnTo>
                    <a:pt x="220" y="232"/>
                  </a:lnTo>
                  <a:lnTo>
                    <a:pt x="217" y="194"/>
                  </a:lnTo>
                  <a:lnTo>
                    <a:pt x="213" y="159"/>
                  </a:lnTo>
                  <a:lnTo>
                    <a:pt x="208" y="126"/>
                  </a:lnTo>
                  <a:lnTo>
                    <a:pt x="198" y="95"/>
                  </a:lnTo>
                  <a:lnTo>
                    <a:pt x="187" y="69"/>
                  </a:lnTo>
                  <a:lnTo>
                    <a:pt x="175" y="45"/>
                  </a:lnTo>
                  <a:lnTo>
                    <a:pt x="161" y="26"/>
                  </a:lnTo>
                  <a:lnTo>
                    <a:pt x="144" y="12"/>
                  </a:lnTo>
                  <a:lnTo>
                    <a:pt x="127" y="3"/>
                  </a:lnTo>
                  <a:lnTo>
                    <a:pt x="111" y="0"/>
                  </a:lnTo>
                  <a:lnTo>
                    <a:pt x="92" y="3"/>
                  </a:lnTo>
                  <a:lnTo>
                    <a:pt x="75" y="12"/>
                  </a:lnTo>
                  <a:lnTo>
                    <a:pt x="59" y="26"/>
                  </a:lnTo>
                  <a:lnTo>
                    <a:pt x="45" y="45"/>
                  </a:lnTo>
                  <a:lnTo>
                    <a:pt x="33" y="69"/>
                  </a:lnTo>
                  <a:lnTo>
                    <a:pt x="21" y="95"/>
                  </a:lnTo>
                  <a:lnTo>
                    <a:pt x="11" y="126"/>
                  </a:lnTo>
                  <a:lnTo>
                    <a:pt x="7" y="159"/>
                  </a:lnTo>
                  <a:lnTo>
                    <a:pt x="2" y="194"/>
                  </a:lnTo>
                  <a:lnTo>
                    <a:pt x="0" y="232"/>
                  </a:lnTo>
                  <a:lnTo>
                    <a:pt x="2" y="270"/>
                  </a:lnTo>
                  <a:lnTo>
                    <a:pt x="7" y="306"/>
                  </a:lnTo>
                  <a:lnTo>
                    <a:pt x="11" y="339"/>
                  </a:lnTo>
                  <a:lnTo>
                    <a:pt x="21" y="370"/>
                  </a:lnTo>
                  <a:lnTo>
                    <a:pt x="33" y="398"/>
                  </a:lnTo>
                  <a:lnTo>
                    <a:pt x="45" y="422"/>
                  </a:lnTo>
                  <a:lnTo>
                    <a:pt x="59" y="441"/>
                  </a:lnTo>
                  <a:lnTo>
                    <a:pt x="75" y="453"/>
                  </a:lnTo>
                  <a:lnTo>
                    <a:pt x="92" y="462"/>
                  </a:lnTo>
                  <a:lnTo>
                    <a:pt x="111" y="464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8" name="Rectangle 256"/>
            <p:cNvSpPr>
              <a:spLocks noChangeArrowheads="1"/>
            </p:cNvSpPr>
            <p:nvPr/>
          </p:nvSpPr>
          <p:spPr bwMode="auto">
            <a:xfrm>
              <a:off x="2831" y="290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59" name="Rectangle 257"/>
            <p:cNvSpPr>
              <a:spLocks noChangeArrowheads="1"/>
            </p:cNvSpPr>
            <p:nvPr/>
          </p:nvSpPr>
          <p:spPr bwMode="auto">
            <a:xfrm>
              <a:off x="2864" y="290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6</a:t>
              </a:r>
            </a:p>
          </p:txBody>
        </p:sp>
        <p:sp>
          <p:nvSpPr>
            <p:cNvPr id="260" name="Line 258"/>
            <p:cNvSpPr>
              <a:spLocks noChangeShapeType="1"/>
            </p:cNvSpPr>
            <p:nvPr/>
          </p:nvSpPr>
          <p:spPr bwMode="auto">
            <a:xfrm flipH="1" flipV="1">
              <a:off x="3227" y="2979"/>
              <a:ext cx="45" cy="78"/>
            </a:xfrm>
            <a:prstGeom prst="line">
              <a:avLst/>
            </a:prstGeom>
            <a:noFill/>
            <a:ln w="11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Rectangle 259"/>
            <p:cNvSpPr>
              <a:spLocks noChangeArrowheads="1"/>
            </p:cNvSpPr>
            <p:nvPr/>
          </p:nvSpPr>
          <p:spPr bwMode="auto">
            <a:xfrm>
              <a:off x="3214" y="290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262" name="Rectangle 260"/>
            <p:cNvSpPr>
              <a:spLocks noChangeArrowheads="1"/>
            </p:cNvSpPr>
            <p:nvPr/>
          </p:nvSpPr>
          <p:spPr bwMode="auto">
            <a:xfrm>
              <a:off x="3247" y="290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263" name="Rectangle 261"/>
            <p:cNvSpPr>
              <a:spLocks noChangeArrowheads="1"/>
            </p:cNvSpPr>
            <p:nvPr/>
          </p:nvSpPr>
          <p:spPr bwMode="auto">
            <a:xfrm>
              <a:off x="1662" y="2934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64" name="Rectangle 262"/>
            <p:cNvSpPr>
              <a:spLocks noChangeArrowheads="1"/>
            </p:cNvSpPr>
            <p:nvPr/>
          </p:nvSpPr>
          <p:spPr bwMode="auto">
            <a:xfrm>
              <a:off x="1677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65" name="Rectangle 263"/>
            <p:cNvSpPr>
              <a:spLocks noChangeArrowheads="1"/>
            </p:cNvSpPr>
            <p:nvPr/>
          </p:nvSpPr>
          <p:spPr bwMode="auto">
            <a:xfrm>
              <a:off x="1710" y="2934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66" name="Rectangle 264"/>
            <p:cNvSpPr>
              <a:spLocks noChangeArrowheads="1"/>
            </p:cNvSpPr>
            <p:nvPr/>
          </p:nvSpPr>
          <p:spPr bwMode="auto">
            <a:xfrm>
              <a:off x="1739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67" name="Rectangle 265"/>
            <p:cNvSpPr>
              <a:spLocks noChangeArrowheads="1"/>
            </p:cNvSpPr>
            <p:nvPr/>
          </p:nvSpPr>
          <p:spPr bwMode="auto">
            <a:xfrm>
              <a:off x="1755" y="2934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68" name="Rectangle 266"/>
            <p:cNvSpPr>
              <a:spLocks noChangeArrowheads="1"/>
            </p:cNvSpPr>
            <p:nvPr/>
          </p:nvSpPr>
          <p:spPr bwMode="auto">
            <a:xfrm>
              <a:off x="1774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69" name="Rectangle 267"/>
            <p:cNvSpPr>
              <a:spLocks noChangeArrowheads="1"/>
            </p:cNvSpPr>
            <p:nvPr/>
          </p:nvSpPr>
          <p:spPr bwMode="auto">
            <a:xfrm>
              <a:off x="1808" y="2934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70" name="Rectangle 268"/>
            <p:cNvSpPr>
              <a:spLocks noChangeArrowheads="1"/>
            </p:cNvSpPr>
            <p:nvPr/>
          </p:nvSpPr>
          <p:spPr bwMode="auto">
            <a:xfrm>
              <a:off x="1836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71" name="Rectangle 269"/>
            <p:cNvSpPr>
              <a:spLocks noChangeArrowheads="1"/>
            </p:cNvSpPr>
            <p:nvPr/>
          </p:nvSpPr>
          <p:spPr bwMode="auto">
            <a:xfrm>
              <a:off x="1852" y="2934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72" name="Rectangle 270"/>
            <p:cNvSpPr>
              <a:spLocks noChangeArrowheads="1"/>
            </p:cNvSpPr>
            <p:nvPr/>
          </p:nvSpPr>
          <p:spPr bwMode="auto">
            <a:xfrm>
              <a:off x="1867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73" name="Rectangle 271"/>
            <p:cNvSpPr>
              <a:spLocks noChangeArrowheads="1"/>
            </p:cNvSpPr>
            <p:nvPr/>
          </p:nvSpPr>
          <p:spPr bwMode="auto">
            <a:xfrm>
              <a:off x="1898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74" name="Rectangle 272"/>
            <p:cNvSpPr>
              <a:spLocks noChangeArrowheads="1"/>
            </p:cNvSpPr>
            <p:nvPr/>
          </p:nvSpPr>
          <p:spPr bwMode="auto">
            <a:xfrm>
              <a:off x="1931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75" name="Rectangle 273"/>
            <p:cNvSpPr>
              <a:spLocks noChangeArrowheads="1"/>
            </p:cNvSpPr>
            <p:nvPr/>
          </p:nvSpPr>
          <p:spPr bwMode="auto">
            <a:xfrm>
              <a:off x="1947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276" name="Rectangle 274"/>
            <p:cNvSpPr>
              <a:spLocks noChangeArrowheads="1"/>
            </p:cNvSpPr>
            <p:nvPr/>
          </p:nvSpPr>
          <p:spPr bwMode="auto">
            <a:xfrm>
              <a:off x="1964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77" name="Rectangle 275"/>
            <p:cNvSpPr>
              <a:spLocks noChangeArrowheads="1"/>
            </p:cNvSpPr>
            <p:nvPr/>
          </p:nvSpPr>
          <p:spPr bwMode="auto">
            <a:xfrm>
              <a:off x="1995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278" name="Rectangle 276"/>
            <p:cNvSpPr>
              <a:spLocks noChangeArrowheads="1"/>
            </p:cNvSpPr>
            <p:nvPr/>
          </p:nvSpPr>
          <p:spPr bwMode="auto">
            <a:xfrm>
              <a:off x="2028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79" name="Rectangle 277"/>
            <p:cNvSpPr>
              <a:spLocks noChangeArrowheads="1"/>
            </p:cNvSpPr>
            <p:nvPr/>
          </p:nvSpPr>
          <p:spPr bwMode="auto">
            <a:xfrm>
              <a:off x="2044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80" name="Rectangle 278"/>
            <p:cNvSpPr>
              <a:spLocks noChangeArrowheads="1"/>
            </p:cNvSpPr>
            <p:nvPr/>
          </p:nvSpPr>
          <p:spPr bwMode="auto">
            <a:xfrm>
              <a:off x="2061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281" name="Rectangle 279"/>
            <p:cNvSpPr>
              <a:spLocks noChangeArrowheads="1"/>
            </p:cNvSpPr>
            <p:nvPr/>
          </p:nvSpPr>
          <p:spPr bwMode="auto">
            <a:xfrm>
              <a:off x="2094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282" name="Freeform 280"/>
            <p:cNvSpPr>
              <a:spLocks noChangeArrowheads="1"/>
            </p:cNvSpPr>
            <p:nvPr/>
          </p:nvSpPr>
          <p:spPr bwMode="auto">
            <a:xfrm>
              <a:off x="3742" y="930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3 w 31"/>
                <a:gd name="T3" fmla="*/ 31 h 31"/>
                <a:gd name="T4" fmla="*/ 31 w 31"/>
                <a:gd name="T5" fmla="*/ 16 h 31"/>
                <a:gd name="T6" fmla="*/ 3 w 31"/>
                <a:gd name="T7" fmla="*/ 0 h 31"/>
                <a:gd name="T8" fmla="*/ 3 w 31"/>
                <a:gd name="T9" fmla="*/ 0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3" y="31"/>
                  </a:lnTo>
                  <a:lnTo>
                    <a:pt x="31" y="16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" name="Freeform 281"/>
            <p:cNvSpPr>
              <a:spLocks noChangeArrowheads="1"/>
            </p:cNvSpPr>
            <p:nvPr/>
          </p:nvSpPr>
          <p:spPr bwMode="auto">
            <a:xfrm>
              <a:off x="3742" y="1280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3 w 31"/>
                <a:gd name="T3" fmla="*/ 31 h 31"/>
                <a:gd name="T4" fmla="*/ 31 w 31"/>
                <a:gd name="T5" fmla="*/ 17 h 31"/>
                <a:gd name="T6" fmla="*/ 3 w 31"/>
                <a:gd name="T7" fmla="*/ 3 h 31"/>
                <a:gd name="T8" fmla="*/ 3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3" y="31"/>
                  </a:lnTo>
                  <a:lnTo>
                    <a:pt x="31" y="17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4" name="Freeform 282"/>
            <p:cNvSpPr>
              <a:spLocks noChangeArrowheads="1"/>
            </p:cNvSpPr>
            <p:nvPr/>
          </p:nvSpPr>
          <p:spPr bwMode="auto">
            <a:xfrm>
              <a:off x="5168" y="2422"/>
              <a:ext cx="111" cy="371"/>
            </a:xfrm>
            <a:custGeom>
              <a:avLst/>
              <a:gdLst>
                <a:gd name="T0" fmla="*/ 0 w 111"/>
                <a:gd name="T1" fmla="*/ 52 h 371"/>
                <a:gd name="T2" fmla="*/ 2 w 111"/>
                <a:gd name="T3" fmla="*/ 45 h 371"/>
                <a:gd name="T4" fmla="*/ 5 w 111"/>
                <a:gd name="T5" fmla="*/ 35 h 371"/>
                <a:gd name="T6" fmla="*/ 7 w 111"/>
                <a:gd name="T7" fmla="*/ 28 h 371"/>
                <a:gd name="T8" fmla="*/ 12 w 111"/>
                <a:gd name="T9" fmla="*/ 21 h 371"/>
                <a:gd name="T10" fmla="*/ 19 w 111"/>
                <a:gd name="T11" fmla="*/ 14 h 371"/>
                <a:gd name="T12" fmla="*/ 24 w 111"/>
                <a:gd name="T13" fmla="*/ 9 h 371"/>
                <a:gd name="T14" fmla="*/ 31 w 111"/>
                <a:gd name="T15" fmla="*/ 4 h 371"/>
                <a:gd name="T16" fmla="*/ 40 w 111"/>
                <a:gd name="T17" fmla="*/ 2 h 371"/>
                <a:gd name="T18" fmla="*/ 47 w 111"/>
                <a:gd name="T19" fmla="*/ 0 h 371"/>
                <a:gd name="T20" fmla="*/ 57 w 111"/>
                <a:gd name="T21" fmla="*/ 0 h 371"/>
                <a:gd name="T22" fmla="*/ 66 w 111"/>
                <a:gd name="T23" fmla="*/ 0 h 371"/>
                <a:gd name="T24" fmla="*/ 73 w 111"/>
                <a:gd name="T25" fmla="*/ 2 h 371"/>
                <a:gd name="T26" fmla="*/ 80 w 111"/>
                <a:gd name="T27" fmla="*/ 4 h 371"/>
                <a:gd name="T28" fmla="*/ 87 w 111"/>
                <a:gd name="T29" fmla="*/ 9 h 371"/>
                <a:gd name="T30" fmla="*/ 95 w 111"/>
                <a:gd name="T31" fmla="*/ 14 h 371"/>
                <a:gd name="T32" fmla="*/ 99 w 111"/>
                <a:gd name="T33" fmla="*/ 21 h 371"/>
                <a:gd name="T34" fmla="*/ 104 w 111"/>
                <a:gd name="T35" fmla="*/ 28 h 371"/>
                <a:gd name="T36" fmla="*/ 109 w 111"/>
                <a:gd name="T37" fmla="*/ 35 h 371"/>
                <a:gd name="T38" fmla="*/ 111 w 111"/>
                <a:gd name="T39" fmla="*/ 45 h 371"/>
                <a:gd name="T40" fmla="*/ 111 w 111"/>
                <a:gd name="T41" fmla="*/ 54 h 371"/>
                <a:gd name="T42" fmla="*/ 111 w 111"/>
                <a:gd name="T43" fmla="*/ 315 h 371"/>
                <a:gd name="T44" fmla="*/ 111 w 111"/>
                <a:gd name="T45" fmla="*/ 324 h 371"/>
                <a:gd name="T46" fmla="*/ 109 w 111"/>
                <a:gd name="T47" fmla="*/ 333 h 371"/>
                <a:gd name="T48" fmla="*/ 104 w 111"/>
                <a:gd name="T49" fmla="*/ 341 h 371"/>
                <a:gd name="T50" fmla="*/ 99 w 111"/>
                <a:gd name="T51" fmla="*/ 348 h 371"/>
                <a:gd name="T52" fmla="*/ 95 w 111"/>
                <a:gd name="T53" fmla="*/ 355 h 371"/>
                <a:gd name="T54" fmla="*/ 87 w 111"/>
                <a:gd name="T55" fmla="*/ 360 h 371"/>
                <a:gd name="T56" fmla="*/ 80 w 111"/>
                <a:gd name="T57" fmla="*/ 364 h 371"/>
                <a:gd name="T58" fmla="*/ 73 w 111"/>
                <a:gd name="T59" fmla="*/ 367 h 371"/>
                <a:gd name="T60" fmla="*/ 66 w 111"/>
                <a:gd name="T61" fmla="*/ 369 h 371"/>
                <a:gd name="T62" fmla="*/ 57 w 111"/>
                <a:gd name="T63" fmla="*/ 371 h 371"/>
                <a:gd name="T64" fmla="*/ 47 w 111"/>
                <a:gd name="T65" fmla="*/ 369 h 371"/>
                <a:gd name="T66" fmla="*/ 40 w 111"/>
                <a:gd name="T67" fmla="*/ 367 h 371"/>
                <a:gd name="T68" fmla="*/ 31 w 111"/>
                <a:gd name="T69" fmla="*/ 364 h 371"/>
                <a:gd name="T70" fmla="*/ 24 w 111"/>
                <a:gd name="T71" fmla="*/ 360 h 371"/>
                <a:gd name="T72" fmla="*/ 19 w 111"/>
                <a:gd name="T73" fmla="*/ 355 h 371"/>
                <a:gd name="T74" fmla="*/ 12 w 111"/>
                <a:gd name="T75" fmla="*/ 348 h 371"/>
                <a:gd name="T76" fmla="*/ 7 w 111"/>
                <a:gd name="T77" fmla="*/ 341 h 371"/>
                <a:gd name="T78" fmla="*/ 5 w 111"/>
                <a:gd name="T79" fmla="*/ 333 h 371"/>
                <a:gd name="T80" fmla="*/ 2 w 111"/>
                <a:gd name="T81" fmla="*/ 324 h 371"/>
                <a:gd name="T82" fmla="*/ 2 w 111"/>
                <a:gd name="T83" fmla="*/ 315 h 371"/>
                <a:gd name="T84" fmla="*/ 2 w 111"/>
                <a:gd name="T85" fmla="*/ 54 h 371"/>
                <a:gd name="T86" fmla="*/ 2 w 111"/>
                <a:gd name="T87" fmla="*/ 54 h 371"/>
                <a:gd name="T88" fmla="*/ 0 w 111"/>
                <a:gd name="T89" fmla="*/ 52 h 37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11"/>
                <a:gd name="T136" fmla="*/ 0 h 371"/>
                <a:gd name="T137" fmla="*/ 111 w 111"/>
                <a:gd name="T138" fmla="*/ 371 h 37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11" h="371">
                  <a:moveTo>
                    <a:pt x="0" y="52"/>
                  </a:moveTo>
                  <a:lnTo>
                    <a:pt x="2" y="45"/>
                  </a:lnTo>
                  <a:lnTo>
                    <a:pt x="5" y="35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9" y="14"/>
                  </a:lnTo>
                  <a:lnTo>
                    <a:pt x="24" y="9"/>
                  </a:lnTo>
                  <a:lnTo>
                    <a:pt x="31" y="4"/>
                  </a:lnTo>
                  <a:lnTo>
                    <a:pt x="40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6" y="0"/>
                  </a:lnTo>
                  <a:lnTo>
                    <a:pt x="73" y="2"/>
                  </a:lnTo>
                  <a:lnTo>
                    <a:pt x="80" y="4"/>
                  </a:lnTo>
                  <a:lnTo>
                    <a:pt x="87" y="9"/>
                  </a:lnTo>
                  <a:lnTo>
                    <a:pt x="95" y="14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9" y="35"/>
                  </a:lnTo>
                  <a:lnTo>
                    <a:pt x="111" y="45"/>
                  </a:lnTo>
                  <a:lnTo>
                    <a:pt x="111" y="54"/>
                  </a:lnTo>
                  <a:lnTo>
                    <a:pt x="111" y="315"/>
                  </a:lnTo>
                  <a:lnTo>
                    <a:pt x="111" y="324"/>
                  </a:lnTo>
                  <a:lnTo>
                    <a:pt x="109" y="333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7" y="360"/>
                  </a:lnTo>
                  <a:lnTo>
                    <a:pt x="80" y="364"/>
                  </a:lnTo>
                  <a:lnTo>
                    <a:pt x="73" y="367"/>
                  </a:lnTo>
                  <a:lnTo>
                    <a:pt x="66" y="369"/>
                  </a:lnTo>
                  <a:lnTo>
                    <a:pt x="57" y="371"/>
                  </a:lnTo>
                  <a:lnTo>
                    <a:pt x="47" y="369"/>
                  </a:lnTo>
                  <a:lnTo>
                    <a:pt x="40" y="367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9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3"/>
                  </a:lnTo>
                  <a:lnTo>
                    <a:pt x="2" y="324"/>
                  </a:lnTo>
                  <a:lnTo>
                    <a:pt x="2" y="315"/>
                  </a:lnTo>
                  <a:lnTo>
                    <a:pt x="2" y="54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" name="Freeform 283"/>
            <p:cNvSpPr>
              <a:spLocks noChangeArrowheads="1"/>
            </p:cNvSpPr>
            <p:nvPr/>
          </p:nvSpPr>
          <p:spPr bwMode="auto">
            <a:xfrm>
              <a:off x="5168" y="2422"/>
              <a:ext cx="111" cy="371"/>
            </a:xfrm>
            <a:custGeom>
              <a:avLst/>
              <a:gdLst>
                <a:gd name="T0" fmla="*/ 0 w 111"/>
                <a:gd name="T1" fmla="*/ 52 h 371"/>
                <a:gd name="T2" fmla="*/ 2 w 111"/>
                <a:gd name="T3" fmla="*/ 45 h 371"/>
                <a:gd name="T4" fmla="*/ 5 w 111"/>
                <a:gd name="T5" fmla="*/ 35 h 371"/>
                <a:gd name="T6" fmla="*/ 7 w 111"/>
                <a:gd name="T7" fmla="*/ 28 h 371"/>
                <a:gd name="T8" fmla="*/ 12 w 111"/>
                <a:gd name="T9" fmla="*/ 21 h 371"/>
                <a:gd name="T10" fmla="*/ 19 w 111"/>
                <a:gd name="T11" fmla="*/ 14 h 371"/>
                <a:gd name="T12" fmla="*/ 24 w 111"/>
                <a:gd name="T13" fmla="*/ 9 h 371"/>
                <a:gd name="T14" fmla="*/ 31 w 111"/>
                <a:gd name="T15" fmla="*/ 4 h 371"/>
                <a:gd name="T16" fmla="*/ 40 w 111"/>
                <a:gd name="T17" fmla="*/ 2 h 371"/>
                <a:gd name="T18" fmla="*/ 47 w 111"/>
                <a:gd name="T19" fmla="*/ 0 h 371"/>
                <a:gd name="T20" fmla="*/ 57 w 111"/>
                <a:gd name="T21" fmla="*/ 0 h 371"/>
                <a:gd name="T22" fmla="*/ 66 w 111"/>
                <a:gd name="T23" fmla="*/ 0 h 371"/>
                <a:gd name="T24" fmla="*/ 73 w 111"/>
                <a:gd name="T25" fmla="*/ 2 h 371"/>
                <a:gd name="T26" fmla="*/ 80 w 111"/>
                <a:gd name="T27" fmla="*/ 4 h 371"/>
                <a:gd name="T28" fmla="*/ 87 w 111"/>
                <a:gd name="T29" fmla="*/ 9 h 371"/>
                <a:gd name="T30" fmla="*/ 95 w 111"/>
                <a:gd name="T31" fmla="*/ 14 h 371"/>
                <a:gd name="T32" fmla="*/ 99 w 111"/>
                <a:gd name="T33" fmla="*/ 21 h 371"/>
                <a:gd name="T34" fmla="*/ 104 w 111"/>
                <a:gd name="T35" fmla="*/ 28 h 371"/>
                <a:gd name="T36" fmla="*/ 109 w 111"/>
                <a:gd name="T37" fmla="*/ 35 h 371"/>
                <a:gd name="T38" fmla="*/ 111 w 111"/>
                <a:gd name="T39" fmla="*/ 45 h 371"/>
                <a:gd name="T40" fmla="*/ 111 w 111"/>
                <a:gd name="T41" fmla="*/ 54 h 371"/>
                <a:gd name="T42" fmla="*/ 111 w 111"/>
                <a:gd name="T43" fmla="*/ 315 h 371"/>
                <a:gd name="T44" fmla="*/ 111 w 111"/>
                <a:gd name="T45" fmla="*/ 324 h 371"/>
                <a:gd name="T46" fmla="*/ 109 w 111"/>
                <a:gd name="T47" fmla="*/ 333 h 371"/>
                <a:gd name="T48" fmla="*/ 104 w 111"/>
                <a:gd name="T49" fmla="*/ 341 h 371"/>
                <a:gd name="T50" fmla="*/ 99 w 111"/>
                <a:gd name="T51" fmla="*/ 348 h 371"/>
                <a:gd name="T52" fmla="*/ 95 w 111"/>
                <a:gd name="T53" fmla="*/ 355 h 371"/>
                <a:gd name="T54" fmla="*/ 87 w 111"/>
                <a:gd name="T55" fmla="*/ 360 h 371"/>
                <a:gd name="T56" fmla="*/ 80 w 111"/>
                <a:gd name="T57" fmla="*/ 364 h 371"/>
                <a:gd name="T58" fmla="*/ 73 w 111"/>
                <a:gd name="T59" fmla="*/ 367 h 371"/>
                <a:gd name="T60" fmla="*/ 66 w 111"/>
                <a:gd name="T61" fmla="*/ 369 h 371"/>
                <a:gd name="T62" fmla="*/ 57 w 111"/>
                <a:gd name="T63" fmla="*/ 371 h 371"/>
                <a:gd name="T64" fmla="*/ 47 w 111"/>
                <a:gd name="T65" fmla="*/ 369 h 371"/>
                <a:gd name="T66" fmla="*/ 40 w 111"/>
                <a:gd name="T67" fmla="*/ 367 h 371"/>
                <a:gd name="T68" fmla="*/ 31 w 111"/>
                <a:gd name="T69" fmla="*/ 364 h 371"/>
                <a:gd name="T70" fmla="*/ 24 w 111"/>
                <a:gd name="T71" fmla="*/ 360 h 371"/>
                <a:gd name="T72" fmla="*/ 19 w 111"/>
                <a:gd name="T73" fmla="*/ 355 h 371"/>
                <a:gd name="T74" fmla="*/ 12 w 111"/>
                <a:gd name="T75" fmla="*/ 348 h 371"/>
                <a:gd name="T76" fmla="*/ 7 w 111"/>
                <a:gd name="T77" fmla="*/ 341 h 371"/>
                <a:gd name="T78" fmla="*/ 5 w 111"/>
                <a:gd name="T79" fmla="*/ 333 h 371"/>
                <a:gd name="T80" fmla="*/ 2 w 111"/>
                <a:gd name="T81" fmla="*/ 324 h 371"/>
                <a:gd name="T82" fmla="*/ 2 w 111"/>
                <a:gd name="T83" fmla="*/ 315 h 371"/>
                <a:gd name="T84" fmla="*/ 2 w 111"/>
                <a:gd name="T85" fmla="*/ 54 h 371"/>
                <a:gd name="T86" fmla="*/ 2 w 111"/>
                <a:gd name="T87" fmla="*/ 54 h 37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1"/>
                <a:gd name="T133" fmla="*/ 0 h 371"/>
                <a:gd name="T134" fmla="*/ 111 w 111"/>
                <a:gd name="T135" fmla="*/ 371 h 37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1" h="371">
                  <a:moveTo>
                    <a:pt x="0" y="52"/>
                  </a:moveTo>
                  <a:lnTo>
                    <a:pt x="2" y="45"/>
                  </a:lnTo>
                  <a:lnTo>
                    <a:pt x="5" y="35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9" y="14"/>
                  </a:lnTo>
                  <a:lnTo>
                    <a:pt x="24" y="9"/>
                  </a:lnTo>
                  <a:lnTo>
                    <a:pt x="31" y="4"/>
                  </a:lnTo>
                  <a:lnTo>
                    <a:pt x="40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6" y="0"/>
                  </a:lnTo>
                  <a:lnTo>
                    <a:pt x="73" y="2"/>
                  </a:lnTo>
                  <a:lnTo>
                    <a:pt x="80" y="4"/>
                  </a:lnTo>
                  <a:lnTo>
                    <a:pt x="87" y="9"/>
                  </a:lnTo>
                  <a:lnTo>
                    <a:pt x="95" y="14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9" y="35"/>
                  </a:lnTo>
                  <a:lnTo>
                    <a:pt x="111" y="45"/>
                  </a:lnTo>
                  <a:lnTo>
                    <a:pt x="111" y="54"/>
                  </a:lnTo>
                  <a:lnTo>
                    <a:pt x="111" y="315"/>
                  </a:lnTo>
                  <a:lnTo>
                    <a:pt x="111" y="324"/>
                  </a:lnTo>
                  <a:lnTo>
                    <a:pt x="109" y="333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7" y="360"/>
                  </a:lnTo>
                  <a:lnTo>
                    <a:pt x="80" y="364"/>
                  </a:lnTo>
                  <a:lnTo>
                    <a:pt x="73" y="367"/>
                  </a:lnTo>
                  <a:lnTo>
                    <a:pt x="66" y="369"/>
                  </a:lnTo>
                  <a:lnTo>
                    <a:pt x="57" y="371"/>
                  </a:lnTo>
                  <a:lnTo>
                    <a:pt x="47" y="369"/>
                  </a:lnTo>
                  <a:lnTo>
                    <a:pt x="40" y="367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9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3"/>
                  </a:lnTo>
                  <a:lnTo>
                    <a:pt x="2" y="324"/>
                  </a:lnTo>
                  <a:lnTo>
                    <a:pt x="2" y="315"/>
                  </a:lnTo>
                  <a:lnTo>
                    <a:pt x="2" y="54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Rectangle 284"/>
            <p:cNvSpPr>
              <a:spLocks noChangeArrowheads="1"/>
            </p:cNvSpPr>
            <p:nvPr/>
          </p:nvSpPr>
          <p:spPr bwMode="auto">
            <a:xfrm>
              <a:off x="5192" y="270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287" name="Freeform 285"/>
            <p:cNvSpPr>
              <a:spLocks noChangeArrowheads="1"/>
            </p:cNvSpPr>
            <p:nvPr/>
          </p:nvSpPr>
          <p:spPr bwMode="auto">
            <a:xfrm>
              <a:off x="3534" y="2391"/>
              <a:ext cx="111" cy="369"/>
            </a:xfrm>
            <a:custGeom>
              <a:avLst/>
              <a:gdLst>
                <a:gd name="T0" fmla="*/ 0 w 111"/>
                <a:gd name="T1" fmla="*/ 52 h 369"/>
                <a:gd name="T2" fmla="*/ 2 w 111"/>
                <a:gd name="T3" fmla="*/ 45 h 369"/>
                <a:gd name="T4" fmla="*/ 5 w 111"/>
                <a:gd name="T5" fmla="*/ 35 h 369"/>
                <a:gd name="T6" fmla="*/ 7 w 111"/>
                <a:gd name="T7" fmla="*/ 28 h 369"/>
                <a:gd name="T8" fmla="*/ 12 w 111"/>
                <a:gd name="T9" fmla="*/ 21 h 369"/>
                <a:gd name="T10" fmla="*/ 16 w 111"/>
                <a:gd name="T11" fmla="*/ 14 h 369"/>
                <a:gd name="T12" fmla="*/ 24 w 111"/>
                <a:gd name="T13" fmla="*/ 9 h 369"/>
                <a:gd name="T14" fmla="*/ 31 w 111"/>
                <a:gd name="T15" fmla="*/ 5 h 369"/>
                <a:gd name="T16" fmla="*/ 38 w 111"/>
                <a:gd name="T17" fmla="*/ 2 h 369"/>
                <a:gd name="T18" fmla="*/ 47 w 111"/>
                <a:gd name="T19" fmla="*/ 0 h 369"/>
                <a:gd name="T20" fmla="*/ 57 w 111"/>
                <a:gd name="T21" fmla="*/ 0 h 369"/>
                <a:gd name="T22" fmla="*/ 64 w 111"/>
                <a:gd name="T23" fmla="*/ 0 h 369"/>
                <a:gd name="T24" fmla="*/ 73 w 111"/>
                <a:gd name="T25" fmla="*/ 2 h 369"/>
                <a:gd name="T26" fmla="*/ 80 w 111"/>
                <a:gd name="T27" fmla="*/ 5 h 369"/>
                <a:gd name="T28" fmla="*/ 88 w 111"/>
                <a:gd name="T29" fmla="*/ 9 h 369"/>
                <a:gd name="T30" fmla="*/ 95 w 111"/>
                <a:gd name="T31" fmla="*/ 14 h 369"/>
                <a:gd name="T32" fmla="*/ 99 w 111"/>
                <a:gd name="T33" fmla="*/ 21 h 369"/>
                <a:gd name="T34" fmla="*/ 104 w 111"/>
                <a:gd name="T35" fmla="*/ 28 h 369"/>
                <a:gd name="T36" fmla="*/ 106 w 111"/>
                <a:gd name="T37" fmla="*/ 35 h 369"/>
                <a:gd name="T38" fmla="*/ 109 w 111"/>
                <a:gd name="T39" fmla="*/ 45 h 369"/>
                <a:gd name="T40" fmla="*/ 111 w 111"/>
                <a:gd name="T41" fmla="*/ 54 h 369"/>
                <a:gd name="T42" fmla="*/ 111 w 111"/>
                <a:gd name="T43" fmla="*/ 315 h 369"/>
                <a:gd name="T44" fmla="*/ 109 w 111"/>
                <a:gd name="T45" fmla="*/ 324 h 369"/>
                <a:gd name="T46" fmla="*/ 106 w 111"/>
                <a:gd name="T47" fmla="*/ 334 h 369"/>
                <a:gd name="T48" fmla="*/ 104 w 111"/>
                <a:gd name="T49" fmla="*/ 341 h 369"/>
                <a:gd name="T50" fmla="*/ 99 w 111"/>
                <a:gd name="T51" fmla="*/ 348 h 369"/>
                <a:gd name="T52" fmla="*/ 95 w 111"/>
                <a:gd name="T53" fmla="*/ 355 h 369"/>
                <a:gd name="T54" fmla="*/ 88 w 111"/>
                <a:gd name="T55" fmla="*/ 360 h 369"/>
                <a:gd name="T56" fmla="*/ 80 w 111"/>
                <a:gd name="T57" fmla="*/ 364 h 369"/>
                <a:gd name="T58" fmla="*/ 73 w 111"/>
                <a:gd name="T59" fmla="*/ 367 h 369"/>
                <a:gd name="T60" fmla="*/ 64 w 111"/>
                <a:gd name="T61" fmla="*/ 369 h 369"/>
                <a:gd name="T62" fmla="*/ 57 w 111"/>
                <a:gd name="T63" fmla="*/ 369 h 369"/>
                <a:gd name="T64" fmla="*/ 47 w 111"/>
                <a:gd name="T65" fmla="*/ 369 h 369"/>
                <a:gd name="T66" fmla="*/ 38 w 111"/>
                <a:gd name="T67" fmla="*/ 367 h 369"/>
                <a:gd name="T68" fmla="*/ 31 w 111"/>
                <a:gd name="T69" fmla="*/ 364 h 369"/>
                <a:gd name="T70" fmla="*/ 24 w 111"/>
                <a:gd name="T71" fmla="*/ 360 h 369"/>
                <a:gd name="T72" fmla="*/ 16 w 111"/>
                <a:gd name="T73" fmla="*/ 355 h 369"/>
                <a:gd name="T74" fmla="*/ 12 w 111"/>
                <a:gd name="T75" fmla="*/ 348 h 369"/>
                <a:gd name="T76" fmla="*/ 7 w 111"/>
                <a:gd name="T77" fmla="*/ 341 h 369"/>
                <a:gd name="T78" fmla="*/ 5 w 111"/>
                <a:gd name="T79" fmla="*/ 334 h 369"/>
                <a:gd name="T80" fmla="*/ 2 w 111"/>
                <a:gd name="T81" fmla="*/ 324 h 369"/>
                <a:gd name="T82" fmla="*/ 2 w 111"/>
                <a:gd name="T83" fmla="*/ 315 h 369"/>
                <a:gd name="T84" fmla="*/ 2 w 111"/>
                <a:gd name="T85" fmla="*/ 54 h 369"/>
                <a:gd name="T86" fmla="*/ 2 w 111"/>
                <a:gd name="T87" fmla="*/ 54 h 369"/>
                <a:gd name="T88" fmla="*/ 0 w 111"/>
                <a:gd name="T89" fmla="*/ 52 h 36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11"/>
                <a:gd name="T136" fmla="*/ 0 h 369"/>
                <a:gd name="T137" fmla="*/ 111 w 111"/>
                <a:gd name="T138" fmla="*/ 369 h 369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11" h="369">
                  <a:moveTo>
                    <a:pt x="0" y="52"/>
                  </a:moveTo>
                  <a:lnTo>
                    <a:pt x="2" y="45"/>
                  </a:lnTo>
                  <a:lnTo>
                    <a:pt x="5" y="35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4"/>
                  </a:lnTo>
                  <a:lnTo>
                    <a:pt x="24" y="9"/>
                  </a:lnTo>
                  <a:lnTo>
                    <a:pt x="31" y="5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5"/>
                  </a:lnTo>
                  <a:lnTo>
                    <a:pt x="88" y="9"/>
                  </a:lnTo>
                  <a:lnTo>
                    <a:pt x="95" y="14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6" y="35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15"/>
                  </a:lnTo>
                  <a:lnTo>
                    <a:pt x="109" y="324"/>
                  </a:lnTo>
                  <a:lnTo>
                    <a:pt x="106" y="334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8" y="360"/>
                  </a:lnTo>
                  <a:lnTo>
                    <a:pt x="80" y="364"/>
                  </a:lnTo>
                  <a:lnTo>
                    <a:pt x="73" y="367"/>
                  </a:lnTo>
                  <a:lnTo>
                    <a:pt x="64" y="369"/>
                  </a:lnTo>
                  <a:lnTo>
                    <a:pt x="57" y="369"/>
                  </a:lnTo>
                  <a:lnTo>
                    <a:pt x="47" y="369"/>
                  </a:lnTo>
                  <a:lnTo>
                    <a:pt x="38" y="367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6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4"/>
                  </a:lnTo>
                  <a:lnTo>
                    <a:pt x="2" y="324"/>
                  </a:lnTo>
                  <a:lnTo>
                    <a:pt x="2" y="315"/>
                  </a:lnTo>
                  <a:lnTo>
                    <a:pt x="2" y="54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" name="Freeform 286"/>
            <p:cNvSpPr>
              <a:spLocks noChangeArrowheads="1"/>
            </p:cNvSpPr>
            <p:nvPr/>
          </p:nvSpPr>
          <p:spPr bwMode="auto">
            <a:xfrm>
              <a:off x="3534" y="2391"/>
              <a:ext cx="111" cy="369"/>
            </a:xfrm>
            <a:custGeom>
              <a:avLst/>
              <a:gdLst>
                <a:gd name="T0" fmla="*/ 0 w 111"/>
                <a:gd name="T1" fmla="*/ 52 h 369"/>
                <a:gd name="T2" fmla="*/ 2 w 111"/>
                <a:gd name="T3" fmla="*/ 45 h 369"/>
                <a:gd name="T4" fmla="*/ 5 w 111"/>
                <a:gd name="T5" fmla="*/ 35 h 369"/>
                <a:gd name="T6" fmla="*/ 7 w 111"/>
                <a:gd name="T7" fmla="*/ 28 h 369"/>
                <a:gd name="T8" fmla="*/ 12 w 111"/>
                <a:gd name="T9" fmla="*/ 21 h 369"/>
                <a:gd name="T10" fmla="*/ 16 w 111"/>
                <a:gd name="T11" fmla="*/ 14 h 369"/>
                <a:gd name="T12" fmla="*/ 24 w 111"/>
                <a:gd name="T13" fmla="*/ 9 h 369"/>
                <a:gd name="T14" fmla="*/ 31 w 111"/>
                <a:gd name="T15" fmla="*/ 5 h 369"/>
                <a:gd name="T16" fmla="*/ 38 w 111"/>
                <a:gd name="T17" fmla="*/ 2 h 369"/>
                <a:gd name="T18" fmla="*/ 47 w 111"/>
                <a:gd name="T19" fmla="*/ 0 h 369"/>
                <a:gd name="T20" fmla="*/ 57 w 111"/>
                <a:gd name="T21" fmla="*/ 0 h 369"/>
                <a:gd name="T22" fmla="*/ 64 w 111"/>
                <a:gd name="T23" fmla="*/ 0 h 369"/>
                <a:gd name="T24" fmla="*/ 73 w 111"/>
                <a:gd name="T25" fmla="*/ 2 h 369"/>
                <a:gd name="T26" fmla="*/ 80 w 111"/>
                <a:gd name="T27" fmla="*/ 5 h 369"/>
                <a:gd name="T28" fmla="*/ 88 w 111"/>
                <a:gd name="T29" fmla="*/ 9 h 369"/>
                <a:gd name="T30" fmla="*/ 95 w 111"/>
                <a:gd name="T31" fmla="*/ 14 h 369"/>
                <a:gd name="T32" fmla="*/ 99 w 111"/>
                <a:gd name="T33" fmla="*/ 21 h 369"/>
                <a:gd name="T34" fmla="*/ 104 w 111"/>
                <a:gd name="T35" fmla="*/ 28 h 369"/>
                <a:gd name="T36" fmla="*/ 106 w 111"/>
                <a:gd name="T37" fmla="*/ 35 h 369"/>
                <a:gd name="T38" fmla="*/ 109 w 111"/>
                <a:gd name="T39" fmla="*/ 45 h 369"/>
                <a:gd name="T40" fmla="*/ 111 w 111"/>
                <a:gd name="T41" fmla="*/ 54 h 369"/>
                <a:gd name="T42" fmla="*/ 111 w 111"/>
                <a:gd name="T43" fmla="*/ 315 h 369"/>
                <a:gd name="T44" fmla="*/ 109 w 111"/>
                <a:gd name="T45" fmla="*/ 324 h 369"/>
                <a:gd name="T46" fmla="*/ 106 w 111"/>
                <a:gd name="T47" fmla="*/ 334 h 369"/>
                <a:gd name="T48" fmla="*/ 104 w 111"/>
                <a:gd name="T49" fmla="*/ 341 h 369"/>
                <a:gd name="T50" fmla="*/ 99 w 111"/>
                <a:gd name="T51" fmla="*/ 348 h 369"/>
                <a:gd name="T52" fmla="*/ 95 w 111"/>
                <a:gd name="T53" fmla="*/ 355 h 369"/>
                <a:gd name="T54" fmla="*/ 88 w 111"/>
                <a:gd name="T55" fmla="*/ 360 h 369"/>
                <a:gd name="T56" fmla="*/ 80 w 111"/>
                <a:gd name="T57" fmla="*/ 364 h 369"/>
                <a:gd name="T58" fmla="*/ 73 w 111"/>
                <a:gd name="T59" fmla="*/ 367 h 369"/>
                <a:gd name="T60" fmla="*/ 64 w 111"/>
                <a:gd name="T61" fmla="*/ 369 h 369"/>
                <a:gd name="T62" fmla="*/ 57 w 111"/>
                <a:gd name="T63" fmla="*/ 369 h 369"/>
                <a:gd name="T64" fmla="*/ 47 w 111"/>
                <a:gd name="T65" fmla="*/ 369 h 369"/>
                <a:gd name="T66" fmla="*/ 38 w 111"/>
                <a:gd name="T67" fmla="*/ 367 h 369"/>
                <a:gd name="T68" fmla="*/ 31 w 111"/>
                <a:gd name="T69" fmla="*/ 364 h 369"/>
                <a:gd name="T70" fmla="*/ 24 w 111"/>
                <a:gd name="T71" fmla="*/ 360 h 369"/>
                <a:gd name="T72" fmla="*/ 16 w 111"/>
                <a:gd name="T73" fmla="*/ 355 h 369"/>
                <a:gd name="T74" fmla="*/ 12 w 111"/>
                <a:gd name="T75" fmla="*/ 348 h 369"/>
                <a:gd name="T76" fmla="*/ 7 w 111"/>
                <a:gd name="T77" fmla="*/ 341 h 369"/>
                <a:gd name="T78" fmla="*/ 5 w 111"/>
                <a:gd name="T79" fmla="*/ 334 h 369"/>
                <a:gd name="T80" fmla="*/ 2 w 111"/>
                <a:gd name="T81" fmla="*/ 324 h 369"/>
                <a:gd name="T82" fmla="*/ 2 w 111"/>
                <a:gd name="T83" fmla="*/ 315 h 369"/>
                <a:gd name="T84" fmla="*/ 2 w 111"/>
                <a:gd name="T85" fmla="*/ 54 h 369"/>
                <a:gd name="T86" fmla="*/ 2 w 111"/>
                <a:gd name="T87" fmla="*/ 54 h 36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1"/>
                <a:gd name="T133" fmla="*/ 0 h 369"/>
                <a:gd name="T134" fmla="*/ 111 w 111"/>
                <a:gd name="T135" fmla="*/ 369 h 36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1" h="369">
                  <a:moveTo>
                    <a:pt x="0" y="52"/>
                  </a:moveTo>
                  <a:lnTo>
                    <a:pt x="2" y="45"/>
                  </a:lnTo>
                  <a:lnTo>
                    <a:pt x="5" y="35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4"/>
                  </a:lnTo>
                  <a:lnTo>
                    <a:pt x="24" y="9"/>
                  </a:lnTo>
                  <a:lnTo>
                    <a:pt x="31" y="5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5"/>
                  </a:lnTo>
                  <a:lnTo>
                    <a:pt x="88" y="9"/>
                  </a:lnTo>
                  <a:lnTo>
                    <a:pt x="95" y="14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6" y="35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15"/>
                  </a:lnTo>
                  <a:lnTo>
                    <a:pt x="109" y="324"/>
                  </a:lnTo>
                  <a:lnTo>
                    <a:pt x="106" y="334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8" y="360"/>
                  </a:lnTo>
                  <a:lnTo>
                    <a:pt x="80" y="364"/>
                  </a:lnTo>
                  <a:lnTo>
                    <a:pt x="73" y="367"/>
                  </a:lnTo>
                  <a:lnTo>
                    <a:pt x="64" y="369"/>
                  </a:lnTo>
                  <a:lnTo>
                    <a:pt x="57" y="369"/>
                  </a:lnTo>
                  <a:lnTo>
                    <a:pt x="47" y="369"/>
                  </a:lnTo>
                  <a:lnTo>
                    <a:pt x="38" y="367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6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4"/>
                  </a:lnTo>
                  <a:lnTo>
                    <a:pt x="2" y="324"/>
                  </a:lnTo>
                  <a:lnTo>
                    <a:pt x="2" y="315"/>
                  </a:lnTo>
                  <a:lnTo>
                    <a:pt x="2" y="54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9" name="Rectangle 287"/>
            <p:cNvSpPr>
              <a:spLocks noChangeArrowheads="1"/>
            </p:cNvSpPr>
            <p:nvPr/>
          </p:nvSpPr>
          <p:spPr bwMode="auto">
            <a:xfrm>
              <a:off x="3555" y="241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290" name="Freeform 288"/>
            <p:cNvSpPr>
              <a:spLocks noChangeArrowheads="1"/>
            </p:cNvSpPr>
            <p:nvPr/>
          </p:nvSpPr>
          <p:spPr bwMode="auto">
            <a:xfrm>
              <a:off x="2241" y="2346"/>
              <a:ext cx="111" cy="372"/>
            </a:xfrm>
            <a:custGeom>
              <a:avLst/>
              <a:gdLst>
                <a:gd name="T0" fmla="*/ 0 w 111"/>
                <a:gd name="T1" fmla="*/ 54 h 372"/>
                <a:gd name="T2" fmla="*/ 2 w 111"/>
                <a:gd name="T3" fmla="*/ 45 h 372"/>
                <a:gd name="T4" fmla="*/ 5 w 111"/>
                <a:gd name="T5" fmla="*/ 38 h 372"/>
                <a:gd name="T6" fmla="*/ 7 w 111"/>
                <a:gd name="T7" fmla="*/ 28 h 372"/>
                <a:gd name="T8" fmla="*/ 12 w 111"/>
                <a:gd name="T9" fmla="*/ 21 h 372"/>
                <a:gd name="T10" fmla="*/ 16 w 111"/>
                <a:gd name="T11" fmla="*/ 16 h 372"/>
                <a:gd name="T12" fmla="*/ 24 w 111"/>
                <a:gd name="T13" fmla="*/ 9 h 372"/>
                <a:gd name="T14" fmla="*/ 31 w 111"/>
                <a:gd name="T15" fmla="*/ 7 h 372"/>
                <a:gd name="T16" fmla="*/ 38 w 111"/>
                <a:gd name="T17" fmla="*/ 2 h 372"/>
                <a:gd name="T18" fmla="*/ 47 w 111"/>
                <a:gd name="T19" fmla="*/ 0 h 372"/>
                <a:gd name="T20" fmla="*/ 57 w 111"/>
                <a:gd name="T21" fmla="*/ 0 h 372"/>
                <a:gd name="T22" fmla="*/ 64 w 111"/>
                <a:gd name="T23" fmla="*/ 0 h 372"/>
                <a:gd name="T24" fmla="*/ 73 w 111"/>
                <a:gd name="T25" fmla="*/ 2 h 372"/>
                <a:gd name="T26" fmla="*/ 80 w 111"/>
                <a:gd name="T27" fmla="*/ 7 h 372"/>
                <a:gd name="T28" fmla="*/ 88 w 111"/>
                <a:gd name="T29" fmla="*/ 9 h 372"/>
                <a:gd name="T30" fmla="*/ 95 w 111"/>
                <a:gd name="T31" fmla="*/ 16 h 372"/>
                <a:gd name="T32" fmla="*/ 99 w 111"/>
                <a:gd name="T33" fmla="*/ 21 h 372"/>
                <a:gd name="T34" fmla="*/ 104 w 111"/>
                <a:gd name="T35" fmla="*/ 28 h 372"/>
                <a:gd name="T36" fmla="*/ 109 w 111"/>
                <a:gd name="T37" fmla="*/ 38 h 372"/>
                <a:gd name="T38" fmla="*/ 109 w 111"/>
                <a:gd name="T39" fmla="*/ 45 h 372"/>
                <a:gd name="T40" fmla="*/ 111 w 111"/>
                <a:gd name="T41" fmla="*/ 54 h 372"/>
                <a:gd name="T42" fmla="*/ 111 w 111"/>
                <a:gd name="T43" fmla="*/ 317 h 372"/>
                <a:gd name="T44" fmla="*/ 109 w 111"/>
                <a:gd name="T45" fmla="*/ 327 h 372"/>
                <a:gd name="T46" fmla="*/ 109 w 111"/>
                <a:gd name="T47" fmla="*/ 334 h 372"/>
                <a:gd name="T48" fmla="*/ 104 w 111"/>
                <a:gd name="T49" fmla="*/ 341 h 372"/>
                <a:gd name="T50" fmla="*/ 99 w 111"/>
                <a:gd name="T51" fmla="*/ 348 h 372"/>
                <a:gd name="T52" fmla="*/ 95 w 111"/>
                <a:gd name="T53" fmla="*/ 355 h 372"/>
                <a:gd name="T54" fmla="*/ 88 w 111"/>
                <a:gd name="T55" fmla="*/ 360 h 372"/>
                <a:gd name="T56" fmla="*/ 80 w 111"/>
                <a:gd name="T57" fmla="*/ 364 h 372"/>
                <a:gd name="T58" fmla="*/ 73 w 111"/>
                <a:gd name="T59" fmla="*/ 369 h 372"/>
                <a:gd name="T60" fmla="*/ 64 w 111"/>
                <a:gd name="T61" fmla="*/ 372 h 372"/>
                <a:gd name="T62" fmla="*/ 57 w 111"/>
                <a:gd name="T63" fmla="*/ 372 h 372"/>
                <a:gd name="T64" fmla="*/ 47 w 111"/>
                <a:gd name="T65" fmla="*/ 372 h 372"/>
                <a:gd name="T66" fmla="*/ 38 w 111"/>
                <a:gd name="T67" fmla="*/ 369 h 372"/>
                <a:gd name="T68" fmla="*/ 31 w 111"/>
                <a:gd name="T69" fmla="*/ 364 h 372"/>
                <a:gd name="T70" fmla="*/ 24 w 111"/>
                <a:gd name="T71" fmla="*/ 360 h 372"/>
                <a:gd name="T72" fmla="*/ 16 w 111"/>
                <a:gd name="T73" fmla="*/ 355 h 372"/>
                <a:gd name="T74" fmla="*/ 12 w 111"/>
                <a:gd name="T75" fmla="*/ 348 h 372"/>
                <a:gd name="T76" fmla="*/ 7 w 111"/>
                <a:gd name="T77" fmla="*/ 341 h 372"/>
                <a:gd name="T78" fmla="*/ 5 w 111"/>
                <a:gd name="T79" fmla="*/ 334 h 372"/>
                <a:gd name="T80" fmla="*/ 2 w 111"/>
                <a:gd name="T81" fmla="*/ 327 h 372"/>
                <a:gd name="T82" fmla="*/ 2 w 111"/>
                <a:gd name="T83" fmla="*/ 317 h 372"/>
                <a:gd name="T84" fmla="*/ 2 w 111"/>
                <a:gd name="T85" fmla="*/ 54 h 372"/>
                <a:gd name="T86" fmla="*/ 2 w 111"/>
                <a:gd name="T87" fmla="*/ 54 h 372"/>
                <a:gd name="T88" fmla="*/ 0 w 111"/>
                <a:gd name="T89" fmla="*/ 54 h 37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11"/>
                <a:gd name="T136" fmla="*/ 0 h 372"/>
                <a:gd name="T137" fmla="*/ 111 w 111"/>
                <a:gd name="T138" fmla="*/ 372 h 37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11" h="372">
                  <a:moveTo>
                    <a:pt x="0" y="54"/>
                  </a:moveTo>
                  <a:lnTo>
                    <a:pt x="2" y="45"/>
                  </a:lnTo>
                  <a:lnTo>
                    <a:pt x="5" y="38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6"/>
                  </a:lnTo>
                  <a:lnTo>
                    <a:pt x="24" y="9"/>
                  </a:lnTo>
                  <a:lnTo>
                    <a:pt x="31" y="7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9"/>
                  </a:lnTo>
                  <a:lnTo>
                    <a:pt x="95" y="16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9" y="38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17"/>
                  </a:lnTo>
                  <a:lnTo>
                    <a:pt x="109" y="327"/>
                  </a:lnTo>
                  <a:lnTo>
                    <a:pt x="109" y="334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8" y="360"/>
                  </a:lnTo>
                  <a:lnTo>
                    <a:pt x="80" y="364"/>
                  </a:lnTo>
                  <a:lnTo>
                    <a:pt x="73" y="369"/>
                  </a:lnTo>
                  <a:lnTo>
                    <a:pt x="64" y="372"/>
                  </a:lnTo>
                  <a:lnTo>
                    <a:pt x="57" y="372"/>
                  </a:lnTo>
                  <a:lnTo>
                    <a:pt x="47" y="372"/>
                  </a:lnTo>
                  <a:lnTo>
                    <a:pt x="38" y="369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6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4"/>
                  </a:lnTo>
                  <a:lnTo>
                    <a:pt x="2" y="327"/>
                  </a:lnTo>
                  <a:lnTo>
                    <a:pt x="2" y="317"/>
                  </a:lnTo>
                  <a:lnTo>
                    <a:pt x="2" y="5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1" name="Freeform 289"/>
            <p:cNvSpPr>
              <a:spLocks noChangeArrowheads="1"/>
            </p:cNvSpPr>
            <p:nvPr/>
          </p:nvSpPr>
          <p:spPr bwMode="auto">
            <a:xfrm>
              <a:off x="2241" y="2346"/>
              <a:ext cx="111" cy="372"/>
            </a:xfrm>
            <a:custGeom>
              <a:avLst/>
              <a:gdLst>
                <a:gd name="T0" fmla="*/ 0 w 111"/>
                <a:gd name="T1" fmla="*/ 54 h 372"/>
                <a:gd name="T2" fmla="*/ 2 w 111"/>
                <a:gd name="T3" fmla="*/ 45 h 372"/>
                <a:gd name="T4" fmla="*/ 5 w 111"/>
                <a:gd name="T5" fmla="*/ 38 h 372"/>
                <a:gd name="T6" fmla="*/ 7 w 111"/>
                <a:gd name="T7" fmla="*/ 28 h 372"/>
                <a:gd name="T8" fmla="*/ 12 w 111"/>
                <a:gd name="T9" fmla="*/ 21 h 372"/>
                <a:gd name="T10" fmla="*/ 16 w 111"/>
                <a:gd name="T11" fmla="*/ 16 h 372"/>
                <a:gd name="T12" fmla="*/ 24 w 111"/>
                <a:gd name="T13" fmla="*/ 9 h 372"/>
                <a:gd name="T14" fmla="*/ 31 w 111"/>
                <a:gd name="T15" fmla="*/ 7 h 372"/>
                <a:gd name="T16" fmla="*/ 38 w 111"/>
                <a:gd name="T17" fmla="*/ 2 h 372"/>
                <a:gd name="T18" fmla="*/ 47 w 111"/>
                <a:gd name="T19" fmla="*/ 0 h 372"/>
                <a:gd name="T20" fmla="*/ 57 w 111"/>
                <a:gd name="T21" fmla="*/ 0 h 372"/>
                <a:gd name="T22" fmla="*/ 64 w 111"/>
                <a:gd name="T23" fmla="*/ 0 h 372"/>
                <a:gd name="T24" fmla="*/ 73 w 111"/>
                <a:gd name="T25" fmla="*/ 2 h 372"/>
                <a:gd name="T26" fmla="*/ 80 w 111"/>
                <a:gd name="T27" fmla="*/ 7 h 372"/>
                <a:gd name="T28" fmla="*/ 88 w 111"/>
                <a:gd name="T29" fmla="*/ 9 h 372"/>
                <a:gd name="T30" fmla="*/ 95 w 111"/>
                <a:gd name="T31" fmla="*/ 16 h 372"/>
                <a:gd name="T32" fmla="*/ 99 w 111"/>
                <a:gd name="T33" fmla="*/ 21 h 372"/>
                <a:gd name="T34" fmla="*/ 104 w 111"/>
                <a:gd name="T35" fmla="*/ 28 h 372"/>
                <a:gd name="T36" fmla="*/ 109 w 111"/>
                <a:gd name="T37" fmla="*/ 38 h 372"/>
                <a:gd name="T38" fmla="*/ 109 w 111"/>
                <a:gd name="T39" fmla="*/ 45 h 372"/>
                <a:gd name="T40" fmla="*/ 111 w 111"/>
                <a:gd name="T41" fmla="*/ 54 h 372"/>
                <a:gd name="T42" fmla="*/ 111 w 111"/>
                <a:gd name="T43" fmla="*/ 317 h 372"/>
                <a:gd name="T44" fmla="*/ 109 w 111"/>
                <a:gd name="T45" fmla="*/ 327 h 372"/>
                <a:gd name="T46" fmla="*/ 109 w 111"/>
                <a:gd name="T47" fmla="*/ 334 h 372"/>
                <a:gd name="T48" fmla="*/ 104 w 111"/>
                <a:gd name="T49" fmla="*/ 341 h 372"/>
                <a:gd name="T50" fmla="*/ 99 w 111"/>
                <a:gd name="T51" fmla="*/ 348 h 372"/>
                <a:gd name="T52" fmla="*/ 95 w 111"/>
                <a:gd name="T53" fmla="*/ 355 h 372"/>
                <a:gd name="T54" fmla="*/ 88 w 111"/>
                <a:gd name="T55" fmla="*/ 360 h 372"/>
                <a:gd name="T56" fmla="*/ 80 w 111"/>
                <a:gd name="T57" fmla="*/ 364 h 372"/>
                <a:gd name="T58" fmla="*/ 73 w 111"/>
                <a:gd name="T59" fmla="*/ 369 h 372"/>
                <a:gd name="T60" fmla="*/ 64 w 111"/>
                <a:gd name="T61" fmla="*/ 372 h 372"/>
                <a:gd name="T62" fmla="*/ 57 w 111"/>
                <a:gd name="T63" fmla="*/ 372 h 372"/>
                <a:gd name="T64" fmla="*/ 47 w 111"/>
                <a:gd name="T65" fmla="*/ 372 h 372"/>
                <a:gd name="T66" fmla="*/ 38 w 111"/>
                <a:gd name="T67" fmla="*/ 369 h 372"/>
                <a:gd name="T68" fmla="*/ 31 w 111"/>
                <a:gd name="T69" fmla="*/ 364 h 372"/>
                <a:gd name="T70" fmla="*/ 24 w 111"/>
                <a:gd name="T71" fmla="*/ 360 h 372"/>
                <a:gd name="T72" fmla="*/ 16 w 111"/>
                <a:gd name="T73" fmla="*/ 355 h 372"/>
                <a:gd name="T74" fmla="*/ 12 w 111"/>
                <a:gd name="T75" fmla="*/ 348 h 372"/>
                <a:gd name="T76" fmla="*/ 7 w 111"/>
                <a:gd name="T77" fmla="*/ 341 h 372"/>
                <a:gd name="T78" fmla="*/ 5 w 111"/>
                <a:gd name="T79" fmla="*/ 334 h 372"/>
                <a:gd name="T80" fmla="*/ 2 w 111"/>
                <a:gd name="T81" fmla="*/ 327 h 372"/>
                <a:gd name="T82" fmla="*/ 2 w 111"/>
                <a:gd name="T83" fmla="*/ 317 h 372"/>
                <a:gd name="T84" fmla="*/ 2 w 111"/>
                <a:gd name="T85" fmla="*/ 54 h 372"/>
                <a:gd name="T86" fmla="*/ 2 w 111"/>
                <a:gd name="T87" fmla="*/ 54 h 37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1"/>
                <a:gd name="T133" fmla="*/ 0 h 372"/>
                <a:gd name="T134" fmla="*/ 111 w 111"/>
                <a:gd name="T135" fmla="*/ 372 h 37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1" h="372">
                  <a:moveTo>
                    <a:pt x="0" y="54"/>
                  </a:moveTo>
                  <a:lnTo>
                    <a:pt x="2" y="45"/>
                  </a:lnTo>
                  <a:lnTo>
                    <a:pt x="5" y="38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6"/>
                  </a:lnTo>
                  <a:lnTo>
                    <a:pt x="24" y="9"/>
                  </a:lnTo>
                  <a:lnTo>
                    <a:pt x="31" y="7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9"/>
                  </a:lnTo>
                  <a:lnTo>
                    <a:pt x="95" y="16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9" y="38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17"/>
                  </a:lnTo>
                  <a:lnTo>
                    <a:pt x="109" y="327"/>
                  </a:lnTo>
                  <a:lnTo>
                    <a:pt x="109" y="334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8" y="360"/>
                  </a:lnTo>
                  <a:lnTo>
                    <a:pt x="80" y="364"/>
                  </a:lnTo>
                  <a:lnTo>
                    <a:pt x="73" y="369"/>
                  </a:lnTo>
                  <a:lnTo>
                    <a:pt x="64" y="372"/>
                  </a:lnTo>
                  <a:lnTo>
                    <a:pt x="57" y="372"/>
                  </a:lnTo>
                  <a:lnTo>
                    <a:pt x="47" y="372"/>
                  </a:lnTo>
                  <a:lnTo>
                    <a:pt x="38" y="369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6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4"/>
                  </a:lnTo>
                  <a:lnTo>
                    <a:pt x="2" y="327"/>
                  </a:lnTo>
                  <a:lnTo>
                    <a:pt x="2" y="317"/>
                  </a:lnTo>
                  <a:lnTo>
                    <a:pt x="2" y="54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" name="Rectangle 290"/>
            <p:cNvSpPr>
              <a:spLocks noChangeArrowheads="1"/>
            </p:cNvSpPr>
            <p:nvPr/>
          </p:nvSpPr>
          <p:spPr bwMode="auto">
            <a:xfrm>
              <a:off x="2270" y="2439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93" name="Rectangle 291"/>
            <p:cNvSpPr>
              <a:spLocks noChangeArrowheads="1"/>
            </p:cNvSpPr>
            <p:nvPr/>
          </p:nvSpPr>
          <p:spPr bwMode="auto">
            <a:xfrm>
              <a:off x="2319" y="243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4" name="Rectangle 292"/>
            <p:cNvSpPr>
              <a:spLocks noChangeArrowheads="1"/>
            </p:cNvSpPr>
            <p:nvPr/>
          </p:nvSpPr>
          <p:spPr bwMode="auto">
            <a:xfrm>
              <a:off x="2281" y="249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95" name="Rectangle 293"/>
            <p:cNvSpPr>
              <a:spLocks noChangeArrowheads="1"/>
            </p:cNvSpPr>
            <p:nvPr/>
          </p:nvSpPr>
          <p:spPr bwMode="auto">
            <a:xfrm>
              <a:off x="2312" y="2495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" name="Rectangle 294"/>
            <p:cNvSpPr>
              <a:spLocks noChangeArrowheads="1"/>
            </p:cNvSpPr>
            <p:nvPr/>
          </p:nvSpPr>
          <p:spPr bwMode="auto">
            <a:xfrm>
              <a:off x="2281" y="2555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297" name="Rectangle 295"/>
            <p:cNvSpPr>
              <a:spLocks noChangeArrowheads="1"/>
            </p:cNvSpPr>
            <p:nvPr/>
          </p:nvSpPr>
          <p:spPr bwMode="auto">
            <a:xfrm>
              <a:off x="2262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298" name="Rectangle 296"/>
            <p:cNvSpPr>
              <a:spLocks noChangeArrowheads="1"/>
            </p:cNvSpPr>
            <p:nvPr/>
          </p:nvSpPr>
          <p:spPr bwMode="auto">
            <a:xfrm>
              <a:off x="2262" y="26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grpSp>
          <p:nvGrpSpPr>
            <p:cNvPr id="299" name="Group 297"/>
            <p:cNvGrpSpPr>
              <a:grpSpLocks/>
            </p:cNvGrpSpPr>
            <p:nvPr/>
          </p:nvGrpSpPr>
          <p:grpSpPr bwMode="auto">
            <a:xfrm>
              <a:off x="2267" y="1617"/>
              <a:ext cx="193" cy="76"/>
              <a:chOff x="2267" y="1617"/>
              <a:chExt cx="193" cy="76"/>
            </a:xfrm>
          </p:grpSpPr>
          <p:sp>
            <p:nvSpPr>
              <p:cNvPr id="581" name="Rectangle 298"/>
              <p:cNvSpPr>
                <a:spLocks noChangeArrowheads="1"/>
              </p:cNvSpPr>
              <p:nvPr/>
            </p:nvSpPr>
            <p:spPr bwMode="auto">
              <a:xfrm>
                <a:off x="2267" y="1617"/>
                <a:ext cx="47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582" name="Rectangle 299"/>
              <p:cNvSpPr>
                <a:spLocks noChangeArrowheads="1"/>
              </p:cNvSpPr>
              <p:nvPr/>
            </p:nvSpPr>
            <p:spPr bwMode="auto">
              <a:xfrm>
                <a:off x="2306" y="1617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583" name="Rectangle 300"/>
              <p:cNvSpPr>
                <a:spLocks noChangeArrowheads="1"/>
              </p:cNvSpPr>
              <p:nvPr/>
            </p:nvSpPr>
            <p:spPr bwMode="auto">
              <a:xfrm>
                <a:off x="2340" y="1617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584" name="Rectangle 301"/>
              <p:cNvSpPr>
                <a:spLocks noChangeArrowheads="1"/>
              </p:cNvSpPr>
              <p:nvPr/>
            </p:nvSpPr>
            <p:spPr bwMode="auto">
              <a:xfrm>
                <a:off x="2374" y="1617"/>
                <a:ext cx="22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585" name="Rectangle 302"/>
              <p:cNvSpPr>
                <a:spLocks noChangeArrowheads="1"/>
              </p:cNvSpPr>
              <p:nvPr/>
            </p:nvSpPr>
            <p:spPr bwMode="auto">
              <a:xfrm>
                <a:off x="2390" y="1617"/>
                <a:ext cx="26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586" name="Rectangle 303"/>
              <p:cNvSpPr>
                <a:spLocks noChangeArrowheads="1"/>
              </p:cNvSpPr>
              <p:nvPr/>
            </p:nvSpPr>
            <p:spPr bwMode="auto">
              <a:xfrm>
                <a:off x="2409" y="1617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587" name="Rectangle 304"/>
              <p:cNvSpPr>
                <a:spLocks noChangeArrowheads="1"/>
              </p:cNvSpPr>
              <p:nvPr/>
            </p:nvSpPr>
            <p:spPr bwMode="auto">
              <a:xfrm>
                <a:off x="2442" y="1617"/>
                <a:ext cx="19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</p:grpSp>
        <p:sp>
          <p:nvSpPr>
            <p:cNvPr id="300" name="Freeform 305"/>
            <p:cNvSpPr>
              <a:spLocks noChangeArrowheads="1"/>
            </p:cNvSpPr>
            <p:nvPr/>
          </p:nvSpPr>
          <p:spPr bwMode="auto">
            <a:xfrm>
              <a:off x="2191" y="1633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3 w 31"/>
                <a:gd name="T3" fmla="*/ 31 h 31"/>
                <a:gd name="T4" fmla="*/ 31 w 31"/>
                <a:gd name="T5" fmla="*/ 17 h 31"/>
                <a:gd name="T6" fmla="*/ 0 w 31"/>
                <a:gd name="T7" fmla="*/ 2 h 31"/>
                <a:gd name="T8" fmla="*/ 0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3" y="31"/>
                  </a:lnTo>
                  <a:lnTo>
                    <a:pt x="31" y="17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" name="Rectangle 306"/>
            <p:cNvSpPr>
              <a:spLocks noChangeArrowheads="1"/>
            </p:cNvSpPr>
            <p:nvPr/>
          </p:nvSpPr>
          <p:spPr bwMode="auto">
            <a:xfrm>
              <a:off x="3851" y="1087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02" name="Rectangle 307"/>
            <p:cNvSpPr>
              <a:spLocks noChangeArrowheads="1"/>
            </p:cNvSpPr>
            <p:nvPr/>
          </p:nvSpPr>
          <p:spPr bwMode="auto">
            <a:xfrm>
              <a:off x="3889" y="10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03" name="Rectangle 308"/>
            <p:cNvSpPr>
              <a:spLocks noChangeArrowheads="1"/>
            </p:cNvSpPr>
            <p:nvPr/>
          </p:nvSpPr>
          <p:spPr bwMode="auto">
            <a:xfrm>
              <a:off x="3922" y="10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04" name="Rectangle 309"/>
            <p:cNvSpPr>
              <a:spLocks noChangeArrowheads="1"/>
            </p:cNvSpPr>
            <p:nvPr/>
          </p:nvSpPr>
          <p:spPr bwMode="auto">
            <a:xfrm>
              <a:off x="4019" y="1056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05" name="Rectangle 310"/>
            <p:cNvSpPr>
              <a:spLocks noChangeArrowheads="1"/>
            </p:cNvSpPr>
            <p:nvPr/>
          </p:nvSpPr>
          <p:spPr bwMode="auto">
            <a:xfrm>
              <a:off x="4057" y="105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306" name="Rectangle 311"/>
            <p:cNvSpPr>
              <a:spLocks noChangeArrowheads="1"/>
            </p:cNvSpPr>
            <p:nvPr/>
          </p:nvSpPr>
          <p:spPr bwMode="auto">
            <a:xfrm>
              <a:off x="4090" y="1056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307" name="Rectangle 312"/>
            <p:cNvSpPr>
              <a:spLocks noChangeArrowheads="1"/>
            </p:cNvSpPr>
            <p:nvPr/>
          </p:nvSpPr>
          <p:spPr bwMode="auto">
            <a:xfrm>
              <a:off x="4133" y="1056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" name="Rectangle 313"/>
            <p:cNvSpPr>
              <a:spLocks noChangeArrowheads="1"/>
            </p:cNvSpPr>
            <p:nvPr/>
          </p:nvSpPr>
          <p:spPr bwMode="auto">
            <a:xfrm>
              <a:off x="3974" y="1115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09" name="Rectangle 314"/>
            <p:cNvSpPr>
              <a:spLocks noChangeArrowheads="1"/>
            </p:cNvSpPr>
            <p:nvPr/>
          </p:nvSpPr>
          <p:spPr bwMode="auto">
            <a:xfrm>
              <a:off x="3993" y="111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10" name="Rectangle 315"/>
            <p:cNvSpPr>
              <a:spLocks noChangeArrowheads="1"/>
            </p:cNvSpPr>
            <p:nvPr/>
          </p:nvSpPr>
          <p:spPr bwMode="auto">
            <a:xfrm>
              <a:off x="4024" y="111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311" name="Rectangle 316"/>
            <p:cNvSpPr>
              <a:spLocks noChangeArrowheads="1"/>
            </p:cNvSpPr>
            <p:nvPr/>
          </p:nvSpPr>
          <p:spPr bwMode="auto">
            <a:xfrm>
              <a:off x="4055" y="111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312" name="Rectangle 317"/>
            <p:cNvSpPr>
              <a:spLocks noChangeArrowheads="1"/>
            </p:cNvSpPr>
            <p:nvPr/>
          </p:nvSpPr>
          <p:spPr bwMode="auto">
            <a:xfrm>
              <a:off x="4088" y="1115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313" name="Rectangle 318"/>
            <p:cNvSpPr>
              <a:spLocks noChangeArrowheads="1"/>
            </p:cNvSpPr>
            <p:nvPr/>
          </p:nvSpPr>
          <p:spPr bwMode="auto">
            <a:xfrm>
              <a:off x="4100" y="111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14" name="Rectangle 319"/>
            <p:cNvSpPr>
              <a:spLocks noChangeArrowheads="1"/>
            </p:cNvSpPr>
            <p:nvPr/>
          </p:nvSpPr>
          <p:spPr bwMode="auto">
            <a:xfrm>
              <a:off x="4605" y="864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315" name="Rectangle 320"/>
            <p:cNvSpPr>
              <a:spLocks noChangeArrowheads="1"/>
            </p:cNvSpPr>
            <p:nvPr/>
          </p:nvSpPr>
          <p:spPr bwMode="auto">
            <a:xfrm>
              <a:off x="4654" y="86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" name="Rectangle 321"/>
            <p:cNvSpPr>
              <a:spLocks noChangeArrowheads="1"/>
            </p:cNvSpPr>
            <p:nvPr/>
          </p:nvSpPr>
          <p:spPr bwMode="auto">
            <a:xfrm>
              <a:off x="4614" y="92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317" name="Rectangle 322"/>
            <p:cNvSpPr>
              <a:spLocks noChangeArrowheads="1"/>
            </p:cNvSpPr>
            <p:nvPr/>
          </p:nvSpPr>
          <p:spPr bwMode="auto">
            <a:xfrm>
              <a:off x="4647" y="92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" name="Rectangle 323"/>
            <p:cNvSpPr>
              <a:spLocks noChangeArrowheads="1"/>
            </p:cNvSpPr>
            <p:nvPr/>
          </p:nvSpPr>
          <p:spPr bwMode="auto">
            <a:xfrm>
              <a:off x="4614" y="980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319" name="Rectangle 324"/>
            <p:cNvSpPr>
              <a:spLocks noChangeArrowheads="1"/>
            </p:cNvSpPr>
            <p:nvPr/>
          </p:nvSpPr>
          <p:spPr bwMode="auto">
            <a:xfrm>
              <a:off x="4597" y="75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320" name="Rectangle 325"/>
            <p:cNvSpPr>
              <a:spLocks noChangeArrowheads="1"/>
            </p:cNvSpPr>
            <p:nvPr/>
          </p:nvSpPr>
          <p:spPr bwMode="auto">
            <a:xfrm>
              <a:off x="4597" y="10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321" name="Freeform 326"/>
            <p:cNvSpPr>
              <a:spLocks noChangeArrowheads="1"/>
            </p:cNvSpPr>
            <p:nvPr/>
          </p:nvSpPr>
          <p:spPr bwMode="auto">
            <a:xfrm>
              <a:off x="1632" y="1650"/>
              <a:ext cx="566" cy="753"/>
            </a:xfrm>
            <a:custGeom>
              <a:avLst/>
              <a:gdLst>
                <a:gd name="T0" fmla="*/ 0 w 566"/>
                <a:gd name="T1" fmla="*/ 753 h 753"/>
                <a:gd name="T2" fmla="*/ 0 w 566"/>
                <a:gd name="T3" fmla="*/ 0 h 753"/>
                <a:gd name="T4" fmla="*/ 566 w 566"/>
                <a:gd name="T5" fmla="*/ 0 h 753"/>
                <a:gd name="T6" fmla="*/ 0 60000 65536"/>
                <a:gd name="T7" fmla="*/ 0 60000 65536"/>
                <a:gd name="T8" fmla="*/ 0 60000 65536"/>
                <a:gd name="T9" fmla="*/ 0 w 566"/>
                <a:gd name="T10" fmla="*/ 0 h 753"/>
                <a:gd name="T11" fmla="*/ 566 w 566"/>
                <a:gd name="T12" fmla="*/ 753 h 7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6" h="753">
                  <a:moveTo>
                    <a:pt x="0" y="753"/>
                  </a:moveTo>
                  <a:lnTo>
                    <a:pt x="0" y="0"/>
                  </a:lnTo>
                  <a:lnTo>
                    <a:pt x="566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" name="Freeform 327"/>
            <p:cNvSpPr>
              <a:spLocks noChangeArrowheads="1"/>
            </p:cNvSpPr>
            <p:nvPr/>
          </p:nvSpPr>
          <p:spPr bwMode="auto">
            <a:xfrm>
              <a:off x="1201" y="790"/>
              <a:ext cx="3356" cy="370"/>
            </a:xfrm>
            <a:custGeom>
              <a:avLst/>
              <a:gdLst>
                <a:gd name="T0" fmla="*/ 3356 w 3356"/>
                <a:gd name="T1" fmla="*/ 0 h 370"/>
                <a:gd name="T2" fmla="*/ 2136 w 3356"/>
                <a:gd name="T3" fmla="*/ 2 h 370"/>
                <a:gd name="T4" fmla="*/ 2136 w 3356"/>
                <a:gd name="T5" fmla="*/ 370 h 370"/>
                <a:gd name="T6" fmla="*/ 0 w 3356"/>
                <a:gd name="T7" fmla="*/ 370 h 3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56"/>
                <a:gd name="T13" fmla="*/ 0 h 370"/>
                <a:gd name="T14" fmla="*/ 3356 w 3356"/>
                <a:gd name="T15" fmla="*/ 370 h 3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56" h="370">
                  <a:moveTo>
                    <a:pt x="3356" y="0"/>
                  </a:moveTo>
                  <a:lnTo>
                    <a:pt x="2136" y="2"/>
                  </a:lnTo>
                  <a:lnTo>
                    <a:pt x="2136" y="370"/>
                  </a:lnTo>
                  <a:lnTo>
                    <a:pt x="0" y="37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" name="Freeform 328"/>
            <p:cNvSpPr>
              <a:spLocks noChangeArrowheads="1"/>
            </p:cNvSpPr>
            <p:nvPr/>
          </p:nvSpPr>
          <p:spPr bwMode="auto">
            <a:xfrm>
              <a:off x="3323" y="930"/>
              <a:ext cx="29" cy="31"/>
            </a:xfrm>
            <a:custGeom>
              <a:avLst/>
              <a:gdLst>
                <a:gd name="T0" fmla="*/ 14 w 29"/>
                <a:gd name="T1" fmla="*/ 28 h 31"/>
                <a:gd name="T2" fmla="*/ 17 w 29"/>
                <a:gd name="T3" fmla="*/ 31 h 31"/>
                <a:gd name="T4" fmla="*/ 19 w 29"/>
                <a:gd name="T5" fmla="*/ 28 h 31"/>
                <a:gd name="T6" fmla="*/ 21 w 29"/>
                <a:gd name="T7" fmla="*/ 28 h 31"/>
                <a:gd name="T8" fmla="*/ 24 w 29"/>
                <a:gd name="T9" fmla="*/ 28 h 31"/>
                <a:gd name="T10" fmla="*/ 26 w 29"/>
                <a:gd name="T11" fmla="*/ 26 h 31"/>
                <a:gd name="T12" fmla="*/ 26 w 29"/>
                <a:gd name="T13" fmla="*/ 24 h 31"/>
                <a:gd name="T14" fmla="*/ 29 w 29"/>
                <a:gd name="T15" fmla="*/ 21 h 31"/>
                <a:gd name="T16" fmla="*/ 29 w 29"/>
                <a:gd name="T17" fmla="*/ 21 h 31"/>
                <a:gd name="T18" fmla="*/ 29 w 29"/>
                <a:gd name="T19" fmla="*/ 19 h 31"/>
                <a:gd name="T20" fmla="*/ 29 w 29"/>
                <a:gd name="T21" fmla="*/ 16 h 31"/>
                <a:gd name="T22" fmla="*/ 29 w 29"/>
                <a:gd name="T23" fmla="*/ 14 h 31"/>
                <a:gd name="T24" fmla="*/ 29 w 29"/>
                <a:gd name="T25" fmla="*/ 12 h 31"/>
                <a:gd name="T26" fmla="*/ 29 w 29"/>
                <a:gd name="T27" fmla="*/ 9 h 31"/>
                <a:gd name="T28" fmla="*/ 26 w 29"/>
                <a:gd name="T29" fmla="*/ 7 h 31"/>
                <a:gd name="T30" fmla="*/ 26 w 29"/>
                <a:gd name="T31" fmla="*/ 5 h 31"/>
                <a:gd name="T32" fmla="*/ 24 w 29"/>
                <a:gd name="T33" fmla="*/ 5 h 31"/>
                <a:gd name="T34" fmla="*/ 21 w 29"/>
                <a:gd name="T35" fmla="*/ 2 h 31"/>
                <a:gd name="T36" fmla="*/ 19 w 29"/>
                <a:gd name="T37" fmla="*/ 2 h 31"/>
                <a:gd name="T38" fmla="*/ 17 w 29"/>
                <a:gd name="T39" fmla="*/ 2 h 31"/>
                <a:gd name="T40" fmla="*/ 14 w 29"/>
                <a:gd name="T41" fmla="*/ 0 h 31"/>
                <a:gd name="T42" fmla="*/ 12 w 29"/>
                <a:gd name="T43" fmla="*/ 2 h 31"/>
                <a:gd name="T44" fmla="*/ 10 w 29"/>
                <a:gd name="T45" fmla="*/ 2 h 31"/>
                <a:gd name="T46" fmla="*/ 7 w 29"/>
                <a:gd name="T47" fmla="*/ 2 h 31"/>
                <a:gd name="T48" fmla="*/ 7 w 29"/>
                <a:gd name="T49" fmla="*/ 5 h 31"/>
                <a:gd name="T50" fmla="*/ 5 w 29"/>
                <a:gd name="T51" fmla="*/ 5 h 31"/>
                <a:gd name="T52" fmla="*/ 2 w 29"/>
                <a:gd name="T53" fmla="*/ 7 h 31"/>
                <a:gd name="T54" fmla="*/ 2 w 29"/>
                <a:gd name="T55" fmla="*/ 9 h 31"/>
                <a:gd name="T56" fmla="*/ 0 w 29"/>
                <a:gd name="T57" fmla="*/ 12 h 31"/>
                <a:gd name="T58" fmla="*/ 0 w 29"/>
                <a:gd name="T59" fmla="*/ 14 h 31"/>
                <a:gd name="T60" fmla="*/ 0 w 29"/>
                <a:gd name="T61" fmla="*/ 16 h 31"/>
                <a:gd name="T62" fmla="*/ 0 w 29"/>
                <a:gd name="T63" fmla="*/ 19 h 31"/>
                <a:gd name="T64" fmla="*/ 0 w 29"/>
                <a:gd name="T65" fmla="*/ 21 h 31"/>
                <a:gd name="T66" fmla="*/ 2 w 29"/>
                <a:gd name="T67" fmla="*/ 21 h 31"/>
                <a:gd name="T68" fmla="*/ 2 w 29"/>
                <a:gd name="T69" fmla="*/ 24 h 31"/>
                <a:gd name="T70" fmla="*/ 5 w 29"/>
                <a:gd name="T71" fmla="*/ 26 h 31"/>
                <a:gd name="T72" fmla="*/ 7 w 29"/>
                <a:gd name="T73" fmla="*/ 28 h 31"/>
                <a:gd name="T74" fmla="*/ 7 w 29"/>
                <a:gd name="T75" fmla="*/ 28 h 31"/>
                <a:gd name="T76" fmla="*/ 10 w 29"/>
                <a:gd name="T77" fmla="*/ 28 h 31"/>
                <a:gd name="T78" fmla="*/ 12 w 29"/>
                <a:gd name="T79" fmla="*/ 31 h 31"/>
                <a:gd name="T80" fmla="*/ 14 w 29"/>
                <a:gd name="T81" fmla="*/ 31 h 31"/>
                <a:gd name="T82" fmla="*/ 14 w 29"/>
                <a:gd name="T83" fmla="*/ 31 h 31"/>
                <a:gd name="T84" fmla="*/ 14 w 29"/>
                <a:gd name="T85" fmla="*/ 28 h 3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31"/>
                <a:gd name="T131" fmla="*/ 29 w 29"/>
                <a:gd name="T132" fmla="*/ 31 h 3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31">
                  <a:moveTo>
                    <a:pt x="14" y="28"/>
                  </a:moveTo>
                  <a:lnTo>
                    <a:pt x="17" y="31"/>
                  </a:lnTo>
                  <a:lnTo>
                    <a:pt x="19" y="28"/>
                  </a:lnTo>
                  <a:lnTo>
                    <a:pt x="21" y="28"/>
                  </a:lnTo>
                  <a:lnTo>
                    <a:pt x="24" y="28"/>
                  </a:lnTo>
                  <a:lnTo>
                    <a:pt x="26" y="26"/>
                  </a:lnTo>
                  <a:lnTo>
                    <a:pt x="26" y="24"/>
                  </a:lnTo>
                  <a:lnTo>
                    <a:pt x="29" y="21"/>
                  </a:lnTo>
                  <a:lnTo>
                    <a:pt x="29" y="19"/>
                  </a:lnTo>
                  <a:lnTo>
                    <a:pt x="29" y="16"/>
                  </a:lnTo>
                  <a:lnTo>
                    <a:pt x="29" y="14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7"/>
                  </a:lnTo>
                  <a:lnTo>
                    <a:pt x="26" y="5"/>
                  </a:lnTo>
                  <a:lnTo>
                    <a:pt x="24" y="5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0" y="2"/>
                  </a:lnTo>
                  <a:lnTo>
                    <a:pt x="7" y="2"/>
                  </a:lnTo>
                  <a:lnTo>
                    <a:pt x="7" y="5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7" y="28"/>
                  </a:lnTo>
                  <a:lnTo>
                    <a:pt x="10" y="28"/>
                  </a:lnTo>
                  <a:lnTo>
                    <a:pt x="12" y="31"/>
                  </a:lnTo>
                  <a:lnTo>
                    <a:pt x="14" y="31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" name="Freeform 329"/>
            <p:cNvSpPr>
              <a:spLocks noChangeArrowheads="1"/>
            </p:cNvSpPr>
            <p:nvPr/>
          </p:nvSpPr>
          <p:spPr bwMode="auto">
            <a:xfrm>
              <a:off x="2492" y="2296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7 h 31"/>
                <a:gd name="T6" fmla="*/ 2 w 31"/>
                <a:gd name="T7" fmla="*/ 2 h 31"/>
                <a:gd name="T8" fmla="*/ 2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7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5" name="Line 330"/>
            <p:cNvSpPr>
              <a:spLocks noChangeShapeType="1"/>
            </p:cNvSpPr>
            <p:nvPr/>
          </p:nvSpPr>
          <p:spPr bwMode="auto">
            <a:xfrm flipH="1">
              <a:off x="2110" y="2310"/>
              <a:ext cx="395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6" name="Freeform 331"/>
            <p:cNvSpPr>
              <a:spLocks noChangeArrowheads="1"/>
            </p:cNvSpPr>
            <p:nvPr/>
          </p:nvSpPr>
          <p:spPr bwMode="auto">
            <a:xfrm>
              <a:off x="2527" y="2057"/>
              <a:ext cx="656" cy="687"/>
            </a:xfrm>
            <a:custGeom>
              <a:avLst/>
              <a:gdLst>
                <a:gd name="T0" fmla="*/ 656 w 656"/>
                <a:gd name="T1" fmla="*/ 684 h 687"/>
                <a:gd name="T2" fmla="*/ 656 w 656"/>
                <a:gd name="T3" fmla="*/ 0 h 687"/>
                <a:gd name="T4" fmla="*/ 0 w 656"/>
                <a:gd name="T5" fmla="*/ 0 h 687"/>
                <a:gd name="T6" fmla="*/ 0 w 656"/>
                <a:gd name="T7" fmla="*/ 687 h 687"/>
                <a:gd name="T8" fmla="*/ 656 w 656"/>
                <a:gd name="T9" fmla="*/ 687 h 687"/>
                <a:gd name="T10" fmla="*/ 656 w 656"/>
                <a:gd name="T11" fmla="*/ 687 h 687"/>
                <a:gd name="T12" fmla="*/ 656 w 656"/>
                <a:gd name="T13" fmla="*/ 684 h 6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6"/>
                <a:gd name="T22" fmla="*/ 0 h 687"/>
                <a:gd name="T23" fmla="*/ 656 w 656"/>
                <a:gd name="T24" fmla="*/ 687 h 6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6" h="687">
                  <a:moveTo>
                    <a:pt x="656" y="684"/>
                  </a:moveTo>
                  <a:lnTo>
                    <a:pt x="656" y="0"/>
                  </a:lnTo>
                  <a:lnTo>
                    <a:pt x="0" y="0"/>
                  </a:lnTo>
                  <a:lnTo>
                    <a:pt x="0" y="687"/>
                  </a:lnTo>
                  <a:lnTo>
                    <a:pt x="656" y="687"/>
                  </a:lnTo>
                  <a:lnTo>
                    <a:pt x="656" y="6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" name="Freeform 332"/>
            <p:cNvSpPr>
              <a:spLocks noChangeArrowheads="1"/>
            </p:cNvSpPr>
            <p:nvPr/>
          </p:nvSpPr>
          <p:spPr bwMode="auto">
            <a:xfrm>
              <a:off x="2527" y="2057"/>
              <a:ext cx="656" cy="687"/>
            </a:xfrm>
            <a:custGeom>
              <a:avLst/>
              <a:gdLst>
                <a:gd name="T0" fmla="*/ 656 w 656"/>
                <a:gd name="T1" fmla="*/ 684 h 687"/>
                <a:gd name="T2" fmla="*/ 656 w 656"/>
                <a:gd name="T3" fmla="*/ 0 h 687"/>
                <a:gd name="T4" fmla="*/ 0 w 656"/>
                <a:gd name="T5" fmla="*/ 0 h 687"/>
                <a:gd name="T6" fmla="*/ 0 w 656"/>
                <a:gd name="T7" fmla="*/ 687 h 687"/>
                <a:gd name="T8" fmla="*/ 656 w 656"/>
                <a:gd name="T9" fmla="*/ 687 h 687"/>
                <a:gd name="T10" fmla="*/ 656 w 656"/>
                <a:gd name="T11" fmla="*/ 687 h 6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6"/>
                <a:gd name="T19" fmla="*/ 0 h 687"/>
                <a:gd name="T20" fmla="*/ 656 w 656"/>
                <a:gd name="T21" fmla="*/ 687 h 68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6" h="687">
                  <a:moveTo>
                    <a:pt x="656" y="684"/>
                  </a:moveTo>
                  <a:lnTo>
                    <a:pt x="656" y="0"/>
                  </a:lnTo>
                  <a:lnTo>
                    <a:pt x="0" y="0"/>
                  </a:lnTo>
                  <a:lnTo>
                    <a:pt x="0" y="687"/>
                  </a:lnTo>
                  <a:lnTo>
                    <a:pt x="656" y="687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" name="Rectangle 333"/>
            <p:cNvSpPr>
              <a:spLocks noChangeArrowheads="1"/>
            </p:cNvSpPr>
            <p:nvPr/>
          </p:nvSpPr>
          <p:spPr bwMode="auto">
            <a:xfrm>
              <a:off x="2731" y="236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29" name="Rectangle 334"/>
            <p:cNvSpPr>
              <a:spLocks noChangeArrowheads="1"/>
            </p:cNvSpPr>
            <p:nvPr/>
          </p:nvSpPr>
          <p:spPr bwMode="auto">
            <a:xfrm>
              <a:off x="2771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30" name="Rectangle 335"/>
            <p:cNvSpPr>
              <a:spLocks noChangeArrowheads="1"/>
            </p:cNvSpPr>
            <p:nvPr/>
          </p:nvSpPr>
          <p:spPr bwMode="auto">
            <a:xfrm>
              <a:off x="2805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331" name="Rectangle 336"/>
            <p:cNvSpPr>
              <a:spLocks noChangeArrowheads="1"/>
            </p:cNvSpPr>
            <p:nvPr/>
          </p:nvSpPr>
          <p:spPr bwMode="auto">
            <a:xfrm>
              <a:off x="2838" y="2365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332" name="Rectangle 337"/>
            <p:cNvSpPr>
              <a:spLocks noChangeArrowheads="1"/>
            </p:cNvSpPr>
            <p:nvPr/>
          </p:nvSpPr>
          <p:spPr bwMode="auto">
            <a:xfrm>
              <a:off x="2850" y="236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333" name="Rectangle 338"/>
            <p:cNvSpPr>
              <a:spLocks noChangeArrowheads="1"/>
            </p:cNvSpPr>
            <p:nvPr/>
          </p:nvSpPr>
          <p:spPr bwMode="auto">
            <a:xfrm>
              <a:off x="2880" y="23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34" name="Rectangle 339"/>
            <p:cNvSpPr>
              <a:spLocks noChangeArrowheads="1"/>
            </p:cNvSpPr>
            <p:nvPr/>
          </p:nvSpPr>
          <p:spPr bwMode="auto">
            <a:xfrm>
              <a:off x="2895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35" name="Rectangle 340"/>
            <p:cNvSpPr>
              <a:spLocks noChangeArrowheads="1"/>
            </p:cNvSpPr>
            <p:nvPr/>
          </p:nvSpPr>
          <p:spPr bwMode="auto">
            <a:xfrm>
              <a:off x="2928" y="2365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36" name="Rectangle 341"/>
            <p:cNvSpPr>
              <a:spLocks noChangeArrowheads="1"/>
            </p:cNvSpPr>
            <p:nvPr/>
          </p:nvSpPr>
          <p:spPr bwMode="auto">
            <a:xfrm>
              <a:off x="2947" y="236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337" name="Rectangle 342"/>
            <p:cNvSpPr>
              <a:spLocks noChangeArrowheads="1"/>
            </p:cNvSpPr>
            <p:nvPr/>
          </p:nvSpPr>
          <p:spPr bwMode="auto">
            <a:xfrm>
              <a:off x="2549" y="2424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338" name="Rectangle 343"/>
            <p:cNvSpPr>
              <a:spLocks noChangeArrowheads="1"/>
            </p:cNvSpPr>
            <p:nvPr/>
          </p:nvSpPr>
          <p:spPr bwMode="auto">
            <a:xfrm>
              <a:off x="2608" y="2424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39" name="Rectangle 344"/>
            <p:cNvSpPr>
              <a:spLocks noChangeArrowheads="1"/>
            </p:cNvSpPr>
            <p:nvPr/>
          </p:nvSpPr>
          <p:spPr bwMode="auto">
            <a:xfrm>
              <a:off x="2626" y="2424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340" name="Rectangle 345"/>
            <p:cNvSpPr>
              <a:spLocks noChangeArrowheads="1"/>
            </p:cNvSpPr>
            <p:nvPr/>
          </p:nvSpPr>
          <p:spPr bwMode="auto">
            <a:xfrm>
              <a:off x="2639" y="242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41" name="Rectangle 346"/>
            <p:cNvSpPr>
              <a:spLocks noChangeArrowheads="1"/>
            </p:cNvSpPr>
            <p:nvPr/>
          </p:nvSpPr>
          <p:spPr bwMode="auto">
            <a:xfrm>
              <a:off x="2655" y="242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42" name="Rectangle 347"/>
            <p:cNvSpPr>
              <a:spLocks noChangeArrowheads="1"/>
            </p:cNvSpPr>
            <p:nvPr/>
          </p:nvSpPr>
          <p:spPr bwMode="auto">
            <a:xfrm>
              <a:off x="2688" y="242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3" name="Rectangle 348"/>
            <p:cNvSpPr>
              <a:spLocks noChangeArrowheads="1"/>
            </p:cNvSpPr>
            <p:nvPr/>
          </p:nvSpPr>
          <p:spPr bwMode="auto">
            <a:xfrm>
              <a:off x="2551" y="248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44" name="Rectangle 349"/>
            <p:cNvSpPr>
              <a:spLocks noChangeArrowheads="1"/>
            </p:cNvSpPr>
            <p:nvPr/>
          </p:nvSpPr>
          <p:spPr bwMode="auto">
            <a:xfrm>
              <a:off x="2572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45" name="Rectangle 350"/>
            <p:cNvSpPr>
              <a:spLocks noChangeArrowheads="1"/>
            </p:cNvSpPr>
            <p:nvPr/>
          </p:nvSpPr>
          <p:spPr bwMode="auto">
            <a:xfrm>
              <a:off x="2603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346" name="Rectangle 351"/>
            <p:cNvSpPr>
              <a:spLocks noChangeArrowheads="1"/>
            </p:cNvSpPr>
            <p:nvPr/>
          </p:nvSpPr>
          <p:spPr bwMode="auto">
            <a:xfrm>
              <a:off x="2636" y="2481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347" name="Rectangle 352"/>
            <p:cNvSpPr>
              <a:spLocks noChangeArrowheads="1"/>
            </p:cNvSpPr>
            <p:nvPr/>
          </p:nvSpPr>
          <p:spPr bwMode="auto">
            <a:xfrm>
              <a:off x="2651" y="248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348" name="Rectangle 353"/>
            <p:cNvSpPr>
              <a:spLocks noChangeArrowheads="1"/>
            </p:cNvSpPr>
            <p:nvPr/>
          </p:nvSpPr>
          <p:spPr bwMode="auto">
            <a:xfrm>
              <a:off x="2679" y="248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49" name="Rectangle 354"/>
            <p:cNvSpPr>
              <a:spLocks noChangeArrowheads="1"/>
            </p:cNvSpPr>
            <p:nvPr/>
          </p:nvSpPr>
          <p:spPr bwMode="auto">
            <a:xfrm>
              <a:off x="2696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50" name="Rectangle 355"/>
            <p:cNvSpPr>
              <a:spLocks noChangeArrowheads="1"/>
            </p:cNvSpPr>
            <p:nvPr/>
          </p:nvSpPr>
          <p:spPr bwMode="auto">
            <a:xfrm>
              <a:off x="2726" y="248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51" name="Rectangle 356"/>
            <p:cNvSpPr>
              <a:spLocks noChangeArrowheads="1"/>
            </p:cNvSpPr>
            <p:nvPr/>
          </p:nvSpPr>
          <p:spPr bwMode="auto">
            <a:xfrm>
              <a:off x="2549" y="260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352" name="Rectangle 357"/>
            <p:cNvSpPr>
              <a:spLocks noChangeArrowheads="1"/>
            </p:cNvSpPr>
            <p:nvPr/>
          </p:nvSpPr>
          <p:spPr bwMode="auto">
            <a:xfrm>
              <a:off x="2608" y="2600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53" name="Rectangle 358"/>
            <p:cNvSpPr>
              <a:spLocks noChangeArrowheads="1"/>
            </p:cNvSpPr>
            <p:nvPr/>
          </p:nvSpPr>
          <p:spPr bwMode="auto">
            <a:xfrm>
              <a:off x="2626" y="2600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354" name="Rectangle 359"/>
            <p:cNvSpPr>
              <a:spLocks noChangeArrowheads="1"/>
            </p:cNvSpPr>
            <p:nvPr/>
          </p:nvSpPr>
          <p:spPr bwMode="auto">
            <a:xfrm>
              <a:off x="2639" y="2600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55" name="Rectangle 360"/>
            <p:cNvSpPr>
              <a:spLocks noChangeArrowheads="1"/>
            </p:cNvSpPr>
            <p:nvPr/>
          </p:nvSpPr>
          <p:spPr bwMode="auto">
            <a:xfrm>
              <a:off x="2655" y="260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56" name="Rectangle 361"/>
            <p:cNvSpPr>
              <a:spLocks noChangeArrowheads="1"/>
            </p:cNvSpPr>
            <p:nvPr/>
          </p:nvSpPr>
          <p:spPr bwMode="auto">
            <a:xfrm>
              <a:off x="2688" y="260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7" name="Rectangle 362"/>
            <p:cNvSpPr>
              <a:spLocks noChangeArrowheads="1"/>
            </p:cNvSpPr>
            <p:nvPr/>
          </p:nvSpPr>
          <p:spPr bwMode="auto">
            <a:xfrm>
              <a:off x="2551" y="265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58" name="Rectangle 363"/>
            <p:cNvSpPr>
              <a:spLocks noChangeArrowheads="1"/>
            </p:cNvSpPr>
            <p:nvPr/>
          </p:nvSpPr>
          <p:spPr bwMode="auto">
            <a:xfrm>
              <a:off x="2584" y="265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59" name="Rectangle 364"/>
            <p:cNvSpPr>
              <a:spLocks noChangeArrowheads="1"/>
            </p:cNvSpPr>
            <p:nvPr/>
          </p:nvSpPr>
          <p:spPr bwMode="auto">
            <a:xfrm>
              <a:off x="2617" y="265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60" name="Rectangle 365"/>
            <p:cNvSpPr>
              <a:spLocks noChangeArrowheads="1"/>
            </p:cNvSpPr>
            <p:nvPr/>
          </p:nvSpPr>
          <p:spPr bwMode="auto">
            <a:xfrm>
              <a:off x="2634" y="265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61" name="Rectangle 366"/>
            <p:cNvSpPr>
              <a:spLocks noChangeArrowheads="1"/>
            </p:cNvSpPr>
            <p:nvPr/>
          </p:nvSpPr>
          <p:spPr bwMode="auto">
            <a:xfrm>
              <a:off x="3027" y="2162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62" name="Rectangle 367"/>
            <p:cNvSpPr>
              <a:spLocks noChangeArrowheads="1"/>
            </p:cNvSpPr>
            <p:nvPr/>
          </p:nvSpPr>
          <p:spPr bwMode="auto">
            <a:xfrm>
              <a:off x="3070" y="216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63" name="Rectangle 368"/>
            <p:cNvSpPr>
              <a:spLocks noChangeArrowheads="1"/>
            </p:cNvSpPr>
            <p:nvPr/>
          </p:nvSpPr>
          <p:spPr bwMode="auto">
            <a:xfrm>
              <a:off x="3103" y="216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64" name="Rectangle 369"/>
            <p:cNvSpPr>
              <a:spLocks noChangeArrowheads="1"/>
            </p:cNvSpPr>
            <p:nvPr/>
          </p:nvSpPr>
          <p:spPr bwMode="auto">
            <a:xfrm>
              <a:off x="3134" y="216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65" name="Rectangle 370"/>
            <p:cNvSpPr>
              <a:spLocks noChangeArrowheads="1"/>
            </p:cNvSpPr>
            <p:nvPr/>
          </p:nvSpPr>
          <p:spPr bwMode="auto">
            <a:xfrm>
              <a:off x="3167" y="2162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6" name="Rectangle 371"/>
            <p:cNvSpPr>
              <a:spLocks noChangeArrowheads="1"/>
            </p:cNvSpPr>
            <p:nvPr/>
          </p:nvSpPr>
          <p:spPr bwMode="auto">
            <a:xfrm>
              <a:off x="2992" y="221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67" name="Rectangle 372"/>
            <p:cNvSpPr>
              <a:spLocks noChangeArrowheads="1"/>
            </p:cNvSpPr>
            <p:nvPr/>
          </p:nvSpPr>
          <p:spPr bwMode="auto">
            <a:xfrm>
              <a:off x="3025" y="221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68" name="Rectangle 373"/>
            <p:cNvSpPr>
              <a:spLocks noChangeArrowheads="1"/>
            </p:cNvSpPr>
            <p:nvPr/>
          </p:nvSpPr>
          <p:spPr bwMode="auto">
            <a:xfrm>
              <a:off x="3058" y="221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69" name="Rectangle 374"/>
            <p:cNvSpPr>
              <a:spLocks noChangeArrowheads="1"/>
            </p:cNvSpPr>
            <p:nvPr/>
          </p:nvSpPr>
          <p:spPr bwMode="auto">
            <a:xfrm>
              <a:off x="3074" y="221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70" name="Rectangle 375"/>
            <p:cNvSpPr>
              <a:spLocks noChangeArrowheads="1"/>
            </p:cNvSpPr>
            <p:nvPr/>
          </p:nvSpPr>
          <p:spPr bwMode="auto">
            <a:xfrm>
              <a:off x="3105" y="221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371" name="Rectangle 376"/>
            <p:cNvSpPr>
              <a:spLocks noChangeArrowheads="1"/>
            </p:cNvSpPr>
            <p:nvPr/>
          </p:nvSpPr>
          <p:spPr bwMode="auto">
            <a:xfrm>
              <a:off x="3122" y="221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372" name="Rectangle 377"/>
            <p:cNvSpPr>
              <a:spLocks noChangeArrowheads="1"/>
            </p:cNvSpPr>
            <p:nvPr/>
          </p:nvSpPr>
          <p:spPr bwMode="auto">
            <a:xfrm>
              <a:off x="3027" y="2379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73" name="Rectangle 378"/>
            <p:cNvSpPr>
              <a:spLocks noChangeArrowheads="1"/>
            </p:cNvSpPr>
            <p:nvPr/>
          </p:nvSpPr>
          <p:spPr bwMode="auto">
            <a:xfrm>
              <a:off x="3070" y="237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74" name="Rectangle 379"/>
            <p:cNvSpPr>
              <a:spLocks noChangeArrowheads="1"/>
            </p:cNvSpPr>
            <p:nvPr/>
          </p:nvSpPr>
          <p:spPr bwMode="auto">
            <a:xfrm>
              <a:off x="3103" y="237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75" name="Rectangle 380"/>
            <p:cNvSpPr>
              <a:spLocks noChangeArrowheads="1"/>
            </p:cNvSpPr>
            <p:nvPr/>
          </p:nvSpPr>
          <p:spPr bwMode="auto">
            <a:xfrm>
              <a:off x="3134" y="237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76" name="Rectangle 381"/>
            <p:cNvSpPr>
              <a:spLocks noChangeArrowheads="1"/>
            </p:cNvSpPr>
            <p:nvPr/>
          </p:nvSpPr>
          <p:spPr bwMode="auto">
            <a:xfrm>
              <a:off x="3167" y="237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7" name="Rectangle 382"/>
            <p:cNvSpPr>
              <a:spLocks noChangeArrowheads="1"/>
            </p:cNvSpPr>
            <p:nvPr/>
          </p:nvSpPr>
          <p:spPr bwMode="auto">
            <a:xfrm>
              <a:off x="2992" y="24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78" name="Rectangle 383"/>
            <p:cNvSpPr>
              <a:spLocks noChangeArrowheads="1"/>
            </p:cNvSpPr>
            <p:nvPr/>
          </p:nvSpPr>
          <p:spPr bwMode="auto">
            <a:xfrm>
              <a:off x="3025" y="24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79" name="Rectangle 384"/>
            <p:cNvSpPr>
              <a:spLocks noChangeArrowheads="1"/>
            </p:cNvSpPr>
            <p:nvPr/>
          </p:nvSpPr>
          <p:spPr bwMode="auto">
            <a:xfrm>
              <a:off x="3058" y="243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80" name="Rectangle 385"/>
            <p:cNvSpPr>
              <a:spLocks noChangeArrowheads="1"/>
            </p:cNvSpPr>
            <p:nvPr/>
          </p:nvSpPr>
          <p:spPr bwMode="auto">
            <a:xfrm>
              <a:off x="3074" y="24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81" name="Rectangle 386"/>
            <p:cNvSpPr>
              <a:spLocks noChangeArrowheads="1"/>
            </p:cNvSpPr>
            <p:nvPr/>
          </p:nvSpPr>
          <p:spPr bwMode="auto">
            <a:xfrm>
              <a:off x="3105" y="243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382" name="Rectangle 387"/>
            <p:cNvSpPr>
              <a:spLocks noChangeArrowheads="1"/>
            </p:cNvSpPr>
            <p:nvPr/>
          </p:nvSpPr>
          <p:spPr bwMode="auto">
            <a:xfrm>
              <a:off x="3122" y="24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383" name="Rectangle 388"/>
            <p:cNvSpPr>
              <a:spLocks noChangeArrowheads="1"/>
            </p:cNvSpPr>
            <p:nvPr/>
          </p:nvSpPr>
          <p:spPr bwMode="auto">
            <a:xfrm>
              <a:off x="2551" y="2074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84" name="Rectangle 389"/>
            <p:cNvSpPr>
              <a:spLocks noChangeArrowheads="1"/>
            </p:cNvSpPr>
            <p:nvPr/>
          </p:nvSpPr>
          <p:spPr bwMode="auto">
            <a:xfrm>
              <a:off x="2594" y="207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85" name="Rectangle 390"/>
            <p:cNvSpPr>
              <a:spLocks noChangeArrowheads="1"/>
            </p:cNvSpPr>
            <p:nvPr/>
          </p:nvSpPr>
          <p:spPr bwMode="auto">
            <a:xfrm>
              <a:off x="2627" y="207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86" name="Rectangle 391"/>
            <p:cNvSpPr>
              <a:spLocks noChangeArrowheads="1"/>
            </p:cNvSpPr>
            <p:nvPr/>
          </p:nvSpPr>
          <p:spPr bwMode="auto">
            <a:xfrm>
              <a:off x="2660" y="207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87" name="Rectangle 392"/>
            <p:cNvSpPr>
              <a:spLocks noChangeArrowheads="1"/>
            </p:cNvSpPr>
            <p:nvPr/>
          </p:nvSpPr>
          <p:spPr bwMode="auto">
            <a:xfrm>
              <a:off x="2691" y="207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8" name="Rectangle 393"/>
            <p:cNvSpPr>
              <a:spLocks noChangeArrowheads="1"/>
            </p:cNvSpPr>
            <p:nvPr/>
          </p:nvSpPr>
          <p:spPr bwMode="auto">
            <a:xfrm>
              <a:off x="2551" y="213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89" name="Rectangle 394"/>
            <p:cNvSpPr>
              <a:spLocks noChangeArrowheads="1"/>
            </p:cNvSpPr>
            <p:nvPr/>
          </p:nvSpPr>
          <p:spPr bwMode="auto">
            <a:xfrm>
              <a:off x="2572" y="21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90" name="Rectangle 395"/>
            <p:cNvSpPr>
              <a:spLocks noChangeArrowheads="1"/>
            </p:cNvSpPr>
            <p:nvPr/>
          </p:nvSpPr>
          <p:spPr bwMode="auto">
            <a:xfrm>
              <a:off x="2603" y="21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391" name="Rectangle 396"/>
            <p:cNvSpPr>
              <a:spLocks noChangeArrowheads="1"/>
            </p:cNvSpPr>
            <p:nvPr/>
          </p:nvSpPr>
          <p:spPr bwMode="auto">
            <a:xfrm>
              <a:off x="2636" y="2131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392" name="Rectangle 397"/>
            <p:cNvSpPr>
              <a:spLocks noChangeArrowheads="1"/>
            </p:cNvSpPr>
            <p:nvPr/>
          </p:nvSpPr>
          <p:spPr bwMode="auto">
            <a:xfrm>
              <a:off x="2651" y="213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393" name="Rectangle 398"/>
            <p:cNvSpPr>
              <a:spLocks noChangeArrowheads="1"/>
            </p:cNvSpPr>
            <p:nvPr/>
          </p:nvSpPr>
          <p:spPr bwMode="auto">
            <a:xfrm>
              <a:off x="2679" y="213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94" name="Rectangle 399"/>
            <p:cNvSpPr>
              <a:spLocks noChangeArrowheads="1"/>
            </p:cNvSpPr>
            <p:nvPr/>
          </p:nvSpPr>
          <p:spPr bwMode="auto">
            <a:xfrm>
              <a:off x="2696" y="21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95" name="Rectangle 400"/>
            <p:cNvSpPr>
              <a:spLocks noChangeArrowheads="1"/>
            </p:cNvSpPr>
            <p:nvPr/>
          </p:nvSpPr>
          <p:spPr bwMode="auto">
            <a:xfrm>
              <a:off x="2726" y="213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96" name="Rectangle 401"/>
            <p:cNvSpPr>
              <a:spLocks noChangeArrowheads="1"/>
            </p:cNvSpPr>
            <p:nvPr/>
          </p:nvSpPr>
          <p:spPr bwMode="auto">
            <a:xfrm>
              <a:off x="2748" y="213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397" name="Rectangle 402"/>
            <p:cNvSpPr>
              <a:spLocks noChangeArrowheads="1"/>
            </p:cNvSpPr>
            <p:nvPr/>
          </p:nvSpPr>
          <p:spPr bwMode="auto">
            <a:xfrm>
              <a:off x="2762" y="21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398" name="Rectangle 403"/>
            <p:cNvSpPr>
              <a:spLocks noChangeArrowheads="1"/>
            </p:cNvSpPr>
            <p:nvPr/>
          </p:nvSpPr>
          <p:spPr bwMode="auto">
            <a:xfrm>
              <a:off x="2551" y="2249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99" name="Rectangle 404"/>
            <p:cNvSpPr>
              <a:spLocks noChangeArrowheads="1"/>
            </p:cNvSpPr>
            <p:nvPr/>
          </p:nvSpPr>
          <p:spPr bwMode="auto">
            <a:xfrm>
              <a:off x="2594" y="224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00" name="Rectangle 405"/>
            <p:cNvSpPr>
              <a:spLocks noChangeArrowheads="1"/>
            </p:cNvSpPr>
            <p:nvPr/>
          </p:nvSpPr>
          <p:spPr bwMode="auto">
            <a:xfrm>
              <a:off x="2627" y="224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01" name="Rectangle 406"/>
            <p:cNvSpPr>
              <a:spLocks noChangeArrowheads="1"/>
            </p:cNvSpPr>
            <p:nvPr/>
          </p:nvSpPr>
          <p:spPr bwMode="auto">
            <a:xfrm>
              <a:off x="2660" y="224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402" name="Rectangle 407"/>
            <p:cNvSpPr>
              <a:spLocks noChangeArrowheads="1"/>
            </p:cNvSpPr>
            <p:nvPr/>
          </p:nvSpPr>
          <p:spPr bwMode="auto">
            <a:xfrm>
              <a:off x="2691" y="224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3" name="Rectangle 408"/>
            <p:cNvSpPr>
              <a:spLocks noChangeArrowheads="1"/>
            </p:cNvSpPr>
            <p:nvPr/>
          </p:nvSpPr>
          <p:spPr bwMode="auto">
            <a:xfrm>
              <a:off x="2551" y="230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04" name="Rectangle 409"/>
            <p:cNvSpPr>
              <a:spLocks noChangeArrowheads="1"/>
            </p:cNvSpPr>
            <p:nvPr/>
          </p:nvSpPr>
          <p:spPr bwMode="auto">
            <a:xfrm>
              <a:off x="2572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05" name="Rectangle 410"/>
            <p:cNvSpPr>
              <a:spLocks noChangeArrowheads="1"/>
            </p:cNvSpPr>
            <p:nvPr/>
          </p:nvSpPr>
          <p:spPr bwMode="auto">
            <a:xfrm>
              <a:off x="2603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406" name="Rectangle 411"/>
            <p:cNvSpPr>
              <a:spLocks noChangeArrowheads="1"/>
            </p:cNvSpPr>
            <p:nvPr/>
          </p:nvSpPr>
          <p:spPr bwMode="auto">
            <a:xfrm>
              <a:off x="2636" y="2306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407" name="Rectangle 412"/>
            <p:cNvSpPr>
              <a:spLocks noChangeArrowheads="1"/>
            </p:cNvSpPr>
            <p:nvPr/>
          </p:nvSpPr>
          <p:spPr bwMode="auto">
            <a:xfrm>
              <a:off x="2651" y="230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408" name="Rectangle 413"/>
            <p:cNvSpPr>
              <a:spLocks noChangeArrowheads="1"/>
            </p:cNvSpPr>
            <p:nvPr/>
          </p:nvSpPr>
          <p:spPr bwMode="auto">
            <a:xfrm>
              <a:off x="2679" y="230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09" name="Rectangle 414"/>
            <p:cNvSpPr>
              <a:spLocks noChangeArrowheads="1"/>
            </p:cNvSpPr>
            <p:nvPr/>
          </p:nvSpPr>
          <p:spPr bwMode="auto">
            <a:xfrm>
              <a:off x="2696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10" name="Rectangle 415"/>
            <p:cNvSpPr>
              <a:spLocks noChangeArrowheads="1"/>
            </p:cNvSpPr>
            <p:nvPr/>
          </p:nvSpPr>
          <p:spPr bwMode="auto">
            <a:xfrm>
              <a:off x="2726" y="230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11" name="Rectangle 416"/>
            <p:cNvSpPr>
              <a:spLocks noChangeArrowheads="1"/>
            </p:cNvSpPr>
            <p:nvPr/>
          </p:nvSpPr>
          <p:spPr bwMode="auto">
            <a:xfrm>
              <a:off x="2748" y="230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412" name="Rectangle 417"/>
            <p:cNvSpPr>
              <a:spLocks noChangeArrowheads="1"/>
            </p:cNvSpPr>
            <p:nvPr/>
          </p:nvSpPr>
          <p:spPr bwMode="auto">
            <a:xfrm>
              <a:off x="2762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413" name="Freeform 418"/>
            <p:cNvSpPr>
              <a:spLocks noChangeArrowheads="1"/>
            </p:cNvSpPr>
            <p:nvPr/>
          </p:nvSpPr>
          <p:spPr bwMode="auto">
            <a:xfrm>
              <a:off x="2395" y="2606"/>
              <a:ext cx="2950" cy="886"/>
            </a:xfrm>
            <a:custGeom>
              <a:avLst/>
              <a:gdLst>
                <a:gd name="T0" fmla="*/ 2884 w 2950"/>
                <a:gd name="T1" fmla="*/ 0 h 886"/>
                <a:gd name="T2" fmla="*/ 2950 w 2950"/>
                <a:gd name="T3" fmla="*/ 0 h 886"/>
                <a:gd name="T4" fmla="*/ 2950 w 2950"/>
                <a:gd name="T5" fmla="*/ 886 h 886"/>
                <a:gd name="T6" fmla="*/ 0 w 2950"/>
                <a:gd name="T7" fmla="*/ 886 h 886"/>
                <a:gd name="T8" fmla="*/ 0 w 2950"/>
                <a:gd name="T9" fmla="*/ 57 h 886"/>
                <a:gd name="T10" fmla="*/ 109 w 2950"/>
                <a:gd name="T11" fmla="*/ 57 h 8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50"/>
                <a:gd name="T19" fmla="*/ 0 h 886"/>
                <a:gd name="T20" fmla="*/ 2950 w 2950"/>
                <a:gd name="T21" fmla="*/ 886 h 88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50" h="886">
                  <a:moveTo>
                    <a:pt x="2884" y="0"/>
                  </a:moveTo>
                  <a:lnTo>
                    <a:pt x="2950" y="0"/>
                  </a:lnTo>
                  <a:lnTo>
                    <a:pt x="2950" y="886"/>
                  </a:lnTo>
                  <a:lnTo>
                    <a:pt x="0" y="886"/>
                  </a:lnTo>
                  <a:lnTo>
                    <a:pt x="0" y="57"/>
                  </a:lnTo>
                  <a:lnTo>
                    <a:pt x="109" y="5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" name="Line 419"/>
            <p:cNvSpPr>
              <a:spLocks noChangeShapeType="1"/>
            </p:cNvSpPr>
            <p:nvPr/>
          </p:nvSpPr>
          <p:spPr bwMode="auto">
            <a:xfrm flipH="1">
              <a:off x="2351" y="2486"/>
              <a:ext cx="154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5" name="Line 420"/>
            <p:cNvSpPr>
              <a:spLocks noChangeShapeType="1"/>
            </p:cNvSpPr>
            <p:nvPr/>
          </p:nvSpPr>
          <p:spPr bwMode="auto">
            <a:xfrm flipH="1">
              <a:off x="1634" y="2135"/>
              <a:ext cx="871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6" name="Freeform 421"/>
            <p:cNvSpPr>
              <a:spLocks noChangeArrowheads="1"/>
            </p:cNvSpPr>
            <p:nvPr/>
          </p:nvSpPr>
          <p:spPr bwMode="auto">
            <a:xfrm>
              <a:off x="1632" y="2403"/>
              <a:ext cx="829" cy="615"/>
            </a:xfrm>
            <a:custGeom>
              <a:avLst/>
              <a:gdLst>
                <a:gd name="T0" fmla="*/ 829 w 829"/>
                <a:gd name="T1" fmla="*/ 615 h 615"/>
                <a:gd name="T2" fmla="*/ 0 w 829"/>
                <a:gd name="T3" fmla="*/ 615 h 615"/>
                <a:gd name="T4" fmla="*/ 0 w 829"/>
                <a:gd name="T5" fmla="*/ 0 h 615"/>
                <a:gd name="T6" fmla="*/ 0 60000 65536"/>
                <a:gd name="T7" fmla="*/ 0 60000 65536"/>
                <a:gd name="T8" fmla="*/ 0 60000 65536"/>
                <a:gd name="T9" fmla="*/ 0 w 829"/>
                <a:gd name="T10" fmla="*/ 0 h 615"/>
                <a:gd name="T11" fmla="*/ 829 w 829"/>
                <a:gd name="T12" fmla="*/ 615 h 6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29" h="615">
                  <a:moveTo>
                    <a:pt x="829" y="615"/>
                  </a:moveTo>
                  <a:lnTo>
                    <a:pt x="0" y="615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" name="Freeform 422"/>
            <p:cNvSpPr>
              <a:spLocks noChangeArrowheads="1"/>
            </p:cNvSpPr>
            <p:nvPr/>
          </p:nvSpPr>
          <p:spPr bwMode="auto">
            <a:xfrm>
              <a:off x="1618" y="2649"/>
              <a:ext cx="31" cy="28"/>
            </a:xfrm>
            <a:custGeom>
              <a:avLst/>
              <a:gdLst>
                <a:gd name="T0" fmla="*/ 14 w 31"/>
                <a:gd name="T1" fmla="*/ 28 h 28"/>
                <a:gd name="T2" fmla="*/ 19 w 31"/>
                <a:gd name="T3" fmla="*/ 28 h 28"/>
                <a:gd name="T4" fmla="*/ 21 w 31"/>
                <a:gd name="T5" fmla="*/ 28 h 28"/>
                <a:gd name="T6" fmla="*/ 21 w 31"/>
                <a:gd name="T7" fmla="*/ 26 h 28"/>
                <a:gd name="T8" fmla="*/ 24 w 31"/>
                <a:gd name="T9" fmla="*/ 26 h 28"/>
                <a:gd name="T10" fmla="*/ 26 w 31"/>
                <a:gd name="T11" fmla="*/ 24 h 28"/>
                <a:gd name="T12" fmla="*/ 29 w 31"/>
                <a:gd name="T13" fmla="*/ 24 h 28"/>
                <a:gd name="T14" fmla="*/ 29 w 31"/>
                <a:gd name="T15" fmla="*/ 21 h 28"/>
                <a:gd name="T16" fmla="*/ 31 w 31"/>
                <a:gd name="T17" fmla="*/ 19 h 28"/>
                <a:gd name="T18" fmla="*/ 31 w 31"/>
                <a:gd name="T19" fmla="*/ 17 h 28"/>
                <a:gd name="T20" fmla="*/ 31 w 31"/>
                <a:gd name="T21" fmla="*/ 14 h 28"/>
                <a:gd name="T22" fmla="*/ 31 w 31"/>
                <a:gd name="T23" fmla="*/ 12 h 28"/>
                <a:gd name="T24" fmla="*/ 31 w 31"/>
                <a:gd name="T25" fmla="*/ 9 h 28"/>
                <a:gd name="T26" fmla="*/ 29 w 31"/>
                <a:gd name="T27" fmla="*/ 7 h 28"/>
                <a:gd name="T28" fmla="*/ 29 w 31"/>
                <a:gd name="T29" fmla="*/ 5 h 28"/>
                <a:gd name="T30" fmla="*/ 26 w 31"/>
                <a:gd name="T31" fmla="*/ 5 h 28"/>
                <a:gd name="T32" fmla="*/ 24 w 31"/>
                <a:gd name="T33" fmla="*/ 2 h 28"/>
                <a:gd name="T34" fmla="*/ 21 w 31"/>
                <a:gd name="T35" fmla="*/ 0 h 28"/>
                <a:gd name="T36" fmla="*/ 21 w 31"/>
                <a:gd name="T37" fmla="*/ 0 h 28"/>
                <a:gd name="T38" fmla="*/ 19 w 31"/>
                <a:gd name="T39" fmla="*/ 0 h 28"/>
                <a:gd name="T40" fmla="*/ 17 w 31"/>
                <a:gd name="T41" fmla="*/ 0 h 28"/>
                <a:gd name="T42" fmla="*/ 14 w 31"/>
                <a:gd name="T43" fmla="*/ 0 h 28"/>
                <a:gd name="T44" fmla="*/ 12 w 31"/>
                <a:gd name="T45" fmla="*/ 0 h 28"/>
                <a:gd name="T46" fmla="*/ 10 w 31"/>
                <a:gd name="T47" fmla="*/ 0 h 28"/>
                <a:gd name="T48" fmla="*/ 7 w 31"/>
                <a:gd name="T49" fmla="*/ 2 h 28"/>
                <a:gd name="T50" fmla="*/ 5 w 31"/>
                <a:gd name="T51" fmla="*/ 5 h 28"/>
                <a:gd name="T52" fmla="*/ 5 w 31"/>
                <a:gd name="T53" fmla="*/ 5 h 28"/>
                <a:gd name="T54" fmla="*/ 2 w 31"/>
                <a:gd name="T55" fmla="*/ 7 h 28"/>
                <a:gd name="T56" fmla="*/ 2 w 31"/>
                <a:gd name="T57" fmla="*/ 9 h 28"/>
                <a:gd name="T58" fmla="*/ 2 w 31"/>
                <a:gd name="T59" fmla="*/ 12 h 28"/>
                <a:gd name="T60" fmla="*/ 0 w 31"/>
                <a:gd name="T61" fmla="*/ 14 h 28"/>
                <a:gd name="T62" fmla="*/ 2 w 31"/>
                <a:gd name="T63" fmla="*/ 17 h 28"/>
                <a:gd name="T64" fmla="*/ 2 w 31"/>
                <a:gd name="T65" fmla="*/ 19 h 28"/>
                <a:gd name="T66" fmla="*/ 2 w 31"/>
                <a:gd name="T67" fmla="*/ 21 h 28"/>
                <a:gd name="T68" fmla="*/ 5 w 31"/>
                <a:gd name="T69" fmla="*/ 24 h 28"/>
                <a:gd name="T70" fmla="*/ 5 w 31"/>
                <a:gd name="T71" fmla="*/ 24 h 28"/>
                <a:gd name="T72" fmla="*/ 7 w 31"/>
                <a:gd name="T73" fmla="*/ 26 h 28"/>
                <a:gd name="T74" fmla="*/ 10 w 31"/>
                <a:gd name="T75" fmla="*/ 26 h 28"/>
                <a:gd name="T76" fmla="*/ 12 w 31"/>
                <a:gd name="T77" fmla="*/ 28 h 28"/>
                <a:gd name="T78" fmla="*/ 14 w 31"/>
                <a:gd name="T79" fmla="*/ 28 h 28"/>
                <a:gd name="T80" fmla="*/ 17 w 31"/>
                <a:gd name="T81" fmla="*/ 28 h 28"/>
                <a:gd name="T82" fmla="*/ 17 w 31"/>
                <a:gd name="T83" fmla="*/ 28 h 28"/>
                <a:gd name="T84" fmla="*/ 14 w 31"/>
                <a:gd name="T85" fmla="*/ 28 h 2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8"/>
                <a:gd name="T131" fmla="*/ 31 w 31"/>
                <a:gd name="T132" fmla="*/ 28 h 2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8">
                  <a:moveTo>
                    <a:pt x="14" y="28"/>
                  </a:moveTo>
                  <a:lnTo>
                    <a:pt x="19" y="28"/>
                  </a:lnTo>
                  <a:lnTo>
                    <a:pt x="21" y="28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1" y="9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10" y="26"/>
                  </a:lnTo>
                  <a:lnTo>
                    <a:pt x="12" y="28"/>
                  </a:lnTo>
                  <a:lnTo>
                    <a:pt x="14" y="28"/>
                  </a:lnTo>
                  <a:lnTo>
                    <a:pt x="17" y="28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" name="Rectangle 423"/>
            <p:cNvSpPr>
              <a:spLocks noChangeArrowheads="1"/>
            </p:cNvSpPr>
            <p:nvPr/>
          </p:nvSpPr>
          <p:spPr bwMode="auto">
            <a:xfrm>
              <a:off x="3018" y="29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419" name="Rectangle 424"/>
            <p:cNvSpPr>
              <a:spLocks noChangeArrowheads="1"/>
            </p:cNvSpPr>
            <p:nvPr/>
          </p:nvSpPr>
          <p:spPr bwMode="auto">
            <a:xfrm>
              <a:off x="3056" y="2950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420" name="Rectangle 425"/>
            <p:cNvSpPr>
              <a:spLocks noChangeArrowheads="1"/>
            </p:cNvSpPr>
            <p:nvPr/>
          </p:nvSpPr>
          <p:spPr bwMode="auto">
            <a:xfrm>
              <a:off x="3070" y="29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421" name="Rectangle 426"/>
            <p:cNvSpPr>
              <a:spLocks noChangeArrowheads="1"/>
            </p:cNvSpPr>
            <p:nvPr/>
          </p:nvSpPr>
          <p:spPr bwMode="auto">
            <a:xfrm>
              <a:off x="3103" y="29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422" name="Rectangle 427"/>
            <p:cNvSpPr>
              <a:spLocks noChangeArrowheads="1"/>
            </p:cNvSpPr>
            <p:nvPr/>
          </p:nvSpPr>
          <p:spPr bwMode="auto">
            <a:xfrm>
              <a:off x="3134" y="295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3" name="Rectangle 428"/>
            <p:cNvSpPr>
              <a:spLocks noChangeArrowheads="1"/>
            </p:cNvSpPr>
            <p:nvPr/>
          </p:nvSpPr>
          <p:spPr bwMode="auto">
            <a:xfrm>
              <a:off x="2984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24" name="Rectangle 429"/>
            <p:cNvSpPr>
              <a:spLocks noChangeArrowheads="1"/>
            </p:cNvSpPr>
            <p:nvPr/>
          </p:nvSpPr>
          <p:spPr bwMode="auto">
            <a:xfrm>
              <a:off x="3018" y="3019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425" name="Rectangle 430"/>
            <p:cNvSpPr>
              <a:spLocks noChangeArrowheads="1"/>
            </p:cNvSpPr>
            <p:nvPr/>
          </p:nvSpPr>
          <p:spPr bwMode="auto">
            <a:xfrm>
              <a:off x="3046" y="301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26" name="Rectangle 431"/>
            <p:cNvSpPr>
              <a:spLocks noChangeArrowheads="1"/>
            </p:cNvSpPr>
            <p:nvPr/>
          </p:nvSpPr>
          <p:spPr bwMode="auto">
            <a:xfrm>
              <a:off x="3063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27" name="Rectangle 432"/>
            <p:cNvSpPr>
              <a:spLocks noChangeArrowheads="1"/>
            </p:cNvSpPr>
            <p:nvPr/>
          </p:nvSpPr>
          <p:spPr bwMode="auto">
            <a:xfrm>
              <a:off x="3096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428" name="Rectangle 433"/>
            <p:cNvSpPr>
              <a:spLocks noChangeArrowheads="1"/>
            </p:cNvSpPr>
            <p:nvPr/>
          </p:nvSpPr>
          <p:spPr bwMode="auto">
            <a:xfrm>
              <a:off x="3127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429" name="Line 434"/>
            <p:cNvSpPr>
              <a:spLocks noChangeShapeType="1"/>
            </p:cNvSpPr>
            <p:nvPr/>
          </p:nvSpPr>
          <p:spPr bwMode="auto">
            <a:xfrm flipH="1">
              <a:off x="3403" y="2706"/>
              <a:ext cx="113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" name="Freeform 435"/>
            <p:cNvSpPr>
              <a:spLocks noChangeArrowheads="1"/>
            </p:cNvSpPr>
            <p:nvPr/>
          </p:nvSpPr>
          <p:spPr bwMode="auto">
            <a:xfrm>
              <a:off x="3183" y="2706"/>
              <a:ext cx="221" cy="312"/>
            </a:xfrm>
            <a:custGeom>
              <a:avLst/>
              <a:gdLst>
                <a:gd name="T0" fmla="*/ 0 w 221"/>
                <a:gd name="T1" fmla="*/ 312 h 312"/>
                <a:gd name="T2" fmla="*/ 221 w 221"/>
                <a:gd name="T3" fmla="*/ 312 h 312"/>
                <a:gd name="T4" fmla="*/ 221 w 221"/>
                <a:gd name="T5" fmla="*/ 0 h 312"/>
                <a:gd name="T6" fmla="*/ 0 60000 65536"/>
                <a:gd name="T7" fmla="*/ 0 60000 65536"/>
                <a:gd name="T8" fmla="*/ 0 60000 65536"/>
                <a:gd name="T9" fmla="*/ 0 w 221"/>
                <a:gd name="T10" fmla="*/ 0 h 312"/>
                <a:gd name="T11" fmla="*/ 221 w 221"/>
                <a:gd name="T12" fmla="*/ 312 h 3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" h="312">
                  <a:moveTo>
                    <a:pt x="0" y="312"/>
                  </a:moveTo>
                  <a:lnTo>
                    <a:pt x="221" y="312"/>
                  </a:lnTo>
                  <a:lnTo>
                    <a:pt x="221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" name="Freeform 436"/>
            <p:cNvSpPr>
              <a:spLocks noChangeArrowheads="1"/>
            </p:cNvSpPr>
            <p:nvPr/>
          </p:nvSpPr>
          <p:spPr bwMode="auto">
            <a:xfrm>
              <a:off x="3389" y="2692"/>
              <a:ext cx="29" cy="28"/>
            </a:xfrm>
            <a:custGeom>
              <a:avLst/>
              <a:gdLst>
                <a:gd name="T0" fmla="*/ 15 w 29"/>
                <a:gd name="T1" fmla="*/ 28 h 28"/>
                <a:gd name="T2" fmla="*/ 17 w 29"/>
                <a:gd name="T3" fmla="*/ 28 h 28"/>
                <a:gd name="T4" fmla="*/ 19 w 29"/>
                <a:gd name="T5" fmla="*/ 28 h 28"/>
                <a:gd name="T6" fmla="*/ 22 w 29"/>
                <a:gd name="T7" fmla="*/ 28 h 28"/>
                <a:gd name="T8" fmla="*/ 24 w 29"/>
                <a:gd name="T9" fmla="*/ 26 h 28"/>
                <a:gd name="T10" fmla="*/ 24 w 29"/>
                <a:gd name="T11" fmla="*/ 26 h 28"/>
                <a:gd name="T12" fmla="*/ 26 w 29"/>
                <a:gd name="T13" fmla="*/ 23 h 28"/>
                <a:gd name="T14" fmla="*/ 26 w 29"/>
                <a:gd name="T15" fmla="*/ 21 h 28"/>
                <a:gd name="T16" fmla="*/ 29 w 29"/>
                <a:gd name="T17" fmla="*/ 18 h 28"/>
                <a:gd name="T18" fmla="*/ 29 w 29"/>
                <a:gd name="T19" fmla="*/ 16 h 28"/>
                <a:gd name="T20" fmla="*/ 29 w 29"/>
                <a:gd name="T21" fmla="*/ 14 h 28"/>
                <a:gd name="T22" fmla="*/ 29 w 29"/>
                <a:gd name="T23" fmla="*/ 11 h 28"/>
                <a:gd name="T24" fmla="*/ 29 w 29"/>
                <a:gd name="T25" fmla="*/ 9 h 28"/>
                <a:gd name="T26" fmla="*/ 26 w 29"/>
                <a:gd name="T27" fmla="*/ 7 h 28"/>
                <a:gd name="T28" fmla="*/ 26 w 29"/>
                <a:gd name="T29" fmla="*/ 7 h 28"/>
                <a:gd name="T30" fmla="*/ 24 w 29"/>
                <a:gd name="T31" fmla="*/ 4 h 28"/>
                <a:gd name="T32" fmla="*/ 24 w 29"/>
                <a:gd name="T33" fmla="*/ 2 h 28"/>
                <a:gd name="T34" fmla="*/ 22 w 29"/>
                <a:gd name="T35" fmla="*/ 2 h 28"/>
                <a:gd name="T36" fmla="*/ 19 w 29"/>
                <a:gd name="T37" fmla="*/ 0 h 28"/>
                <a:gd name="T38" fmla="*/ 17 w 29"/>
                <a:gd name="T39" fmla="*/ 0 h 28"/>
                <a:gd name="T40" fmla="*/ 15 w 29"/>
                <a:gd name="T41" fmla="*/ 0 h 28"/>
                <a:gd name="T42" fmla="*/ 12 w 29"/>
                <a:gd name="T43" fmla="*/ 0 h 28"/>
                <a:gd name="T44" fmla="*/ 10 w 29"/>
                <a:gd name="T45" fmla="*/ 0 h 28"/>
                <a:gd name="T46" fmla="*/ 8 w 29"/>
                <a:gd name="T47" fmla="*/ 2 h 28"/>
                <a:gd name="T48" fmla="*/ 5 w 29"/>
                <a:gd name="T49" fmla="*/ 2 h 28"/>
                <a:gd name="T50" fmla="*/ 5 w 29"/>
                <a:gd name="T51" fmla="*/ 4 h 28"/>
                <a:gd name="T52" fmla="*/ 3 w 29"/>
                <a:gd name="T53" fmla="*/ 7 h 28"/>
                <a:gd name="T54" fmla="*/ 3 w 29"/>
                <a:gd name="T55" fmla="*/ 7 h 28"/>
                <a:gd name="T56" fmla="*/ 0 w 29"/>
                <a:gd name="T57" fmla="*/ 9 h 28"/>
                <a:gd name="T58" fmla="*/ 0 w 29"/>
                <a:gd name="T59" fmla="*/ 11 h 28"/>
                <a:gd name="T60" fmla="*/ 0 w 29"/>
                <a:gd name="T61" fmla="*/ 14 h 28"/>
                <a:gd name="T62" fmla="*/ 0 w 29"/>
                <a:gd name="T63" fmla="*/ 16 h 28"/>
                <a:gd name="T64" fmla="*/ 0 w 29"/>
                <a:gd name="T65" fmla="*/ 18 h 28"/>
                <a:gd name="T66" fmla="*/ 3 w 29"/>
                <a:gd name="T67" fmla="*/ 21 h 28"/>
                <a:gd name="T68" fmla="*/ 3 w 29"/>
                <a:gd name="T69" fmla="*/ 23 h 28"/>
                <a:gd name="T70" fmla="*/ 5 w 29"/>
                <a:gd name="T71" fmla="*/ 26 h 28"/>
                <a:gd name="T72" fmla="*/ 5 w 29"/>
                <a:gd name="T73" fmla="*/ 26 h 28"/>
                <a:gd name="T74" fmla="*/ 8 w 29"/>
                <a:gd name="T75" fmla="*/ 28 h 28"/>
                <a:gd name="T76" fmla="*/ 10 w 29"/>
                <a:gd name="T77" fmla="*/ 28 h 28"/>
                <a:gd name="T78" fmla="*/ 12 w 29"/>
                <a:gd name="T79" fmla="*/ 28 h 28"/>
                <a:gd name="T80" fmla="*/ 15 w 29"/>
                <a:gd name="T81" fmla="*/ 28 h 28"/>
                <a:gd name="T82" fmla="*/ 15 w 29"/>
                <a:gd name="T83" fmla="*/ 28 h 2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8"/>
                <a:gd name="T128" fmla="*/ 29 w 29"/>
                <a:gd name="T129" fmla="*/ 28 h 2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8">
                  <a:moveTo>
                    <a:pt x="15" y="28"/>
                  </a:moveTo>
                  <a:lnTo>
                    <a:pt x="17" y="28"/>
                  </a:lnTo>
                  <a:lnTo>
                    <a:pt x="19" y="28"/>
                  </a:lnTo>
                  <a:lnTo>
                    <a:pt x="22" y="28"/>
                  </a:lnTo>
                  <a:lnTo>
                    <a:pt x="24" y="26"/>
                  </a:lnTo>
                  <a:lnTo>
                    <a:pt x="26" y="23"/>
                  </a:lnTo>
                  <a:lnTo>
                    <a:pt x="26" y="21"/>
                  </a:lnTo>
                  <a:lnTo>
                    <a:pt x="29" y="18"/>
                  </a:lnTo>
                  <a:lnTo>
                    <a:pt x="29" y="16"/>
                  </a:lnTo>
                  <a:lnTo>
                    <a:pt x="29" y="14"/>
                  </a:lnTo>
                  <a:lnTo>
                    <a:pt x="29" y="11"/>
                  </a:lnTo>
                  <a:lnTo>
                    <a:pt x="29" y="9"/>
                  </a:lnTo>
                  <a:lnTo>
                    <a:pt x="26" y="7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2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5" y="2"/>
                  </a:lnTo>
                  <a:lnTo>
                    <a:pt x="5" y="4"/>
                  </a:lnTo>
                  <a:lnTo>
                    <a:pt x="3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5" y="26"/>
                  </a:lnTo>
                  <a:lnTo>
                    <a:pt x="8" y="28"/>
                  </a:lnTo>
                  <a:lnTo>
                    <a:pt x="10" y="28"/>
                  </a:lnTo>
                  <a:lnTo>
                    <a:pt x="12" y="28"/>
                  </a:lnTo>
                  <a:lnTo>
                    <a:pt x="15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2" name="Rectangle 437"/>
            <p:cNvSpPr>
              <a:spLocks noChangeArrowheads="1"/>
            </p:cNvSpPr>
            <p:nvPr/>
          </p:nvSpPr>
          <p:spPr bwMode="auto">
            <a:xfrm>
              <a:off x="3563" y="2481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433" name="Rectangle 438"/>
            <p:cNvSpPr>
              <a:spLocks noChangeArrowheads="1"/>
            </p:cNvSpPr>
            <p:nvPr/>
          </p:nvSpPr>
          <p:spPr bwMode="auto">
            <a:xfrm>
              <a:off x="3612" y="248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4" name="Rectangle 439"/>
            <p:cNvSpPr>
              <a:spLocks noChangeArrowheads="1"/>
            </p:cNvSpPr>
            <p:nvPr/>
          </p:nvSpPr>
          <p:spPr bwMode="auto">
            <a:xfrm>
              <a:off x="3574" y="254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435" name="Rectangle 440"/>
            <p:cNvSpPr>
              <a:spLocks noChangeArrowheads="1"/>
            </p:cNvSpPr>
            <p:nvPr/>
          </p:nvSpPr>
          <p:spPr bwMode="auto">
            <a:xfrm>
              <a:off x="3605" y="254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6" name="Rectangle 441"/>
            <p:cNvSpPr>
              <a:spLocks noChangeArrowheads="1"/>
            </p:cNvSpPr>
            <p:nvPr/>
          </p:nvSpPr>
          <p:spPr bwMode="auto">
            <a:xfrm>
              <a:off x="3574" y="2600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437" name="Rectangle 442"/>
            <p:cNvSpPr>
              <a:spLocks noChangeArrowheads="1"/>
            </p:cNvSpPr>
            <p:nvPr/>
          </p:nvSpPr>
          <p:spPr bwMode="auto">
            <a:xfrm>
              <a:off x="3555" y="267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438" name="Line 443"/>
            <p:cNvSpPr>
              <a:spLocks noChangeShapeType="1"/>
            </p:cNvSpPr>
            <p:nvPr/>
          </p:nvSpPr>
          <p:spPr bwMode="auto">
            <a:xfrm flipH="1">
              <a:off x="3182" y="2225"/>
              <a:ext cx="571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9" name="Freeform 444"/>
            <p:cNvSpPr>
              <a:spLocks noChangeArrowheads="1"/>
            </p:cNvSpPr>
            <p:nvPr/>
          </p:nvSpPr>
          <p:spPr bwMode="auto">
            <a:xfrm>
              <a:off x="3775" y="2104"/>
              <a:ext cx="365" cy="590"/>
            </a:xfrm>
            <a:custGeom>
              <a:avLst/>
              <a:gdLst>
                <a:gd name="T0" fmla="*/ 0 w 365"/>
                <a:gd name="T1" fmla="*/ 0 h 590"/>
                <a:gd name="T2" fmla="*/ 0 w 365"/>
                <a:gd name="T3" fmla="*/ 239 h 590"/>
                <a:gd name="T4" fmla="*/ 62 w 365"/>
                <a:gd name="T5" fmla="*/ 296 h 590"/>
                <a:gd name="T6" fmla="*/ 0 w 365"/>
                <a:gd name="T7" fmla="*/ 353 h 590"/>
                <a:gd name="T8" fmla="*/ 0 w 365"/>
                <a:gd name="T9" fmla="*/ 590 h 590"/>
                <a:gd name="T10" fmla="*/ 365 w 365"/>
                <a:gd name="T11" fmla="*/ 410 h 590"/>
                <a:gd name="T12" fmla="*/ 365 w 365"/>
                <a:gd name="T13" fmla="*/ 183 h 590"/>
                <a:gd name="T14" fmla="*/ 0 w 365"/>
                <a:gd name="T15" fmla="*/ 3 h 590"/>
                <a:gd name="T16" fmla="*/ 0 w 365"/>
                <a:gd name="T17" fmla="*/ 3 h 590"/>
                <a:gd name="T18" fmla="*/ 0 w 365"/>
                <a:gd name="T19" fmla="*/ 0 h 5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5"/>
                <a:gd name="T31" fmla="*/ 0 h 590"/>
                <a:gd name="T32" fmla="*/ 365 w 365"/>
                <a:gd name="T33" fmla="*/ 590 h 59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5" h="590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3"/>
                  </a:lnTo>
                  <a:lnTo>
                    <a:pt x="0" y="590"/>
                  </a:lnTo>
                  <a:lnTo>
                    <a:pt x="365" y="410"/>
                  </a:lnTo>
                  <a:lnTo>
                    <a:pt x="365" y="183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" name="Freeform 445"/>
            <p:cNvSpPr>
              <a:spLocks noChangeArrowheads="1"/>
            </p:cNvSpPr>
            <p:nvPr/>
          </p:nvSpPr>
          <p:spPr bwMode="auto">
            <a:xfrm>
              <a:off x="3775" y="2104"/>
              <a:ext cx="365" cy="590"/>
            </a:xfrm>
            <a:custGeom>
              <a:avLst/>
              <a:gdLst>
                <a:gd name="T0" fmla="*/ 0 w 365"/>
                <a:gd name="T1" fmla="*/ 0 h 590"/>
                <a:gd name="T2" fmla="*/ 0 w 365"/>
                <a:gd name="T3" fmla="*/ 239 h 590"/>
                <a:gd name="T4" fmla="*/ 62 w 365"/>
                <a:gd name="T5" fmla="*/ 296 h 590"/>
                <a:gd name="T6" fmla="*/ 0 w 365"/>
                <a:gd name="T7" fmla="*/ 353 h 590"/>
                <a:gd name="T8" fmla="*/ 0 w 365"/>
                <a:gd name="T9" fmla="*/ 590 h 590"/>
                <a:gd name="T10" fmla="*/ 365 w 365"/>
                <a:gd name="T11" fmla="*/ 410 h 590"/>
                <a:gd name="T12" fmla="*/ 365 w 365"/>
                <a:gd name="T13" fmla="*/ 183 h 590"/>
                <a:gd name="T14" fmla="*/ 0 w 365"/>
                <a:gd name="T15" fmla="*/ 3 h 590"/>
                <a:gd name="T16" fmla="*/ 0 w 365"/>
                <a:gd name="T17" fmla="*/ 3 h 5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5"/>
                <a:gd name="T28" fmla="*/ 0 h 590"/>
                <a:gd name="T29" fmla="*/ 365 w 365"/>
                <a:gd name="T30" fmla="*/ 590 h 5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5" h="590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3"/>
                  </a:lnTo>
                  <a:lnTo>
                    <a:pt x="0" y="590"/>
                  </a:lnTo>
                  <a:lnTo>
                    <a:pt x="365" y="410"/>
                  </a:lnTo>
                  <a:lnTo>
                    <a:pt x="365" y="183"/>
                  </a:lnTo>
                  <a:lnTo>
                    <a:pt x="0" y="3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1" name="Rectangle 446"/>
            <p:cNvSpPr>
              <a:spLocks noChangeArrowheads="1"/>
            </p:cNvSpPr>
            <p:nvPr/>
          </p:nvSpPr>
          <p:spPr bwMode="auto">
            <a:xfrm>
              <a:off x="4019" y="2382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42" name="Rectangle 447"/>
            <p:cNvSpPr>
              <a:spLocks noChangeArrowheads="1"/>
            </p:cNvSpPr>
            <p:nvPr/>
          </p:nvSpPr>
          <p:spPr bwMode="auto">
            <a:xfrm>
              <a:off x="4057" y="23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443" name="Rectangle 448"/>
            <p:cNvSpPr>
              <a:spLocks noChangeArrowheads="1"/>
            </p:cNvSpPr>
            <p:nvPr/>
          </p:nvSpPr>
          <p:spPr bwMode="auto">
            <a:xfrm>
              <a:off x="4090" y="2382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444" name="Rectangle 449"/>
            <p:cNvSpPr>
              <a:spLocks noChangeArrowheads="1"/>
            </p:cNvSpPr>
            <p:nvPr/>
          </p:nvSpPr>
          <p:spPr bwMode="auto">
            <a:xfrm>
              <a:off x="4133" y="2382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5" name="Rectangle 450"/>
            <p:cNvSpPr>
              <a:spLocks noChangeArrowheads="1"/>
            </p:cNvSpPr>
            <p:nvPr/>
          </p:nvSpPr>
          <p:spPr bwMode="auto">
            <a:xfrm>
              <a:off x="3972" y="244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46" name="Rectangle 451"/>
            <p:cNvSpPr>
              <a:spLocks noChangeArrowheads="1"/>
            </p:cNvSpPr>
            <p:nvPr/>
          </p:nvSpPr>
          <p:spPr bwMode="auto">
            <a:xfrm>
              <a:off x="3993" y="244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47" name="Rectangle 452"/>
            <p:cNvSpPr>
              <a:spLocks noChangeArrowheads="1"/>
            </p:cNvSpPr>
            <p:nvPr/>
          </p:nvSpPr>
          <p:spPr bwMode="auto">
            <a:xfrm>
              <a:off x="4024" y="244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448" name="Rectangle 453"/>
            <p:cNvSpPr>
              <a:spLocks noChangeArrowheads="1"/>
            </p:cNvSpPr>
            <p:nvPr/>
          </p:nvSpPr>
          <p:spPr bwMode="auto">
            <a:xfrm>
              <a:off x="4055" y="244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449" name="Rectangle 454"/>
            <p:cNvSpPr>
              <a:spLocks noChangeArrowheads="1"/>
            </p:cNvSpPr>
            <p:nvPr/>
          </p:nvSpPr>
          <p:spPr bwMode="auto">
            <a:xfrm>
              <a:off x="4086" y="2441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450" name="Rectangle 455"/>
            <p:cNvSpPr>
              <a:spLocks noChangeArrowheads="1"/>
            </p:cNvSpPr>
            <p:nvPr/>
          </p:nvSpPr>
          <p:spPr bwMode="auto">
            <a:xfrm>
              <a:off x="4100" y="244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51" name="Rectangle 456"/>
            <p:cNvSpPr>
              <a:spLocks noChangeArrowheads="1"/>
            </p:cNvSpPr>
            <p:nvPr/>
          </p:nvSpPr>
          <p:spPr bwMode="auto">
            <a:xfrm>
              <a:off x="4005" y="2289"/>
              <a:ext cx="3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Z</a:t>
              </a:r>
            </a:p>
          </p:txBody>
        </p:sp>
        <p:sp>
          <p:nvSpPr>
            <p:cNvPr id="452" name="Rectangle 457"/>
            <p:cNvSpPr>
              <a:spLocks noChangeArrowheads="1"/>
            </p:cNvSpPr>
            <p:nvPr/>
          </p:nvSpPr>
          <p:spPr bwMode="auto">
            <a:xfrm>
              <a:off x="4041" y="228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53" name="Rectangle 458"/>
            <p:cNvSpPr>
              <a:spLocks noChangeArrowheads="1"/>
            </p:cNvSpPr>
            <p:nvPr/>
          </p:nvSpPr>
          <p:spPr bwMode="auto">
            <a:xfrm>
              <a:off x="4071" y="2289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54" name="Rectangle 459"/>
            <p:cNvSpPr>
              <a:spLocks noChangeArrowheads="1"/>
            </p:cNvSpPr>
            <p:nvPr/>
          </p:nvSpPr>
          <p:spPr bwMode="auto">
            <a:xfrm>
              <a:off x="4093" y="228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455" name="Rectangle 460"/>
            <p:cNvSpPr>
              <a:spLocks noChangeArrowheads="1"/>
            </p:cNvSpPr>
            <p:nvPr/>
          </p:nvSpPr>
          <p:spPr bwMode="auto">
            <a:xfrm>
              <a:off x="4656" y="12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456" name="Rectangle 461"/>
            <p:cNvSpPr>
              <a:spLocks noChangeArrowheads="1"/>
            </p:cNvSpPr>
            <p:nvPr/>
          </p:nvSpPr>
          <p:spPr bwMode="auto">
            <a:xfrm>
              <a:off x="4694" y="1250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457" name="Rectangle 462"/>
            <p:cNvSpPr>
              <a:spLocks noChangeArrowheads="1"/>
            </p:cNvSpPr>
            <p:nvPr/>
          </p:nvSpPr>
          <p:spPr bwMode="auto">
            <a:xfrm>
              <a:off x="4737" y="12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458" name="Rectangle 463"/>
            <p:cNvSpPr>
              <a:spLocks noChangeArrowheads="1"/>
            </p:cNvSpPr>
            <p:nvPr/>
          </p:nvSpPr>
          <p:spPr bwMode="auto">
            <a:xfrm>
              <a:off x="4777" y="1250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59" name="Rectangle 464"/>
            <p:cNvSpPr>
              <a:spLocks noChangeArrowheads="1"/>
            </p:cNvSpPr>
            <p:nvPr/>
          </p:nvSpPr>
          <p:spPr bwMode="auto">
            <a:xfrm>
              <a:off x="4796" y="1250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460" name="Rectangle 465"/>
            <p:cNvSpPr>
              <a:spLocks noChangeArrowheads="1"/>
            </p:cNvSpPr>
            <p:nvPr/>
          </p:nvSpPr>
          <p:spPr bwMode="auto">
            <a:xfrm>
              <a:off x="4746" y="2626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461" name="Rectangle 466"/>
            <p:cNvSpPr>
              <a:spLocks noChangeArrowheads="1"/>
            </p:cNvSpPr>
            <p:nvPr/>
          </p:nvSpPr>
          <p:spPr bwMode="auto">
            <a:xfrm>
              <a:off x="4789" y="262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62" name="Rectangle 467"/>
            <p:cNvSpPr>
              <a:spLocks noChangeArrowheads="1"/>
            </p:cNvSpPr>
            <p:nvPr/>
          </p:nvSpPr>
          <p:spPr bwMode="auto">
            <a:xfrm>
              <a:off x="4822" y="262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63" name="Rectangle 468"/>
            <p:cNvSpPr>
              <a:spLocks noChangeArrowheads="1"/>
            </p:cNvSpPr>
            <p:nvPr/>
          </p:nvSpPr>
          <p:spPr bwMode="auto">
            <a:xfrm>
              <a:off x="4839" y="262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64" name="Rectangle 469"/>
            <p:cNvSpPr>
              <a:spLocks noChangeArrowheads="1"/>
            </p:cNvSpPr>
            <p:nvPr/>
          </p:nvSpPr>
          <p:spPr bwMode="auto">
            <a:xfrm>
              <a:off x="4872" y="2626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5" name="Rectangle 470"/>
            <p:cNvSpPr>
              <a:spLocks noChangeArrowheads="1"/>
            </p:cNvSpPr>
            <p:nvPr/>
          </p:nvSpPr>
          <p:spPr bwMode="auto">
            <a:xfrm>
              <a:off x="4706" y="2694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466" name="Rectangle 471"/>
            <p:cNvSpPr>
              <a:spLocks noChangeArrowheads="1"/>
            </p:cNvSpPr>
            <p:nvPr/>
          </p:nvSpPr>
          <p:spPr bwMode="auto">
            <a:xfrm>
              <a:off x="4753" y="26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67" name="Rectangle 472"/>
            <p:cNvSpPr>
              <a:spLocks noChangeArrowheads="1"/>
            </p:cNvSpPr>
            <p:nvPr/>
          </p:nvSpPr>
          <p:spPr bwMode="auto">
            <a:xfrm>
              <a:off x="4787" y="2694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468" name="Rectangle 473"/>
            <p:cNvSpPr>
              <a:spLocks noChangeArrowheads="1"/>
            </p:cNvSpPr>
            <p:nvPr/>
          </p:nvSpPr>
          <p:spPr bwMode="auto">
            <a:xfrm>
              <a:off x="4836" y="26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469" name="Rectangle 474"/>
            <p:cNvSpPr>
              <a:spLocks noChangeArrowheads="1"/>
            </p:cNvSpPr>
            <p:nvPr/>
          </p:nvSpPr>
          <p:spPr bwMode="auto">
            <a:xfrm>
              <a:off x="4867" y="2694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70" name="Rectangle 475"/>
            <p:cNvSpPr>
              <a:spLocks noChangeArrowheads="1"/>
            </p:cNvSpPr>
            <p:nvPr/>
          </p:nvSpPr>
          <p:spPr bwMode="auto">
            <a:xfrm>
              <a:off x="4889" y="2694"/>
              <a:ext cx="2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471" name="Rectangle 476"/>
            <p:cNvSpPr>
              <a:spLocks noChangeArrowheads="1"/>
            </p:cNvSpPr>
            <p:nvPr/>
          </p:nvSpPr>
          <p:spPr bwMode="auto">
            <a:xfrm>
              <a:off x="4406" y="2739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472" name="Rectangle 477"/>
            <p:cNvSpPr>
              <a:spLocks noChangeArrowheads="1"/>
            </p:cNvSpPr>
            <p:nvPr/>
          </p:nvSpPr>
          <p:spPr bwMode="auto">
            <a:xfrm>
              <a:off x="4462" y="2739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73" name="Rectangle 478"/>
            <p:cNvSpPr>
              <a:spLocks noChangeArrowheads="1"/>
            </p:cNvSpPr>
            <p:nvPr/>
          </p:nvSpPr>
          <p:spPr bwMode="auto">
            <a:xfrm>
              <a:off x="4481" y="2739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474" name="Rectangle 479"/>
            <p:cNvSpPr>
              <a:spLocks noChangeArrowheads="1"/>
            </p:cNvSpPr>
            <p:nvPr/>
          </p:nvSpPr>
          <p:spPr bwMode="auto">
            <a:xfrm>
              <a:off x="4495" y="273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75" name="Rectangle 480"/>
            <p:cNvSpPr>
              <a:spLocks noChangeArrowheads="1"/>
            </p:cNvSpPr>
            <p:nvPr/>
          </p:nvSpPr>
          <p:spPr bwMode="auto">
            <a:xfrm>
              <a:off x="4510" y="27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76" name="Rectangle 481"/>
            <p:cNvSpPr>
              <a:spLocks noChangeArrowheads="1"/>
            </p:cNvSpPr>
            <p:nvPr/>
          </p:nvSpPr>
          <p:spPr bwMode="auto">
            <a:xfrm>
              <a:off x="4543" y="273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7" name="Rectangle 482"/>
            <p:cNvSpPr>
              <a:spLocks noChangeArrowheads="1"/>
            </p:cNvSpPr>
            <p:nvPr/>
          </p:nvSpPr>
          <p:spPr bwMode="auto">
            <a:xfrm>
              <a:off x="4408" y="279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478" name="Rectangle 483"/>
            <p:cNvSpPr>
              <a:spLocks noChangeArrowheads="1"/>
            </p:cNvSpPr>
            <p:nvPr/>
          </p:nvSpPr>
          <p:spPr bwMode="auto">
            <a:xfrm>
              <a:off x="4439" y="279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79" name="Rectangle 484"/>
            <p:cNvSpPr>
              <a:spLocks noChangeArrowheads="1"/>
            </p:cNvSpPr>
            <p:nvPr/>
          </p:nvSpPr>
          <p:spPr bwMode="auto">
            <a:xfrm>
              <a:off x="4472" y="279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80" name="Rectangle 485"/>
            <p:cNvSpPr>
              <a:spLocks noChangeArrowheads="1"/>
            </p:cNvSpPr>
            <p:nvPr/>
          </p:nvSpPr>
          <p:spPr bwMode="auto">
            <a:xfrm>
              <a:off x="4488" y="279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81" name="Rectangle 486"/>
            <p:cNvSpPr>
              <a:spLocks noChangeArrowheads="1"/>
            </p:cNvSpPr>
            <p:nvPr/>
          </p:nvSpPr>
          <p:spPr bwMode="auto">
            <a:xfrm>
              <a:off x="4881" y="2413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82" name="Rectangle 487"/>
            <p:cNvSpPr>
              <a:spLocks noChangeArrowheads="1"/>
            </p:cNvSpPr>
            <p:nvPr/>
          </p:nvSpPr>
          <p:spPr bwMode="auto">
            <a:xfrm>
              <a:off x="4924" y="24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83" name="Rectangle 488"/>
            <p:cNvSpPr>
              <a:spLocks noChangeArrowheads="1"/>
            </p:cNvSpPr>
            <p:nvPr/>
          </p:nvSpPr>
          <p:spPr bwMode="auto">
            <a:xfrm>
              <a:off x="4957" y="24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84" name="Rectangle 489"/>
            <p:cNvSpPr>
              <a:spLocks noChangeArrowheads="1"/>
            </p:cNvSpPr>
            <p:nvPr/>
          </p:nvSpPr>
          <p:spPr bwMode="auto">
            <a:xfrm>
              <a:off x="4988" y="24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485" name="Rectangle 490"/>
            <p:cNvSpPr>
              <a:spLocks noChangeArrowheads="1"/>
            </p:cNvSpPr>
            <p:nvPr/>
          </p:nvSpPr>
          <p:spPr bwMode="auto">
            <a:xfrm>
              <a:off x="5021" y="2413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6" name="Rectangle 491"/>
            <p:cNvSpPr>
              <a:spLocks noChangeArrowheads="1"/>
            </p:cNvSpPr>
            <p:nvPr/>
          </p:nvSpPr>
          <p:spPr bwMode="auto">
            <a:xfrm>
              <a:off x="4900" y="24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487" name="Rectangle 492"/>
            <p:cNvSpPr>
              <a:spLocks noChangeArrowheads="1"/>
            </p:cNvSpPr>
            <p:nvPr/>
          </p:nvSpPr>
          <p:spPr bwMode="auto">
            <a:xfrm>
              <a:off x="4931" y="24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88" name="Rectangle 493"/>
            <p:cNvSpPr>
              <a:spLocks noChangeArrowheads="1"/>
            </p:cNvSpPr>
            <p:nvPr/>
          </p:nvSpPr>
          <p:spPr bwMode="auto">
            <a:xfrm>
              <a:off x="4964" y="246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89" name="Rectangle 494"/>
            <p:cNvSpPr>
              <a:spLocks noChangeArrowheads="1"/>
            </p:cNvSpPr>
            <p:nvPr/>
          </p:nvSpPr>
          <p:spPr bwMode="auto">
            <a:xfrm>
              <a:off x="4981" y="24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90" name="Rectangle 495"/>
            <p:cNvSpPr>
              <a:spLocks noChangeArrowheads="1"/>
            </p:cNvSpPr>
            <p:nvPr/>
          </p:nvSpPr>
          <p:spPr bwMode="auto">
            <a:xfrm>
              <a:off x="5200" y="2514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491" name="Rectangle 496"/>
            <p:cNvSpPr>
              <a:spLocks noChangeArrowheads="1"/>
            </p:cNvSpPr>
            <p:nvPr/>
          </p:nvSpPr>
          <p:spPr bwMode="auto">
            <a:xfrm>
              <a:off x="5246" y="251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" name="Rectangle 497"/>
            <p:cNvSpPr>
              <a:spLocks noChangeArrowheads="1"/>
            </p:cNvSpPr>
            <p:nvPr/>
          </p:nvSpPr>
          <p:spPr bwMode="auto">
            <a:xfrm>
              <a:off x="5208" y="257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493" name="Rectangle 498"/>
            <p:cNvSpPr>
              <a:spLocks noChangeArrowheads="1"/>
            </p:cNvSpPr>
            <p:nvPr/>
          </p:nvSpPr>
          <p:spPr bwMode="auto">
            <a:xfrm>
              <a:off x="5241" y="257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4" name="Rectangle 499"/>
            <p:cNvSpPr>
              <a:spLocks noChangeArrowheads="1"/>
            </p:cNvSpPr>
            <p:nvPr/>
          </p:nvSpPr>
          <p:spPr bwMode="auto">
            <a:xfrm>
              <a:off x="5208" y="2630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495" name="Rectangle 500"/>
            <p:cNvSpPr>
              <a:spLocks noChangeArrowheads="1"/>
            </p:cNvSpPr>
            <p:nvPr/>
          </p:nvSpPr>
          <p:spPr bwMode="auto">
            <a:xfrm>
              <a:off x="5192" y="244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496" name="Line 501"/>
            <p:cNvSpPr>
              <a:spLocks noChangeShapeType="1"/>
            </p:cNvSpPr>
            <p:nvPr/>
          </p:nvSpPr>
          <p:spPr bwMode="auto">
            <a:xfrm flipH="1">
              <a:off x="1634" y="2310"/>
              <a:ext cx="475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7" name="Rectangle 502"/>
            <p:cNvSpPr>
              <a:spLocks noChangeArrowheads="1"/>
            </p:cNvSpPr>
            <p:nvPr/>
          </p:nvSpPr>
          <p:spPr bwMode="auto">
            <a:xfrm>
              <a:off x="1662" y="2578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498" name="Rectangle 503"/>
            <p:cNvSpPr>
              <a:spLocks noChangeArrowheads="1"/>
            </p:cNvSpPr>
            <p:nvPr/>
          </p:nvSpPr>
          <p:spPr bwMode="auto">
            <a:xfrm>
              <a:off x="1677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499" name="Rectangle 504"/>
            <p:cNvSpPr>
              <a:spLocks noChangeArrowheads="1"/>
            </p:cNvSpPr>
            <p:nvPr/>
          </p:nvSpPr>
          <p:spPr bwMode="auto">
            <a:xfrm>
              <a:off x="1710" y="257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500" name="Rectangle 505"/>
            <p:cNvSpPr>
              <a:spLocks noChangeArrowheads="1"/>
            </p:cNvSpPr>
            <p:nvPr/>
          </p:nvSpPr>
          <p:spPr bwMode="auto">
            <a:xfrm>
              <a:off x="1739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01" name="Rectangle 506"/>
            <p:cNvSpPr>
              <a:spLocks noChangeArrowheads="1"/>
            </p:cNvSpPr>
            <p:nvPr/>
          </p:nvSpPr>
          <p:spPr bwMode="auto">
            <a:xfrm>
              <a:off x="1755" y="257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02" name="Rectangle 507"/>
            <p:cNvSpPr>
              <a:spLocks noChangeArrowheads="1"/>
            </p:cNvSpPr>
            <p:nvPr/>
          </p:nvSpPr>
          <p:spPr bwMode="auto">
            <a:xfrm>
              <a:off x="1774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503" name="Rectangle 508"/>
            <p:cNvSpPr>
              <a:spLocks noChangeArrowheads="1"/>
            </p:cNvSpPr>
            <p:nvPr/>
          </p:nvSpPr>
          <p:spPr bwMode="auto">
            <a:xfrm>
              <a:off x="1808" y="257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504" name="Rectangle 509"/>
            <p:cNvSpPr>
              <a:spLocks noChangeArrowheads="1"/>
            </p:cNvSpPr>
            <p:nvPr/>
          </p:nvSpPr>
          <p:spPr bwMode="auto">
            <a:xfrm>
              <a:off x="1836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05" name="Rectangle 510"/>
            <p:cNvSpPr>
              <a:spLocks noChangeArrowheads="1"/>
            </p:cNvSpPr>
            <p:nvPr/>
          </p:nvSpPr>
          <p:spPr bwMode="auto">
            <a:xfrm>
              <a:off x="1852" y="2578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506" name="Rectangle 511"/>
            <p:cNvSpPr>
              <a:spLocks noChangeArrowheads="1"/>
            </p:cNvSpPr>
            <p:nvPr/>
          </p:nvSpPr>
          <p:spPr bwMode="auto">
            <a:xfrm>
              <a:off x="1867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507" name="Rectangle 512"/>
            <p:cNvSpPr>
              <a:spLocks noChangeArrowheads="1"/>
            </p:cNvSpPr>
            <p:nvPr/>
          </p:nvSpPr>
          <p:spPr bwMode="auto">
            <a:xfrm>
              <a:off x="1898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508" name="Rectangle 513"/>
            <p:cNvSpPr>
              <a:spLocks noChangeArrowheads="1"/>
            </p:cNvSpPr>
            <p:nvPr/>
          </p:nvSpPr>
          <p:spPr bwMode="auto">
            <a:xfrm>
              <a:off x="1931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509" name="Rectangle 514"/>
            <p:cNvSpPr>
              <a:spLocks noChangeArrowheads="1"/>
            </p:cNvSpPr>
            <p:nvPr/>
          </p:nvSpPr>
          <p:spPr bwMode="auto">
            <a:xfrm>
              <a:off x="1947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510" name="Rectangle 515"/>
            <p:cNvSpPr>
              <a:spLocks noChangeArrowheads="1"/>
            </p:cNvSpPr>
            <p:nvPr/>
          </p:nvSpPr>
          <p:spPr bwMode="auto">
            <a:xfrm>
              <a:off x="1964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511" name="Rectangle 516"/>
            <p:cNvSpPr>
              <a:spLocks noChangeArrowheads="1"/>
            </p:cNvSpPr>
            <p:nvPr/>
          </p:nvSpPr>
          <p:spPr bwMode="auto">
            <a:xfrm>
              <a:off x="1995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512" name="Rectangle 517"/>
            <p:cNvSpPr>
              <a:spLocks noChangeArrowheads="1"/>
            </p:cNvSpPr>
            <p:nvPr/>
          </p:nvSpPr>
          <p:spPr bwMode="auto">
            <a:xfrm>
              <a:off x="2028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513" name="Rectangle 518"/>
            <p:cNvSpPr>
              <a:spLocks noChangeArrowheads="1"/>
            </p:cNvSpPr>
            <p:nvPr/>
          </p:nvSpPr>
          <p:spPr bwMode="auto">
            <a:xfrm>
              <a:off x="2044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514" name="Rectangle 519"/>
            <p:cNvSpPr>
              <a:spLocks noChangeArrowheads="1"/>
            </p:cNvSpPr>
            <p:nvPr/>
          </p:nvSpPr>
          <p:spPr bwMode="auto">
            <a:xfrm>
              <a:off x="2061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515" name="Rectangle 520"/>
            <p:cNvSpPr>
              <a:spLocks noChangeArrowheads="1"/>
            </p:cNvSpPr>
            <p:nvPr/>
          </p:nvSpPr>
          <p:spPr bwMode="auto">
            <a:xfrm>
              <a:off x="2094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516" name="Rectangle 521"/>
            <p:cNvSpPr>
              <a:spLocks noChangeArrowheads="1"/>
            </p:cNvSpPr>
            <p:nvPr/>
          </p:nvSpPr>
          <p:spPr bwMode="auto">
            <a:xfrm>
              <a:off x="2125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517" name="Line 522"/>
            <p:cNvSpPr>
              <a:spLocks noChangeShapeType="1"/>
            </p:cNvSpPr>
            <p:nvPr/>
          </p:nvSpPr>
          <p:spPr bwMode="auto">
            <a:xfrm flipH="1">
              <a:off x="3182" y="2443"/>
              <a:ext cx="334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" name="Line 523"/>
            <p:cNvSpPr>
              <a:spLocks noChangeShapeType="1"/>
            </p:cNvSpPr>
            <p:nvPr/>
          </p:nvSpPr>
          <p:spPr bwMode="auto">
            <a:xfrm flipH="1">
              <a:off x="4139" y="2474"/>
              <a:ext cx="90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" name="Freeform 524"/>
            <p:cNvSpPr>
              <a:spLocks noChangeArrowheads="1"/>
            </p:cNvSpPr>
            <p:nvPr/>
          </p:nvSpPr>
          <p:spPr bwMode="auto">
            <a:xfrm>
              <a:off x="4228" y="2476"/>
              <a:ext cx="921" cy="497"/>
            </a:xfrm>
            <a:custGeom>
              <a:avLst/>
              <a:gdLst>
                <a:gd name="T0" fmla="*/ 921 w 921"/>
                <a:gd name="T1" fmla="*/ 261 h 497"/>
                <a:gd name="T2" fmla="*/ 855 w 921"/>
                <a:gd name="T3" fmla="*/ 261 h 497"/>
                <a:gd name="T4" fmla="*/ 855 w 921"/>
                <a:gd name="T5" fmla="*/ 497 h 497"/>
                <a:gd name="T6" fmla="*/ 0 w 921"/>
                <a:gd name="T7" fmla="*/ 497 h 497"/>
                <a:gd name="T8" fmla="*/ 0 w 921"/>
                <a:gd name="T9" fmla="*/ 0 h 4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21"/>
                <a:gd name="T16" fmla="*/ 0 h 497"/>
                <a:gd name="T17" fmla="*/ 921 w 921"/>
                <a:gd name="T18" fmla="*/ 497 h 4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21" h="497">
                  <a:moveTo>
                    <a:pt x="921" y="261"/>
                  </a:moveTo>
                  <a:lnTo>
                    <a:pt x="855" y="261"/>
                  </a:lnTo>
                  <a:lnTo>
                    <a:pt x="855" y="497"/>
                  </a:lnTo>
                  <a:lnTo>
                    <a:pt x="0" y="497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" name="Freeform 525"/>
            <p:cNvSpPr>
              <a:spLocks noChangeArrowheads="1"/>
            </p:cNvSpPr>
            <p:nvPr/>
          </p:nvSpPr>
          <p:spPr bwMode="auto">
            <a:xfrm>
              <a:off x="3508" y="1152"/>
              <a:ext cx="180" cy="289"/>
            </a:xfrm>
            <a:custGeom>
              <a:avLst/>
              <a:gdLst>
                <a:gd name="T0" fmla="*/ 90 w 180"/>
                <a:gd name="T1" fmla="*/ 287 h 289"/>
                <a:gd name="T2" fmla="*/ 104 w 180"/>
                <a:gd name="T3" fmla="*/ 287 h 289"/>
                <a:gd name="T4" fmla="*/ 118 w 180"/>
                <a:gd name="T5" fmla="*/ 280 h 289"/>
                <a:gd name="T6" fmla="*/ 132 w 180"/>
                <a:gd name="T7" fmla="*/ 273 h 289"/>
                <a:gd name="T8" fmla="*/ 144 w 180"/>
                <a:gd name="T9" fmla="*/ 261 h 289"/>
                <a:gd name="T10" fmla="*/ 154 w 180"/>
                <a:gd name="T11" fmla="*/ 247 h 289"/>
                <a:gd name="T12" fmla="*/ 163 w 180"/>
                <a:gd name="T13" fmla="*/ 230 h 289"/>
                <a:gd name="T14" fmla="*/ 170 w 180"/>
                <a:gd name="T15" fmla="*/ 211 h 289"/>
                <a:gd name="T16" fmla="*/ 175 w 180"/>
                <a:gd name="T17" fmla="*/ 190 h 289"/>
                <a:gd name="T18" fmla="*/ 180 w 180"/>
                <a:gd name="T19" fmla="*/ 169 h 289"/>
                <a:gd name="T20" fmla="*/ 180 w 180"/>
                <a:gd name="T21" fmla="*/ 145 h 289"/>
                <a:gd name="T22" fmla="*/ 180 w 180"/>
                <a:gd name="T23" fmla="*/ 121 h 289"/>
                <a:gd name="T24" fmla="*/ 175 w 180"/>
                <a:gd name="T25" fmla="*/ 100 h 289"/>
                <a:gd name="T26" fmla="*/ 170 w 180"/>
                <a:gd name="T27" fmla="*/ 79 h 289"/>
                <a:gd name="T28" fmla="*/ 163 w 180"/>
                <a:gd name="T29" fmla="*/ 60 h 289"/>
                <a:gd name="T30" fmla="*/ 154 w 180"/>
                <a:gd name="T31" fmla="*/ 43 h 289"/>
                <a:gd name="T32" fmla="*/ 144 w 180"/>
                <a:gd name="T33" fmla="*/ 29 h 289"/>
                <a:gd name="T34" fmla="*/ 132 w 180"/>
                <a:gd name="T35" fmla="*/ 17 h 289"/>
                <a:gd name="T36" fmla="*/ 118 w 180"/>
                <a:gd name="T37" fmla="*/ 8 h 289"/>
                <a:gd name="T38" fmla="*/ 104 w 180"/>
                <a:gd name="T39" fmla="*/ 3 h 289"/>
                <a:gd name="T40" fmla="*/ 90 w 180"/>
                <a:gd name="T41" fmla="*/ 0 h 289"/>
                <a:gd name="T42" fmla="*/ 76 w 180"/>
                <a:gd name="T43" fmla="*/ 3 h 289"/>
                <a:gd name="T44" fmla="*/ 61 w 180"/>
                <a:gd name="T45" fmla="*/ 8 h 289"/>
                <a:gd name="T46" fmla="*/ 50 w 180"/>
                <a:gd name="T47" fmla="*/ 17 h 289"/>
                <a:gd name="T48" fmla="*/ 38 w 180"/>
                <a:gd name="T49" fmla="*/ 29 h 289"/>
                <a:gd name="T50" fmla="*/ 26 w 180"/>
                <a:gd name="T51" fmla="*/ 43 h 289"/>
                <a:gd name="T52" fmla="*/ 16 w 180"/>
                <a:gd name="T53" fmla="*/ 60 h 289"/>
                <a:gd name="T54" fmla="*/ 9 w 180"/>
                <a:gd name="T55" fmla="*/ 79 h 289"/>
                <a:gd name="T56" fmla="*/ 5 w 180"/>
                <a:gd name="T57" fmla="*/ 100 h 289"/>
                <a:gd name="T58" fmla="*/ 2 w 180"/>
                <a:gd name="T59" fmla="*/ 121 h 289"/>
                <a:gd name="T60" fmla="*/ 0 w 180"/>
                <a:gd name="T61" fmla="*/ 145 h 289"/>
                <a:gd name="T62" fmla="*/ 2 w 180"/>
                <a:gd name="T63" fmla="*/ 169 h 289"/>
                <a:gd name="T64" fmla="*/ 5 w 180"/>
                <a:gd name="T65" fmla="*/ 190 h 289"/>
                <a:gd name="T66" fmla="*/ 9 w 180"/>
                <a:gd name="T67" fmla="*/ 211 h 289"/>
                <a:gd name="T68" fmla="*/ 16 w 180"/>
                <a:gd name="T69" fmla="*/ 230 h 289"/>
                <a:gd name="T70" fmla="*/ 26 w 180"/>
                <a:gd name="T71" fmla="*/ 247 h 289"/>
                <a:gd name="T72" fmla="*/ 38 w 180"/>
                <a:gd name="T73" fmla="*/ 261 h 289"/>
                <a:gd name="T74" fmla="*/ 50 w 180"/>
                <a:gd name="T75" fmla="*/ 273 h 289"/>
                <a:gd name="T76" fmla="*/ 61 w 180"/>
                <a:gd name="T77" fmla="*/ 280 h 289"/>
                <a:gd name="T78" fmla="*/ 76 w 180"/>
                <a:gd name="T79" fmla="*/ 287 h 289"/>
                <a:gd name="T80" fmla="*/ 90 w 180"/>
                <a:gd name="T81" fmla="*/ 289 h 289"/>
                <a:gd name="T82" fmla="*/ 90 w 180"/>
                <a:gd name="T83" fmla="*/ 289 h 289"/>
                <a:gd name="T84" fmla="*/ 90 w 180"/>
                <a:gd name="T85" fmla="*/ 287 h 28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80"/>
                <a:gd name="T130" fmla="*/ 0 h 289"/>
                <a:gd name="T131" fmla="*/ 180 w 180"/>
                <a:gd name="T132" fmla="*/ 289 h 28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80" h="289">
                  <a:moveTo>
                    <a:pt x="90" y="287"/>
                  </a:moveTo>
                  <a:lnTo>
                    <a:pt x="104" y="287"/>
                  </a:lnTo>
                  <a:lnTo>
                    <a:pt x="118" y="280"/>
                  </a:lnTo>
                  <a:lnTo>
                    <a:pt x="132" y="273"/>
                  </a:lnTo>
                  <a:lnTo>
                    <a:pt x="144" y="261"/>
                  </a:lnTo>
                  <a:lnTo>
                    <a:pt x="154" y="247"/>
                  </a:lnTo>
                  <a:lnTo>
                    <a:pt x="163" y="230"/>
                  </a:lnTo>
                  <a:lnTo>
                    <a:pt x="170" y="211"/>
                  </a:lnTo>
                  <a:lnTo>
                    <a:pt x="175" y="190"/>
                  </a:lnTo>
                  <a:lnTo>
                    <a:pt x="180" y="169"/>
                  </a:lnTo>
                  <a:lnTo>
                    <a:pt x="180" y="145"/>
                  </a:lnTo>
                  <a:lnTo>
                    <a:pt x="180" y="121"/>
                  </a:lnTo>
                  <a:lnTo>
                    <a:pt x="175" y="100"/>
                  </a:lnTo>
                  <a:lnTo>
                    <a:pt x="170" y="79"/>
                  </a:lnTo>
                  <a:lnTo>
                    <a:pt x="163" y="60"/>
                  </a:lnTo>
                  <a:lnTo>
                    <a:pt x="154" y="43"/>
                  </a:lnTo>
                  <a:lnTo>
                    <a:pt x="144" y="29"/>
                  </a:lnTo>
                  <a:lnTo>
                    <a:pt x="132" y="17"/>
                  </a:lnTo>
                  <a:lnTo>
                    <a:pt x="118" y="8"/>
                  </a:lnTo>
                  <a:lnTo>
                    <a:pt x="104" y="3"/>
                  </a:lnTo>
                  <a:lnTo>
                    <a:pt x="90" y="0"/>
                  </a:lnTo>
                  <a:lnTo>
                    <a:pt x="76" y="3"/>
                  </a:lnTo>
                  <a:lnTo>
                    <a:pt x="61" y="8"/>
                  </a:lnTo>
                  <a:lnTo>
                    <a:pt x="50" y="17"/>
                  </a:lnTo>
                  <a:lnTo>
                    <a:pt x="38" y="29"/>
                  </a:lnTo>
                  <a:lnTo>
                    <a:pt x="26" y="43"/>
                  </a:lnTo>
                  <a:lnTo>
                    <a:pt x="16" y="60"/>
                  </a:lnTo>
                  <a:lnTo>
                    <a:pt x="9" y="79"/>
                  </a:lnTo>
                  <a:lnTo>
                    <a:pt x="5" y="100"/>
                  </a:lnTo>
                  <a:lnTo>
                    <a:pt x="2" y="121"/>
                  </a:lnTo>
                  <a:lnTo>
                    <a:pt x="0" y="145"/>
                  </a:lnTo>
                  <a:lnTo>
                    <a:pt x="2" y="169"/>
                  </a:lnTo>
                  <a:lnTo>
                    <a:pt x="5" y="190"/>
                  </a:lnTo>
                  <a:lnTo>
                    <a:pt x="9" y="211"/>
                  </a:lnTo>
                  <a:lnTo>
                    <a:pt x="16" y="230"/>
                  </a:lnTo>
                  <a:lnTo>
                    <a:pt x="26" y="247"/>
                  </a:lnTo>
                  <a:lnTo>
                    <a:pt x="38" y="261"/>
                  </a:lnTo>
                  <a:lnTo>
                    <a:pt x="50" y="273"/>
                  </a:lnTo>
                  <a:lnTo>
                    <a:pt x="61" y="280"/>
                  </a:lnTo>
                  <a:lnTo>
                    <a:pt x="76" y="287"/>
                  </a:lnTo>
                  <a:lnTo>
                    <a:pt x="90" y="289"/>
                  </a:lnTo>
                  <a:lnTo>
                    <a:pt x="90" y="2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" name="Freeform 526"/>
            <p:cNvSpPr>
              <a:spLocks noChangeArrowheads="1"/>
            </p:cNvSpPr>
            <p:nvPr/>
          </p:nvSpPr>
          <p:spPr bwMode="auto">
            <a:xfrm>
              <a:off x="3508" y="1152"/>
              <a:ext cx="180" cy="289"/>
            </a:xfrm>
            <a:custGeom>
              <a:avLst/>
              <a:gdLst>
                <a:gd name="T0" fmla="*/ 90 w 180"/>
                <a:gd name="T1" fmla="*/ 287 h 289"/>
                <a:gd name="T2" fmla="*/ 104 w 180"/>
                <a:gd name="T3" fmla="*/ 287 h 289"/>
                <a:gd name="T4" fmla="*/ 118 w 180"/>
                <a:gd name="T5" fmla="*/ 280 h 289"/>
                <a:gd name="T6" fmla="*/ 132 w 180"/>
                <a:gd name="T7" fmla="*/ 273 h 289"/>
                <a:gd name="T8" fmla="*/ 144 w 180"/>
                <a:gd name="T9" fmla="*/ 261 h 289"/>
                <a:gd name="T10" fmla="*/ 154 w 180"/>
                <a:gd name="T11" fmla="*/ 247 h 289"/>
                <a:gd name="T12" fmla="*/ 163 w 180"/>
                <a:gd name="T13" fmla="*/ 230 h 289"/>
                <a:gd name="T14" fmla="*/ 170 w 180"/>
                <a:gd name="T15" fmla="*/ 211 h 289"/>
                <a:gd name="T16" fmla="*/ 175 w 180"/>
                <a:gd name="T17" fmla="*/ 190 h 289"/>
                <a:gd name="T18" fmla="*/ 180 w 180"/>
                <a:gd name="T19" fmla="*/ 169 h 289"/>
                <a:gd name="T20" fmla="*/ 180 w 180"/>
                <a:gd name="T21" fmla="*/ 145 h 289"/>
                <a:gd name="T22" fmla="*/ 180 w 180"/>
                <a:gd name="T23" fmla="*/ 121 h 289"/>
                <a:gd name="T24" fmla="*/ 175 w 180"/>
                <a:gd name="T25" fmla="*/ 100 h 289"/>
                <a:gd name="T26" fmla="*/ 170 w 180"/>
                <a:gd name="T27" fmla="*/ 79 h 289"/>
                <a:gd name="T28" fmla="*/ 163 w 180"/>
                <a:gd name="T29" fmla="*/ 60 h 289"/>
                <a:gd name="T30" fmla="*/ 154 w 180"/>
                <a:gd name="T31" fmla="*/ 43 h 289"/>
                <a:gd name="T32" fmla="*/ 144 w 180"/>
                <a:gd name="T33" fmla="*/ 29 h 289"/>
                <a:gd name="T34" fmla="*/ 132 w 180"/>
                <a:gd name="T35" fmla="*/ 17 h 289"/>
                <a:gd name="T36" fmla="*/ 118 w 180"/>
                <a:gd name="T37" fmla="*/ 8 h 289"/>
                <a:gd name="T38" fmla="*/ 104 w 180"/>
                <a:gd name="T39" fmla="*/ 3 h 289"/>
                <a:gd name="T40" fmla="*/ 90 w 180"/>
                <a:gd name="T41" fmla="*/ 0 h 289"/>
                <a:gd name="T42" fmla="*/ 76 w 180"/>
                <a:gd name="T43" fmla="*/ 3 h 289"/>
                <a:gd name="T44" fmla="*/ 61 w 180"/>
                <a:gd name="T45" fmla="*/ 8 h 289"/>
                <a:gd name="T46" fmla="*/ 50 w 180"/>
                <a:gd name="T47" fmla="*/ 17 h 289"/>
                <a:gd name="T48" fmla="*/ 38 w 180"/>
                <a:gd name="T49" fmla="*/ 29 h 289"/>
                <a:gd name="T50" fmla="*/ 26 w 180"/>
                <a:gd name="T51" fmla="*/ 43 h 289"/>
                <a:gd name="T52" fmla="*/ 16 w 180"/>
                <a:gd name="T53" fmla="*/ 60 h 289"/>
                <a:gd name="T54" fmla="*/ 9 w 180"/>
                <a:gd name="T55" fmla="*/ 79 h 289"/>
                <a:gd name="T56" fmla="*/ 5 w 180"/>
                <a:gd name="T57" fmla="*/ 100 h 289"/>
                <a:gd name="T58" fmla="*/ 2 w 180"/>
                <a:gd name="T59" fmla="*/ 121 h 289"/>
                <a:gd name="T60" fmla="*/ 0 w 180"/>
                <a:gd name="T61" fmla="*/ 145 h 289"/>
                <a:gd name="T62" fmla="*/ 2 w 180"/>
                <a:gd name="T63" fmla="*/ 169 h 289"/>
                <a:gd name="T64" fmla="*/ 5 w 180"/>
                <a:gd name="T65" fmla="*/ 190 h 289"/>
                <a:gd name="T66" fmla="*/ 9 w 180"/>
                <a:gd name="T67" fmla="*/ 211 h 289"/>
                <a:gd name="T68" fmla="*/ 16 w 180"/>
                <a:gd name="T69" fmla="*/ 230 h 289"/>
                <a:gd name="T70" fmla="*/ 26 w 180"/>
                <a:gd name="T71" fmla="*/ 247 h 289"/>
                <a:gd name="T72" fmla="*/ 38 w 180"/>
                <a:gd name="T73" fmla="*/ 261 h 289"/>
                <a:gd name="T74" fmla="*/ 50 w 180"/>
                <a:gd name="T75" fmla="*/ 273 h 289"/>
                <a:gd name="T76" fmla="*/ 61 w 180"/>
                <a:gd name="T77" fmla="*/ 280 h 289"/>
                <a:gd name="T78" fmla="*/ 76 w 180"/>
                <a:gd name="T79" fmla="*/ 287 h 289"/>
                <a:gd name="T80" fmla="*/ 90 w 180"/>
                <a:gd name="T81" fmla="*/ 289 h 289"/>
                <a:gd name="T82" fmla="*/ 90 w 180"/>
                <a:gd name="T83" fmla="*/ 289 h 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80"/>
                <a:gd name="T127" fmla="*/ 0 h 289"/>
                <a:gd name="T128" fmla="*/ 180 w 180"/>
                <a:gd name="T129" fmla="*/ 289 h 28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80" h="289">
                  <a:moveTo>
                    <a:pt x="90" y="287"/>
                  </a:moveTo>
                  <a:lnTo>
                    <a:pt x="104" y="287"/>
                  </a:lnTo>
                  <a:lnTo>
                    <a:pt x="118" y="280"/>
                  </a:lnTo>
                  <a:lnTo>
                    <a:pt x="132" y="273"/>
                  </a:lnTo>
                  <a:lnTo>
                    <a:pt x="144" y="261"/>
                  </a:lnTo>
                  <a:lnTo>
                    <a:pt x="154" y="247"/>
                  </a:lnTo>
                  <a:lnTo>
                    <a:pt x="163" y="230"/>
                  </a:lnTo>
                  <a:lnTo>
                    <a:pt x="170" y="211"/>
                  </a:lnTo>
                  <a:lnTo>
                    <a:pt x="175" y="190"/>
                  </a:lnTo>
                  <a:lnTo>
                    <a:pt x="180" y="169"/>
                  </a:lnTo>
                  <a:lnTo>
                    <a:pt x="180" y="145"/>
                  </a:lnTo>
                  <a:lnTo>
                    <a:pt x="180" y="121"/>
                  </a:lnTo>
                  <a:lnTo>
                    <a:pt x="175" y="100"/>
                  </a:lnTo>
                  <a:lnTo>
                    <a:pt x="170" y="79"/>
                  </a:lnTo>
                  <a:lnTo>
                    <a:pt x="163" y="60"/>
                  </a:lnTo>
                  <a:lnTo>
                    <a:pt x="154" y="43"/>
                  </a:lnTo>
                  <a:lnTo>
                    <a:pt x="144" y="29"/>
                  </a:lnTo>
                  <a:lnTo>
                    <a:pt x="132" y="17"/>
                  </a:lnTo>
                  <a:lnTo>
                    <a:pt x="118" y="8"/>
                  </a:lnTo>
                  <a:lnTo>
                    <a:pt x="104" y="3"/>
                  </a:lnTo>
                  <a:lnTo>
                    <a:pt x="90" y="0"/>
                  </a:lnTo>
                  <a:lnTo>
                    <a:pt x="76" y="3"/>
                  </a:lnTo>
                  <a:lnTo>
                    <a:pt x="61" y="8"/>
                  </a:lnTo>
                  <a:lnTo>
                    <a:pt x="50" y="17"/>
                  </a:lnTo>
                  <a:lnTo>
                    <a:pt x="38" y="29"/>
                  </a:lnTo>
                  <a:lnTo>
                    <a:pt x="26" y="43"/>
                  </a:lnTo>
                  <a:lnTo>
                    <a:pt x="16" y="60"/>
                  </a:lnTo>
                  <a:lnTo>
                    <a:pt x="9" y="79"/>
                  </a:lnTo>
                  <a:lnTo>
                    <a:pt x="5" y="100"/>
                  </a:lnTo>
                  <a:lnTo>
                    <a:pt x="2" y="121"/>
                  </a:lnTo>
                  <a:lnTo>
                    <a:pt x="0" y="145"/>
                  </a:lnTo>
                  <a:lnTo>
                    <a:pt x="2" y="169"/>
                  </a:lnTo>
                  <a:lnTo>
                    <a:pt x="5" y="190"/>
                  </a:lnTo>
                  <a:lnTo>
                    <a:pt x="9" y="211"/>
                  </a:lnTo>
                  <a:lnTo>
                    <a:pt x="16" y="230"/>
                  </a:lnTo>
                  <a:lnTo>
                    <a:pt x="26" y="247"/>
                  </a:lnTo>
                  <a:lnTo>
                    <a:pt x="38" y="261"/>
                  </a:lnTo>
                  <a:lnTo>
                    <a:pt x="50" y="273"/>
                  </a:lnTo>
                  <a:lnTo>
                    <a:pt x="61" y="280"/>
                  </a:lnTo>
                  <a:lnTo>
                    <a:pt x="76" y="287"/>
                  </a:lnTo>
                  <a:lnTo>
                    <a:pt x="90" y="289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22" name="Group 527"/>
            <p:cNvGrpSpPr>
              <a:grpSpLocks/>
            </p:cNvGrpSpPr>
            <p:nvPr/>
          </p:nvGrpSpPr>
          <p:grpSpPr bwMode="auto">
            <a:xfrm>
              <a:off x="3581" y="3038"/>
              <a:ext cx="173" cy="143"/>
              <a:chOff x="3581" y="3038"/>
              <a:chExt cx="173" cy="143"/>
            </a:xfrm>
          </p:grpSpPr>
          <p:sp>
            <p:nvSpPr>
              <p:cNvPr id="570" name="Rectangle 528"/>
              <p:cNvSpPr>
                <a:spLocks noChangeArrowheads="1"/>
              </p:cNvSpPr>
              <p:nvPr/>
            </p:nvSpPr>
            <p:spPr bwMode="auto">
              <a:xfrm>
                <a:off x="3619" y="3038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571" name="Rectangle 529"/>
              <p:cNvSpPr>
                <a:spLocks noChangeArrowheads="1"/>
              </p:cNvSpPr>
              <p:nvPr/>
            </p:nvSpPr>
            <p:spPr bwMode="auto">
              <a:xfrm>
                <a:off x="3659" y="303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572" name="Rectangle 530"/>
              <p:cNvSpPr>
                <a:spLocks noChangeArrowheads="1"/>
              </p:cNvSpPr>
              <p:nvPr/>
            </p:nvSpPr>
            <p:spPr bwMode="auto">
              <a:xfrm>
                <a:off x="3690" y="3038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573" name="Rectangle 531"/>
              <p:cNvSpPr>
                <a:spLocks noChangeArrowheads="1"/>
              </p:cNvSpPr>
              <p:nvPr/>
            </p:nvSpPr>
            <p:spPr bwMode="auto">
              <a:xfrm>
                <a:off x="3733" y="3038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" name="Rectangle 532"/>
              <p:cNvSpPr>
                <a:spLocks noChangeArrowheads="1"/>
              </p:cNvSpPr>
              <p:nvPr/>
            </p:nvSpPr>
            <p:spPr bwMode="auto">
              <a:xfrm>
                <a:off x="3581" y="3106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575" name="Rectangle 533"/>
              <p:cNvSpPr>
                <a:spLocks noChangeArrowheads="1"/>
              </p:cNvSpPr>
              <p:nvPr/>
            </p:nvSpPr>
            <p:spPr bwMode="auto">
              <a:xfrm>
                <a:off x="3610" y="310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576" name="Rectangle 534"/>
              <p:cNvSpPr>
                <a:spLocks noChangeArrowheads="1"/>
              </p:cNvSpPr>
              <p:nvPr/>
            </p:nvSpPr>
            <p:spPr bwMode="auto">
              <a:xfrm>
                <a:off x="3643" y="310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577" name="Rectangle 535"/>
              <p:cNvSpPr>
                <a:spLocks noChangeArrowheads="1"/>
              </p:cNvSpPr>
              <p:nvPr/>
            </p:nvSpPr>
            <p:spPr bwMode="auto">
              <a:xfrm>
                <a:off x="3676" y="3106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578" name="Rectangle 536"/>
              <p:cNvSpPr>
                <a:spLocks noChangeArrowheads="1"/>
              </p:cNvSpPr>
              <p:nvPr/>
            </p:nvSpPr>
            <p:spPr bwMode="auto">
              <a:xfrm>
                <a:off x="3690" y="3106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579" name="Rectangle 537"/>
              <p:cNvSpPr>
                <a:spLocks noChangeArrowheads="1"/>
              </p:cNvSpPr>
              <p:nvPr/>
            </p:nvSpPr>
            <p:spPr bwMode="auto">
              <a:xfrm>
                <a:off x="3711" y="310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580" name="Rectangle 538"/>
              <p:cNvSpPr>
                <a:spLocks noChangeArrowheads="1"/>
              </p:cNvSpPr>
              <p:nvPr/>
            </p:nvSpPr>
            <p:spPr bwMode="auto">
              <a:xfrm>
                <a:off x="3742" y="3106"/>
                <a:ext cx="13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</p:grpSp>
        <p:sp>
          <p:nvSpPr>
            <p:cNvPr id="523" name="Freeform 539"/>
            <p:cNvSpPr>
              <a:spLocks noChangeArrowheads="1"/>
            </p:cNvSpPr>
            <p:nvPr/>
          </p:nvSpPr>
          <p:spPr bwMode="auto">
            <a:xfrm>
              <a:off x="3532" y="3089"/>
              <a:ext cx="28" cy="31"/>
            </a:xfrm>
            <a:custGeom>
              <a:avLst/>
              <a:gdLst>
                <a:gd name="T0" fmla="*/ 0 w 28"/>
                <a:gd name="T1" fmla="*/ 0 h 31"/>
                <a:gd name="T2" fmla="*/ 0 w 28"/>
                <a:gd name="T3" fmla="*/ 31 h 31"/>
                <a:gd name="T4" fmla="*/ 28 w 28"/>
                <a:gd name="T5" fmla="*/ 17 h 31"/>
                <a:gd name="T6" fmla="*/ 0 w 28"/>
                <a:gd name="T7" fmla="*/ 3 h 31"/>
                <a:gd name="T8" fmla="*/ 0 w 28"/>
                <a:gd name="T9" fmla="*/ 3 h 31"/>
                <a:gd name="T10" fmla="*/ 0 w 28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"/>
                <a:gd name="T19" fmla="*/ 0 h 31"/>
                <a:gd name="T20" fmla="*/ 28 w 28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" h="31">
                  <a:moveTo>
                    <a:pt x="0" y="0"/>
                  </a:moveTo>
                  <a:lnTo>
                    <a:pt x="0" y="31"/>
                  </a:lnTo>
                  <a:lnTo>
                    <a:pt x="28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" name="Line 540"/>
            <p:cNvSpPr>
              <a:spLocks noChangeShapeType="1"/>
            </p:cNvSpPr>
            <p:nvPr/>
          </p:nvSpPr>
          <p:spPr bwMode="auto">
            <a:xfrm>
              <a:off x="1436" y="2398"/>
              <a:ext cx="196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" name="Freeform 541"/>
            <p:cNvSpPr>
              <a:spLocks noChangeArrowheads="1"/>
            </p:cNvSpPr>
            <p:nvPr/>
          </p:nvSpPr>
          <p:spPr bwMode="auto">
            <a:xfrm>
              <a:off x="1618" y="2386"/>
              <a:ext cx="31" cy="29"/>
            </a:xfrm>
            <a:custGeom>
              <a:avLst/>
              <a:gdLst>
                <a:gd name="T0" fmla="*/ 14 w 31"/>
                <a:gd name="T1" fmla="*/ 29 h 29"/>
                <a:gd name="T2" fmla="*/ 19 w 31"/>
                <a:gd name="T3" fmla="*/ 29 h 29"/>
                <a:gd name="T4" fmla="*/ 21 w 31"/>
                <a:gd name="T5" fmla="*/ 29 h 29"/>
                <a:gd name="T6" fmla="*/ 21 w 31"/>
                <a:gd name="T7" fmla="*/ 26 h 29"/>
                <a:gd name="T8" fmla="*/ 24 w 31"/>
                <a:gd name="T9" fmla="*/ 26 h 29"/>
                <a:gd name="T10" fmla="*/ 26 w 31"/>
                <a:gd name="T11" fmla="*/ 24 h 29"/>
                <a:gd name="T12" fmla="*/ 29 w 31"/>
                <a:gd name="T13" fmla="*/ 24 h 29"/>
                <a:gd name="T14" fmla="*/ 29 w 31"/>
                <a:gd name="T15" fmla="*/ 21 h 29"/>
                <a:gd name="T16" fmla="*/ 31 w 31"/>
                <a:gd name="T17" fmla="*/ 19 h 29"/>
                <a:gd name="T18" fmla="*/ 31 w 31"/>
                <a:gd name="T19" fmla="*/ 17 h 29"/>
                <a:gd name="T20" fmla="*/ 31 w 31"/>
                <a:gd name="T21" fmla="*/ 14 h 29"/>
                <a:gd name="T22" fmla="*/ 31 w 31"/>
                <a:gd name="T23" fmla="*/ 12 h 29"/>
                <a:gd name="T24" fmla="*/ 31 w 31"/>
                <a:gd name="T25" fmla="*/ 10 h 29"/>
                <a:gd name="T26" fmla="*/ 29 w 31"/>
                <a:gd name="T27" fmla="*/ 7 h 29"/>
                <a:gd name="T28" fmla="*/ 29 w 31"/>
                <a:gd name="T29" fmla="*/ 5 h 29"/>
                <a:gd name="T30" fmla="*/ 26 w 31"/>
                <a:gd name="T31" fmla="*/ 5 h 29"/>
                <a:gd name="T32" fmla="*/ 24 w 31"/>
                <a:gd name="T33" fmla="*/ 2 h 29"/>
                <a:gd name="T34" fmla="*/ 21 w 31"/>
                <a:gd name="T35" fmla="*/ 0 h 29"/>
                <a:gd name="T36" fmla="*/ 21 w 31"/>
                <a:gd name="T37" fmla="*/ 0 h 29"/>
                <a:gd name="T38" fmla="*/ 19 w 31"/>
                <a:gd name="T39" fmla="*/ 0 h 29"/>
                <a:gd name="T40" fmla="*/ 17 w 31"/>
                <a:gd name="T41" fmla="*/ 0 h 29"/>
                <a:gd name="T42" fmla="*/ 14 w 31"/>
                <a:gd name="T43" fmla="*/ 0 h 29"/>
                <a:gd name="T44" fmla="*/ 12 w 31"/>
                <a:gd name="T45" fmla="*/ 0 h 29"/>
                <a:gd name="T46" fmla="*/ 10 w 31"/>
                <a:gd name="T47" fmla="*/ 0 h 29"/>
                <a:gd name="T48" fmla="*/ 7 w 31"/>
                <a:gd name="T49" fmla="*/ 2 h 29"/>
                <a:gd name="T50" fmla="*/ 5 w 31"/>
                <a:gd name="T51" fmla="*/ 5 h 29"/>
                <a:gd name="T52" fmla="*/ 5 w 31"/>
                <a:gd name="T53" fmla="*/ 5 h 29"/>
                <a:gd name="T54" fmla="*/ 2 w 31"/>
                <a:gd name="T55" fmla="*/ 7 h 29"/>
                <a:gd name="T56" fmla="*/ 2 w 31"/>
                <a:gd name="T57" fmla="*/ 10 h 29"/>
                <a:gd name="T58" fmla="*/ 2 w 31"/>
                <a:gd name="T59" fmla="*/ 12 h 29"/>
                <a:gd name="T60" fmla="*/ 0 w 31"/>
                <a:gd name="T61" fmla="*/ 14 h 29"/>
                <a:gd name="T62" fmla="*/ 2 w 31"/>
                <a:gd name="T63" fmla="*/ 17 h 29"/>
                <a:gd name="T64" fmla="*/ 2 w 31"/>
                <a:gd name="T65" fmla="*/ 19 h 29"/>
                <a:gd name="T66" fmla="*/ 2 w 31"/>
                <a:gd name="T67" fmla="*/ 21 h 29"/>
                <a:gd name="T68" fmla="*/ 5 w 31"/>
                <a:gd name="T69" fmla="*/ 24 h 29"/>
                <a:gd name="T70" fmla="*/ 5 w 31"/>
                <a:gd name="T71" fmla="*/ 24 h 29"/>
                <a:gd name="T72" fmla="*/ 7 w 31"/>
                <a:gd name="T73" fmla="*/ 26 h 29"/>
                <a:gd name="T74" fmla="*/ 10 w 31"/>
                <a:gd name="T75" fmla="*/ 26 h 29"/>
                <a:gd name="T76" fmla="*/ 12 w 31"/>
                <a:gd name="T77" fmla="*/ 29 h 29"/>
                <a:gd name="T78" fmla="*/ 14 w 31"/>
                <a:gd name="T79" fmla="*/ 29 h 29"/>
                <a:gd name="T80" fmla="*/ 17 w 31"/>
                <a:gd name="T81" fmla="*/ 29 h 29"/>
                <a:gd name="T82" fmla="*/ 17 w 31"/>
                <a:gd name="T83" fmla="*/ 29 h 29"/>
                <a:gd name="T84" fmla="*/ 14 w 31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9"/>
                <a:gd name="T131" fmla="*/ 31 w 31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9">
                  <a:moveTo>
                    <a:pt x="14" y="29"/>
                  </a:moveTo>
                  <a:lnTo>
                    <a:pt x="19" y="29"/>
                  </a:lnTo>
                  <a:lnTo>
                    <a:pt x="21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1" y="10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10" y="26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7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" name="Freeform 542"/>
            <p:cNvSpPr>
              <a:spLocks noChangeArrowheads="1"/>
            </p:cNvSpPr>
            <p:nvPr/>
          </p:nvSpPr>
          <p:spPr bwMode="auto">
            <a:xfrm>
              <a:off x="2096" y="2298"/>
              <a:ext cx="29" cy="29"/>
            </a:xfrm>
            <a:custGeom>
              <a:avLst/>
              <a:gdLst>
                <a:gd name="T0" fmla="*/ 12 w 29"/>
                <a:gd name="T1" fmla="*/ 29 h 29"/>
                <a:gd name="T2" fmla="*/ 17 w 29"/>
                <a:gd name="T3" fmla="*/ 29 h 29"/>
                <a:gd name="T4" fmla="*/ 19 w 29"/>
                <a:gd name="T5" fmla="*/ 29 h 29"/>
                <a:gd name="T6" fmla="*/ 22 w 29"/>
                <a:gd name="T7" fmla="*/ 27 h 29"/>
                <a:gd name="T8" fmla="*/ 22 w 29"/>
                <a:gd name="T9" fmla="*/ 27 h 29"/>
                <a:gd name="T10" fmla="*/ 24 w 29"/>
                <a:gd name="T11" fmla="*/ 24 h 29"/>
                <a:gd name="T12" fmla="*/ 26 w 29"/>
                <a:gd name="T13" fmla="*/ 22 h 29"/>
                <a:gd name="T14" fmla="*/ 26 w 29"/>
                <a:gd name="T15" fmla="*/ 22 h 29"/>
                <a:gd name="T16" fmla="*/ 29 w 29"/>
                <a:gd name="T17" fmla="*/ 19 h 29"/>
                <a:gd name="T18" fmla="*/ 29 w 29"/>
                <a:gd name="T19" fmla="*/ 17 h 29"/>
                <a:gd name="T20" fmla="*/ 29 w 29"/>
                <a:gd name="T21" fmla="*/ 15 h 29"/>
                <a:gd name="T22" fmla="*/ 29 w 29"/>
                <a:gd name="T23" fmla="*/ 12 h 29"/>
                <a:gd name="T24" fmla="*/ 29 w 29"/>
                <a:gd name="T25" fmla="*/ 10 h 29"/>
                <a:gd name="T26" fmla="*/ 26 w 29"/>
                <a:gd name="T27" fmla="*/ 8 h 29"/>
                <a:gd name="T28" fmla="*/ 26 w 29"/>
                <a:gd name="T29" fmla="*/ 5 h 29"/>
                <a:gd name="T30" fmla="*/ 24 w 29"/>
                <a:gd name="T31" fmla="*/ 3 h 29"/>
                <a:gd name="T32" fmla="*/ 22 w 29"/>
                <a:gd name="T33" fmla="*/ 3 h 29"/>
                <a:gd name="T34" fmla="*/ 22 w 29"/>
                <a:gd name="T35" fmla="*/ 0 h 29"/>
                <a:gd name="T36" fmla="*/ 19 w 29"/>
                <a:gd name="T37" fmla="*/ 0 h 29"/>
                <a:gd name="T38" fmla="*/ 17 w 29"/>
                <a:gd name="T39" fmla="*/ 0 h 29"/>
                <a:gd name="T40" fmla="*/ 15 w 29"/>
                <a:gd name="T41" fmla="*/ 0 h 29"/>
                <a:gd name="T42" fmla="*/ 12 w 29"/>
                <a:gd name="T43" fmla="*/ 0 h 29"/>
                <a:gd name="T44" fmla="*/ 10 w 29"/>
                <a:gd name="T45" fmla="*/ 0 h 29"/>
                <a:gd name="T46" fmla="*/ 8 w 29"/>
                <a:gd name="T47" fmla="*/ 0 h 29"/>
                <a:gd name="T48" fmla="*/ 5 w 29"/>
                <a:gd name="T49" fmla="*/ 3 h 29"/>
                <a:gd name="T50" fmla="*/ 3 w 29"/>
                <a:gd name="T51" fmla="*/ 3 h 29"/>
                <a:gd name="T52" fmla="*/ 3 w 29"/>
                <a:gd name="T53" fmla="*/ 5 h 29"/>
                <a:gd name="T54" fmla="*/ 0 w 29"/>
                <a:gd name="T55" fmla="*/ 8 h 29"/>
                <a:gd name="T56" fmla="*/ 0 w 29"/>
                <a:gd name="T57" fmla="*/ 10 h 29"/>
                <a:gd name="T58" fmla="*/ 0 w 29"/>
                <a:gd name="T59" fmla="*/ 12 h 29"/>
                <a:gd name="T60" fmla="*/ 0 w 29"/>
                <a:gd name="T61" fmla="*/ 15 h 29"/>
                <a:gd name="T62" fmla="*/ 0 w 29"/>
                <a:gd name="T63" fmla="*/ 17 h 29"/>
                <a:gd name="T64" fmla="*/ 0 w 29"/>
                <a:gd name="T65" fmla="*/ 19 h 29"/>
                <a:gd name="T66" fmla="*/ 0 w 29"/>
                <a:gd name="T67" fmla="*/ 22 h 29"/>
                <a:gd name="T68" fmla="*/ 3 w 29"/>
                <a:gd name="T69" fmla="*/ 22 h 29"/>
                <a:gd name="T70" fmla="*/ 3 w 29"/>
                <a:gd name="T71" fmla="*/ 24 h 29"/>
                <a:gd name="T72" fmla="*/ 5 w 29"/>
                <a:gd name="T73" fmla="*/ 27 h 29"/>
                <a:gd name="T74" fmla="*/ 8 w 29"/>
                <a:gd name="T75" fmla="*/ 27 h 29"/>
                <a:gd name="T76" fmla="*/ 10 w 29"/>
                <a:gd name="T77" fmla="*/ 29 h 29"/>
                <a:gd name="T78" fmla="*/ 12 w 29"/>
                <a:gd name="T79" fmla="*/ 29 h 29"/>
                <a:gd name="T80" fmla="*/ 15 w 29"/>
                <a:gd name="T81" fmla="*/ 29 h 29"/>
                <a:gd name="T82" fmla="*/ 15 w 29"/>
                <a:gd name="T83" fmla="*/ 29 h 29"/>
                <a:gd name="T84" fmla="*/ 12 w 29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29"/>
                <a:gd name="T131" fmla="*/ 29 w 29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29">
                  <a:moveTo>
                    <a:pt x="12" y="29"/>
                  </a:moveTo>
                  <a:lnTo>
                    <a:pt x="17" y="29"/>
                  </a:lnTo>
                  <a:lnTo>
                    <a:pt x="19" y="29"/>
                  </a:lnTo>
                  <a:lnTo>
                    <a:pt x="22" y="27"/>
                  </a:lnTo>
                  <a:lnTo>
                    <a:pt x="24" y="24"/>
                  </a:lnTo>
                  <a:lnTo>
                    <a:pt x="26" y="22"/>
                  </a:lnTo>
                  <a:lnTo>
                    <a:pt x="29" y="19"/>
                  </a:lnTo>
                  <a:lnTo>
                    <a:pt x="29" y="17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10"/>
                  </a:lnTo>
                  <a:lnTo>
                    <a:pt x="26" y="8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3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3" y="5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3" y="22"/>
                  </a:lnTo>
                  <a:lnTo>
                    <a:pt x="3" y="24"/>
                  </a:lnTo>
                  <a:lnTo>
                    <a:pt x="5" y="27"/>
                  </a:lnTo>
                  <a:lnTo>
                    <a:pt x="8" y="27"/>
                  </a:lnTo>
                  <a:lnTo>
                    <a:pt x="10" y="29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2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7" name="Freeform 543"/>
            <p:cNvSpPr>
              <a:spLocks noChangeArrowheads="1"/>
            </p:cNvSpPr>
            <p:nvPr/>
          </p:nvSpPr>
          <p:spPr bwMode="auto">
            <a:xfrm>
              <a:off x="1618" y="2123"/>
              <a:ext cx="31" cy="29"/>
            </a:xfrm>
            <a:custGeom>
              <a:avLst/>
              <a:gdLst>
                <a:gd name="T0" fmla="*/ 14 w 31"/>
                <a:gd name="T1" fmla="*/ 29 h 29"/>
                <a:gd name="T2" fmla="*/ 19 w 31"/>
                <a:gd name="T3" fmla="*/ 29 h 29"/>
                <a:gd name="T4" fmla="*/ 21 w 31"/>
                <a:gd name="T5" fmla="*/ 29 h 29"/>
                <a:gd name="T6" fmla="*/ 21 w 31"/>
                <a:gd name="T7" fmla="*/ 26 h 29"/>
                <a:gd name="T8" fmla="*/ 24 w 31"/>
                <a:gd name="T9" fmla="*/ 26 h 29"/>
                <a:gd name="T10" fmla="*/ 26 w 31"/>
                <a:gd name="T11" fmla="*/ 24 h 29"/>
                <a:gd name="T12" fmla="*/ 29 w 31"/>
                <a:gd name="T13" fmla="*/ 24 h 29"/>
                <a:gd name="T14" fmla="*/ 29 w 31"/>
                <a:gd name="T15" fmla="*/ 22 h 29"/>
                <a:gd name="T16" fmla="*/ 31 w 31"/>
                <a:gd name="T17" fmla="*/ 19 h 29"/>
                <a:gd name="T18" fmla="*/ 31 w 31"/>
                <a:gd name="T19" fmla="*/ 17 h 29"/>
                <a:gd name="T20" fmla="*/ 31 w 31"/>
                <a:gd name="T21" fmla="*/ 14 h 29"/>
                <a:gd name="T22" fmla="*/ 31 w 31"/>
                <a:gd name="T23" fmla="*/ 12 h 29"/>
                <a:gd name="T24" fmla="*/ 31 w 31"/>
                <a:gd name="T25" fmla="*/ 10 h 29"/>
                <a:gd name="T26" fmla="*/ 29 w 31"/>
                <a:gd name="T27" fmla="*/ 7 h 29"/>
                <a:gd name="T28" fmla="*/ 29 w 31"/>
                <a:gd name="T29" fmla="*/ 5 h 29"/>
                <a:gd name="T30" fmla="*/ 26 w 31"/>
                <a:gd name="T31" fmla="*/ 5 h 29"/>
                <a:gd name="T32" fmla="*/ 24 w 31"/>
                <a:gd name="T33" fmla="*/ 3 h 29"/>
                <a:gd name="T34" fmla="*/ 21 w 31"/>
                <a:gd name="T35" fmla="*/ 0 h 29"/>
                <a:gd name="T36" fmla="*/ 21 w 31"/>
                <a:gd name="T37" fmla="*/ 0 h 29"/>
                <a:gd name="T38" fmla="*/ 19 w 31"/>
                <a:gd name="T39" fmla="*/ 0 h 29"/>
                <a:gd name="T40" fmla="*/ 17 w 31"/>
                <a:gd name="T41" fmla="*/ 0 h 29"/>
                <a:gd name="T42" fmla="*/ 14 w 31"/>
                <a:gd name="T43" fmla="*/ 0 h 29"/>
                <a:gd name="T44" fmla="*/ 12 w 31"/>
                <a:gd name="T45" fmla="*/ 0 h 29"/>
                <a:gd name="T46" fmla="*/ 10 w 31"/>
                <a:gd name="T47" fmla="*/ 0 h 29"/>
                <a:gd name="T48" fmla="*/ 7 w 31"/>
                <a:gd name="T49" fmla="*/ 3 h 29"/>
                <a:gd name="T50" fmla="*/ 5 w 31"/>
                <a:gd name="T51" fmla="*/ 5 h 29"/>
                <a:gd name="T52" fmla="*/ 5 w 31"/>
                <a:gd name="T53" fmla="*/ 5 h 29"/>
                <a:gd name="T54" fmla="*/ 2 w 31"/>
                <a:gd name="T55" fmla="*/ 7 h 29"/>
                <a:gd name="T56" fmla="*/ 2 w 31"/>
                <a:gd name="T57" fmla="*/ 10 h 29"/>
                <a:gd name="T58" fmla="*/ 2 w 31"/>
                <a:gd name="T59" fmla="*/ 12 h 29"/>
                <a:gd name="T60" fmla="*/ 0 w 31"/>
                <a:gd name="T61" fmla="*/ 14 h 29"/>
                <a:gd name="T62" fmla="*/ 2 w 31"/>
                <a:gd name="T63" fmla="*/ 17 h 29"/>
                <a:gd name="T64" fmla="*/ 2 w 31"/>
                <a:gd name="T65" fmla="*/ 19 h 29"/>
                <a:gd name="T66" fmla="*/ 2 w 31"/>
                <a:gd name="T67" fmla="*/ 22 h 29"/>
                <a:gd name="T68" fmla="*/ 5 w 31"/>
                <a:gd name="T69" fmla="*/ 24 h 29"/>
                <a:gd name="T70" fmla="*/ 5 w 31"/>
                <a:gd name="T71" fmla="*/ 24 h 29"/>
                <a:gd name="T72" fmla="*/ 7 w 31"/>
                <a:gd name="T73" fmla="*/ 26 h 29"/>
                <a:gd name="T74" fmla="*/ 10 w 31"/>
                <a:gd name="T75" fmla="*/ 26 h 29"/>
                <a:gd name="T76" fmla="*/ 12 w 31"/>
                <a:gd name="T77" fmla="*/ 29 h 29"/>
                <a:gd name="T78" fmla="*/ 14 w 31"/>
                <a:gd name="T79" fmla="*/ 29 h 29"/>
                <a:gd name="T80" fmla="*/ 17 w 31"/>
                <a:gd name="T81" fmla="*/ 29 h 29"/>
                <a:gd name="T82" fmla="*/ 17 w 31"/>
                <a:gd name="T83" fmla="*/ 29 h 29"/>
                <a:gd name="T84" fmla="*/ 14 w 31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9"/>
                <a:gd name="T131" fmla="*/ 31 w 31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9">
                  <a:moveTo>
                    <a:pt x="14" y="29"/>
                  </a:moveTo>
                  <a:lnTo>
                    <a:pt x="19" y="29"/>
                  </a:lnTo>
                  <a:lnTo>
                    <a:pt x="21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1" y="10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10" y="26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7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8" name="Freeform 544"/>
            <p:cNvSpPr>
              <a:spLocks noChangeArrowheads="1"/>
            </p:cNvSpPr>
            <p:nvPr/>
          </p:nvSpPr>
          <p:spPr bwMode="auto">
            <a:xfrm>
              <a:off x="1618" y="2298"/>
              <a:ext cx="31" cy="29"/>
            </a:xfrm>
            <a:custGeom>
              <a:avLst/>
              <a:gdLst>
                <a:gd name="T0" fmla="*/ 14 w 31"/>
                <a:gd name="T1" fmla="*/ 29 h 29"/>
                <a:gd name="T2" fmla="*/ 19 w 31"/>
                <a:gd name="T3" fmla="*/ 29 h 29"/>
                <a:gd name="T4" fmla="*/ 21 w 31"/>
                <a:gd name="T5" fmla="*/ 29 h 29"/>
                <a:gd name="T6" fmla="*/ 21 w 31"/>
                <a:gd name="T7" fmla="*/ 27 h 29"/>
                <a:gd name="T8" fmla="*/ 24 w 31"/>
                <a:gd name="T9" fmla="*/ 27 h 29"/>
                <a:gd name="T10" fmla="*/ 26 w 31"/>
                <a:gd name="T11" fmla="*/ 24 h 29"/>
                <a:gd name="T12" fmla="*/ 29 w 31"/>
                <a:gd name="T13" fmla="*/ 24 h 29"/>
                <a:gd name="T14" fmla="*/ 29 w 31"/>
                <a:gd name="T15" fmla="*/ 22 h 29"/>
                <a:gd name="T16" fmla="*/ 31 w 31"/>
                <a:gd name="T17" fmla="*/ 19 h 29"/>
                <a:gd name="T18" fmla="*/ 31 w 31"/>
                <a:gd name="T19" fmla="*/ 17 h 29"/>
                <a:gd name="T20" fmla="*/ 31 w 31"/>
                <a:gd name="T21" fmla="*/ 15 h 29"/>
                <a:gd name="T22" fmla="*/ 31 w 31"/>
                <a:gd name="T23" fmla="*/ 12 h 29"/>
                <a:gd name="T24" fmla="*/ 31 w 31"/>
                <a:gd name="T25" fmla="*/ 10 h 29"/>
                <a:gd name="T26" fmla="*/ 29 w 31"/>
                <a:gd name="T27" fmla="*/ 8 h 29"/>
                <a:gd name="T28" fmla="*/ 29 w 31"/>
                <a:gd name="T29" fmla="*/ 5 h 29"/>
                <a:gd name="T30" fmla="*/ 26 w 31"/>
                <a:gd name="T31" fmla="*/ 5 h 29"/>
                <a:gd name="T32" fmla="*/ 24 w 31"/>
                <a:gd name="T33" fmla="*/ 3 h 29"/>
                <a:gd name="T34" fmla="*/ 21 w 31"/>
                <a:gd name="T35" fmla="*/ 0 h 29"/>
                <a:gd name="T36" fmla="*/ 21 w 31"/>
                <a:gd name="T37" fmla="*/ 0 h 29"/>
                <a:gd name="T38" fmla="*/ 19 w 31"/>
                <a:gd name="T39" fmla="*/ 0 h 29"/>
                <a:gd name="T40" fmla="*/ 17 w 31"/>
                <a:gd name="T41" fmla="*/ 0 h 29"/>
                <a:gd name="T42" fmla="*/ 14 w 31"/>
                <a:gd name="T43" fmla="*/ 0 h 29"/>
                <a:gd name="T44" fmla="*/ 12 w 31"/>
                <a:gd name="T45" fmla="*/ 0 h 29"/>
                <a:gd name="T46" fmla="*/ 10 w 31"/>
                <a:gd name="T47" fmla="*/ 0 h 29"/>
                <a:gd name="T48" fmla="*/ 7 w 31"/>
                <a:gd name="T49" fmla="*/ 3 h 29"/>
                <a:gd name="T50" fmla="*/ 5 w 31"/>
                <a:gd name="T51" fmla="*/ 5 h 29"/>
                <a:gd name="T52" fmla="*/ 5 w 31"/>
                <a:gd name="T53" fmla="*/ 5 h 29"/>
                <a:gd name="T54" fmla="*/ 2 w 31"/>
                <a:gd name="T55" fmla="*/ 8 h 29"/>
                <a:gd name="T56" fmla="*/ 2 w 31"/>
                <a:gd name="T57" fmla="*/ 10 h 29"/>
                <a:gd name="T58" fmla="*/ 2 w 31"/>
                <a:gd name="T59" fmla="*/ 12 h 29"/>
                <a:gd name="T60" fmla="*/ 0 w 31"/>
                <a:gd name="T61" fmla="*/ 15 h 29"/>
                <a:gd name="T62" fmla="*/ 2 w 31"/>
                <a:gd name="T63" fmla="*/ 17 h 29"/>
                <a:gd name="T64" fmla="*/ 2 w 31"/>
                <a:gd name="T65" fmla="*/ 19 h 29"/>
                <a:gd name="T66" fmla="*/ 2 w 31"/>
                <a:gd name="T67" fmla="*/ 22 h 29"/>
                <a:gd name="T68" fmla="*/ 5 w 31"/>
                <a:gd name="T69" fmla="*/ 24 h 29"/>
                <a:gd name="T70" fmla="*/ 5 w 31"/>
                <a:gd name="T71" fmla="*/ 24 h 29"/>
                <a:gd name="T72" fmla="*/ 7 w 31"/>
                <a:gd name="T73" fmla="*/ 27 h 29"/>
                <a:gd name="T74" fmla="*/ 10 w 31"/>
                <a:gd name="T75" fmla="*/ 27 h 29"/>
                <a:gd name="T76" fmla="*/ 12 w 31"/>
                <a:gd name="T77" fmla="*/ 29 h 29"/>
                <a:gd name="T78" fmla="*/ 14 w 31"/>
                <a:gd name="T79" fmla="*/ 29 h 29"/>
                <a:gd name="T80" fmla="*/ 17 w 31"/>
                <a:gd name="T81" fmla="*/ 29 h 29"/>
                <a:gd name="T82" fmla="*/ 17 w 31"/>
                <a:gd name="T83" fmla="*/ 29 h 29"/>
                <a:gd name="T84" fmla="*/ 14 w 31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9"/>
                <a:gd name="T131" fmla="*/ 31 w 31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9">
                  <a:moveTo>
                    <a:pt x="14" y="29"/>
                  </a:moveTo>
                  <a:lnTo>
                    <a:pt x="19" y="29"/>
                  </a:lnTo>
                  <a:lnTo>
                    <a:pt x="21" y="29"/>
                  </a:lnTo>
                  <a:lnTo>
                    <a:pt x="21" y="27"/>
                  </a:lnTo>
                  <a:lnTo>
                    <a:pt x="24" y="27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31" y="12"/>
                  </a:lnTo>
                  <a:lnTo>
                    <a:pt x="31" y="10"/>
                  </a:lnTo>
                  <a:lnTo>
                    <a:pt x="29" y="8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5" y="24"/>
                  </a:lnTo>
                  <a:lnTo>
                    <a:pt x="7" y="27"/>
                  </a:lnTo>
                  <a:lnTo>
                    <a:pt x="10" y="27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7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9" name="Freeform 545"/>
            <p:cNvSpPr>
              <a:spLocks noChangeArrowheads="1"/>
            </p:cNvSpPr>
            <p:nvPr/>
          </p:nvSpPr>
          <p:spPr bwMode="auto">
            <a:xfrm>
              <a:off x="3257" y="2431"/>
              <a:ext cx="31" cy="28"/>
            </a:xfrm>
            <a:custGeom>
              <a:avLst/>
              <a:gdLst>
                <a:gd name="T0" fmla="*/ 14 w 31"/>
                <a:gd name="T1" fmla="*/ 26 h 28"/>
                <a:gd name="T2" fmla="*/ 19 w 31"/>
                <a:gd name="T3" fmla="*/ 28 h 28"/>
                <a:gd name="T4" fmla="*/ 19 w 31"/>
                <a:gd name="T5" fmla="*/ 28 h 28"/>
                <a:gd name="T6" fmla="*/ 21 w 31"/>
                <a:gd name="T7" fmla="*/ 26 h 28"/>
                <a:gd name="T8" fmla="*/ 24 w 31"/>
                <a:gd name="T9" fmla="*/ 26 h 28"/>
                <a:gd name="T10" fmla="*/ 26 w 31"/>
                <a:gd name="T11" fmla="*/ 24 h 28"/>
                <a:gd name="T12" fmla="*/ 26 w 31"/>
                <a:gd name="T13" fmla="*/ 21 h 28"/>
                <a:gd name="T14" fmla="*/ 28 w 31"/>
                <a:gd name="T15" fmla="*/ 21 h 28"/>
                <a:gd name="T16" fmla="*/ 28 w 31"/>
                <a:gd name="T17" fmla="*/ 19 h 28"/>
                <a:gd name="T18" fmla="*/ 31 w 31"/>
                <a:gd name="T19" fmla="*/ 17 h 28"/>
                <a:gd name="T20" fmla="*/ 31 w 31"/>
                <a:gd name="T21" fmla="*/ 14 h 28"/>
                <a:gd name="T22" fmla="*/ 31 w 31"/>
                <a:gd name="T23" fmla="*/ 12 h 28"/>
                <a:gd name="T24" fmla="*/ 28 w 31"/>
                <a:gd name="T25" fmla="*/ 10 h 28"/>
                <a:gd name="T26" fmla="*/ 28 w 31"/>
                <a:gd name="T27" fmla="*/ 7 h 28"/>
                <a:gd name="T28" fmla="*/ 26 w 31"/>
                <a:gd name="T29" fmla="*/ 5 h 28"/>
                <a:gd name="T30" fmla="*/ 26 w 31"/>
                <a:gd name="T31" fmla="*/ 2 h 28"/>
                <a:gd name="T32" fmla="*/ 24 w 31"/>
                <a:gd name="T33" fmla="*/ 2 h 28"/>
                <a:gd name="T34" fmla="*/ 21 w 31"/>
                <a:gd name="T35" fmla="*/ 0 h 28"/>
                <a:gd name="T36" fmla="*/ 19 w 31"/>
                <a:gd name="T37" fmla="*/ 0 h 28"/>
                <a:gd name="T38" fmla="*/ 19 w 31"/>
                <a:gd name="T39" fmla="*/ 0 h 28"/>
                <a:gd name="T40" fmla="*/ 16 w 31"/>
                <a:gd name="T41" fmla="*/ 0 h 28"/>
                <a:gd name="T42" fmla="*/ 14 w 31"/>
                <a:gd name="T43" fmla="*/ 0 h 28"/>
                <a:gd name="T44" fmla="*/ 12 w 31"/>
                <a:gd name="T45" fmla="*/ 0 h 28"/>
                <a:gd name="T46" fmla="*/ 9 w 31"/>
                <a:gd name="T47" fmla="*/ 0 h 28"/>
                <a:gd name="T48" fmla="*/ 7 w 31"/>
                <a:gd name="T49" fmla="*/ 2 h 28"/>
                <a:gd name="T50" fmla="*/ 5 w 31"/>
                <a:gd name="T51" fmla="*/ 2 h 28"/>
                <a:gd name="T52" fmla="*/ 5 w 31"/>
                <a:gd name="T53" fmla="*/ 5 h 28"/>
                <a:gd name="T54" fmla="*/ 2 w 31"/>
                <a:gd name="T55" fmla="*/ 7 h 28"/>
                <a:gd name="T56" fmla="*/ 2 w 31"/>
                <a:gd name="T57" fmla="*/ 10 h 28"/>
                <a:gd name="T58" fmla="*/ 0 w 31"/>
                <a:gd name="T59" fmla="*/ 12 h 28"/>
                <a:gd name="T60" fmla="*/ 0 w 31"/>
                <a:gd name="T61" fmla="*/ 14 h 28"/>
                <a:gd name="T62" fmla="*/ 0 w 31"/>
                <a:gd name="T63" fmla="*/ 17 h 28"/>
                <a:gd name="T64" fmla="*/ 2 w 31"/>
                <a:gd name="T65" fmla="*/ 19 h 28"/>
                <a:gd name="T66" fmla="*/ 2 w 31"/>
                <a:gd name="T67" fmla="*/ 21 h 28"/>
                <a:gd name="T68" fmla="*/ 5 w 31"/>
                <a:gd name="T69" fmla="*/ 21 h 28"/>
                <a:gd name="T70" fmla="*/ 5 w 31"/>
                <a:gd name="T71" fmla="*/ 24 h 28"/>
                <a:gd name="T72" fmla="*/ 7 w 31"/>
                <a:gd name="T73" fmla="*/ 26 h 28"/>
                <a:gd name="T74" fmla="*/ 9 w 31"/>
                <a:gd name="T75" fmla="*/ 26 h 28"/>
                <a:gd name="T76" fmla="*/ 12 w 31"/>
                <a:gd name="T77" fmla="*/ 28 h 28"/>
                <a:gd name="T78" fmla="*/ 14 w 31"/>
                <a:gd name="T79" fmla="*/ 28 h 28"/>
                <a:gd name="T80" fmla="*/ 16 w 31"/>
                <a:gd name="T81" fmla="*/ 28 h 28"/>
                <a:gd name="T82" fmla="*/ 16 w 31"/>
                <a:gd name="T83" fmla="*/ 28 h 28"/>
                <a:gd name="T84" fmla="*/ 14 w 31"/>
                <a:gd name="T85" fmla="*/ 26 h 2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8"/>
                <a:gd name="T131" fmla="*/ 31 w 31"/>
                <a:gd name="T132" fmla="*/ 28 h 2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8">
                  <a:moveTo>
                    <a:pt x="14" y="26"/>
                  </a:moveTo>
                  <a:lnTo>
                    <a:pt x="19" y="28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5" y="21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9" y="26"/>
                  </a:lnTo>
                  <a:lnTo>
                    <a:pt x="12" y="28"/>
                  </a:lnTo>
                  <a:lnTo>
                    <a:pt x="14" y="28"/>
                  </a:lnTo>
                  <a:lnTo>
                    <a:pt x="16" y="28"/>
                  </a:lnTo>
                  <a:lnTo>
                    <a:pt x="14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0" name="Rectangle 546"/>
            <p:cNvSpPr>
              <a:spLocks noChangeArrowheads="1"/>
            </p:cNvSpPr>
            <p:nvPr/>
          </p:nvSpPr>
          <p:spPr bwMode="auto">
            <a:xfrm>
              <a:off x="3536" y="1229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531" name="Rectangle 547"/>
            <p:cNvSpPr>
              <a:spLocks noChangeArrowheads="1"/>
            </p:cNvSpPr>
            <p:nvPr/>
          </p:nvSpPr>
          <p:spPr bwMode="auto">
            <a:xfrm>
              <a:off x="3574" y="122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h</a:t>
              </a:r>
            </a:p>
          </p:txBody>
        </p:sp>
        <p:sp>
          <p:nvSpPr>
            <p:cNvPr id="532" name="Rectangle 548"/>
            <p:cNvSpPr>
              <a:spLocks noChangeArrowheads="1"/>
            </p:cNvSpPr>
            <p:nvPr/>
          </p:nvSpPr>
          <p:spPr bwMode="auto">
            <a:xfrm>
              <a:off x="3607" y="1229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533" name="Rectangle 549"/>
            <p:cNvSpPr>
              <a:spLocks noChangeArrowheads="1"/>
            </p:cNvSpPr>
            <p:nvPr/>
          </p:nvSpPr>
          <p:spPr bwMode="auto">
            <a:xfrm>
              <a:off x="3622" y="122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534" name="Rectangle 550"/>
            <p:cNvSpPr>
              <a:spLocks noChangeArrowheads="1"/>
            </p:cNvSpPr>
            <p:nvPr/>
          </p:nvSpPr>
          <p:spPr bwMode="auto">
            <a:xfrm>
              <a:off x="3638" y="122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35" name="Rectangle 551"/>
            <p:cNvSpPr>
              <a:spLocks noChangeArrowheads="1"/>
            </p:cNvSpPr>
            <p:nvPr/>
          </p:nvSpPr>
          <p:spPr bwMode="auto">
            <a:xfrm>
              <a:off x="3652" y="122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6" name="Rectangle 552"/>
            <p:cNvSpPr>
              <a:spLocks noChangeArrowheads="1"/>
            </p:cNvSpPr>
            <p:nvPr/>
          </p:nvSpPr>
          <p:spPr bwMode="auto">
            <a:xfrm>
              <a:off x="3527" y="1297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537" name="Rectangle 553"/>
            <p:cNvSpPr>
              <a:spLocks noChangeArrowheads="1"/>
            </p:cNvSpPr>
            <p:nvPr/>
          </p:nvSpPr>
          <p:spPr bwMode="auto">
            <a:xfrm>
              <a:off x="3541" y="129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538" name="Rectangle 554"/>
            <p:cNvSpPr>
              <a:spLocks noChangeArrowheads="1"/>
            </p:cNvSpPr>
            <p:nvPr/>
          </p:nvSpPr>
          <p:spPr bwMode="auto">
            <a:xfrm>
              <a:off x="3574" y="129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539" name="Rectangle 555"/>
            <p:cNvSpPr>
              <a:spLocks noChangeArrowheads="1"/>
            </p:cNvSpPr>
            <p:nvPr/>
          </p:nvSpPr>
          <p:spPr bwMode="auto">
            <a:xfrm>
              <a:off x="3588" y="129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40" name="Rectangle 556"/>
            <p:cNvSpPr>
              <a:spLocks noChangeArrowheads="1"/>
            </p:cNvSpPr>
            <p:nvPr/>
          </p:nvSpPr>
          <p:spPr bwMode="auto">
            <a:xfrm>
              <a:off x="3605" y="129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541" name="Rectangle 557"/>
            <p:cNvSpPr>
              <a:spLocks noChangeArrowheads="1"/>
            </p:cNvSpPr>
            <p:nvPr/>
          </p:nvSpPr>
          <p:spPr bwMode="auto">
            <a:xfrm>
              <a:off x="3622" y="129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542" name="Freeform 558"/>
            <p:cNvSpPr>
              <a:spLocks noChangeArrowheads="1"/>
            </p:cNvSpPr>
            <p:nvPr/>
          </p:nvSpPr>
          <p:spPr bwMode="auto">
            <a:xfrm>
              <a:off x="2447" y="3004"/>
              <a:ext cx="28" cy="29"/>
            </a:xfrm>
            <a:custGeom>
              <a:avLst/>
              <a:gdLst>
                <a:gd name="T0" fmla="*/ 14 w 28"/>
                <a:gd name="T1" fmla="*/ 29 h 29"/>
                <a:gd name="T2" fmla="*/ 17 w 28"/>
                <a:gd name="T3" fmla="*/ 29 h 29"/>
                <a:gd name="T4" fmla="*/ 19 w 28"/>
                <a:gd name="T5" fmla="*/ 29 h 29"/>
                <a:gd name="T6" fmla="*/ 21 w 28"/>
                <a:gd name="T7" fmla="*/ 29 h 29"/>
                <a:gd name="T8" fmla="*/ 24 w 28"/>
                <a:gd name="T9" fmla="*/ 26 h 29"/>
                <a:gd name="T10" fmla="*/ 26 w 28"/>
                <a:gd name="T11" fmla="*/ 24 h 29"/>
                <a:gd name="T12" fmla="*/ 26 w 28"/>
                <a:gd name="T13" fmla="*/ 24 h 29"/>
                <a:gd name="T14" fmla="*/ 28 w 28"/>
                <a:gd name="T15" fmla="*/ 21 h 29"/>
                <a:gd name="T16" fmla="*/ 28 w 28"/>
                <a:gd name="T17" fmla="*/ 19 h 29"/>
                <a:gd name="T18" fmla="*/ 28 w 28"/>
                <a:gd name="T19" fmla="*/ 17 h 29"/>
                <a:gd name="T20" fmla="*/ 28 w 28"/>
                <a:gd name="T21" fmla="*/ 14 h 29"/>
                <a:gd name="T22" fmla="*/ 28 w 28"/>
                <a:gd name="T23" fmla="*/ 12 h 29"/>
                <a:gd name="T24" fmla="*/ 28 w 28"/>
                <a:gd name="T25" fmla="*/ 10 h 29"/>
                <a:gd name="T26" fmla="*/ 28 w 28"/>
                <a:gd name="T27" fmla="*/ 7 h 29"/>
                <a:gd name="T28" fmla="*/ 26 w 28"/>
                <a:gd name="T29" fmla="*/ 5 h 29"/>
                <a:gd name="T30" fmla="*/ 26 w 28"/>
                <a:gd name="T31" fmla="*/ 5 h 29"/>
                <a:gd name="T32" fmla="*/ 24 w 28"/>
                <a:gd name="T33" fmla="*/ 2 h 29"/>
                <a:gd name="T34" fmla="*/ 21 w 28"/>
                <a:gd name="T35" fmla="*/ 2 h 29"/>
                <a:gd name="T36" fmla="*/ 19 w 28"/>
                <a:gd name="T37" fmla="*/ 0 h 29"/>
                <a:gd name="T38" fmla="*/ 17 w 28"/>
                <a:gd name="T39" fmla="*/ 0 h 29"/>
                <a:gd name="T40" fmla="*/ 14 w 28"/>
                <a:gd name="T41" fmla="*/ 0 h 29"/>
                <a:gd name="T42" fmla="*/ 12 w 28"/>
                <a:gd name="T43" fmla="*/ 0 h 29"/>
                <a:gd name="T44" fmla="*/ 9 w 28"/>
                <a:gd name="T45" fmla="*/ 0 h 29"/>
                <a:gd name="T46" fmla="*/ 7 w 28"/>
                <a:gd name="T47" fmla="*/ 2 h 29"/>
                <a:gd name="T48" fmla="*/ 7 w 28"/>
                <a:gd name="T49" fmla="*/ 2 h 29"/>
                <a:gd name="T50" fmla="*/ 5 w 28"/>
                <a:gd name="T51" fmla="*/ 5 h 29"/>
                <a:gd name="T52" fmla="*/ 2 w 28"/>
                <a:gd name="T53" fmla="*/ 5 h 29"/>
                <a:gd name="T54" fmla="*/ 2 w 28"/>
                <a:gd name="T55" fmla="*/ 7 h 29"/>
                <a:gd name="T56" fmla="*/ 0 w 28"/>
                <a:gd name="T57" fmla="*/ 10 h 29"/>
                <a:gd name="T58" fmla="*/ 0 w 28"/>
                <a:gd name="T59" fmla="*/ 12 h 29"/>
                <a:gd name="T60" fmla="*/ 0 w 28"/>
                <a:gd name="T61" fmla="*/ 14 h 29"/>
                <a:gd name="T62" fmla="*/ 0 w 28"/>
                <a:gd name="T63" fmla="*/ 17 h 29"/>
                <a:gd name="T64" fmla="*/ 0 w 28"/>
                <a:gd name="T65" fmla="*/ 19 h 29"/>
                <a:gd name="T66" fmla="*/ 2 w 28"/>
                <a:gd name="T67" fmla="*/ 21 h 29"/>
                <a:gd name="T68" fmla="*/ 2 w 28"/>
                <a:gd name="T69" fmla="*/ 24 h 29"/>
                <a:gd name="T70" fmla="*/ 5 w 28"/>
                <a:gd name="T71" fmla="*/ 24 h 29"/>
                <a:gd name="T72" fmla="*/ 7 w 28"/>
                <a:gd name="T73" fmla="*/ 26 h 29"/>
                <a:gd name="T74" fmla="*/ 7 w 28"/>
                <a:gd name="T75" fmla="*/ 29 h 29"/>
                <a:gd name="T76" fmla="*/ 9 w 28"/>
                <a:gd name="T77" fmla="*/ 29 h 29"/>
                <a:gd name="T78" fmla="*/ 12 w 28"/>
                <a:gd name="T79" fmla="*/ 29 h 29"/>
                <a:gd name="T80" fmla="*/ 14 w 28"/>
                <a:gd name="T81" fmla="*/ 29 h 29"/>
                <a:gd name="T82" fmla="*/ 14 w 28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8"/>
                <a:gd name="T127" fmla="*/ 0 h 29"/>
                <a:gd name="T128" fmla="*/ 28 w 28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8" h="29">
                  <a:moveTo>
                    <a:pt x="14" y="29"/>
                  </a:moveTo>
                  <a:lnTo>
                    <a:pt x="17" y="29"/>
                  </a:lnTo>
                  <a:lnTo>
                    <a:pt x="19" y="29"/>
                  </a:lnTo>
                  <a:lnTo>
                    <a:pt x="21" y="29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8" y="17"/>
                  </a:lnTo>
                  <a:lnTo>
                    <a:pt x="28" y="14"/>
                  </a:lnTo>
                  <a:lnTo>
                    <a:pt x="28" y="12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" name="Freeform 559"/>
            <p:cNvSpPr>
              <a:spLocks noChangeArrowheads="1"/>
            </p:cNvSpPr>
            <p:nvPr/>
          </p:nvSpPr>
          <p:spPr bwMode="auto">
            <a:xfrm>
              <a:off x="4214" y="2462"/>
              <a:ext cx="30" cy="28"/>
            </a:xfrm>
            <a:custGeom>
              <a:avLst/>
              <a:gdLst>
                <a:gd name="T0" fmla="*/ 14 w 30"/>
                <a:gd name="T1" fmla="*/ 28 h 28"/>
                <a:gd name="T2" fmla="*/ 16 w 30"/>
                <a:gd name="T3" fmla="*/ 28 h 28"/>
                <a:gd name="T4" fmla="*/ 18 w 30"/>
                <a:gd name="T5" fmla="*/ 28 h 28"/>
                <a:gd name="T6" fmla="*/ 21 w 30"/>
                <a:gd name="T7" fmla="*/ 26 h 28"/>
                <a:gd name="T8" fmla="*/ 23 w 30"/>
                <a:gd name="T9" fmla="*/ 26 h 28"/>
                <a:gd name="T10" fmla="*/ 26 w 30"/>
                <a:gd name="T11" fmla="*/ 24 h 28"/>
                <a:gd name="T12" fmla="*/ 26 w 30"/>
                <a:gd name="T13" fmla="*/ 21 h 28"/>
                <a:gd name="T14" fmla="*/ 28 w 30"/>
                <a:gd name="T15" fmla="*/ 21 h 28"/>
                <a:gd name="T16" fmla="*/ 28 w 30"/>
                <a:gd name="T17" fmla="*/ 19 h 28"/>
                <a:gd name="T18" fmla="*/ 28 w 30"/>
                <a:gd name="T19" fmla="*/ 16 h 28"/>
                <a:gd name="T20" fmla="*/ 30 w 30"/>
                <a:gd name="T21" fmla="*/ 14 h 28"/>
                <a:gd name="T22" fmla="*/ 28 w 30"/>
                <a:gd name="T23" fmla="*/ 12 h 28"/>
                <a:gd name="T24" fmla="*/ 28 w 30"/>
                <a:gd name="T25" fmla="*/ 9 h 28"/>
                <a:gd name="T26" fmla="*/ 28 w 30"/>
                <a:gd name="T27" fmla="*/ 7 h 28"/>
                <a:gd name="T28" fmla="*/ 26 w 30"/>
                <a:gd name="T29" fmla="*/ 5 h 28"/>
                <a:gd name="T30" fmla="*/ 26 w 30"/>
                <a:gd name="T31" fmla="*/ 2 h 28"/>
                <a:gd name="T32" fmla="*/ 23 w 30"/>
                <a:gd name="T33" fmla="*/ 2 h 28"/>
                <a:gd name="T34" fmla="*/ 21 w 30"/>
                <a:gd name="T35" fmla="*/ 0 h 28"/>
                <a:gd name="T36" fmla="*/ 18 w 30"/>
                <a:gd name="T37" fmla="*/ 0 h 28"/>
                <a:gd name="T38" fmla="*/ 16 w 30"/>
                <a:gd name="T39" fmla="*/ 0 h 28"/>
                <a:gd name="T40" fmla="*/ 14 w 30"/>
                <a:gd name="T41" fmla="*/ 0 h 28"/>
                <a:gd name="T42" fmla="*/ 11 w 30"/>
                <a:gd name="T43" fmla="*/ 0 h 28"/>
                <a:gd name="T44" fmla="*/ 9 w 30"/>
                <a:gd name="T45" fmla="*/ 0 h 28"/>
                <a:gd name="T46" fmla="*/ 9 w 30"/>
                <a:gd name="T47" fmla="*/ 0 h 28"/>
                <a:gd name="T48" fmla="*/ 7 w 30"/>
                <a:gd name="T49" fmla="*/ 2 h 28"/>
                <a:gd name="T50" fmla="*/ 4 w 30"/>
                <a:gd name="T51" fmla="*/ 2 h 28"/>
                <a:gd name="T52" fmla="*/ 2 w 30"/>
                <a:gd name="T53" fmla="*/ 5 h 28"/>
                <a:gd name="T54" fmla="*/ 2 w 30"/>
                <a:gd name="T55" fmla="*/ 7 h 28"/>
                <a:gd name="T56" fmla="*/ 2 w 30"/>
                <a:gd name="T57" fmla="*/ 9 h 28"/>
                <a:gd name="T58" fmla="*/ 0 w 30"/>
                <a:gd name="T59" fmla="*/ 12 h 28"/>
                <a:gd name="T60" fmla="*/ 0 w 30"/>
                <a:gd name="T61" fmla="*/ 14 h 28"/>
                <a:gd name="T62" fmla="*/ 0 w 30"/>
                <a:gd name="T63" fmla="*/ 16 h 28"/>
                <a:gd name="T64" fmla="*/ 2 w 30"/>
                <a:gd name="T65" fmla="*/ 19 h 28"/>
                <a:gd name="T66" fmla="*/ 2 w 30"/>
                <a:gd name="T67" fmla="*/ 21 h 28"/>
                <a:gd name="T68" fmla="*/ 2 w 30"/>
                <a:gd name="T69" fmla="*/ 21 h 28"/>
                <a:gd name="T70" fmla="*/ 4 w 30"/>
                <a:gd name="T71" fmla="*/ 24 h 28"/>
                <a:gd name="T72" fmla="*/ 7 w 30"/>
                <a:gd name="T73" fmla="*/ 26 h 28"/>
                <a:gd name="T74" fmla="*/ 9 w 30"/>
                <a:gd name="T75" fmla="*/ 26 h 28"/>
                <a:gd name="T76" fmla="*/ 9 w 30"/>
                <a:gd name="T77" fmla="*/ 28 h 28"/>
                <a:gd name="T78" fmla="*/ 11 w 30"/>
                <a:gd name="T79" fmla="*/ 28 h 28"/>
                <a:gd name="T80" fmla="*/ 14 w 30"/>
                <a:gd name="T81" fmla="*/ 28 h 28"/>
                <a:gd name="T82" fmla="*/ 14 w 30"/>
                <a:gd name="T83" fmla="*/ 28 h 2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8"/>
                <a:gd name="T128" fmla="*/ 30 w 30"/>
                <a:gd name="T129" fmla="*/ 28 h 2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8">
                  <a:moveTo>
                    <a:pt x="14" y="28"/>
                  </a:moveTo>
                  <a:lnTo>
                    <a:pt x="16" y="28"/>
                  </a:lnTo>
                  <a:lnTo>
                    <a:pt x="18" y="28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8" y="16"/>
                  </a:lnTo>
                  <a:lnTo>
                    <a:pt x="30" y="14"/>
                  </a:lnTo>
                  <a:lnTo>
                    <a:pt x="28" y="12"/>
                  </a:lnTo>
                  <a:lnTo>
                    <a:pt x="28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4" y="2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4" y="24"/>
                  </a:lnTo>
                  <a:lnTo>
                    <a:pt x="7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1" y="28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4" name="Rectangle 560"/>
            <p:cNvSpPr>
              <a:spLocks noChangeArrowheads="1"/>
            </p:cNvSpPr>
            <p:nvPr/>
          </p:nvSpPr>
          <p:spPr bwMode="auto">
            <a:xfrm>
              <a:off x="3849" y="2365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545" name="Rectangle 561"/>
            <p:cNvSpPr>
              <a:spLocks noChangeArrowheads="1"/>
            </p:cNvSpPr>
            <p:nvPr/>
          </p:nvSpPr>
          <p:spPr bwMode="auto">
            <a:xfrm>
              <a:off x="3889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546" name="Rectangle 562"/>
            <p:cNvSpPr>
              <a:spLocks noChangeArrowheads="1"/>
            </p:cNvSpPr>
            <p:nvPr/>
          </p:nvSpPr>
          <p:spPr bwMode="auto">
            <a:xfrm>
              <a:off x="3922" y="236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547" name="Freeform 563"/>
            <p:cNvSpPr>
              <a:spLocks noChangeArrowheads="1"/>
            </p:cNvSpPr>
            <p:nvPr/>
          </p:nvSpPr>
          <p:spPr bwMode="auto">
            <a:xfrm>
              <a:off x="3475" y="1280"/>
              <a:ext cx="30" cy="31"/>
            </a:xfrm>
            <a:custGeom>
              <a:avLst/>
              <a:gdLst>
                <a:gd name="T0" fmla="*/ 0 w 30"/>
                <a:gd name="T1" fmla="*/ 0 h 31"/>
                <a:gd name="T2" fmla="*/ 0 w 30"/>
                <a:gd name="T3" fmla="*/ 31 h 31"/>
                <a:gd name="T4" fmla="*/ 30 w 30"/>
                <a:gd name="T5" fmla="*/ 17 h 31"/>
                <a:gd name="T6" fmla="*/ 0 w 30"/>
                <a:gd name="T7" fmla="*/ 3 h 31"/>
                <a:gd name="T8" fmla="*/ 0 w 30"/>
                <a:gd name="T9" fmla="*/ 3 h 31"/>
                <a:gd name="T10" fmla="*/ 0 w 30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"/>
                <a:gd name="T19" fmla="*/ 0 h 31"/>
                <a:gd name="T20" fmla="*/ 30 w 30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" h="31">
                  <a:moveTo>
                    <a:pt x="0" y="0"/>
                  </a:moveTo>
                  <a:lnTo>
                    <a:pt x="0" y="31"/>
                  </a:lnTo>
                  <a:lnTo>
                    <a:pt x="30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8" name="Freeform 564"/>
            <p:cNvSpPr>
              <a:spLocks noChangeArrowheads="1"/>
            </p:cNvSpPr>
            <p:nvPr/>
          </p:nvSpPr>
          <p:spPr bwMode="auto">
            <a:xfrm>
              <a:off x="3404" y="1297"/>
              <a:ext cx="80" cy="1409"/>
            </a:xfrm>
            <a:custGeom>
              <a:avLst/>
              <a:gdLst>
                <a:gd name="T0" fmla="*/ 0 w 80"/>
                <a:gd name="T1" fmla="*/ 1409 h 1409"/>
                <a:gd name="T2" fmla="*/ 0 w 80"/>
                <a:gd name="T3" fmla="*/ 0 h 1409"/>
                <a:gd name="T4" fmla="*/ 80 w 80"/>
                <a:gd name="T5" fmla="*/ 0 h 1409"/>
                <a:gd name="T6" fmla="*/ 0 60000 65536"/>
                <a:gd name="T7" fmla="*/ 0 60000 65536"/>
                <a:gd name="T8" fmla="*/ 0 60000 65536"/>
                <a:gd name="T9" fmla="*/ 0 w 80"/>
                <a:gd name="T10" fmla="*/ 0 h 1409"/>
                <a:gd name="T11" fmla="*/ 80 w 80"/>
                <a:gd name="T12" fmla="*/ 1409 h 14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" h="1409">
                  <a:moveTo>
                    <a:pt x="0" y="1409"/>
                  </a:moveTo>
                  <a:lnTo>
                    <a:pt x="0" y="0"/>
                  </a:lnTo>
                  <a:lnTo>
                    <a:pt x="8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9" name="Line 565"/>
            <p:cNvSpPr>
              <a:spLocks noChangeShapeType="1"/>
            </p:cNvSpPr>
            <p:nvPr/>
          </p:nvSpPr>
          <p:spPr bwMode="auto">
            <a:xfrm>
              <a:off x="3688" y="1294"/>
              <a:ext cx="64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0" name="Freeform 566"/>
            <p:cNvSpPr>
              <a:spLocks noChangeArrowheads="1"/>
            </p:cNvSpPr>
            <p:nvPr/>
          </p:nvSpPr>
          <p:spPr bwMode="auto">
            <a:xfrm>
              <a:off x="2044" y="2616"/>
              <a:ext cx="22" cy="2"/>
            </a:xfrm>
            <a:custGeom>
              <a:avLst/>
              <a:gdLst>
                <a:gd name="T0" fmla="*/ 0 w 22"/>
                <a:gd name="T1" fmla="*/ 0 h 2"/>
                <a:gd name="T2" fmla="*/ 22 w 22"/>
                <a:gd name="T3" fmla="*/ 2 h 2"/>
                <a:gd name="T4" fmla="*/ 0 w 22"/>
                <a:gd name="T5" fmla="*/ 0 h 2"/>
                <a:gd name="T6" fmla="*/ 0 60000 65536"/>
                <a:gd name="T7" fmla="*/ 0 60000 65536"/>
                <a:gd name="T8" fmla="*/ 0 60000 65536"/>
                <a:gd name="T9" fmla="*/ 0 w 22"/>
                <a:gd name="T10" fmla="*/ 0 h 2"/>
                <a:gd name="T11" fmla="*/ 22 w 22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2">
                  <a:moveTo>
                    <a:pt x="0" y="0"/>
                  </a:moveTo>
                  <a:lnTo>
                    <a:pt x="2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1" name="Line 567"/>
            <p:cNvSpPr>
              <a:spLocks noChangeShapeType="1"/>
            </p:cNvSpPr>
            <p:nvPr/>
          </p:nvSpPr>
          <p:spPr bwMode="auto">
            <a:xfrm>
              <a:off x="2044" y="2616"/>
              <a:ext cx="22" cy="2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2" name="Freeform 568"/>
            <p:cNvSpPr>
              <a:spLocks noChangeArrowheads="1"/>
            </p:cNvSpPr>
            <p:nvPr/>
          </p:nvSpPr>
          <p:spPr bwMode="auto">
            <a:xfrm>
              <a:off x="2044" y="2263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" name="Line 569"/>
            <p:cNvSpPr>
              <a:spLocks noChangeShapeType="1"/>
            </p:cNvSpPr>
            <p:nvPr/>
          </p:nvSpPr>
          <p:spPr bwMode="auto">
            <a:xfrm>
              <a:off x="2044" y="2263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4" name="Freeform 570"/>
            <p:cNvSpPr>
              <a:spLocks noChangeArrowheads="1"/>
            </p:cNvSpPr>
            <p:nvPr/>
          </p:nvSpPr>
          <p:spPr bwMode="auto">
            <a:xfrm>
              <a:off x="2044" y="2088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5" name="Line 571"/>
            <p:cNvSpPr>
              <a:spLocks noChangeShapeType="1"/>
            </p:cNvSpPr>
            <p:nvPr/>
          </p:nvSpPr>
          <p:spPr bwMode="auto">
            <a:xfrm>
              <a:off x="2044" y="2088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6" name="Freeform 572"/>
            <p:cNvSpPr>
              <a:spLocks noChangeArrowheads="1"/>
            </p:cNvSpPr>
            <p:nvPr/>
          </p:nvSpPr>
          <p:spPr bwMode="auto">
            <a:xfrm>
              <a:off x="2042" y="1600"/>
              <a:ext cx="24" cy="1"/>
            </a:xfrm>
            <a:custGeom>
              <a:avLst/>
              <a:gdLst>
                <a:gd name="T0" fmla="*/ 0 w 24"/>
                <a:gd name="T1" fmla="*/ 0 h 1"/>
                <a:gd name="T2" fmla="*/ 24 w 24"/>
                <a:gd name="T3" fmla="*/ 0 h 1"/>
                <a:gd name="T4" fmla="*/ 0 w 24"/>
                <a:gd name="T5" fmla="*/ 0 h 1"/>
                <a:gd name="T6" fmla="*/ 0 60000 65536"/>
                <a:gd name="T7" fmla="*/ 0 60000 65536"/>
                <a:gd name="T8" fmla="*/ 0 60000 65536"/>
                <a:gd name="T9" fmla="*/ 0 w 24"/>
                <a:gd name="T10" fmla="*/ 0 h 1"/>
                <a:gd name="T11" fmla="*/ 24 w 2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" h="1">
                  <a:moveTo>
                    <a:pt x="0" y="0"/>
                  </a:move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7" name="Line 573"/>
            <p:cNvSpPr>
              <a:spLocks noChangeShapeType="1"/>
            </p:cNvSpPr>
            <p:nvPr/>
          </p:nvSpPr>
          <p:spPr bwMode="auto">
            <a:xfrm>
              <a:off x="2042" y="1600"/>
              <a:ext cx="24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8" name="Freeform 574"/>
            <p:cNvSpPr>
              <a:spLocks noChangeArrowheads="1"/>
            </p:cNvSpPr>
            <p:nvPr/>
          </p:nvSpPr>
          <p:spPr bwMode="auto">
            <a:xfrm>
              <a:off x="2044" y="2969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9" name="Line 575"/>
            <p:cNvSpPr>
              <a:spLocks noChangeShapeType="1"/>
            </p:cNvSpPr>
            <p:nvPr/>
          </p:nvSpPr>
          <p:spPr bwMode="auto">
            <a:xfrm>
              <a:off x="2044" y="2969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0" name="Freeform 576"/>
            <p:cNvSpPr>
              <a:spLocks noChangeArrowheads="1"/>
            </p:cNvSpPr>
            <p:nvPr/>
          </p:nvSpPr>
          <p:spPr bwMode="auto">
            <a:xfrm>
              <a:off x="2835" y="3272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1" name="Line 577"/>
            <p:cNvSpPr>
              <a:spLocks noChangeShapeType="1"/>
            </p:cNvSpPr>
            <p:nvPr/>
          </p:nvSpPr>
          <p:spPr bwMode="auto">
            <a:xfrm>
              <a:off x="2835" y="3272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2" name="Freeform 578"/>
            <p:cNvSpPr>
              <a:spLocks noChangeArrowheads="1"/>
            </p:cNvSpPr>
            <p:nvPr/>
          </p:nvSpPr>
          <p:spPr bwMode="auto">
            <a:xfrm>
              <a:off x="4346" y="2459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7 h 31"/>
                <a:gd name="T6" fmla="*/ 0 w 31"/>
                <a:gd name="T7" fmla="*/ 3 h 31"/>
                <a:gd name="T8" fmla="*/ 0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" name="Rectangle 579"/>
            <p:cNvSpPr>
              <a:spLocks noChangeArrowheads="1"/>
            </p:cNvSpPr>
            <p:nvPr/>
          </p:nvSpPr>
          <p:spPr bwMode="auto">
            <a:xfrm>
              <a:off x="4405" y="2436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564" name="Rectangle 580"/>
            <p:cNvSpPr>
              <a:spLocks noChangeArrowheads="1"/>
            </p:cNvSpPr>
            <p:nvPr/>
          </p:nvSpPr>
          <p:spPr bwMode="auto">
            <a:xfrm>
              <a:off x="4443" y="24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565" name="Rectangle 581"/>
            <p:cNvSpPr>
              <a:spLocks noChangeArrowheads="1"/>
            </p:cNvSpPr>
            <p:nvPr/>
          </p:nvSpPr>
          <p:spPr bwMode="auto">
            <a:xfrm>
              <a:off x="4476" y="24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566" name="Rectangle 582"/>
            <p:cNvSpPr>
              <a:spLocks noChangeArrowheads="1"/>
            </p:cNvSpPr>
            <p:nvPr/>
          </p:nvSpPr>
          <p:spPr bwMode="auto">
            <a:xfrm>
              <a:off x="4510" y="243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67" name="Rectangle 583"/>
            <p:cNvSpPr>
              <a:spLocks noChangeArrowheads="1"/>
            </p:cNvSpPr>
            <p:nvPr/>
          </p:nvSpPr>
          <p:spPr bwMode="auto">
            <a:xfrm>
              <a:off x="4528" y="24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568" name="Rectangle 584"/>
            <p:cNvSpPr>
              <a:spLocks noChangeArrowheads="1"/>
            </p:cNvSpPr>
            <p:nvPr/>
          </p:nvSpPr>
          <p:spPr bwMode="auto">
            <a:xfrm>
              <a:off x="4562" y="243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569" name="Rectangle 585"/>
            <p:cNvSpPr>
              <a:spLocks noChangeArrowheads="1"/>
            </p:cNvSpPr>
            <p:nvPr/>
          </p:nvSpPr>
          <p:spPr bwMode="auto">
            <a:xfrm>
              <a:off x="4590" y="243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</p:grpSp>
      <p:grpSp>
        <p:nvGrpSpPr>
          <p:cNvPr id="588" name="Group 586"/>
          <p:cNvGrpSpPr>
            <a:grpSpLocks/>
          </p:cNvGrpSpPr>
          <p:nvPr/>
        </p:nvGrpSpPr>
        <p:grpSpPr bwMode="auto">
          <a:xfrm>
            <a:off x="1967707" y="3848432"/>
            <a:ext cx="1676400" cy="1364092"/>
            <a:chOff x="576" y="2256"/>
            <a:chExt cx="1056" cy="859"/>
          </a:xfrm>
        </p:grpSpPr>
        <p:sp>
          <p:nvSpPr>
            <p:cNvPr id="589" name="Line 587"/>
            <p:cNvSpPr>
              <a:spLocks noChangeShapeType="1"/>
            </p:cNvSpPr>
            <p:nvPr/>
          </p:nvSpPr>
          <p:spPr bwMode="auto">
            <a:xfrm>
              <a:off x="576" y="2256"/>
              <a:ext cx="1056" cy="1"/>
            </a:xfrm>
            <a:prstGeom prst="line">
              <a:avLst/>
            </a:prstGeom>
            <a:noFill/>
            <a:ln w="57240">
              <a:solidFill>
                <a:srgbClr val="CD3333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0" name="Text Box 588"/>
            <p:cNvSpPr txBox="1">
              <a:spLocks noChangeArrowheads="1"/>
            </p:cNvSpPr>
            <p:nvPr/>
          </p:nvSpPr>
          <p:spPr bwMode="auto">
            <a:xfrm>
              <a:off x="947" y="2784"/>
              <a:ext cx="316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700"/>
                </a:spcBef>
                <a:buClr>
                  <a:srgbClr val="000000"/>
                </a:buClr>
                <a:buFont typeface="Wingdings" charset="2"/>
                <a:buNone/>
              </a:pPr>
              <a:r>
                <a:rPr lang="en-US" altLang="zh-TW" sz="2800" dirty="0">
                  <a:solidFill>
                    <a:srgbClr val="CD3333"/>
                  </a:solidFill>
                  <a:latin typeface="Wingdings 2" charset="2"/>
                  <a:ea typeface="新細明體" charset="-120"/>
                  <a:cs typeface="Wingdings 2" charset="2"/>
                </a:rPr>
                <a:t>j</a:t>
              </a:r>
              <a:endParaRPr lang="zh-TW" altLang="en-GB" sz="2800" dirty="0">
                <a:solidFill>
                  <a:srgbClr val="996633"/>
                </a:solidFill>
                <a:latin typeface="Wingdings" charset="2"/>
                <a:ea typeface="新細明體" charset="-120"/>
              </a:endParaRPr>
            </a:p>
          </p:txBody>
        </p:sp>
      </p:grpSp>
      <p:grpSp>
        <p:nvGrpSpPr>
          <p:cNvPr id="591" name="Group 589"/>
          <p:cNvGrpSpPr>
            <a:grpSpLocks/>
          </p:cNvGrpSpPr>
          <p:nvPr/>
        </p:nvGrpSpPr>
        <p:grpSpPr bwMode="auto">
          <a:xfrm>
            <a:off x="3686176" y="2877344"/>
            <a:ext cx="1370013" cy="2144713"/>
            <a:chOff x="1632" y="1632"/>
            <a:chExt cx="863" cy="1351"/>
          </a:xfrm>
        </p:grpSpPr>
        <p:grpSp>
          <p:nvGrpSpPr>
            <p:cNvPr id="592" name="Group 590"/>
            <p:cNvGrpSpPr>
              <a:grpSpLocks/>
            </p:cNvGrpSpPr>
            <p:nvPr/>
          </p:nvGrpSpPr>
          <p:grpSpPr bwMode="auto">
            <a:xfrm>
              <a:off x="1632" y="1632"/>
              <a:ext cx="863" cy="1055"/>
              <a:chOff x="1632" y="1632"/>
              <a:chExt cx="863" cy="1055"/>
            </a:xfrm>
          </p:grpSpPr>
          <p:grpSp>
            <p:nvGrpSpPr>
              <p:cNvPr id="594" name="Group 591"/>
              <p:cNvGrpSpPr>
                <a:grpSpLocks/>
              </p:cNvGrpSpPr>
              <p:nvPr/>
            </p:nvGrpSpPr>
            <p:grpSpPr bwMode="auto">
              <a:xfrm>
                <a:off x="1632" y="1632"/>
                <a:ext cx="863" cy="1055"/>
                <a:chOff x="1632" y="1632"/>
                <a:chExt cx="863" cy="1055"/>
              </a:xfrm>
            </p:grpSpPr>
            <p:sp>
              <p:nvSpPr>
                <p:cNvPr id="596" name="Freeform 592"/>
                <p:cNvSpPr>
                  <a:spLocks/>
                </p:cNvSpPr>
                <p:nvPr/>
              </p:nvSpPr>
              <p:spPr bwMode="auto">
                <a:xfrm>
                  <a:off x="1632" y="1632"/>
                  <a:ext cx="576" cy="624"/>
                </a:xfrm>
                <a:custGeom>
                  <a:avLst/>
                  <a:gdLst>
                    <a:gd name="T0" fmla="*/ 0 w 576"/>
                    <a:gd name="T1" fmla="*/ 624 h 624"/>
                    <a:gd name="T2" fmla="*/ 0 w 576"/>
                    <a:gd name="T3" fmla="*/ 0 h 624"/>
                    <a:gd name="T4" fmla="*/ 576 w 576"/>
                    <a:gd name="T5" fmla="*/ 0 h 624"/>
                    <a:gd name="T6" fmla="*/ 0 60000 65536"/>
                    <a:gd name="T7" fmla="*/ 0 60000 65536"/>
                    <a:gd name="T8" fmla="*/ 0 60000 65536"/>
                    <a:gd name="T9" fmla="*/ 0 w 576"/>
                    <a:gd name="T10" fmla="*/ 0 h 624"/>
                    <a:gd name="T11" fmla="*/ 576 w 576"/>
                    <a:gd name="T12" fmla="*/ 624 h 62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76" h="624">
                      <a:moveTo>
                        <a:pt x="0" y="624"/>
                      </a:moveTo>
                      <a:lnTo>
                        <a:pt x="0" y="0"/>
                      </a:lnTo>
                      <a:lnTo>
                        <a:pt x="576" y="0"/>
                      </a:lnTo>
                    </a:path>
                  </a:pathLst>
                </a:custGeom>
                <a:noFill/>
                <a:ln w="38160">
                  <a:solidFill>
                    <a:srgbClr val="3333CC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7" name="Freeform 593"/>
                <p:cNvSpPr>
                  <a:spLocks/>
                </p:cNvSpPr>
                <p:nvPr/>
              </p:nvSpPr>
              <p:spPr bwMode="auto">
                <a:xfrm>
                  <a:off x="1632" y="2160"/>
                  <a:ext cx="864" cy="96"/>
                </a:xfrm>
                <a:custGeom>
                  <a:avLst/>
                  <a:gdLst>
                    <a:gd name="T0" fmla="*/ 0 w 576"/>
                    <a:gd name="T1" fmla="*/ 624 h 624"/>
                    <a:gd name="T2" fmla="*/ 0 w 576"/>
                    <a:gd name="T3" fmla="*/ 0 h 624"/>
                    <a:gd name="T4" fmla="*/ 576 w 576"/>
                    <a:gd name="T5" fmla="*/ 0 h 624"/>
                    <a:gd name="T6" fmla="*/ 0 60000 65536"/>
                    <a:gd name="T7" fmla="*/ 0 60000 65536"/>
                    <a:gd name="T8" fmla="*/ 0 60000 65536"/>
                    <a:gd name="T9" fmla="*/ 0 w 576"/>
                    <a:gd name="T10" fmla="*/ 0 h 624"/>
                    <a:gd name="T11" fmla="*/ 576 w 576"/>
                    <a:gd name="T12" fmla="*/ 624 h 62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76" h="624">
                      <a:moveTo>
                        <a:pt x="0" y="624"/>
                      </a:moveTo>
                      <a:lnTo>
                        <a:pt x="0" y="0"/>
                      </a:lnTo>
                      <a:lnTo>
                        <a:pt x="576" y="0"/>
                      </a:lnTo>
                    </a:path>
                  </a:pathLst>
                </a:custGeom>
                <a:noFill/>
                <a:ln w="38160">
                  <a:solidFill>
                    <a:srgbClr val="CD3333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8" name="Freeform 594"/>
                <p:cNvSpPr>
                  <a:spLocks/>
                </p:cNvSpPr>
                <p:nvPr/>
              </p:nvSpPr>
              <p:spPr bwMode="auto">
                <a:xfrm flipV="1">
                  <a:off x="1632" y="2256"/>
                  <a:ext cx="864" cy="48"/>
                </a:xfrm>
                <a:custGeom>
                  <a:avLst/>
                  <a:gdLst>
                    <a:gd name="T0" fmla="*/ 0 w 576"/>
                    <a:gd name="T1" fmla="*/ 624 h 624"/>
                    <a:gd name="T2" fmla="*/ 0 w 576"/>
                    <a:gd name="T3" fmla="*/ 0 h 624"/>
                    <a:gd name="T4" fmla="*/ 576 w 576"/>
                    <a:gd name="T5" fmla="*/ 0 h 624"/>
                    <a:gd name="T6" fmla="*/ 0 60000 65536"/>
                    <a:gd name="T7" fmla="*/ 0 60000 65536"/>
                    <a:gd name="T8" fmla="*/ 0 60000 65536"/>
                    <a:gd name="T9" fmla="*/ 0 w 576"/>
                    <a:gd name="T10" fmla="*/ 0 h 624"/>
                    <a:gd name="T11" fmla="*/ 576 w 576"/>
                    <a:gd name="T12" fmla="*/ 624 h 62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76" h="624">
                      <a:moveTo>
                        <a:pt x="0" y="624"/>
                      </a:moveTo>
                      <a:lnTo>
                        <a:pt x="0" y="0"/>
                      </a:lnTo>
                      <a:lnTo>
                        <a:pt x="576" y="0"/>
                      </a:lnTo>
                    </a:path>
                  </a:pathLst>
                </a:custGeom>
                <a:noFill/>
                <a:ln w="38160">
                  <a:solidFill>
                    <a:srgbClr val="CD3333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599" name="Freeform 595"/>
                <p:cNvSpPr>
                  <a:spLocks/>
                </p:cNvSpPr>
                <p:nvPr/>
              </p:nvSpPr>
              <p:spPr bwMode="auto">
                <a:xfrm>
                  <a:off x="1632" y="2304"/>
                  <a:ext cx="864" cy="384"/>
                </a:xfrm>
                <a:custGeom>
                  <a:avLst/>
                  <a:gdLst>
                    <a:gd name="T0" fmla="*/ 0 w 864"/>
                    <a:gd name="T1" fmla="*/ 0 h 384"/>
                    <a:gd name="T2" fmla="*/ 0 w 864"/>
                    <a:gd name="T3" fmla="*/ 384 h 384"/>
                    <a:gd name="T4" fmla="*/ 624 w 864"/>
                    <a:gd name="T5" fmla="*/ 384 h 384"/>
                    <a:gd name="T6" fmla="*/ 624 w 864"/>
                    <a:gd name="T7" fmla="*/ 192 h 384"/>
                    <a:gd name="T8" fmla="*/ 864 w 864"/>
                    <a:gd name="T9" fmla="*/ 192 h 3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64"/>
                    <a:gd name="T16" fmla="*/ 0 h 384"/>
                    <a:gd name="T17" fmla="*/ 864 w 864"/>
                    <a:gd name="T18" fmla="*/ 384 h 3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64" h="384">
                      <a:moveTo>
                        <a:pt x="0" y="0"/>
                      </a:moveTo>
                      <a:lnTo>
                        <a:pt x="0" y="384"/>
                      </a:lnTo>
                      <a:lnTo>
                        <a:pt x="624" y="384"/>
                      </a:lnTo>
                      <a:lnTo>
                        <a:pt x="624" y="192"/>
                      </a:lnTo>
                      <a:lnTo>
                        <a:pt x="864" y="192"/>
                      </a:lnTo>
                    </a:path>
                  </a:pathLst>
                </a:custGeom>
                <a:noFill/>
                <a:ln w="38160">
                  <a:solidFill>
                    <a:srgbClr val="CD3333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95" name="Text Box 596"/>
              <p:cNvSpPr txBox="1">
                <a:spLocks noChangeArrowheads="1"/>
              </p:cNvSpPr>
              <p:nvPr/>
            </p:nvSpPr>
            <p:spPr bwMode="auto">
              <a:xfrm>
                <a:off x="1729" y="1728"/>
                <a:ext cx="314" cy="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1pPr>
                <a:lvl2pPr marL="37931725" indent="-37474525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5pPr>
                <a:lvl6pPr marL="4572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6pPr>
                <a:lvl7pPr marL="9144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7pPr>
                <a:lvl8pPr marL="13716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8pPr>
                <a:lvl9pPr marL="18288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700"/>
                  </a:spcBef>
                  <a:buClr>
                    <a:srgbClr val="000000"/>
                  </a:buClr>
                  <a:buFont typeface="Wingdings" charset="2"/>
                  <a:buNone/>
                </a:pPr>
                <a:r>
                  <a:rPr lang="zh-TW" altLang="en-GB" sz="2800" dirty="0">
                    <a:solidFill>
                      <a:srgbClr val="996633"/>
                    </a:solidFill>
                    <a:latin typeface="Wingdings" charset="2"/>
                    <a:ea typeface="新細明體" charset="-120"/>
                  </a:rPr>
                  <a:t></a:t>
                </a:r>
              </a:p>
            </p:txBody>
          </p:sp>
        </p:grpSp>
        <p:sp>
          <p:nvSpPr>
            <p:cNvPr id="593" name="Text Box 597"/>
            <p:cNvSpPr txBox="1">
              <a:spLocks noChangeArrowheads="1"/>
            </p:cNvSpPr>
            <p:nvPr/>
          </p:nvSpPr>
          <p:spPr bwMode="auto">
            <a:xfrm>
              <a:off x="2161" y="2752"/>
              <a:ext cx="206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</a:pPr>
              <a:r>
                <a:rPr lang="en-GB" altLang="zh-TW" sz="18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  <a:ea typeface="新細明體" charset="-120"/>
                </a:rPr>
                <a:t>1</a:t>
              </a:r>
            </a:p>
          </p:txBody>
        </p:sp>
      </p:grpSp>
      <p:grpSp>
        <p:nvGrpSpPr>
          <p:cNvPr id="600" name="Group 598"/>
          <p:cNvGrpSpPr>
            <a:grpSpLocks/>
          </p:cNvGrpSpPr>
          <p:nvPr/>
        </p:nvGrpSpPr>
        <p:grpSpPr bwMode="auto">
          <a:xfrm>
            <a:off x="7648575" y="3678237"/>
            <a:ext cx="1905000" cy="2133600"/>
            <a:chOff x="4128" y="2160"/>
            <a:chExt cx="1200" cy="1344"/>
          </a:xfrm>
        </p:grpSpPr>
        <p:sp>
          <p:nvSpPr>
            <p:cNvPr id="601" name="Text Box 599"/>
            <p:cNvSpPr txBox="1">
              <a:spLocks noChangeArrowheads="1"/>
            </p:cNvSpPr>
            <p:nvPr/>
          </p:nvSpPr>
          <p:spPr bwMode="auto">
            <a:xfrm>
              <a:off x="4801" y="2976"/>
              <a:ext cx="320" cy="33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700"/>
                </a:spcBef>
                <a:buClr>
                  <a:srgbClr val="000000"/>
                </a:buClr>
                <a:buFont typeface="Wingdings" charset="2"/>
                <a:buNone/>
              </a:pPr>
              <a:r>
                <a:rPr lang="zh-TW" altLang="en-GB" sz="2800">
                  <a:solidFill>
                    <a:srgbClr val="996633"/>
                  </a:solidFill>
                  <a:latin typeface="Wingdings" charset="2"/>
                  <a:ea typeface="新細明體" charset="-120"/>
                </a:rPr>
                <a:t></a:t>
              </a:r>
            </a:p>
          </p:txBody>
        </p:sp>
        <p:grpSp>
          <p:nvGrpSpPr>
            <p:cNvPr id="602" name="Group 600"/>
            <p:cNvGrpSpPr>
              <a:grpSpLocks/>
            </p:cNvGrpSpPr>
            <p:nvPr/>
          </p:nvGrpSpPr>
          <p:grpSpPr bwMode="auto">
            <a:xfrm>
              <a:off x="4128" y="2160"/>
              <a:ext cx="1200" cy="1344"/>
              <a:chOff x="4128" y="2160"/>
              <a:chExt cx="1200" cy="1344"/>
            </a:xfrm>
          </p:grpSpPr>
          <p:sp>
            <p:nvSpPr>
              <p:cNvPr id="603" name="Freeform 601"/>
              <p:cNvSpPr>
                <a:spLocks noChangeArrowheads="1"/>
              </p:cNvSpPr>
              <p:nvPr/>
            </p:nvSpPr>
            <p:spPr bwMode="auto">
              <a:xfrm>
                <a:off x="4128" y="2448"/>
                <a:ext cx="1200" cy="1056"/>
              </a:xfrm>
              <a:custGeom>
                <a:avLst/>
                <a:gdLst>
                  <a:gd name="T0" fmla="*/ 0 w 1200"/>
                  <a:gd name="T1" fmla="*/ 0 h 1056"/>
                  <a:gd name="T2" fmla="*/ 96 w 1200"/>
                  <a:gd name="T3" fmla="*/ 0 h 1056"/>
                  <a:gd name="T4" fmla="*/ 96 w 1200"/>
                  <a:gd name="T5" fmla="*/ 528 h 1056"/>
                  <a:gd name="T6" fmla="*/ 960 w 1200"/>
                  <a:gd name="T7" fmla="*/ 528 h 1056"/>
                  <a:gd name="T8" fmla="*/ 960 w 1200"/>
                  <a:gd name="T9" fmla="*/ 288 h 1056"/>
                  <a:gd name="T10" fmla="*/ 1104 w 1200"/>
                  <a:gd name="T11" fmla="*/ 288 h 1056"/>
                  <a:gd name="T12" fmla="*/ 1104 w 1200"/>
                  <a:gd name="T13" fmla="*/ 144 h 1056"/>
                  <a:gd name="T14" fmla="*/ 1200 w 1200"/>
                  <a:gd name="T15" fmla="*/ 144 h 1056"/>
                  <a:gd name="T16" fmla="*/ 1200 w 1200"/>
                  <a:gd name="T17" fmla="*/ 1056 h 1056"/>
                  <a:gd name="T18" fmla="*/ 1200 w 1200"/>
                  <a:gd name="T19" fmla="*/ 144 h 105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00"/>
                  <a:gd name="T31" fmla="*/ 0 h 1056"/>
                  <a:gd name="T32" fmla="*/ 1200 w 1200"/>
                  <a:gd name="T33" fmla="*/ 1056 h 105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00" h="1056">
                    <a:moveTo>
                      <a:pt x="0" y="0"/>
                    </a:moveTo>
                    <a:lnTo>
                      <a:pt x="96" y="0"/>
                    </a:lnTo>
                    <a:lnTo>
                      <a:pt x="96" y="528"/>
                    </a:lnTo>
                    <a:lnTo>
                      <a:pt x="960" y="528"/>
                    </a:lnTo>
                    <a:lnTo>
                      <a:pt x="960" y="288"/>
                    </a:lnTo>
                    <a:lnTo>
                      <a:pt x="1104" y="288"/>
                    </a:lnTo>
                    <a:lnTo>
                      <a:pt x="1104" y="144"/>
                    </a:lnTo>
                    <a:lnTo>
                      <a:pt x="1200" y="144"/>
                    </a:lnTo>
                    <a:lnTo>
                      <a:pt x="1200" y="1056"/>
                    </a:lnTo>
                    <a:lnTo>
                      <a:pt x="1200" y="144"/>
                    </a:lnTo>
                  </a:path>
                </a:pathLst>
              </a:custGeom>
              <a:noFill/>
              <a:ln w="57240">
                <a:solidFill>
                  <a:srgbClr val="33CC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604" name="Text Box 602"/>
              <p:cNvSpPr txBox="1">
                <a:spLocks noChangeArrowheads="1"/>
              </p:cNvSpPr>
              <p:nvPr/>
            </p:nvSpPr>
            <p:spPr bwMode="auto">
              <a:xfrm>
                <a:off x="5041" y="2160"/>
                <a:ext cx="212" cy="237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1pPr>
                <a:lvl2pPr marL="37931725" indent="-37474525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5pPr>
                <a:lvl6pPr marL="4572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6pPr>
                <a:lvl7pPr marL="9144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7pPr>
                <a:lvl8pPr marL="13716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8pPr>
                <a:lvl9pPr marL="18288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450"/>
                  </a:spcBef>
                  <a:buClr>
                    <a:srgbClr val="000000"/>
                  </a:buClr>
                  <a:buFont typeface="Tahoma" charset="0"/>
                  <a:buNone/>
                </a:pPr>
                <a:r>
                  <a:rPr lang="en-GB" altLang="zh-TW" sz="1800" b="1">
                    <a:solidFill>
                      <a:srgbClr val="3333C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charset="0"/>
                    <a:ea typeface="新細明體" charset="-120"/>
                  </a:rPr>
                  <a:t>0</a:t>
                </a:r>
              </a:p>
            </p:txBody>
          </p:sp>
        </p:grpSp>
      </p:grpSp>
      <p:grpSp>
        <p:nvGrpSpPr>
          <p:cNvPr id="605" name="Group 603"/>
          <p:cNvGrpSpPr>
            <a:grpSpLocks/>
          </p:cNvGrpSpPr>
          <p:nvPr/>
        </p:nvGrpSpPr>
        <p:grpSpPr bwMode="auto">
          <a:xfrm>
            <a:off x="4829175" y="3221037"/>
            <a:ext cx="4724400" cy="2590800"/>
            <a:chOff x="2352" y="1872"/>
            <a:chExt cx="2976" cy="1632"/>
          </a:xfrm>
        </p:grpSpPr>
        <p:sp>
          <p:nvSpPr>
            <p:cNvPr id="606" name="Freeform 604"/>
            <p:cNvSpPr>
              <a:spLocks/>
            </p:cNvSpPr>
            <p:nvPr/>
          </p:nvSpPr>
          <p:spPr bwMode="auto">
            <a:xfrm>
              <a:off x="2352" y="2640"/>
              <a:ext cx="2976" cy="864"/>
            </a:xfrm>
            <a:custGeom>
              <a:avLst/>
              <a:gdLst>
                <a:gd name="T0" fmla="*/ 2976 w 2976"/>
                <a:gd name="T1" fmla="*/ 864 h 864"/>
                <a:gd name="T2" fmla="*/ 0 w 2976"/>
                <a:gd name="T3" fmla="*/ 864 h 864"/>
                <a:gd name="T4" fmla="*/ 0 w 2976"/>
                <a:gd name="T5" fmla="*/ 0 h 864"/>
                <a:gd name="T6" fmla="*/ 192 w 2976"/>
                <a:gd name="T7" fmla="*/ 0 h 86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76"/>
                <a:gd name="T13" fmla="*/ 0 h 864"/>
                <a:gd name="T14" fmla="*/ 2976 w 2976"/>
                <a:gd name="T15" fmla="*/ 864 h 86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76" h="864">
                  <a:moveTo>
                    <a:pt x="2976" y="864"/>
                  </a:moveTo>
                  <a:lnTo>
                    <a:pt x="0" y="864"/>
                  </a:lnTo>
                  <a:lnTo>
                    <a:pt x="0" y="0"/>
                  </a:lnTo>
                  <a:lnTo>
                    <a:pt x="192" y="0"/>
                  </a:lnTo>
                </a:path>
              </a:pathLst>
            </a:custGeom>
            <a:noFill/>
            <a:ln w="57240">
              <a:solidFill>
                <a:srgbClr val="33CC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7" name="Text Box 605"/>
            <p:cNvSpPr txBox="1">
              <a:spLocks noChangeArrowheads="1"/>
            </p:cNvSpPr>
            <p:nvPr/>
          </p:nvSpPr>
          <p:spPr bwMode="auto">
            <a:xfrm>
              <a:off x="2833" y="1872"/>
              <a:ext cx="212" cy="23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</a:pPr>
              <a:r>
                <a:rPr lang="en-GB" altLang="zh-TW" sz="18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  <a:ea typeface="新細明體" charset="-120"/>
                </a:rPr>
                <a:t>1</a:t>
              </a:r>
            </a:p>
          </p:txBody>
        </p:sp>
      </p:grpSp>
      <p:grpSp>
        <p:nvGrpSpPr>
          <p:cNvPr id="608" name="Group 606"/>
          <p:cNvGrpSpPr>
            <a:grpSpLocks/>
          </p:cNvGrpSpPr>
          <p:nvPr/>
        </p:nvGrpSpPr>
        <p:grpSpPr bwMode="auto">
          <a:xfrm>
            <a:off x="3686175" y="3754437"/>
            <a:ext cx="4079875" cy="2043113"/>
            <a:chOff x="1632" y="2208"/>
            <a:chExt cx="2570" cy="1287"/>
          </a:xfrm>
        </p:grpSpPr>
        <p:grpSp>
          <p:nvGrpSpPr>
            <p:cNvPr id="609" name="Group 607"/>
            <p:cNvGrpSpPr>
              <a:grpSpLocks/>
            </p:cNvGrpSpPr>
            <p:nvPr/>
          </p:nvGrpSpPr>
          <p:grpSpPr bwMode="auto">
            <a:xfrm>
              <a:off x="1632" y="2208"/>
              <a:ext cx="2570" cy="1143"/>
              <a:chOff x="1632" y="2208"/>
              <a:chExt cx="2570" cy="1143"/>
            </a:xfrm>
          </p:grpSpPr>
          <p:sp>
            <p:nvSpPr>
              <p:cNvPr id="611" name="Text Box 608"/>
              <p:cNvSpPr txBox="1">
                <a:spLocks noChangeArrowheads="1"/>
              </p:cNvSpPr>
              <p:nvPr/>
            </p:nvSpPr>
            <p:spPr bwMode="auto">
              <a:xfrm>
                <a:off x="3889" y="3024"/>
                <a:ext cx="314" cy="32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1pPr>
                <a:lvl2pPr marL="37931725" indent="-37474525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5pPr>
                <a:lvl6pPr marL="4572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6pPr>
                <a:lvl7pPr marL="9144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7pPr>
                <a:lvl8pPr marL="13716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8pPr>
                <a:lvl9pPr marL="18288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700"/>
                  </a:spcBef>
                  <a:buClr>
                    <a:srgbClr val="000000"/>
                  </a:buClr>
                  <a:buFont typeface="Wingdings" charset="2"/>
                  <a:buNone/>
                </a:pPr>
                <a:r>
                  <a:rPr lang="zh-TW" altLang="en-GB" sz="2800">
                    <a:solidFill>
                      <a:srgbClr val="996633"/>
                    </a:solidFill>
                    <a:latin typeface="Wingdings" charset="2"/>
                    <a:ea typeface="新細明體" charset="-120"/>
                  </a:rPr>
                  <a:t></a:t>
                </a:r>
              </a:p>
            </p:txBody>
          </p:sp>
          <p:grpSp>
            <p:nvGrpSpPr>
              <p:cNvPr id="612" name="Group 609"/>
              <p:cNvGrpSpPr>
                <a:grpSpLocks/>
              </p:cNvGrpSpPr>
              <p:nvPr/>
            </p:nvGrpSpPr>
            <p:grpSpPr bwMode="auto">
              <a:xfrm>
                <a:off x="1632" y="2208"/>
                <a:ext cx="2255" cy="1103"/>
                <a:chOff x="1632" y="2208"/>
                <a:chExt cx="2255" cy="1103"/>
              </a:xfrm>
            </p:grpSpPr>
            <p:grpSp>
              <p:nvGrpSpPr>
                <p:cNvPr id="613" name="Group 610"/>
                <p:cNvGrpSpPr>
                  <a:grpSpLocks/>
                </p:cNvGrpSpPr>
                <p:nvPr/>
              </p:nvGrpSpPr>
              <p:grpSpPr bwMode="auto">
                <a:xfrm>
                  <a:off x="3168" y="2208"/>
                  <a:ext cx="575" cy="383"/>
                  <a:chOff x="3168" y="2208"/>
                  <a:chExt cx="575" cy="383"/>
                </a:xfrm>
              </p:grpSpPr>
              <p:sp>
                <p:nvSpPr>
                  <p:cNvPr id="615" name="Line 611"/>
                  <p:cNvSpPr>
                    <a:spLocks noChangeShapeType="1"/>
                  </p:cNvSpPr>
                  <p:nvPr/>
                </p:nvSpPr>
                <p:spPr bwMode="auto">
                  <a:xfrm>
                    <a:off x="3168" y="2208"/>
                    <a:ext cx="576" cy="1"/>
                  </a:xfrm>
                  <a:prstGeom prst="line">
                    <a:avLst/>
                  </a:prstGeom>
                  <a:noFill/>
                  <a:ln w="57240">
                    <a:solidFill>
                      <a:srgbClr val="CD3333"/>
                    </a:solidFill>
                    <a:miter lim="800000"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616" name="Freeform 612"/>
                  <p:cNvSpPr>
                    <a:spLocks/>
                  </p:cNvSpPr>
                  <p:nvPr/>
                </p:nvSpPr>
                <p:spPr bwMode="auto">
                  <a:xfrm>
                    <a:off x="3168" y="2448"/>
                    <a:ext cx="576" cy="144"/>
                  </a:xfrm>
                  <a:custGeom>
                    <a:avLst/>
                    <a:gdLst>
                      <a:gd name="T0" fmla="*/ 0 w 576"/>
                      <a:gd name="T1" fmla="*/ 0 h 144"/>
                      <a:gd name="T2" fmla="*/ 432 w 576"/>
                      <a:gd name="T3" fmla="*/ 0 h 144"/>
                      <a:gd name="T4" fmla="*/ 432 w 576"/>
                      <a:gd name="T5" fmla="*/ 144 h 144"/>
                      <a:gd name="T6" fmla="*/ 576 w 576"/>
                      <a:gd name="T7" fmla="*/ 144 h 144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576"/>
                      <a:gd name="T13" fmla="*/ 0 h 144"/>
                      <a:gd name="T14" fmla="*/ 576 w 576"/>
                      <a:gd name="T15" fmla="*/ 144 h 144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576" h="144">
                        <a:moveTo>
                          <a:pt x="0" y="0"/>
                        </a:moveTo>
                        <a:lnTo>
                          <a:pt x="432" y="0"/>
                        </a:lnTo>
                        <a:lnTo>
                          <a:pt x="432" y="144"/>
                        </a:lnTo>
                        <a:lnTo>
                          <a:pt x="576" y="144"/>
                        </a:lnTo>
                      </a:path>
                    </a:pathLst>
                  </a:custGeom>
                  <a:noFill/>
                  <a:ln w="57240">
                    <a:solidFill>
                      <a:srgbClr val="CD3333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617" name="Text Box 6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409" y="2208"/>
                    <a:ext cx="206" cy="232"/>
                  </a:xfrm>
                  <a:prstGeom prst="rect">
                    <a:avLst/>
                  </a:prstGeom>
                  <a:noFill/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lIns="90000" tIns="46800" rIns="90000" bIns="46800">
                    <a:spAutoFit/>
                  </a:bodyPr>
                  <a:lstStyle>
                    <a:lvl1pPr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bg1"/>
                        </a:solidFill>
                        <a:latin typeface="Times New Roman" charset="0"/>
                        <a:ea typeface="SimSun" charset="-122"/>
                      </a:defRPr>
                    </a:lvl1pPr>
                    <a:lvl2pPr marL="37931725" indent="-37474525"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bg1"/>
                        </a:solidFill>
                        <a:latin typeface="Times New Roman" charset="0"/>
                        <a:ea typeface="SimSun" charset="-122"/>
                      </a:defRPr>
                    </a:lvl2pPr>
                    <a:lvl3pPr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bg1"/>
                        </a:solidFill>
                        <a:latin typeface="Times New Roman" charset="0"/>
                        <a:ea typeface="SimSun" charset="-122"/>
                      </a:defRPr>
                    </a:lvl3pPr>
                    <a:lvl4pPr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bg1"/>
                        </a:solidFill>
                        <a:latin typeface="Times New Roman" charset="0"/>
                        <a:ea typeface="SimSun" charset="-122"/>
                      </a:defRPr>
                    </a:lvl4pPr>
                    <a:lvl5pPr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bg1"/>
                        </a:solidFill>
                        <a:latin typeface="Times New Roman" charset="0"/>
                        <a:ea typeface="SimSun" charset="-122"/>
                      </a:defRPr>
                    </a:lvl5pPr>
                    <a:lvl6pPr marL="457200" eaLnBrk="0" fontAlgn="base" hangingPunct="0">
                      <a:lnSpc>
                        <a:spcPct val="9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bg1"/>
                        </a:solidFill>
                        <a:latin typeface="Times New Roman" charset="0"/>
                        <a:ea typeface="SimSun" charset="-122"/>
                      </a:defRPr>
                    </a:lvl6pPr>
                    <a:lvl7pPr marL="914400" eaLnBrk="0" fontAlgn="base" hangingPunct="0">
                      <a:lnSpc>
                        <a:spcPct val="9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bg1"/>
                        </a:solidFill>
                        <a:latin typeface="Times New Roman" charset="0"/>
                        <a:ea typeface="SimSun" charset="-122"/>
                      </a:defRPr>
                    </a:lvl7pPr>
                    <a:lvl8pPr marL="1371600" eaLnBrk="0" fontAlgn="base" hangingPunct="0">
                      <a:lnSpc>
                        <a:spcPct val="9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bg1"/>
                        </a:solidFill>
                        <a:latin typeface="Times New Roman" charset="0"/>
                        <a:ea typeface="SimSun" charset="-122"/>
                      </a:defRPr>
                    </a:lvl8pPr>
                    <a:lvl9pPr marL="1828800" eaLnBrk="0" fontAlgn="base" hangingPunct="0">
                      <a:lnSpc>
                        <a:spcPct val="9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tabLst>
                        <a:tab pos="0" algn="l"/>
                        <a:tab pos="914400" algn="l"/>
                        <a:tab pos="1828800" algn="l"/>
                        <a:tab pos="2743200" algn="l"/>
                        <a:tab pos="3657600" algn="l"/>
                        <a:tab pos="4572000" algn="l"/>
                        <a:tab pos="5486400" algn="l"/>
                        <a:tab pos="6400800" algn="l"/>
                        <a:tab pos="7315200" algn="l"/>
                        <a:tab pos="8229600" algn="l"/>
                        <a:tab pos="9144000" algn="l"/>
                        <a:tab pos="10058400" algn="l"/>
                      </a:tabLst>
                      <a:defRPr sz="2400">
                        <a:solidFill>
                          <a:schemeClr val="bg1"/>
                        </a:solidFill>
                        <a:latin typeface="Times New Roman" charset="0"/>
                        <a:ea typeface="SimSun" charset="-122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ts val="450"/>
                      </a:spcBef>
                      <a:buClr>
                        <a:srgbClr val="000000"/>
                      </a:buClr>
                      <a:buFont typeface="Tahoma" charset="0"/>
                      <a:buNone/>
                    </a:pPr>
                    <a:r>
                      <a:rPr lang="en-GB" altLang="zh-TW" sz="1800" b="1">
                        <a:solidFill>
                          <a:srgbClr val="3333CC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Tahoma" charset="0"/>
                        <a:ea typeface="新細明體" charset="-120"/>
                      </a:rPr>
                      <a:t>0</a:t>
                    </a:r>
                  </a:p>
                </p:txBody>
              </p:sp>
            </p:grpSp>
            <p:sp>
              <p:nvSpPr>
                <p:cNvPr id="614" name="Freeform 614"/>
                <p:cNvSpPr>
                  <a:spLocks/>
                </p:cNvSpPr>
                <p:nvPr/>
              </p:nvSpPr>
              <p:spPr bwMode="auto">
                <a:xfrm>
                  <a:off x="1632" y="2640"/>
                  <a:ext cx="2256" cy="672"/>
                </a:xfrm>
                <a:custGeom>
                  <a:avLst/>
                  <a:gdLst>
                    <a:gd name="T0" fmla="*/ 0 w 2256"/>
                    <a:gd name="T1" fmla="*/ 48 h 672"/>
                    <a:gd name="T2" fmla="*/ 0 w 2256"/>
                    <a:gd name="T3" fmla="*/ 384 h 672"/>
                    <a:gd name="T4" fmla="*/ 816 w 2256"/>
                    <a:gd name="T5" fmla="*/ 384 h 672"/>
                    <a:gd name="T6" fmla="*/ 816 w 2256"/>
                    <a:gd name="T7" fmla="*/ 672 h 672"/>
                    <a:gd name="T8" fmla="*/ 1824 w 2256"/>
                    <a:gd name="T9" fmla="*/ 672 h 672"/>
                    <a:gd name="T10" fmla="*/ 1824 w 2256"/>
                    <a:gd name="T11" fmla="*/ 480 h 672"/>
                    <a:gd name="T12" fmla="*/ 2256 w 2256"/>
                    <a:gd name="T13" fmla="*/ 480 h 672"/>
                    <a:gd name="T14" fmla="*/ 2256 w 2256"/>
                    <a:gd name="T15" fmla="*/ 0 h 672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w 2256"/>
                    <a:gd name="T25" fmla="*/ 0 h 672"/>
                    <a:gd name="T26" fmla="*/ 2256 w 2256"/>
                    <a:gd name="T27" fmla="*/ 672 h 672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256" h="672">
                      <a:moveTo>
                        <a:pt x="0" y="48"/>
                      </a:moveTo>
                      <a:lnTo>
                        <a:pt x="0" y="384"/>
                      </a:lnTo>
                      <a:lnTo>
                        <a:pt x="816" y="384"/>
                      </a:lnTo>
                      <a:lnTo>
                        <a:pt x="816" y="672"/>
                      </a:lnTo>
                      <a:lnTo>
                        <a:pt x="1824" y="672"/>
                      </a:lnTo>
                      <a:lnTo>
                        <a:pt x="1824" y="480"/>
                      </a:lnTo>
                      <a:lnTo>
                        <a:pt x="2256" y="480"/>
                      </a:lnTo>
                      <a:lnTo>
                        <a:pt x="2256" y="0"/>
                      </a:lnTo>
                    </a:path>
                  </a:pathLst>
                </a:custGeom>
                <a:noFill/>
                <a:ln w="38160">
                  <a:solidFill>
                    <a:srgbClr val="0066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610" name="Text Box 615"/>
            <p:cNvSpPr txBox="1">
              <a:spLocks noChangeArrowheads="1"/>
            </p:cNvSpPr>
            <p:nvPr/>
          </p:nvSpPr>
          <p:spPr bwMode="auto">
            <a:xfrm>
              <a:off x="3697" y="3264"/>
              <a:ext cx="298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</a:pPr>
              <a:r>
                <a:rPr lang="en-GB" altLang="zh-TW" sz="18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  <a:ea typeface="新細明體" charset="-120"/>
                </a:rPr>
                <a:t>10</a:t>
              </a:r>
            </a:p>
          </p:txBody>
        </p:sp>
      </p:grpSp>
      <p:grpSp>
        <p:nvGrpSpPr>
          <p:cNvPr id="618" name="Group 616"/>
          <p:cNvGrpSpPr>
            <a:grpSpLocks/>
          </p:cNvGrpSpPr>
          <p:nvPr/>
        </p:nvGrpSpPr>
        <p:grpSpPr bwMode="auto">
          <a:xfrm>
            <a:off x="8259763" y="3449637"/>
            <a:ext cx="630237" cy="1966913"/>
            <a:chOff x="4513" y="2016"/>
            <a:chExt cx="397" cy="1239"/>
          </a:xfrm>
        </p:grpSpPr>
        <p:sp>
          <p:nvSpPr>
            <p:cNvPr id="619" name="Text Box 617"/>
            <p:cNvSpPr txBox="1">
              <a:spLocks noChangeArrowheads="1"/>
            </p:cNvSpPr>
            <p:nvPr/>
          </p:nvSpPr>
          <p:spPr bwMode="auto">
            <a:xfrm>
              <a:off x="4705" y="2016"/>
              <a:ext cx="206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</a:pPr>
              <a:r>
                <a:rPr lang="en-GB" altLang="zh-TW" sz="1800" b="1">
                  <a:solidFill>
                    <a:srgbClr val="0832B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620" name="Text Box 618"/>
            <p:cNvSpPr txBox="1">
              <a:spLocks noChangeArrowheads="1"/>
            </p:cNvSpPr>
            <p:nvPr/>
          </p:nvSpPr>
          <p:spPr bwMode="auto">
            <a:xfrm>
              <a:off x="4513" y="3024"/>
              <a:ext cx="206" cy="232"/>
            </a:xfrm>
            <a:prstGeom prst="rect">
              <a:avLst/>
            </a:prstGeom>
            <a:solidFill>
              <a:schemeClr val="bg1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</a:pPr>
              <a:r>
                <a:rPr lang="en-GB" altLang="zh-TW" sz="1800" b="1">
                  <a:solidFill>
                    <a:srgbClr val="0832B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charset="0"/>
                  <a:ea typeface="新細明體" charset="-120"/>
                </a:rPr>
                <a:t>0</a:t>
              </a:r>
            </a:p>
          </p:txBody>
        </p:sp>
      </p:grpSp>
      <p:sp>
        <p:nvSpPr>
          <p:cNvPr id="621" name="Text Box 619"/>
          <p:cNvSpPr txBox="1">
            <a:spLocks noChangeArrowheads="1"/>
          </p:cNvSpPr>
          <p:nvPr/>
        </p:nvSpPr>
        <p:spPr bwMode="auto">
          <a:xfrm>
            <a:off x="8869363" y="2078037"/>
            <a:ext cx="327025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spcBef>
                <a:spcPts val="450"/>
              </a:spcBef>
              <a:buClr>
                <a:srgbClr val="000000"/>
              </a:buClr>
              <a:buFont typeface="Tahoma" charset="0"/>
              <a:buNone/>
            </a:pPr>
            <a:r>
              <a:rPr lang="en-GB" altLang="zh-TW" sz="1800" b="1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charset="0"/>
                <a:ea typeface="新細明體" charset="-12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78158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" presetClass="entr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>
                <a:ea typeface="新細明體" charset="-120"/>
                <a:cs typeface="新細明體" charset="-120"/>
              </a:rPr>
              <a:t>Load Instr. with Control</a:t>
            </a:r>
            <a:endParaRPr lang="en-US" dirty="0"/>
          </a:p>
        </p:txBody>
      </p:sp>
      <p:grpSp>
        <p:nvGrpSpPr>
          <p:cNvPr id="1856" name="Group 3"/>
          <p:cNvGrpSpPr>
            <a:grpSpLocks/>
          </p:cNvGrpSpPr>
          <p:nvPr/>
        </p:nvGrpSpPr>
        <p:grpSpPr bwMode="auto">
          <a:xfrm>
            <a:off x="1712119" y="1324768"/>
            <a:ext cx="7975600" cy="4475163"/>
            <a:chOff x="384" y="672"/>
            <a:chExt cx="5024" cy="2819"/>
          </a:xfrm>
        </p:grpSpPr>
        <p:sp>
          <p:nvSpPr>
            <p:cNvPr id="1857" name="Line 4"/>
            <p:cNvSpPr>
              <a:spLocks noChangeShapeType="1"/>
            </p:cNvSpPr>
            <p:nvPr/>
          </p:nvSpPr>
          <p:spPr bwMode="auto">
            <a:xfrm flipH="1">
              <a:off x="4227" y="2476"/>
              <a:ext cx="127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8" name="Freeform 5"/>
            <p:cNvSpPr>
              <a:spLocks noChangeArrowheads="1"/>
            </p:cNvSpPr>
            <p:nvPr/>
          </p:nvSpPr>
          <p:spPr bwMode="auto">
            <a:xfrm>
              <a:off x="2482" y="1815"/>
              <a:ext cx="2229" cy="427"/>
            </a:xfrm>
            <a:custGeom>
              <a:avLst/>
              <a:gdLst>
                <a:gd name="T0" fmla="*/ 0 w 2229"/>
                <a:gd name="T1" fmla="*/ 0 h 427"/>
                <a:gd name="T2" fmla="*/ 2229 w 2229"/>
                <a:gd name="T3" fmla="*/ 0 h 427"/>
                <a:gd name="T4" fmla="*/ 2229 w 2229"/>
                <a:gd name="T5" fmla="*/ 427 h 427"/>
                <a:gd name="T6" fmla="*/ 0 60000 65536"/>
                <a:gd name="T7" fmla="*/ 0 60000 65536"/>
                <a:gd name="T8" fmla="*/ 0 60000 65536"/>
                <a:gd name="T9" fmla="*/ 0 w 2229"/>
                <a:gd name="T10" fmla="*/ 0 h 427"/>
                <a:gd name="T11" fmla="*/ 2229 w 2229"/>
                <a:gd name="T12" fmla="*/ 427 h 4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29" h="427">
                  <a:moveTo>
                    <a:pt x="0" y="0"/>
                  </a:moveTo>
                  <a:lnTo>
                    <a:pt x="2229" y="0"/>
                  </a:lnTo>
                  <a:lnTo>
                    <a:pt x="2229" y="427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59" name="Line 6"/>
            <p:cNvSpPr>
              <a:spLocks noChangeShapeType="1"/>
            </p:cNvSpPr>
            <p:nvPr/>
          </p:nvSpPr>
          <p:spPr bwMode="auto">
            <a:xfrm>
              <a:off x="2456" y="1465"/>
              <a:ext cx="1696" cy="1"/>
            </a:xfrm>
            <a:prstGeom prst="line">
              <a:avLst/>
            </a:prstGeom>
            <a:noFill/>
            <a:ln w="1116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0" name="Freeform 7"/>
            <p:cNvSpPr>
              <a:spLocks noChangeArrowheads="1"/>
            </p:cNvSpPr>
            <p:nvPr/>
          </p:nvSpPr>
          <p:spPr bwMode="auto">
            <a:xfrm>
              <a:off x="2461" y="1903"/>
              <a:ext cx="1127" cy="488"/>
            </a:xfrm>
            <a:custGeom>
              <a:avLst/>
              <a:gdLst>
                <a:gd name="T0" fmla="*/ 0 w 1127"/>
                <a:gd name="T1" fmla="*/ 0 h 488"/>
                <a:gd name="T2" fmla="*/ 1127 w 1127"/>
                <a:gd name="T3" fmla="*/ 0 h 488"/>
                <a:gd name="T4" fmla="*/ 1127 w 1127"/>
                <a:gd name="T5" fmla="*/ 488 h 488"/>
                <a:gd name="T6" fmla="*/ 0 60000 65536"/>
                <a:gd name="T7" fmla="*/ 0 60000 65536"/>
                <a:gd name="T8" fmla="*/ 0 60000 65536"/>
                <a:gd name="T9" fmla="*/ 0 w 1127"/>
                <a:gd name="T10" fmla="*/ 0 h 488"/>
                <a:gd name="T11" fmla="*/ 1127 w 1127"/>
                <a:gd name="T12" fmla="*/ 488 h 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7" h="488">
                  <a:moveTo>
                    <a:pt x="0" y="0"/>
                  </a:moveTo>
                  <a:lnTo>
                    <a:pt x="1127" y="0"/>
                  </a:lnTo>
                  <a:lnTo>
                    <a:pt x="1127" y="488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1" name="Freeform 8"/>
            <p:cNvSpPr>
              <a:spLocks noChangeArrowheads="1"/>
            </p:cNvSpPr>
            <p:nvPr/>
          </p:nvSpPr>
          <p:spPr bwMode="auto">
            <a:xfrm>
              <a:off x="2494" y="1640"/>
              <a:ext cx="2731" cy="782"/>
            </a:xfrm>
            <a:custGeom>
              <a:avLst/>
              <a:gdLst>
                <a:gd name="T0" fmla="*/ 0 w 2731"/>
                <a:gd name="T1" fmla="*/ 0 h 782"/>
                <a:gd name="T2" fmla="*/ 2731 w 2731"/>
                <a:gd name="T3" fmla="*/ 0 h 782"/>
                <a:gd name="T4" fmla="*/ 2731 w 2731"/>
                <a:gd name="T5" fmla="*/ 782 h 782"/>
                <a:gd name="T6" fmla="*/ 0 60000 65536"/>
                <a:gd name="T7" fmla="*/ 0 60000 65536"/>
                <a:gd name="T8" fmla="*/ 0 60000 65536"/>
                <a:gd name="T9" fmla="*/ 0 w 2731"/>
                <a:gd name="T10" fmla="*/ 0 h 782"/>
                <a:gd name="T11" fmla="*/ 2731 w 2731"/>
                <a:gd name="T12" fmla="*/ 782 h 7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1" h="782">
                  <a:moveTo>
                    <a:pt x="0" y="0"/>
                  </a:moveTo>
                  <a:lnTo>
                    <a:pt x="2731" y="0"/>
                  </a:lnTo>
                  <a:lnTo>
                    <a:pt x="2731" y="782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2" name="Freeform 9"/>
            <p:cNvSpPr>
              <a:spLocks noChangeArrowheads="1"/>
            </p:cNvSpPr>
            <p:nvPr/>
          </p:nvSpPr>
          <p:spPr bwMode="auto">
            <a:xfrm>
              <a:off x="2478" y="1553"/>
              <a:ext cx="2931" cy="1463"/>
            </a:xfrm>
            <a:custGeom>
              <a:avLst/>
              <a:gdLst>
                <a:gd name="T0" fmla="*/ 0 w 2931"/>
                <a:gd name="T1" fmla="*/ 0 h 1463"/>
                <a:gd name="T2" fmla="*/ 2931 w 2931"/>
                <a:gd name="T3" fmla="*/ 0 h 1463"/>
                <a:gd name="T4" fmla="*/ 2931 w 2931"/>
                <a:gd name="T5" fmla="*/ 1463 h 1463"/>
                <a:gd name="T6" fmla="*/ 2233 w 2931"/>
                <a:gd name="T7" fmla="*/ 1463 h 1463"/>
                <a:gd name="T8" fmla="*/ 2233 w 2931"/>
                <a:gd name="T9" fmla="*/ 1375 h 14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31"/>
                <a:gd name="T16" fmla="*/ 0 h 1463"/>
                <a:gd name="T17" fmla="*/ 2931 w 2931"/>
                <a:gd name="T18" fmla="*/ 1463 h 14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31" h="1463">
                  <a:moveTo>
                    <a:pt x="0" y="0"/>
                  </a:moveTo>
                  <a:lnTo>
                    <a:pt x="2931" y="0"/>
                  </a:lnTo>
                  <a:lnTo>
                    <a:pt x="2931" y="1463"/>
                  </a:lnTo>
                  <a:lnTo>
                    <a:pt x="2233" y="1463"/>
                  </a:lnTo>
                  <a:lnTo>
                    <a:pt x="2233" y="1375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3" name="Freeform 10"/>
            <p:cNvSpPr>
              <a:spLocks noChangeArrowheads="1"/>
            </p:cNvSpPr>
            <p:nvPr/>
          </p:nvSpPr>
          <p:spPr bwMode="auto">
            <a:xfrm>
              <a:off x="1568" y="1233"/>
              <a:ext cx="929" cy="1551"/>
            </a:xfrm>
            <a:custGeom>
              <a:avLst/>
              <a:gdLst>
                <a:gd name="T0" fmla="*/ 829 w 929"/>
                <a:gd name="T1" fmla="*/ 144 h 1551"/>
                <a:gd name="T2" fmla="*/ 929 w 929"/>
                <a:gd name="T3" fmla="*/ 144 h 1551"/>
                <a:gd name="T4" fmla="*/ 929 w 929"/>
                <a:gd name="T5" fmla="*/ 0 h 1551"/>
                <a:gd name="T6" fmla="*/ 0 w 929"/>
                <a:gd name="T7" fmla="*/ 0 h 1551"/>
                <a:gd name="T8" fmla="*/ 0 w 929"/>
                <a:gd name="T9" fmla="*/ 1551 h 1551"/>
                <a:gd name="T10" fmla="*/ 730 w 929"/>
                <a:gd name="T11" fmla="*/ 1551 h 1551"/>
                <a:gd name="T12" fmla="*/ 730 w 929"/>
                <a:gd name="T13" fmla="*/ 1485 h 15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29"/>
                <a:gd name="T22" fmla="*/ 0 h 1551"/>
                <a:gd name="T23" fmla="*/ 929 w 929"/>
                <a:gd name="T24" fmla="*/ 1551 h 15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29" h="1551">
                  <a:moveTo>
                    <a:pt x="829" y="144"/>
                  </a:moveTo>
                  <a:lnTo>
                    <a:pt x="929" y="144"/>
                  </a:lnTo>
                  <a:lnTo>
                    <a:pt x="929" y="0"/>
                  </a:lnTo>
                  <a:lnTo>
                    <a:pt x="0" y="0"/>
                  </a:lnTo>
                  <a:lnTo>
                    <a:pt x="0" y="1551"/>
                  </a:lnTo>
                  <a:lnTo>
                    <a:pt x="730" y="1551"/>
                  </a:lnTo>
                  <a:lnTo>
                    <a:pt x="730" y="1485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4" name="Freeform 11"/>
            <p:cNvSpPr>
              <a:spLocks noChangeArrowheads="1"/>
            </p:cNvSpPr>
            <p:nvPr/>
          </p:nvSpPr>
          <p:spPr bwMode="auto">
            <a:xfrm>
              <a:off x="2499" y="1728"/>
              <a:ext cx="1175" cy="1698"/>
            </a:xfrm>
            <a:custGeom>
              <a:avLst/>
              <a:gdLst>
                <a:gd name="T0" fmla="*/ 0 w 1175"/>
                <a:gd name="T1" fmla="*/ 0 h 1698"/>
                <a:gd name="T2" fmla="*/ 838 w 1175"/>
                <a:gd name="T3" fmla="*/ 0 h 1698"/>
                <a:gd name="T4" fmla="*/ 838 w 1175"/>
                <a:gd name="T5" fmla="*/ 1698 h 1698"/>
                <a:gd name="T6" fmla="*/ 1175 w 1175"/>
                <a:gd name="T7" fmla="*/ 1698 h 1698"/>
                <a:gd name="T8" fmla="*/ 1175 w 1175"/>
                <a:gd name="T9" fmla="*/ 1610 h 16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5"/>
                <a:gd name="T16" fmla="*/ 0 h 1698"/>
                <a:gd name="T17" fmla="*/ 1175 w 1175"/>
                <a:gd name="T18" fmla="*/ 1698 h 16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5" h="1698">
                  <a:moveTo>
                    <a:pt x="0" y="0"/>
                  </a:moveTo>
                  <a:lnTo>
                    <a:pt x="838" y="0"/>
                  </a:lnTo>
                  <a:lnTo>
                    <a:pt x="838" y="1698"/>
                  </a:lnTo>
                  <a:lnTo>
                    <a:pt x="1175" y="1698"/>
                  </a:lnTo>
                  <a:lnTo>
                    <a:pt x="1175" y="1610"/>
                  </a:lnTo>
                </a:path>
              </a:pathLst>
            </a:custGeom>
            <a:noFill/>
            <a:ln w="1908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5" name="Freeform 12"/>
            <p:cNvSpPr>
              <a:spLocks noChangeArrowheads="1"/>
            </p:cNvSpPr>
            <p:nvPr/>
          </p:nvSpPr>
          <p:spPr bwMode="auto">
            <a:xfrm>
              <a:off x="2407" y="1991"/>
              <a:ext cx="450" cy="66"/>
            </a:xfrm>
            <a:custGeom>
              <a:avLst/>
              <a:gdLst>
                <a:gd name="T0" fmla="*/ 0 w 450"/>
                <a:gd name="T1" fmla="*/ 0 h 66"/>
                <a:gd name="T2" fmla="*/ 450 w 450"/>
                <a:gd name="T3" fmla="*/ 0 h 66"/>
                <a:gd name="T4" fmla="*/ 450 w 450"/>
                <a:gd name="T5" fmla="*/ 66 h 66"/>
                <a:gd name="T6" fmla="*/ 0 60000 65536"/>
                <a:gd name="T7" fmla="*/ 0 60000 65536"/>
                <a:gd name="T8" fmla="*/ 0 60000 65536"/>
                <a:gd name="T9" fmla="*/ 0 w 450"/>
                <a:gd name="T10" fmla="*/ 0 h 66"/>
                <a:gd name="T11" fmla="*/ 450 w 450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0" h="66">
                  <a:moveTo>
                    <a:pt x="0" y="0"/>
                  </a:moveTo>
                  <a:lnTo>
                    <a:pt x="450" y="0"/>
                  </a:lnTo>
                  <a:lnTo>
                    <a:pt x="450" y="66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6" name="Line 13"/>
            <p:cNvSpPr>
              <a:spLocks noChangeShapeType="1"/>
            </p:cNvSpPr>
            <p:nvPr/>
          </p:nvSpPr>
          <p:spPr bwMode="auto">
            <a:xfrm flipH="1">
              <a:off x="1634" y="2661"/>
              <a:ext cx="589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7" name="Line 14"/>
            <p:cNvSpPr>
              <a:spLocks noChangeShapeType="1"/>
            </p:cNvSpPr>
            <p:nvPr/>
          </p:nvSpPr>
          <p:spPr bwMode="auto">
            <a:xfrm>
              <a:off x="2461" y="3018"/>
              <a:ext cx="476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68" name="Freeform 15"/>
            <p:cNvSpPr>
              <a:spLocks noChangeArrowheads="1"/>
            </p:cNvSpPr>
            <p:nvPr/>
          </p:nvSpPr>
          <p:spPr bwMode="auto">
            <a:xfrm>
              <a:off x="2111" y="2313"/>
              <a:ext cx="111" cy="87"/>
            </a:xfrm>
            <a:custGeom>
              <a:avLst/>
              <a:gdLst>
                <a:gd name="T0" fmla="*/ 111 w 111"/>
                <a:gd name="T1" fmla="*/ 85 h 87"/>
                <a:gd name="T2" fmla="*/ 0 w 111"/>
                <a:gd name="T3" fmla="*/ 87 h 87"/>
                <a:gd name="T4" fmla="*/ 0 w 111"/>
                <a:gd name="T5" fmla="*/ 0 h 87"/>
                <a:gd name="T6" fmla="*/ 0 60000 65536"/>
                <a:gd name="T7" fmla="*/ 0 60000 65536"/>
                <a:gd name="T8" fmla="*/ 0 60000 65536"/>
                <a:gd name="T9" fmla="*/ 0 w 111"/>
                <a:gd name="T10" fmla="*/ 0 h 87"/>
                <a:gd name="T11" fmla="*/ 111 w 111"/>
                <a:gd name="T12" fmla="*/ 87 h 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" h="87">
                  <a:moveTo>
                    <a:pt x="111" y="85"/>
                  </a:moveTo>
                  <a:lnTo>
                    <a:pt x="0" y="87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69" name="Freeform 16"/>
            <p:cNvSpPr>
              <a:spLocks noChangeArrowheads="1"/>
            </p:cNvSpPr>
            <p:nvPr/>
          </p:nvSpPr>
          <p:spPr bwMode="auto">
            <a:xfrm>
              <a:off x="3783" y="2647"/>
              <a:ext cx="87" cy="459"/>
            </a:xfrm>
            <a:custGeom>
              <a:avLst/>
              <a:gdLst>
                <a:gd name="T0" fmla="*/ 87 w 87"/>
                <a:gd name="T1" fmla="*/ 0 h 459"/>
                <a:gd name="T2" fmla="*/ 87 w 87"/>
                <a:gd name="T3" fmla="*/ 459 h 459"/>
                <a:gd name="T4" fmla="*/ 0 w 87"/>
                <a:gd name="T5" fmla="*/ 459 h 459"/>
                <a:gd name="T6" fmla="*/ 0 60000 65536"/>
                <a:gd name="T7" fmla="*/ 0 60000 65536"/>
                <a:gd name="T8" fmla="*/ 0 60000 65536"/>
                <a:gd name="T9" fmla="*/ 0 w 87"/>
                <a:gd name="T10" fmla="*/ 0 h 459"/>
                <a:gd name="T11" fmla="*/ 87 w 87"/>
                <a:gd name="T12" fmla="*/ 459 h 4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7" h="459">
                  <a:moveTo>
                    <a:pt x="87" y="0"/>
                  </a:moveTo>
                  <a:lnTo>
                    <a:pt x="87" y="459"/>
                  </a:lnTo>
                  <a:lnTo>
                    <a:pt x="0" y="459"/>
                  </a:lnTo>
                </a:path>
              </a:pathLst>
            </a:custGeom>
            <a:noFill/>
            <a:ln w="1908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0" name="Freeform 17"/>
            <p:cNvSpPr>
              <a:spLocks noChangeArrowheads="1"/>
            </p:cNvSpPr>
            <p:nvPr/>
          </p:nvSpPr>
          <p:spPr bwMode="auto">
            <a:xfrm>
              <a:off x="4140" y="1465"/>
              <a:ext cx="178" cy="860"/>
            </a:xfrm>
            <a:custGeom>
              <a:avLst/>
              <a:gdLst>
                <a:gd name="T0" fmla="*/ 0 w 178"/>
                <a:gd name="T1" fmla="*/ 860 h 860"/>
                <a:gd name="T2" fmla="*/ 88 w 178"/>
                <a:gd name="T3" fmla="*/ 860 h 860"/>
                <a:gd name="T4" fmla="*/ 88 w 178"/>
                <a:gd name="T5" fmla="*/ 0 h 860"/>
                <a:gd name="T6" fmla="*/ 178 w 178"/>
                <a:gd name="T7" fmla="*/ 0 h 8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8"/>
                <a:gd name="T13" fmla="*/ 0 h 860"/>
                <a:gd name="T14" fmla="*/ 178 w 178"/>
                <a:gd name="T15" fmla="*/ 860 h 8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8" h="860">
                  <a:moveTo>
                    <a:pt x="0" y="860"/>
                  </a:moveTo>
                  <a:lnTo>
                    <a:pt x="88" y="860"/>
                  </a:lnTo>
                  <a:lnTo>
                    <a:pt x="88" y="0"/>
                  </a:lnTo>
                  <a:lnTo>
                    <a:pt x="178" y="0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1" name="Freeform 18"/>
            <p:cNvSpPr>
              <a:spLocks noChangeArrowheads="1"/>
            </p:cNvSpPr>
            <p:nvPr/>
          </p:nvSpPr>
          <p:spPr bwMode="auto">
            <a:xfrm>
              <a:off x="4150" y="1368"/>
              <a:ext cx="168" cy="97"/>
            </a:xfrm>
            <a:custGeom>
              <a:avLst/>
              <a:gdLst>
                <a:gd name="T0" fmla="*/ 0 w 168"/>
                <a:gd name="T1" fmla="*/ 97 h 97"/>
                <a:gd name="T2" fmla="*/ 2 w 168"/>
                <a:gd name="T3" fmla="*/ 0 h 97"/>
                <a:gd name="T4" fmla="*/ 168 w 168"/>
                <a:gd name="T5" fmla="*/ 0 h 97"/>
                <a:gd name="T6" fmla="*/ 0 60000 65536"/>
                <a:gd name="T7" fmla="*/ 0 60000 65536"/>
                <a:gd name="T8" fmla="*/ 0 60000 65536"/>
                <a:gd name="T9" fmla="*/ 0 w 168"/>
                <a:gd name="T10" fmla="*/ 0 h 97"/>
                <a:gd name="T11" fmla="*/ 168 w 168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97">
                  <a:moveTo>
                    <a:pt x="0" y="97"/>
                  </a:moveTo>
                  <a:lnTo>
                    <a:pt x="2" y="0"/>
                  </a:lnTo>
                  <a:lnTo>
                    <a:pt x="168" y="0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2" name="Freeform 19"/>
            <p:cNvSpPr>
              <a:spLocks noChangeArrowheads="1"/>
            </p:cNvSpPr>
            <p:nvPr/>
          </p:nvSpPr>
          <p:spPr bwMode="auto">
            <a:xfrm>
              <a:off x="4500" y="1174"/>
              <a:ext cx="133" cy="244"/>
            </a:xfrm>
            <a:custGeom>
              <a:avLst/>
              <a:gdLst>
                <a:gd name="T0" fmla="*/ 130 w 133"/>
                <a:gd name="T1" fmla="*/ 0 h 244"/>
                <a:gd name="T2" fmla="*/ 133 w 133"/>
                <a:gd name="T3" fmla="*/ 244 h 244"/>
                <a:gd name="T4" fmla="*/ 0 w 133"/>
                <a:gd name="T5" fmla="*/ 244 h 244"/>
                <a:gd name="T6" fmla="*/ 0 60000 65536"/>
                <a:gd name="T7" fmla="*/ 0 60000 65536"/>
                <a:gd name="T8" fmla="*/ 0 60000 65536"/>
                <a:gd name="T9" fmla="*/ 0 w 133"/>
                <a:gd name="T10" fmla="*/ 0 h 244"/>
                <a:gd name="T11" fmla="*/ 133 w 133"/>
                <a:gd name="T12" fmla="*/ 244 h 2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3" h="244">
                  <a:moveTo>
                    <a:pt x="130" y="0"/>
                  </a:moveTo>
                  <a:lnTo>
                    <a:pt x="133" y="244"/>
                  </a:lnTo>
                  <a:lnTo>
                    <a:pt x="0" y="244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3" name="Freeform 20"/>
            <p:cNvSpPr>
              <a:spLocks noChangeArrowheads="1"/>
            </p:cNvSpPr>
            <p:nvPr/>
          </p:nvSpPr>
          <p:spPr bwMode="auto">
            <a:xfrm>
              <a:off x="4315" y="1342"/>
              <a:ext cx="185" cy="151"/>
            </a:xfrm>
            <a:custGeom>
              <a:avLst/>
              <a:gdLst>
                <a:gd name="T0" fmla="*/ 109 w 185"/>
                <a:gd name="T1" fmla="*/ 151 h 151"/>
                <a:gd name="T2" fmla="*/ 124 w 185"/>
                <a:gd name="T3" fmla="*/ 151 h 151"/>
                <a:gd name="T4" fmla="*/ 135 w 185"/>
                <a:gd name="T5" fmla="*/ 147 h 151"/>
                <a:gd name="T6" fmla="*/ 145 w 185"/>
                <a:gd name="T7" fmla="*/ 144 h 151"/>
                <a:gd name="T8" fmla="*/ 154 w 185"/>
                <a:gd name="T9" fmla="*/ 137 h 151"/>
                <a:gd name="T10" fmla="*/ 164 w 185"/>
                <a:gd name="T11" fmla="*/ 130 h 151"/>
                <a:gd name="T12" fmla="*/ 171 w 185"/>
                <a:gd name="T13" fmla="*/ 121 h 151"/>
                <a:gd name="T14" fmla="*/ 178 w 185"/>
                <a:gd name="T15" fmla="*/ 111 h 151"/>
                <a:gd name="T16" fmla="*/ 183 w 185"/>
                <a:gd name="T17" fmla="*/ 99 h 151"/>
                <a:gd name="T18" fmla="*/ 185 w 185"/>
                <a:gd name="T19" fmla="*/ 87 h 151"/>
                <a:gd name="T20" fmla="*/ 185 w 185"/>
                <a:gd name="T21" fmla="*/ 76 h 151"/>
                <a:gd name="T22" fmla="*/ 185 w 185"/>
                <a:gd name="T23" fmla="*/ 64 h 151"/>
                <a:gd name="T24" fmla="*/ 183 w 185"/>
                <a:gd name="T25" fmla="*/ 52 h 151"/>
                <a:gd name="T26" fmla="*/ 178 w 185"/>
                <a:gd name="T27" fmla="*/ 40 h 151"/>
                <a:gd name="T28" fmla="*/ 171 w 185"/>
                <a:gd name="T29" fmla="*/ 31 h 151"/>
                <a:gd name="T30" fmla="*/ 164 w 185"/>
                <a:gd name="T31" fmla="*/ 21 h 151"/>
                <a:gd name="T32" fmla="*/ 154 w 185"/>
                <a:gd name="T33" fmla="*/ 14 h 151"/>
                <a:gd name="T34" fmla="*/ 145 w 185"/>
                <a:gd name="T35" fmla="*/ 7 h 151"/>
                <a:gd name="T36" fmla="*/ 135 w 185"/>
                <a:gd name="T37" fmla="*/ 2 h 151"/>
                <a:gd name="T38" fmla="*/ 124 w 185"/>
                <a:gd name="T39" fmla="*/ 0 h 151"/>
                <a:gd name="T40" fmla="*/ 112 w 185"/>
                <a:gd name="T41" fmla="*/ 0 h 151"/>
                <a:gd name="T42" fmla="*/ 0 w 185"/>
                <a:gd name="T43" fmla="*/ 0 h 151"/>
                <a:gd name="T44" fmla="*/ 0 w 185"/>
                <a:gd name="T45" fmla="*/ 151 h 151"/>
                <a:gd name="T46" fmla="*/ 112 w 185"/>
                <a:gd name="T47" fmla="*/ 151 h 151"/>
                <a:gd name="T48" fmla="*/ 112 w 185"/>
                <a:gd name="T49" fmla="*/ 151 h 151"/>
                <a:gd name="T50" fmla="*/ 109 w 185"/>
                <a:gd name="T51" fmla="*/ 151 h 151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85"/>
                <a:gd name="T79" fmla="*/ 0 h 151"/>
                <a:gd name="T80" fmla="*/ 185 w 185"/>
                <a:gd name="T81" fmla="*/ 151 h 151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85" h="151">
                  <a:moveTo>
                    <a:pt x="109" y="151"/>
                  </a:moveTo>
                  <a:lnTo>
                    <a:pt x="124" y="151"/>
                  </a:lnTo>
                  <a:lnTo>
                    <a:pt x="135" y="147"/>
                  </a:lnTo>
                  <a:lnTo>
                    <a:pt x="145" y="144"/>
                  </a:lnTo>
                  <a:lnTo>
                    <a:pt x="154" y="137"/>
                  </a:lnTo>
                  <a:lnTo>
                    <a:pt x="164" y="130"/>
                  </a:lnTo>
                  <a:lnTo>
                    <a:pt x="171" y="121"/>
                  </a:lnTo>
                  <a:lnTo>
                    <a:pt x="178" y="111"/>
                  </a:lnTo>
                  <a:lnTo>
                    <a:pt x="183" y="99"/>
                  </a:lnTo>
                  <a:lnTo>
                    <a:pt x="185" y="87"/>
                  </a:lnTo>
                  <a:lnTo>
                    <a:pt x="185" y="76"/>
                  </a:lnTo>
                  <a:lnTo>
                    <a:pt x="185" y="64"/>
                  </a:lnTo>
                  <a:lnTo>
                    <a:pt x="183" y="52"/>
                  </a:lnTo>
                  <a:lnTo>
                    <a:pt x="178" y="40"/>
                  </a:lnTo>
                  <a:lnTo>
                    <a:pt x="171" y="31"/>
                  </a:lnTo>
                  <a:lnTo>
                    <a:pt x="164" y="21"/>
                  </a:lnTo>
                  <a:lnTo>
                    <a:pt x="154" y="14"/>
                  </a:lnTo>
                  <a:lnTo>
                    <a:pt x="145" y="7"/>
                  </a:lnTo>
                  <a:lnTo>
                    <a:pt x="135" y="2"/>
                  </a:lnTo>
                  <a:lnTo>
                    <a:pt x="124" y="0"/>
                  </a:lnTo>
                  <a:lnTo>
                    <a:pt x="112" y="0"/>
                  </a:lnTo>
                  <a:lnTo>
                    <a:pt x="0" y="0"/>
                  </a:lnTo>
                  <a:lnTo>
                    <a:pt x="0" y="151"/>
                  </a:lnTo>
                  <a:lnTo>
                    <a:pt x="112" y="151"/>
                  </a:lnTo>
                  <a:lnTo>
                    <a:pt x="109" y="1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4" name="Freeform 21"/>
            <p:cNvSpPr>
              <a:spLocks noChangeArrowheads="1"/>
            </p:cNvSpPr>
            <p:nvPr/>
          </p:nvSpPr>
          <p:spPr bwMode="auto">
            <a:xfrm>
              <a:off x="4315" y="1342"/>
              <a:ext cx="185" cy="151"/>
            </a:xfrm>
            <a:custGeom>
              <a:avLst/>
              <a:gdLst>
                <a:gd name="T0" fmla="*/ 109 w 185"/>
                <a:gd name="T1" fmla="*/ 151 h 151"/>
                <a:gd name="T2" fmla="*/ 124 w 185"/>
                <a:gd name="T3" fmla="*/ 151 h 151"/>
                <a:gd name="T4" fmla="*/ 135 w 185"/>
                <a:gd name="T5" fmla="*/ 147 h 151"/>
                <a:gd name="T6" fmla="*/ 145 w 185"/>
                <a:gd name="T7" fmla="*/ 144 h 151"/>
                <a:gd name="T8" fmla="*/ 154 w 185"/>
                <a:gd name="T9" fmla="*/ 137 h 151"/>
                <a:gd name="T10" fmla="*/ 164 w 185"/>
                <a:gd name="T11" fmla="*/ 130 h 151"/>
                <a:gd name="T12" fmla="*/ 171 w 185"/>
                <a:gd name="T13" fmla="*/ 121 h 151"/>
                <a:gd name="T14" fmla="*/ 178 w 185"/>
                <a:gd name="T15" fmla="*/ 111 h 151"/>
                <a:gd name="T16" fmla="*/ 183 w 185"/>
                <a:gd name="T17" fmla="*/ 99 h 151"/>
                <a:gd name="T18" fmla="*/ 185 w 185"/>
                <a:gd name="T19" fmla="*/ 87 h 151"/>
                <a:gd name="T20" fmla="*/ 185 w 185"/>
                <a:gd name="T21" fmla="*/ 76 h 151"/>
                <a:gd name="T22" fmla="*/ 185 w 185"/>
                <a:gd name="T23" fmla="*/ 64 h 151"/>
                <a:gd name="T24" fmla="*/ 183 w 185"/>
                <a:gd name="T25" fmla="*/ 52 h 151"/>
                <a:gd name="T26" fmla="*/ 178 w 185"/>
                <a:gd name="T27" fmla="*/ 40 h 151"/>
                <a:gd name="T28" fmla="*/ 171 w 185"/>
                <a:gd name="T29" fmla="*/ 31 h 151"/>
                <a:gd name="T30" fmla="*/ 164 w 185"/>
                <a:gd name="T31" fmla="*/ 21 h 151"/>
                <a:gd name="T32" fmla="*/ 154 w 185"/>
                <a:gd name="T33" fmla="*/ 14 h 151"/>
                <a:gd name="T34" fmla="*/ 145 w 185"/>
                <a:gd name="T35" fmla="*/ 7 h 151"/>
                <a:gd name="T36" fmla="*/ 135 w 185"/>
                <a:gd name="T37" fmla="*/ 2 h 151"/>
                <a:gd name="T38" fmla="*/ 124 w 185"/>
                <a:gd name="T39" fmla="*/ 0 h 151"/>
                <a:gd name="T40" fmla="*/ 112 w 185"/>
                <a:gd name="T41" fmla="*/ 0 h 151"/>
                <a:gd name="T42" fmla="*/ 0 w 185"/>
                <a:gd name="T43" fmla="*/ 0 h 151"/>
                <a:gd name="T44" fmla="*/ 0 w 185"/>
                <a:gd name="T45" fmla="*/ 151 h 151"/>
                <a:gd name="T46" fmla="*/ 112 w 185"/>
                <a:gd name="T47" fmla="*/ 151 h 151"/>
                <a:gd name="T48" fmla="*/ 112 w 185"/>
                <a:gd name="T49" fmla="*/ 151 h 15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85"/>
                <a:gd name="T76" fmla="*/ 0 h 151"/>
                <a:gd name="T77" fmla="*/ 185 w 185"/>
                <a:gd name="T78" fmla="*/ 151 h 15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85" h="151">
                  <a:moveTo>
                    <a:pt x="109" y="151"/>
                  </a:moveTo>
                  <a:lnTo>
                    <a:pt x="124" y="151"/>
                  </a:lnTo>
                  <a:lnTo>
                    <a:pt x="135" y="147"/>
                  </a:lnTo>
                  <a:lnTo>
                    <a:pt x="145" y="144"/>
                  </a:lnTo>
                  <a:lnTo>
                    <a:pt x="154" y="137"/>
                  </a:lnTo>
                  <a:lnTo>
                    <a:pt x="164" y="130"/>
                  </a:lnTo>
                  <a:lnTo>
                    <a:pt x="171" y="121"/>
                  </a:lnTo>
                  <a:lnTo>
                    <a:pt x="178" y="111"/>
                  </a:lnTo>
                  <a:lnTo>
                    <a:pt x="183" y="99"/>
                  </a:lnTo>
                  <a:lnTo>
                    <a:pt x="185" y="87"/>
                  </a:lnTo>
                  <a:lnTo>
                    <a:pt x="185" y="76"/>
                  </a:lnTo>
                  <a:lnTo>
                    <a:pt x="185" y="64"/>
                  </a:lnTo>
                  <a:lnTo>
                    <a:pt x="183" y="52"/>
                  </a:lnTo>
                  <a:lnTo>
                    <a:pt x="178" y="40"/>
                  </a:lnTo>
                  <a:lnTo>
                    <a:pt x="171" y="31"/>
                  </a:lnTo>
                  <a:lnTo>
                    <a:pt x="164" y="21"/>
                  </a:lnTo>
                  <a:lnTo>
                    <a:pt x="154" y="14"/>
                  </a:lnTo>
                  <a:lnTo>
                    <a:pt x="145" y="7"/>
                  </a:lnTo>
                  <a:lnTo>
                    <a:pt x="135" y="2"/>
                  </a:lnTo>
                  <a:lnTo>
                    <a:pt x="124" y="0"/>
                  </a:lnTo>
                  <a:lnTo>
                    <a:pt x="112" y="0"/>
                  </a:lnTo>
                  <a:lnTo>
                    <a:pt x="0" y="0"/>
                  </a:lnTo>
                  <a:lnTo>
                    <a:pt x="0" y="151"/>
                  </a:lnTo>
                  <a:lnTo>
                    <a:pt x="112" y="151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5" name="Freeform 22"/>
            <p:cNvSpPr>
              <a:spLocks noChangeArrowheads="1"/>
            </p:cNvSpPr>
            <p:nvPr/>
          </p:nvSpPr>
          <p:spPr bwMode="auto">
            <a:xfrm>
              <a:off x="2208" y="2384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6 h 31"/>
                <a:gd name="T6" fmla="*/ 0 w 31"/>
                <a:gd name="T7" fmla="*/ 2 h 31"/>
                <a:gd name="T8" fmla="*/ 0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6" name="Freeform 23"/>
            <p:cNvSpPr>
              <a:spLocks noChangeArrowheads="1"/>
            </p:cNvSpPr>
            <p:nvPr/>
          </p:nvSpPr>
          <p:spPr bwMode="auto">
            <a:xfrm>
              <a:off x="2208" y="2647"/>
              <a:ext cx="31" cy="30"/>
            </a:xfrm>
            <a:custGeom>
              <a:avLst/>
              <a:gdLst>
                <a:gd name="T0" fmla="*/ 0 w 31"/>
                <a:gd name="T1" fmla="*/ 0 h 30"/>
                <a:gd name="T2" fmla="*/ 0 w 31"/>
                <a:gd name="T3" fmla="*/ 30 h 30"/>
                <a:gd name="T4" fmla="*/ 31 w 31"/>
                <a:gd name="T5" fmla="*/ 16 h 30"/>
                <a:gd name="T6" fmla="*/ 0 w 31"/>
                <a:gd name="T7" fmla="*/ 2 h 30"/>
                <a:gd name="T8" fmla="*/ 0 w 31"/>
                <a:gd name="T9" fmla="*/ 2 h 30"/>
                <a:gd name="T10" fmla="*/ 0 w 31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0"/>
                <a:gd name="T20" fmla="*/ 31 w 31"/>
                <a:gd name="T21" fmla="*/ 30 h 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0">
                  <a:moveTo>
                    <a:pt x="0" y="0"/>
                  </a:moveTo>
                  <a:lnTo>
                    <a:pt x="0" y="30"/>
                  </a:lnTo>
                  <a:lnTo>
                    <a:pt x="31" y="1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7" name="Freeform 24"/>
            <p:cNvSpPr>
              <a:spLocks noChangeArrowheads="1"/>
            </p:cNvSpPr>
            <p:nvPr/>
          </p:nvSpPr>
          <p:spPr bwMode="auto">
            <a:xfrm>
              <a:off x="2492" y="2471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7 h 31"/>
                <a:gd name="T6" fmla="*/ 2 w 31"/>
                <a:gd name="T7" fmla="*/ 3 h 31"/>
                <a:gd name="T8" fmla="*/ 2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7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78" name="Line 25"/>
            <p:cNvSpPr>
              <a:spLocks noChangeShapeType="1"/>
            </p:cNvSpPr>
            <p:nvPr/>
          </p:nvSpPr>
          <p:spPr bwMode="auto">
            <a:xfrm flipH="1" flipV="1">
              <a:off x="2844" y="2979"/>
              <a:ext cx="44" cy="78"/>
            </a:xfrm>
            <a:prstGeom prst="line">
              <a:avLst/>
            </a:prstGeom>
            <a:noFill/>
            <a:ln w="11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79" name="Freeform 26"/>
            <p:cNvSpPr>
              <a:spLocks noChangeArrowheads="1"/>
            </p:cNvSpPr>
            <p:nvPr/>
          </p:nvSpPr>
          <p:spPr bwMode="auto">
            <a:xfrm>
              <a:off x="472" y="2029"/>
              <a:ext cx="111" cy="305"/>
            </a:xfrm>
            <a:custGeom>
              <a:avLst/>
              <a:gdLst>
                <a:gd name="T0" fmla="*/ 109 w 111"/>
                <a:gd name="T1" fmla="*/ 305 h 305"/>
                <a:gd name="T2" fmla="*/ 111 w 111"/>
                <a:gd name="T3" fmla="*/ 0 h 305"/>
                <a:gd name="T4" fmla="*/ 0 w 111"/>
                <a:gd name="T5" fmla="*/ 0 h 305"/>
                <a:gd name="T6" fmla="*/ 0 w 111"/>
                <a:gd name="T7" fmla="*/ 305 h 305"/>
                <a:gd name="T8" fmla="*/ 111 w 111"/>
                <a:gd name="T9" fmla="*/ 305 h 305"/>
                <a:gd name="T10" fmla="*/ 111 w 111"/>
                <a:gd name="T11" fmla="*/ 305 h 305"/>
                <a:gd name="T12" fmla="*/ 109 w 111"/>
                <a:gd name="T13" fmla="*/ 305 h 3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1"/>
                <a:gd name="T22" fmla="*/ 0 h 305"/>
                <a:gd name="T23" fmla="*/ 111 w 111"/>
                <a:gd name="T24" fmla="*/ 305 h 30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1" h="305">
                  <a:moveTo>
                    <a:pt x="109" y="305"/>
                  </a:moveTo>
                  <a:lnTo>
                    <a:pt x="111" y="0"/>
                  </a:lnTo>
                  <a:lnTo>
                    <a:pt x="0" y="0"/>
                  </a:lnTo>
                  <a:lnTo>
                    <a:pt x="0" y="305"/>
                  </a:lnTo>
                  <a:lnTo>
                    <a:pt x="111" y="305"/>
                  </a:lnTo>
                  <a:lnTo>
                    <a:pt x="109" y="3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0" name="Freeform 27"/>
            <p:cNvSpPr>
              <a:spLocks noChangeArrowheads="1"/>
            </p:cNvSpPr>
            <p:nvPr/>
          </p:nvSpPr>
          <p:spPr bwMode="auto">
            <a:xfrm>
              <a:off x="472" y="2029"/>
              <a:ext cx="111" cy="305"/>
            </a:xfrm>
            <a:custGeom>
              <a:avLst/>
              <a:gdLst>
                <a:gd name="T0" fmla="*/ 109 w 111"/>
                <a:gd name="T1" fmla="*/ 305 h 305"/>
                <a:gd name="T2" fmla="*/ 111 w 111"/>
                <a:gd name="T3" fmla="*/ 0 h 305"/>
                <a:gd name="T4" fmla="*/ 0 w 111"/>
                <a:gd name="T5" fmla="*/ 0 h 305"/>
                <a:gd name="T6" fmla="*/ 0 w 111"/>
                <a:gd name="T7" fmla="*/ 305 h 305"/>
                <a:gd name="T8" fmla="*/ 111 w 111"/>
                <a:gd name="T9" fmla="*/ 305 h 305"/>
                <a:gd name="T10" fmla="*/ 111 w 111"/>
                <a:gd name="T11" fmla="*/ 305 h 3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1"/>
                <a:gd name="T19" fmla="*/ 0 h 305"/>
                <a:gd name="T20" fmla="*/ 111 w 111"/>
                <a:gd name="T21" fmla="*/ 305 h 3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1" h="305">
                  <a:moveTo>
                    <a:pt x="109" y="305"/>
                  </a:moveTo>
                  <a:lnTo>
                    <a:pt x="111" y="0"/>
                  </a:lnTo>
                  <a:lnTo>
                    <a:pt x="0" y="0"/>
                  </a:lnTo>
                  <a:lnTo>
                    <a:pt x="0" y="305"/>
                  </a:lnTo>
                  <a:lnTo>
                    <a:pt x="111" y="305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1" name="Rectangle 28"/>
            <p:cNvSpPr>
              <a:spLocks noChangeArrowheads="1"/>
            </p:cNvSpPr>
            <p:nvPr/>
          </p:nvSpPr>
          <p:spPr bwMode="auto">
            <a:xfrm>
              <a:off x="489" y="2145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1882" name="Rectangle 29"/>
            <p:cNvSpPr>
              <a:spLocks noChangeArrowheads="1"/>
            </p:cNvSpPr>
            <p:nvPr/>
          </p:nvSpPr>
          <p:spPr bwMode="auto">
            <a:xfrm>
              <a:off x="529" y="214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1883" name="Freeform 30"/>
            <p:cNvSpPr>
              <a:spLocks noChangeArrowheads="1"/>
            </p:cNvSpPr>
            <p:nvPr/>
          </p:nvSpPr>
          <p:spPr bwMode="auto">
            <a:xfrm>
              <a:off x="780" y="2059"/>
              <a:ext cx="656" cy="685"/>
            </a:xfrm>
            <a:custGeom>
              <a:avLst/>
              <a:gdLst>
                <a:gd name="T0" fmla="*/ 656 w 656"/>
                <a:gd name="T1" fmla="*/ 685 h 685"/>
                <a:gd name="T2" fmla="*/ 656 w 656"/>
                <a:gd name="T3" fmla="*/ 0 h 685"/>
                <a:gd name="T4" fmla="*/ 0 w 656"/>
                <a:gd name="T5" fmla="*/ 0 h 685"/>
                <a:gd name="T6" fmla="*/ 0 w 656"/>
                <a:gd name="T7" fmla="*/ 685 h 685"/>
                <a:gd name="T8" fmla="*/ 656 w 656"/>
                <a:gd name="T9" fmla="*/ 685 h 685"/>
                <a:gd name="T10" fmla="*/ 656 w 656"/>
                <a:gd name="T11" fmla="*/ 685 h 6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6"/>
                <a:gd name="T19" fmla="*/ 0 h 685"/>
                <a:gd name="T20" fmla="*/ 656 w 656"/>
                <a:gd name="T21" fmla="*/ 685 h 6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6" h="685">
                  <a:moveTo>
                    <a:pt x="656" y="685"/>
                  </a:moveTo>
                  <a:lnTo>
                    <a:pt x="656" y="0"/>
                  </a:lnTo>
                  <a:lnTo>
                    <a:pt x="0" y="0"/>
                  </a:lnTo>
                  <a:lnTo>
                    <a:pt x="0" y="685"/>
                  </a:lnTo>
                  <a:lnTo>
                    <a:pt x="656" y="6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4" name="Freeform 31"/>
            <p:cNvSpPr>
              <a:spLocks noChangeArrowheads="1"/>
            </p:cNvSpPr>
            <p:nvPr/>
          </p:nvSpPr>
          <p:spPr bwMode="auto">
            <a:xfrm>
              <a:off x="780" y="2059"/>
              <a:ext cx="656" cy="685"/>
            </a:xfrm>
            <a:custGeom>
              <a:avLst/>
              <a:gdLst>
                <a:gd name="T0" fmla="*/ 656 w 656"/>
                <a:gd name="T1" fmla="*/ 685 h 685"/>
                <a:gd name="T2" fmla="*/ 656 w 656"/>
                <a:gd name="T3" fmla="*/ 0 h 685"/>
                <a:gd name="T4" fmla="*/ 0 w 656"/>
                <a:gd name="T5" fmla="*/ 0 h 685"/>
                <a:gd name="T6" fmla="*/ 0 w 656"/>
                <a:gd name="T7" fmla="*/ 685 h 685"/>
                <a:gd name="T8" fmla="*/ 656 w 656"/>
                <a:gd name="T9" fmla="*/ 685 h 685"/>
                <a:gd name="T10" fmla="*/ 656 w 656"/>
                <a:gd name="T11" fmla="*/ 685 h 6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6"/>
                <a:gd name="T19" fmla="*/ 0 h 685"/>
                <a:gd name="T20" fmla="*/ 656 w 656"/>
                <a:gd name="T21" fmla="*/ 685 h 6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6" h="685">
                  <a:moveTo>
                    <a:pt x="656" y="685"/>
                  </a:moveTo>
                  <a:lnTo>
                    <a:pt x="656" y="0"/>
                  </a:lnTo>
                  <a:lnTo>
                    <a:pt x="0" y="0"/>
                  </a:lnTo>
                  <a:lnTo>
                    <a:pt x="0" y="685"/>
                  </a:lnTo>
                  <a:lnTo>
                    <a:pt x="656" y="685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85" name="Rectangle 32"/>
            <p:cNvSpPr>
              <a:spLocks noChangeArrowheads="1"/>
            </p:cNvSpPr>
            <p:nvPr/>
          </p:nvSpPr>
          <p:spPr bwMode="auto">
            <a:xfrm>
              <a:off x="818" y="2481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886" name="Rectangle 33"/>
            <p:cNvSpPr>
              <a:spLocks noChangeArrowheads="1"/>
            </p:cNvSpPr>
            <p:nvPr/>
          </p:nvSpPr>
          <p:spPr bwMode="auto">
            <a:xfrm>
              <a:off x="834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887" name="Rectangle 34"/>
            <p:cNvSpPr>
              <a:spLocks noChangeArrowheads="1"/>
            </p:cNvSpPr>
            <p:nvPr/>
          </p:nvSpPr>
          <p:spPr bwMode="auto">
            <a:xfrm>
              <a:off x="867" y="248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888" name="Rectangle 35"/>
            <p:cNvSpPr>
              <a:spLocks noChangeArrowheads="1"/>
            </p:cNvSpPr>
            <p:nvPr/>
          </p:nvSpPr>
          <p:spPr bwMode="auto">
            <a:xfrm>
              <a:off x="896" y="248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889" name="Rectangle 36"/>
            <p:cNvSpPr>
              <a:spLocks noChangeArrowheads="1"/>
            </p:cNvSpPr>
            <p:nvPr/>
          </p:nvSpPr>
          <p:spPr bwMode="auto">
            <a:xfrm>
              <a:off x="912" y="248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890" name="Rectangle 37"/>
            <p:cNvSpPr>
              <a:spLocks noChangeArrowheads="1"/>
            </p:cNvSpPr>
            <p:nvPr/>
          </p:nvSpPr>
          <p:spPr bwMode="auto">
            <a:xfrm>
              <a:off x="931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1891" name="Rectangle 38"/>
            <p:cNvSpPr>
              <a:spLocks noChangeArrowheads="1"/>
            </p:cNvSpPr>
            <p:nvPr/>
          </p:nvSpPr>
          <p:spPr bwMode="auto">
            <a:xfrm>
              <a:off x="964" y="248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1892" name="Rectangle 39"/>
            <p:cNvSpPr>
              <a:spLocks noChangeArrowheads="1"/>
            </p:cNvSpPr>
            <p:nvPr/>
          </p:nvSpPr>
          <p:spPr bwMode="auto">
            <a:xfrm>
              <a:off x="993" y="248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893" name="Rectangle 40"/>
            <p:cNvSpPr>
              <a:spLocks noChangeArrowheads="1"/>
            </p:cNvSpPr>
            <p:nvPr/>
          </p:nvSpPr>
          <p:spPr bwMode="auto">
            <a:xfrm>
              <a:off x="1008" y="2481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894" name="Rectangle 41"/>
            <p:cNvSpPr>
              <a:spLocks noChangeArrowheads="1"/>
            </p:cNvSpPr>
            <p:nvPr/>
          </p:nvSpPr>
          <p:spPr bwMode="auto">
            <a:xfrm>
              <a:off x="1024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895" name="Rectangle 42"/>
            <p:cNvSpPr>
              <a:spLocks noChangeArrowheads="1"/>
            </p:cNvSpPr>
            <p:nvPr/>
          </p:nvSpPr>
          <p:spPr bwMode="auto">
            <a:xfrm>
              <a:off x="1054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896" name="Rectangle 43"/>
            <p:cNvSpPr>
              <a:spLocks noChangeArrowheads="1"/>
            </p:cNvSpPr>
            <p:nvPr/>
          </p:nvSpPr>
          <p:spPr bwMode="auto">
            <a:xfrm>
              <a:off x="1088" y="248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97" name="Rectangle 44"/>
            <p:cNvSpPr>
              <a:spLocks noChangeArrowheads="1"/>
            </p:cNvSpPr>
            <p:nvPr/>
          </p:nvSpPr>
          <p:spPr bwMode="auto">
            <a:xfrm>
              <a:off x="858" y="2550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898" name="Rectangle 45"/>
            <p:cNvSpPr>
              <a:spLocks noChangeArrowheads="1"/>
            </p:cNvSpPr>
            <p:nvPr/>
          </p:nvSpPr>
          <p:spPr bwMode="auto">
            <a:xfrm>
              <a:off x="905" y="25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899" name="Rectangle 46"/>
            <p:cNvSpPr>
              <a:spLocks noChangeArrowheads="1"/>
            </p:cNvSpPr>
            <p:nvPr/>
          </p:nvSpPr>
          <p:spPr bwMode="auto">
            <a:xfrm>
              <a:off x="938" y="2550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900" name="Rectangle 47"/>
            <p:cNvSpPr>
              <a:spLocks noChangeArrowheads="1"/>
            </p:cNvSpPr>
            <p:nvPr/>
          </p:nvSpPr>
          <p:spPr bwMode="auto">
            <a:xfrm>
              <a:off x="986" y="25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901" name="Rectangle 48"/>
            <p:cNvSpPr>
              <a:spLocks noChangeArrowheads="1"/>
            </p:cNvSpPr>
            <p:nvPr/>
          </p:nvSpPr>
          <p:spPr bwMode="auto">
            <a:xfrm>
              <a:off x="1019" y="2550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902" name="Rectangle 49"/>
            <p:cNvSpPr>
              <a:spLocks noChangeArrowheads="1"/>
            </p:cNvSpPr>
            <p:nvPr/>
          </p:nvSpPr>
          <p:spPr bwMode="auto">
            <a:xfrm>
              <a:off x="1039" y="2550"/>
              <a:ext cx="2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1903" name="Rectangle 50"/>
            <p:cNvSpPr>
              <a:spLocks noChangeArrowheads="1"/>
            </p:cNvSpPr>
            <p:nvPr/>
          </p:nvSpPr>
          <p:spPr bwMode="auto">
            <a:xfrm>
              <a:off x="803" y="2117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904" name="Rectangle 51"/>
            <p:cNvSpPr>
              <a:spLocks noChangeArrowheads="1"/>
            </p:cNvSpPr>
            <p:nvPr/>
          </p:nvSpPr>
          <p:spPr bwMode="auto">
            <a:xfrm>
              <a:off x="846" y="211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905" name="Rectangle 52"/>
            <p:cNvSpPr>
              <a:spLocks noChangeArrowheads="1"/>
            </p:cNvSpPr>
            <p:nvPr/>
          </p:nvSpPr>
          <p:spPr bwMode="auto">
            <a:xfrm>
              <a:off x="879" y="211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906" name="Rectangle 53"/>
            <p:cNvSpPr>
              <a:spLocks noChangeArrowheads="1"/>
            </p:cNvSpPr>
            <p:nvPr/>
          </p:nvSpPr>
          <p:spPr bwMode="auto">
            <a:xfrm>
              <a:off x="912" y="211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907" name="Rectangle 54"/>
            <p:cNvSpPr>
              <a:spLocks noChangeArrowheads="1"/>
            </p:cNvSpPr>
            <p:nvPr/>
          </p:nvSpPr>
          <p:spPr bwMode="auto">
            <a:xfrm>
              <a:off x="943" y="2117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08" name="Rectangle 55"/>
            <p:cNvSpPr>
              <a:spLocks noChangeArrowheads="1"/>
            </p:cNvSpPr>
            <p:nvPr/>
          </p:nvSpPr>
          <p:spPr bwMode="auto">
            <a:xfrm>
              <a:off x="803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909" name="Rectangle 56"/>
            <p:cNvSpPr>
              <a:spLocks noChangeArrowheads="1"/>
            </p:cNvSpPr>
            <p:nvPr/>
          </p:nvSpPr>
          <p:spPr bwMode="auto">
            <a:xfrm>
              <a:off x="837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910" name="Rectangle 57"/>
            <p:cNvSpPr>
              <a:spLocks noChangeArrowheads="1"/>
            </p:cNvSpPr>
            <p:nvPr/>
          </p:nvSpPr>
          <p:spPr bwMode="auto">
            <a:xfrm>
              <a:off x="870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911" name="Rectangle 58"/>
            <p:cNvSpPr>
              <a:spLocks noChangeArrowheads="1"/>
            </p:cNvSpPr>
            <p:nvPr/>
          </p:nvSpPr>
          <p:spPr bwMode="auto">
            <a:xfrm>
              <a:off x="901" y="217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912" name="Rectangle 59"/>
            <p:cNvSpPr>
              <a:spLocks noChangeArrowheads="1"/>
            </p:cNvSpPr>
            <p:nvPr/>
          </p:nvSpPr>
          <p:spPr bwMode="auto">
            <a:xfrm>
              <a:off x="922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913" name="Rectangle 60"/>
            <p:cNvSpPr>
              <a:spLocks noChangeArrowheads="1"/>
            </p:cNvSpPr>
            <p:nvPr/>
          </p:nvSpPr>
          <p:spPr bwMode="auto">
            <a:xfrm>
              <a:off x="953" y="217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914" name="Rectangle 61"/>
            <p:cNvSpPr>
              <a:spLocks noChangeArrowheads="1"/>
            </p:cNvSpPr>
            <p:nvPr/>
          </p:nvSpPr>
          <p:spPr bwMode="auto">
            <a:xfrm>
              <a:off x="983" y="217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915" name="Rectangle 62"/>
            <p:cNvSpPr>
              <a:spLocks noChangeArrowheads="1"/>
            </p:cNvSpPr>
            <p:nvPr/>
          </p:nvSpPr>
          <p:spPr bwMode="auto">
            <a:xfrm>
              <a:off x="1147" y="2337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916" name="Rectangle 63"/>
            <p:cNvSpPr>
              <a:spLocks noChangeArrowheads="1"/>
            </p:cNvSpPr>
            <p:nvPr/>
          </p:nvSpPr>
          <p:spPr bwMode="auto">
            <a:xfrm>
              <a:off x="1163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917" name="Rectangle 64"/>
            <p:cNvSpPr>
              <a:spLocks noChangeArrowheads="1"/>
            </p:cNvSpPr>
            <p:nvPr/>
          </p:nvSpPr>
          <p:spPr bwMode="auto">
            <a:xfrm>
              <a:off x="1194" y="2337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918" name="Rectangle 65"/>
            <p:cNvSpPr>
              <a:spLocks noChangeArrowheads="1"/>
            </p:cNvSpPr>
            <p:nvPr/>
          </p:nvSpPr>
          <p:spPr bwMode="auto">
            <a:xfrm>
              <a:off x="1225" y="233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919" name="Rectangle 66"/>
            <p:cNvSpPr>
              <a:spLocks noChangeArrowheads="1"/>
            </p:cNvSpPr>
            <p:nvPr/>
          </p:nvSpPr>
          <p:spPr bwMode="auto">
            <a:xfrm>
              <a:off x="1242" y="2337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920" name="Rectangle 67"/>
            <p:cNvSpPr>
              <a:spLocks noChangeArrowheads="1"/>
            </p:cNvSpPr>
            <p:nvPr/>
          </p:nvSpPr>
          <p:spPr bwMode="auto">
            <a:xfrm>
              <a:off x="1261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1921" name="Rectangle 68"/>
            <p:cNvSpPr>
              <a:spLocks noChangeArrowheads="1"/>
            </p:cNvSpPr>
            <p:nvPr/>
          </p:nvSpPr>
          <p:spPr bwMode="auto">
            <a:xfrm>
              <a:off x="1294" y="2337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1922" name="Rectangle 69"/>
            <p:cNvSpPr>
              <a:spLocks noChangeArrowheads="1"/>
            </p:cNvSpPr>
            <p:nvPr/>
          </p:nvSpPr>
          <p:spPr bwMode="auto">
            <a:xfrm>
              <a:off x="1322" y="233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923" name="Rectangle 70"/>
            <p:cNvSpPr>
              <a:spLocks noChangeArrowheads="1"/>
            </p:cNvSpPr>
            <p:nvPr/>
          </p:nvSpPr>
          <p:spPr bwMode="auto">
            <a:xfrm>
              <a:off x="1339" y="2337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924" name="Rectangle 71"/>
            <p:cNvSpPr>
              <a:spLocks noChangeArrowheads="1"/>
            </p:cNvSpPr>
            <p:nvPr/>
          </p:nvSpPr>
          <p:spPr bwMode="auto">
            <a:xfrm>
              <a:off x="1350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925" name="Rectangle 72"/>
            <p:cNvSpPr>
              <a:spLocks noChangeArrowheads="1"/>
            </p:cNvSpPr>
            <p:nvPr/>
          </p:nvSpPr>
          <p:spPr bwMode="auto">
            <a:xfrm>
              <a:off x="1384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926" name="Rectangle 73"/>
            <p:cNvSpPr>
              <a:spLocks noChangeArrowheads="1"/>
            </p:cNvSpPr>
            <p:nvPr/>
          </p:nvSpPr>
          <p:spPr bwMode="auto">
            <a:xfrm>
              <a:off x="1417" y="2337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7" name="Rectangle 74"/>
            <p:cNvSpPr>
              <a:spLocks noChangeArrowheads="1"/>
            </p:cNvSpPr>
            <p:nvPr/>
          </p:nvSpPr>
          <p:spPr bwMode="auto">
            <a:xfrm>
              <a:off x="1246" y="239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1928" name="Rectangle 75"/>
            <p:cNvSpPr>
              <a:spLocks noChangeArrowheads="1"/>
            </p:cNvSpPr>
            <p:nvPr/>
          </p:nvSpPr>
          <p:spPr bwMode="auto">
            <a:xfrm>
              <a:off x="1263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1929" name="Rectangle 76"/>
            <p:cNvSpPr>
              <a:spLocks noChangeArrowheads="1"/>
            </p:cNvSpPr>
            <p:nvPr/>
          </p:nvSpPr>
          <p:spPr bwMode="auto">
            <a:xfrm>
              <a:off x="1296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1930" name="Rectangle 77"/>
            <p:cNvSpPr>
              <a:spLocks noChangeArrowheads="1"/>
            </p:cNvSpPr>
            <p:nvPr/>
          </p:nvSpPr>
          <p:spPr bwMode="auto">
            <a:xfrm>
              <a:off x="1329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–</a:t>
              </a:r>
            </a:p>
          </p:txBody>
        </p:sp>
        <p:sp>
          <p:nvSpPr>
            <p:cNvPr id="1931" name="Rectangle 78"/>
            <p:cNvSpPr>
              <a:spLocks noChangeArrowheads="1"/>
            </p:cNvSpPr>
            <p:nvPr/>
          </p:nvSpPr>
          <p:spPr bwMode="auto">
            <a:xfrm>
              <a:off x="1372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1932" name="Rectangle 79"/>
            <p:cNvSpPr>
              <a:spLocks noChangeArrowheads="1"/>
            </p:cNvSpPr>
            <p:nvPr/>
          </p:nvSpPr>
          <p:spPr bwMode="auto">
            <a:xfrm>
              <a:off x="1405" y="239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1933" name="Line 80"/>
            <p:cNvSpPr>
              <a:spLocks noChangeShapeType="1"/>
            </p:cNvSpPr>
            <p:nvPr/>
          </p:nvSpPr>
          <p:spPr bwMode="auto">
            <a:xfrm flipH="1">
              <a:off x="5037" y="2474"/>
              <a:ext cx="113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34" name="Freeform 81"/>
            <p:cNvSpPr>
              <a:spLocks noChangeArrowheads="1"/>
            </p:cNvSpPr>
            <p:nvPr/>
          </p:nvSpPr>
          <p:spPr bwMode="auto">
            <a:xfrm>
              <a:off x="4382" y="2242"/>
              <a:ext cx="658" cy="686"/>
            </a:xfrm>
            <a:custGeom>
              <a:avLst/>
              <a:gdLst>
                <a:gd name="T0" fmla="*/ 656 w 658"/>
                <a:gd name="T1" fmla="*/ 686 h 686"/>
                <a:gd name="T2" fmla="*/ 658 w 658"/>
                <a:gd name="T3" fmla="*/ 0 h 686"/>
                <a:gd name="T4" fmla="*/ 0 w 658"/>
                <a:gd name="T5" fmla="*/ 0 h 686"/>
                <a:gd name="T6" fmla="*/ 0 w 658"/>
                <a:gd name="T7" fmla="*/ 686 h 686"/>
                <a:gd name="T8" fmla="*/ 658 w 658"/>
                <a:gd name="T9" fmla="*/ 686 h 686"/>
                <a:gd name="T10" fmla="*/ 658 w 658"/>
                <a:gd name="T11" fmla="*/ 686 h 686"/>
                <a:gd name="T12" fmla="*/ 656 w 658"/>
                <a:gd name="T13" fmla="*/ 686 h 6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8"/>
                <a:gd name="T22" fmla="*/ 0 h 686"/>
                <a:gd name="T23" fmla="*/ 658 w 658"/>
                <a:gd name="T24" fmla="*/ 686 h 68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8" h="686">
                  <a:moveTo>
                    <a:pt x="656" y="686"/>
                  </a:moveTo>
                  <a:lnTo>
                    <a:pt x="658" y="0"/>
                  </a:lnTo>
                  <a:lnTo>
                    <a:pt x="0" y="0"/>
                  </a:lnTo>
                  <a:lnTo>
                    <a:pt x="0" y="686"/>
                  </a:lnTo>
                  <a:lnTo>
                    <a:pt x="658" y="686"/>
                  </a:lnTo>
                  <a:lnTo>
                    <a:pt x="656" y="6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5" name="Freeform 82"/>
            <p:cNvSpPr>
              <a:spLocks noChangeArrowheads="1"/>
            </p:cNvSpPr>
            <p:nvPr/>
          </p:nvSpPr>
          <p:spPr bwMode="auto">
            <a:xfrm>
              <a:off x="4382" y="2242"/>
              <a:ext cx="658" cy="686"/>
            </a:xfrm>
            <a:custGeom>
              <a:avLst/>
              <a:gdLst>
                <a:gd name="T0" fmla="*/ 656 w 658"/>
                <a:gd name="T1" fmla="*/ 686 h 686"/>
                <a:gd name="T2" fmla="*/ 658 w 658"/>
                <a:gd name="T3" fmla="*/ 0 h 686"/>
                <a:gd name="T4" fmla="*/ 0 w 658"/>
                <a:gd name="T5" fmla="*/ 0 h 686"/>
                <a:gd name="T6" fmla="*/ 0 w 658"/>
                <a:gd name="T7" fmla="*/ 686 h 686"/>
                <a:gd name="T8" fmla="*/ 658 w 658"/>
                <a:gd name="T9" fmla="*/ 686 h 686"/>
                <a:gd name="T10" fmla="*/ 658 w 658"/>
                <a:gd name="T11" fmla="*/ 686 h 6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8"/>
                <a:gd name="T19" fmla="*/ 0 h 686"/>
                <a:gd name="T20" fmla="*/ 658 w 658"/>
                <a:gd name="T21" fmla="*/ 686 h 68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8" h="686">
                  <a:moveTo>
                    <a:pt x="656" y="686"/>
                  </a:moveTo>
                  <a:lnTo>
                    <a:pt x="658" y="0"/>
                  </a:lnTo>
                  <a:lnTo>
                    <a:pt x="0" y="0"/>
                  </a:lnTo>
                  <a:lnTo>
                    <a:pt x="0" y="686"/>
                  </a:lnTo>
                  <a:lnTo>
                    <a:pt x="658" y="686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6" name="Freeform 83"/>
            <p:cNvSpPr>
              <a:spLocks noChangeArrowheads="1"/>
            </p:cNvSpPr>
            <p:nvPr/>
          </p:nvSpPr>
          <p:spPr bwMode="auto">
            <a:xfrm>
              <a:off x="2492" y="2121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6 h 31"/>
                <a:gd name="T6" fmla="*/ 2 w 31"/>
                <a:gd name="T7" fmla="*/ 2 h 31"/>
                <a:gd name="T8" fmla="*/ 2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6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7" name="Freeform 84"/>
            <p:cNvSpPr>
              <a:spLocks noChangeArrowheads="1"/>
            </p:cNvSpPr>
            <p:nvPr/>
          </p:nvSpPr>
          <p:spPr bwMode="auto">
            <a:xfrm>
              <a:off x="2492" y="2647"/>
              <a:ext cx="31" cy="30"/>
            </a:xfrm>
            <a:custGeom>
              <a:avLst/>
              <a:gdLst>
                <a:gd name="T0" fmla="*/ 0 w 31"/>
                <a:gd name="T1" fmla="*/ 0 h 30"/>
                <a:gd name="T2" fmla="*/ 2 w 31"/>
                <a:gd name="T3" fmla="*/ 30 h 30"/>
                <a:gd name="T4" fmla="*/ 31 w 31"/>
                <a:gd name="T5" fmla="*/ 16 h 30"/>
                <a:gd name="T6" fmla="*/ 2 w 31"/>
                <a:gd name="T7" fmla="*/ 2 h 30"/>
                <a:gd name="T8" fmla="*/ 2 w 31"/>
                <a:gd name="T9" fmla="*/ 2 h 30"/>
                <a:gd name="T10" fmla="*/ 0 w 31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0"/>
                <a:gd name="T20" fmla="*/ 31 w 31"/>
                <a:gd name="T21" fmla="*/ 30 h 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0">
                  <a:moveTo>
                    <a:pt x="0" y="0"/>
                  </a:moveTo>
                  <a:lnTo>
                    <a:pt x="2" y="30"/>
                  </a:lnTo>
                  <a:lnTo>
                    <a:pt x="31" y="16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38" name="Rectangle 85"/>
            <p:cNvSpPr>
              <a:spLocks noChangeArrowheads="1"/>
            </p:cNvSpPr>
            <p:nvPr/>
          </p:nvSpPr>
          <p:spPr bwMode="auto">
            <a:xfrm>
              <a:off x="1662" y="2228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939" name="Rectangle 86"/>
            <p:cNvSpPr>
              <a:spLocks noChangeArrowheads="1"/>
            </p:cNvSpPr>
            <p:nvPr/>
          </p:nvSpPr>
          <p:spPr bwMode="auto">
            <a:xfrm>
              <a:off x="1677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940" name="Rectangle 87"/>
            <p:cNvSpPr>
              <a:spLocks noChangeArrowheads="1"/>
            </p:cNvSpPr>
            <p:nvPr/>
          </p:nvSpPr>
          <p:spPr bwMode="auto">
            <a:xfrm>
              <a:off x="1710" y="222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941" name="Rectangle 88"/>
            <p:cNvSpPr>
              <a:spLocks noChangeArrowheads="1"/>
            </p:cNvSpPr>
            <p:nvPr/>
          </p:nvSpPr>
          <p:spPr bwMode="auto">
            <a:xfrm>
              <a:off x="1739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942" name="Rectangle 89"/>
            <p:cNvSpPr>
              <a:spLocks noChangeArrowheads="1"/>
            </p:cNvSpPr>
            <p:nvPr/>
          </p:nvSpPr>
          <p:spPr bwMode="auto">
            <a:xfrm>
              <a:off x="1755" y="222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943" name="Rectangle 90"/>
            <p:cNvSpPr>
              <a:spLocks noChangeArrowheads="1"/>
            </p:cNvSpPr>
            <p:nvPr/>
          </p:nvSpPr>
          <p:spPr bwMode="auto">
            <a:xfrm>
              <a:off x="1774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1944" name="Rectangle 91"/>
            <p:cNvSpPr>
              <a:spLocks noChangeArrowheads="1"/>
            </p:cNvSpPr>
            <p:nvPr/>
          </p:nvSpPr>
          <p:spPr bwMode="auto">
            <a:xfrm>
              <a:off x="1808" y="222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1945" name="Rectangle 92"/>
            <p:cNvSpPr>
              <a:spLocks noChangeArrowheads="1"/>
            </p:cNvSpPr>
            <p:nvPr/>
          </p:nvSpPr>
          <p:spPr bwMode="auto">
            <a:xfrm>
              <a:off x="1836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946" name="Rectangle 93"/>
            <p:cNvSpPr>
              <a:spLocks noChangeArrowheads="1"/>
            </p:cNvSpPr>
            <p:nvPr/>
          </p:nvSpPr>
          <p:spPr bwMode="auto">
            <a:xfrm>
              <a:off x="1852" y="2228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947" name="Rectangle 94"/>
            <p:cNvSpPr>
              <a:spLocks noChangeArrowheads="1"/>
            </p:cNvSpPr>
            <p:nvPr/>
          </p:nvSpPr>
          <p:spPr bwMode="auto">
            <a:xfrm>
              <a:off x="1867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948" name="Rectangle 95"/>
            <p:cNvSpPr>
              <a:spLocks noChangeArrowheads="1"/>
            </p:cNvSpPr>
            <p:nvPr/>
          </p:nvSpPr>
          <p:spPr bwMode="auto">
            <a:xfrm>
              <a:off x="1898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949" name="Rectangle 96"/>
            <p:cNvSpPr>
              <a:spLocks noChangeArrowheads="1"/>
            </p:cNvSpPr>
            <p:nvPr/>
          </p:nvSpPr>
          <p:spPr bwMode="auto">
            <a:xfrm>
              <a:off x="1931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950" name="Rectangle 97"/>
            <p:cNvSpPr>
              <a:spLocks noChangeArrowheads="1"/>
            </p:cNvSpPr>
            <p:nvPr/>
          </p:nvSpPr>
          <p:spPr bwMode="auto">
            <a:xfrm>
              <a:off x="1947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1951" name="Rectangle 98"/>
            <p:cNvSpPr>
              <a:spLocks noChangeArrowheads="1"/>
            </p:cNvSpPr>
            <p:nvPr/>
          </p:nvSpPr>
          <p:spPr bwMode="auto">
            <a:xfrm>
              <a:off x="1964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1952" name="Rectangle 99"/>
            <p:cNvSpPr>
              <a:spLocks noChangeArrowheads="1"/>
            </p:cNvSpPr>
            <p:nvPr/>
          </p:nvSpPr>
          <p:spPr bwMode="auto">
            <a:xfrm>
              <a:off x="1995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1953" name="Rectangle 100"/>
            <p:cNvSpPr>
              <a:spLocks noChangeArrowheads="1"/>
            </p:cNvSpPr>
            <p:nvPr/>
          </p:nvSpPr>
          <p:spPr bwMode="auto">
            <a:xfrm>
              <a:off x="2028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954" name="Rectangle 101"/>
            <p:cNvSpPr>
              <a:spLocks noChangeArrowheads="1"/>
            </p:cNvSpPr>
            <p:nvPr/>
          </p:nvSpPr>
          <p:spPr bwMode="auto">
            <a:xfrm>
              <a:off x="2044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955" name="Rectangle 102"/>
            <p:cNvSpPr>
              <a:spLocks noChangeArrowheads="1"/>
            </p:cNvSpPr>
            <p:nvPr/>
          </p:nvSpPr>
          <p:spPr bwMode="auto">
            <a:xfrm>
              <a:off x="2061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1956" name="Rectangle 103"/>
            <p:cNvSpPr>
              <a:spLocks noChangeArrowheads="1"/>
            </p:cNvSpPr>
            <p:nvPr/>
          </p:nvSpPr>
          <p:spPr bwMode="auto">
            <a:xfrm>
              <a:off x="2094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6</a:t>
              </a:r>
            </a:p>
          </p:txBody>
        </p:sp>
        <p:sp>
          <p:nvSpPr>
            <p:cNvPr id="1957" name="Rectangle 104"/>
            <p:cNvSpPr>
              <a:spLocks noChangeArrowheads="1"/>
            </p:cNvSpPr>
            <p:nvPr/>
          </p:nvSpPr>
          <p:spPr bwMode="auto">
            <a:xfrm>
              <a:off x="2125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1958" name="Rectangle 105"/>
            <p:cNvSpPr>
              <a:spLocks noChangeArrowheads="1"/>
            </p:cNvSpPr>
            <p:nvPr/>
          </p:nvSpPr>
          <p:spPr bwMode="auto">
            <a:xfrm>
              <a:off x="1662" y="2053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959" name="Rectangle 106"/>
            <p:cNvSpPr>
              <a:spLocks noChangeArrowheads="1"/>
            </p:cNvSpPr>
            <p:nvPr/>
          </p:nvSpPr>
          <p:spPr bwMode="auto">
            <a:xfrm>
              <a:off x="1677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960" name="Rectangle 107"/>
            <p:cNvSpPr>
              <a:spLocks noChangeArrowheads="1"/>
            </p:cNvSpPr>
            <p:nvPr/>
          </p:nvSpPr>
          <p:spPr bwMode="auto">
            <a:xfrm>
              <a:off x="1710" y="2053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961" name="Rectangle 108"/>
            <p:cNvSpPr>
              <a:spLocks noChangeArrowheads="1"/>
            </p:cNvSpPr>
            <p:nvPr/>
          </p:nvSpPr>
          <p:spPr bwMode="auto">
            <a:xfrm>
              <a:off x="1739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962" name="Rectangle 109"/>
            <p:cNvSpPr>
              <a:spLocks noChangeArrowheads="1"/>
            </p:cNvSpPr>
            <p:nvPr/>
          </p:nvSpPr>
          <p:spPr bwMode="auto">
            <a:xfrm>
              <a:off x="1755" y="2053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963" name="Rectangle 110"/>
            <p:cNvSpPr>
              <a:spLocks noChangeArrowheads="1"/>
            </p:cNvSpPr>
            <p:nvPr/>
          </p:nvSpPr>
          <p:spPr bwMode="auto">
            <a:xfrm>
              <a:off x="1774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1964" name="Rectangle 111"/>
            <p:cNvSpPr>
              <a:spLocks noChangeArrowheads="1"/>
            </p:cNvSpPr>
            <p:nvPr/>
          </p:nvSpPr>
          <p:spPr bwMode="auto">
            <a:xfrm>
              <a:off x="1808" y="2053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1965" name="Rectangle 112"/>
            <p:cNvSpPr>
              <a:spLocks noChangeArrowheads="1"/>
            </p:cNvSpPr>
            <p:nvPr/>
          </p:nvSpPr>
          <p:spPr bwMode="auto">
            <a:xfrm>
              <a:off x="1836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966" name="Rectangle 113"/>
            <p:cNvSpPr>
              <a:spLocks noChangeArrowheads="1"/>
            </p:cNvSpPr>
            <p:nvPr/>
          </p:nvSpPr>
          <p:spPr bwMode="auto">
            <a:xfrm>
              <a:off x="1852" y="2053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967" name="Rectangle 114"/>
            <p:cNvSpPr>
              <a:spLocks noChangeArrowheads="1"/>
            </p:cNvSpPr>
            <p:nvPr/>
          </p:nvSpPr>
          <p:spPr bwMode="auto">
            <a:xfrm>
              <a:off x="1867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968" name="Rectangle 115"/>
            <p:cNvSpPr>
              <a:spLocks noChangeArrowheads="1"/>
            </p:cNvSpPr>
            <p:nvPr/>
          </p:nvSpPr>
          <p:spPr bwMode="auto">
            <a:xfrm>
              <a:off x="1898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969" name="Rectangle 116"/>
            <p:cNvSpPr>
              <a:spLocks noChangeArrowheads="1"/>
            </p:cNvSpPr>
            <p:nvPr/>
          </p:nvSpPr>
          <p:spPr bwMode="auto">
            <a:xfrm>
              <a:off x="1931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970" name="Rectangle 117"/>
            <p:cNvSpPr>
              <a:spLocks noChangeArrowheads="1"/>
            </p:cNvSpPr>
            <p:nvPr/>
          </p:nvSpPr>
          <p:spPr bwMode="auto">
            <a:xfrm>
              <a:off x="1947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1971" name="Rectangle 118"/>
            <p:cNvSpPr>
              <a:spLocks noChangeArrowheads="1"/>
            </p:cNvSpPr>
            <p:nvPr/>
          </p:nvSpPr>
          <p:spPr bwMode="auto">
            <a:xfrm>
              <a:off x="1964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1972" name="Rectangle 119"/>
            <p:cNvSpPr>
              <a:spLocks noChangeArrowheads="1"/>
            </p:cNvSpPr>
            <p:nvPr/>
          </p:nvSpPr>
          <p:spPr bwMode="auto">
            <a:xfrm>
              <a:off x="1995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1973" name="Rectangle 120"/>
            <p:cNvSpPr>
              <a:spLocks noChangeArrowheads="1"/>
            </p:cNvSpPr>
            <p:nvPr/>
          </p:nvSpPr>
          <p:spPr bwMode="auto">
            <a:xfrm>
              <a:off x="2028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974" name="Rectangle 121"/>
            <p:cNvSpPr>
              <a:spLocks noChangeArrowheads="1"/>
            </p:cNvSpPr>
            <p:nvPr/>
          </p:nvSpPr>
          <p:spPr bwMode="auto">
            <a:xfrm>
              <a:off x="2044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975" name="Rectangle 122"/>
            <p:cNvSpPr>
              <a:spLocks noChangeArrowheads="1"/>
            </p:cNvSpPr>
            <p:nvPr/>
          </p:nvSpPr>
          <p:spPr bwMode="auto">
            <a:xfrm>
              <a:off x="2061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1976" name="Rectangle 123"/>
            <p:cNvSpPr>
              <a:spLocks noChangeArrowheads="1"/>
            </p:cNvSpPr>
            <p:nvPr/>
          </p:nvSpPr>
          <p:spPr bwMode="auto">
            <a:xfrm>
              <a:off x="2094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1977" name="Rectangle 124"/>
            <p:cNvSpPr>
              <a:spLocks noChangeArrowheads="1"/>
            </p:cNvSpPr>
            <p:nvPr/>
          </p:nvSpPr>
          <p:spPr bwMode="auto">
            <a:xfrm>
              <a:off x="2125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1978" name="Freeform 125"/>
            <p:cNvSpPr>
              <a:spLocks noChangeArrowheads="1"/>
            </p:cNvSpPr>
            <p:nvPr/>
          </p:nvSpPr>
          <p:spPr bwMode="auto">
            <a:xfrm>
              <a:off x="647" y="1058"/>
              <a:ext cx="341" cy="1122"/>
            </a:xfrm>
            <a:custGeom>
              <a:avLst/>
              <a:gdLst>
                <a:gd name="T0" fmla="*/ 341 w 341"/>
                <a:gd name="T1" fmla="*/ 0 h 1122"/>
                <a:gd name="T2" fmla="*/ 0 w 341"/>
                <a:gd name="T3" fmla="*/ 0 h 1122"/>
                <a:gd name="T4" fmla="*/ 0 w 341"/>
                <a:gd name="T5" fmla="*/ 1122 h 1122"/>
                <a:gd name="T6" fmla="*/ 0 60000 65536"/>
                <a:gd name="T7" fmla="*/ 0 60000 65536"/>
                <a:gd name="T8" fmla="*/ 0 60000 65536"/>
                <a:gd name="T9" fmla="*/ 0 w 341"/>
                <a:gd name="T10" fmla="*/ 0 h 1122"/>
                <a:gd name="T11" fmla="*/ 341 w 341"/>
                <a:gd name="T12" fmla="*/ 1122 h 11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1" h="1122">
                  <a:moveTo>
                    <a:pt x="341" y="0"/>
                  </a:moveTo>
                  <a:lnTo>
                    <a:pt x="0" y="0"/>
                  </a:lnTo>
                  <a:lnTo>
                    <a:pt x="0" y="1122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79" name="Line 126"/>
            <p:cNvSpPr>
              <a:spLocks noChangeShapeType="1"/>
            </p:cNvSpPr>
            <p:nvPr/>
          </p:nvSpPr>
          <p:spPr bwMode="auto">
            <a:xfrm flipH="1">
              <a:off x="881" y="1408"/>
              <a:ext cx="108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0" name="Freeform 127"/>
            <p:cNvSpPr>
              <a:spLocks noChangeArrowheads="1"/>
            </p:cNvSpPr>
            <p:nvPr/>
          </p:nvSpPr>
          <p:spPr bwMode="auto">
            <a:xfrm>
              <a:off x="1012" y="939"/>
              <a:ext cx="189" cy="590"/>
            </a:xfrm>
            <a:custGeom>
              <a:avLst/>
              <a:gdLst>
                <a:gd name="T0" fmla="*/ 0 w 189"/>
                <a:gd name="T1" fmla="*/ 0 h 590"/>
                <a:gd name="T2" fmla="*/ 0 w 189"/>
                <a:gd name="T3" fmla="*/ 239 h 590"/>
                <a:gd name="T4" fmla="*/ 61 w 189"/>
                <a:gd name="T5" fmla="*/ 294 h 590"/>
                <a:gd name="T6" fmla="*/ 0 w 189"/>
                <a:gd name="T7" fmla="*/ 351 h 590"/>
                <a:gd name="T8" fmla="*/ 0 w 189"/>
                <a:gd name="T9" fmla="*/ 590 h 590"/>
                <a:gd name="T10" fmla="*/ 189 w 189"/>
                <a:gd name="T11" fmla="*/ 410 h 590"/>
                <a:gd name="T12" fmla="*/ 189 w 189"/>
                <a:gd name="T13" fmla="*/ 180 h 590"/>
                <a:gd name="T14" fmla="*/ 0 w 189"/>
                <a:gd name="T15" fmla="*/ 0 h 590"/>
                <a:gd name="T16" fmla="*/ 0 w 189"/>
                <a:gd name="T17" fmla="*/ 0 h 5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9"/>
                <a:gd name="T28" fmla="*/ 0 h 590"/>
                <a:gd name="T29" fmla="*/ 189 w 189"/>
                <a:gd name="T30" fmla="*/ 590 h 5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9" h="590">
                  <a:moveTo>
                    <a:pt x="0" y="0"/>
                  </a:moveTo>
                  <a:lnTo>
                    <a:pt x="0" y="239"/>
                  </a:lnTo>
                  <a:lnTo>
                    <a:pt x="61" y="294"/>
                  </a:lnTo>
                  <a:lnTo>
                    <a:pt x="0" y="351"/>
                  </a:lnTo>
                  <a:lnTo>
                    <a:pt x="0" y="590"/>
                  </a:lnTo>
                  <a:lnTo>
                    <a:pt x="189" y="410"/>
                  </a:lnTo>
                  <a:lnTo>
                    <a:pt x="189" y="180"/>
                  </a:lnTo>
                  <a:lnTo>
                    <a:pt x="0" y="0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81" name="Rectangle 128"/>
            <p:cNvSpPr>
              <a:spLocks noChangeArrowheads="1"/>
            </p:cNvSpPr>
            <p:nvPr/>
          </p:nvSpPr>
          <p:spPr bwMode="auto">
            <a:xfrm>
              <a:off x="1085" y="120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982" name="Rectangle 129"/>
            <p:cNvSpPr>
              <a:spLocks noChangeArrowheads="1"/>
            </p:cNvSpPr>
            <p:nvPr/>
          </p:nvSpPr>
          <p:spPr bwMode="auto">
            <a:xfrm>
              <a:off x="1126" y="120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983" name="Rectangle 130"/>
            <p:cNvSpPr>
              <a:spLocks noChangeArrowheads="1"/>
            </p:cNvSpPr>
            <p:nvPr/>
          </p:nvSpPr>
          <p:spPr bwMode="auto">
            <a:xfrm>
              <a:off x="1156" y="120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984" name="Freeform 131"/>
            <p:cNvSpPr>
              <a:spLocks noChangeArrowheads="1"/>
            </p:cNvSpPr>
            <p:nvPr/>
          </p:nvSpPr>
          <p:spPr bwMode="auto">
            <a:xfrm>
              <a:off x="3501" y="2429"/>
              <a:ext cx="31" cy="30"/>
            </a:xfrm>
            <a:custGeom>
              <a:avLst/>
              <a:gdLst>
                <a:gd name="T0" fmla="*/ 0 w 31"/>
                <a:gd name="T1" fmla="*/ 0 h 30"/>
                <a:gd name="T2" fmla="*/ 0 w 31"/>
                <a:gd name="T3" fmla="*/ 30 h 30"/>
                <a:gd name="T4" fmla="*/ 31 w 31"/>
                <a:gd name="T5" fmla="*/ 16 h 30"/>
                <a:gd name="T6" fmla="*/ 0 w 31"/>
                <a:gd name="T7" fmla="*/ 2 h 30"/>
                <a:gd name="T8" fmla="*/ 0 w 31"/>
                <a:gd name="T9" fmla="*/ 2 h 30"/>
                <a:gd name="T10" fmla="*/ 0 w 31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0"/>
                <a:gd name="T20" fmla="*/ 31 w 31"/>
                <a:gd name="T21" fmla="*/ 30 h 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0">
                  <a:moveTo>
                    <a:pt x="0" y="0"/>
                  </a:moveTo>
                  <a:lnTo>
                    <a:pt x="0" y="30"/>
                  </a:lnTo>
                  <a:lnTo>
                    <a:pt x="31" y="1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85" name="Freeform 132"/>
            <p:cNvSpPr>
              <a:spLocks noChangeArrowheads="1"/>
            </p:cNvSpPr>
            <p:nvPr/>
          </p:nvSpPr>
          <p:spPr bwMode="auto">
            <a:xfrm>
              <a:off x="3501" y="2692"/>
              <a:ext cx="31" cy="28"/>
            </a:xfrm>
            <a:custGeom>
              <a:avLst/>
              <a:gdLst>
                <a:gd name="T0" fmla="*/ 0 w 31"/>
                <a:gd name="T1" fmla="*/ 0 h 28"/>
                <a:gd name="T2" fmla="*/ 0 w 31"/>
                <a:gd name="T3" fmla="*/ 28 h 28"/>
                <a:gd name="T4" fmla="*/ 31 w 31"/>
                <a:gd name="T5" fmla="*/ 14 h 28"/>
                <a:gd name="T6" fmla="*/ 0 w 31"/>
                <a:gd name="T7" fmla="*/ 0 h 28"/>
                <a:gd name="T8" fmla="*/ 0 w 31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"/>
                <a:gd name="T16" fmla="*/ 0 h 28"/>
                <a:gd name="T17" fmla="*/ 31 w 31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" h="28">
                  <a:moveTo>
                    <a:pt x="0" y="0"/>
                  </a:moveTo>
                  <a:lnTo>
                    <a:pt x="0" y="28"/>
                  </a:lnTo>
                  <a:lnTo>
                    <a:pt x="31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86" name="Freeform 133"/>
            <p:cNvSpPr>
              <a:spLocks noChangeArrowheads="1"/>
            </p:cNvSpPr>
            <p:nvPr/>
          </p:nvSpPr>
          <p:spPr bwMode="auto">
            <a:xfrm>
              <a:off x="3742" y="2559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7 h 31"/>
                <a:gd name="T6" fmla="*/ 0 w 31"/>
                <a:gd name="T7" fmla="*/ 2 h 31"/>
                <a:gd name="T8" fmla="*/ 0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7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87" name="Line 134"/>
            <p:cNvSpPr>
              <a:spLocks noChangeShapeType="1"/>
            </p:cNvSpPr>
            <p:nvPr/>
          </p:nvSpPr>
          <p:spPr bwMode="auto">
            <a:xfrm flipH="1">
              <a:off x="3644" y="2576"/>
              <a:ext cx="109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88" name="Freeform 135"/>
            <p:cNvSpPr>
              <a:spLocks noChangeArrowheads="1"/>
            </p:cNvSpPr>
            <p:nvPr/>
          </p:nvSpPr>
          <p:spPr bwMode="auto">
            <a:xfrm>
              <a:off x="3742" y="2208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7 h 31"/>
                <a:gd name="T6" fmla="*/ 0 w 31"/>
                <a:gd name="T7" fmla="*/ 3 h 31"/>
                <a:gd name="T8" fmla="*/ 0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89" name="Freeform 136"/>
            <p:cNvSpPr>
              <a:spLocks noChangeArrowheads="1"/>
            </p:cNvSpPr>
            <p:nvPr/>
          </p:nvSpPr>
          <p:spPr bwMode="auto">
            <a:xfrm>
              <a:off x="5135" y="2459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7 h 31"/>
                <a:gd name="T6" fmla="*/ 2 w 31"/>
                <a:gd name="T7" fmla="*/ 3 h 31"/>
                <a:gd name="T8" fmla="*/ 2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7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90" name="Freeform 137"/>
            <p:cNvSpPr>
              <a:spLocks noChangeArrowheads="1"/>
            </p:cNvSpPr>
            <p:nvPr/>
          </p:nvSpPr>
          <p:spPr bwMode="auto">
            <a:xfrm>
              <a:off x="5135" y="2722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5 h 31"/>
                <a:gd name="T6" fmla="*/ 2 w 31"/>
                <a:gd name="T7" fmla="*/ 0 h 31"/>
                <a:gd name="T8" fmla="*/ 2 w 31"/>
                <a:gd name="T9" fmla="*/ 0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5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91" name="Freeform 138"/>
            <p:cNvSpPr>
              <a:spLocks noChangeArrowheads="1"/>
            </p:cNvSpPr>
            <p:nvPr/>
          </p:nvSpPr>
          <p:spPr bwMode="auto">
            <a:xfrm>
              <a:off x="4349" y="2789"/>
              <a:ext cx="28" cy="30"/>
            </a:xfrm>
            <a:custGeom>
              <a:avLst/>
              <a:gdLst>
                <a:gd name="T0" fmla="*/ 0 w 28"/>
                <a:gd name="T1" fmla="*/ 0 h 30"/>
                <a:gd name="T2" fmla="*/ 0 w 28"/>
                <a:gd name="T3" fmla="*/ 30 h 30"/>
                <a:gd name="T4" fmla="*/ 28 w 28"/>
                <a:gd name="T5" fmla="*/ 16 h 30"/>
                <a:gd name="T6" fmla="*/ 0 w 28"/>
                <a:gd name="T7" fmla="*/ 0 h 30"/>
                <a:gd name="T8" fmla="*/ 0 w 28"/>
                <a:gd name="T9" fmla="*/ 0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30"/>
                <a:gd name="T17" fmla="*/ 28 w 28"/>
                <a:gd name="T18" fmla="*/ 30 h 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30">
                  <a:moveTo>
                    <a:pt x="0" y="0"/>
                  </a:moveTo>
                  <a:lnTo>
                    <a:pt x="0" y="30"/>
                  </a:lnTo>
                  <a:lnTo>
                    <a:pt x="28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92" name="Freeform 139"/>
            <p:cNvSpPr>
              <a:spLocks noChangeArrowheads="1"/>
            </p:cNvSpPr>
            <p:nvPr/>
          </p:nvSpPr>
          <p:spPr bwMode="auto">
            <a:xfrm>
              <a:off x="3273" y="2445"/>
              <a:ext cx="1085" cy="360"/>
            </a:xfrm>
            <a:custGeom>
              <a:avLst/>
              <a:gdLst>
                <a:gd name="T0" fmla="*/ 1085 w 1085"/>
                <a:gd name="T1" fmla="*/ 358 h 360"/>
                <a:gd name="T2" fmla="*/ 0 w 1085"/>
                <a:gd name="T3" fmla="*/ 360 h 360"/>
                <a:gd name="T4" fmla="*/ 0 w 1085"/>
                <a:gd name="T5" fmla="*/ 0 h 360"/>
                <a:gd name="T6" fmla="*/ 0 60000 65536"/>
                <a:gd name="T7" fmla="*/ 0 60000 65536"/>
                <a:gd name="T8" fmla="*/ 0 60000 65536"/>
                <a:gd name="T9" fmla="*/ 0 w 1085"/>
                <a:gd name="T10" fmla="*/ 0 h 360"/>
                <a:gd name="T11" fmla="*/ 1085 w 1085"/>
                <a:gd name="T12" fmla="*/ 360 h 3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5" h="360">
                  <a:moveTo>
                    <a:pt x="1085" y="358"/>
                  </a:moveTo>
                  <a:lnTo>
                    <a:pt x="0" y="360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93" name="Freeform 140"/>
            <p:cNvSpPr>
              <a:spLocks noChangeArrowheads="1"/>
            </p:cNvSpPr>
            <p:nvPr/>
          </p:nvSpPr>
          <p:spPr bwMode="auto">
            <a:xfrm>
              <a:off x="3565" y="2874"/>
              <a:ext cx="218" cy="464"/>
            </a:xfrm>
            <a:custGeom>
              <a:avLst/>
              <a:gdLst>
                <a:gd name="T0" fmla="*/ 109 w 218"/>
                <a:gd name="T1" fmla="*/ 464 h 464"/>
                <a:gd name="T2" fmla="*/ 125 w 218"/>
                <a:gd name="T3" fmla="*/ 462 h 464"/>
                <a:gd name="T4" fmla="*/ 144 w 218"/>
                <a:gd name="T5" fmla="*/ 452 h 464"/>
                <a:gd name="T6" fmla="*/ 158 w 218"/>
                <a:gd name="T7" fmla="*/ 438 h 464"/>
                <a:gd name="T8" fmla="*/ 173 w 218"/>
                <a:gd name="T9" fmla="*/ 419 h 464"/>
                <a:gd name="T10" fmla="*/ 187 w 218"/>
                <a:gd name="T11" fmla="*/ 395 h 464"/>
                <a:gd name="T12" fmla="*/ 196 w 218"/>
                <a:gd name="T13" fmla="*/ 369 h 464"/>
                <a:gd name="T14" fmla="*/ 206 w 218"/>
                <a:gd name="T15" fmla="*/ 338 h 464"/>
                <a:gd name="T16" fmla="*/ 213 w 218"/>
                <a:gd name="T17" fmla="*/ 305 h 464"/>
                <a:gd name="T18" fmla="*/ 218 w 218"/>
                <a:gd name="T19" fmla="*/ 270 h 464"/>
                <a:gd name="T20" fmla="*/ 218 w 218"/>
                <a:gd name="T21" fmla="*/ 232 h 464"/>
                <a:gd name="T22" fmla="*/ 218 w 218"/>
                <a:gd name="T23" fmla="*/ 194 h 464"/>
                <a:gd name="T24" fmla="*/ 213 w 218"/>
                <a:gd name="T25" fmla="*/ 159 h 464"/>
                <a:gd name="T26" fmla="*/ 206 w 218"/>
                <a:gd name="T27" fmla="*/ 125 h 464"/>
                <a:gd name="T28" fmla="*/ 196 w 218"/>
                <a:gd name="T29" fmla="*/ 95 h 464"/>
                <a:gd name="T30" fmla="*/ 187 w 218"/>
                <a:gd name="T31" fmla="*/ 66 h 464"/>
                <a:gd name="T32" fmla="*/ 173 w 218"/>
                <a:gd name="T33" fmla="*/ 45 h 464"/>
                <a:gd name="T34" fmla="*/ 158 w 218"/>
                <a:gd name="T35" fmla="*/ 26 h 464"/>
                <a:gd name="T36" fmla="*/ 144 w 218"/>
                <a:gd name="T37" fmla="*/ 12 h 464"/>
                <a:gd name="T38" fmla="*/ 125 w 218"/>
                <a:gd name="T39" fmla="*/ 2 h 464"/>
                <a:gd name="T40" fmla="*/ 109 w 218"/>
                <a:gd name="T41" fmla="*/ 0 h 464"/>
                <a:gd name="T42" fmla="*/ 90 w 218"/>
                <a:gd name="T43" fmla="*/ 2 h 464"/>
                <a:gd name="T44" fmla="*/ 73 w 218"/>
                <a:gd name="T45" fmla="*/ 12 h 464"/>
                <a:gd name="T46" fmla="*/ 59 w 218"/>
                <a:gd name="T47" fmla="*/ 26 h 464"/>
                <a:gd name="T48" fmla="*/ 45 w 218"/>
                <a:gd name="T49" fmla="*/ 45 h 464"/>
                <a:gd name="T50" fmla="*/ 30 w 218"/>
                <a:gd name="T51" fmla="*/ 66 h 464"/>
                <a:gd name="T52" fmla="*/ 21 w 218"/>
                <a:gd name="T53" fmla="*/ 95 h 464"/>
                <a:gd name="T54" fmla="*/ 12 w 218"/>
                <a:gd name="T55" fmla="*/ 125 h 464"/>
                <a:gd name="T56" fmla="*/ 4 w 218"/>
                <a:gd name="T57" fmla="*/ 159 h 464"/>
                <a:gd name="T58" fmla="*/ 0 w 218"/>
                <a:gd name="T59" fmla="*/ 194 h 464"/>
                <a:gd name="T60" fmla="*/ 0 w 218"/>
                <a:gd name="T61" fmla="*/ 232 h 464"/>
                <a:gd name="T62" fmla="*/ 0 w 218"/>
                <a:gd name="T63" fmla="*/ 270 h 464"/>
                <a:gd name="T64" fmla="*/ 4 w 218"/>
                <a:gd name="T65" fmla="*/ 305 h 464"/>
                <a:gd name="T66" fmla="*/ 12 w 218"/>
                <a:gd name="T67" fmla="*/ 338 h 464"/>
                <a:gd name="T68" fmla="*/ 21 w 218"/>
                <a:gd name="T69" fmla="*/ 369 h 464"/>
                <a:gd name="T70" fmla="*/ 30 w 218"/>
                <a:gd name="T71" fmla="*/ 395 h 464"/>
                <a:gd name="T72" fmla="*/ 45 w 218"/>
                <a:gd name="T73" fmla="*/ 419 h 464"/>
                <a:gd name="T74" fmla="*/ 59 w 218"/>
                <a:gd name="T75" fmla="*/ 438 h 464"/>
                <a:gd name="T76" fmla="*/ 73 w 218"/>
                <a:gd name="T77" fmla="*/ 452 h 464"/>
                <a:gd name="T78" fmla="*/ 90 w 218"/>
                <a:gd name="T79" fmla="*/ 462 h 464"/>
                <a:gd name="T80" fmla="*/ 109 w 218"/>
                <a:gd name="T81" fmla="*/ 464 h 464"/>
                <a:gd name="T82" fmla="*/ 109 w 218"/>
                <a:gd name="T83" fmla="*/ 464 h 4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8"/>
                <a:gd name="T127" fmla="*/ 0 h 464"/>
                <a:gd name="T128" fmla="*/ 218 w 218"/>
                <a:gd name="T129" fmla="*/ 464 h 4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8" h="464">
                  <a:moveTo>
                    <a:pt x="109" y="464"/>
                  </a:moveTo>
                  <a:lnTo>
                    <a:pt x="125" y="462"/>
                  </a:lnTo>
                  <a:lnTo>
                    <a:pt x="144" y="452"/>
                  </a:lnTo>
                  <a:lnTo>
                    <a:pt x="158" y="438"/>
                  </a:lnTo>
                  <a:lnTo>
                    <a:pt x="173" y="419"/>
                  </a:lnTo>
                  <a:lnTo>
                    <a:pt x="187" y="395"/>
                  </a:lnTo>
                  <a:lnTo>
                    <a:pt x="196" y="369"/>
                  </a:lnTo>
                  <a:lnTo>
                    <a:pt x="206" y="338"/>
                  </a:lnTo>
                  <a:lnTo>
                    <a:pt x="213" y="305"/>
                  </a:lnTo>
                  <a:lnTo>
                    <a:pt x="218" y="270"/>
                  </a:lnTo>
                  <a:lnTo>
                    <a:pt x="218" y="232"/>
                  </a:lnTo>
                  <a:lnTo>
                    <a:pt x="218" y="194"/>
                  </a:lnTo>
                  <a:lnTo>
                    <a:pt x="213" y="159"/>
                  </a:lnTo>
                  <a:lnTo>
                    <a:pt x="206" y="125"/>
                  </a:lnTo>
                  <a:lnTo>
                    <a:pt x="196" y="95"/>
                  </a:lnTo>
                  <a:lnTo>
                    <a:pt x="187" y="66"/>
                  </a:lnTo>
                  <a:lnTo>
                    <a:pt x="173" y="45"/>
                  </a:lnTo>
                  <a:lnTo>
                    <a:pt x="158" y="26"/>
                  </a:lnTo>
                  <a:lnTo>
                    <a:pt x="144" y="12"/>
                  </a:lnTo>
                  <a:lnTo>
                    <a:pt x="125" y="2"/>
                  </a:lnTo>
                  <a:lnTo>
                    <a:pt x="109" y="0"/>
                  </a:lnTo>
                  <a:lnTo>
                    <a:pt x="90" y="2"/>
                  </a:lnTo>
                  <a:lnTo>
                    <a:pt x="73" y="12"/>
                  </a:lnTo>
                  <a:lnTo>
                    <a:pt x="59" y="26"/>
                  </a:lnTo>
                  <a:lnTo>
                    <a:pt x="45" y="45"/>
                  </a:lnTo>
                  <a:lnTo>
                    <a:pt x="30" y="66"/>
                  </a:lnTo>
                  <a:lnTo>
                    <a:pt x="21" y="95"/>
                  </a:lnTo>
                  <a:lnTo>
                    <a:pt x="12" y="125"/>
                  </a:lnTo>
                  <a:lnTo>
                    <a:pt x="4" y="159"/>
                  </a:lnTo>
                  <a:lnTo>
                    <a:pt x="0" y="194"/>
                  </a:lnTo>
                  <a:lnTo>
                    <a:pt x="0" y="232"/>
                  </a:lnTo>
                  <a:lnTo>
                    <a:pt x="0" y="270"/>
                  </a:lnTo>
                  <a:lnTo>
                    <a:pt x="4" y="305"/>
                  </a:lnTo>
                  <a:lnTo>
                    <a:pt x="12" y="338"/>
                  </a:lnTo>
                  <a:lnTo>
                    <a:pt x="21" y="369"/>
                  </a:lnTo>
                  <a:lnTo>
                    <a:pt x="30" y="395"/>
                  </a:lnTo>
                  <a:lnTo>
                    <a:pt x="45" y="419"/>
                  </a:lnTo>
                  <a:lnTo>
                    <a:pt x="59" y="438"/>
                  </a:lnTo>
                  <a:lnTo>
                    <a:pt x="73" y="452"/>
                  </a:lnTo>
                  <a:lnTo>
                    <a:pt x="90" y="462"/>
                  </a:lnTo>
                  <a:lnTo>
                    <a:pt x="109" y="4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94" name="Freeform 141"/>
            <p:cNvSpPr>
              <a:spLocks noChangeArrowheads="1"/>
            </p:cNvSpPr>
            <p:nvPr/>
          </p:nvSpPr>
          <p:spPr bwMode="auto">
            <a:xfrm>
              <a:off x="3565" y="2874"/>
              <a:ext cx="218" cy="464"/>
            </a:xfrm>
            <a:custGeom>
              <a:avLst/>
              <a:gdLst>
                <a:gd name="T0" fmla="*/ 109 w 218"/>
                <a:gd name="T1" fmla="*/ 464 h 464"/>
                <a:gd name="T2" fmla="*/ 125 w 218"/>
                <a:gd name="T3" fmla="*/ 462 h 464"/>
                <a:gd name="T4" fmla="*/ 144 w 218"/>
                <a:gd name="T5" fmla="*/ 452 h 464"/>
                <a:gd name="T6" fmla="*/ 158 w 218"/>
                <a:gd name="T7" fmla="*/ 438 h 464"/>
                <a:gd name="T8" fmla="*/ 173 w 218"/>
                <a:gd name="T9" fmla="*/ 419 h 464"/>
                <a:gd name="T10" fmla="*/ 187 w 218"/>
                <a:gd name="T11" fmla="*/ 395 h 464"/>
                <a:gd name="T12" fmla="*/ 196 w 218"/>
                <a:gd name="T13" fmla="*/ 369 h 464"/>
                <a:gd name="T14" fmla="*/ 206 w 218"/>
                <a:gd name="T15" fmla="*/ 338 h 464"/>
                <a:gd name="T16" fmla="*/ 213 w 218"/>
                <a:gd name="T17" fmla="*/ 305 h 464"/>
                <a:gd name="T18" fmla="*/ 218 w 218"/>
                <a:gd name="T19" fmla="*/ 270 h 464"/>
                <a:gd name="T20" fmla="*/ 218 w 218"/>
                <a:gd name="T21" fmla="*/ 232 h 464"/>
                <a:gd name="T22" fmla="*/ 218 w 218"/>
                <a:gd name="T23" fmla="*/ 194 h 464"/>
                <a:gd name="T24" fmla="*/ 213 w 218"/>
                <a:gd name="T25" fmla="*/ 159 h 464"/>
                <a:gd name="T26" fmla="*/ 206 w 218"/>
                <a:gd name="T27" fmla="*/ 125 h 464"/>
                <a:gd name="T28" fmla="*/ 196 w 218"/>
                <a:gd name="T29" fmla="*/ 95 h 464"/>
                <a:gd name="T30" fmla="*/ 187 w 218"/>
                <a:gd name="T31" fmla="*/ 66 h 464"/>
                <a:gd name="T32" fmla="*/ 173 w 218"/>
                <a:gd name="T33" fmla="*/ 45 h 464"/>
                <a:gd name="T34" fmla="*/ 158 w 218"/>
                <a:gd name="T35" fmla="*/ 26 h 464"/>
                <a:gd name="T36" fmla="*/ 144 w 218"/>
                <a:gd name="T37" fmla="*/ 12 h 464"/>
                <a:gd name="T38" fmla="*/ 125 w 218"/>
                <a:gd name="T39" fmla="*/ 2 h 464"/>
                <a:gd name="T40" fmla="*/ 109 w 218"/>
                <a:gd name="T41" fmla="*/ 0 h 464"/>
                <a:gd name="T42" fmla="*/ 90 w 218"/>
                <a:gd name="T43" fmla="*/ 2 h 464"/>
                <a:gd name="T44" fmla="*/ 73 w 218"/>
                <a:gd name="T45" fmla="*/ 12 h 464"/>
                <a:gd name="T46" fmla="*/ 59 w 218"/>
                <a:gd name="T47" fmla="*/ 26 h 464"/>
                <a:gd name="T48" fmla="*/ 45 w 218"/>
                <a:gd name="T49" fmla="*/ 45 h 464"/>
                <a:gd name="T50" fmla="*/ 30 w 218"/>
                <a:gd name="T51" fmla="*/ 66 h 464"/>
                <a:gd name="T52" fmla="*/ 21 w 218"/>
                <a:gd name="T53" fmla="*/ 95 h 464"/>
                <a:gd name="T54" fmla="*/ 12 w 218"/>
                <a:gd name="T55" fmla="*/ 125 h 464"/>
                <a:gd name="T56" fmla="*/ 4 w 218"/>
                <a:gd name="T57" fmla="*/ 159 h 464"/>
                <a:gd name="T58" fmla="*/ 0 w 218"/>
                <a:gd name="T59" fmla="*/ 194 h 464"/>
                <a:gd name="T60" fmla="*/ 0 w 218"/>
                <a:gd name="T61" fmla="*/ 232 h 464"/>
                <a:gd name="T62" fmla="*/ 0 w 218"/>
                <a:gd name="T63" fmla="*/ 270 h 464"/>
                <a:gd name="T64" fmla="*/ 4 w 218"/>
                <a:gd name="T65" fmla="*/ 305 h 464"/>
                <a:gd name="T66" fmla="*/ 12 w 218"/>
                <a:gd name="T67" fmla="*/ 338 h 464"/>
                <a:gd name="T68" fmla="*/ 21 w 218"/>
                <a:gd name="T69" fmla="*/ 369 h 464"/>
                <a:gd name="T70" fmla="*/ 30 w 218"/>
                <a:gd name="T71" fmla="*/ 395 h 464"/>
                <a:gd name="T72" fmla="*/ 45 w 218"/>
                <a:gd name="T73" fmla="*/ 419 h 464"/>
                <a:gd name="T74" fmla="*/ 59 w 218"/>
                <a:gd name="T75" fmla="*/ 438 h 464"/>
                <a:gd name="T76" fmla="*/ 73 w 218"/>
                <a:gd name="T77" fmla="*/ 452 h 464"/>
                <a:gd name="T78" fmla="*/ 90 w 218"/>
                <a:gd name="T79" fmla="*/ 462 h 464"/>
                <a:gd name="T80" fmla="*/ 109 w 218"/>
                <a:gd name="T81" fmla="*/ 464 h 464"/>
                <a:gd name="T82" fmla="*/ 109 w 218"/>
                <a:gd name="T83" fmla="*/ 464 h 4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8"/>
                <a:gd name="T127" fmla="*/ 0 h 464"/>
                <a:gd name="T128" fmla="*/ 218 w 218"/>
                <a:gd name="T129" fmla="*/ 464 h 4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8" h="464">
                  <a:moveTo>
                    <a:pt x="109" y="464"/>
                  </a:moveTo>
                  <a:lnTo>
                    <a:pt x="125" y="462"/>
                  </a:lnTo>
                  <a:lnTo>
                    <a:pt x="144" y="452"/>
                  </a:lnTo>
                  <a:lnTo>
                    <a:pt x="158" y="438"/>
                  </a:lnTo>
                  <a:lnTo>
                    <a:pt x="173" y="419"/>
                  </a:lnTo>
                  <a:lnTo>
                    <a:pt x="187" y="395"/>
                  </a:lnTo>
                  <a:lnTo>
                    <a:pt x="196" y="369"/>
                  </a:lnTo>
                  <a:lnTo>
                    <a:pt x="206" y="338"/>
                  </a:lnTo>
                  <a:lnTo>
                    <a:pt x="213" y="305"/>
                  </a:lnTo>
                  <a:lnTo>
                    <a:pt x="218" y="270"/>
                  </a:lnTo>
                  <a:lnTo>
                    <a:pt x="218" y="232"/>
                  </a:lnTo>
                  <a:lnTo>
                    <a:pt x="218" y="194"/>
                  </a:lnTo>
                  <a:lnTo>
                    <a:pt x="213" y="159"/>
                  </a:lnTo>
                  <a:lnTo>
                    <a:pt x="206" y="125"/>
                  </a:lnTo>
                  <a:lnTo>
                    <a:pt x="196" y="95"/>
                  </a:lnTo>
                  <a:lnTo>
                    <a:pt x="187" y="66"/>
                  </a:lnTo>
                  <a:lnTo>
                    <a:pt x="173" y="45"/>
                  </a:lnTo>
                  <a:lnTo>
                    <a:pt x="158" y="26"/>
                  </a:lnTo>
                  <a:lnTo>
                    <a:pt x="144" y="12"/>
                  </a:lnTo>
                  <a:lnTo>
                    <a:pt x="125" y="2"/>
                  </a:lnTo>
                  <a:lnTo>
                    <a:pt x="109" y="0"/>
                  </a:lnTo>
                  <a:lnTo>
                    <a:pt x="90" y="2"/>
                  </a:lnTo>
                  <a:lnTo>
                    <a:pt x="73" y="12"/>
                  </a:lnTo>
                  <a:lnTo>
                    <a:pt x="59" y="26"/>
                  </a:lnTo>
                  <a:lnTo>
                    <a:pt x="45" y="45"/>
                  </a:lnTo>
                  <a:lnTo>
                    <a:pt x="30" y="66"/>
                  </a:lnTo>
                  <a:lnTo>
                    <a:pt x="21" y="95"/>
                  </a:lnTo>
                  <a:lnTo>
                    <a:pt x="12" y="125"/>
                  </a:lnTo>
                  <a:lnTo>
                    <a:pt x="4" y="159"/>
                  </a:lnTo>
                  <a:lnTo>
                    <a:pt x="0" y="194"/>
                  </a:lnTo>
                  <a:lnTo>
                    <a:pt x="0" y="232"/>
                  </a:lnTo>
                  <a:lnTo>
                    <a:pt x="0" y="270"/>
                  </a:lnTo>
                  <a:lnTo>
                    <a:pt x="4" y="305"/>
                  </a:lnTo>
                  <a:lnTo>
                    <a:pt x="12" y="338"/>
                  </a:lnTo>
                  <a:lnTo>
                    <a:pt x="21" y="369"/>
                  </a:lnTo>
                  <a:lnTo>
                    <a:pt x="30" y="395"/>
                  </a:lnTo>
                  <a:lnTo>
                    <a:pt x="45" y="419"/>
                  </a:lnTo>
                  <a:lnTo>
                    <a:pt x="59" y="438"/>
                  </a:lnTo>
                  <a:lnTo>
                    <a:pt x="73" y="452"/>
                  </a:lnTo>
                  <a:lnTo>
                    <a:pt x="90" y="462"/>
                  </a:lnTo>
                  <a:lnTo>
                    <a:pt x="109" y="464"/>
                  </a:lnTo>
                </a:path>
              </a:pathLst>
            </a:custGeom>
            <a:solidFill>
              <a:srgbClr val="D9D9D9"/>
            </a:solidFill>
            <a:ln w="11160">
              <a:solidFill>
                <a:srgbClr val="EB75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95" name="Rectangle 142"/>
            <p:cNvSpPr>
              <a:spLocks noChangeArrowheads="1"/>
            </p:cNvSpPr>
            <p:nvPr/>
          </p:nvSpPr>
          <p:spPr bwMode="auto">
            <a:xfrm>
              <a:off x="2490" y="3232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996" name="Rectangle 143"/>
            <p:cNvSpPr>
              <a:spLocks noChangeArrowheads="1"/>
            </p:cNvSpPr>
            <p:nvPr/>
          </p:nvSpPr>
          <p:spPr bwMode="auto">
            <a:xfrm>
              <a:off x="2506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997" name="Rectangle 144"/>
            <p:cNvSpPr>
              <a:spLocks noChangeArrowheads="1"/>
            </p:cNvSpPr>
            <p:nvPr/>
          </p:nvSpPr>
          <p:spPr bwMode="auto">
            <a:xfrm>
              <a:off x="2537" y="3232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998" name="Rectangle 145"/>
            <p:cNvSpPr>
              <a:spLocks noChangeArrowheads="1"/>
            </p:cNvSpPr>
            <p:nvPr/>
          </p:nvSpPr>
          <p:spPr bwMode="auto">
            <a:xfrm>
              <a:off x="2568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999" name="Rectangle 146"/>
            <p:cNvSpPr>
              <a:spLocks noChangeArrowheads="1"/>
            </p:cNvSpPr>
            <p:nvPr/>
          </p:nvSpPr>
          <p:spPr bwMode="auto">
            <a:xfrm>
              <a:off x="2584" y="3232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00" name="Rectangle 147"/>
            <p:cNvSpPr>
              <a:spLocks noChangeArrowheads="1"/>
            </p:cNvSpPr>
            <p:nvPr/>
          </p:nvSpPr>
          <p:spPr bwMode="auto">
            <a:xfrm>
              <a:off x="2603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001" name="Rectangle 148"/>
            <p:cNvSpPr>
              <a:spLocks noChangeArrowheads="1"/>
            </p:cNvSpPr>
            <p:nvPr/>
          </p:nvSpPr>
          <p:spPr bwMode="auto">
            <a:xfrm>
              <a:off x="2636" y="3232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002" name="Rectangle 149"/>
            <p:cNvSpPr>
              <a:spLocks noChangeArrowheads="1"/>
            </p:cNvSpPr>
            <p:nvPr/>
          </p:nvSpPr>
          <p:spPr bwMode="auto">
            <a:xfrm>
              <a:off x="2665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003" name="Rectangle 150"/>
            <p:cNvSpPr>
              <a:spLocks noChangeArrowheads="1"/>
            </p:cNvSpPr>
            <p:nvPr/>
          </p:nvSpPr>
          <p:spPr bwMode="auto">
            <a:xfrm>
              <a:off x="2680" y="3232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004" name="Rectangle 151"/>
            <p:cNvSpPr>
              <a:spLocks noChangeArrowheads="1"/>
            </p:cNvSpPr>
            <p:nvPr/>
          </p:nvSpPr>
          <p:spPr bwMode="auto">
            <a:xfrm>
              <a:off x="2693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005" name="Rectangle 152"/>
            <p:cNvSpPr>
              <a:spLocks noChangeArrowheads="1"/>
            </p:cNvSpPr>
            <p:nvPr/>
          </p:nvSpPr>
          <p:spPr bwMode="auto">
            <a:xfrm>
              <a:off x="2726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006" name="Rectangle 153"/>
            <p:cNvSpPr>
              <a:spLocks noChangeArrowheads="1"/>
            </p:cNvSpPr>
            <p:nvPr/>
          </p:nvSpPr>
          <p:spPr bwMode="auto">
            <a:xfrm>
              <a:off x="2760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007" name="Rectangle 154"/>
            <p:cNvSpPr>
              <a:spLocks noChangeArrowheads="1"/>
            </p:cNvSpPr>
            <p:nvPr/>
          </p:nvSpPr>
          <p:spPr bwMode="auto">
            <a:xfrm>
              <a:off x="2774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2008" name="Rectangle 155"/>
            <p:cNvSpPr>
              <a:spLocks noChangeArrowheads="1"/>
            </p:cNvSpPr>
            <p:nvPr/>
          </p:nvSpPr>
          <p:spPr bwMode="auto">
            <a:xfrm>
              <a:off x="2790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2009" name="Rectangle 156"/>
            <p:cNvSpPr>
              <a:spLocks noChangeArrowheads="1"/>
            </p:cNvSpPr>
            <p:nvPr/>
          </p:nvSpPr>
          <p:spPr bwMode="auto">
            <a:xfrm>
              <a:off x="2823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010" name="Rectangle 157"/>
            <p:cNvSpPr>
              <a:spLocks noChangeArrowheads="1"/>
            </p:cNvSpPr>
            <p:nvPr/>
          </p:nvSpPr>
          <p:spPr bwMode="auto">
            <a:xfrm>
              <a:off x="2840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011" name="Rectangle 158"/>
            <p:cNvSpPr>
              <a:spLocks noChangeArrowheads="1"/>
            </p:cNvSpPr>
            <p:nvPr/>
          </p:nvSpPr>
          <p:spPr bwMode="auto">
            <a:xfrm>
              <a:off x="2857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2012" name="Rectangle 159"/>
            <p:cNvSpPr>
              <a:spLocks noChangeArrowheads="1"/>
            </p:cNvSpPr>
            <p:nvPr/>
          </p:nvSpPr>
          <p:spPr bwMode="auto">
            <a:xfrm>
              <a:off x="2887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2013" name="Freeform 160"/>
            <p:cNvSpPr>
              <a:spLocks noChangeArrowheads="1"/>
            </p:cNvSpPr>
            <p:nvPr/>
          </p:nvSpPr>
          <p:spPr bwMode="auto">
            <a:xfrm>
              <a:off x="2461" y="3018"/>
              <a:ext cx="1080" cy="299"/>
            </a:xfrm>
            <a:custGeom>
              <a:avLst/>
              <a:gdLst>
                <a:gd name="T0" fmla="*/ 0 w 1080"/>
                <a:gd name="T1" fmla="*/ 0 h 299"/>
                <a:gd name="T2" fmla="*/ 0 w 1080"/>
                <a:gd name="T3" fmla="*/ 299 h 299"/>
                <a:gd name="T4" fmla="*/ 1014 w 1080"/>
                <a:gd name="T5" fmla="*/ 299 h 299"/>
                <a:gd name="T6" fmla="*/ 1014 w 1080"/>
                <a:gd name="T7" fmla="*/ 88 h 299"/>
                <a:gd name="T8" fmla="*/ 1080 w 1080"/>
                <a:gd name="T9" fmla="*/ 88 h 2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80"/>
                <a:gd name="T16" fmla="*/ 0 h 299"/>
                <a:gd name="T17" fmla="*/ 1080 w 1080"/>
                <a:gd name="T18" fmla="*/ 299 h 2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80" h="299">
                  <a:moveTo>
                    <a:pt x="0" y="0"/>
                  </a:moveTo>
                  <a:lnTo>
                    <a:pt x="0" y="299"/>
                  </a:lnTo>
                  <a:lnTo>
                    <a:pt x="1014" y="299"/>
                  </a:lnTo>
                  <a:lnTo>
                    <a:pt x="1014" y="88"/>
                  </a:lnTo>
                  <a:lnTo>
                    <a:pt x="1080" y="88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14" name="Freeform 161"/>
            <p:cNvSpPr>
              <a:spLocks noChangeArrowheads="1"/>
            </p:cNvSpPr>
            <p:nvPr/>
          </p:nvSpPr>
          <p:spPr bwMode="auto">
            <a:xfrm>
              <a:off x="2224" y="1285"/>
              <a:ext cx="275" cy="727"/>
            </a:xfrm>
            <a:custGeom>
              <a:avLst/>
              <a:gdLst>
                <a:gd name="T0" fmla="*/ 138 w 275"/>
                <a:gd name="T1" fmla="*/ 727 h 727"/>
                <a:gd name="T2" fmla="*/ 161 w 275"/>
                <a:gd name="T3" fmla="*/ 722 h 727"/>
                <a:gd name="T4" fmla="*/ 180 w 275"/>
                <a:gd name="T5" fmla="*/ 710 h 727"/>
                <a:gd name="T6" fmla="*/ 202 w 275"/>
                <a:gd name="T7" fmla="*/ 687 h 727"/>
                <a:gd name="T8" fmla="*/ 218 w 275"/>
                <a:gd name="T9" fmla="*/ 658 h 727"/>
                <a:gd name="T10" fmla="*/ 235 w 275"/>
                <a:gd name="T11" fmla="*/ 620 h 727"/>
                <a:gd name="T12" fmla="*/ 249 w 275"/>
                <a:gd name="T13" fmla="*/ 580 h 727"/>
                <a:gd name="T14" fmla="*/ 261 w 275"/>
                <a:gd name="T15" fmla="*/ 530 h 727"/>
                <a:gd name="T16" fmla="*/ 268 w 275"/>
                <a:gd name="T17" fmla="*/ 478 h 727"/>
                <a:gd name="T18" fmla="*/ 273 w 275"/>
                <a:gd name="T19" fmla="*/ 424 h 727"/>
                <a:gd name="T20" fmla="*/ 275 w 275"/>
                <a:gd name="T21" fmla="*/ 365 h 727"/>
                <a:gd name="T22" fmla="*/ 273 w 275"/>
                <a:gd name="T23" fmla="*/ 305 h 727"/>
                <a:gd name="T24" fmla="*/ 268 w 275"/>
                <a:gd name="T25" fmla="*/ 249 h 727"/>
                <a:gd name="T26" fmla="*/ 261 w 275"/>
                <a:gd name="T27" fmla="*/ 197 h 727"/>
                <a:gd name="T28" fmla="*/ 249 w 275"/>
                <a:gd name="T29" fmla="*/ 149 h 727"/>
                <a:gd name="T30" fmla="*/ 235 w 275"/>
                <a:gd name="T31" fmla="*/ 107 h 727"/>
                <a:gd name="T32" fmla="*/ 218 w 275"/>
                <a:gd name="T33" fmla="*/ 71 h 727"/>
                <a:gd name="T34" fmla="*/ 202 w 275"/>
                <a:gd name="T35" fmla="*/ 40 h 727"/>
                <a:gd name="T36" fmla="*/ 180 w 275"/>
                <a:gd name="T37" fmla="*/ 19 h 727"/>
                <a:gd name="T38" fmla="*/ 161 w 275"/>
                <a:gd name="T39" fmla="*/ 5 h 727"/>
                <a:gd name="T40" fmla="*/ 138 w 275"/>
                <a:gd name="T41" fmla="*/ 0 h 727"/>
                <a:gd name="T42" fmla="*/ 116 w 275"/>
                <a:gd name="T43" fmla="*/ 5 h 727"/>
                <a:gd name="T44" fmla="*/ 95 w 275"/>
                <a:gd name="T45" fmla="*/ 19 h 727"/>
                <a:gd name="T46" fmla="*/ 76 w 275"/>
                <a:gd name="T47" fmla="*/ 40 h 727"/>
                <a:gd name="T48" fmla="*/ 57 w 275"/>
                <a:gd name="T49" fmla="*/ 71 h 727"/>
                <a:gd name="T50" fmla="*/ 41 w 275"/>
                <a:gd name="T51" fmla="*/ 107 h 727"/>
                <a:gd name="T52" fmla="*/ 26 w 275"/>
                <a:gd name="T53" fmla="*/ 149 h 727"/>
                <a:gd name="T54" fmla="*/ 17 w 275"/>
                <a:gd name="T55" fmla="*/ 197 h 727"/>
                <a:gd name="T56" fmla="*/ 7 w 275"/>
                <a:gd name="T57" fmla="*/ 249 h 727"/>
                <a:gd name="T58" fmla="*/ 3 w 275"/>
                <a:gd name="T59" fmla="*/ 305 h 727"/>
                <a:gd name="T60" fmla="*/ 0 w 275"/>
                <a:gd name="T61" fmla="*/ 365 h 727"/>
                <a:gd name="T62" fmla="*/ 3 w 275"/>
                <a:gd name="T63" fmla="*/ 424 h 727"/>
                <a:gd name="T64" fmla="*/ 7 w 275"/>
                <a:gd name="T65" fmla="*/ 478 h 727"/>
                <a:gd name="T66" fmla="*/ 17 w 275"/>
                <a:gd name="T67" fmla="*/ 530 h 727"/>
                <a:gd name="T68" fmla="*/ 26 w 275"/>
                <a:gd name="T69" fmla="*/ 580 h 727"/>
                <a:gd name="T70" fmla="*/ 41 w 275"/>
                <a:gd name="T71" fmla="*/ 620 h 727"/>
                <a:gd name="T72" fmla="*/ 57 w 275"/>
                <a:gd name="T73" fmla="*/ 658 h 727"/>
                <a:gd name="T74" fmla="*/ 76 w 275"/>
                <a:gd name="T75" fmla="*/ 687 h 727"/>
                <a:gd name="T76" fmla="*/ 95 w 275"/>
                <a:gd name="T77" fmla="*/ 710 h 727"/>
                <a:gd name="T78" fmla="*/ 116 w 275"/>
                <a:gd name="T79" fmla="*/ 722 h 727"/>
                <a:gd name="T80" fmla="*/ 138 w 275"/>
                <a:gd name="T81" fmla="*/ 727 h 727"/>
                <a:gd name="T82" fmla="*/ 138 w 275"/>
                <a:gd name="T83" fmla="*/ 727 h 72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75"/>
                <a:gd name="T127" fmla="*/ 0 h 727"/>
                <a:gd name="T128" fmla="*/ 275 w 275"/>
                <a:gd name="T129" fmla="*/ 727 h 72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75" h="727">
                  <a:moveTo>
                    <a:pt x="138" y="727"/>
                  </a:moveTo>
                  <a:lnTo>
                    <a:pt x="161" y="722"/>
                  </a:lnTo>
                  <a:lnTo>
                    <a:pt x="180" y="710"/>
                  </a:lnTo>
                  <a:lnTo>
                    <a:pt x="202" y="687"/>
                  </a:lnTo>
                  <a:lnTo>
                    <a:pt x="218" y="658"/>
                  </a:lnTo>
                  <a:lnTo>
                    <a:pt x="235" y="620"/>
                  </a:lnTo>
                  <a:lnTo>
                    <a:pt x="249" y="580"/>
                  </a:lnTo>
                  <a:lnTo>
                    <a:pt x="261" y="530"/>
                  </a:lnTo>
                  <a:lnTo>
                    <a:pt x="268" y="478"/>
                  </a:lnTo>
                  <a:lnTo>
                    <a:pt x="273" y="424"/>
                  </a:lnTo>
                  <a:lnTo>
                    <a:pt x="275" y="365"/>
                  </a:lnTo>
                  <a:lnTo>
                    <a:pt x="273" y="305"/>
                  </a:lnTo>
                  <a:lnTo>
                    <a:pt x="268" y="249"/>
                  </a:lnTo>
                  <a:lnTo>
                    <a:pt x="261" y="197"/>
                  </a:lnTo>
                  <a:lnTo>
                    <a:pt x="249" y="149"/>
                  </a:lnTo>
                  <a:lnTo>
                    <a:pt x="235" y="107"/>
                  </a:lnTo>
                  <a:lnTo>
                    <a:pt x="218" y="71"/>
                  </a:lnTo>
                  <a:lnTo>
                    <a:pt x="202" y="40"/>
                  </a:lnTo>
                  <a:lnTo>
                    <a:pt x="180" y="19"/>
                  </a:lnTo>
                  <a:lnTo>
                    <a:pt x="161" y="5"/>
                  </a:lnTo>
                  <a:lnTo>
                    <a:pt x="138" y="0"/>
                  </a:lnTo>
                  <a:lnTo>
                    <a:pt x="116" y="5"/>
                  </a:lnTo>
                  <a:lnTo>
                    <a:pt x="95" y="19"/>
                  </a:lnTo>
                  <a:lnTo>
                    <a:pt x="76" y="40"/>
                  </a:lnTo>
                  <a:lnTo>
                    <a:pt x="57" y="71"/>
                  </a:lnTo>
                  <a:lnTo>
                    <a:pt x="41" y="107"/>
                  </a:lnTo>
                  <a:lnTo>
                    <a:pt x="26" y="149"/>
                  </a:lnTo>
                  <a:lnTo>
                    <a:pt x="17" y="197"/>
                  </a:lnTo>
                  <a:lnTo>
                    <a:pt x="7" y="249"/>
                  </a:lnTo>
                  <a:lnTo>
                    <a:pt x="3" y="305"/>
                  </a:lnTo>
                  <a:lnTo>
                    <a:pt x="0" y="365"/>
                  </a:lnTo>
                  <a:lnTo>
                    <a:pt x="3" y="424"/>
                  </a:lnTo>
                  <a:lnTo>
                    <a:pt x="7" y="478"/>
                  </a:lnTo>
                  <a:lnTo>
                    <a:pt x="17" y="530"/>
                  </a:lnTo>
                  <a:lnTo>
                    <a:pt x="26" y="580"/>
                  </a:lnTo>
                  <a:lnTo>
                    <a:pt x="41" y="620"/>
                  </a:lnTo>
                  <a:lnTo>
                    <a:pt x="57" y="658"/>
                  </a:lnTo>
                  <a:lnTo>
                    <a:pt x="76" y="687"/>
                  </a:lnTo>
                  <a:lnTo>
                    <a:pt x="95" y="710"/>
                  </a:lnTo>
                  <a:lnTo>
                    <a:pt x="116" y="722"/>
                  </a:lnTo>
                  <a:lnTo>
                    <a:pt x="138" y="7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15" name="Freeform 162"/>
            <p:cNvSpPr>
              <a:spLocks noChangeArrowheads="1"/>
            </p:cNvSpPr>
            <p:nvPr/>
          </p:nvSpPr>
          <p:spPr bwMode="auto">
            <a:xfrm>
              <a:off x="2224" y="1285"/>
              <a:ext cx="275" cy="727"/>
            </a:xfrm>
            <a:custGeom>
              <a:avLst/>
              <a:gdLst>
                <a:gd name="T0" fmla="*/ 138 w 275"/>
                <a:gd name="T1" fmla="*/ 727 h 727"/>
                <a:gd name="T2" fmla="*/ 161 w 275"/>
                <a:gd name="T3" fmla="*/ 722 h 727"/>
                <a:gd name="T4" fmla="*/ 180 w 275"/>
                <a:gd name="T5" fmla="*/ 710 h 727"/>
                <a:gd name="T6" fmla="*/ 202 w 275"/>
                <a:gd name="T7" fmla="*/ 687 h 727"/>
                <a:gd name="T8" fmla="*/ 218 w 275"/>
                <a:gd name="T9" fmla="*/ 658 h 727"/>
                <a:gd name="T10" fmla="*/ 235 w 275"/>
                <a:gd name="T11" fmla="*/ 620 h 727"/>
                <a:gd name="T12" fmla="*/ 249 w 275"/>
                <a:gd name="T13" fmla="*/ 580 h 727"/>
                <a:gd name="T14" fmla="*/ 261 w 275"/>
                <a:gd name="T15" fmla="*/ 530 h 727"/>
                <a:gd name="T16" fmla="*/ 268 w 275"/>
                <a:gd name="T17" fmla="*/ 478 h 727"/>
                <a:gd name="T18" fmla="*/ 273 w 275"/>
                <a:gd name="T19" fmla="*/ 424 h 727"/>
                <a:gd name="T20" fmla="*/ 275 w 275"/>
                <a:gd name="T21" fmla="*/ 365 h 727"/>
                <a:gd name="T22" fmla="*/ 273 w 275"/>
                <a:gd name="T23" fmla="*/ 305 h 727"/>
                <a:gd name="T24" fmla="*/ 268 w 275"/>
                <a:gd name="T25" fmla="*/ 249 h 727"/>
                <a:gd name="T26" fmla="*/ 261 w 275"/>
                <a:gd name="T27" fmla="*/ 197 h 727"/>
                <a:gd name="T28" fmla="*/ 249 w 275"/>
                <a:gd name="T29" fmla="*/ 149 h 727"/>
                <a:gd name="T30" fmla="*/ 235 w 275"/>
                <a:gd name="T31" fmla="*/ 107 h 727"/>
                <a:gd name="T32" fmla="*/ 218 w 275"/>
                <a:gd name="T33" fmla="*/ 71 h 727"/>
                <a:gd name="T34" fmla="*/ 202 w 275"/>
                <a:gd name="T35" fmla="*/ 40 h 727"/>
                <a:gd name="T36" fmla="*/ 180 w 275"/>
                <a:gd name="T37" fmla="*/ 19 h 727"/>
                <a:gd name="T38" fmla="*/ 161 w 275"/>
                <a:gd name="T39" fmla="*/ 5 h 727"/>
                <a:gd name="T40" fmla="*/ 138 w 275"/>
                <a:gd name="T41" fmla="*/ 0 h 727"/>
                <a:gd name="T42" fmla="*/ 116 w 275"/>
                <a:gd name="T43" fmla="*/ 5 h 727"/>
                <a:gd name="T44" fmla="*/ 95 w 275"/>
                <a:gd name="T45" fmla="*/ 19 h 727"/>
                <a:gd name="T46" fmla="*/ 76 w 275"/>
                <a:gd name="T47" fmla="*/ 40 h 727"/>
                <a:gd name="T48" fmla="*/ 57 w 275"/>
                <a:gd name="T49" fmla="*/ 71 h 727"/>
                <a:gd name="T50" fmla="*/ 41 w 275"/>
                <a:gd name="T51" fmla="*/ 107 h 727"/>
                <a:gd name="T52" fmla="*/ 26 w 275"/>
                <a:gd name="T53" fmla="*/ 149 h 727"/>
                <a:gd name="T54" fmla="*/ 17 w 275"/>
                <a:gd name="T55" fmla="*/ 197 h 727"/>
                <a:gd name="T56" fmla="*/ 7 w 275"/>
                <a:gd name="T57" fmla="*/ 249 h 727"/>
                <a:gd name="T58" fmla="*/ 3 w 275"/>
                <a:gd name="T59" fmla="*/ 305 h 727"/>
                <a:gd name="T60" fmla="*/ 0 w 275"/>
                <a:gd name="T61" fmla="*/ 365 h 727"/>
                <a:gd name="T62" fmla="*/ 3 w 275"/>
                <a:gd name="T63" fmla="*/ 424 h 727"/>
                <a:gd name="T64" fmla="*/ 7 w 275"/>
                <a:gd name="T65" fmla="*/ 478 h 727"/>
                <a:gd name="T66" fmla="*/ 17 w 275"/>
                <a:gd name="T67" fmla="*/ 530 h 727"/>
                <a:gd name="T68" fmla="*/ 26 w 275"/>
                <a:gd name="T69" fmla="*/ 580 h 727"/>
                <a:gd name="T70" fmla="*/ 41 w 275"/>
                <a:gd name="T71" fmla="*/ 620 h 727"/>
                <a:gd name="T72" fmla="*/ 57 w 275"/>
                <a:gd name="T73" fmla="*/ 658 h 727"/>
                <a:gd name="T74" fmla="*/ 76 w 275"/>
                <a:gd name="T75" fmla="*/ 687 h 727"/>
                <a:gd name="T76" fmla="*/ 95 w 275"/>
                <a:gd name="T77" fmla="*/ 710 h 727"/>
                <a:gd name="T78" fmla="*/ 116 w 275"/>
                <a:gd name="T79" fmla="*/ 722 h 727"/>
                <a:gd name="T80" fmla="*/ 138 w 275"/>
                <a:gd name="T81" fmla="*/ 727 h 727"/>
                <a:gd name="T82" fmla="*/ 138 w 275"/>
                <a:gd name="T83" fmla="*/ 727 h 72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75"/>
                <a:gd name="T127" fmla="*/ 0 h 727"/>
                <a:gd name="T128" fmla="*/ 275 w 275"/>
                <a:gd name="T129" fmla="*/ 727 h 72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75" h="727">
                  <a:moveTo>
                    <a:pt x="138" y="727"/>
                  </a:moveTo>
                  <a:lnTo>
                    <a:pt x="161" y="722"/>
                  </a:lnTo>
                  <a:lnTo>
                    <a:pt x="180" y="710"/>
                  </a:lnTo>
                  <a:lnTo>
                    <a:pt x="202" y="687"/>
                  </a:lnTo>
                  <a:lnTo>
                    <a:pt x="218" y="658"/>
                  </a:lnTo>
                  <a:lnTo>
                    <a:pt x="235" y="620"/>
                  </a:lnTo>
                  <a:lnTo>
                    <a:pt x="249" y="580"/>
                  </a:lnTo>
                  <a:lnTo>
                    <a:pt x="261" y="530"/>
                  </a:lnTo>
                  <a:lnTo>
                    <a:pt x="268" y="478"/>
                  </a:lnTo>
                  <a:lnTo>
                    <a:pt x="273" y="424"/>
                  </a:lnTo>
                  <a:lnTo>
                    <a:pt x="275" y="365"/>
                  </a:lnTo>
                  <a:lnTo>
                    <a:pt x="273" y="305"/>
                  </a:lnTo>
                  <a:lnTo>
                    <a:pt x="268" y="249"/>
                  </a:lnTo>
                  <a:lnTo>
                    <a:pt x="261" y="197"/>
                  </a:lnTo>
                  <a:lnTo>
                    <a:pt x="249" y="149"/>
                  </a:lnTo>
                  <a:lnTo>
                    <a:pt x="235" y="107"/>
                  </a:lnTo>
                  <a:lnTo>
                    <a:pt x="218" y="71"/>
                  </a:lnTo>
                  <a:lnTo>
                    <a:pt x="202" y="40"/>
                  </a:lnTo>
                  <a:lnTo>
                    <a:pt x="180" y="19"/>
                  </a:lnTo>
                  <a:lnTo>
                    <a:pt x="161" y="5"/>
                  </a:lnTo>
                  <a:lnTo>
                    <a:pt x="138" y="0"/>
                  </a:lnTo>
                  <a:lnTo>
                    <a:pt x="116" y="5"/>
                  </a:lnTo>
                  <a:lnTo>
                    <a:pt x="95" y="19"/>
                  </a:lnTo>
                  <a:lnTo>
                    <a:pt x="76" y="40"/>
                  </a:lnTo>
                  <a:lnTo>
                    <a:pt x="57" y="71"/>
                  </a:lnTo>
                  <a:lnTo>
                    <a:pt x="41" y="107"/>
                  </a:lnTo>
                  <a:lnTo>
                    <a:pt x="26" y="149"/>
                  </a:lnTo>
                  <a:lnTo>
                    <a:pt x="17" y="197"/>
                  </a:lnTo>
                  <a:lnTo>
                    <a:pt x="7" y="249"/>
                  </a:lnTo>
                  <a:lnTo>
                    <a:pt x="3" y="305"/>
                  </a:lnTo>
                  <a:lnTo>
                    <a:pt x="0" y="365"/>
                  </a:lnTo>
                  <a:lnTo>
                    <a:pt x="3" y="424"/>
                  </a:lnTo>
                  <a:lnTo>
                    <a:pt x="7" y="478"/>
                  </a:lnTo>
                  <a:lnTo>
                    <a:pt x="17" y="530"/>
                  </a:lnTo>
                  <a:lnTo>
                    <a:pt x="26" y="580"/>
                  </a:lnTo>
                  <a:lnTo>
                    <a:pt x="41" y="620"/>
                  </a:lnTo>
                  <a:lnTo>
                    <a:pt x="57" y="658"/>
                  </a:lnTo>
                  <a:lnTo>
                    <a:pt x="76" y="687"/>
                  </a:lnTo>
                  <a:lnTo>
                    <a:pt x="95" y="710"/>
                  </a:lnTo>
                  <a:lnTo>
                    <a:pt x="116" y="722"/>
                  </a:lnTo>
                  <a:lnTo>
                    <a:pt x="138" y="727"/>
                  </a:lnTo>
                </a:path>
              </a:pathLst>
            </a:custGeom>
            <a:solidFill>
              <a:srgbClr val="D9D9D9"/>
            </a:solidFill>
            <a:ln w="11160">
              <a:solidFill>
                <a:srgbClr val="EB75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16" name="Rectangle 163"/>
            <p:cNvSpPr>
              <a:spLocks noChangeArrowheads="1"/>
            </p:cNvSpPr>
            <p:nvPr/>
          </p:nvSpPr>
          <p:spPr bwMode="auto">
            <a:xfrm>
              <a:off x="2521" y="1563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017" name="Rectangle 164"/>
            <p:cNvSpPr>
              <a:spLocks noChangeArrowheads="1"/>
            </p:cNvSpPr>
            <p:nvPr/>
          </p:nvSpPr>
          <p:spPr bwMode="auto">
            <a:xfrm>
              <a:off x="2570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018" name="Rectangle 165"/>
            <p:cNvSpPr>
              <a:spLocks noChangeArrowheads="1"/>
            </p:cNvSpPr>
            <p:nvPr/>
          </p:nvSpPr>
          <p:spPr bwMode="auto">
            <a:xfrm>
              <a:off x="2603" y="1563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019" name="Rectangle 166"/>
            <p:cNvSpPr>
              <a:spLocks noChangeArrowheads="1"/>
            </p:cNvSpPr>
            <p:nvPr/>
          </p:nvSpPr>
          <p:spPr bwMode="auto">
            <a:xfrm>
              <a:off x="2651" y="156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020" name="Rectangle 167"/>
            <p:cNvSpPr>
              <a:spLocks noChangeArrowheads="1"/>
            </p:cNvSpPr>
            <p:nvPr/>
          </p:nvSpPr>
          <p:spPr bwMode="auto">
            <a:xfrm>
              <a:off x="2667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021" name="Rectangle 168"/>
            <p:cNvSpPr>
              <a:spLocks noChangeArrowheads="1"/>
            </p:cNvSpPr>
            <p:nvPr/>
          </p:nvSpPr>
          <p:spPr bwMode="auto">
            <a:xfrm>
              <a:off x="2700" y="1563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22" name="Rectangle 169"/>
            <p:cNvSpPr>
              <a:spLocks noChangeArrowheads="1"/>
            </p:cNvSpPr>
            <p:nvPr/>
          </p:nvSpPr>
          <p:spPr bwMode="auto">
            <a:xfrm>
              <a:off x="2741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023" name="Rectangle 170"/>
            <p:cNvSpPr>
              <a:spLocks noChangeArrowheads="1"/>
            </p:cNvSpPr>
            <p:nvPr/>
          </p:nvSpPr>
          <p:spPr bwMode="auto">
            <a:xfrm>
              <a:off x="2774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2024" name="Rectangle 171"/>
            <p:cNvSpPr>
              <a:spLocks noChangeArrowheads="1"/>
            </p:cNvSpPr>
            <p:nvPr/>
          </p:nvSpPr>
          <p:spPr bwMode="auto">
            <a:xfrm>
              <a:off x="2520" y="16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025" name="Rectangle 172"/>
            <p:cNvSpPr>
              <a:spLocks noChangeArrowheads="1"/>
            </p:cNvSpPr>
            <p:nvPr/>
          </p:nvSpPr>
          <p:spPr bwMode="auto">
            <a:xfrm>
              <a:off x="2561" y="16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2026" name="Rectangle 173"/>
            <p:cNvSpPr>
              <a:spLocks noChangeArrowheads="1"/>
            </p:cNvSpPr>
            <p:nvPr/>
          </p:nvSpPr>
          <p:spPr bwMode="auto">
            <a:xfrm>
              <a:off x="2591" y="1650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027" name="Rectangle 174"/>
            <p:cNvSpPr>
              <a:spLocks noChangeArrowheads="1"/>
            </p:cNvSpPr>
            <p:nvPr/>
          </p:nvSpPr>
          <p:spPr bwMode="auto">
            <a:xfrm>
              <a:off x="2634" y="1650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028" name="Rectangle 175"/>
            <p:cNvSpPr>
              <a:spLocks noChangeArrowheads="1"/>
            </p:cNvSpPr>
            <p:nvPr/>
          </p:nvSpPr>
          <p:spPr bwMode="auto">
            <a:xfrm>
              <a:off x="2679" y="16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2029" name="Rectangle 176"/>
            <p:cNvSpPr>
              <a:spLocks noChangeArrowheads="1"/>
            </p:cNvSpPr>
            <p:nvPr/>
          </p:nvSpPr>
          <p:spPr bwMode="auto">
            <a:xfrm>
              <a:off x="2521" y="1738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030" name="Rectangle 177"/>
            <p:cNvSpPr>
              <a:spLocks noChangeArrowheads="1"/>
            </p:cNvSpPr>
            <p:nvPr/>
          </p:nvSpPr>
          <p:spPr bwMode="auto">
            <a:xfrm>
              <a:off x="2570" y="173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031" name="Rectangle 178"/>
            <p:cNvSpPr>
              <a:spLocks noChangeArrowheads="1"/>
            </p:cNvSpPr>
            <p:nvPr/>
          </p:nvSpPr>
          <p:spPr bwMode="auto">
            <a:xfrm>
              <a:off x="2603" y="1738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032" name="Rectangle 179"/>
            <p:cNvSpPr>
              <a:spLocks noChangeArrowheads="1"/>
            </p:cNvSpPr>
            <p:nvPr/>
          </p:nvSpPr>
          <p:spPr bwMode="auto">
            <a:xfrm>
              <a:off x="2649" y="1738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2033" name="Rectangle 180"/>
            <p:cNvSpPr>
              <a:spLocks noChangeArrowheads="1"/>
            </p:cNvSpPr>
            <p:nvPr/>
          </p:nvSpPr>
          <p:spPr bwMode="auto">
            <a:xfrm>
              <a:off x="2705" y="173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34" name="Rectangle 181"/>
            <p:cNvSpPr>
              <a:spLocks noChangeArrowheads="1"/>
            </p:cNvSpPr>
            <p:nvPr/>
          </p:nvSpPr>
          <p:spPr bwMode="auto">
            <a:xfrm>
              <a:off x="2726" y="1738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035" name="Rectangle 182"/>
            <p:cNvSpPr>
              <a:spLocks noChangeArrowheads="1"/>
            </p:cNvSpPr>
            <p:nvPr/>
          </p:nvSpPr>
          <p:spPr bwMode="auto">
            <a:xfrm>
              <a:off x="2738" y="173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036" name="Rectangle 183"/>
            <p:cNvSpPr>
              <a:spLocks noChangeArrowheads="1"/>
            </p:cNvSpPr>
            <p:nvPr/>
          </p:nvSpPr>
          <p:spPr bwMode="auto">
            <a:xfrm>
              <a:off x="2755" y="173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037" name="Rectangle 184"/>
            <p:cNvSpPr>
              <a:spLocks noChangeArrowheads="1"/>
            </p:cNvSpPr>
            <p:nvPr/>
          </p:nvSpPr>
          <p:spPr bwMode="auto">
            <a:xfrm>
              <a:off x="2520" y="1913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38" name="Rectangle 185"/>
            <p:cNvSpPr>
              <a:spLocks noChangeArrowheads="1"/>
            </p:cNvSpPr>
            <p:nvPr/>
          </p:nvSpPr>
          <p:spPr bwMode="auto">
            <a:xfrm>
              <a:off x="2563" y="19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039" name="Rectangle 186"/>
            <p:cNvSpPr>
              <a:spLocks noChangeArrowheads="1"/>
            </p:cNvSpPr>
            <p:nvPr/>
          </p:nvSpPr>
          <p:spPr bwMode="auto">
            <a:xfrm>
              <a:off x="2596" y="19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2040" name="Rectangle 187"/>
            <p:cNvSpPr>
              <a:spLocks noChangeArrowheads="1"/>
            </p:cNvSpPr>
            <p:nvPr/>
          </p:nvSpPr>
          <p:spPr bwMode="auto">
            <a:xfrm>
              <a:off x="2627" y="1913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2041" name="Rectangle 188"/>
            <p:cNvSpPr>
              <a:spLocks noChangeArrowheads="1"/>
            </p:cNvSpPr>
            <p:nvPr/>
          </p:nvSpPr>
          <p:spPr bwMode="auto">
            <a:xfrm>
              <a:off x="2684" y="1913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42" name="Rectangle 189"/>
            <p:cNvSpPr>
              <a:spLocks noChangeArrowheads="1"/>
            </p:cNvSpPr>
            <p:nvPr/>
          </p:nvSpPr>
          <p:spPr bwMode="auto">
            <a:xfrm>
              <a:off x="2702" y="1913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043" name="Rectangle 190"/>
            <p:cNvSpPr>
              <a:spLocks noChangeArrowheads="1"/>
            </p:cNvSpPr>
            <p:nvPr/>
          </p:nvSpPr>
          <p:spPr bwMode="auto">
            <a:xfrm>
              <a:off x="2715" y="191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044" name="Rectangle 191"/>
            <p:cNvSpPr>
              <a:spLocks noChangeArrowheads="1"/>
            </p:cNvSpPr>
            <p:nvPr/>
          </p:nvSpPr>
          <p:spPr bwMode="auto">
            <a:xfrm>
              <a:off x="2731" y="19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045" name="Rectangle 192"/>
            <p:cNvSpPr>
              <a:spLocks noChangeArrowheads="1"/>
            </p:cNvSpPr>
            <p:nvPr/>
          </p:nvSpPr>
          <p:spPr bwMode="auto">
            <a:xfrm>
              <a:off x="2521" y="1475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046" name="Rectangle 193"/>
            <p:cNvSpPr>
              <a:spLocks noChangeArrowheads="1"/>
            </p:cNvSpPr>
            <p:nvPr/>
          </p:nvSpPr>
          <p:spPr bwMode="auto">
            <a:xfrm>
              <a:off x="2570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047" name="Rectangle 194"/>
            <p:cNvSpPr>
              <a:spLocks noChangeArrowheads="1"/>
            </p:cNvSpPr>
            <p:nvPr/>
          </p:nvSpPr>
          <p:spPr bwMode="auto">
            <a:xfrm>
              <a:off x="2603" y="1475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048" name="Rectangle 195"/>
            <p:cNvSpPr>
              <a:spLocks noChangeArrowheads="1"/>
            </p:cNvSpPr>
            <p:nvPr/>
          </p:nvSpPr>
          <p:spPr bwMode="auto">
            <a:xfrm>
              <a:off x="2651" y="147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49" name="Rectangle 196"/>
            <p:cNvSpPr>
              <a:spLocks noChangeArrowheads="1"/>
            </p:cNvSpPr>
            <p:nvPr/>
          </p:nvSpPr>
          <p:spPr bwMode="auto">
            <a:xfrm>
              <a:off x="2693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050" name="Rectangle 197"/>
            <p:cNvSpPr>
              <a:spLocks noChangeArrowheads="1"/>
            </p:cNvSpPr>
            <p:nvPr/>
          </p:nvSpPr>
          <p:spPr bwMode="auto">
            <a:xfrm>
              <a:off x="2726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051" name="Rectangle 198"/>
            <p:cNvSpPr>
              <a:spLocks noChangeArrowheads="1"/>
            </p:cNvSpPr>
            <p:nvPr/>
          </p:nvSpPr>
          <p:spPr bwMode="auto">
            <a:xfrm>
              <a:off x="2757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052" name="Rectangle 199"/>
            <p:cNvSpPr>
              <a:spLocks noChangeArrowheads="1"/>
            </p:cNvSpPr>
            <p:nvPr/>
          </p:nvSpPr>
          <p:spPr bwMode="auto">
            <a:xfrm>
              <a:off x="2520" y="1387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B</a:t>
              </a:r>
            </a:p>
          </p:txBody>
        </p:sp>
        <p:sp>
          <p:nvSpPr>
            <p:cNvPr id="2053" name="Rectangle 200"/>
            <p:cNvSpPr>
              <a:spLocks noChangeArrowheads="1"/>
            </p:cNvSpPr>
            <p:nvPr/>
          </p:nvSpPr>
          <p:spPr bwMode="auto">
            <a:xfrm>
              <a:off x="2561" y="1387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54" name="Rectangle 201"/>
            <p:cNvSpPr>
              <a:spLocks noChangeArrowheads="1"/>
            </p:cNvSpPr>
            <p:nvPr/>
          </p:nvSpPr>
          <p:spPr bwMode="auto">
            <a:xfrm>
              <a:off x="2580" y="13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055" name="Rectangle 202"/>
            <p:cNvSpPr>
              <a:spLocks noChangeArrowheads="1"/>
            </p:cNvSpPr>
            <p:nvPr/>
          </p:nvSpPr>
          <p:spPr bwMode="auto">
            <a:xfrm>
              <a:off x="2613" y="13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056" name="Rectangle 203"/>
            <p:cNvSpPr>
              <a:spLocks noChangeArrowheads="1"/>
            </p:cNvSpPr>
            <p:nvPr/>
          </p:nvSpPr>
          <p:spPr bwMode="auto">
            <a:xfrm>
              <a:off x="2643" y="1387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057" name="Rectangle 204"/>
            <p:cNvSpPr>
              <a:spLocks noChangeArrowheads="1"/>
            </p:cNvSpPr>
            <p:nvPr/>
          </p:nvSpPr>
          <p:spPr bwMode="auto">
            <a:xfrm>
              <a:off x="2674" y="13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h</a:t>
              </a:r>
            </a:p>
          </p:txBody>
        </p:sp>
        <p:sp>
          <p:nvSpPr>
            <p:cNvPr id="2058" name="Rectangle 205"/>
            <p:cNvSpPr>
              <a:spLocks noChangeArrowheads="1"/>
            </p:cNvSpPr>
            <p:nvPr/>
          </p:nvSpPr>
          <p:spPr bwMode="auto">
            <a:xfrm>
              <a:off x="2520" y="1309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59" name="Rectangle 206"/>
            <p:cNvSpPr>
              <a:spLocks noChangeArrowheads="1"/>
            </p:cNvSpPr>
            <p:nvPr/>
          </p:nvSpPr>
          <p:spPr bwMode="auto">
            <a:xfrm>
              <a:off x="2563" y="130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060" name="Rectangle 207"/>
            <p:cNvSpPr>
              <a:spLocks noChangeArrowheads="1"/>
            </p:cNvSpPr>
            <p:nvPr/>
          </p:nvSpPr>
          <p:spPr bwMode="auto">
            <a:xfrm>
              <a:off x="2594" y="130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2061" name="Rectangle 208"/>
            <p:cNvSpPr>
              <a:spLocks noChangeArrowheads="1"/>
            </p:cNvSpPr>
            <p:nvPr/>
          </p:nvSpPr>
          <p:spPr bwMode="auto">
            <a:xfrm>
              <a:off x="2627" y="1309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062" name="Rectangle 209"/>
            <p:cNvSpPr>
              <a:spLocks noChangeArrowheads="1"/>
            </p:cNvSpPr>
            <p:nvPr/>
          </p:nvSpPr>
          <p:spPr bwMode="auto">
            <a:xfrm>
              <a:off x="2670" y="1309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063" name="Rectangle 210"/>
            <p:cNvSpPr>
              <a:spLocks noChangeArrowheads="1"/>
            </p:cNvSpPr>
            <p:nvPr/>
          </p:nvSpPr>
          <p:spPr bwMode="auto">
            <a:xfrm>
              <a:off x="2698" y="130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064" name="Rectangle 211"/>
            <p:cNvSpPr>
              <a:spLocks noChangeArrowheads="1"/>
            </p:cNvSpPr>
            <p:nvPr/>
          </p:nvSpPr>
          <p:spPr bwMode="auto">
            <a:xfrm>
              <a:off x="2520" y="1825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065" name="Rectangle 212"/>
            <p:cNvSpPr>
              <a:spLocks noChangeArrowheads="1"/>
            </p:cNvSpPr>
            <p:nvPr/>
          </p:nvSpPr>
          <p:spPr bwMode="auto">
            <a:xfrm>
              <a:off x="2561" y="182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2066" name="Rectangle 213"/>
            <p:cNvSpPr>
              <a:spLocks noChangeArrowheads="1"/>
            </p:cNvSpPr>
            <p:nvPr/>
          </p:nvSpPr>
          <p:spPr bwMode="auto">
            <a:xfrm>
              <a:off x="2591" y="182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067" name="Rectangle 214"/>
            <p:cNvSpPr>
              <a:spLocks noChangeArrowheads="1"/>
            </p:cNvSpPr>
            <p:nvPr/>
          </p:nvSpPr>
          <p:spPr bwMode="auto">
            <a:xfrm>
              <a:off x="2633" y="1825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068" name="Rectangle 215"/>
            <p:cNvSpPr>
              <a:spLocks noChangeArrowheads="1"/>
            </p:cNvSpPr>
            <p:nvPr/>
          </p:nvSpPr>
          <p:spPr bwMode="auto">
            <a:xfrm>
              <a:off x="2674" y="1825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69" name="Rectangle 216"/>
            <p:cNvSpPr>
              <a:spLocks noChangeArrowheads="1"/>
            </p:cNvSpPr>
            <p:nvPr/>
          </p:nvSpPr>
          <p:spPr bwMode="auto">
            <a:xfrm>
              <a:off x="2693" y="182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070" name="Rectangle 217"/>
            <p:cNvSpPr>
              <a:spLocks noChangeArrowheads="1"/>
            </p:cNvSpPr>
            <p:nvPr/>
          </p:nvSpPr>
          <p:spPr bwMode="auto">
            <a:xfrm>
              <a:off x="1662" y="1565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071" name="Rectangle 218"/>
            <p:cNvSpPr>
              <a:spLocks noChangeArrowheads="1"/>
            </p:cNvSpPr>
            <p:nvPr/>
          </p:nvSpPr>
          <p:spPr bwMode="auto">
            <a:xfrm>
              <a:off x="1677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072" name="Rectangle 219"/>
            <p:cNvSpPr>
              <a:spLocks noChangeArrowheads="1"/>
            </p:cNvSpPr>
            <p:nvPr/>
          </p:nvSpPr>
          <p:spPr bwMode="auto">
            <a:xfrm>
              <a:off x="1710" y="156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073" name="Rectangle 220"/>
            <p:cNvSpPr>
              <a:spLocks noChangeArrowheads="1"/>
            </p:cNvSpPr>
            <p:nvPr/>
          </p:nvSpPr>
          <p:spPr bwMode="auto">
            <a:xfrm>
              <a:off x="1739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074" name="Rectangle 221"/>
            <p:cNvSpPr>
              <a:spLocks noChangeArrowheads="1"/>
            </p:cNvSpPr>
            <p:nvPr/>
          </p:nvSpPr>
          <p:spPr bwMode="auto">
            <a:xfrm>
              <a:off x="1755" y="1565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75" name="Rectangle 222"/>
            <p:cNvSpPr>
              <a:spLocks noChangeArrowheads="1"/>
            </p:cNvSpPr>
            <p:nvPr/>
          </p:nvSpPr>
          <p:spPr bwMode="auto">
            <a:xfrm>
              <a:off x="1774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076" name="Rectangle 223"/>
            <p:cNvSpPr>
              <a:spLocks noChangeArrowheads="1"/>
            </p:cNvSpPr>
            <p:nvPr/>
          </p:nvSpPr>
          <p:spPr bwMode="auto">
            <a:xfrm>
              <a:off x="1808" y="156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077" name="Rectangle 224"/>
            <p:cNvSpPr>
              <a:spLocks noChangeArrowheads="1"/>
            </p:cNvSpPr>
            <p:nvPr/>
          </p:nvSpPr>
          <p:spPr bwMode="auto">
            <a:xfrm>
              <a:off x="1836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078" name="Rectangle 225"/>
            <p:cNvSpPr>
              <a:spLocks noChangeArrowheads="1"/>
            </p:cNvSpPr>
            <p:nvPr/>
          </p:nvSpPr>
          <p:spPr bwMode="auto">
            <a:xfrm>
              <a:off x="1852" y="1565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079" name="Rectangle 226"/>
            <p:cNvSpPr>
              <a:spLocks noChangeArrowheads="1"/>
            </p:cNvSpPr>
            <p:nvPr/>
          </p:nvSpPr>
          <p:spPr bwMode="auto">
            <a:xfrm>
              <a:off x="1867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080" name="Rectangle 227"/>
            <p:cNvSpPr>
              <a:spLocks noChangeArrowheads="1"/>
            </p:cNvSpPr>
            <p:nvPr/>
          </p:nvSpPr>
          <p:spPr bwMode="auto">
            <a:xfrm>
              <a:off x="1898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081" name="Rectangle 228"/>
            <p:cNvSpPr>
              <a:spLocks noChangeArrowheads="1"/>
            </p:cNvSpPr>
            <p:nvPr/>
          </p:nvSpPr>
          <p:spPr bwMode="auto">
            <a:xfrm>
              <a:off x="1931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082" name="Rectangle 229"/>
            <p:cNvSpPr>
              <a:spLocks noChangeArrowheads="1"/>
            </p:cNvSpPr>
            <p:nvPr/>
          </p:nvSpPr>
          <p:spPr bwMode="auto">
            <a:xfrm>
              <a:off x="1947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2083" name="Rectangle 230"/>
            <p:cNvSpPr>
              <a:spLocks noChangeArrowheads="1"/>
            </p:cNvSpPr>
            <p:nvPr/>
          </p:nvSpPr>
          <p:spPr bwMode="auto">
            <a:xfrm>
              <a:off x="1964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2084" name="Rectangle 231"/>
            <p:cNvSpPr>
              <a:spLocks noChangeArrowheads="1"/>
            </p:cNvSpPr>
            <p:nvPr/>
          </p:nvSpPr>
          <p:spPr bwMode="auto">
            <a:xfrm>
              <a:off x="1995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085" name="Rectangle 232"/>
            <p:cNvSpPr>
              <a:spLocks noChangeArrowheads="1"/>
            </p:cNvSpPr>
            <p:nvPr/>
          </p:nvSpPr>
          <p:spPr bwMode="auto">
            <a:xfrm>
              <a:off x="2028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086" name="Rectangle 233"/>
            <p:cNvSpPr>
              <a:spLocks noChangeArrowheads="1"/>
            </p:cNvSpPr>
            <p:nvPr/>
          </p:nvSpPr>
          <p:spPr bwMode="auto">
            <a:xfrm>
              <a:off x="2044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087" name="Rectangle 234"/>
            <p:cNvSpPr>
              <a:spLocks noChangeArrowheads="1"/>
            </p:cNvSpPr>
            <p:nvPr/>
          </p:nvSpPr>
          <p:spPr bwMode="auto">
            <a:xfrm>
              <a:off x="2061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2088" name="Rectangle 235"/>
            <p:cNvSpPr>
              <a:spLocks noChangeArrowheads="1"/>
            </p:cNvSpPr>
            <p:nvPr/>
          </p:nvSpPr>
          <p:spPr bwMode="auto">
            <a:xfrm>
              <a:off x="2094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6</a:t>
              </a:r>
            </a:p>
          </p:txBody>
        </p:sp>
        <p:sp>
          <p:nvSpPr>
            <p:cNvPr id="2089" name="Rectangle 236"/>
            <p:cNvSpPr>
              <a:spLocks noChangeArrowheads="1"/>
            </p:cNvSpPr>
            <p:nvPr/>
          </p:nvSpPr>
          <p:spPr bwMode="auto">
            <a:xfrm>
              <a:off x="2125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2090" name="Freeform 237"/>
            <p:cNvSpPr>
              <a:spLocks noChangeArrowheads="1"/>
            </p:cNvSpPr>
            <p:nvPr/>
          </p:nvSpPr>
          <p:spPr bwMode="auto">
            <a:xfrm>
              <a:off x="633" y="2166"/>
              <a:ext cx="28" cy="28"/>
            </a:xfrm>
            <a:custGeom>
              <a:avLst/>
              <a:gdLst>
                <a:gd name="T0" fmla="*/ 14 w 28"/>
                <a:gd name="T1" fmla="*/ 28 h 28"/>
                <a:gd name="T2" fmla="*/ 17 w 28"/>
                <a:gd name="T3" fmla="*/ 28 h 28"/>
                <a:gd name="T4" fmla="*/ 19 w 28"/>
                <a:gd name="T5" fmla="*/ 28 h 28"/>
                <a:gd name="T6" fmla="*/ 21 w 28"/>
                <a:gd name="T7" fmla="*/ 28 h 28"/>
                <a:gd name="T8" fmla="*/ 24 w 28"/>
                <a:gd name="T9" fmla="*/ 26 h 28"/>
                <a:gd name="T10" fmla="*/ 26 w 28"/>
                <a:gd name="T11" fmla="*/ 26 h 28"/>
                <a:gd name="T12" fmla="*/ 26 w 28"/>
                <a:gd name="T13" fmla="*/ 24 h 28"/>
                <a:gd name="T14" fmla="*/ 28 w 28"/>
                <a:gd name="T15" fmla="*/ 21 h 28"/>
                <a:gd name="T16" fmla="*/ 28 w 28"/>
                <a:gd name="T17" fmla="*/ 19 h 28"/>
                <a:gd name="T18" fmla="*/ 28 w 28"/>
                <a:gd name="T19" fmla="*/ 16 h 28"/>
                <a:gd name="T20" fmla="*/ 28 w 28"/>
                <a:gd name="T21" fmla="*/ 14 h 28"/>
                <a:gd name="T22" fmla="*/ 28 w 28"/>
                <a:gd name="T23" fmla="*/ 12 h 28"/>
                <a:gd name="T24" fmla="*/ 28 w 28"/>
                <a:gd name="T25" fmla="*/ 9 h 28"/>
                <a:gd name="T26" fmla="*/ 28 w 28"/>
                <a:gd name="T27" fmla="*/ 7 h 28"/>
                <a:gd name="T28" fmla="*/ 26 w 28"/>
                <a:gd name="T29" fmla="*/ 7 h 28"/>
                <a:gd name="T30" fmla="*/ 26 w 28"/>
                <a:gd name="T31" fmla="*/ 5 h 28"/>
                <a:gd name="T32" fmla="*/ 24 w 28"/>
                <a:gd name="T33" fmla="*/ 2 h 28"/>
                <a:gd name="T34" fmla="*/ 21 w 28"/>
                <a:gd name="T35" fmla="*/ 2 h 28"/>
                <a:gd name="T36" fmla="*/ 19 w 28"/>
                <a:gd name="T37" fmla="*/ 0 h 28"/>
                <a:gd name="T38" fmla="*/ 17 w 28"/>
                <a:gd name="T39" fmla="*/ 0 h 28"/>
                <a:gd name="T40" fmla="*/ 14 w 28"/>
                <a:gd name="T41" fmla="*/ 0 h 28"/>
                <a:gd name="T42" fmla="*/ 12 w 28"/>
                <a:gd name="T43" fmla="*/ 0 h 28"/>
                <a:gd name="T44" fmla="*/ 9 w 28"/>
                <a:gd name="T45" fmla="*/ 0 h 28"/>
                <a:gd name="T46" fmla="*/ 7 w 28"/>
                <a:gd name="T47" fmla="*/ 2 h 28"/>
                <a:gd name="T48" fmla="*/ 7 w 28"/>
                <a:gd name="T49" fmla="*/ 2 h 28"/>
                <a:gd name="T50" fmla="*/ 5 w 28"/>
                <a:gd name="T51" fmla="*/ 5 h 28"/>
                <a:gd name="T52" fmla="*/ 2 w 28"/>
                <a:gd name="T53" fmla="*/ 7 h 28"/>
                <a:gd name="T54" fmla="*/ 2 w 28"/>
                <a:gd name="T55" fmla="*/ 7 h 28"/>
                <a:gd name="T56" fmla="*/ 0 w 28"/>
                <a:gd name="T57" fmla="*/ 9 h 28"/>
                <a:gd name="T58" fmla="*/ 0 w 28"/>
                <a:gd name="T59" fmla="*/ 12 h 28"/>
                <a:gd name="T60" fmla="*/ 0 w 28"/>
                <a:gd name="T61" fmla="*/ 14 h 28"/>
                <a:gd name="T62" fmla="*/ 0 w 28"/>
                <a:gd name="T63" fmla="*/ 16 h 28"/>
                <a:gd name="T64" fmla="*/ 0 w 28"/>
                <a:gd name="T65" fmla="*/ 19 h 28"/>
                <a:gd name="T66" fmla="*/ 2 w 28"/>
                <a:gd name="T67" fmla="*/ 21 h 28"/>
                <a:gd name="T68" fmla="*/ 2 w 28"/>
                <a:gd name="T69" fmla="*/ 24 h 28"/>
                <a:gd name="T70" fmla="*/ 5 w 28"/>
                <a:gd name="T71" fmla="*/ 26 h 28"/>
                <a:gd name="T72" fmla="*/ 7 w 28"/>
                <a:gd name="T73" fmla="*/ 26 h 28"/>
                <a:gd name="T74" fmla="*/ 7 w 28"/>
                <a:gd name="T75" fmla="*/ 28 h 28"/>
                <a:gd name="T76" fmla="*/ 9 w 28"/>
                <a:gd name="T77" fmla="*/ 28 h 28"/>
                <a:gd name="T78" fmla="*/ 12 w 28"/>
                <a:gd name="T79" fmla="*/ 28 h 28"/>
                <a:gd name="T80" fmla="*/ 14 w 28"/>
                <a:gd name="T81" fmla="*/ 28 h 28"/>
                <a:gd name="T82" fmla="*/ 14 w 28"/>
                <a:gd name="T83" fmla="*/ 28 h 2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8"/>
                <a:gd name="T127" fmla="*/ 0 h 28"/>
                <a:gd name="T128" fmla="*/ 28 w 28"/>
                <a:gd name="T129" fmla="*/ 28 h 2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8" h="28">
                  <a:moveTo>
                    <a:pt x="14" y="28"/>
                  </a:moveTo>
                  <a:lnTo>
                    <a:pt x="17" y="28"/>
                  </a:lnTo>
                  <a:lnTo>
                    <a:pt x="19" y="28"/>
                  </a:lnTo>
                  <a:lnTo>
                    <a:pt x="21" y="28"/>
                  </a:lnTo>
                  <a:lnTo>
                    <a:pt x="24" y="26"/>
                  </a:lnTo>
                  <a:lnTo>
                    <a:pt x="26" y="26"/>
                  </a:lnTo>
                  <a:lnTo>
                    <a:pt x="26" y="24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8" y="16"/>
                  </a:lnTo>
                  <a:lnTo>
                    <a:pt x="28" y="14"/>
                  </a:lnTo>
                  <a:lnTo>
                    <a:pt x="28" y="12"/>
                  </a:lnTo>
                  <a:lnTo>
                    <a:pt x="28" y="9"/>
                  </a:lnTo>
                  <a:lnTo>
                    <a:pt x="28" y="7"/>
                  </a:lnTo>
                  <a:lnTo>
                    <a:pt x="26" y="7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7" y="26"/>
                  </a:lnTo>
                  <a:lnTo>
                    <a:pt x="7" y="28"/>
                  </a:lnTo>
                  <a:lnTo>
                    <a:pt x="9" y="28"/>
                  </a:lnTo>
                  <a:lnTo>
                    <a:pt x="12" y="28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1" name="Freeform 238"/>
            <p:cNvSpPr>
              <a:spLocks noChangeArrowheads="1"/>
            </p:cNvSpPr>
            <p:nvPr/>
          </p:nvSpPr>
          <p:spPr bwMode="auto">
            <a:xfrm>
              <a:off x="979" y="1043"/>
              <a:ext cx="28" cy="31"/>
            </a:xfrm>
            <a:custGeom>
              <a:avLst/>
              <a:gdLst>
                <a:gd name="T0" fmla="*/ 0 w 28"/>
                <a:gd name="T1" fmla="*/ 0 h 31"/>
                <a:gd name="T2" fmla="*/ 0 w 28"/>
                <a:gd name="T3" fmla="*/ 31 h 31"/>
                <a:gd name="T4" fmla="*/ 28 w 28"/>
                <a:gd name="T5" fmla="*/ 17 h 31"/>
                <a:gd name="T6" fmla="*/ 0 w 28"/>
                <a:gd name="T7" fmla="*/ 0 h 31"/>
                <a:gd name="T8" fmla="*/ 0 w 28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31"/>
                <a:gd name="T17" fmla="*/ 28 w 28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31">
                  <a:moveTo>
                    <a:pt x="0" y="0"/>
                  </a:moveTo>
                  <a:lnTo>
                    <a:pt x="0" y="31"/>
                  </a:lnTo>
                  <a:lnTo>
                    <a:pt x="28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2" name="Freeform 239"/>
            <p:cNvSpPr>
              <a:spLocks noChangeArrowheads="1"/>
            </p:cNvSpPr>
            <p:nvPr/>
          </p:nvSpPr>
          <p:spPr bwMode="auto">
            <a:xfrm>
              <a:off x="979" y="1394"/>
              <a:ext cx="28" cy="31"/>
            </a:xfrm>
            <a:custGeom>
              <a:avLst/>
              <a:gdLst>
                <a:gd name="T0" fmla="*/ 0 w 28"/>
                <a:gd name="T1" fmla="*/ 0 h 31"/>
                <a:gd name="T2" fmla="*/ 0 w 28"/>
                <a:gd name="T3" fmla="*/ 31 h 31"/>
                <a:gd name="T4" fmla="*/ 28 w 28"/>
                <a:gd name="T5" fmla="*/ 17 h 31"/>
                <a:gd name="T6" fmla="*/ 0 w 28"/>
                <a:gd name="T7" fmla="*/ 0 h 31"/>
                <a:gd name="T8" fmla="*/ 0 w 28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31"/>
                <a:gd name="T17" fmla="*/ 28 w 28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31">
                  <a:moveTo>
                    <a:pt x="0" y="0"/>
                  </a:moveTo>
                  <a:lnTo>
                    <a:pt x="0" y="31"/>
                  </a:lnTo>
                  <a:lnTo>
                    <a:pt x="28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3" name="Rectangle 240"/>
            <p:cNvSpPr>
              <a:spLocks noChangeArrowheads="1"/>
            </p:cNvSpPr>
            <p:nvPr/>
          </p:nvSpPr>
          <p:spPr bwMode="auto">
            <a:xfrm>
              <a:off x="822" y="13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4</a:t>
              </a:r>
            </a:p>
          </p:txBody>
        </p:sp>
        <p:sp>
          <p:nvSpPr>
            <p:cNvPr id="2094" name="Line 241"/>
            <p:cNvSpPr>
              <a:spLocks noChangeShapeType="1"/>
            </p:cNvSpPr>
            <p:nvPr/>
          </p:nvSpPr>
          <p:spPr bwMode="auto">
            <a:xfrm flipH="1">
              <a:off x="3336" y="944"/>
              <a:ext cx="412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5" name="Freeform 242"/>
            <p:cNvSpPr>
              <a:spLocks noChangeArrowheads="1"/>
            </p:cNvSpPr>
            <p:nvPr/>
          </p:nvSpPr>
          <p:spPr bwMode="auto">
            <a:xfrm>
              <a:off x="3775" y="826"/>
              <a:ext cx="365" cy="589"/>
            </a:xfrm>
            <a:custGeom>
              <a:avLst/>
              <a:gdLst>
                <a:gd name="T0" fmla="*/ 0 w 365"/>
                <a:gd name="T1" fmla="*/ 0 h 589"/>
                <a:gd name="T2" fmla="*/ 0 w 365"/>
                <a:gd name="T3" fmla="*/ 239 h 589"/>
                <a:gd name="T4" fmla="*/ 62 w 365"/>
                <a:gd name="T5" fmla="*/ 296 h 589"/>
                <a:gd name="T6" fmla="*/ 0 w 365"/>
                <a:gd name="T7" fmla="*/ 352 h 589"/>
                <a:gd name="T8" fmla="*/ 0 w 365"/>
                <a:gd name="T9" fmla="*/ 589 h 589"/>
                <a:gd name="T10" fmla="*/ 365 w 365"/>
                <a:gd name="T11" fmla="*/ 409 h 589"/>
                <a:gd name="T12" fmla="*/ 365 w 365"/>
                <a:gd name="T13" fmla="*/ 180 h 589"/>
                <a:gd name="T14" fmla="*/ 0 w 365"/>
                <a:gd name="T15" fmla="*/ 2 h 589"/>
                <a:gd name="T16" fmla="*/ 0 w 365"/>
                <a:gd name="T17" fmla="*/ 2 h 589"/>
                <a:gd name="T18" fmla="*/ 0 w 365"/>
                <a:gd name="T19" fmla="*/ 0 h 5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5"/>
                <a:gd name="T31" fmla="*/ 0 h 589"/>
                <a:gd name="T32" fmla="*/ 365 w 365"/>
                <a:gd name="T33" fmla="*/ 589 h 5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5" h="589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2"/>
                  </a:lnTo>
                  <a:lnTo>
                    <a:pt x="0" y="589"/>
                  </a:lnTo>
                  <a:lnTo>
                    <a:pt x="365" y="409"/>
                  </a:lnTo>
                  <a:lnTo>
                    <a:pt x="365" y="180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6" name="Freeform 243"/>
            <p:cNvSpPr>
              <a:spLocks noChangeArrowheads="1"/>
            </p:cNvSpPr>
            <p:nvPr/>
          </p:nvSpPr>
          <p:spPr bwMode="auto">
            <a:xfrm>
              <a:off x="3775" y="826"/>
              <a:ext cx="365" cy="589"/>
            </a:xfrm>
            <a:custGeom>
              <a:avLst/>
              <a:gdLst>
                <a:gd name="T0" fmla="*/ 0 w 365"/>
                <a:gd name="T1" fmla="*/ 0 h 589"/>
                <a:gd name="T2" fmla="*/ 0 w 365"/>
                <a:gd name="T3" fmla="*/ 239 h 589"/>
                <a:gd name="T4" fmla="*/ 62 w 365"/>
                <a:gd name="T5" fmla="*/ 296 h 589"/>
                <a:gd name="T6" fmla="*/ 0 w 365"/>
                <a:gd name="T7" fmla="*/ 352 h 589"/>
                <a:gd name="T8" fmla="*/ 0 w 365"/>
                <a:gd name="T9" fmla="*/ 589 h 589"/>
                <a:gd name="T10" fmla="*/ 365 w 365"/>
                <a:gd name="T11" fmla="*/ 409 h 589"/>
                <a:gd name="T12" fmla="*/ 365 w 365"/>
                <a:gd name="T13" fmla="*/ 180 h 589"/>
                <a:gd name="T14" fmla="*/ 0 w 365"/>
                <a:gd name="T15" fmla="*/ 2 h 589"/>
                <a:gd name="T16" fmla="*/ 0 w 365"/>
                <a:gd name="T17" fmla="*/ 2 h 5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5"/>
                <a:gd name="T28" fmla="*/ 0 h 589"/>
                <a:gd name="T29" fmla="*/ 365 w 365"/>
                <a:gd name="T30" fmla="*/ 589 h 58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5" h="589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2"/>
                  </a:lnTo>
                  <a:lnTo>
                    <a:pt x="0" y="589"/>
                  </a:lnTo>
                  <a:lnTo>
                    <a:pt x="365" y="409"/>
                  </a:lnTo>
                  <a:lnTo>
                    <a:pt x="365" y="180"/>
                  </a:lnTo>
                  <a:lnTo>
                    <a:pt x="0" y="2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7" name="Line 244"/>
            <p:cNvSpPr>
              <a:spLocks noChangeShapeType="1"/>
            </p:cNvSpPr>
            <p:nvPr/>
          </p:nvSpPr>
          <p:spPr bwMode="auto">
            <a:xfrm flipH="1">
              <a:off x="4139" y="1119"/>
              <a:ext cx="419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98" name="Freeform 245"/>
            <p:cNvSpPr>
              <a:spLocks noChangeArrowheads="1"/>
            </p:cNvSpPr>
            <p:nvPr/>
          </p:nvSpPr>
          <p:spPr bwMode="auto">
            <a:xfrm>
              <a:off x="4543" y="776"/>
              <a:ext cx="30" cy="31"/>
            </a:xfrm>
            <a:custGeom>
              <a:avLst/>
              <a:gdLst>
                <a:gd name="T0" fmla="*/ 0 w 30"/>
                <a:gd name="T1" fmla="*/ 0 h 31"/>
                <a:gd name="T2" fmla="*/ 0 w 30"/>
                <a:gd name="T3" fmla="*/ 31 h 31"/>
                <a:gd name="T4" fmla="*/ 30 w 30"/>
                <a:gd name="T5" fmla="*/ 16 h 31"/>
                <a:gd name="T6" fmla="*/ 0 w 30"/>
                <a:gd name="T7" fmla="*/ 2 h 31"/>
                <a:gd name="T8" fmla="*/ 0 w 30"/>
                <a:gd name="T9" fmla="*/ 2 h 31"/>
                <a:gd name="T10" fmla="*/ 0 w 30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"/>
                <a:gd name="T19" fmla="*/ 0 h 31"/>
                <a:gd name="T20" fmla="*/ 30 w 30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" h="31">
                  <a:moveTo>
                    <a:pt x="0" y="0"/>
                  </a:moveTo>
                  <a:lnTo>
                    <a:pt x="0" y="31"/>
                  </a:lnTo>
                  <a:lnTo>
                    <a:pt x="30" y="1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99" name="Freeform 246"/>
            <p:cNvSpPr>
              <a:spLocks noChangeArrowheads="1"/>
            </p:cNvSpPr>
            <p:nvPr/>
          </p:nvSpPr>
          <p:spPr bwMode="auto">
            <a:xfrm>
              <a:off x="4543" y="1105"/>
              <a:ext cx="30" cy="31"/>
            </a:xfrm>
            <a:custGeom>
              <a:avLst/>
              <a:gdLst>
                <a:gd name="T0" fmla="*/ 0 w 30"/>
                <a:gd name="T1" fmla="*/ 0 h 31"/>
                <a:gd name="T2" fmla="*/ 0 w 30"/>
                <a:gd name="T3" fmla="*/ 31 h 31"/>
                <a:gd name="T4" fmla="*/ 30 w 30"/>
                <a:gd name="T5" fmla="*/ 17 h 31"/>
                <a:gd name="T6" fmla="*/ 0 w 30"/>
                <a:gd name="T7" fmla="*/ 0 h 31"/>
                <a:gd name="T8" fmla="*/ 0 w 30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31"/>
                <a:gd name="T17" fmla="*/ 30 w 30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31">
                  <a:moveTo>
                    <a:pt x="0" y="0"/>
                  </a:moveTo>
                  <a:lnTo>
                    <a:pt x="0" y="31"/>
                  </a:lnTo>
                  <a:lnTo>
                    <a:pt x="3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0" name="Freeform 247"/>
            <p:cNvSpPr>
              <a:spLocks noChangeArrowheads="1"/>
            </p:cNvSpPr>
            <p:nvPr/>
          </p:nvSpPr>
          <p:spPr bwMode="auto">
            <a:xfrm>
              <a:off x="4576" y="738"/>
              <a:ext cx="111" cy="438"/>
            </a:xfrm>
            <a:custGeom>
              <a:avLst/>
              <a:gdLst>
                <a:gd name="T0" fmla="*/ 0 w 111"/>
                <a:gd name="T1" fmla="*/ 54 h 438"/>
                <a:gd name="T2" fmla="*/ 2 w 111"/>
                <a:gd name="T3" fmla="*/ 45 h 438"/>
                <a:gd name="T4" fmla="*/ 5 w 111"/>
                <a:gd name="T5" fmla="*/ 38 h 438"/>
                <a:gd name="T6" fmla="*/ 7 w 111"/>
                <a:gd name="T7" fmla="*/ 28 h 438"/>
                <a:gd name="T8" fmla="*/ 12 w 111"/>
                <a:gd name="T9" fmla="*/ 21 h 438"/>
                <a:gd name="T10" fmla="*/ 16 w 111"/>
                <a:gd name="T11" fmla="*/ 17 h 438"/>
                <a:gd name="T12" fmla="*/ 24 w 111"/>
                <a:gd name="T13" fmla="*/ 10 h 438"/>
                <a:gd name="T14" fmla="*/ 31 w 111"/>
                <a:gd name="T15" fmla="*/ 7 h 438"/>
                <a:gd name="T16" fmla="*/ 38 w 111"/>
                <a:gd name="T17" fmla="*/ 2 h 438"/>
                <a:gd name="T18" fmla="*/ 47 w 111"/>
                <a:gd name="T19" fmla="*/ 0 h 438"/>
                <a:gd name="T20" fmla="*/ 57 w 111"/>
                <a:gd name="T21" fmla="*/ 0 h 438"/>
                <a:gd name="T22" fmla="*/ 64 w 111"/>
                <a:gd name="T23" fmla="*/ 0 h 438"/>
                <a:gd name="T24" fmla="*/ 73 w 111"/>
                <a:gd name="T25" fmla="*/ 2 h 438"/>
                <a:gd name="T26" fmla="*/ 80 w 111"/>
                <a:gd name="T27" fmla="*/ 7 h 438"/>
                <a:gd name="T28" fmla="*/ 87 w 111"/>
                <a:gd name="T29" fmla="*/ 10 h 438"/>
                <a:gd name="T30" fmla="*/ 95 w 111"/>
                <a:gd name="T31" fmla="*/ 17 h 438"/>
                <a:gd name="T32" fmla="*/ 99 w 111"/>
                <a:gd name="T33" fmla="*/ 21 h 438"/>
                <a:gd name="T34" fmla="*/ 104 w 111"/>
                <a:gd name="T35" fmla="*/ 28 h 438"/>
                <a:gd name="T36" fmla="*/ 106 w 111"/>
                <a:gd name="T37" fmla="*/ 38 h 438"/>
                <a:gd name="T38" fmla="*/ 109 w 111"/>
                <a:gd name="T39" fmla="*/ 45 h 438"/>
                <a:gd name="T40" fmla="*/ 111 w 111"/>
                <a:gd name="T41" fmla="*/ 54 h 438"/>
                <a:gd name="T42" fmla="*/ 111 w 111"/>
                <a:gd name="T43" fmla="*/ 384 h 438"/>
                <a:gd name="T44" fmla="*/ 109 w 111"/>
                <a:gd name="T45" fmla="*/ 391 h 438"/>
                <a:gd name="T46" fmla="*/ 106 w 111"/>
                <a:gd name="T47" fmla="*/ 400 h 438"/>
                <a:gd name="T48" fmla="*/ 104 w 111"/>
                <a:gd name="T49" fmla="*/ 407 h 438"/>
                <a:gd name="T50" fmla="*/ 99 w 111"/>
                <a:gd name="T51" fmla="*/ 414 h 438"/>
                <a:gd name="T52" fmla="*/ 95 w 111"/>
                <a:gd name="T53" fmla="*/ 422 h 438"/>
                <a:gd name="T54" fmla="*/ 87 w 111"/>
                <a:gd name="T55" fmla="*/ 426 h 438"/>
                <a:gd name="T56" fmla="*/ 80 w 111"/>
                <a:gd name="T57" fmla="*/ 431 h 438"/>
                <a:gd name="T58" fmla="*/ 73 w 111"/>
                <a:gd name="T59" fmla="*/ 433 h 438"/>
                <a:gd name="T60" fmla="*/ 64 w 111"/>
                <a:gd name="T61" fmla="*/ 436 h 438"/>
                <a:gd name="T62" fmla="*/ 57 w 111"/>
                <a:gd name="T63" fmla="*/ 438 h 438"/>
                <a:gd name="T64" fmla="*/ 47 w 111"/>
                <a:gd name="T65" fmla="*/ 436 h 438"/>
                <a:gd name="T66" fmla="*/ 38 w 111"/>
                <a:gd name="T67" fmla="*/ 433 h 438"/>
                <a:gd name="T68" fmla="*/ 31 w 111"/>
                <a:gd name="T69" fmla="*/ 431 h 438"/>
                <a:gd name="T70" fmla="*/ 24 w 111"/>
                <a:gd name="T71" fmla="*/ 426 h 438"/>
                <a:gd name="T72" fmla="*/ 16 w 111"/>
                <a:gd name="T73" fmla="*/ 422 h 438"/>
                <a:gd name="T74" fmla="*/ 12 w 111"/>
                <a:gd name="T75" fmla="*/ 414 h 438"/>
                <a:gd name="T76" fmla="*/ 7 w 111"/>
                <a:gd name="T77" fmla="*/ 407 h 438"/>
                <a:gd name="T78" fmla="*/ 5 w 111"/>
                <a:gd name="T79" fmla="*/ 400 h 438"/>
                <a:gd name="T80" fmla="*/ 2 w 111"/>
                <a:gd name="T81" fmla="*/ 391 h 438"/>
                <a:gd name="T82" fmla="*/ 2 w 111"/>
                <a:gd name="T83" fmla="*/ 384 h 438"/>
                <a:gd name="T84" fmla="*/ 2 w 111"/>
                <a:gd name="T85" fmla="*/ 54 h 438"/>
                <a:gd name="T86" fmla="*/ 2 w 111"/>
                <a:gd name="T87" fmla="*/ 54 h 438"/>
                <a:gd name="T88" fmla="*/ 0 w 111"/>
                <a:gd name="T89" fmla="*/ 54 h 43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11"/>
                <a:gd name="T136" fmla="*/ 0 h 438"/>
                <a:gd name="T137" fmla="*/ 111 w 111"/>
                <a:gd name="T138" fmla="*/ 438 h 43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11" h="438">
                  <a:moveTo>
                    <a:pt x="0" y="54"/>
                  </a:moveTo>
                  <a:lnTo>
                    <a:pt x="2" y="45"/>
                  </a:lnTo>
                  <a:lnTo>
                    <a:pt x="5" y="38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7"/>
                  </a:lnTo>
                  <a:lnTo>
                    <a:pt x="24" y="10"/>
                  </a:lnTo>
                  <a:lnTo>
                    <a:pt x="31" y="7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7" y="10"/>
                  </a:lnTo>
                  <a:lnTo>
                    <a:pt x="95" y="17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6" y="38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84"/>
                  </a:lnTo>
                  <a:lnTo>
                    <a:pt x="109" y="391"/>
                  </a:lnTo>
                  <a:lnTo>
                    <a:pt x="106" y="400"/>
                  </a:lnTo>
                  <a:lnTo>
                    <a:pt x="104" y="407"/>
                  </a:lnTo>
                  <a:lnTo>
                    <a:pt x="99" y="414"/>
                  </a:lnTo>
                  <a:lnTo>
                    <a:pt x="95" y="422"/>
                  </a:lnTo>
                  <a:lnTo>
                    <a:pt x="87" y="426"/>
                  </a:lnTo>
                  <a:lnTo>
                    <a:pt x="80" y="431"/>
                  </a:lnTo>
                  <a:lnTo>
                    <a:pt x="73" y="433"/>
                  </a:lnTo>
                  <a:lnTo>
                    <a:pt x="64" y="436"/>
                  </a:lnTo>
                  <a:lnTo>
                    <a:pt x="57" y="438"/>
                  </a:lnTo>
                  <a:lnTo>
                    <a:pt x="47" y="436"/>
                  </a:lnTo>
                  <a:lnTo>
                    <a:pt x="38" y="433"/>
                  </a:lnTo>
                  <a:lnTo>
                    <a:pt x="31" y="431"/>
                  </a:lnTo>
                  <a:lnTo>
                    <a:pt x="24" y="426"/>
                  </a:lnTo>
                  <a:lnTo>
                    <a:pt x="16" y="422"/>
                  </a:lnTo>
                  <a:lnTo>
                    <a:pt x="12" y="414"/>
                  </a:lnTo>
                  <a:lnTo>
                    <a:pt x="7" y="407"/>
                  </a:lnTo>
                  <a:lnTo>
                    <a:pt x="5" y="400"/>
                  </a:lnTo>
                  <a:lnTo>
                    <a:pt x="2" y="391"/>
                  </a:lnTo>
                  <a:lnTo>
                    <a:pt x="2" y="384"/>
                  </a:lnTo>
                  <a:lnTo>
                    <a:pt x="2" y="5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1" name="Freeform 248"/>
            <p:cNvSpPr>
              <a:spLocks noChangeArrowheads="1"/>
            </p:cNvSpPr>
            <p:nvPr/>
          </p:nvSpPr>
          <p:spPr bwMode="auto">
            <a:xfrm>
              <a:off x="4576" y="738"/>
              <a:ext cx="111" cy="438"/>
            </a:xfrm>
            <a:custGeom>
              <a:avLst/>
              <a:gdLst>
                <a:gd name="T0" fmla="*/ 0 w 111"/>
                <a:gd name="T1" fmla="*/ 54 h 438"/>
                <a:gd name="T2" fmla="*/ 2 w 111"/>
                <a:gd name="T3" fmla="*/ 45 h 438"/>
                <a:gd name="T4" fmla="*/ 5 w 111"/>
                <a:gd name="T5" fmla="*/ 38 h 438"/>
                <a:gd name="T6" fmla="*/ 7 w 111"/>
                <a:gd name="T7" fmla="*/ 28 h 438"/>
                <a:gd name="T8" fmla="*/ 12 w 111"/>
                <a:gd name="T9" fmla="*/ 21 h 438"/>
                <a:gd name="T10" fmla="*/ 16 w 111"/>
                <a:gd name="T11" fmla="*/ 17 h 438"/>
                <a:gd name="T12" fmla="*/ 24 w 111"/>
                <a:gd name="T13" fmla="*/ 10 h 438"/>
                <a:gd name="T14" fmla="*/ 31 w 111"/>
                <a:gd name="T15" fmla="*/ 7 h 438"/>
                <a:gd name="T16" fmla="*/ 38 w 111"/>
                <a:gd name="T17" fmla="*/ 2 h 438"/>
                <a:gd name="T18" fmla="*/ 47 w 111"/>
                <a:gd name="T19" fmla="*/ 0 h 438"/>
                <a:gd name="T20" fmla="*/ 57 w 111"/>
                <a:gd name="T21" fmla="*/ 0 h 438"/>
                <a:gd name="T22" fmla="*/ 64 w 111"/>
                <a:gd name="T23" fmla="*/ 0 h 438"/>
                <a:gd name="T24" fmla="*/ 73 w 111"/>
                <a:gd name="T25" fmla="*/ 2 h 438"/>
                <a:gd name="T26" fmla="*/ 80 w 111"/>
                <a:gd name="T27" fmla="*/ 7 h 438"/>
                <a:gd name="T28" fmla="*/ 87 w 111"/>
                <a:gd name="T29" fmla="*/ 10 h 438"/>
                <a:gd name="T30" fmla="*/ 95 w 111"/>
                <a:gd name="T31" fmla="*/ 17 h 438"/>
                <a:gd name="T32" fmla="*/ 99 w 111"/>
                <a:gd name="T33" fmla="*/ 21 h 438"/>
                <a:gd name="T34" fmla="*/ 104 w 111"/>
                <a:gd name="T35" fmla="*/ 28 h 438"/>
                <a:gd name="T36" fmla="*/ 106 w 111"/>
                <a:gd name="T37" fmla="*/ 38 h 438"/>
                <a:gd name="T38" fmla="*/ 109 w 111"/>
                <a:gd name="T39" fmla="*/ 45 h 438"/>
                <a:gd name="T40" fmla="*/ 111 w 111"/>
                <a:gd name="T41" fmla="*/ 54 h 438"/>
                <a:gd name="T42" fmla="*/ 111 w 111"/>
                <a:gd name="T43" fmla="*/ 384 h 438"/>
                <a:gd name="T44" fmla="*/ 109 w 111"/>
                <a:gd name="T45" fmla="*/ 391 h 438"/>
                <a:gd name="T46" fmla="*/ 106 w 111"/>
                <a:gd name="T47" fmla="*/ 400 h 438"/>
                <a:gd name="T48" fmla="*/ 104 w 111"/>
                <a:gd name="T49" fmla="*/ 407 h 438"/>
                <a:gd name="T50" fmla="*/ 99 w 111"/>
                <a:gd name="T51" fmla="*/ 414 h 438"/>
                <a:gd name="T52" fmla="*/ 95 w 111"/>
                <a:gd name="T53" fmla="*/ 422 h 438"/>
                <a:gd name="T54" fmla="*/ 87 w 111"/>
                <a:gd name="T55" fmla="*/ 426 h 438"/>
                <a:gd name="T56" fmla="*/ 80 w 111"/>
                <a:gd name="T57" fmla="*/ 431 h 438"/>
                <a:gd name="T58" fmla="*/ 73 w 111"/>
                <a:gd name="T59" fmla="*/ 433 h 438"/>
                <a:gd name="T60" fmla="*/ 64 w 111"/>
                <a:gd name="T61" fmla="*/ 436 h 438"/>
                <a:gd name="T62" fmla="*/ 57 w 111"/>
                <a:gd name="T63" fmla="*/ 438 h 438"/>
                <a:gd name="T64" fmla="*/ 47 w 111"/>
                <a:gd name="T65" fmla="*/ 436 h 438"/>
                <a:gd name="T66" fmla="*/ 38 w 111"/>
                <a:gd name="T67" fmla="*/ 433 h 438"/>
                <a:gd name="T68" fmla="*/ 31 w 111"/>
                <a:gd name="T69" fmla="*/ 431 h 438"/>
                <a:gd name="T70" fmla="*/ 24 w 111"/>
                <a:gd name="T71" fmla="*/ 426 h 438"/>
                <a:gd name="T72" fmla="*/ 16 w 111"/>
                <a:gd name="T73" fmla="*/ 422 h 438"/>
                <a:gd name="T74" fmla="*/ 12 w 111"/>
                <a:gd name="T75" fmla="*/ 414 h 438"/>
                <a:gd name="T76" fmla="*/ 7 w 111"/>
                <a:gd name="T77" fmla="*/ 407 h 438"/>
                <a:gd name="T78" fmla="*/ 5 w 111"/>
                <a:gd name="T79" fmla="*/ 400 h 438"/>
                <a:gd name="T80" fmla="*/ 2 w 111"/>
                <a:gd name="T81" fmla="*/ 391 h 438"/>
                <a:gd name="T82" fmla="*/ 2 w 111"/>
                <a:gd name="T83" fmla="*/ 384 h 438"/>
                <a:gd name="T84" fmla="*/ 2 w 111"/>
                <a:gd name="T85" fmla="*/ 54 h 438"/>
                <a:gd name="T86" fmla="*/ 2 w 111"/>
                <a:gd name="T87" fmla="*/ 54 h 43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1"/>
                <a:gd name="T133" fmla="*/ 0 h 438"/>
                <a:gd name="T134" fmla="*/ 111 w 111"/>
                <a:gd name="T135" fmla="*/ 438 h 43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1" h="438">
                  <a:moveTo>
                    <a:pt x="0" y="54"/>
                  </a:moveTo>
                  <a:lnTo>
                    <a:pt x="2" y="45"/>
                  </a:lnTo>
                  <a:lnTo>
                    <a:pt x="5" y="38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7"/>
                  </a:lnTo>
                  <a:lnTo>
                    <a:pt x="24" y="10"/>
                  </a:lnTo>
                  <a:lnTo>
                    <a:pt x="31" y="7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7" y="10"/>
                  </a:lnTo>
                  <a:lnTo>
                    <a:pt x="95" y="17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6" y="38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84"/>
                  </a:lnTo>
                  <a:lnTo>
                    <a:pt x="109" y="391"/>
                  </a:lnTo>
                  <a:lnTo>
                    <a:pt x="106" y="400"/>
                  </a:lnTo>
                  <a:lnTo>
                    <a:pt x="104" y="407"/>
                  </a:lnTo>
                  <a:lnTo>
                    <a:pt x="99" y="414"/>
                  </a:lnTo>
                  <a:lnTo>
                    <a:pt x="95" y="422"/>
                  </a:lnTo>
                  <a:lnTo>
                    <a:pt x="87" y="426"/>
                  </a:lnTo>
                  <a:lnTo>
                    <a:pt x="80" y="431"/>
                  </a:lnTo>
                  <a:lnTo>
                    <a:pt x="73" y="433"/>
                  </a:lnTo>
                  <a:lnTo>
                    <a:pt x="64" y="436"/>
                  </a:lnTo>
                  <a:lnTo>
                    <a:pt x="57" y="438"/>
                  </a:lnTo>
                  <a:lnTo>
                    <a:pt x="47" y="436"/>
                  </a:lnTo>
                  <a:lnTo>
                    <a:pt x="38" y="433"/>
                  </a:lnTo>
                  <a:lnTo>
                    <a:pt x="31" y="431"/>
                  </a:lnTo>
                  <a:lnTo>
                    <a:pt x="24" y="426"/>
                  </a:lnTo>
                  <a:lnTo>
                    <a:pt x="16" y="422"/>
                  </a:lnTo>
                  <a:lnTo>
                    <a:pt x="12" y="414"/>
                  </a:lnTo>
                  <a:lnTo>
                    <a:pt x="7" y="407"/>
                  </a:lnTo>
                  <a:lnTo>
                    <a:pt x="5" y="400"/>
                  </a:lnTo>
                  <a:lnTo>
                    <a:pt x="2" y="391"/>
                  </a:lnTo>
                  <a:lnTo>
                    <a:pt x="2" y="384"/>
                  </a:lnTo>
                  <a:lnTo>
                    <a:pt x="2" y="54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2" name="Freeform 249"/>
            <p:cNvSpPr>
              <a:spLocks noChangeArrowheads="1"/>
            </p:cNvSpPr>
            <p:nvPr/>
          </p:nvSpPr>
          <p:spPr bwMode="auto">
            <a:xfrm>
              <a:off x="384" y="672"/>
              <a:ext cx="4367" cy="1508"/>
            </a:xfrm>
            <a:custGeom>
              <a:avLst/>
              <a:gdLst>
                <a:gd name="T0" fmla="*/ 67 w 4367"/>
                <a:gd name="T1" fmla="*/ 1508 h 1508"/>
                <a:gd name="T2" fmla="*/ 0 w 4367"/>
                <a:gd name="T3" fmla="*/ 1508 h 1508"/>
                <a:gd name="T4" fmla="*/ 0 w 4367"/>
                <a:gd name="T5" fmla="*/ 0 h 1508"/>
                <a:gd name="T6" fmla="*/ 4367 w 4367"/>
                <a:gd name="T7" fmla="*/ 0 h 1508"/>
                <a:gd name="T8" fmla="*/ 4367 w 4367"/>
                <a:gd name="T9" fmla="*/ 284 h 1508"/>
                <a:gd name="T10" fmla="*/ 4303 w 4367"/>
                <a:gd name="T11" fmla="*/ 284 h 15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67"/>
                <a:gd name="T19" fmla="*/ 0 h 1508"/>
                <a:gd name="T20" fmla="*/ 4367 w 4367"/>
                <a:gd name="T21" fmla="*/ 1508 h 150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67" h="1508">
                  <a:moveTo>
                    <a:pt x="67" y="1508"/>
                  </a:moveTo>
                  <a:lnTo>
                    <a:pt x="0" y="1508"/>
                  </a:lnTo>
                  <a:lnTo>
                    <a:pt x="0" y="0"/>
                  </a:lnTo>
                  <a:lnTo>
                    <a:pt x="4367" y="0"/>
                  </a:lnTo>
                  <a:lnTo>
                    <a:pt x="4367" y="284"/>
                  </a:lnTo>
                  <a:lnTo>
                    <a:pt x="4303" y="284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3" name="Line 250"/>
            <p:cNvSpPr>
              <a:spLocks noChangeShapeType="1"/>
            </p:cNvSpPr>
            <p:nvPr/>
          </p:nvSpPr>
          <p:spPr bwMode="auto">
            <a:xfrm>
              <a:off x="581" y="2180"/>
              <a:ext cx="175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4" name="Freeform 251"/>
            <p:cNvSpPr>
              <a:spLocks noChangeArrowheads="1"/>
            </p:cNvSpPr>
            <p:nvPr/>
          </p:nvSpPr>
          <p:spPr bwMode="auto">
            <a:xfrm>
              <a:off x="747" y="2166"/>
              <a:ext cx="28" cy="31"/>
            </a:xfrm>
            <a:custGeom>
              <a:avLst/>
              <a:gdLst>
                <a:gd name="T0" fmla="*/ 0 w 28"/>
                <a:gd name="T1" fmla="*/ 0 h 31"/>
                <a:gd name="T2" fmla="*/ 0 w 28"/>
                <a:gd name="T3" fmla="*/ 31 h 31"/>
                <a:gd name="T4" fmla="*/ 28 w 28"/>
                <a:gd name="T5" fmla="*/ 14 h 31"/>
                <a:gd name="T6" fmla="*/ 0 w 28"/>
                <a:gd name="T7" fmla="*/ 0 h 31"/>
                <a:gd name="T8" fmla="*/ 0 w 28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31"/>
                <a:gd name="T17" fmla="*/ 28 w 28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31">
                  <a:moveTo>
                    <a:pt x="0" y="0"/>
                  </a:moveTo>
                  <a:lnTo>
                    <a:pt x="0" y="31"/>
                  </a:lnTo>
                  <a:lnTo>
                    <a:pt x="28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5" name="Freeform 252"/>
            <p:cNvSpPr>
              <a:spLocks noChangeArrowheads="1"/>
            </p:cNvSpPr>
            <p:nvPr/>
          </p:nvSpPr>
          <p:spPr bwMode="auto">
            <a:xfrm>
              <a:off x="439" y="2166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4 h 31"/>
                <a:gd name="T6" fmla="*/ 2 w 31"/>
                <a:gd name="T7" fmla="*/ 0 h 31"/>
                <a:gd name="T8" fmla="*/ 2 w 31"/>
                <a:gd name="T9" fmla="*/ 0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6" name="Freeform 253"/>
            <p:cNvSpPr>
              <a:spLocks noChangeArrowheads="1"/>
            </p:cNvSpPr>
            <p:nvPr/>
          </p:nvSpPr>
          <p:spPr bwMode="auto">
            <a:xfrm>
              <a:off x="2932" y="3004"/>
              <a:ext cx="29" cy="29"/>
            </a:xfrm>
            <a:custGeom>
              <a:avLst/>
              <a:gdLst>
                <a:gd name="T0" fmla="*/ 0 w 29"/>
                <a:gd name="T1" fmla="*/ 0 h 29"/>
                <a:gd name="T2" fmla="*/ 0 w 29"/>
                <a:gd name="T3" fmla="*/ 29 h 29"/>
                <a:gd name="T4" fmla="*/ 29 w 29"/>
                <a:gd name="T5" fmla="*/ 14 h 29"/>
                <a:gd name="T6" fmla="*/ 0 w 29"/>
                <a:gd name="T7" fmla="*/ 0 h 29"/>
                <a:gd name="T8" fmla="*/ 0 w 29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29"/>
                <a:gd name="T17" fmla="*/ 29 w 29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29">
                  <a:moveTo>
                    <a:pt x="0" y="0"/>
                  </a:moveTo>
                  <a:lnTo>
                    <a:pt x="0" y="29"/>
                  </a:lnTo>
                  <a:lnTo>
                    <a:pt x="29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7" name="Freeform 254"/>
            <p:cNvSpPr>
              <a:spLocks noChangeArrowheads="1"/>
            </p:cNvSpPr>
            <p:nvPr/>
          </p:nvSpPr>
          <p:spPr bwMode="auto">
            <a:xfrm>
              <a:off x="2966" y="2786"/>
              <a:ext cx="220" cy="464"/>
            </a:xfrm>
            <a:custGeom>
              <a:avLst/>
              <a:gdLst>
                <a:gd name="T0" fmla="*/ 108 w 220"/>
                <a:gd name="T1" fmla="*/ 464 h 464"/>
                <a:gd name="T2" fmla="*/ 127 w 220"/>
                <a:gd name="T3" fmla="*/ 462 h 464"/>
                <a:gd name="T4" fmla="*/ 144 w 220"/>
                <a:gd name="T5" fmla="*/ 453 h 464"/>
                <a:gd name="T6" fmla="*/ 161 w 220"/>
                <a:gd name="T7" fmla="*/ 441 h 464"/>
                <a:gd name="T8" fmla="*/ 175 w 220"/>
                <a:gd name="T9" fmla="*/ 422 h 464"/>
                <a:gd name="T10" fmla="*/ 187 w 220"/>
                <a:gd name="T11" fmla="*/ 398 h 464"/>
                <a:gd name="T12" fmla="*/ 198 w 220"/>
                <a:gd name="T13" fmla="*/ 370 h 464"/>
                <a:gd name="T14" fmla="*/ 208 w 220"/>
                <a:gd name="T15" fmla="*/ 339 h 464"/>
                <a:gd name="T16" fmla="*/ 213 w 220"/>
                <a:gd name="T17" fmla="*/ 306 h 464"/>
                <a:gd name="T18" fmla="*/ 217 w 220"/>
                <a:gd name="T19" fmla="*/ 270 h 464"/>
                <a:gd name="T20" fmla="*/ 220 w 220"/>
                <a:gd name="T21" fmla="*/ 232 h 464"/>
                <a:gd name="T22" fmla="*/ 217 w 220"/>
                <a:gd name="T23" fmla="*/ 194 h 464"/>
                <a:gd name="T24" fmla="*/ 213 w 220"/>
                <a:gd name="T25" fmla="*/ 159 h 464"/>
                <a:gd name="T26" fmla="*/ 208 w 220"/>
                <a:gd name="T27" fmla="*/ 126 h 464"/>
                <a:gd name="T28" fmla="*/ 198 w 220"/>
                <a:gd name="T29" fmla="*/ 95 h 464"/>
                <a:gd name="T30" fmla="*/ 187 w 220"/>
                <a:gd name="T31" fmla="*/ 69 h 464"/>
                <a:gd name="T32" fmla="*/ 175 w 220"/>
                <a:gd name="T33" fmla="*/ 45 h 464"/>
                <a:gd name="T34" fmla="*/ 161 w 220"/>
                <a:gd name="T35" fmla="*/ 26 h 464"/>
                <a:gd name="T36" fmla="*/ 144 w 220"/>
                <a:gd name="T37" fmla="*/ 12 h 464"/>
                <a:gd name="T38" fmla="*/ 127 w 220"/>
                <a:gd name="T39" fmla="*/ 3 h 464"/>
                <a:gd name="T40" fmla="*/ 111 w 220"/>
                <a:gd name="T41" fmla="*/ 0 h 464"/>
                <a:gd name="T42" fmla="*/ 92 w 220"/>
                <a:gd name="T43" fmla="*/ 3 h 464"/>
                <a:gd name="T44" fmla="*/ 75 w 220"/>
                <a:gd name="T45" fmla="*/ 12 h 464"/>
                <a:gd name="T46" fmla="*/ 59 w 220"/>
                <a:gd name="T47" fmla="*/ 26 h 464"/>
                <a:gd name="T48" fmla="*/ 45 w 220"/>
                <a:gd name="T49" fmla="*/ 45 h 464"/>
                <a:gd name="T50" fmla="*/ 33 w 220"/>
                <a:gd name="T51" fmla="*/ 69 h 464"/>
                <a:gd name="T52" fmla="*/ 21 w 220"/>
                <a:gd name="T53" fmla="*/ 95 h 464"/>
                <a:gd name="T54" fmla="*/ 11 w 220"/>
                <a:gd name="T55" fmla="*/ 126 h 464"/>
                <a:gd name="T56" fmla="*/ 7 w 220"/>
                <a:gd name="T57" fmla="*/ 159 h 464"/>
                <a:gd name="T58" fmla="*/ 2 w 220"/>
                <a:gd name="T59" fmla="*/ 194 h 464"/>
                <a:gd name="T60" fmla="*/ 0 w 220"/>
                <a:gd name="T61" fmla="*/ 232 h 464"/>
                <a:gd name="T62" fmla="*/ 2 w 220"/>
                <a:gd name="T63" fmla="*/ 270 h 464"/>
                <a:gd name="T64" fmla="*/ 7 w 220"/>
                <a:gd name="T65" fmla="*/ 306 h 464"/>
                <a:gd name="T66" fmla="*/ 11 w 220"/>
                <a:gd name="T67" fmla="*/ 339 h 464"/>
                <a:gd name="T68" fmla="*/ 21 w 220"/>
                <a:gd name="T69" fmla="*/ 370 h 464"/>
                <a:gd name="T70" fmla="*/ 33 w 220"/>
                <a:gd name="T71" fmla="*/ 398 h 464"/>
                <a:gd name="T72" fmla="*/ 45 w 220"/>
                <a:gd name="T73" fmla="*/ 422 h 464"/>
                <a:gd name="T74" fmla="*/ 59 w 220"/>
                <a:gd name="T75" fmla="*/ 441 h 464"/>
                <a:gd name="T76" fmla="*/ 75 w 220"/>
                <a:gd name="T77" fmla="*/ 453 h 464"/>
                <a:gd name="T78" fmla="*/ 92 w 220"/>
                <a:gd name="T79" fmla="*/ 462 h 464"/>
                <a:gd name="T80" fmla="*/ 111 w 220"/>
                <a:gd name="T81" fmla="*/ 464 h 464"/>
                <a:gd name="T82" fmla="*/ 111 w 220"/>
                <a:gd name="T83" fmla="*/ 464 h 464"/>
                <a:gd name="T84" fmla="*/ 108 w 220"/>
                <a:gd name="T85" fmla="*/ 464 h 46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20"/>
                <a:gd name="T130" fmla="*/ 0 h 464"/>
                <a:gd name="T131" fmla="*/ 220 w 220"/>
                <a:gd name="T132" fmla="*/ 464 h 46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20" h="464">
                  <a:moveTo>
                    <a:pt x="108" y="464"/>
                  </a:moveTo>
                  <a:lnTo>
                    <a:pt x="127" y="462"/>
                  </a:lnTo>
                  <a:lnTo>
                    <a:pt x="144" y="453"/>
                  </a:lnTo>
                  <a:lnTo>
                    <a:pt x="161" y="441"/>
                  </a:lnTo>
                  <a:lnTo>
                    <a:pt x="175" y="422"/>
                  </a:lnTo>
                  <a:lnTo>
                    <a:pt x="187" y="398"/>
                  </a:lnTo>
                  <a:lnTo>
                    <a:pt x="198" y="370"/>
                  </a:lnTo>
                  <a:lnTo>
                    <a:pt x="208" y="339"/>
                  </a:lnTo>
                  <a:lnTo>
                    <a:pt x="213" y="306"/>
                  </a:lnTo>
                  <a:lnTo>
                    <a:pt x="217" y="270"/>
                  </a:lnTo>
                  <a:lnTo>
                    <a:pt x="220" y="232"/>
                  </a:lnTo>
                  <a:lnTo>
                    <a:pt x="217" y="194"/>
                  </a:lnTo>
                  <a:lnTo>
                    <a:pt x="213" y="159"/>
                  </a:lnTo>
                  <a:lnTo>
                    <a:pt x="208" y="126"/>
                  </a:lnTo>
                  <a:lnTo>
                    <a:pt x="198" y="95"/>
                  </a:lnTo>
                  <a:lnTo>
                    <a:pt x="187" y="69"/>
                  </a:lnTo>
                  <a:lnTo>
                    <a:pt x="175" y="45"/>
                  </a:lnTo>
                  <a:lnTo>
                    <a:pt x="161" y="26"/>
                  </a:lnTo>
                  <a:lnTo>
                    <a:pt x="144" y="12"/>
                  </a:lnTo>
                  <a:lnTo>
                    <a:pt x="127" y="3"/>
                  </a:lnTo>
                  <a:lnTo>
                    <a:pt x="111" y="0"/>
                  </a:lnTo>
                  <a:lnTo>
                    <a:pt x="92" y="3"/>
                  </a:lnTo>
                  <a:lnTo>
                    <a:pt x="75" y="12"/>
                  </a:lnTo>
                  <a:lnTo>
                    <a:pt x="59" y="26"/>
                  </a:lnTo>
                  <a:lnTo>
                    <a:pt x="45" y="45"/>
                  </a:lnTo>
                  <a:lnTo>
                    <a:pt x="33" y="69"/>
                  </a:lnTo>
                  <a:lnTo>
                    <a:pt x="21" y="95"/>
                  </a:lnTo>
                  <a:lnTo>
                    <a:pt x="11" y="126"/>
                  </a:lnTo>
                  <a:lnTo>
                    <a:pt x="7" y="159"/>
                  </a:lnTo>
                  <a:lnTo>
                    <a:pt x="2" y="194"/>
                  </a:lnTo>
                  <a:lnTo>
                    <a:pt x="0" y="232"/>
                  </a:lnTo>
                  <a:lnTo>
                    <a:pt x="2" y="270"/>
                  </a:lnTo>
                  <a:lnTo>
                    <a:pt x="7" y="306"/>
                  </a:lnTo>
                  <a:lnTo>
                    <a:pt x="11" y="339"/>
                  </a:lnTo>
                  <a:lnTo>
                    <a:pt x="21" y="370"/>
                  </a:lnTo>
                  <a:lnTo>
                    <a:pt x="33" y="398"/>
                  </a:lnTo>
                  <a:lnTo>
                    <a:pt x="45" y="422"/>
                  </a:lnTo>
                  <a:lnTo>
                    <a:pt x="59" y="441"/>
                  </a:lnTo>
                  <a:lnTo>
                    <a:pt x="75" y="453"/>
                  </a:lnTo>
                  <a:lnTo>
                    <a:pt x="92" y="462"/>
                  </a:lnTo>
                  <a:lnTo>
                    <a:pt x="111" y="464"/>
                  </a:lnTo>
                  <a:lnTo>
                    <a:pt x="108" y="4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8" name="Freeform 255"/>
            <p:cNvSpPr>
              <a:spLocks noChangeArrowheads="1"/>
            </p:cNvSpPr>
            <p:nvPr/>
          </p:nvSpPr>
          <p:spPr bwMode="auto">
            <a:xfrm>
              <a:off x="2966" y="2786"/>
              <a:ext cx="220" cy="464"/>
            </a:xfrm>
            <a:custGeom>
              <a:avLst/>
              <a:gdLst>
                <a:gd name="T0" fmla="*/ 108 w 220"/>
                <a:gd name="T1" fmla="*/ 464 h 464"/>
                <a:gd name="T2" fmla="*/ 127 w 220"/>
                <a:gd name="T3" fmla="*/ 462 h 464"/>
                <a:gd name="T4" fmla="*/ 144 w 220"/>
                <a:gd name="T5" fmla="*/ 453 h 464"/>
                <a:gd name="T6" fmla="*/ 161 w 220"/>
                <a:gd name="T7" fmla="*/ 441 h 464"/>
                <a:gd name="T8" fmla="*/ 175 w 220"/>
                <a:gd name="T9" fmla="*/ 422 h 464"/>
                <a:gd name="T10" fmla="*/ 187 w 220"/>
                <a:gd name="T11" fmla="*/ 398 h 464"/>
                <a:gd name="T12" fmla="*/ 198 w 220"/>
                <a:gd name="T13" fmla="*/ 370 h 464"/>
                <a:gd name="T14" fmla="*/ 208 w 220"/>
                <a:gd name="T15" fmla="*/ 339 h 464"/>
                <a:gd name="T16" fmla="*/ 213 w 220"/>
                <a:gd name="T17" fmla="*/ 306 h 464"/>
                <a:gd name="T18" fmla="*/ 217 w 220"/>
                <a:gd name="T19" fmla="*/ 270 h 464"/>
                <a:gd name="T20" fmla="*/ 220 w 220"/>
                <a:gd name="T21" fmla="*/ 232 h 464"/>
                <a:gd name="T22" fmla="*/ 217 w 220"/>
                <a:gd name="T23" fmla="*/ 194 h 464"/>
                <a:gd name="T24" fmla="*/ 213 w 220"/>
                <a:gd name="T25" fmla="*/ 159 h 464"/>
                <a:gd name="T26" fmla="*/ 208 w 220"/>
                <a:gd name="T27" fmla="*/ 126 h 464"/>
                <a:gd name="T28" fmla="*/ 198 w 220"/>
                <a:gd name="T29" fmla="*/ 95 h 464"/>
                <a:gd name="T30" fmla="*/ 187 w 220"/>
                <a:gd name="T31" fmla="*/ 69 h 464"/>
                <a:gd name="T32" fmla="*/ 175 w 220"/>
                <a:gd name="T33" fmla="*/ 45 h 464"/>
                <a:gd name="T34" fmla="*/ 161 w 220"/>
                <a:gd name="T35" fmla="*/ 26 h 464"/>
                <a:gd name="T36" fmla="*/ 144 w 220"/>
                <a:gd name="T37" fmla="*/ 12 h 464"/>
                <a:gd name="T38" fmla="*/ 127 w 220"/>
                <a:gd name="T39" fmla="*/ 3 h 464"/>
                <a:gd name="T40" fmla="*/ 111 w 220"/>
                <a:gd name="T41" fmla="*/ 0 h 464"/>
                <a:gd name="T42" fmla="*/ 92 w 220"/>
                <a:gd name="T43" fmla="*/ 3 h 464"/>
                <a:gd name="T44" fmla="*/ 75 w 220"/>
                <a:gd name="T45" fmla="*/ 12 h 464"/>
                <a:gd name="T46" fmla="*/ 59 w 220"/>
                <a:gd name="T47" fmla="*/ 26 h 464"/>
                <a:gd name="T48" fmla="*/ 45 w 220"/>
                <a:gd name="T49" fmla="*/ 45 h 464"/>
                <a:gd name="T50" fmla="*/ 33 w 220"/>
                <a:gd name="T51" fmla="*/ 69 h 464"/>
                <a:gd name="T52" fmla="*/ 21 w 220"/>
                <a:gd name="T53" fmla="*/ 95 h 464"/>
                <a:gd name="T54" fmla="*/ 11 w 220"/>
                <a:gd name="T55" fmla="*/ 126 h 464"/>
                <a:gd name="T56" fmla="*/ 7 w 220"/>
                <a:gd name="T57" fmla="*/ 159 h 464"/>
                <a:gd name="T58" fmla="*/ 2 w 220"/>
                <a:gd name="T59" fmla="*/ 194 h 464"/>
                <a:gd name="T60" fmla="*/ 0 w 220"/>
                <a:gd name="T61" fmla="*/ 232 h 464"/>
                <a:gd name="T62" fmla="*/ 2 w 220"/>
                <a:gd name="T63" fmla="*/ 270 h 464"/>
                <a:gd name="T64" fmla="*/ 7 w 220"/>
                <a:gd name="T65" fmla="*/ 306 h 464"/>
                <a:gd name="T66" fmla="*/ 11 w 220"/>
                <a:gd name="T67" fmla="*/ 339 h 464"/>
                <a:gd name="T68" fmla="*/ 21 w 220"/>
                <a:gd name="T69" fmla="*/ 370 h 464"/>
                <a:gd name="T70" fmla="*/ 33 w 220"/>
                <a:gd name="T71" fmla="*/ 398 h 464"/>
                <a:gd name="T72" fmla="*/ 45 w 220"/>
                <a:gd name="T73" fmla="*/ 422 h 464"/>
                <a:gd name="T74" fmla="*/ 59 w 220"/>
                <a:gd name="T75" fmla="*/ 441 h 464"/>
                <a:gd name="T76" fmla="*/ 75 w 220"/>
                <a:gd name="T77" fmla="*/ 453 h 464"/>
                <a:gd name="T78" fmla="*/ 92 w 220"/>
                <a:gd name="T79" fmla="*/ 462 h 464"/>
                <a:gd name="T80" fmla="*/ 111 w 220"/>
                <a:gd name="T81" fmla="*/ 464 h 464"/>
                <a:gd name="T82" fmla="*/ 111 w 220"/>
                <a:gd name="T83" fmla="*/ 464 h 4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20"/>
                <a:gd name="T127" fmla="*/ 0 h 464"/>
                <a:gd name="T128" fmla="*/ 220 w 220"/>
                <a:gd name="T129" fmla="*/ 464 h 4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20" h="464">
                  <a:moveTo>
                    <a:pt x="108" y="464"/>
                  </a:moveTo>
                  <a:lnTo>
                    <a:pt x="127" y="462"/>
                  </a:lnTo>
                  <a:lnTo>
                    <a:pt x="144" y="453"/>
                  </a:lnTo>
                  <a:lnTo>
                    <a:pt x="161" y="441"/>
                  </a:lnTo>
                  <a:lnTo>
                    <a:pt x="175" y="422"/>
                  </a:lnTo>
                  <a:lnTo>
                    <a:pt x="187" y="398"/>
                  </a:lnTo>
                  <a:lnTo>
                    <a:pt x="198" y="370"/>
                  </a:lnTo>
                  <a:lnTo>
                    <a:pt x="208" y="339"/>
                  </a:lnTo>
                  <a:lnTo>
                    <a:pt x="213" y="306"/>
                  </a:lnTo>
                  <a:lnTo>
                    <a:pt x="217" y="270"/>
                  </a:lnTo>
                  <a:lnTo>
                    <a:pt x="220" y="232"/>
                  </a:lnTo>
                  <a:lnTo>
                    <a:pt x="217" y="194"/>
                  </a:lnTo>
                  <a:lnTo>
                    <a:pt x="213" y="159"/>
                  </a:lnTo>
                  <a:lnTo>
                    <a:pt x="208" y="126"/>
                  </a:lnTo>
                  <a:lnTo>
                    <a:pt x="198" y="95"/>
                  </a:lnTo>
                  <a:lnTo>
                    <a:pt x="187" y="69"/>
                  </a:lnTo>
                  <a:lnTo>
                    <a:pt x="175" y="45"/>
                  </a:lnTo>
                  <a:lnTo>
                    <a:pt x="161" y="26"/>
                  </a:lnTo>
                  <a:lnTo>
                    <a:pt x="144" y="12"/>
                  </a:lnTo>
                  <a:lnTo>
                    <a:pt x="127" y="3"/>
                  </a:lnTo>
                  <a:lnTo>
                    <a:pt x="111" y="0"/>
                  </a:lnTo>
                  <a:lnTo>
                    <a:pt x="92" y="3"/>
                  </a:lnTo>
                  <a:lnTo>
                    <a:pt x="75" y="12"/>
                  </a:lnTo>
                  <a:lnTo>
                    <a:pt x="59" y="26"/>
                  </a:lnTo>
                  <a:lnTo>
                    <a:pt x="45" y="45"/>
                  </a:lnTo>
                  <a:lnTo>
                    <a:pt x="33" y="69"/>
                  </a:lnTo>
                  <a:lnTo>
                    <a:pt x="21" y="95"/>
                  </a:lnTo>
                  <a:lnTo>
                    <a:pt x="11" y="126"/>
                  </a:lnTo>
                  <a:lnTo>
                    <a:pt x="7" y="159"/>
                  </a:lnTo>
                  <a:lnTo>
                    <a:pt x="2" y="194"/>
                  </a:lnTo>
                  <a:lnTo>
                    <a:pt x="0" y="232"/>
                  </a:lnTo>
                  <a:lnTo>
                    <a:pt x="2" y="270"/>
                  </a:lnTo>
                  <a:lnTo>
                    <a:pt x="7" y="306"/>
                  </a:lnTo>
                  <a:lnTo>
                    <a:pt x="11" y="339"/>
                  </a:lnTo>
                  <a:lnTo>
                    <a:pt x="21" y="370"/>
                  </a:lnTo>
                  <a:lnTo>
                    <a:pt x="33" y="398"/>
                  </a:lnTo>
                  <a:lnTo>
                    <a:pt x="45" y="422"/>
                  </a:lnTo>
                  <a:lnTo>
                    <a:pt x="59" y="441"/>
                  </a:lnTo>
                  <a:lnTo>
                    <a:pt x="75" y="453"/>
                  </a:lnTo>
                  <a:lnTo>
                    <a:pt x="92" y="462"/>
                  </a:lnTo>
                  <a:lnTo>
                    <a:pt x="111" y="464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09" name="Rectangle 256"/>
            <p:cNvSpPr>
              <a:spLocks noChangeArrowheads="1"/>
            </p:cNvSpPr>
            <p:nvPr/>
          </p:nvSpPr>
          <p:spPr bwMode="auto">
            <a:xfrm>
              <a:off x="2831" y="290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110" name="Rectangle 257"/>
            <p:cNvSpPr>
              <a:spLocks noChangeArrowheads="1"/>
            </p:cNvSpPr>
            <p:nvPr/>
          </p:nvSpPr>
          <p:spPr bwMode="auto">
            <a:xfrm>
              <a:off x="2864" y="290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6</a:t>
              </a:r>
            </a:p>
          </p:txBody>
        </p:sp>
        <p:sp>
          <p:nvSpPr>
            <p:cNvPr id="2111" name="Line 258"/>
            <p:cNvSpPr>
              <a:spLocks noChangeShapeType="1"/>
            </p:cNvSpPr>
            <p:nvPr/>
          </p:nvSpPr>
          <p:spPr bwMode="auto">
            <a:xfrm flipH="1" flipV="1">
              <a:off x="3227" y="2979"/>
              <a:ext cx="45" cy="78"/>
            </a:xfrm>
            <a:prstGeom prst="line">
              <a:avLst/>
            </a:prstGeom>
            <a:noFill/>
            <a:ln w="11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2" name="Rectangle 259"/>
            <p:cNvSpPr>
              <a:spLocks noChangeArrowheads="1"/>
            </p:cNvSpPr>
            <p:nvPr/>
          </p:nvSpPr>
          <p:spPr bwMode="auto">
            <a:xfrm>
              <a:off x="3214" y="290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2113" name="Rectangle 260"/>
            <p:cNvSpPr>
              <a:spLocks noChangeArrowheads="1"/>
            </p:cNvSpPr>
            <p:nvPr/>
          </p:nvSpPr>
          <p:spPr bwMode="auto">
            <a:xfrm>
              <a:off x="3247" y="290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2114" name="Rectangle 261"/>
            <p:cNvSpPr>
              <a:spLocks noChangeArrowheads="1"/>
            </p:cNvSpPr>
            <p:nvPr/>
          </p:nvSpPr>
          <p:spPr bwMode="auto">
            <a:xfrm>
              <a:off x="1662" y="2934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115" name="Rectangle 262"/>
            <p:cNvSpPr>
              <a:spLocks noChangeArrowheads="1"/>
            </p:cNvSpPr>
            <p:nvPr/>
          </p:nvSpPr>
          <p:spPr bwMode="auto">
            <a:xfrm>
              <a:off x="1677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116" name="Rectangle 263"/>
            <p:cNvSpPr>
              <a:spLocks noChangeArrowheads="1"/>
            </p:cNvSpPr>
            <p:nvPr/>
          </p:nvSpPr>
          <p:spPr bwMode="auto">
            <a:xfrm>
              <a:off x="1710" y="2934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117" name="Rectangle 264"/>
            <p:cNvSpPr>
              <a:spLocks noChangeArrowheads="1"/>
            </p:cNvSpPr>
            <p:nvPr/>
          </p:nvSpPr>
          <p:spPr bwMode="auto">
            <a:xfrm>
              <a:off x="1739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118" name="Rectangle 265"/>
            <p:cNvSpPr>
              <a:spLocks noChangeArrowheads="1"/>
            </p:cNvSpPr>
            <p:nvPr/>
          </p:nvSpPr>
          <p:spPr bwMode="auto">
            <a:xfrm>
              <a:off x="1755" y="2934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119" name="Rectangle 266"/>
            <p:cNvSpPr>
              <a:spLocks noChangeArrowheads="1"/>
            </p:cNvSpPr>
            <p:nvPr/>
          </p:nvSpPr>
          <p:spPr bwMode="auto">
            <a:xfrm>
              <a:off x="1774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120" name="Rectangle 267"/>
            <p:cNvSpPr>
              <a:spLocks noChangeArrowheads="1"/>
            </p:cNvSpPr>
            <p:nvPr/>
          </p:nvSpPr>
          <p:spPr bwMode="auto">
            <a:xfrm>
              <a:off x="1808" y="2934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121" name="Rectangle 268"/>
            <p:cNvSpPr>
              <a:spLocks noChangeArrowheads="1"/>
            </p:cNvSpPr>
            <p:nvPr/>
          </p:nvSpPr>
          <p:spPr bwMode="auto">
            <a:xfrm>
              <a:off x="1836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122" name="Rectangle 269"/>
            <p:cNvSpPr>
              <a:spLocks noChangeArrowheads="1"/>
            </p:cNvSpPr>
            <p:nvPr/>
          </p:nvSpPr>
          <p:spPr bwMode="auto">
            <a:xfrm>
              <a:off x="1852" y="2934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123" name="Rectangle 270"/>
            <p:cNvSpPr>
              <a:spLocks noChangeArrowheads="1"/>
            </p:cNvSpPr>
            <p:nvPr/>
          </p:nvSpPr>
          <p:spPr bwMode="auto">
            <a:xfrm>
              <a:off x="1867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124" name="Rectangle 271"/>
            <p:cNvSpPr>
              <a:spLocks noChangeArrowheads="1"/>
            </p:cNvSpPr>
            <p:nvPr/>
          </p:nvSpPr>
          <p:spPr bwMode="auto">
            <a:xfrm>
              <a:off x="1898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125" name="Rectangle 272"/>
            <p:cNvSpPr>
              <a:spLocks noChangeArrowheads="1"/>
            </p:cNvSpPr>
            <p:nvPr/>
          </p:nvSpPr>
          <p:spPr bwMode="auto">
            <a:xfrm>
              <a:off x="1931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126" name="Rectangle 273"/>
            <p:cNvSpPr>
              <a:spLocks noChangeArrowheads="1"/>
            </p:cNvSpPr>
            <p:nvPr/>
          </p:nvSpPr>
          <p:spPr bwMode="auto">
            <a:xfrm>
              <a:off x="1947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2127" name="Rectangle 274"/>
            <p:cNvSpPr>
              <a:spLocks noChangeArrowheads="1"/>
            </p:cNvSpPr>
            <p:nvPr/>
          </p:nvSpPr>
          <p:spPr bwMode="auto">
            <a:xfrm>
              <a:off x="1964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128" name="Rectangle 275"/>
            <p:cNvSpPr>
              <a:spLocks noChangeArrowheads="1"/>
            </p:cNvSpPr>
            <p:nvPr/>
          </p:nvSpPr>
          <p:spPr bwMode="auto">
            <a:xfrm>
              <a:off x="1995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2129" name="Rectangle 276"/>
            <p:cNvSpPr>
              <a:spLocks noChangeArrowheads="1"/>
            </p:cNvSpPr>
            <p:nvPr/>
          </p:nvSpPr>
          <p:spPr bwMode="auto">
            <a:xfrm>
              <a:off x="2028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130" name="Rectangle 277"/>
            <p:cNvSpPr>
              <a:spLocks noChangeArrowheads="1"/>
            </p:cNvSpPr>
            <p:nvPr/>
          </p:nvSpPr>
          <p:spPr bwMode="auto">
            <a:xfrm>
              <a:off x="2044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131" name="Rectangle 278"/>
            <p:cNvSpPr>
              <a:spLocks noChangeArrowheads="1"/>
            </p:cNvSpPr>
            <p:nvPr/>
          </p:nvSpPr>
          <p:spPr bwMode="auto">
            <a:xfrm>
              <a:off x="2061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2132" name="Rectangle 279"/>
            <p:cNvSpPr>
              <a:spLocks noChangeArrowheads="1"/>
            </p:cNvSpPr>
            <p:nvPr/>
          </p:nvSpPr>
          <p:spPr bwMode="auto">
            <a:xfrm>
              <a:off x="2094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2133" name="Freeform 280"/>
            <p:cNvSpPr>
              <a:spLocks noChangeArrowheads="1"/>
            </p:cNvSpPr>
            <p:nvPr/>
          </p:nvSpPr>
          <p:spPr bwMode="auto">
            <a:xfrm>
              <a:off x="3742" y="930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3 w 31"/>
                <a:gd name="T3" fmla="*/ 31 h 31"/>
                <a:gd name="T4" fmla="*/ 31 w 31"/>
                <a:gd name="T5" fmla="*/ 16 h 31"/>
                <a:gd name="T6" fmla="*/ 3 w 31"/>
                <a:gd name="T7" fmla="*/ 0 h 31"/>
                <a:gd name="T8" fmla="*/ 3 w 31"/>
                <a:gd name="T9" fmla="*/ 0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3" y="31"/>
                  </a:lnTo>
                  <a:lnTo>
                    <a:pt x="31" y="16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34" name="Freeform 281"/>
            <p:cNvSpPr>
              <a:spLocks noChangeArrowheads="1"/>
            </p:cNvSpPr>
            <p:nvPr/>
          </p:nvSpPr>
          <p:spPr bwMode="auto">
            <a:xfrm>
              <a:off x="3742" y="1280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3 w 31"/>
                <a:gd name="T3" fmla="*/ 31 h 31"/>
                <a:gd name="T4" fmla="*/ 31 w 31"/>
                <a:gd name="T5" fmla="*/ 17 h 31"/>
                <a:gd name="T6" fmla="*/ 3 w 31"/>
                <a:gd name="T7" fmla="*/ 3 h 31"/>
                <a:gd name="T8" fmla="*/ 3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3" y="31"/>
                  </a:lnTo>
                  <a:lnTo>
                    <a:pt x="31" y="17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35" name="Freeform 282"/>
            <p:cNvSpPr>
              <a:spLocks noChangeArrowheads="1"/>
            </p:cNvSpPr>
            <p:nvPr/>
          </p:nvSpPr>
          <p:spPr bwMode="auto">
            <a:xfrm>
              <a:off x="5168" y="2422"/>
              <a:ext cx="111" cy="371"/>
            </a:xfrm>
            <a:custGeom>
              <a:avLst/>
              <a:gdLst>
                <a:gd name="T0" fmla="*/ 0 w 111"/>
                <a:gd name="T1" fmla="*/ 52 h 371"/>
                <a:gd name="T2" fmla="*/ 2 w 111"/>
                <a:gd name="T3" fmla="*/ 45 h 371"/>
                <a:gd name="T4" fmla="*/ 5 w 111"/>
                <a:gd name="T5" fmla="*/ 35 h 371"/>
                <a:gd name="T6" fmla="*/ 7 w 111"/>
                <a:gd name="T7" fmla="*/ 28 h 371"/>
                <a:gd name="T8" fmla="*/ 12 w 111"/>
                <a:gd name="T9" fmla="*/ 21 h 371"/>
                <a:gd name="T10" fmla="*/ 19 w 111"/>
                <a:gd name="T11" fmla="*/ 14 h 371"/>
                <a:gd name="T12" fmla="*/ 24 w 111"/>
                <a:gd name="T13" fmla="*/ 9 h 371"/>
                <a:gd name="T14" fmla="*/ 31 w 111"/>
                <a:gd name="T15" fmla="*/ 4 h 371"/>
                <a:gd name="T16" fmla="*/ 40 w 111"/>
                <a:gd name="T17" fmla="*/ 2 h 371"/>
                <a:gd name="T18" fmla="*/ 47 w 111"/>
                <a:gd name="T19" fmla="*/ 0 h 371"/>
                <a:gd name="T20" fmla="*/ 57 w 111"/>
                <a:gd name="T21" fmla="*/ 0 h 371"/>
                <a:gd name="T22" fmla="*/ 66 w 111"/>
                <a:gd name="T23" fmla="*/ 0 h 371"/>
                <a:gd name="T24" fmla="*/ 73 w 111"/>
                <a:gd name="T25" fmla="*/ 2 h 371"/>
                <a:gd name="T26" fmla="*/ 80 w 111"/>
                <a:gd name="T27" fmla="*/ 4 h 371"/>
                <a:gd name="T28" fmla="*/ 87 w 111"/>
                <a:gd name="T29" fmla="*/ 9 h 371"/>
                <a:gd name="T30" fmla="*/ 95 w 111"/>
                <a:gd name="T31" fmla="*/ 14 h 371"/>
                <a:gd name="T32" fmla="*/ 99 w 111"/>
                <a:gd name="T33" fmla="*/ 21 h 371"/>
                <a:gd name="T34" fmla="*/ 104 w 111"/>
                <a:gd name="T35" fmla="*/ 28 h 371"/>
                <a:gd name="T36" fmla="*/ 109 w 111"/>
                <a:gd name="T37" fmla="*/ 35 h 371"/>
                <a:gd name="T38" fmla="*/ 111 w 111"/>
                <a:gd name="T39" fmla="*/ 45 h 371"/>
                <a:gd name="T40" fmla="*/ 111 w 111"/>
                <a:gd name="T41" fmla="*/ 54 h 371"/>
                <a:gd name="T42" fmla="*/ 111 w 111"/>
                <a:gd name="T43" fmla="*/ 315 h 371"/>
                <a:gd name="T44" fmla="*/ 111 w 111"/>
                <a:gd name="T45" fmla="*/ 324 h 371"/>
                <a:gd name="T46" fmla="*/ 109 w 111"/>
                <a:gd name="T47" fmla="*/ 333 h 371"/>
                <a:gd name="T48" fmla="*/ 104 w 111"/>
                <a:gd name="T49" fmla="*/ 341 h 371"/>
                <a:gd name="T50" fmla="*/ 99 w 111"/>
                <a:gd name="T51" fmla="*/ 348 h 371"/>
                <a:gd name="T52" fmla="*/ 95 w 111"/>
                <a:gd name="T53" fmla="*/ 355 h 371"/>
                <a:gd name="T54" fmla="*/ 87 w 111"/>
                <a:gd name="T55" fmla="*/ 360 h 371"/>
                <a:gd name="T56" fmla="*/ 80 w 111"/>
                <a:gd name="T57" fmla="*/ 364 h 371"/>
                <a:gd name="T58" fmla="*/ 73 w 111"/>
                <a:gd name="T59" fmla="*/ 367 h 371"/>
                <a:gd name="T60" fmla="*/ 66 w 111"/>
                <a:gd name="T61" fmla="*/ 369 h 371"/>
                <a:gd name="T62" fmla="*/ 57 w 111"/>
                <a:gd name="T63" fmla="*/ 371 h 371"/>
                <a:gd name="T64" fmla="*/ 47 w 111"/>
                <a:gd name="T65" fmla="*/ 369 h 371"/>
                <a:gd name="T66" fmla="*/ 40 w 111"/>
                <a:gd name="T67" fmla="*/ 367 h 371"/>
                <a:gd name="T68" fmla="*/ 31 w 111"/>
                <a:gd name="T69" fmla="*/ 364 h 371"/>
                <a:gd name="T70" fmla="*/ 24 w 111"/>
                <a:gd name="T71" fmla="*/ 360 h 371"/>
                <a:gd name="T72" fmla="*/ 19 w 111"/>
                <a:gd name="T73" fmla="*/ 355 h 371"/>
                <a:gd name="T74" fmla="*/ 12 w 111"/>
                <a:gd name="T75" fmla="*/ 348 h 371"/>
                <a:gd name="T76" fmla="*/ 7 w 111"/>
                <a:gd name="T77" fmla="*/ 341 h 371"/>
                <a:gd name="T78" fmla="*/ 5 w 111"/>
                <a:gd name="T79" fmla="*/ 333 h 371"/>
                <a:gd name="T80" fmla="*/ 2 w 111"/>
                <a:gd name="T81" fmla="*/ 324 h 371"/>
                <a:gd name="T82" fmla="*/ 2 w 111"/>
                <a:gd name="T83" fmla="*/ 315 h 371"/>
                <a:gd name="T84" fmla="*/ 2 w 111"/>
                <a:gd name="T85" fmla="*/ 54 h 371"/>
                <a:gd name="T86" fmla="*/ 2 w 111"/>
                <a:gd name="T87" fmla="*/ 54 h 371"/>
                <a:gd name="T88" fmla="*/ 0 w 111"/>
                <a:gd name="T89" fmla="*/ 52 h 37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11"/>
                <a:gd name="T136" fmla="*/ 0 h 371"/>
                <a:gd name="T137" fmla="*/ 111 w 111"/>
                <a:gd name="T138" fmla="*/ 371 h 37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11" h="371">
                  <a:moveTo>
                    <a:pt x="0" y="52"/>
                  </a:moveTo>
                  <a:lnTo>
                    <a:pt x="2" y="45"/>
                  </a:lnTo>
                  <a:lnTo>
                    <a:pt x="5" y="35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9" y="14"/>
                  </a:lnTo>
                  <a:lnTo>
                    <a:pt x="24" y="9"/>
                  </a:lnTo>
                  <a:lnTo>
                    <a:pt x="31" y="4"/>
                  </a:lnTo>
                  <a:lnTo>
                    <a:pt x="40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6" y="0"/>
                  </a:lnTo>
                  <a:lnTo>
                    <a:pt x="73" y="2"/>
                  </a:lnTo>
                  <a:lnTo>
                    <a:pt x="80" y="4"/>
                  </a:lnTo>
                  <a:lnTo>
                    <a:pt x="87" y="9"/>
                  </a:lnTo>
                  <a:lnTo>
                    <a:pt x="95" y="14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9" y="35"/>
                  </a:lnTo>
                  <a:lnTo>
                    <a:pt x="111" y="45"/>
                  </a:lnTo>
                  <a:lnTo>
                    <a:pt x="111" y="54"/>
                  </a:lnTo>
                  <a:lnTo>
                    <a:pt x="111" y="315"/>
                  </a:lnTo>
                  <a:lnTo>
                    <a:pt x="111" y="324"/>
                  </a:lnTo>
                  <a:lnTo>
                    <a:pt x="109" y="333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7" y="360"/>
                  </a:lnTo>
                  <a:lnTo>
                    <a:pt x="80" y="364"/>
                  </a:lnTo>
                  <a:lnTo>
                    <a:pt x="73" y="367"/>
                  </a:lnTo>
                  <a:lnTo>
                    <a:pt x="66" y="369"/>
                  </a:lnTo>
                  <a:lnTo>
                    <a:pt x="57" y="371"/>
                  </a:lnTo>
                  <a:lnTo>
                    <a:pt x="47" y="369"/>
                  </a:lnTo>
                  <a:lnTo>
                    <a:pt x="40" y="367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9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3"/>
                  </a:lnTo>
                  <a:lnTo>
                    <a:pt x="2" y="324"/>
                  </a:lnTo>
                  <a:lnTo>
                    <a:pt x="2" y="315"/>
                  </a:lnTo>
                  <a:lnTo>
                    <a:pt x="2" y="54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36" name="Freeform 283"/>
            <p:cNvSpPr>
              <a:spLocks noChangeArrowheads="1"/>
            </p:cNvSpPr>
            <p:nvPr/>
          </p:nvSpPr>
          <p:spPr bwMode="auto">
            <a:xfrm>
              <a:off x="5168" y="2422"/>
              <a:ext cx="111" cy="371"/>
            </a:xfrm>
            <a:custGeom>
              <a:avLst/>
              <a:gdLst>
                <a:gd name="T0" fmla="*/ 0 w 111"/>
                <a:gd name="T1" fmla="*/ 52 h 371"/>
                <a:gd name="T2" fmla="*/ 2 w 111"/>
                <a:gd name="T3" fmla="*/ 45 h 371"/>
                <a:gd name="T4" fmla="*/ 5 w 111"/>
                <a:gd name="T5" fmla="*/ 35 h 371"/>
                <a:gd name="T6" fmla="*/ 7 w 111"/>
                <a:gd name="T7" fmla="*/ 28 h 371"/>
                <a:gd name="T8" fmla="*/ 12 w 111"/>
                <a:gd name="T9" fmla="*/ 21 h 371"/>
                <a:gd name="T10" fmla="*/ 19 w 111"/>
                <a:gd name="T11" fmla="*/ 14 h 371"/>
                <a:gd name="T12" fmla="*/ 24 w 111"/>
                <a:gd name="T13" fmla="*/ 9 h 371"/>
                <a:gd name="T14" fmla="*/ 31 w 111"/>
                <a:gd name="T15" fmla="*/ 4 h 371"/>
                <a:gd name="T16" fmla="*/ 40 w 111"/>
                <a:gd name="T17" fmla="*/ 2 h 371"/>
                <a:gd name="T18" fmla="*/ 47 w 111"/>
                <a:gd name="T19" fmla="*/ 0 h 371"/>
                <a:gd name="T20" fmla="*/ 57 w 111"/>
                <a:gd name="T21" fmla="*/ 0 h 371"/>
                <a:gd name="T22" fmla="*/ 66 w 111"/>
                <a:gd name="T23" fmla="*/ 0 h 371"/>
                <a:gd name="T24" fmla="*/ 73 w 111"/>
                <a:gd name="T25" fmla="*/ 2 h 371"/>
                <a:gd name="T26" fmla="*/ 80 w 111"/>
                <a:gd name="T27" fmla="*/ 4 h 371"/>
                <a:gd name="T28" fmla="*/ 87 w 111"/>
                <a:gd name="T29" fmla="*/ 9 h 371"/>
                <a:gd name="T30" fmla="*/ 95 w 111"/>
                <a:gd name="T31" fmla="*/ 14 h 371"/>
                <a:gd name="T32" fmla="*/ 99 w 111"/>
                <a:gd name="T33" fmla="*/ 21 h 371"/>
                <a:gd name="T34" fmla="*/ 104 w 111"/>
                <a:gd name="T35" fmla="*/ 28 h 371"/>
                <a:gd name="T36" fmla="*/ 109 w 111"/>
                <a:gd name="T37" fmla="*/ 35 h 371"/>
                <a:gd name="T38" fmla="*/ 111 w 111"/>
                <a:gd name="T39" fmla="*/ 45 h 371"/>
                <a:gd name="T40" fmla="*/ 111 w 111"/>
                <a:gd name="T41" fmla="*/ 54 h 371"/>
                <a:gd name="T42" fmla="*/ 111 w 111"/>
                <a:gd name="T43" fmla="*/ 315 h 371"/>
                <a:gd name="T44" fmla="*/ 111 w 111"/>
                <a:gd name="T45" fmla="*/ 324 h 371"/>
                <a:gd name="T46" fmla="*/ 109 w 111"/>
                <a:gd name="T47" fmla="*/ 333 h 371"/>
                <a:gd name="T48" fmla="*/ 104 w 111"/>
                <a:gd name="T49" fmla="*/ 341 h 371"/>
                <a:gd name="T50" fmla="*/ 99 w 111"/>
                <a:gd name="T51" fmla="*/ 348 h 371"/>
                <a:gd name="T52" fmla="*/ 95 w 111"/>
                <a:gd name="T53" fmla="*/ 355 h 371"/>
                <a:gd name="T54" fmla="*/ 87 w 111"/>
                <a:gd name="T55" fmla="*/ 360 h 371"/>
                <a:gd name="T56" fmla="*/ 80 w 111"/>
                <a:gd name="T57" fmla="*/ 364 h 371"/>
                <a:gd name="T58" fmla="*/ 73 w 111"/>
                <a:gd name="T59" fmla="*/ 367 h 371"/>
                <a:gd name="T60" fmla="*/ 66 w 111"/>
                <a:gd name="T61" fmla="*/ 369 h 371"/>
                <a:gd name="T62" fmla="*/ 57 w 111"/>
                <a:gd name="T63" fmla="*/ 371 h 371"/>
                <a:gd name="T64" fmla="*/ 47 w 111"/>
                <a:gd name="T65" fmla="*/ 369 h 371"/>
                <a:gd name="T66" fmla="*/ 40 w 111"/>
                <a:gd name="T67" fmla="*/ 367 h 371"/>
                <a:gd name="T68" fmla="*/ 31 w 111"/>
                <a:gd name="T69" fmla="*/ 364 h 371"/>
                <a:gd name="T70" fmla="*/ 24 w 111"/>
                <a:gd name="T71" fmla="*/ 360 h 371"/>
                <a:gd name="T72" fmla="*/ 19 w 111"/>
                <a:gd name="T73" fmla="*/ 355 h 371"/>
                <a:gd name="T74" fmla="*/ 12 w 111"/>
                <a:gd name="T75" fmla="*/ 348 h 371"/>
                <a:gd name="T76" fmla="*/ 7 w 111"/>
                <a:gd name="T77" fmla="*/ 341 h 371"/>
                <a:gd name="T78" fmla="*/ 5 w 111"/>
                <a:gd name="T79" fmla="*/ 333 h 371"/>
                <a:gd name="T80" fmla="*/ 2 w 111"/>
                <a:gd name="T81" fmla="*/ 324 h 371"/>
                <a:gd name="T82" fmla="*/ 2 w 111"/>
                <a:gd name="T83" fmla="*/ 315 h 371"/>
                <a:gd name="T84" fmla="*/ 2 w 111"/>
                <a:gd name="T85" fmla="*/ 54 h 371"/>
                <a:gd name="T86" fmla="*/ 2 w 111"/>
                <a:gd name="T87" fmla="*/ 54 h 37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1"/>
                <a:gd name="T133" fmla="*/ 0 h 371"/>
                <a:gd name="T134" fmla="*/ 111 w 111"/>
                <a:gd name="T135" fmla="*/ 371 h 37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1" h="371">
                  <a:moveTo>
                    <a:pt x="0" y="52"/>
                  </a:moveTo>
                  <a:lnTo>
                    <a:pt x="2" y="45"/>
                  </a:lnTo>
                  <a:lnTo>
                    <a:pt x="5" y="35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9" y="14"/>
                  </a:lnTo>
                  <a:lnTo>
                    <a:pt x="24" y="9"/>
                  </a:lnTo>
                  <a:lnTo>
                    <a:pt x="31" y="4"/>
                  </a:lnTo>
                  <a:lnTo>
                    <a:pt x="40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6" y="0"/>
                  </a:lnTo>
                  <a:lnTo>
                    <a:pt x="73" y="2"/>
                  </a:lnTo>
                  <a:lnTo>
                    <a:pt x="80" y="4"/>
                  </a:lnTo>
                  <a:lnTo>
                    <a:pt x="87" y="9"/>
                  </a:lnTo>
                  <a:lnTo>
                    <a:pt x="95" y="14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9" y="35"/>
                  </a:lnTo>
                  <a:lnTo>
                    <a:pt x="111" y="45"/>
                  </a:lnTo>
                  <a:lnTo>
                    <a:pt x="111" y="54"/>
                  </a:lnTo>
                  <a:lnTo>
                    <a:pt x="111" y="315"/>
                  </a:lnTo>
                  <a:lnTo>
                    <a:pt x="111" y="324"/>
                  </a:lnTo>
                  <a:lnTo>
                    <a:pt x="109" y="333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7" y="360"/>
                  </a:lnTo>
                  <a:lnTo>
                    <a:pt x="80" y="364"/>
                  </a:lnTo>
                  <a:lnTo>
                    <a:pt x="73" y="367"/>
                  </a:lnTo>
                  <a:lnTo>
                    <a:pt x="66" y="369"/>
                  </a:lnTo>
                  <a:lnTo>
                    <a:pt x="57" y="371"/>
                  </a:lnTo>
                  <a:lnTo>
                    <a:pt x="47" y="369"/>
                  </a:lnTo>
                  <a:lnTo>
                    <a:pt x="40" y="367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9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3"/>
                  </a:lnTo>
                  <a:lnTo>
                    <a:pt x="2" y="324"/>
                  </a:lnTo>
                  <a:lnTo>
                    <a:pt x="2" y="315"/>
                  </a:lnTo>
                  <a:lnTo>
                    <a:pt x="2" y="54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37" name="Rectangle 284"/>
            <p:cNvSpPr>
              <a:spLocks noChangeArrowheads="1"/>
            </p:cNvSpPr>
            <p:nvPr/>
          </p:nvSpPr>
          <p:spPr bwMode="auto">
            <a:xfrm>
              <a:off x="5192" y="270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2138" name="Freeform 285"/>
            <p:cNvSpPr>
              <a:spLocks noChangeArrowheads="1"/>
            </p:cNvSpPr>
            <p:nvPr/>
          </p:nvSpPr>
          <p:spPr bwMode="auto">
            <a:xfrm>
              <a:off x="3534" y="2391"/>
              <a:ext cx="111" cy="369"/>
            </a:xfrm>
            <a:custGeom>
              <a:avLst/>
              <a:gdLst>
                <a:gd name="T0" fmla="*/ 0 w 111"/>
                <a:gd name="T1" fmla="*/ 52 h 369"/>
                <a:gd name="T2" fmla="*/ 2 w 111"/>
                <a:gd name="T3" fmla="*/ 45 h 369"/>
                <a:gd name="T4" fmla="*/ 5 w 111"/>
                <a:gd name="T5" fmla="*/ 35 h 369"/>
                <a:gd name="T6" fmla="*/ 7 w 111"/>
                <a:gd name="T7" fmla="*/ 28 h 369"/>
                <a:gd name="T8" fmla="*/ 12 w 111"/>
                <a:gd name="T9" fmla="*/ 21 h 369"/>
                <a:gd name="T10" fmla="*/ 16 w 111"/>
                <a:gd name="T11" fmla="*/ 14 h 369"/>
                <a:gd name="T12" fmla="*/ 24 w 111"/>
                <a:gd name="T13" fmla="*/ 9 h 369"/>
                <a:gd name="T14" fmla="*/ 31 w 111"/>
                <a:gd name="T15" fmla="*/ 5 h 369"/>
                <a:gd name="T16" fmla="*/ 38 w 111"/>
                <a:gd name="T17" fmla="*/ 2 h 369"/>
                <a:gd name="T18" fmla="*/ 47 w 111"/>
                <a:gd name="T19" fmla="*/ 0 h 369"/>
                <a:gd name="T20" fmla="*/ 57 w 111"/>
                <a:gd name="T21" fmla="*/ 0 h 369"/>
                <a:gd name="T22" fmla="*/ 64 w 111"/>
                <a:gd name="T23" fmla="*/ 0 h 369"/>
                <a:gd name="T24" fmla="*/ 73 w 111"/>
                <a:gd name="T25" fmla="*/ 2 h 369"/>
                <a:gd name="T26" fmla="*/ 80 w 111"/>
                <a:gd name="T27" fmla="*/ 5 h 369"/>
                <a:gd name="T28" fmla="*/ 88 w 111"/>
                <a:gd name="T29" fmla="*/ 9 h 369"/>
                <a:gd name="T30" fmla="*/ 95 w 111"/>
                <a:gd name="T31" fmla="*/ 14 h 369"/>
                <a:gd name="T32" fmla="*/ 99 w 111"/>
                <a:gd name="T33" fmla="*/ 21 h 369"/>
                <a:gd name="T34" fmla="*/ 104 w 111"/>
                <a:gd name="T35" fmla="*/ 28 h 369"/>
                <a:gd name="T36" fmla="*/ 106 w 111"/>
                <a:gd name="T37" fmla="*/ 35 h 369"/>
                <a:gd name="T38" fmla="*/ 109 w 111"/>
                <a:gd name="T39" fmla="*/ 45 h 369"/>
                <a:gd name="T40" fmla="*/ 111 w 111"/>
                <a:gd name="T41" fmla="*/ 54 h 369"/>
                <a:gd name="T42" fmla="*/ 111 w 111"/>
                <a:gd name="T43" fmla="*/ 315 h 369"/>
                <a:gd name="T44" fmla="*/ 109 w 111"/>
                <a:gd name="T45" fmla="*/ 324 h 369"/>
                <a:gd name="T46" fmla="*/ 106 w 111"/>
                <a:gd name="T47" fmla="*/ 334 h 369"/>
                <a:gd name="T48" fmla="*/ 104 w 111"/>
                <a:gd name="T49" fmla="*/ 341 h 369"/>
                <a:gd name="T50" fmla="*/ 99 w 111"/>
                <a:gd name="T51" fmla="*/ 348 h 369"/>
                <a:gd name="T52" fmla="*/ 95 w 111"/>
                <a:gd name="T53" fmla="*/ 355 h 369"/>
                <a:gd name="T54" fmla="*/ 88 w 111"/>
                <a:gd name="T55" fmla="*/ 360 h 369"/>
                <a:gd name="T56" fmla="*/ 80 w 111"/>
                <a:gd name="T57" fmla="*/ 364 h 369"/>
                <a:gd name="T58" fmla="*/ 73 w 111"/>
                <a:gd name="T59" fmla="*/ 367 h 369"/>
                <a:gd name="T60" fmla="*/ 64 w 111"/>
                <a:gd name="T61" fmla="*/ 369 h 369"/>
                <a:gd name="T62" fmla="*/ 57 w 111"/>
                <a:gd name="T63" fmla="*/ 369 h 369"/>
                <a:gd name="T64" fmla="*/ 47 w 111"/>
                <a:gd name="T65" fmla="*/ 369 h 369"/>
                <a:gd name="T66" fmla="*/ 38 w 111"/>
                <a:gd name="T67" fmla="*/ 367 h 369"/>
                <a:gd name="T68" fmla="*/ 31 w 111"/>
                <a:gd name="T69" fmla="*/ 364 h 369"/>
                <a:gd name="T70" fmla="*/ 24 w 111"/>
                <a:gd name="T71" fmla="*/ 360 h 369"/>
                <a:gd name="T72" fmla="*/ 16 w 111"/>
                <a:gd name="T73" fmla="*/ 355 h 369"/>
                <a:gd name="T74" fmla="*/ 12 w 111"/>
                <a:gd name="T75" fmla="*/ 348 h 369"/>
                <a:gd name="T76" fmla="*/ 7 w 111"/>
                <a:gd name="T77" fmla="*/ 341 h 369"/>
                <a:gd name="T78" fmla="*/ 5 w 111"/>
                <a:gd name="T79" fmla="*/ 334 h 369"/>
                <a:gd name="T80" fmla="*/ 2 w 111"/>
                <a:gd name="T81" fmla="*/ 324 h 369"/>
                <a:gd name="T82" fmla="*/ 2 w 111"/>
                <a:gd name="T83" fmla="*/ 315 h 369"/>
                <a:gd name="T84" fmla="*/ 2 w 111"/>
                <a:gd name="T85" fmla="*/ 54 h 369"/>
                <a:gd name="T86" fmla="*/ 2 w 111"/>
                <a:gd name="T87" fmla="*/ 54 h 369"/>
                <a:gd name="T88" fmla="*/ 0 w 111"/>
                <a:gd name="T89" fmla="*/ 52 h 36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11"/>
                <a:gd name="T136" fmla="*/ 0 h 369"/>
                <a:gd name="T137" fmla="*/ 111 w 111"/>
                <a:gd name="T138" fmla="*/ 369 h 369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11" h="369">
                  <a:moveTo>
                    <a:pt x="0" y="52"/>
                  </a:moveTo>
                  <a:lnTo>
                    <a:pt x="2" y="45"/>
                  </a:lnTo>
                  <a:lnTo>
                    <a:pt x="5" y="35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4"/>
                  </a:lnTo>
                  <a:lnTo>
                    <a:pt x="24" y="9"/>
                  </a:lnTo>
                  <a:lnTo>
                    <a:pt x="31" y="5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5"/>
                  </a:lnTo>
                  <a:lnTo>
                    <a:pt x="88" y="9"/>
                  </a:lnTo>
                  <a:lnTo>
                    <a:pt x="95" y="14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6" y="35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15"/>
                  </a:lnTo>
                  <a:lnTo>
                    <a:pt x="109" y="324"/>
                  </a:lnTo>
                  <a:lnTo>
                    <a:pt x="106" y="334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8" y="360"/>
                  </a:lnTo>
                  <a:lnTo>
                    <a:pt x="80" y="364"/>
                  </a:lnTo>
                  <a:lnTo>
                    <a:pt x="73" y="367"/>
                  </a:lnTo>
                  <a:lnTo>
                    <a:pt x="64" y="369"/>
                  </a:lnTo>
                  <a:lnTo>
                    <a:pt x="57" y="369"/>
                  </a:lnTo>
                  <a:lnTo>
                    <a:pt x="47" y="369"/>
                  </a:lnTo>
                  <a:lnTo>
                    <a:pt x="38" y="367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6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4"/>
                  </a:lnTo>
                  <a:lnTo>
                    <a:pt x="2" y="324"/>
                  </a:lnTo>
                  <a:lnTo>
                    <a:pt x="2" y="315"/>
                  </a:lnTo>
                  <a:lnTo>
                    <a:pt x="2" y="54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39" name="Freeform 286"/>
            <p:cNvSpPr>
              <a:spLocks noChangeArrowheads="1"/>
            </p:cNvSpPr>
            <p:nvPr/>
          </p:nvSpPr>
          <p:spPr bwMode="auto">
            <a:xfrm>
              <a:off x="3534" y="2391"/>
              <a:ext cx="111" cy="369"/>
            </a:xfrm>
            <a:custGeom>
              <a:avLst/>
              <a:gdLst>
                <a:gd name="T0" fmla="*/ 0 w 111"/>
                <a:gd name="T1" fmla="*/ 52 h 369"/>
                <a:gd name="T2" fmla="*/ 2 w 111"/>
                <a:gd name="T3" fmla="*/ 45 h 369"/>
                <a:gd name="T4" fmla="*/ 5 w 111"/>
                <a:gd name="T5" fmla="*/ 35 h 369"/>
                <a:gd name="T6" fmla="*/ 7 w 111"/>
                <a:gd name="T7" fmla="*/ 28 h 369"/>
                <a:gd name="T8" fmla="*/ 12 w 111"/>
                <a:gd name="T9" fmla="*/ 21 h 369"/>
                <a:gd name="T10" fmla="*/ 16 w 111"/>
                <a:gd name="T11" fmla="*/ 14 h 369"/>
                <a:gd name="T12" fmla="*/ 24 w 111"/>
                <a:gd name="T13" fmla="*/ 9 h 369"/>
                <a:gd name="T14" fmla="*/ 31 w 111"/>
                <a:gd name="T15" fmla="*/ 5 h 369"/>
                <a:gd name="T16" fmla="*/ 38 w 111"/>
                <a:gd name="T17" fmla="*/ 2 h 369"/>
                <a:gd name="T18" fmla="*/ 47 w 111"/>
                <a:gd name="T19" fmla="*/ 0 h 369"/>
                <a:gd name="T20" fmla="*/ 57 w 111"/>
                <a:gd name="T21" fmla="*/ 0 h 369"/>
                <a:gd name="T22" fmla="*/ 64 w 111"/>
                <a:gd name="T23" fmla="*/ 0 h 369"/>
                <a:gd name="T24" fmla="*/ 73 w 111"/>
                <a:gd name="T25" fmla="*/ 2 h 369"/>
                <a:gd name="T26" fmla="*/ 80 w 111"/>
                <a:gd name="T27" fmla="*/ 5 h 369"/>
                <a:gd name="T28" fmla="*/ 88 w 111"/>
                <a:gd name="T29" fmla="*/ 9 h 369"/>
                <a:gd name="T30" fmla="*/ 95 w 111"/>
                <a:gd name="T31" fmla="*/ 14 h 369"/>
                <a:gd name="T32" fmla="*/ 99 w 111"/>
                <a:gd name="T33" fmla="*/ 21 h 369"/>
                <a:gd name="T34" fmla="*/ 104 w 111"/>
                <a:gd name="T35" fmla="*/ 28 h 369"/>
                <a:gd name="T36" fmla="*/ 106 w 111"/>
                <a:gd name="T37" fmla="*/ 35 h 369"/>
                <a:gd name="T38" fmla="*/ 109 w 111"/>
                <a:gd name="T39" fmla="*/ 45 h 369"/>
                <a:gd name="T40" fmla="*/ 111 w 111"/>
                <a:gd name="T41" fmla="*/ 54 h 369"/>
                <a:gd name="T42" fmla="*/ 111 w 111"/>
                <a:gd name="T43" fmla="*/ 315 h 369"/>
                <a:gd name="T44" fmla="*/ 109 w 111"/>
                <a:gd name="T45" fmla="*/ 324 h 369"/>
                <a:gd name="T46" fmla="*/ 106 w 111"/>
                <a:gd name="T47" fmla="*/ 334 h 369"/>
                <a:gd name="T48" fmla="*/ 104 w 111"/>
                <a:gd name="T49" fmla="*/ 341 h 369"/>
                <a:gd name="T50" fmla="*/ 99 w 111"/>
                <a:gd name="T51" fmla="*/ 348 h 369"/>
                <a:gd name="T52" fmla="*/ 95 w 111"/>
                <a:gd name="T53" fmla="*/ 355 h 369"/>
                <a:gd name="T54" fmla="*/ 88 w 111"/>
                <a:gd name="T55" fmla="*/ 360 h 369"/>
                <a:gd name="T56" fmla="*/ 80 w 111"/>
                <a:gd name="T57" fmla="*/ 364 h 369"/>
                <a:gd name="T58" fmla="*/ 73 w 111"/>
                <a:gd name="T59" fmla="*/ 367 h 369"/>
                <a:gd name="T60" fmla="*/ 64 w 111"/>
                <a:gd name="T61" fmla="*/ 369 h 369"/>
                <a:gd name="T62" fmla="*/ 57 w 111"/>
                <a:gd name="T63" fmla="*/ 369 h 369"/>
                <a:gd name="T64" fmla="*/ 47 w 111"/>
                <a:gd name="T65" fmla="*/ 369 h 369"/>
                <a:gd name="T66" fmla="*/ 38 w 111"/>
                <a:gd name="T67" fmla="*/ 367 h 369"/>
                <a:gd name="T68" fmla="*/ 31 w 111"/>
                <a:gd name="T69" fmla="*/ 364 h 369"/>
                <a:gd name="T70" fmla="*/ 24 w 111"/>
                <a:gd name="T71" fmla="*/ 360 h 369"/>
                <a:gd name="T72" fmla="*/ 16 w 111"/>
                <a:gd name="T73" fmla="*/ 355 h 369"/>
                <a:gd name="T74" fmla="*/ 12 w 111"/>
                <a:gd name="T75" fmla="*/ 348 h 369"/>
                <a:gd name="T76" fmla="*/ 7 w 111"/>
                <a:gd name="T77" fmla="*/ 341 h 369"/>
                <a:gd name="T78" fmla="*/ 5 w 111"/>
                <a:gd name="T79" fmla="*/ 334 h 369"/>
                <a:gd name="T80" fmla="*/ 2 w 111"/>
                <a:gd name="T81" fmla="*/ 324 h 369"/>
                <a:gd name="T82" fmla="*/ 2 w 111"/>
                <a:gd name="T83" fmla="*/ 315 h 369"/>
                <a:gd name="T84" fmla="*/ 2 w 111"/>
                <a:gd name="T85" fmla="*/ 54 h 369"/>
                <a:gd name="T86" fmla="*/ 2 w 111"/>
                <a:gd name="T87" fmla="*/ 54 h 36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1"/>
                <a:gd name="T133" fmla="*/ 0 h 369"/>
                <a:gd name="T134" fmla="*/ 111 w 111"/>
                <a:gd name="T135" fmla="*/ 369 h 36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1" h="369">
                  <a:moveTo>
                    <a:pt x="0" y="52"/>
                  </a:moveTo>
                  <a:lnTo>
                    <a:pt x="2" y="45"/>
                  </a:lnTo>
                  <a:lnTo>
                    <a:pt x="5" y="35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4"/>
                  </a:lnTo>
                  <a:lnTo>
                    <a:pt x="24" y="9"/>
                  </a:lnTo>
                  <a:lnTo>
                    <a:pt x="31" y="5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5"/>
                  </a:lnTo>
                  <a:lnTo>
                    <a:pt x="88" y="9"/>
                  </a:lnTo>
                  <a:lnTo>
                    <a:pt x="95" y="14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6" y="35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15"/>
                  </a:lnTo>
                  <a:lnTo>
                    <a:pt x="109" y="324"/>
                  </a:lnTo>
                  <a:lnTo>
                    <a:pt x="106" y="334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8" y="360"/>
                  </a:lnTo>
                  <a:lnTo>
                    <a:pt x="80" y="364"/>
                  </a:lnTo>
                  <a:lnTo>
                    <a:pt x="73" y="367"/>
                  </a:lnTo>
                  <a:lnTo>
                    <a:pt x="64" y="369"/>
                  </a:lnTo>
                  <a:lnTo>
                    <a:pt x="57" y="369"/>
                  </a:lnTo>
                  <a:lnTo>
                    <a:pt x="47" y="369"/>
                  </a:lnTo>
                  <a:lnTo>
                    <a:pt x="38" y="367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6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4"/>
                  </a:lnTo>
                  <a:lnTo>
                    <a:pt x="2" y="324"/>
                  </a:lnTo>
                  <a:lnTo>
                    <a:pt x="2" y="315"/>
                  </a:lnTo>
                  <a:lnTo>
                    <a:pt x="2" y="54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0" name="Rectangle 287"/>
            <p:cNvSpPr>
              <a:spLocks noChangeArrowheads="1"/>
            </p:cNvSpPr>
            <p:nvPr/>
          </p:nvSpPr>
          <p:spPr bwMode="auto">
            <a:xfrm>
              <a:off x="3555" y="241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2141" name="Freeform 288"/>
            <p:cNvSpPr>
              <a:spLocks noChangeArrowheads="1"/>
            </p:cNvSpPr>
            <p:nvPr/>
          </p:nvSpPr>
          <p:spPr bwMode="auto">
            <a:xfrm>
              <a:off x="2241" y="2346"/>
              <a:ext cx="111" cy="372"/>
            </a:xfrm>
            <a:custGeom>
              <a:avLst/>
              <a:gdLst>
                <a:gd name="T0" fmla="*/ 0 w 111"/>
                <a:gd name="T1" fmla="*/ 54 h 372"/>
                <a:gd name="T2" fmla="*/ 2 w 111"/>
                <a:gd name="T3" fmla="*/ 45 h 372"/>
                <a:gd name="T4" fmla="*/ 5 w 111"/>
                <a:gd name="T5" fmla="*/ 38 h 372"/>
                <a:gd name="T6" fmla="*/ 7 w 111"/>
                <a:gd name="T7" fmla="*/ 28 h 372"/>
                <a:gd name="T8" fmla="*/ 12 w 111"/>
                <a:gd name="T9" fmla="*/ 21 h 372"/>
                <a:gd name="T10" fmla="*/ 16 w 111"/>
                <a:gd name="T11" fmla="*/ 16 h 372"/>
                <a:gd name="T12" fmla="*/ 24 w 111"/>
                <a:gd name="T13" fmla="*/ 9 h 372"/>
                <a:gd name="T14" fmla="*/ 31 w 111"/>
                <a:gd name="T15" fmla="*/ 7 h 372"/>
                <a:gd name="T16" fmla="*/ 38 w 111"/>
                <a:gd name="T17" fmla="*/ 2 h 372"/>
                <a:gd name="T18" fmla="*/ 47 w 111"/>
                <a:gd name="T19" fmla="*/ 0 h 372"/>
                <a:gd name="T20" fmla="*/ 57 w 111"/>
                <a:gd name="T21" fmla="*/ 0 h 372"/>
                <a:gd name="T22" fmla="*/ 64 w 111"/>
                <a:gd name="T23" fmla="*/ 0 h 372"/>
                <a:gd name="T24" fmla="*/ 73 w 111"/>
                <a:gd name="T25" fmla="*/ 2 h 372"/>
                <a:gd name="T26" fmla="*/ 80 w 111"/>
                <a:gd name="T27" fmla="*/ 7 h 372"/>
                <a:gd name="T28" fmla="*/ 88 w 111"/>
                <a:gd name="T29" fmla="*/ 9 h 372"/>
                <a:gd name="T30" fmla="*/ 95 w 111"/>
                <a:gd name="T31" fmla="*/ 16 h 372"/>
                <a:gd name="T32" fmla="*/ 99 w 111"/>
                <a:gd name="T33" fmla="*/ 21 h 372"/>
                <a:gd name="T34" fmla="*/ 104 w 111"/>
                <a:gd name="T35" fmla="*/ 28 h 372"/>
                <a:gd name="T36" fmla="*/ 109 w 111"/>
                <a:gd name="T37" fmla="*/ 38 h 372"/>
                <a:gd name="T38" fmla="*/ 109 w 111"/>
                <a:gd name="T39" fmla="*/ 45 h 372"/>
                <a:gd name="T40" fmla="*/ 111 w 111"/>
                <a:gd name="T41" fmla="*/ 54 h 372"/>
                <a:gd name="T42" fmla="*/ 111 w 111"/>
                <a:gd name="T43" fmla="*/ 317 h 372"/>
                <a:gd name="T44" fmla="*/ 109 w 111"/>
                <a:gd name="T45" fmla="*/ 327 h 372"/>
                <a:gd name="T46" fmla="*/ 109 w 111"/>
                <a:gd name="T47" fmla="*/ 334 h 372"/>
                <a:gd name="T48" fmla="*/ 104 w 111"/>
                <a:gd name="T49" fmla="*/ 341 h 372"/>
                <a:gd name="T50" fmla="*/ 99 w 111"/>
                <a:gd name="T51" fmla="*/ 348 h 372"/>
                <a:gd name="T52" fmla="*/ 95 w 111"/>
                <a:gd name="T53" fmla="*/ 355 h 372"/>
                <a:gd name="T54" fmla="*/ 88 w 111"/>
                <a:gd name="T55" fmla="*/ 360 h 372"/>
                <a:gd name="T56" fmla="*/ 80 w 111"/>
                <a:gd name="T57" fmla="*/ 364 h 372"/>
                <a:gd name="T58" fmla="*/ 73 w 111"/>
                <a:gd name="T59" fmla="*/ 369 h 372"/>
                <a:gd name="T60" fmla="*/ 64 w 111"/>
                <a:gd name="T61" fmla="*/ 372 h 372"/>
                <a:gd name="T62" fmla="*/ 57 w 111"/>
                <a:gd name="T63" fmla="*/ 372 h 372"/>
                <a:gd name="T64" fmla="*/ 47 w 111"/>
                <a:gd name="T65" fmla="*/ 372 h 372"/>
                <a:gd name="T66" fmla="*/ 38 w 111"/>
                <a:gd name="T67" fmla="*/ 369 h 372"/>
                <a:gd name="T68" fmla="*/ 31 w 111"/>
                <a:gd name="T69" fmla="*/ 364 h 372"/>
                <a:gd name="T70" fmla="*/ 24 w 111"/>
                <a:gd name="T71" fmla="*/ 360 h 372"/>
                <a:gd name="T72" fmla="*/ 16 w 111"/>
                <a:gd name="T73" fmla="*/ 355 h 372"/>
                <a:gd name="T74" fmla="*/ 12 w 111"/>
                <a:gd name="T75" fmla="*/ 348 h 372"/>
                <a:gd name="T76" fmla="*/ 7 w 111"/>
                <a:gd name="T77" fmla="*/ 341 h 372"/>
                <a:gd name="T78" fmla="*/ 5 w 111"/>
                <a:gd name="T79" fmla="*/ 334 h 372"/>
                <a:gd name="T80" fmla="*/ 2 w 111"/>
                <a:gd name="T81" fmla="*/ 327 h 372"/>
                <a:gd name="T82" fmla="*/ 2 w 111"/>
                <a:gd name="T83" fmla="*/ 317 h 372"/>
                <a:gd name="T84" fmla="*/ 2 w 111"/>
                <a:gd name="T85" fmla="*/ 54 h 372"/>
                <a:gd name="T86" fmla="*/ 2 w 111"/>
                <a:gd name="T87" fmla="*/ 54 h 372"/>
                <a:gd name="T88" fmla="*/ 0 w 111"/>
                <a:gd name="T89" fmla="*/ 54 h 37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11"/>
                <a:gd name="T136" fmla="*/ 0 h 372"/>
                <a:gd name="T137" fmla="*/ 111 w 111"/>
                <a:gd name="T138" fmla="*/ 372 h 37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11" h="372">
                  <a:moveTo>
                    <a:pt x="0" y="54"/>
                  </a:moveTo>
                  <a:lnTo>
                    <a:pt x="2" y="45"/>
                  </a:lnTo>
                  <a:lnTo>
                    <a:pt x="5" y="38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6"/>
                  </a:lnTo>
                  <a:lnTo>
                    <a:pt x="24" y="9"/>
                  </a:lnTo>
                  <a:lnTo>
                    <a:pt x="31" y="7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9"/>
                  </a:lnTo>
                  <a:lnTo>
                    <a:pt x="95" y="16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9" y="38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17"/>
                  </a:lnTo>
                  <a:lnTo>
                    <a:pt x="109" y="327"/>
                  </a:lnTo>
                  <a:lnTo>
                    <a:pt x="109" y="334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8" y="360"/>
                  </a:lnTo>
                  <a:lnTo>
                    <a:pt x="80" y="364"/>
                  </a:lnTo>
                  <a:lnTo>
                    <a:pt x="73" y="369"/>
                  </a:lnTo>
                  <a:lnTo>
                    <a:pt x="64" y="372"/>
                  </a:lnTo>
                  <a:lnTo>
                    <a:pt x="57" y="372"/>
                  </a:lnTo>
                  <a:lnTo>
                    <a:pt x="47" y="372"/>
                  </a:lnTo>
                  <a:lnTo>
                    <a:pt x="38" y="369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6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4"/>
                  </a:lnTo>
                  <a:lnTo>
                    <a:pt x="2" y="327"/>
                  </a:lnTo>
                  <a:lnTo>
                    <a:pt x="2" y="317"/>
                  </a:lnTo>
                  <a:lnTo>
                    <a:pt x="2" y="5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2" name="Freeform 289"/>
            <p:cNvSpPr>
              <a:spLocks noChangeArrowheads="1"/>
            </p:cNvSpPr>
            <p:nvPr/>
          </p:nvSpPr>
          <p:spPr bwMode="auto">
            <a:xfrm>
              <a:off x="2241" y="2346"/>
              <a:ext cx="111" cy="372"/>
            </a:xfrm>
            <a:custGeom>
              <a:avLst/>
              <a:gdLst>
                <a:gd name="T0" fmla="*/ 0 w 111"/>
                <a:gd name="T1" fmla="*/ 54 h 372"/>
                <a:gd name="T2" fmla="*/ 2 w 111"/>
                <a:gd name="T3" fmla="*/ 45 h 372"/>
                <a:gd name="T4" fmla="*/ 5 w 111"/>
                <a:gd name="T5" fmla="*/ 38 h 372"/>
                <a:gd name="T6" fmla="*/ 7 w 111"/>
                <a:gd name="T7" fmla="*/ 28 h 372"/>
                <a:gd name="T8" fmla="*/ 12 w 111"/>
                <a:gd name="T9" fmla="*/ 21 h 372"/>
                <a:gd name="T10" fmla="*/ 16 w 111"/>
                <a:gd name="T11" fmla="*/ 16 h 372"/>
                <a:gd name="T12" fmla="*/ 24 w 111"/>
                <a:gd name="T13" fmla="*/ 9 h 372"/>
                <a:gd name="T14" fmla="*/ 31 w 111"/>
                <a:gd name="T15" fmla="*/ 7 h 372"/>
                <a:gd name="T16" fmla="*/ 38 w 111"/>
                <a:gd name="T17" fmla="*/ 2 h 372"/>
                <a:gd name="T18" fmla="*/ 47 w 111"/>
                <a:gd name="T19" fmla="*/ 0 h 372"/>
                <a:gd name="T20" fmla="*/ 57 w 111"/>
                <a:gd name="T21" fmla="*/ 0 h 372"/>
                <a:gd name="T22" fmla="*/ 64 w 111"/>
                <a:gd name="T23" fmla="*/ 0 h 372"/>
                <a:gd name="T24" fmla="*/ 73 w 111"/>
                <a:gd name="T25" fmla="*/ 2 h 372"/>
                <a:gd name="T26" fmla="*/ 80 w 111"/>
                <a:gd name="T27" fmla="*/ 7 h 372"/>
                <a:gd name="T28" fmla="*/ 88 w 111"/>
                <a:gd name="T29" fmla="*/ 9 h 372"/>
                <a:gd name="T30" fmla="*/ 95 w 111"/>
                <a:gd name="T31" fmla="*/ 16 h 372"/>
                <a:gd name="T32" fmla="*/ 99 w 111"/>
                <a:gd name="T33" fmla="*/ 21 h 372"/>
                <a:gd name="T34" fmla="*/ 104 w 111"/>
                <a:gd name="T35" fmla="*/ 28 h 372"/>
                <a:gd name="T36" fmla="*/ 109 w 111"/>
                <a:gd name="T37" fmla="*/ 38 h 372"/>
                <a:gd name="T38" fmla="*/ 109 w 111"/>
                <a:gd name="T39" fmla="*/ 45 h 372"/>
                <a:gd name="T40" fmla="*/ 111 w 111"/>
                <a:gd name="T41" fmla="*/ 54 h 372"/>
                <a:gd name="T42" fmla="*/ 111 w 111"/>
                <a:gd name="T43" fmla="*/ 317 h 372"/>
                <a:gd name="T44" fmla="*/ 109 w 111"/>
                <a:gd name="T45" fmla="*/ 327 h 372"/>
                <a:gd name="T46" fmla="*/ 109 w 111"/>
                <a:gd name="T47" fmla="*/ 334 h 372"/>
                <a:gd name="T48" fmla="*/ 104 w 111"/>
                <a:gd name="T49" fmla="*/ 341 h 372"/>
                <a:gd name="T50" fmla="*/ 99 w 111"/>
                <a:gd name="T51" fmla="*/ 348 h 372"/>
                <a:gd name="T52" fmla="*/ 95 w 111"/>
                <a:gd name="T53" fmla="*/ 355 h 372"/>
                <a:gd name="T54" fmla="*/ 88 w 111"/>
                <a:gd name="T55" fmla="*/ 360 h 372"/>
                <a:gd name="T56" fmla="*/ 80 w 111"/>
                <a:gd name="T57" fmla="*/ 364 h 372"/>
                <a:gd name="T58" fmla="*/ 73 w 111"/>
                <a:gd name="T59" fmla="*/ 369 h 372"/>
                <a:gd name="T60" fmla="*/ 64 w 111"/>
                <a:gd name="T61" fmla="*/ 372 h 372"/>
                <a:gd name="T62" fmla="*/ 57 w 111"/>
                <a:gd name="T63" fmla="*/ 372 h 372"/>
                <a:gd name="T64" fmla="*/ 47 w 111"/>
                <a:gd name="T65" fmla="*/ 372 h 372"/>
                <a:gd name="T66" fmla="*/ 38 w 111"/>
                <a:gd name="T67" fmla="*/ 369 h 372"/>
                <a:gd name="T68" fmla="*/ 31 w 111"/>
                <a:gd name="T69" fmla="*/ 364 h 372"/>
                <a:gd name="T70" fmla="*/ 24 w 111"/>
                <a:gd name="T71" fmla="*/ 360 h 372"/>
                <a:gd name="T72" fmla="*/ 16 w 111"/>
                <a:gd name="T73" fmla="*/ 355 h 372"/>
                <a:gd name="T74" fmla="*/ 12 w 111"/>
                <a:gd name="T75" fmla="*/ 348 h 372"/>
                <a:gd name="T76" fmla="*/ 7 w 111"/>
                <a:gd name="T77" fmla="*/ 341 h 372"/>
                <a:gd name="T78" fmla="*/ 5 w 111"/>
                <a:gd name="T79" fmla="*/ 334 h 372"/>
                <a:gd name="T80" fmla="*/ 2 w 111"/>
                <a:gd name="T81" fmla="*/ 327 h 372"/>
                <a:gd name="T82" fmla="*/ 2 w 111"/>
                <a:gd name="T83" fmla="*/ 317 h 372"/>
                <a:gd name="T84" fmla="*/ 2 w 111"/>
                <a:gd name="T85" fmla="*/ 54 h 372"/>
                <a:gd name="T86" fmla="*/ 2 w 111"/>
                <a:gd name="T87" fmla="*/ 54 h 37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1"/>
                <a:gd name="T133" fmla="*/ 0 h 372"/>
                <a:gd name="T134" fmla="*/ 111 w 111"/>
                <a:gd name="T135" fmla="*/ 372 h 37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1" h="372">
                  <a:moveTo>
                    <a:pt x="0" y="54"/>
                  </a:moveTo>
                  <a:lnTo>
                    <a:pt x="2" y="45"/>
                  </a:lnTo>
                  <a:lnTo>
                    <a:pt x="5" y="38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6"/>
                  </a:lnTo>
                  <a:lnTo>
                    <a:pt x="24" y="9"/>
                  </a:lnTo>
                  <a:lnTo>
                    <a:pt x="31" y="7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9"/>
                  </a:lnTo>
                  <a:lnTo>
                    <a:pt x="95" y="16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9" y="38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17"/>
                  </a:lnTo>
                  <a:lnTo>
                    <a:pt x="109" y="327"/>
                  </a:lnTo>
                  <a:lnTo>
                    <a:pt x="109" y="334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8" y="360"/>
                  </a:lnTo>
                  <a:lnTo>
                    <a:pt x="80" y="364"/>
                  </a:lnTo>
                  <a:lnTo>
                    <a:pt x="73" y="369"/>
                  </a:lnTo>
                  <a:lnTo>
                    <a:pt x="64" y="372"/>
                  </a:lnTo>
                  <a:lnTo>
                    <a:pt x="57" y="372"/>
                  </a:lnTo>
                  <a:lnTo>
                    <a:pt x="47" y="372"/>
                  </a:lnTo>
                  <a:lnTo>
                    <a:pt x="38" y="369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6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4"/>
                  </a:lnTo>
                  <a:lnTo>
                    <a:pt x="2" y="327"/>
                  </a:lnTo>
                  <a:lnTo>
                    <a:pt x="2" y="317"/>
                  </a:lnTo>
                  <a:lnTo>
                    <a:pt x="2" y="54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3" name="Rectangle 290"/>
            <p:cNvSpPr>
              <a:spLocks noChangeArrowheads="1"/>
            </p:cNvSpPr>
            <p:nvPr/>
          </p:nvSpPr>
          <p:spPr bwMode="auto">
            <a:xfrm>
              <a:off x="2270" y="2439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144" name="Rectangle 291"/>
            <p:cNvSpPr>
              <a:spLocks noChangeArrowheads="1"/>
            </p:cNvSpPr>
            <p:nvPr/>
          </p:nvSpPr>
          <p:spPr bwMode="auto">
            <a:xfrm>
              <a:off x="2319" y="243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5" name="Rectangle 292"/>
            <p:cNvSpPr>
              <a:spLocks noChangeArrowheads="1"/>
            </p:cNvSpPr>
            <p:nvPr/>
          </p:nvSpPr>
          <p:spPr bwMode="auto">
            <a:xfrm>
              <a:off x="2281" y="249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146" name="Rectangle 293"/>
            <p:cNvSpPr>
              <a:spLocks noChangeArrowheads="1"/>
            </p:cNvSpPr>
            <p:nvPr/>
          </p:nvSpPr>
          <p:spPr bwMode="auto">
            <a:xfrm>
              <a:off x="2312" y="2495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47" name="Rectangle 294"/>
            <p:cNvSpPr>
              <a:spLocks noChangeArrowheads="1"/>
            </p:cNvSpPr>
            <p:nvPr/>
          </p:nvSpPr>
          <p:spPr bwMode="auto">
            <a:xfrm>
              <a:off x="2281" y="2555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2148" name="Rectangle 295"/>
            <p:cNvSpPr>
              <a:spLocks noChangeArrowheads="1"/>
            </p:cNvSpPr>
            <p:nvPr/>
          </p:nvSpPr>
          <p:spPr bwMode="auto">
            <a:xfrm>
              <a:off x="2262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2149" name="Rectangle 296"/>
            <p:cNvSpPr>
              <a:spLocks noChangeArrowheads="1"/>
            </p:cNvSpPr>
            <p:nvPr/>
          </p:nvSpPr>
          <p:spPr bwMode="auto">
            <a:xfrm>
              <a:off x="2262" y="26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grpSp>
          <p:nvGrpSpPr>
            <p:cNvPr id="2150" name="Group 297"/>
            <p:cNvGrpSpPr>
              <a:grpSpLocks/>
            </p:cNvGrpSpPr>
            <p:nvPr/>
          </p:nvGrpSpPr>
          <p:grpSpPr bwMode="auto">
            <a:xfrm>
              <a:off x="2267" y="1617"/>
              <a:ext cx="193" cy="76"/>
              <a:chOff x="2267" y="1617"/>
              <a:chExt cx="193" cy="76"/>
            </a:xfrm>
          </p:grpSpPr>
          <p:sp>
            <p:nvSpPr>
              <p:cNvPr id="2432" name="Rectangle 298"/>
              <p:cNvSpPr>
                <a:spLocks noChangeArrowheads="1"/>
              </p:cNvSpPr>
              <p:nvPr/>
            </p:nvSpPr>
            <p:spPr bwMode="auto">
              <a:xfrm>
                <a:off x="2267" y="1617"/>
                <a:ext cx="47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2433" name="Rectangle 299"/>
              <p:cNvSpPr>
                <a:spLocks noChangeArrowheads="1"/>
              </p:cNvSpPr>
              <p:nvPr/>
            </p:nvSpPr>
            <p:spPr bwMode="auto">
              <a:xfrm>
                <a:off x="2306" y="1617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2434" name="Rectangle 300"/>
              <p:cNvSpPr>
                <a:spLocks noChangeArrowheads="1"/>
              </p:cNvSpPr>
              <p:nvPr/>
            </p:nvSpPr>
            <p:spPr bwMode="auto">
              <a:xfrm>
                <a:off x="2340" y="1617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2435" name="Rectangle 301"/>
              <p:cNvSpPr>
                <a:spLocks noChangeArrowheads="1"/>
              </p:cNvSpPr>
              <p:nvPr/>
            </p:nvSpPr>
            <p:spPr bwMode="auto">
              <a:xfrm>
                <a:off x="2374" y="1617"/>
                <a:ext cx="22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2436" name="Rectangle 302"/>
              <p:cNvSpPr>
                <a:spLocks noChangeArrowheads="1"/>
              </p:cNvSpPr>
              <p:nvPr/>
            </p:nvSpPr>
            <p:spPr bwMode="auto">
              <a:xfrm>
                <a:off x="2390" y="1617"/>
                <a:ext cx="26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2437" name="Rectangle 303"/>
              <p:cNvSpPr>
                <a:spLocks noChangeArrowheads="1"/>
              </p:cNvSpPr>
              <p:nvPr/>
            </p:nvSpPr>
            <p:spPr bwMode="auto">
              <a:xfrm>
                <a:off x="2409" y="1617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2438" name="Rectangle 304"/>
              <p:cNvSpPr>
                <a:spLocks noChangeArrowheads="1"/>
              </p:cNvSpPr>
              <p:nvPr/>
            </p:nvSpPr>
            <p:spPr bwMode="auto">
              <a:xfrm>
                <a:off x="2442" y="1617"/>
                <a:ext cx="19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</p:grpSp>
        <p:sp>
          <p:nvSpPr>
            <p:cNvPr id="2151" name="Freeform 305"/>
            <p:cNvSpPr>
              <a:spLocks noChangeArrowheads="1"/>
            </p:cNvSpPr>
            <p:nvPr/>
          </p:nvSpPr>
          <p:spPr bwMode="auto">
            <a:xfrm>
              <a:off x="2191" y="1633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3 w 31"/>
                <a:gd name="T3" fmla="*/ 31 h 31"/>
                <a:gd name="T4" fmla="*/ 31 w 31"/>
                <a:gd name="T5" fmla="*/ 17 h 31"/>
                <a:gd name="T6" fmla="*/ 0 w 31"/>
                <a:gd name="T7" fmla="*/ 2 h 31"/>
                <a:gd name="T8" fmla="*/ 0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3" y="31"/>
                  </a:lnTo>
                  <a:lnTo>
                    <a:pt x="31" y="17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" name="Rectangle 306"/>
            <p:cNvSpPr>
              <a:spLocks noChangeArrowheads="1"/>
            </p:cNvSpPr>
            <p:nvPr/>
          </p:nvSpPr>
          <p:spPr bwMode="auto">
            <a:xfrm>
              <a:off x="3851" y="1087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153" name="Rectangle 307"/>
            <p:cNvSpPr>
              <a:spLocks noChangeArrowheads="1"/>
            </p:cNvSpPr>
            <p:nvPr/>
          </p:nvSpPr>
          <p:spPr bwMode="auto">
            <a:xfrm>
              <a:off x="3889" y="10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154" name="Rectangle 308"/>
            <p:cNvSpPr>
              <a:spLocks noChangeArrowheads="1"/>
            </p:cNvSpPr>
            <p:nvPr/>
          </p:nvSpPr>
          <p:spPr bwMode="auto">
            <a:xfrm>
              <a:off x="3922" y="10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155" name="Rectangle 309"/>
            <p:cNvSpPr>
              <a:spLocks noChangeArrowheads="1"/>
            </p:cNvSpPr>
            <p:nvPr/>
          </p:nvSpPr>
          <p:spPr bwMode="auto">
            <a:xfrm>
              <a:off x="4019" y="1056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156" name="Rectangle 310"/>
            <p:cNvSpPr>
              <a:spLocks noChangeArrowheads="1"/>
            </p:cNvSpPr>
            <p:nvPr/>
          </p:nvSpPr>
          <p:spPr bwMode="auto">
            <a:xfrm>
              <a:off x="4057" y="105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2157" name="Rectangle 311"/>
            <p:cNvSpPr>
              <a:spLocks noChangeArrowheads="1"/>
            </p:cNvSpPr>
            <p:nvPr/>
          </p:nvSpPr>
          <p:spPr bwMode="auto">
            <a:xfrm>
              <a:off x="4090" y="1056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158" name="Rectangle 312"/>
            <p:cNvSpPr>
              <a:spLocks noChangeArrowheads="1"/>
            </p:cNvSpPr>
            <p:nvPr/>
          </p:nvSpPr>
          <p:spPr bwMode="auto">
            <a:xfrm>
              <a:off x="4133" y="1056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9" name="Rectangle 313"/>
            <p:cNvSpPr>
              <a:spLocks noChangeArrowheads="1"/>
            </p:cNvSpPr>
            <p:nvPr/>
          </p:nvSpPr>
          <p:spPr bwMode="auto">
            <a:xfrm>
              <a:off x="3974" y="1115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160" name="Rectangle 314"/>
            <p:cNvSpPr>
              <a:spLocks noChangeArrowheads="1"/>
            </p:cNvSpPr>
            <p:nvPr/>
          </p:nvSpPr>
          <p:spPr bwMode="auto">
            <a:xfrm>
              <a:off x="3993" y="111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161" name="Rectangle 315"/>
            <p:cNvSpPr>
              <a:spLocks noChangeArrowheads="1"/>
            </p:cNvSpPr>
            <p:nvPr/>
          </p:nvSpPr>
          <p:spPr bwMode="auto">
            <a:xfrm>
              <a:off x="4024" y="111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162" name="Rectangle 316"/>
            <p:cNvSpPr>
              <a:spLocks noChangeArrowheads="1"/>
            </p:cNvSpPr>
            <p:nvPr/>
          </p:nvSpPr>
          <p:spPr bwMode="auto">
            <a:xfrm>
              <a:off x="4055" y="111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163" name="Rectangle 317"/>
            <p:cNvSpPr>
              <a:spLocks noChangeArrowheads="1"/>
            </p:cNvSpPr>
            <p:nvPr/>
          </p:nvSpPr>
          <p:spPr bwMode="auto">
            <a:xfrm>
              <a:off x="4088" y="1115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2164" name="Rectangle 318"/>
            <p:cNvSpPr>
              <a:spLocks noChangeArrowheads="1"/>
            </p:cNvSpPr>
            <p:nvPr/>
          </p:nvSpPr>
          <p:spPr bwMode="auto">
            <a:xfrm>
              <a:off x="4100" y="111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165" name="Rectangle 319"/>
            <p:cNvSpPr>
              <a:spLocks noChangeArrowheads="1"/>
            </p:cNvSpPr>
            <p:nvPr/>
          </p:nvSpPr>
          <p:spPr bwMode="auto">
            <a:xfrm>
              <a:off x="4605" y="864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166" name="Rectangle 320"/>
            <p:cNvSpPr>
              <a:spLocks noChangeArrowheads="1"/>
            </p:cNvSpPr>
            <p:nvPr/>
          </p:nvSpPr>
          <p:spPr bwMode="auto">
            <a:xfrm>
              <a:off x="4654" y="86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7" name="Rectangle 321"/>
            <p:cNvSpPr>
              <a:spLocks noChangeArrowheads="1"/>
            </p:cNvSpPr>
            <p:nvPr/>
          </p:nvSpPr>
          <p:spPr bwMode="auto">
            <a:xfrm>
              <a:off x="4614" y="92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168" name="Rectangle 322"/>
            <p:cNvSpPr>
              <a:spLocks noChangeArrowheads="1"/>
            </p:cNvSpPr>
            <p:nvPr/>
          </p:nvSpPr>
          <p:spPr bwMode="auto">
            <a:xfrm>
              <a:off x="4647" y="92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69" name="Rectangle 323"/>
            <p:cNvSpPr>
              <a:spLocks noChangeArrowheads="1"/>
            </p:cNvSpPr>
            <p:nvPr/>
          </p:nvSpPr>
          <p:spPr bwMode="auto">
            <a:xfrm>
              <a:off x="4614" y="980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2170" name="Rectangle 324"/>
            <p:cNvSpPr>
              <a:spLocks noChangeArrowheads="1"/>
            </p:cNvSpPr>
            <p:nvPr/>
          </p:nvSpPr>
          <p:spPr bwMode="auto">
            <a:xfrm>
              <a:off x="4597" y="75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2171" name="Rectangle 325"/>
            <p:cNvSpPr>
              <a:spLocks noChangeArrowheads="1"/>
            </p:cNvSpPr>
            <p:nvPr/>
          </p:nvSpPr>
          <p:spPr bwMode="auto">
            <a:xfrm>
              <a:off x="4597" y="10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172" name="Freeform 326"/>
            <p:cNvSpPr>
              <a:spLocks noChangeArrowheads="1"/>
            </p:cNvSpPr>
            <p:nvPr/>
          </p:nvSpPr>
          <p:spPr bwMode="auto">
            <a:xfrm>
              <a:off x="1632" y="1650"/>
              <a:ext cx="566" cy="753"/>
            </a:xfrm>
            <a:custGeom>
              <a:avLst/>
              <a:gdLst>
                <a:gd name="T0" fmla="*/ 0 w 566"/>
                <a:gd name="T1" fmla="*/ 753 h 753"/>
                <a:gd name="T2" fmla="*/ 0 w 566"/>
                <a:gd name="T3" fmla="*/ 0 h 753"/>
                <a:gd name="T4" fmla="*/ 566 w 566"/>
                <a:gd name="T5" fmla="*/ 0 h 753"/>
                <a:gd name="T6" fmla="*/ 0 60000 65536"/>
                <a:gd name="T7" fmla="*/ 0 60000 65536"/>
                <a:gd name="T8" fmla="*/ 0 60000 65536"/>
                <a:gd name="T9" fmla="*/ 0 w 566"/>
                <a:gd name="T10" fmla="*/ 0 h 753"/>
                <a:gd name="T11" fmla="*/ 566 w 566"/>
                <a:gd name="T12" fmla="*/ 753 h 7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6" h="753">
                  <a:moveTo>
                    <a:pt x="0" y="753"/>
                  </a:moveTo>
                  <a:lnTo>
                    <a:pt x="0" y="0"/>
                  </a:lnTo>
                  <a:lnTo>
                    <a:pt x="566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73" name="Freeform 327"/>
            <p:cNvSpPr>
              <a:spLocks noChangeArrowheads="1"/>
            </p:cNvSpPr>
            <p:nvPr/>
          </p:nvSpPr>
          <p:spPr bwMode="auto">
            <a:xfrm>
              <a:off x="1201" y="790"/>
              <a:ext cx="3356" cy="370"/>
            </a:xfrm>
            <a:custGeom>
              <a:avLst/>
              <a:gdLst>
                <a:gd name="T0" fmla="*/ 3356 w 3356"/>
                <a:gd name="T1" fmla="*/ 0 h 370"/>
                <a:gd name="T2" fmla="*/ 2136 w 3356"/>
                <a:gd name="T3" fmla="*/ 2 h 370"/>
                <a:gd name="T4" fmla="*/ 2136 w 3356"/>
                <a:gd name="T5" fmla="*/ 370 h 370"/>
                <a:gd name="T6" fmla="*/ 0 w 3356"/>
                <a:gd name="T7" fmla="*/ 370 h 3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56"/>
                <a:gd name="T13" fmla="*/ 0 h 370"/>
                <a:gd name="T14" fmla="*/ 3356 w 3356"/>
                <a:gd name="T15" fmla="*/ 370 h 3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56" h="370">
                  <a:moveTo>
                    <a:pt x="3356" y="0"/>
                  </a:moveTo>
                  <a:lnTo>
                    <a:pt x="2136" y="2"/>
                  </a:lnTo>
                  <a:lnTo>
                    <a:pt x="2136" y="370"/>
                  </a:lnTo>
                  <a:lnTo>
                    <a:pt x="0" y="37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74" name="Freeform 328"/>
            <p:cNvSpPr>
              <a:spLocks noChangeArrowheads="1"/>
            </p:cNvSpPr>
            <p:nvPr/>
          </p:nvSpPr>
          <p:spPr bwMode="auto">
            <a:xfrm>
              <a:off x="3323" y="930"/>
              <a:ext cx="29" cy="31"/>
            </a:xfrm>
            <a:custGeom>
              <a:avLst/>
              <a:gdLst>
                <a:gd name="T0" fmla="*/ 14 w 29"/>
                <a:gd name="T1" fmla="*/ 28 h 31"/>
                <a:gd name="T2" fmla="*/ 17 w 29"/>
                <a:gd name="T3" fmla="*/ 31 h 31"/>
                <a:gd name="T4" fmla="*/ 19 w 29"/>
                <a:gd name="T5" fmla="*/ 28 h 31"/>
                <a:gd name="T6" fmla="*/ 21 w 29"/>
                <a:gd name="T7" fmla="*/ 28 h 31"/>
                <a:gd name="T8" fmla="*/ 24 w 29"/>
                <a:gd name="T9" fmla="*/ 28 h 31"/>
                <a:gd name="T10" fmla="*/ 26 w 29"/>
                <a:gd name="T11" fmla="*/ 26 h 31"/>
                <a:gd name="T12" fmla="*/ 26 w 29"/>
                <a:gd name="T13" fmla="*/ 24 h 31"/>
                <a:gd name="T14" fmla="*/ 29 w 29"/>
                <a:gd name="T15" fmla="*/ 21 h 31"/>
                <a:gd name="T16" fmla="*/ 29 w 29"/>
                <a:gd name="T17" fmla="*/ 21 h 31"/>
                <a:gd name="T18" fmla="*/ 29 w 29"/>
                <a:gd name="T19" fmla="*/ 19 h 31"/>
                <a:gd name="T20" fmla="*/ 29 w 29"/>
                <a:gd name="T21" fmla="*/ 16 h 31"/>
                <a:gd name="T22" fmla="*/ 29 w 29"/>
                <a:gd name="T23" fmla="*/ 14 h 31"/>
                <a:gd name="T24" fmla="*/ 29 w 29"/>
                <a:gd name="T25" fmla="*/ 12 h 31"/>
                <a:gd name="T26" fmla="*/ 29 w 29"/>
                <a:gd name="T27" fmla="*/ 9 h 31"/>
                <a:gd name="T28" fmla="*/ 26 w 29"/>
                <a:gd name="T29" fmla="*/ 7 h 31"/>
                <a:gd name="T30" fmla="*/ 26 w 29"/>
                <a:gd name="T31" fmla="*/ 5 h 31"/>
                <a:gd name="T32" fmla="*/ 24 w 29"/>
                <a:gd name="T33" fmla="*/ 5 h 31"/>
                <a:gd name="T34" fmla="*/ 21 w 29"/>
                <a:gd name="T35" fmla="*/ 2 h 31"/>
                <a:gd name="T36" fmla="*/ 19 w 29"/>
                <a:gd name="T37" fmla="*/ 2 h 31"/>
                <a:gd name="T38" fmla="*/ 17 w 29"/>
                <a:gd name="T39" fmla="*/ 2 h 31"/>
                <a:gd name="T40" fmla="*/ 14 w 29"/>
                <a:gd name="T41" fmla="*/ 0 h 31"/>
                <a:gd name="T42" fmla="*/ 12 w 29"/>
                <a:gd name="T43" fmla="*/ 2 h 31"/>
                <a:gd name="T44" fmla="*/ 10 w 29"/>
                <a:gd name="T45" fmla="*/ 2 h 31"/>
                <a:gd name="T46" fmla="*/ 7 w 29"/>
                <a:gd name="T47" fmla="*/ 2 h 31"/>
                <a:gd name="T48" fmla="*/ 7 w 29"/>
                <a:gd name="T49" fmla="*/ 5 h 31"/>
                <a:gd name="T50" fmla="*/ 5 w 29"/>
                <a:gd name="T51" fmla="*/ 5 h 31"/>
                <a:gd name="T52" fmla="*/ 2 w 29"/>
                <a:gd name="T53" fmla="*/ 7 h 31"/>
                <a:gd name="T54" fmla="*/ 2 w 29"/>
                <a:gd name="T55" fmla="*/ 9 h 31"/>
                <a:gd name="T56" fmla="*/ 0 w 29"/>
                <a:gd name="T57" fmla="*/ 12 h 31"/>
                <a:gd name="T58" fmla="*/ 0 w 29"/>
                <a:gd name="T59" fmla="*/ 14 h 31"/>
                <a:gd name="T60" fmla="*/ 0 w 29"/>
                <a:gd name="T61" fmla="*/ 16 h 31"/>
                <a:gd name="T62" fmla="*/ 0 w 29"/>
                <a:gd name="T63" fmla="*/ 19 h 31"/>
                <a:gd name="T64" fmla="*/ 0 w 29"/>
                <a:gd name="T65" fmla="*/ 21 h 31"/>
                <a:gd name="T66" fmla="*/ 2 w 29"/>
                <a:gd name="T67" fmla="*/ 21 h 31"/>
                <a:gd name="T68" fmla="*/ 2 w 29"/>
                <a:gd name="T69" fmla="*/ 24 h 31"/>
                <a:gd name="T70" fmla="*/ 5 w 29"/>
                <a:gd name="T71" fmla="*/ 26 h 31"/>
                <a:gd name="T72" fmla="*/ 7 w 29"/>
                <a:gd name="T73" fmla="*/ 28 h 31"/>
                <a:gd name="T74" fmla="*/ 7 w 29"/>
                <a:gd name="T75" fmla="*/ 28 h 31"/>
                <a:gd name="T76" fmla="*/ 10 w 29"/>
                <a:gd name="T77" fmla="*/ 28 h 31"/>
                <a:gd name="T78" fmla="*/ 12 w 29"/>
                <a:gd name="T79" fmla="*/ 31 h 31"/>
                <a:gd name="T80" fmla="*/ 14 w 29"/>
                <a:gd name="T81" fmla="*/ 31 h 31"/>
                <a:gd name="T82" fmla="*/ 14 w 29"/>
                <a:gd name="T83" fmla="*/ 31 h 31"/>
                <a:gd name="T84" fmla="*/ 14 w 29"/>
                <a:gd name="T85" fmla="*/ 28 h 3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31"/>
                <a:gd name="T131" fmla="*/ 29 w 29"/>
                <a:gd name="T132" fmla="*/ 31 h 3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31">
                  <a:moveTo>
                    <a:pt x="14" y="28"/>
                  </a:moveTo>
                  <a:lnTo>
                    <a:pt x="17" y="31"/>
                  </a:lnTo>
                  <a:lnTo>
                    <a:pt x="19" y="28"/>
                  </a:lnTo>
                  <a:lnTo>
                    <a:pt x="21" y="28"/>
                  </a:lnTo>
                  <a:lnTo>
                    <a:pt x="24" y="28"/>
                  </a:lnTo>
                  <a:lnTo>
                    <a:pt x="26" y="26"/>
                  </a:lnTo>
                  <a:lnTo>
                    <a:pt x="26" y="24"/>
                  </a:lnTo>
                  <a:lnTo>
                    <a:pt x="29" y="21"/>
                  </a:lnTo>
                  <a:lnTo>
                    <a:pt x="29" y="19"/>
                  </a:lnTo>
                  <a:lnTo>
                    <a:pt x="29" y="16"/>
                  </a:lnTo>
                  <a:lnTo>
                    <a:pt x="29" y="14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7"/>
                  </a:lnTo>
                  <a:lnTo>
                    <a:pt x="26" y="5"/>
                  </a:lnTo>
                  <a:lnTo>
                    <a:pt x="24" y="5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0" y="2"/>
                  </a:lnTo>
                  <a:lnTo>
                    <a:pt x="7" y="2"/>
                  </a:lnTo>
                  <a:lnTo>
                    <a:pt x="7" y="5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7" y="28"/>
                  </a:lnTo>
                  <a:lnTo>
                    <a:pt x="10" y="28"/>
                  </a:lnTo>
                  <a:lnTo>
                    <a:pt x="12" y="31"/>
                  </a:lnTo>
                  <a:lnTo>
                    <a:pt x="14" y="31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75" name="Freeform 329"/>
            <p:cNvSpPr>
              <a:spLocks noChangeArrowheads="1"/>
            </p:cNvSpPr>
            <p:nvPr/>
          </p:nvSpPr>
          <p:spPr bwMode="auto">
            <a:xfrm>
              <a:off x="2492" y="2296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7 h 31"/>
                <a:gd name="T6" fmla="*/ 2 w 31"/>
                <a:gd name="T7" fmla="*/ 2 h 31"/>
                <a:gd name="T8" fmla="*/ 2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7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76" name="Line 330"/>
            <p:cNvSpPr>
              <a:spLocks noChangeShapeType="1"/>
            </p:cNvSpPr>
            <p:nvPr/>
          </p:nvSpPr>
          <p:spPr bwMode="auto">
            <a:xfrm flipH="1">
              <a:off x="2110" y="2310"/>
              <a:ext cx="395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" name="Freeform 331"/>
            <p:cNvSpPr>
              <a:spLocks noChangeArrowheads="1"/>
            </p:cNvSpPr>
            <p:nvPr/>
          </p:nvSpPr>
          <p:spPr bwMode="auto">
            <a:xfrm>
              <a:off x="2527" y="2057"/>
              <a:ext cx="656" cy="687"/>
            </a:xfrm>
            <a:custGeom>
              <a:avLst/>
              <a:gdLst>
                <a:gd name="T0" fmla="*/ 656 w 656"/>
                <a:gd name="T1" fmla="*/ 684 h 687"/>
                <a:gd name="T2" fmla="*/ 656 w 656"/>
                <a:gd name="T3" fmla="*/ 0 h 687"/>
                <a:gd name="T4" fmla="*/ 0 w 656"/>
                <a:gd name="T5" fmla="*/ 0 h 687"/>
                <a:gd name="T6" fmla="*/ 0 w 656"/>
                <a:gd name="T7" fmla="*/ 687 h 687"/>
                <a:gd name="T8" fmla="*/ 656 w 656"/>
                <a:gd name="T9" fmla="*/ 687 h 687"/>
                <a:gd name="T10" fmla="*/ 656 w 656"/>
                <a:gd name="T11" fmla="*/ 687 h 687"/>
                <a:gd name="T12" fmla="*/ 656 w 656"/>
                <a:gd name="T13" fmla="*/ 684 h 6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6"/>
                <a:gd name="T22" fmla="*/ 0 h 687"/>
                <a:gd name="T23" fmla="*/ 656 w 656"/>
                <a:gd name="T24" fmla="*/ 687 h 6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6" h="687">
                  <a:moveTo>
                    <a:pt x="656" y="684"/>
                  </a:moveTo>
                  <a:lnTo>
                    <a:pt x="656" y="0"/>
                  </a:lnTo>
                  <a:lnTo>
                    <a:pt x="0" y="0"/>
                  </a:lnTo>
                  <a:lnTo>
                    <a:pt x="0" y="687"/>
                  </a:lnTo>
                  <a:lnTo>
                    <a:pt x="656" y="687"/>
                  </a:lnTo>
                  <a:lnTo>
                    <a:pt x="656" y="6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78" name="Freeform 332"/>
            <p:cNvSpPr>
              <a:spLocks noChangeArrowheads="1"/>
            </p:cNvSpPr>
            <p:nvPr/>
          </p:nvSpPr>
          <p:spPr bwMode="auto">
            <a:xfrm>
              <a:off x="2527" y="2057"/>
              <a:ext cx="656" cy="687"/>
            </a:xfrm>
            <a:custGeom>
              <a:avLst/>
              <a:gdLst>
                <a:gd name="T0" fmla="*/ 656 w 656"/>
                <a:gd name="T1" fmla="*/ 684 h 687"/>
                <a:gd name="T2" fmla="*/ 656 w 656"/>
                <a:gd name="T3" fmla="*/ 0 h 687"/>
                <a:gd name="T4" fmla="*/ 0 w 656"/>
                <a:gd name="T5" fmla="*/ 0 h 687"/>
                <a:gd name="T6" fmla="*/ 0 w 656"/>
                <a:gd name="T7" fmla="*/ 687 h 687"/>
                <a:gd name="T8" fmla="*/ 656 w 656"/>
                <a:gd name="T9" fmla="*/ 687 h 687"/>
                <a:gd name="T10" fmla="*/ 656 w 656"/>
                <a:gd name="T11" fmla="*/ 687 h 6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6"/>
                <a:gd name="T19" fmla="*/ 0 h 687"/>
                <a:gd name="T20" fmla="*/ 656 w 656"/>
                <a:gd name="T21" fmla="*/ 687 h 68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6" h="687">
                  <a:moveTo>
                    <a:pt x="656" y="684"/>
                  </a:moveTo>
                  <a:lnTo>
                    <a:pt x="656" y="0"/>
                  </a:lnTo>
                  <a:lnTo>
                    <a:pt x="0" y="0"/>
                  </a:lnTo>
                  <a:lnTo>
                    <a:pt x="0" y="687"/>
                  </a:lnTo>
                  <a:lnTo>
                    <a:pt x="656" y="687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79" name="Rectangle 333"/>
            <p:cNvSpPr>
              <a:spLocks noChangeArrowheads="1"/>
            </p:cNvSpPr>
            <p:nvPr/>
          </p:nvSpPr>
          <p:spPr bwMode="auto">
            <a:xfrm>
              <a:off x="2731" y="236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180" name="Rectangle 334"/>
            <p:cNvSpPr>
              <a:spLocks noChangeArrowheads="1"/>
            </p:cNvSpPr>
            <p:nvPr/>
          </p:nvSpPr>
          <p:spPr bwMode="auto">
            <a:xfrm>
              <a:off x="2771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181" name="Rectangle 335"/>
            <p:cNvSpPr>
              <a:spLocks noChangeArrowheads="1"/>
            </p:cNvSpPr>
            <p:nvPr/>
          </p:nvSpPr>
          <p:spPr bwMode="auto">
            <a:xfrm>
              <a:off x="2805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2182" name="Rectangle 336"/>
            <p:cNvSpPr>
              <a:spLocks noChangeArrowheads="1"/>
            </p:cNvSpPr>
            <p:nvPr/>
          </p:nvSpPr>
          <p:spPr bwMode="auto">
            <a:xfrm>
              <a:off x="2838" y="2365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183" name="Rectangle 337"/>
            <p:cNvSpPr>
              <a:spLocks noChangeArrowheads="1"/>
            </p:cNvSpPr>
            <p:nvPr/>
          </p:nvSpPr>
          <p:spPr bwMode="auto">
            <a:xfrm>
              <a:off x="2850" y="236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184" name="Rectangle 338"/>
            <p:cNvSpPr>
              <a:spLocks noChangeArrowheads="1"/>
            </p:cNvSpPr>
            <p:nvPr/>
          </p:nvSpPr>
          <p:spPr bwMode="auto">
            <a:xfrm>
              <a:off x="2880" y="23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185" name="Rectangle 339"/>
            <p:cNvSpPr>
              <a:spLocks noChangeArrowheads="1"/>
            </p:cNvSpPr>
            <p:nvPr/>
          </p:nvSpPr>
          <p:spPr bwMode="auto">
            <a:xfrm>
              <a:off x="2895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186" name="Rectangle 340"/>
            <p:cNvSpPr>
              <a:spLocks noChangeArrowheads="1"/>
            </p:cNvSpPr>
            <p:nvPr/>
          </p:nvSpPr>
          <p:spPr bwMode="auto">
            <a:xfrm>
              <a:off x="2928" y="2365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187" name="Rectangle 341"/>
            <p:cNvSpPr>
              <a:spLocks noChangeArrowheads="1"/>
            </p:cNvSpPr>
            <p:nvPr/>
          </p:nvSpPr>
          <p:spPr bwMode="auto">
            <a:xfrm>
              <a:off x="2947" y="236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188" name="Rectangle 342"/>
            <p:cNvSpPr>
              <a:spLocks noChangeArrowheads="1"/>
            </p:cNvSpPr>
            <p:nvPr/>
          </p:nvSpPr>
          <p:spPr bwMode="auto">
            <a:xfrm>
              <a:off x="2549" y="2424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2189" name="Rectangle 343"/>
            <p:cNvSpPr>
              <a:spLocks noChangeArrowheads="1"/>
            </p:cNvSpPr>
            <p:nvPr/>
          </p:nvSpPr>
          <p:spPr bwMode="auto">
            <a:xfrm>
              <a:off x="2608" y="2424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190" name="Rectangle 344"/>
            <p:cNvSpPr>
              <a:spLocks noChangeArrowheads="1"/>
            </p:cNvSpPr>
            <p:nvPr/>
          </p:nvSpPr>
          <p:spPr bwMode="auto">
            <a:xfrm>
              <a:off x="2626" y="2424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191" name="Rectangle 345"/>
            <p:cNvSpPr>
              <a:spLocks noChangeArrowheads="1"/>
            </p:cNvSpPr>
            <p:nvPr/>
          </p:nvSpPr>
          <p:spPr bwMode="auto">
            <a:xfrm>
              <a:off x="2639" y="242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192" name="Rectangle 346"/>
            <p:cNvSpPr>
              <a:spLocks noChangeArrowheads="1"/>
            </p:cNvSpPr>
            <p:nvPr/>
          </p:nvSpPr>
          <p:spPr bwMode="auto">
            <a:xfrm>
              <a:off x="2655" y="242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193" name="Rectangle 347"/>
            <p:cNvSpPr>
              <a:spLocks noChangeArrowheads="1"/>
            </p:cNvSpPr>
            <p:nvPr/>
          </p:nvSpPr>
          <p:spPr bwMode="auto">
            <a:xfrm>
              <a:off x="2688" y="242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94" name="Rectangle 348"/>
            <p:cNvSpPr>
              <a:spLocks noChangeArrowheads="1"/>
            </p:cNvSpPr>
            <p:nvPr/>
          </p:nvSpPr>
          <p:spPr bwMode="auto">
            <a:xfrm>
              <a:off x="2551" y="248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195" name="Rectangle 349"/>
            <p:cNvSpPr>
              <a:spLocks noChangeArrowheads="1"/>
            </p:cNvSpPr>
            <p:nvPr/>
          </p:nvSpPr>
          <p:spPr bwMode="auto">
            <a:xfrm>
              <a:off x="2572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196" name="Rectangle 350"/>
            <p:cNvSpPr>
              <a:spLocks noChangeArrowheads="1"/>
            </p:cNvSpPr>
            <p:nvPr/>
          </p:nvSpPr>
          <p:spPr bwMode="auto">
            <a:xfrm>
              <a:off x="2603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2197" name="Rectangle 351"/>
            <p:cNvSpPr>
              <a:spLocks noChangeArrowheads="1"/>
            </p:cNvSpPr>
            <p:nvPr/>
          </p:nvSpPr>
          <p:spPr bwMode="auto">
            <a:xfrm>
              <a:off x="2636" y="2481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198" name="Rectangle 352"/>
            <p:cNvSpPr>
              <a:spLocks noChangeArrowheads="1"/>
            </p:cNvSpPr>
            <p:nvPr/>
          </p:nvSpPr>
          <p:spPr bwMode="auto">
            <a:xfrm>
              <a:off x="2651" y="248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199" name="Rectangle 353"/>
            <p:cNvSpPr>
              <a:spLocks noChangeArrowheads="1"/>
            </p:cNvSpPr>
            <p:nvPr/>
          </p:nvSpPr>
          <p:spPr bwMode="auto">
            <a:xfrm>
              <a:off x="2679" y="248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200" name="Rectangle 354"/>
            <p:cNvSpPr>
              <a:spLocks noChangeArrowheads="1"/>
            </p:cNvSpPr>
            <p:nvPr/>
          </p:nvSpPr>
          <p:spPr bwMode="auto">
            <a:xfrm>
              <a:off x="2696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201" name="Rectangle 355"/>
            <p:cNvSpPr>
              <a:spLocks noChangeArrowheads="1"/>
            </p:cNvSpPr>
            <p:nvPr/>
          </p:nvSpPr>
          <p:spPr bwMode="auto">
            <a:xfrm>
              <a:off x="2726" y="248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202" name="Rectangle 356"/>
            <p:cNvSpPr>
              <a:spLocks noChangeArrowheads="1"/>
            </p:cNvSpPr>
            <p:nvPr/>
          </p:nvSpPr>
          <p:spPr bwMode="auto">
            <a:xfrm>
              <a:off x="2549" y="260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2203" name="Rectangle 357"/>
            <p:cNvSpPr>
              <a:spLocks noChangeArrowheads="1"/>
            </p:cNvSpPr>
            <p:nvPr/>
          </p:nvSpPr>
          <p:spPr bwMode="auto">
            <a:xfrm>
              <a:off x="2608" y="2600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204" name="Rectangle 358"/>
            <p:cNvSpPr>
              <a:spLocks noChangeArrowheads="1"/>
            </p:cNvSpPr>
            <p:nvPr/>
          </p:nvSpPr>
          <p:spPr bwMode="auto">
            <a:xfrm>
              <a:off x="2626" y="2600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205" name="Rectangle 359"/>
            <p:cNvSpPr>
              <a:spLocks noChangeArrowheads="1"/>
            </p:cNvSpPr>
            <p:nvPr/>
          </p:nvSpPr>
          <p:spPr bwMode="auto">
            <a:xfrm>
              <a:off x="2639" y="2600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206" name="Rectangle 360"/>
            <p:cNvSpPr>
              <a:spLocks noChangeArrowheads="1"/>
            </p:cNvSpPr>
            <p:nvPr/>
          </p:nvSpPr>
          <p:spPr bwMode="auto">
            <a:xfrm>
              <a:off x="2655" y="260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207" name="Rectangle 361"/>
            <p:cNvSpPr>
              <a:spLocks noChangeArrowheads="1"/>
            </p:cNvSpPr>
            <p:nvPr/>
          </p:nvSpPr>
          <p:spPr bwMode="auto">
            <a:xfrm>
              <a:off x="2688" y="260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08" name="Rectangle 362"/>
            <p:cNvSpPr>
              <a:spLocks noChangeArrowheads="1"/>
            </p:cNvSpPr>
            <p:nvPr/>
          </p:nvSpPr>
          <p:spPr bwMode="auto">
            <a:xfrm>
              <a:off x="2551" y="265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209" name="Rectangle 363"/>
            <p:cNvSpPr>
              <a:spLocks noChangeArrowheads="1"/>
            </p:cNvSpPr>
            <p:nvPr/>
          </p:nvSpPr>
          <p:spPr bwMode="auto">
            <a:xfrm>
              <a:off x="2584" y="265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210" name="Rectangle 364"/>
            <p:cNvSpPr>
              <a:spLocks noChangeArrowheads="1"/>
            </p:cNvSpPr>
            <p:nvPr/>
          </p:nvSpPr>
          <p:spPr bwMode="auto">
            <a:xfrm>
              <a:off x="2617" y="265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211" name="Rectangle 365"/>
            <p:cNvSpPr>
              <a:spLocks noChangeArrowheads="1"/>
            </p:cNvSpPr>
            <p:nvPr/>
          </p:nvSpPr>
          <p:spPr bwMode="auto">
            <a:xfrm>
              <a:off x="2634" y="265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212" name="Rectangle 366"/>
            <p:cNvSpPr>
              <a:spLocks noChangeArrowheads="1"/>
            </p:cNvSpPr>
            <p:nvPr/>
          </p:nvSpPr>
          <p:spPr bwMode="auto">
            <a:xfrm>
              <a:off x="3027" y="2162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213" name="Rectangle 367"/>
            <p:cNvSpPr>
              <a:spLocks noChangeArrowheads="1"/>
            </p:cNvSpPr>
            <p:nvPr/>
          </p:nvSpPr>
          <p:spPr bwMode="auto">
            <a:xfrm>
              <a:off x="3070" y="216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214" name="Rectangle 368"/>
            <p:cNvSpPr>
              <a:spLocks noChangeArrowheads="1"/>
            </p:cNvSpPr>
            <p:nvPr/>
          </p:nvSpPr>
          <p:spPr bwMode="auto">
            <a:xfrm>
              <a:off x="3103" y="216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215" name="Rectangle 369"/>
            <p:cNvSpPr>
              <a:spLocks noChangeArrowheads="1"/>
            </p:cNvSpPr>
            <p:nvPr/>
          </p:nvSpPr>
          <p:spPr bwMode="auto">
            <a:xfrm>
              <a:off x="3134" y="216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216" name="Rectangle 370"/>
            <p:cNvSpPr>
              <a:spLocks noChangeArrowheads="1"/>
            </p:cNvSpPr>
            <p:nvPr/>
          </p:nvSpPr>
          <p:spPr bwMode="auto">
            <a:xfrm>
              <a:off x="3167" y="2162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17" name="Rectangle 371"/>
            <p:cNvSpPr>
              <a:spLocks noChangeArrowheads="1"/>
            </p:cNvSpPr>
            <p:nvPr/>
          </p:nvSpPr>
          <p:spPr bwMode="auto">
            <a:xfrm>
              <a:off x="2992" y="221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218" name="Rectangle 372"/>
            <p:cNvSpPr>
              <a:spLocks noChangeArrowheads="1"/>
            </p:cNvSpPr>
            <p:nvPr/>
          </p:nvSpPr>
          <p:spPr bwMode="auto">
            <a:xfrm>
              <a:off x="3025" y="221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219" name="Rectangle 373"/>
            <p:cNvSpPr>
              <a:spLocks noChangeArrowheads="1"/>
            </p:cNvSpPr>
            <p:nvPr/>
          </p:nvSpPr>
          <p:spPr bwMode="auto">
            <a:xfrm>
              <a:off x="3058" y="221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220" name="Rectangle 374"/>
            <p:cNvSpPr>
              <a:spLocks noChangeArrowheads="1"/>
            </p:cNvSpPr>
            <p:nvPr/>
          </p:nvSpPr>
          <p:spPr bwMode="auto">
            <a:xfrm>
              <a:off x="3074" y="221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221" name="Rectangle 375"/>
            <p:cNvSpPr>
              <a:spLocks noChangeArrowheads="1"/>
            </p:cNvSpPr>
            <p:nvPr/>
          </p:nvSpPr>
          <p:spPr bwMode="auto">
            <a:xfrm>
              <a:off x="3105" y="221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222" name="Rectangle 376"/>
            <p:cNvSpPr>
              <a:spLocks noChangeArrowheads="1"/>
            </p:cNvSpPr>
            <p:nvPr/>
          </p:nvSpPr>
          <p:spPr bwMode="auto">
            <a:xfrm>
              <a:off x="3122" y="221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223" name="Rectangle 377"/>
            <p:cNvSpPr>
              <a:spLocks noChangeArrowheads="1"/>
            </p:cNvSpPr>
            <p:nvPr/>
          </p:nvSpPr>
          <p:spPr bwMode="auto">
            <a:xfrm>
              <a:off x="3027" y="2379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224" name="Rectangle 378"/>
            <p:cNvSpPr>
              <a:spLocks noChangeArrowheads="1"/>
            </p:cNvSpPr>
            <p:nvPr/>
          </p:nvSpPr>
          <p:spPr bwMode="auto">
            <a:xfrm>
              <a:off x="3070" y="237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225" name="Rectangle 379"/>
            <p:cNvSpPr>
              <a:spLocks noChangeArrowheads="1"/>
            </p:cNvSpPr>
            <p:nvPr/>
          </p:nvSpPr>
          <p:spPr bwMode="auto">
            <a:xfrm>
              <a:off x="3103" y="237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226" name="Rectangle 380"/>
            <p:cNvSpPr>
              <a:spLocks noChangeArrowheads="1"/>
            </p:cNvSpPr>
            <p:nvPr/>
          </p:nvSpPr>
          <p:spPr bwMode="auto">
            <a:xfrm>
              <a:off x="3134" y="237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227" name="Rectangle 381"/>
            <p:cNvSpPr>
              <a:spLocks noChangeArrowheads="1"/>
            </p:cNvSpPr>
            <p:nvPr/>
          </p:nvSpPr>
          <p:spPr bwMode="auto">
            <a:xfrm>
              <a:off x="3167" y="237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28" name="Rectangle 382"/>
            <p:cNvSpPr>
              <a:spLocks noChangeArrowheads="1"/>
            </p:cNvSpPr>
            <p:nvPr/>
          </p:nvSpPr>
          <p:spPr bwMode="auto">
            <a:xfrm>
              <a:off x="2992" y="24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229" name="Rectangle 383"/>
            <p:cNvSpPr>
              <a:spLocks noChangeArrowheads="1"/>
            </p:cNvSpPr>
            <p:nvPr/>
          </p:nvSpPr>
          <p:spPr bwMode="auto">
            <a:xfrm>
              <a:off x="3025" y="24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230" name="Rectangle 384"/>
            <p:cNvSpPr>
              <a:spLocks noChangeArrowheads="1"/>
            </p:cNvSpPr>
            <p:nvPr/>
          </p:nvSpPr>
          <p:spPr bwMode="auto">
            <a:xfrm>
              <a:off x="3058" y="243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231" name="Rectangle 385"/>
            <p:cNvSpPr>
              <a:spLocks noChangeArrowheads="1"/>
            </p:cNvSpPr>
            <p:nvPr/>
          </p:nvSpPr>
          <p:spPr bwMode="auto">
            <a:xfrm>
              <a:off x="3074" y="24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232" name="Rectangle 386"/>
            <p:cNvSpPr>
              <a:spLocks noChangeArrowheads="1"/>
            </p:cNvSpPr>
            <p:nvPr/>
          </p:nvSpPr>
          <p:spPr bwMode="auto">
            <a:xfrm>
              <a:off x="3105" y="243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233" name="Rectangle 387"/>
            <p:cNvSpPr>
              <a:spLocks noChangeArrowheads="1"/>
            </p:cNvSpPr>
            <p:nvPr/>
          </p:nvSpPr>
          <p:spPr bwMode="auto">
            <a:xfrm>
              <a:off x="3122" y="24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2234" name="Rectangle 388"/>
            <p:cNvSpPr>
              <a:spLocks noChangeArrowheads="1"/>
            </p:cNvSpPr>
            <p:nvPr/>
          </p:nvSpPr>
          <p:spPr bwMode="auto">
            <a:xfrm>
              <a:off x="2551" y="2074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235" name="Rectangle 389"/>
            <p:cNvSpPr>
              <a:spLocks noChangeArrowheads="1"/>
            </p:cNvSpPr>
            <p:nvPr/>
          </p:nvSpPr>
          <p:spPr bwMode="auto">
            <a:xfrm>
              <a:off x="2594" y="207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236" name="Rectangle 390"/>
            <p:cNvSpPr>
              <a:spLocks noChangeArrowheads="1"/>
            </p:cNvSpPr>
            <p:nvPr/>
          </p:nvSpPr>
          <p:spPr bwMode="auto">
            <a:xfrm>
              <a:off x="2627" y="207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237" name="Rectangle 391"/>
            <p:cNvSpPr>
              <a:spLocks noChangeArrowheads="1"/>
            </p:cNvSpPr>
            <p:nvPr/>
          </p:nvSpPr>
          <p:spPr bwMode="auto">
            <a:xfrm>
              <a:off x="2660" y="207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238" name="Rectangle 392"/>
            <p:cNvSpPr>
              <a:spLocks noChangeArrowheads="1"/>
            </p:cNvSpPr>
            <p:nvPr/>
          </p:nvSpPr>
          <p:spPr bwMode="auto">
            <a:xfrm>
              <a:off x="2691" y="207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39" name="Rectangle 393"/>
            <p:cNvSpPr>
              <a:spLocks noChangeArrowheads="1"/>
            </p:cNvSpPr>
            <p:nvPr/>
          </p:nvSpPr>
          <p:spPr bwMode="auto">
            <a:xfrm>
              <a:off x="2551" y="213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240" name="Rectangle 394"/>
            <p:cNvSpPr>
              <a:spLocks noChangeArrowheads="1"/>
            </p:cNvSpPr>
            <p:nvPr/>
          </p:nvSpPr>
          <p:spPr bwMode="auto">
            <a:xfrm>
              <a:off x="2572" y="21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241" name="Rectangle 395"/>
            <p:cNvSpPr>
              <a:spLocks noChangeArrowheads="1"/>
            </p:cNvSpPr>
            <p:nvPr/>
          </p:nvSpPr>
          <p:spPr bwMode="auto">
            <a:xfrm>
              <a:off x="2603" y="21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2242" name="Rectangle 396"/>
            <p:cNvSpPr>
              <a:spLocks noChangeArrowheads="1"/>
            </p:cNvSpPr>
            <p:nvPr/>
          </p:nvSpPr>
          <p:spPr bwMode="auto">
            <a:xfrm>
              <a:off x="2636" y="2131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243" name="Rectangle 397"/>
            <p:cNvSpPr>
              <a:spLocks noChangeArrowheads="1"/>
            </p:cNvSpPr>
            <p:nvPr/>
          </p:nvSpPr>
          <p:spPr bwMode="auto">
            <a:xfrm>
              <a:off x="2651" y="213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244" name="Rectangle 398"/>
            <p:cNvSpPr>
              <a:spLocks noChangeArrowheads="1"/>
            </p:cNvSpPr>
            <p:nvPr/>
          </p:nvSpPr>
          <p:spPr bwMode="auto">
            <a:xfrm>
              <a:off x="2679" y="213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245" name="Rectangle 399"/>
            <p:cNvSpPr>
              <a:spLocks noChangeArrowheads="1"/>
            </p:cNvSpPr>
            <p:nvPr/>
          </p:nvSpPr>
          <p:spPr bwMode="auto">
            <a:xfrm>
              <a:off x="2696" y="21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246" name="Rectangle 400"/>
            <p:cNvSpPr>
              <a:spLocks noChangeArrowheads="1"/>
            </p:cNvSpPr>
            <p:nvPr/>
          </p:nvSpPr>
          <p:spPr bwMode="auto">
            <a:xfrm>
              <a:off x="2726" y="213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247" name="Rectangle 401"/>
            <p:cNvSpPr>
              <a:spLocks noChangeArrowheads="1"/>
            </p:cNvSpPr>
            <p:nvPr/>
          </p:nvSpPr>
          <p:spPr bwMode="auto">
            <a:xfrm>
              <a:off x="2748" y="213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248" name="Rectangle 402"/>
            <p:cNvSpPr>
              <a:spLocks noChangeArrowheads="1"/>
            </p:cNvSpPr>
            <p:nvPr/>
          </p:nvSpPr>
          <p:spPr bwMode="auto">
            <a:xfrm>
              <a:off x="2762" y="21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249" name="Rectangle 403"/>
            <p:cNvSpPr>
              <a:spLocks noChangeArrowheads="1"/>
            </p:cNvSpPr>
            <p:nvPr/>
          </p:nvSpPr>
          <p:spPr bwMode="auto">
            <a:xfrm>
              <a:off x="2551" y="2249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250" name="Rectangle 404"/>
            <p:cNvSpPr>
              <a:spLocks noChangeArrowheads="1"/>
            </p:cNvSpPr>
            <p:nvPr/>
          </p:nvSpPr>
          <p:spPr bwMode="auto">
            <a:xfrm>
              <a:off x="2594" y="224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251" name="Rectangle 405"/>
            <p:cNvSpPr>
              <a:spLocks noChangeArrowheads="1"/>
            </p:cNvSpPr>
            <p:nvPr/>
          </p:nvSpPr>
          <p:spPr bwMode="auto">
            <a:xfrm>
              <a:off x="2627" y="224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252" name="Rectangle 406"/>
            <p:cNvSpPr>
              <a:spLocks noChangeArrowheads="1"/>
            </p:cNvSpPr>
            <p:nvPr/>
          </p:nvSpPr>
          <p:spPr bwMode="auto">
            <a:xfrm>
              <a:off x="2660" y="224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253" name="Rectangle 407"/>
            <p:cNvSpPr>
              <a:spLocks noChangeArrowheads="1"/>
            </p:cNvSpPr>
            <p:nvPr/>
          </p:nvSpPr>
          <p:spPr bwMode="auto">
            <a:xfrm>
              <a:off x="2691" y="224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" name="Rectangle 408"/>
            <p:cNvSpPr>
              <a:spLocks noChangeArrowheads="1"/>
            </p:cNvSpPr>
            <p:nvPr/>
          </p:nvSpPr>
          <p:spPr bwMode="auto">
            <a:xfrm>
              <a:off x="2551" y="230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255" name="Rectangle 409"/>
            <p:cNvSpPr>
              <a:spLocks noChangeArrowheads="1"/>
            </p:cNvSpPr>
            <p:nvPr/>
          </p:nvSpPr>
          <p:spPr bwMode="auto">
            <a:xfrm>
              <a:off x="2572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256" name="Rectangle 410"/>
            <p:cNvSpPr>
              <a:spLocks noChangeArrowheads="1"/>
            </p:cNvSpPr>
            <p:nvPr/>
          </p:nvSpPr>
          <p:spPr bwMode="auto">
            <a:xfrm>
              <a:off x="2603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2257" name="Rectangle 411"/>
            <p:cNvSpPr>
              <a:spLocks noChangeArrowheads="1"/>
            </p:cNvSpPr>
            <p:nvPr/>
          </p:nvSpPr>
          <p:spPr bwMode="auto">
            <a:xfrm>
              <a:off x="2636" y="2306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258" name="Rectangle 412"/>
            <p:cNvSpPr>
              <a:spLocks noChangeArrowheads="1"/>
            </p:cNvSpPr>
            <p:nvPr/>
          </p:nvSpPr>
          <p:spPr bwMode="auto">
            <a:xfrm>
              <a:off x="2651" y="230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259" name="Rectangle 413"/>
            <p:cNvSpPr>
              <a:spLocks noChangeArrowheads="1"/>
            </p:cNvSpPr>
            <p:nvPr/>
          </p:nvSpPr>
          <p:spPr bwMode="auto">
            <a:xfrm>
              <a:off x="2679" y="230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260" name="Rectangle 414"/>
            <p:cNvSpPr>
              <a:spLocks noChangeArrowheads="1"/>
            </p:cNvSpPr>
            <p:nvPr/>
          </p:nvSpPr>
          <p:spPr bwMode="auto">
            <a:xfrm>
              <a:off x="2696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261" name="Rectangle 415"/>
            <p:cNvSpPr>
              <a:spLocks noChangeArrowheads="1"/>
            </p:cNvSpPr>
            <p:nvPr/>
          </p:nvSpPr>
          <p:spPr bwMode="auto">
            <a:xfrm>
              <a:off x="2726" y="230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262" name="Rectangle 416"/>
            <p:cNvSpPr>
              <a:spLocks noChangeArrowheads="1"/>
            </p:cNvSpPr>
            <p:nvPr/>
          </p:nvSpPr>
          <p:spPr bwMode="auto">
            <a:xfrm>
              <a:off x="2748" y="230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263" name="Rectangle 417"/>
            <p:cNvSpPr>
              <a:spLocks noChangeArrowheads="1"/>
            </p:cNvSpPr>
            <p:nvPr/>
          </p:nvSpPr>
          <p:spPr bwMode="auto">
            <a:xfrm>
              <a:off x="2762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2264" name="Freeform 418"/>
            <p:cNvSpPr>
              <a:spLocks noChangeArrowheads="1"/>
            </p:cNvSpPr>
            <p:nvPr/>
          </p:nvSpPr>
          <p:spPr bwMode="auto">
            <a:xfrm>
              <a:off x="2395" y="2606"/>
              <a:ext cx="2950" cy="886"/>
            </a:xfrm>
            <a:custGeom>
              <a:avLst/>
              <a:gdLst>
                <a:gd name="T0" fmla="*/ 2884 w 2950"/>
                <a:gd name="T1" fmla="*/ 0 h 886"/>
                <a:gd name="T2" fmla="*/ 2950 w 2950"/>
                <a:gd name="T3" fmla="*/ 0 h 886"/>
                <a:gd name="T4" fmla="*/ 2950 w 2950"/>
                <a:gd name="T5" fmla="*/ 886 h 886"/>
                <a:gd name="T6" fmla="*/ 0 w 2950"/>
                <a:gd name="T7" fmla="*/ 886 h 886"/>
                <a:gd name="T8" fmla="*/ 0 w 2950"/>
                <a:gd name="T9" fmla="*/ 57 h 886"/>
                <a:gd name="T10" fmla="*/ 109 w 2950"/>
                <a:gd name="T11" fmla="*/ 57 h 8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50"/>
                <a:gd name="T19" fmla="*/ 0 h 886"/>
                <a:gd name="T20" fmla="*/ 2950 w 2950"/>
                <a:gd name="T21" fmla="*/ 886 h 88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50" h="886">
                  <a:moveTo>
                    <a:pt x="2884" y="0"/>
                  </a:moveTo>
                  <a:lnTo>
                    <a:pt x="2950" y="0"/>
                  </a:lnTo>
                  <a:lnTo>
                    <a:pt x="2950" y="886"/>
                  </a:lnTo>
                  <a:lnTo>
                    <a:pt x="0" y="886"/>
                  </a:lnTo>
                  <a:lnTo>
                    <a:pt x="0" y="57"/>
                  </a:lnTo>
                  <a:lnTo>
                    <a:pt x="109" y="5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5" name="Line 419"/>
            <p:cNvSpPr>
              <a:spLocks noChangeShapeType="1"/>
            </p:cNvSpPr>
            <p:nvPr/>
          </p:nvSpPr>
          <p:spPr bwMode="auto">
            <a:xfrm flipH="1">
              <a:off x="2351" y="2486"/>
              <a:ext cx="154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6" name="Line 420"/>
            <p:cNvSpPr>
              <a:spLocks noChangeShapeType="1"/>
            </p:cNvSpPr>
            <p:nvPr/>
          </p:nvSpPr>
          <p:spPr bwMode="auto">
            <a:xfrm flipH="1">
              <a:off x="1634" y="2135"/>
              <a:ext cx="871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67" name="Freeform 421"/>
            <p:cNvSpPr>
              <a:spLocks noChangeArrowheads="1"/>
            </p:cNvSpPr>
            <p:nvPr/>
          </p:nvSpPr>
          <p:spPr bwMode="auto">
            <a:xfrm>
              <a:off x="1632" y="2403"/>
              <a:ext cx="829" cy="615"/>
            </a:xfrm>
            <a:custGeom>
              <a:avLst/>
              <a:gdLst>
                <a:gd name="T0" fmla="*/ 829 w 829"/>
                <a:gd name="T1" fmla="*/ 615 h 615"/>
                <a:gd name="T2" fmla="*/ 0 w 829"/>
                <a:gd name="T3" fmla="*/ 615 h 615"/>
                <a:gd name="T4" fmla="*/ 0 w 829"/>
                <a:gd name="T5" fmla="*/ 0 h 615"/>
                <a:gd name="T6" fmla="*/ 0 60000 65536"/>
                <a:gd name="T7" fmla="*/ 0 60000 65536"/>
                <a:gd name="T8" fmla="*/ 0 60000 65536"/>
                <a:gd name="T9" fmla="*/ 0 w 829"/>
                <a:gd name="T10" fmla="*/ 0 h 615"/>
                <a:gd name="T11" fmla="*/ 829 w 829"/>
                <a:gd name="T12" fmla="*/ 615 h 6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29" h="615">
                  <a:moveTo>
                    <a:pt x="829" y="615"/>
                  </a:moveTo>
                  <a:lnTo>
                    <a:pt x="0" y="615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8" name="Freeform 422"/>
            <p:cNvSpPr>
              <a:spLocks noChangeArrowheads="1"/>
            </p:cNvSpPr>
            <p:nvPr/>
          </p:nvSpPr>
          <p:spPr bwMode="auto">
            <a:xfrm>
              <a:off x="1618" y="2649"/>
              <a:ext cx="31" cy="28"/>
            </a:xfrm>
            <a:custGeom>
              <a:avLst/>
              <a:gdLst>
                <a:gd name="T0" fmla="*/ 14 w 31"/>
                <a:gd name="T1" fmla="*/ 28 h 28"/>
                <a:gd name="T2" fmla="*/ 19 w 31"/>
                <a:gd name="T3" fmla="*/ 28 h 28"/>
                <a:gd name="T4" fmla="*/ 21 w 31"/>
                <a:gd name="T5" fmla="*/ 28 h 28"/>
                <a:gd name="T6" fmla="*/ 21 w 31"/>
                <a:gd name="T7" fmla="*/ 26 h 28"/>
                <a:gd name="T8" fmla="*/ 24 w 31"/>
                <a:gd name="T9" fmla="*/ 26 h 28"/>
                <a:gd name="T10" fmla="*/ 26 w 31"/>
                <a:gd name="T11" fmla="*/ 24 h 28"/>
                <a:gd name="T12" fmla="*/ 29 w 31"/>
                <a:gd name="T13" fmla="*/ 24 h 28"/>
                <a:gd name="T14" fmla="*/ 29 w 31"/>
                <a:gd name="T15" fmla="*/ 21 h 28"/>
                <a:gd name="T16" fmla="*/ 31 w 31"/>
                <a:gd name="T17" fmla="*/ 19 h 28"/>
                <a:gd name="T18" fmla="*/ 31 w 31"/>
                <a:gd name="T19" fmla="*/ 17 h 28"/>
                <a:gd name="T20" fmla="*/ 31 w 31"/>
                <a:gd name="T21" fmla="*/ 14 h 28"/>
                <a:gd name="T22" fmla="*/ 31 w 31"/>
                <a:gd name="T23" fmla="*/ 12 h 28"/>
                <a:gd name="T24" fmla="*/ 31 w 31"/>
                <a:gd name="T25" fmla="*/ 9 h 28"/>
                <a:gd name="T26" fmla="*/ 29 w 31"/>
                <a:gd name="T27" fmla="*/ 7 h 28"/>
                <a:gd name="T28" fmla="*/ 29 w 31"/>
                <a:gd name="T29" fmla="*/ 5 h 28"/>
                <a:gd name="T30" fmla="*/ 26 w 31"/>
                <a:gd name="T31" fmla="*/ 5 h 28"/>
                <a:gd name="T32" fmla="*/ 24 w 31"/>
                <a:gd name="T33" fmla="*/ 2 h 28"/>
                <a:gd name="T34" fmla="*/ 21 w 31"/>
                <a:gd name="T35" fmla="*/ 0 h 28"/>
                <a:gd name="T36" fmla="*/ 21 w 31"/>
                <a:gd name="T37" fmla="*/ 0 h 28"/>
                <a:gd name="T38" fmla="*/ 19 w 31"/>
                <a:gd name="T39" fmla="*/ 0 h 28"/>
                <a:gd name="T40" fmla="*/ 17 w 31"/>
                <a:gd name="T41" fmla="*/ 0 h 28"/>
                <a:gd name="T42" fmla="*/ 14 w 31"/>
                <a:gd name="T43" fmla="*/ 0 h 28"/>
                <a:gd name="T44" fmla="*/ 12 w 31"/>
                <a:gd name="T45" fmla="*/ 0 h 28"/>
                <a:gd name="T46" fmla="*/ 10 w 31"/>
                <a:gd name="T47" fmla="*/ 0 h 28"/>
                <a:gd name="T48" fmla="*/ 7 w 31"/>
                <a:gd name="T49" fmla="*/ 2 h 28"/>
                <a:gd name="T50" fmla="*/ 5 w 31"/>
                <a:gd name="T51" fmla="*/ 5 h 28"/>
                <a:gd name="T52" fmla="*/ 5 w 31"/>
                <a:gd name="T53" fmla="*/ 5 h 28"/>
                <a:gd name="T54" fmla="*/ 2 w 31"/>
                <a:gd name="T55" fmla="*/ 7 h 28"/>
                <a:gd name="T56" fmla="*/ 2 w 31"/>
                <a:gd name="T57" fmla="*/ 9 h 28"/>
                <a:gd name="T58" fmla="*/ 2 w 31"/>
                <a:gd name="T59" fmla="*/ 12 h 28"/>
                <a:gd name="T60" fmla="*/ 0 w 31"/>
                <a:gd name="T61" fmla="*/ 14 h 28"/>
                <a:gd name="T62" fmla="*/ 2 w 31"/>
                <a:gd name="T63" fmla="*/ 17 h 28"/>
                <a:gd name="T64" fmla="*/ 2 w 31"/>
                <a:gd name="T65" fmla="*/ 19 h 28"/>
                <a:gd name="T66" fmla="*/ 2 w 31"/>
                <a:gd name="T67" fmla="*/ 21 h 28"/>
                <a:gd name="T68" fmla="*/ 5 w 31"/>
                <a:gd name="T69" fmla="*/ 24 h 28"/>
                <a:gd name="T70" fmla="*/ 5 w 31"/>
                <a:gd name="T71" fmla="*/ 24 h 28"/>
                <a:gd name="T72" fmla="*/ 7 w 31"/>
                <a:gd name="T73" fmla="*/ 26 h 28"/>
                <a:gd name="T74" fmla="*/ 10 w 31"/>
                <a:gd name="T75" fmla="*/ 26 h 28"/>
                <a:gd name="T76" fmla="*/ 12 w 31"/>
                <a:gd name="T77" fmla="*/ 28 h 28"/>
                <a:gd name="T78" fmla="*/ 14 w 31"/>
                <a:gd name="T79" fmla="*/ 28 h 28"/>
                <a:gd name="T80" fmla="*/ 17 w 31"/>
                <a:gd name="T81" fmla="*/ 28 h 28"/>
                <a:gd name="T82" fmla="*/ 17 w 31"/>
                <a:gd name="T83" fmla="*/ 28 h 28"/>
                <a:gd name="T84" fmla="*/ 14 w 31"/>
                <a:gd name="T85" fmla="*/ 28 h 2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8"/>
                <a:gd name="T131" fmla="*/ 31 w 31"/>
                <a:gd name="T132" fmla="*/ 28 h 2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8">
                  <a:moveTo>
                    <a:pt x="14" y="28"/>
                  </a:moveTo>
                  <a:lnTo>
                    <a:pt x="19" y="28"/>
                  </a:lnTo>
                  <a:lnTo>
                    <a:pt x="21" y="28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1" y="9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10" y="26"/>
                  </a:lnTo>
                  <a:lnTo>
                    <a:pt x="12" y="28"/>
                  </a:lnTo>
                  <a:lnTo>
                    <a:pt x="14" y="28"/>
                  </a:lnTo>
                  <a:lnTo>
                    <a:pt x="17" y="28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9" name="Rectangle 423"/>
            <p:cNvSpPr>
              <a:spLocks noChangeArrowheads="1"/>
            </p:cNvSpPr>
            <p:nvPr/>
          </p:nvSpPr>
          <p:spPr bwMode="auto">
            <a:xfrm>
              <a:off x="3018" y="29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270" name="Rectangle 424"/>
            <p:cNvSpPr>
              <a:spLocks noChangeArrowheads="1"/>
            </p:cNvSpPr>
            <p:nvPr/>
          </p:nvSpPr>
          <p:spPr bwMode="auto">
            <a:xfrm>
              <a:off x="3056" y="2950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271" name="Rectangle 425"/>
            <p:cNvSpPr>
              <a:spLocks noChangeArrowheads="1"/>
            </p:cNvSpPr>
            <p:nvPr/>
          </p:nvSpPr>
          <p:spPr bwMode="auto">
            <a:xfrm>
              <a:off x="3070" y="29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2272" name="Rectangle 426"/>
            <p:cNvSpPr>
              <a:spLocks noChangeArrowheads="1"/>
            </p:cNvSpPr>
            <p:nvPr/>
          </p:nvSpPr>
          <p:spPr bwMode="auto">
            <a:xfrm>
              <a:off x="3103" y="29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273" name="Rectangle 427"/>
            <p:cNvSpPr>
              <a:spLocks noChangeArrowheads="1"/>
            </p:cNvSpPr>
            <p:nvPr/>
          </p:nvSpPr>
          <p:spPr bwMode="auto">
            <a:xfrm>
              <a:off x="3134" y="295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74" name="Rectangle 428"/>
            <p:cNvSpPr>
              <a:spLocks noChangeArrowheads="1"/>
            </p:cNvSpPr>
            <p:nvPr/>
          </p:nvSpPr>
          <p:spPr bwMode="auto">
            <a:xfrm>
              <a:off x="2984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275" name="Rectangle 429"/>
            <p:cNvSpPr>
              <a:spLocks noChangeArrowheads="1"/>
            </p:cNvSpPr>
            <p:nvPr/>
          </p:nvSpPr>
          <p:spPr bwMode="auto">
            <a:xfrm>
              <a:off x="3018" y="3019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2276" name="Rectangle 430"/>
            <p:cNvSpPr>
              <a:spLocks noChangeArrowheads="1"/>
            </p:cNvSpPr>
            <p:nvPr/>
          </p:nvSpPr>
          <p:spPr bwMode="auto">
            <a:xfrm>
              <a:off x="3046" y="301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277" name="Rectangle 431"/>
            <p:cNvSpPr>
              <a:spLocks noChangeArrowheads="1"/>
            </p:cNvSpPr>
            <p:nvPr/>
          </p:nvSpPr>
          <p:spPr bwMode="auto">
            <a:xfrm>
              <a:off x="3063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278" name="Rectangle 432"/>
            <p:cNvSpPr>
              <a:spLocks noChangeArrowheads="1"/>
            </p:cNvSpPr>
            <p:nvPr/>
          </p:nvSpPr>
          <p:spPr bwMode="auto">
            <a:xfrm>
              <a:off x="3096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279" name="Rectangle 433"/>
            <p:cNvSpPr>
              <a:spLocks noChangeArrowheads="1"/>
            </p:cNvSpPr>
            <p:nvPr/>
          </p:nvSpPr>
          <p:spPr bwMode="auto">
            <a:xfrm>
              <a:off x="3127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280" name="Line 434"/>
            <p:cNvSpPr>
              <a:spLocks noChangeShapeType="1"/>
            </p:cNvSpPr>
            <p:nvPr/>
          </p:nvSpPr>
          <p:spPr bwMode="auto">
            <a:xfrm flipH="1">
              <a:off x="3403" y="2706"/>
              <a:ext cx="113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" name="Freeform 435"/>
            <p:cNvSpPr>
              <a:spLocks noChangeArrowheads="1"/>
            </p:cNvSpPr>
            <p:nvPr/>
          </p:nvSpPr>
          <p:spPr bwMode="auto">
            <a:xfrm>
              <a:off x="3183" y="2706"/>
              <a:ext cx="221" cy="312"/>
            </a:xfrm>
            <a:custGeom>
              <a:avLst/>
              <a:gdLst>
                <a:gd name="T0" fmla="*/ 0 w 221"/>
                <a:gd name="T1" fmla="*/ 312 h 312"/>
                <a:gd name="T2" fmla="*/ 221 w 221"/>
                <a:gd name="T3" fmla="*/ 312 h 312"/>
                <a:gd name="T4" fmla="*/ 221 w 221"/>
                <a:gd name="T5" fmla="*/ 0 h 312"/>
                <a:gd name="T6" fmla="*/ 0 60000 65536"/>
                <a:gd name="T7" fmla="*/ 0 60000 65536"/>
                <a:gd name="T8" fmla="*/ 0 60000 65536"/>
                <a:gd name="T9" fmla="*/ 0 w 221"/>
                <a:gd name="T10" fmla="*/ 0 h 312"/>
                <a:gd name="T11" fmla="*/ 221 w 221"/>
                <a:gd name="T12" fmla="*/ 312 h 3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" h="312">
                  <a:moveTo>
                    <a:pt x="0" y="312"/>
                  </a:moveTo>
                  <a:lnTo>
                    <a:pt x="221" y="312"/>
                  </a:lnTo>
                  <a:lnTo>
                    <a:pt x="221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2" name="Freeform 436"/>
            <p:cNvSpPr>
              <a:spLocks noChangeArrowheads="1"/>
            </p:cNvSpPr>
            <p:nvPr/>
          </p:nvSpPr>
          <p:spPr bwMode="auto">
            <a:xfrm>
              <a:off x="3389" y="2692"/>
              <a:ext cx="29" cy="28"/>
            </a:xfrm>
            <a:custGeom>
              <a:avLst/>
              <a:gdLst>
                <a:gd name="T0" fmla="*/ 15 w 29"/>
                <a:gd name="T1" fmla="*/ 28 h 28"/>
                <a:gd name="T2" fmla="*/ 17 w 29"/>
                <a:gd name="T3" fmla="*/ 28 h 28"/>
                <a:gd name="T4" fmla="*/ 19 w 29"/>
                <a:gd name="T5" fmla="*/ 28 h 28"/>
                <a:gd name="T6" fmla="*/ 22 w 29"/>
                <a:gd name="T7" fmla="*/ 28 h 28"/>
                <a:gd name="T8" fmla="*/ 24 w 29"/>
                <a:gd name="T9" fmla="*/ 26 h 28"/>
                <a:gd name="T10" fmla="*/ 24 w 29"/>
                <a:gd name="T11" fmla="*/ 26 h 28"/>
                <a:gd name="T12" fmla="*/ 26 w 29"/>
                <a:gd name="T13" fmla="*/ 23 h 28"/>
                <a:gd name="T14" fmla="*/ 26 w 29"/>
                <a:gd name="T15" fmla="*/ 21 h 28"/>
                <a:gd name="T16" fmla="*/ 29 w 29"/>
                <a:gd name="T17" fmla="*/ 18 h 28"/>
                <a:gd name="T18" fmla="*/ 29 w 29"/>
                <a:gd name="T19" fmla="*/ 16 h 28"/>
                <a:gd name="T20" fmla="*/ 29 w 29"/>
                <a:gd name="T21" fmla="*/ 14 h 28"/>
                <a:gd name="T22" fmla="*/ 29 w 29"/>
                <a:gd name="T23" fmla="*/ 11 h 28"/>
                <a:gd name="T24" fmla="*/ 29 w 29"/>
                <a:gd name="T25" fmla="*/ 9 h 28"/>
                <a:gd name="T26" fmla="*/ 26 w 29"/>
                <a:gd name="T27" fmla="*/ 7 h 28"/>
                <a:gd name="T28" fmla="*/ 26 w 29"/>
                <a:gd name="T29" fmla="*/ 7 h 28"/>
                <a:gd name="T30" fmla="*/ 24 w 29"/>
                <a:gd name="T31" fmla="*/ 4 h 28"/>
                <a:gd name="T32" fmla="*/ 24 w 29"/>
                <a:gd name="T33" fmla="*/ 2 h 28"/>
                <a:gd name="T34" fmla="*/ 22 w 29"/>
                <a:gd name="T35" fmla="*/ 2 h 28"/>
                <a:gd name="T36" fmla="*/ 19 w 29"/>
                <a:gd name="T37" fmla="*/ 0 h 28"/>
                <a:gd name="T38" fmla="*/ 17 w 29"/>
                <a:gd name="T39" fmla="*/ 0 h 28"/>
                <a:gd name="T40" fmla="*/ 15 w 29"/>
                <a:gd name="T41" fmla="*/ 0 h 28"/>
                <a:gd name="T42" fmla="*/ 12 w 29"/>
                <a:gd name="T43" fmla="*/ 0 h 28"/>
                <a:gd name="T44" fmla="*/ 10 w 29"/>
                <a:gd name="T45" fmla="*/ 0 h 28"/>
                <a:gd name="T46" fmla="*/ 8 w 29"/>
                <a:gd name="T47" fmla="*/ 2 h 28"/>
                <a:gd name="T48" fmla="*/ 5 w 29"/>
                <a:gd name="T49" fmla="*/ 2 h 28"/>
                <a:gd name="T50" fmla="*/ 5 w 29"/>
                <a:gd name="T51" fmla="*/ 4 h 28"/>
                <a:gd name="T52" fmla="*/ 3 w 29"/>
                <a:gd name="T53" fmla="*/ 7 h 28"/>
                <a:gd name="T54" fmla="*/ 3 w 29"/>
                <a:gd name="T55" fmla="*/ 7 h 28"/>
                <a:gd name="T56" fmla="*/ 0 w 29"/>
                <a:gd name="T57" fmla="*/ 9 h 28"/>
                <a:gd name="T58" fmla="*/ 0 w 29"/>
                <a:gd name="T59" fmla="*/ 11 h 28"/>
                <a:gd name="T60" fmla="*/ 0 w 29"/>
                <a:gd name="T61" fmla="*/ 14 h 28"/>
                <a:gd name="T62" fmla="*/ 0 w 29"/>
                <a:gd name="T63" fmla="*/ 16 h 28"/>
                <a:gd name="T64" fmla="*/ 0 w 29"/>
                <a:gd name="T65" fmla="*/ 18 h 28"/>
                <a:gd name="T66" fmla="*/ 3 w 29"/>
                <a:gd name="T67" fmla="*/ 21 h 28"/>
                <a:gd name="T68" fmla="*/ 3 w 29"/>
                <a:gd name="T69" fmla="*/ 23 h 28"/>
                <a:gd name="T70" fmla="*/ 5 w 29"/>
                <a:gd name="T71" fmla="*/ 26 h 28"/>
                <a:gd name="T72" fmla="*/ 5 w 29"/>
                <a:gd name="T73" fmla="*/ 26 h 28"/>
                <a:gd name="T74" fmla="*/ 8 w 29"/>
                <a:gd name="T75" fmla="*/ 28 h 28"/>
                <a:gd name="T76" fmla="*/ 10 w 29"/>
                <a:gd name="T77" fmla="*/ 28 h 28"/>
                <a:gd name="T78" fmla="*/ 12 w 29"/>
                <a:gd name="T79" fmla="*/ 28 h 28"/>
                <a:gd name="T80" fmla="*/ 15 w 29"/>
                <a:gd name="T81" fmla="*/ 28 h 28"/>
                <a:gd name="T82" fmla="*/ 15 w 29"/>
                <a:gd name="T83" fmla="*/ 28 h 2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8"/>
                <a:gd name="T128" fmla="*/ 29 w 29"/>
                <a:gd name="T129" fmla="*/ 28 h 2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8">
                  <a:moveTo>
                    <a:pt x="15" y="28"/>
                  </a:moveTo>
                  <a:lnTo>
                    <a:pt x="17" y="28"/>
                  </a:lnTo>
                  <a:lnTo>
                    <a:pt x="19" y="28"/>
                  </a:lnTo>
                  <a:lnTo>
                    <a:pt x="22" y="28"/>
                  </a:lnTo>
                  <a:lnTo>
                    <a:pt x="24" y="26"/>
                  </a:lnTo>
                  <a:lnTo>
                    <a:pt x="26" y="23"/>
                  </a:lnTo>
                  <a:lnTo>
                    <a:pt x="26" y="21"/>
                  </a:lnTo>
                  <a:lnTo>
                    <a:pt x="29" y="18"/>
                  </a:lnTo>
                  <a:lnTo>
                    <a:pt x="29" y="16"/>
                  </a:lnTo>
                  <a:lnTo>
                    <a:pt x="29" y="14"/>
                  </a:lnTo>
                  <a:lnTo>
                    <a:pt x="29" y="11"/>
                  </a:lnTo>
                  <a:lnTo>
                    <a:pt x="29" y="9"/>
                  </a:lnTo>
                  <a:lnTo>
                    <a:pt x="26" y="7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2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5" y="2"/>
                  </a:lnTo>
                  <a:lnTo>
                    <a:pt x="5" y="4"/>
                  </a:lnTo>
                  <a:lnTo>
                    <a:pt x="3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5" y="26"/>
                  </a:lnTo>
                  <a:lnTo>
                    <a:pt x="8" y="28"/>
                  </a:lnTo>
                  <a:lnTo>
                    <a:pt x="10" y="28"/>
                  </a:lnTo>
                  <a:lnTo>
                    <a:pt x="12" y="28"/>
                  </a:lnTo>
                  <a:lnTo>
                    <a:pt x="15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3" name="Rectangle 437"/>
            <p:cNvSpPr>
              <a:spLocks noChangeArrowheads="1"/>
            </p:cNvSpPr>
            <p:nvPr/>
          </p:nvSpPr>
          <p:spPr bwMode="auto">
            <a:xfrm>
              <a:off x="3563" y="2481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284" name="Rectangle 438"/>
            <p:cNvSpPr>
              <a:spLocks noChangeArrowheads="1"/>
            </p:cNvSpPr>
            <p:nvPr/>
          </p:nvSpPr>
          <p:spPr bwMode="auto">
            <a:xfrm>
              <a:off x="3612" y="248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5" name="Rectangle 439"/>
            <p:cNvSpPr>
              <a:spLocks noChangeArrowheads="1"/>
            </p:cNvSpPr>
            <p:nvPr/>
          </p:nvSpPr>
          <p:spPr bwMode="auto">
            <a:xfrm>
              <a:off x="3574" y="254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286" name="Rectangle 440"/>
            <p:cNvSpPr>
              <a:spLocks noChangeArrowheads="1"/>
            </p:cNvSpPr>
            <p:nvPr/>
          </p:nvSpPr>
          <p:spPr bwMode="auto">
            <a:xfrm>
              <a:off x="3605" y="254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87" name="Rectangle 441"/>
            <p:cNvSpPr>
              <a:spLocks noChangeArrowheads="1"/>
            </p:cNvSpPr>
            <p:nvPr/>
          </p:nvSpPr>
          <p:spPr bwMode="auto">
            <a:xfrm>
              <a:off x="3574" y="2600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2288" name="Rectangle 442"/>
            <p:cNvSpPr>
              <a:spLocks noChangeArrowheads="1"/>
            </p:cNvSpPr>
            <p:nvPr/>
          </p:nvSpPr>
          <p:spPr bwMode="auto">
            <a:xfrm>
              <a:off x="3555" y="267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289" name="Line 443"/>
            <p:cNvSpPr>
              <a:spLocks noChangeShapeType="1"/>
            </p:cNvSpPr>
            <p:nvPr/>
          </p:nvSpPr>
          <p:spPr bwMode="auto">
            <a:xfrm flipH="1">
              <a:off x="3182" y="2225"/>
              <a:ext cx="571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" name="Freeform 444"/>
            <p:cNvSpPr>
              <a:spLocks noChangeArrowheads="1"/>
            </p:cNvSpPr>
            <p:nvPr/>
          </p:nvSpPr>
          <p:spPr bwMode="auto">
            <a:xfrm>
              <a:off x="3775" y="2104"/>
              <a:ext cx="365" cy="590"/>
            </a:xfrm>
            <a:custGeom>
              <a:avLst/>
              <a:gdLst>
                <a:gd name="T0" fmla="*/ 0 w 365"/>
                <a:gd name="T1" fmla="*/ 0 h 590"/>
                <a:gd name="T2" fmla="*/ 0 w 365"/>
                <a:gd name="T3" fmla="*/ 239 h 590"/>
                <a:gd name="T4" fmla="*/ 62 w 365"/>
                <a:gd name="T5" fmla="*/ 296 h 590"/>
                <a:gd name="T6" fmla="*/ 0 w 365"/>
                <a:gd name="T7" fmla="*/ 353 h 590"/>
                <a:gd name="T8" fmla="*/ 0 w 365"/>
                <a:gd name="T9" fmla="*/ 590 h 590"/>
                <a:gd name="T10" fmla="*/ 365 w 365"/>
                <a:gd name="T11" fmla="*/ 410 h 590"/>
                <a:gd name="T12" fmla="*/ 365 w 365"/>
                <a:gd name="T13" fmla="*/ 183 h 590"/>
                <a:gd name="T14" fmla="*/ 0 w 365"/>
                <a:gd name="T15" fmla="*/ 3 h 590"/>
                <a:gd name="T16" fmla="*/ 0 w 365"/>
                <a:gd name="T17" fmla="*/ 3 h 590"/>
                <a:gd name="T18" fmla="*/ 0 w 365"/>
                <a:gd name="T19" fmla="*/ 0 h 5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5"/>
                <a:gd name="T31" fmla="*/ 0 h 590"/>
                <a:gd name="T32" fmla="*/ 365 w 365"/>
                <a:gd name="T33" fmla="*/ 590 h 59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5" h="590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3"/>
                  </a:lnTo>
                  <a:lnTo>
                    <a:pt x="0" y="590"/>
                  </a:lnTo>
                  <a:lnTo>
                    <a:pt x="365" y="410"/>
                  </a:lnTo>
                  <a:lnTo>
                    <a:pt x="365" y="183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1" name="Freeform 445"/>
            <p:cNvSpPr>
              <a:spLocks noChangeArrowheads="1"/>
            </p:cNvSpPr>
            <p:nvPr/>
          </p:nvSpPr>
          <p:spPr bwMode="auto">
            <a:xfrm>
              <a:off x="3775" y="2104"/>
              <a:ext cx="365" cy="590"/>
            </a:xfrm>
            <a:custGeom>
              <a:avLst/>
              <a:gdLst>
                <a:gd name="T0" fmla="*/ 0 w 365"/>
                <a:gd name="T1" fmla="*/ 0 h 590"/>
                <a:gd name="T2" fmla="*/ 0 w 365"/>
                <a:gd name="T3" fmla="*/ 239 h 590"/>
                <a:gd name="T4" fmla="*/ 62 w 365"/>
                <a:gd name="T5" fmla="*/ 296 h 590"/>
                <a:gd name="T6" fmla="*/ 0 w 365"/>
                <a:gd name="T7" fmla="*/ 353 h 590"/>
                <a:gd name="T8" fmla="*/ 0 w 365"/>
                <a:gd name="T9" fmla="*/ 590 h 590"/>
                <a:gd name="T10" fmla="*/ 365 w 365"/>
                <a:gd name="T11" fmla="*/ 410 h 590"/>
                <a:gd name="T12" fmla="*/ 365 w 365"/>
                <a:gd name="T13" fmla="*/ 183 h 590"/>
                <a:gd name="T14" fmla="*/ 0 w 365"/>
                <a:gd name="T15" fmla="*/ 3 h 590"/>
                <a:gd name="T16" fmla="*/ 0 w 365"/>
                <a:gd name="T17" fmla="*/ 3 h 5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5"/>
                <a:gd name="T28" fmla="*/ 0 h 590"/>
                <a:gd name="T29" fmla="*/ 365 w 365"/>
                <a:gd name="T30" fmla="*/ 590 h 5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5" h="590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3"/>
                  </a:lnTo>
                  <a:lnTo>
                    <a:pt x="0" y="590"/>
                  </a:lnTo>
                  <a:lnTo>
                    <a:pt x="365" y="410"/>
                  </a:lnTo>
                  <a:lnTo>
                    <a:pt x="365" y="183"/>
                  </a:lnTo>
                  <a:lnTo>
                    <a:pt x="0" y="3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2" name="Rectangle 446"/>
            <p:cNvSpPr>
              <a:spLocks noChangeArrowheads="1"/>
            </p:cNvSpPr>
            <p:nvPr/>
          </p:nvSpPr>
          <p:spPr bwMode="auto">
            <a:xfrm>
              <a:off x="4019" y="2382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293" name="Rectangle 447"/>
            <p:cNvSpPr>
              <a:spLocks noChangeArrowheads="1"/>
            </p:cNvSpPr>
            <p:nvPr/>
          </p:nvSpPr>
          <p:spPr bwMode="auto">
            <a:xfrm>
              <a:off x="4057" y="23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2294" name="Rectangle 448"/>
            <p:cNvSpPr>
              <a:spLocks noChangeArrowheads="1"/>
            </p:cNvSpPr>
            <p:nvPr/>
          </p:nvSpPr>
          <p:spPr bwMode="auto">
            <a:xfrm>
              <a:off x="4090" y="2382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295" name="Rectangle 449"/>
            <p:cNvSpPr>
              <a:spLocks noChangeArrowheads="1"/>
            </p:cNvSpPr>
            <p:nvPr/>
          </p:nvSpPr>
          <p:spPr bwMode="auto">
            <a:xfrm>
              <a:off x="4133" y="2382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96" name="Rectangle 450"/>
            <p:cNvSpPr>
              <a:spLocks noChangeArrowheads="1"/>
            </p:cNvSpPr>
            <p:nvPr/>
          </p:nvSpPr>
          <p:spPr bwMode="auto">
            <a:xfrm>
              <a:off x="3972" y="244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297" name="Rectangle 451"/>
            <p:cNvSpPr>
              <a:spLocks noChangeArrowheads="1"/>
            </p:cNvSpPr>
            <p:nvPr/>
          </p:nvSpPr>
          <p:spPr bwMode="auto">
            <a:xfrm>
              <a:off x="3993" y="244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298" name="Rectangle 452"/>
            <p:cNvSpPr>
              <a:spLocks noChangeArrowheads="1"/>
            </p:cNvSpPr>
            <p:nvPr/>
          </p:nvSpPr>
          <p:spPr bwMode="auto">
            <a:xfrm>
              <a:off x="4024" y="244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299" name="Rectangle 453"/>
            <p:cNvSpPr>
              <a:spLocks noChangeArrowheads="1"/>
            </p:cNvSpPr>
            <p:nvPr/>
          </p:nvSpPr>
          <p:spPr bwMode="auto">
            <a:xfrm>
              <a:off x="4055" y="244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300" name="Rectangle 454"/>
            <p:cNvSpPr>
              <a:spLocks noChangeArrowheads="1"/>
            </p:cNvSpPr>
            <p:nvPr/>
          </p:nvSpPr>
          <p:spPr bwMode="auto">
            <a:xfrm>
              <a:off x="4086" y="2441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2301" name="Rectangle 455"/>
            <p:cNvSpPr>
              <a:spLocks noChangeArrowheads="1"/>
            </p:cNvSpPr>
            <p:nvPr/>
          </p:nvSpPr>
          <p:spPr bwMode="auto">
            <a:xfrm>
              <a:off x="4100" y="244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302" name="Rectangle 456"/>
            <p:cNvSpPr>
              <a:spLocks noChangeArrowheads="1"/>
            </p:cNvSpPr>
            <p:nvPr/>
          </p:nvSpPr>
          <p:spPr bwMode="auto">
            <a:xfrm>
              <a:off x="4005" y="2289"/>
              <a:ext cx="3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Z</a:t>
              </a:r>
            </a:p>
          </p:txBody>
        </p:sp>
        <p:sp>
          <p:nvSpPr>
            <p:cNvPr id="2303" name="Rectangle 457"/>
            <p:cNvSpPr>
              <a:spLocks noChangeArrowheads="1"/>
            </p:cNvSpPr>
            <p:nvPr/>
          </p:nvSpPr>
          <p:spPr bwMode="auto">
            <a:xfrm>
              <a:off x="4041" y="228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304" name="Rectangle 458"/>
            <p:cNvSpPr>
              <a:spLocks noChangeArrowheads="1"/>
            </p:cNvSpPr>
            <p:nvPr/>
          </p:nvSpPr>
          <p:spPr bwMode="auto">
            <a:xfrm>
              <a:off x="4071" y="2289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305" name="Rectangle 459"/>
            <p:cNvSpPr>
              <a:spLocks noChangeArrowheads="1"/>
            </p:cNvSpPr>
            <p:nvPr/>
          </p:nvSpPr>
          <p:spPr bwMode="auto">
            <a:xfrm>
              <a:off x="4093" y="228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306" name="Rectangle 460"/>
            <p:cNvSpPr>
              <a:spLocks noChangeArrowheads="1"/>
            </p:cNvSpPr>
            <p:nvPr/>
          </p:nvSpPr>
          <p:spPr bwMode="auto">
            <a:xfrm>
              <a:off x="4656" y="12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2307" name="Rectangle 461"/>
            <p:cNvSpPr>
              <a:spLocks noChangeArrowheads="1"/>
            </p:cNvSpPr>
            <p:nvPr/>
          </p:nvSpPr>
          <p:spPr bwMode="auto">
            <a:xfrm>
              <a:off x="4694" y="1250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308" name="Rectangle 462"/>
            <p:cNvSpPr>
              <a:spLocks noChangeArrowheads="1"/>
            </p:cNvSpPr>
            <p:nvPr/>
          </p:nvSpPr>
          <p:spPr bwMode="auto">
            <a:xfrm>
              <a:off x="4737" y="12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309" name="Rectangle 463"/>
            <p:cNvSpPr>
              <a:spLocks noChangeArrowheads="1"/>
            </p:cNvSpPr>
            <p:nvPr/>
          </p:nvSpPr>
          <p:spPr bwMode="auto">
            <a:xfrm>
              <a:off x="4777" y="1250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310" name="Rectangle 464"/>
            <p:cNvSpPr>
              <a:spLocks noChangeArrowheads="1"/>
            </p:cNvSpPr>
            <p:nvPr/>
          </p:nvSpPr>
          <p:spPr bwMode="auto">
            <a:xfrm>
              <a:off x="4796" y="1250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311" name="Rectangle 465"/>
            <p:cNvSpPr>
              <a:spLocks noChangeArrowheads="1"/>
            </p:cNvSpPr>
            <p:nvPr/>
          </p:nvSpPr>
          <p:spPr bwMode="auto">
            <a:xfrm>
              <a:off x="4746" y="2626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312" name="Rectangle 466"/>
            <p:cNvSpPr>
              <a:spLocks noChangeArrowheads="1"/>
            </p:cNvSpPr>
            <p:nvPr/>
          </p:nvSpPr>
          <p:spPr bwMode="auto">
            <a:xfrm>
              <a:off x="4789" y="262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313" name="Rectangle 467"/>
            <p:cNvSpPr>
              <a:spLocks noChangeArrowheads="1"/>
            </p:cNvSpPr>
            <p:nvPr/>
          </p:nvSpPr>
          <p:spPr bwMode="auto">
            <a:xfrm>
              <a:off x="4822" y="262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314" name="Rectangle 468"/>
            <p:cNvSpPr>
              <a:spLocks noChangeArrowheads="1"/>
            </p:cNvSpPr>
            <p:nvPr/>
          </p:nvSpPr>
          <p:spPr bwMode="auto">
            <a:xfrm>
              <a:off x="4839" y="262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315" name="Rectangle 469"/>
            <p:cNvSpPr>
              <a:spLocks noChangeArrowheads="1"/>
            </p:cNvSpPr>
            <p:nvPr/>
          </p:nvSpPr>
          <p:spPr bwMode="auto">
            <a:xfrm>
              <a:off x="4872" y="2626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16" name="Rectangle 470"/>
            <p:cNvSpPr>
              <a:spLocks noChangeArrowheads="1"/>
            </p:cNvSpPr>
            <p:nvPr/>
          </p:nvSpPr>
          <p:spPr bwMode="auto">
            <a:xfrm>
              <a:off x="4706" y="2694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317" name="Rectangle 471"/>
            <p:cNvSpPr>
              <a:spLocks noChangeArrowheads="1"/>
            </p:cNvSpPr>
            <p:nvPr/>
          </p:nvSpPr>
          <p:spPr bwMode="auto">
            <a:xfrm>
              <a:off x="4753" y="26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318" name="Rectangle 472"/>
            <p:cNvSpPr>
              <a:spLocks noChangeArrowheads="1"/>
            </p:cNvSpPr>
            <p:nvPr/>
          </p:nvSpPr>
          <p:spPr bwMode="auto">
            <a:xfrm>
              <a:off x="4787" y="2694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319" name="Rectangle 473"/>
            <p:cNvSpPr>
              <a:spLocks noChangeArrowheads="1"/>
            </p:cNvSpPr>
            <p:nvPr/>
          </p:nvSpPr>
          <p:spPr bwMode="auto">
            <a:xfrm>
              <a:off x="4836" y="26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320" name="Rectangle 474"/>
            <p:cNvSpPr>
              <a:spLocks noChangeArrowheads="1"/>
            </p:cNvSpPr>
            <p:nvPr/>
          </p:nvSpPr>
          <p:spPr bwMode="auto">
            <a:xfrm>
              <a:off x="4867" y="2694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321" name="Rectangle 475"/>
            <p:cNvSpPr>
              <a:spLocks noChangeArrowheads="1"/>
            </p:cNvSpPr>
            <p:nvPr/>
          </p:nvSpPr>
          <p:spPr bwMode="auto">
            <a:xfrm>
              <a:off x="4889" y="2694"/>
              <a:ext cx="2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2322" name="Rectangle 476"/>
            <p:cNvSpPr>
              <a:spLocks noChangeArrowheads="1"/>
            </p:cNvSpPr>
            <p:nvPr/>
          </p:nvSpPr>
          <p:spPr bwMode="auto">
            <a:xfrm>
              <a:off x="4406" y="2739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2323" name="Rectangle 477"/>
            <p:cNvSpPr>
              <a:spLocks noChangeArrowheads="1"/>
            </p:cNvSpPr>
            <p:nvPr/>
          </p:nvSpPr>
          <p:spPr bwMode="auto">
            <a:xfrm>
              <a:off x="4462" y="2739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324" name="Rectangle 478"/>
            <p:cNvSpPr>
              <a:spLocks noChangeArrowheads="1"/>
            </p:cNvSpPr>
            <p:nvPr/>
          </p:nvSpPr>
          <p:spPr bwMode="auto">
            <a:xfrm>
              <a:off x="4481" y="2739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325" name="Rectangle 479"/>
            <p:cNvSpPr>
              <a:spLocks noChangeArrowheads="1"/>
            </p:cNvSpPr>
            <p:nvPr/>
          </p:nvSpPr>
          <p:spPr bwMode="auto">
            <a:xfrm>
              <a:off x="4495" y="273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326" name="Rectangle 480"/>
            <p:cNvSpPr>
              <a:spLocks noChangeArrowheads="1"/>
            </p:cNvSpPr>
            <p:nvPr/>
          </p:nvSpPr>
          <p:spPr bwMode="auto">
            <a:xfrm>
              <a:off x="4510" y="27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327" name="Rectangle 481"/>
            <p:cNvSpPr>
              <a:spLocks noChangeArrowheads="1"/>
            </p:cNvSpPr>
            <p:nvPr/>
          </p:nvSpPr>
          <p:spPr bwMode="auto">
            <a:xfrm>
              <a:off x="4543" y="273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28" name="Rectangle 482"/>
            <p:cNvSpPr>
              <a:spLocks noChangeArrowheads="1"/>
            </p:cNvSpPr>
            <p:nvPr/>
          </p:nvSpPr>
          <p:spPr bwMode="auto">
            <a:xfrm>
              <a:off x="4408" y="279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329" name="Rectangle 483"/>
            <p:cNvSpPr>
              <a:spLocks noChangeArrowheads="1"/>
            </p:cNvSpPr>
            <p:nvPr/>
          </p:nvSpPr>
          <p:spPr bwMode="auto">
            <a:xfrm>
              <a:off x="4439" y="279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330" name="Rectangle 484"/>
            <p:cNvSpPr>
              <a:spLocks noChangeArrowheads="1"/>
            </p:cNvSpPr>
            <p:nvPr/>
          </p:nvSpPr>
          <p:spPr bwMode="auto">
            <a:xfrm>
              <a:off x="4472" y="279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331" name="Rectangle 485"/>
            <p:cNvSpPr>
              <a:spLocks noChangeArrowheads="1"/>
            </p:cNvSpPr>
            <p:nvPr/>
          </p:nvSpPr>
          <p:spPr bwMode="auto">
            <a:xfrm>
              <a:off x="4488" y="279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332" name="Rectangle 486"/>
            <p:cNvSpPr>
              <a:spLocks noChangeArrowheads="1"/>
            </p:cNvSpPr>
            <p:nvPr/>
          </p:nvSpPr>
          <p:spPr bwMode="auto">
            <a:xfrm>
              <a:off x="4881" y="2413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333" name="Rectangle 487"/>
            <p:cNvSpPr>
              <a:spLocks noChangeArrowheads="1"/>
            </p:cNvSpPr>
            <p:nvPr/>
          </p:nvSpPr>
          <p:spPr bwMode="auto">
            <a:xfrm>
              <a:off x="4924" y="24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334" name="Rectangle 488"/>
            <p:cNvSpPr>
              <a:spLocks noChangeArrowheads="1"/>
            </p:cNvSpPr>
            <p:nvPr/>
          </p:nvSpPr>
          <p:spPr bwMode="auto">
            <a:xfrm>
              <a:off x="4957" y="24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335" name="Rectangle 489"/>
            <p:cNvSpPr>
              <a:spLocks noChangeArrowheads="1"/>
            </p:cNvSpPr>
            <p:nvPr/>
          </p:nvSpPr>
          <p:spPr bwMode="auto">
            <a:xfrm>
              <a:off x="4988" y="24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336" name="Rectangle 490"/>
            <p:cNvSpPr>
              <a:spLocks noChangeArrowheads="1"/>
            </p:cNvSpPr>
            <p:nvPr/>
          </p:nvSpPr>
          <p:spPr bwMode="auto">
            <a:xfrm>
              <a:off x="5021" y="2413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37" name="Rectangle 491"/>
            <p:cNvSpPr>
              <a:spLocks noChangeArrowheads="1"/>
            </p:cNvSpPr>
            <p:nvPr/>
          </p:nvSpPr>
          <p:spPr bwMode="auto">
            <a:xfrm>
              <a:off x="4900" y="24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338" name="Rectangle 492"/>
            <p:cNvSpPr>
              <a:spLocks noChangeArrowheads="1"/>
            </p:cNvSpPr>
            <p:nvPr/>
          </p:nvSpPr>
          <p:spPr bwMode="auto">
            <a:xfrm>
              <a:off x="4931" y="24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339" name="Rectangle 493"/>
            <p:cNvSpPr>
              <a:spLocks noChangeArrowheads="1"/>
            </p:cNvSpPr>
            <p:nvPr/>
          </p:nvSpPr>
          <p:spPr bwMode="auto">
            <a:xfrm>
              <a:off x="4964" y="246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340" name="Rectangle 494"/>
            <p:cNvSpPr>
              <a:spLocks noChangeArrowheads="1"/>
            </p:cNvSpPr>
            <p:nvPr/>
          </p:nvSpPr>
          <p:spPr bwMode="auto">
            <a:xfrm>
              <a:off x="4981" y="24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341" name="Rectangle 495"/>
            <p:cNvSpPr>
              <a:spLocks noChangeArrowheads="1"/>
            </p:cNvSpPr>
            <p:nvPr/>
          </p:nvSpPr>
          <p:spPr bwMode="auto">
            <a:xfrm>
              <a:off x="5200" y="2514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342" name="Rectangle 496"/>
            <p:cNvSpPr>
              <a:spLocks noChangeArrowheads="1"/>
            </p:cNvSpPr>
            <p:nvPr/>
          </p:nvSpPr>
          <p:spPr bwMode="auto">
            <a:xfrm>
              <a:off x="5246" y="251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3" name="Rectangle 497"/>
            <p:cNvSpPr>
              <a:spLocks noChangeArrowheads="1"/>
            </p:cNvSpPr>
            <p:nvPr/>
          </p:nvSpPr>
          <p:spPr bwMode="auto">
            <a:xfrm>
              <a:off x="5208" y="257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344" name="Rectangle 498"/>
            <p:cNvSpPr>
              <a:spLocks noChangeArrowheads="1"/>
            </p:cNvSpPr>
            <p:nvPr/>
          </p:nvSpPr>
          <p:spPr bwMode="auto">
            <a:xfrm>
              <a:off x="5241" y="257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45" name="Rectangle 499"/>
            <p:cNvSpPr>
              <a:spLocks noChangeArrowheads="1"/>
            </p:cNvSpPr>
            <p:nvPr/>
          </p:nvSpPr>
          <p:spPr bwMode="auto">
            <a:xfrm>
              <a:off x="5208" y="2630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2346" name="Rectangle 500"/>
            <p:cNvSpPr>
              <a:spLocks noChangeArrowheads="1"/>
            </p:cNvSpPr>
            <p:nvPr/>
          </p:nvSpPr>
          <p:spPr bwMode="auto">
            <a:xfrm>
              <a:off x="5192" y="244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347" name="Line 501"/>
            <p:cNvSpPr>
              <a:spLocks noChangeShapeType="1"/>
            </p:cNvSpPr>
            <p:nvPr/>
          </p:nvSpPr>
          <p:spPr bwMode="auto">
            <a:xfrm flipH="1">
              <a:off x="1634" y="2310"/>
              <a:ext cx="475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48" name="Rectangle 502"/>
            <p:cNvSpPr>
              <a:spLocks noChangeArrowheads="1"/>
            </p:cNvSpPr>
            <p:nvPr/>
          </p:nvSpPr>
          <p:spPr bwMode="auto">
            <a:xfrm>
              <a:off x="1662" y="2578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349" name="Rectangle 503"/>
            <p:cNvSpPr>
              <a:spLocks noChangeArrowheads="1"/>
            </p:cNvSpPr>
            <p:nvPr/>
          </p:nvSpPr>
          <p:spPr bwMode="auto">
            <a:xfrm>
              <a:off x="1677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350" name="Rectangle 504"/>
            <p:cNvSpPr>
              <a:spLocks noChangeArrowheads="1"/>
            </p:cNvSpPr>
            <p:nvPr/>
          </p:nvSpPr>
          <p:spPr bwMode="auto">
            <a:xfrm>
              <a:off x="1710" y="257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351" name="Rectangle 505"/>
            <p:cNvSpPr>
              <a:spLocks noChangeArrowheads="1"/>
            </p:cNvSpPr>
            <p:nvPr/>
          </p:nvSpPr>
          <p:spPr bwMode="auto">
            <a:xfrm>
              <a:off x="1739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352" name="Rectangle 506"/>
            <p:cNvSpPr>
              <a:spLocks noChangeArrowheads="1"/>
            </p:cNvSpPr>
            <p:nvPr/>
          </p:nvSpPr>
          <p:spPr bwMode="auto">
            <a:xfrm>
              <a:off x="1755" y="257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353" name="Rectangle 507"/>
            <p:cNvSpPr>
              <a:spLocks noChangeArrowheads="1"/>
            </p:cNvSpPr>
            <p:nvPr/>
          </p:nvSpPr>
          <p:spPr bwMode="auto">
            <a:xfrm>
              <a:off x="1774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354" name="Rectangle 508"/>
            <p:cNvSpPr>
              <a:spLocks noChangeArrowheads="1"/>
            </p:cNvSpPr>
            <p:nvPr/>
          </p:nvSpPr>
          <p:spPr bwMode="auto">
            <a:xfrm>
              <a:off x="1808" y="257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355" name="Rectangle 509"/>
            <p:cNvSpPr>
              <a:spLocks noChangeArrowheads="1"/>
            </p:cNvSpPr>
            <p:nvPr/>
          </p:nvSpPr>
          <p:spPr bwMode="auto">
            <a:xfrm>
              <a:off x="1836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356" name="Rectangle 510"/>
            <p:cNvSpPr>
              <a:spLocks noChangeArrowheads="1"/>
            </p:cNvSpPr>
            <p:nvPr/>
          </p:nvSpPr>
          <p:spPr bwMode="auto">
            <a:xfrm>
              <a:off x="1852" y="2578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357" name="Rectangle 511"/>
            <p:cNvSpPr>
              <a:spLocks noChangeArrowheads="1"/>
            </p:cNvSpPr>
            <p:nvPr/>
          </p:nvSpPr>
          <p:spPr bwMode="auto">
            <a:xfrm>
              <a:off x="1867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358" name="Rectangle 512"/>
            <p:cNvSpPr>
              <a:spLocks noChangeArrowheads="1"/>
            </p:cNvSpPr>
            <p:nvPr/>
          </p:nvSpPr>
          <p:spPr bwMode="auto">
            <a:xfrm>
              <a:off x="1898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359" name="Rectangle 513"/>
            <p:cNvSpPr>
              <a:spLocks noChangeArrowheads="1"/>
            </p:cNvSpPr>
            <p:nvPr/>
          </p:nvSpPr>
          <p:spPr bwMode="auto">
            <a:xfrm>
              <a:off x="1931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360" name="Rectangle 514"/>
            <p:cNvSpPr>
              <a:spLocks noChangeArrowheads="1"/>
            </p:cNvSpPr>
            <p:nvPr/>
          </p:nvSpPr>
          <p:spPr bwMode="auto">
            <a:xfrm>
              <a:off x="1947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2361" name="Rectangle 515"/>
            <p:cNvSpPr>
              <a:spLocks noChangeArrowheads="1"/>
            </p:cNvSpPr>
            <p:nvPr/>
          </p:nvSpPr>
          <p:spPr bwMode="auto">
            <a:xfrm>
              <a:off x="1964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362" name="Rectangle 516"/>
            <p:cNvSpPr>
              <a:spLocks noChangeArrowheads="1"/>
            </p:cNvSpPr>
            <p:nvPr/>
          </p:nvSpPr>
          <p:spPr bwMode="auto">
            <a:xfrm>
              <a:off x="1995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2363" name="Rectangle 517"/>
            <p:cNvSpPr>
              <a:spLocks noChangeArrowheads="1"/>
            </p:cNvSpPr>
            <p:nvPr/>
          </p:nvSpPr>
          <p:spPr bwMode="auto">
            <a:xfrm>
              <a:off x="2028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364" name="Rectangle 518"/>
            <p:cNvSpPr>
              <a:spLocks noChangeArrowheads="1"/>
            </p:cNvSpPr>
            <p:nvPr/>
          </p:nvSpPr>
          <p:spPr bwMode="auto">
            <a:xfrm>
              <a:off x="2044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365" name="Rectangle 519"/>
            <p:cNvSpPr>
              <a:spLocks noChangeArrowheads="1"/>
            </p:cNvSpPr>
            <p:nvPr/>
          </p:nvSpPr>
          <p:spPr bwMode="auto">
            <a:xfrm>
              <a:off x="2061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366" name="Rectangle 520"/>
            <p:cNvSpPr>
              <a:spLocks noChangeArrowheads="1"/>
            </p:cNvSpPr>
            <p:nvPr/>
          </p:nvSpPr>
          <p:spPr bwMode="auto">
            <a:xfrm>
              <a:off x="2094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367" name="Rectangle 521"/>
            <p:cNvSpPr>
              <a:spLocks noChangeArrowheads="1"/>
            </p:cNvSpPr>
            <p:nvPr/>
          </p:nvSpPr>
          <p:spPr bwMode="auto">
            <a:xfrm>
              <a:off x="2125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2368" name="Line 522"/>
            <p:cNvSpPr>
              <a:spLocks noChangeShapeType="1"/>
            </p:cNvSpPr>
            <p:nvPr/>
          </p:nvSpPr>
          <p:spPr bwMode="auto">
            <a:xfrm flipH="1">
              <a:off x="3182" y="2443"/>
              <a:ext cx="334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" name="Line 523"/>
            <p:cNvSpPr>
              <a:spLocks noChangeShapeType="1"/>
            </p:cNvSpPr>
            <p:nvPr/>
          </p:nvSpPr>
          <p:spPr bwMode="auto">
            <a:xfrm flipH="1">
              <a:off x="4139" y="2474"/>
              <a:ext cx="90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" name="Freeform 524"/>
            <p:cNvSpPr>
              <a:spLocks noChangeArrowheads="1"/>
            </p:cNvSpPr>
            <p:nvPr/>
          </p:nvSpPr>
          <p:spPr bwMode="auto">
            <a:xfrm>
              <a:off x="4228" y="2476"/>
              <a:ext cx="921" cy="497"/>
            </a:xfrm>
            <a:custGeom>
              <a:avLst/>
              <a:gdLst>
                <a:gd name="T0" fmla="*/ 921 w 921"/>
                <a:gd name="T1" fmla="*/ 261 h 497"/>
                <a:gd name="T2" fmla="*/ 855 w 921"/>
                <a:gd name="T3" fmla="*/ 261 h 497"/>
                <a:gd name="T4" fmla="*/ 855 w 921"/>
                <a:gd name="T5" fmla="*/ 497 h 497"/>
                <a:gd name="T6" fmla="*/ 0 w 921"/>
                <a:gd name="T7" fmla="*/ 497 h 497"/>
                <a:gd name="T8" fmla="*/ 0 w 921"/>
                <a:gd name="T9" fmla="*/ 0 h 4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21"/>
                <a:gd name="T16" fmla="*/ 0 h 497"/>
                <a:gd name="T17" fmla="*/ 921 w 921"/>
                <a:gd name="T18" fmla="*/ 497 h 4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21" h="497">
                  <a:moveTo>
                    <a:pt x="921" y="261"/>
                  </a:moveTo>
                  <a:lnTo>
                    <a:pt x="855" y="261"/>
                  </a:lnTo>
                  <a:lnTo>
                    <a:pt x="855" y="497"/>
                  </a:lnTo>
                  <a:lnTo>
                    <a:pt x="0" y="497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1" name="Freeform 525"/>
            <p:cNvSpPr>
              <a:spLocks noChangeArrowheads="1"/>
            </p:cNvSpPr>
            <p:nvPr/>
          </p:nvSpPr>
          <p:spPr bwMode="auto">
            <a:xfrm>
              <a:off x="3508" y="1152"/>
              <a:ext cx="180" cy="289"/>
            </a:xfrm>
            <a:custGeom>
              <a:avLst/>
              <a:gdLst>
                <a:gd name="T0" fmla="*/ 90 w 180"/>
                <a:gd name="T1" fmla="*/ 287 h 289"/>
                <a:gd name="T2" fmla="*/ 104 w 180"/>
                <a:gd name="T3" fmla="*/ 287 h 289"/>
                <a:gd name="T4" fmla="*/ 118 w 180"/>
                <a:gd name="T5" fmla="*/ 280 h 289"/>
                <a:gd name="T6" fmla="*/ 132 w 180"/>
                <a:gd name="T7" fmla="*/ 273 h 289"/>
                <a:gd name="T8" fmla="*/ 144 w 180"/>
                <a:gd name="T9" fmla="*/ 261 h 289"/>
                <a:gd name="T10" fmla="*/ 154 w 180"/>
                <a:gd name="T11" fmla="*/ 247 h 289"/>
                <a:gd name="T12" fmla="*/ 163 w 180"/>
                <a:gd name="T13" fmla="*/ 230 h 289"/>
                <a:gd name="T14" fmla="*/ 170 w 180"/>
                <a:gd name="T15" fmla="*/ 211 h 289"/>
                <a:gd name="T16" fmla="*/ 175 w 180"/>
                <a:gd name="T17" fmla="*/ 190 h 289"/>
                <a:gd name="T18" fmla="*/ 180 w 180"/>
                <a:gd name="T19" fmla="*/ 169 h 289"/>
                <a:gd name="T20" fmla="*/ 180 w 180"/>
                <a:gd name="T21" fmla="*/ 145 h 289"/>
                <a:gd name="T22" fmla="*/ 180 w 180"/>
                <a:gd name="T23" fmla="*/ 121 h 289"/>
                <a:gd name="T24" fmla="*/ 175 w 180"/>
                <a:gd name="T25" fmla="*/ 100 h 289"/>
                <a:gd name="T26" fmla="*/ 170 w 180"/>
                <a:gd name="T27" fmla="*/ 79 h 289"/>
                <a:gd name="T28" fmla="*/ 163 w 180"/>
                <a:gd name="T29" fmla="*/ 60 h 289"/>
                <a:gd name="T30" fmla="*/ 154 w 180"/>
                <a:gd name="T31" fmla="*/ 43 h 289"/>
                <a:gd name="T32" fmla="*/ 144 w 180"/>
                <a:gd name="T33" fmla="*/ 29 h 289"/>
                <a:gd name="T34" fmla="*/ 132 w 180"/>
                <a:gd name="T35" fmla="*/ 17 h 289"/>
                <a:gd name="T36" fmla="*/ 118 w 180"/>
                <a:gd name="T37" fmla="*/ 8 h 289"/>
                <a:gd name="T38" fmla="*/ 104 w 180"/>
                <a:gd name="T39" fmla="*/ 3 h 289"/>
                <a:gd name="T40" fmla="*/ 90 w 180"/>
                <a:gd name="T41" fmla="*/ 0 h 289"/>
                <a:gd name="T42" fmla="*/ 76 w 180"/>
                <a:gd name="T43" fmla="*/ 3 h 289"/>
                <a:gd name="T44" fmla="*/ 61 w 180"/>
                <a:gd name="T45" fmla="*/ 8 h 289"/>
                <a:gd name="T46" fmla="*/ 50 w 180"/>
                <a:gd name="T47" fmla="*/ 17 h 289"/>
                <a:gd name="T48" fmla="*/ 38 w 180"/>
                <a:gd name="T49" fmla="*/ 29 h 289"/>
                <a:gd name="T50" fmla="*/ 26 w 180"/>
                <a:gd name="T51" fmla="*/ 43 h 289"/>
                <a:gd name="T52" fmla="*/ 16 w 180"/>
                <a:gd name="T53" fmla="*/ 60 h 289"/>
                <a:gd name="T54" fmla="*/ 9 w 180"/>
                <a:gd name="T55" fmla="*/ 79 h 289"/>
                <a:gd name="T56" fmla="*/ 5 w 180"/>
                <a:gd name="T57" fmla="*/ 100 h 289"/>
                <a:gd name="T58" fmla="*/ 2 w 180"/>
                <a:gd name="T59" fmla="*/ 121 h 289"/>
                <a:gd name="T60" fmla="*/ 0 w 180"/>
                <a:gd name="T61" fmla="*/ 145 h 289"/>
                <a:gd name="T62" fmla="*/ 2 w 180"/>
                <a:gd name="T63" fmla="*/ 169 h 289"/>
                <a:gd name="T64" fmla="*/ 5 w 180"/>
                <a:gd name="T65" fmla="*/ 190 h 289"/>
                <a:gd name="T66" fmla="*/ 9 w 180"/>
                <a:gd name="T67" fmla="*/ 211 h 289"/>
                <a:gd name="T68" fmla="*/ 16 w 180"/>
                <a:gd name="T69" fmla="*/ 230 h 289"/>
                <a:gd name="T70" fmla="*/ 26 w 180"/>
                <a:gd name="T71" fmla="*/ 247 h 289"/>
                <a:gd name="T72" fmla="*/ 38 w 180"/>
                <a:gd name="T73" fmla="*/ 261 h 289"/>
                <a:gd name="T74" fmla="*/ 50 w 180"/>
                <a:gd name="T75" fmla="*/ 273 h 289"/>
                <a:gd name="T76" fmla="*/ 61 w 180"/>
                <a:gd name="T77" fmla="*/ 280 h 289"/>
                <a:gd name="T78" fmla="*/ 76 w 180"/>
                <a:gd name="T79" fmla="*/ 287 h 289"/>
                <a:gd name="T80" fmla="*/ 90 w 180"/>
                <a:gd name="T81" fmla="*/ 289 h 289"/>
                <a:gd name="T82" fmla="*/ 90 w 180"/>
                <a:gd name="T83" fmla="*/ 289 h 289"/>
                <a:gd name="T84" fmla="*/ 90 w 180"/>
                <a:gd name="T85" fmla="*/ 287 h 28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80"/>
                <a:gd name="T130" fmla="*/ 0 h 289"/>
                <a:gd name="T131" fmla="*/ 180 w 180"/>
                <a:gd name="T132" fmla="*/ 289 h 28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80" h="289">
                  <a:moveTo>
                    <a:pt x="90" y="287"/>
                  </a:moveTo>
                  <a:lnTo>
                    <a:pt x="104" y="287"/>
                  </a:lnTo>
                  <a:lnTo>
                    <a:pt x="118" y="280"/>
                  </a:lnTo>
                  <a:lnTo>
                    <a:pt x="132" y="273"/>
                  </a:lnTo>
                  <a:lnTo>
                    <a:pt x="144" y="261"/>
                  </a:lnTo>
                  <a:lnTo>
                    <a:pt x="154" y="247"/>
                  </a:lnTo>
                  <a:lnTo>
                    <a:pt x="163" y="230"/>
                  </a:lnTo>
                  <a:lnTo>
                    <a:pt x="170" y="211"/>
                  </a:lnTo>
                  <a:lnTo>
                    <a:pt x="175" y="190"/>
                  </a:lnTo>
                  <a:lnTo>
                    <a:pt x="180" y="169"/>
                  </a:lnTo>
                  <a:lnTo>
                    <a:pt x="180" y="145"/>
                  </a:lnTo>
                  <a:lnTo>
                    <a:pt x="180" y="121"/>
                  </a:lnTo>
                  <a:lnTo>
                    <a:pt x="175" y="100"/>
                  </a:lnTo>
                  <a:lnTo>
                    <a:pt x="170" y="79"/>
                  </a:lnTo>
                  <a:lnTo>
                    <a:pt x="163" y="60"/>
                  </a:lnTo>
                  <a:lnTo>
                    <a:pt x="154" y="43"/>
                  </a:lnTo>
                  <a:lnTo>
                    <a:pt x="144" y="29"/>
                  </a:lnTo>
                  <a:lnTo>
                    <a:pt x="132" y="17"/>
                  </a:lnTo>
                  <a:lnTo>
                    <a:pt x="118" y="8"/>
                  </a:lnTo>
                  <a:lnTo>
                    <a:pt x="104" y="3"/>
                  </a:lnTo>
                  <a:lnTo>
                    <a:pt x="90" y="0"/>
                  </a:lnTo>
                  <a:lnTo>
                    <a:pt x="76" y="3"/>
                  </a:lnTo>
                  <a:lnTo>
                    <a:pt x="61" y="8"/>
                  </a:lnTo>
                  <a:lnTo>
                    <a:pt x="50" y="17"/>
                  </a:lnTo>
                  <a:lnTo>
                    <a:pt x="38" y="29"/>
                  </a:lnTo>
                  <a:lnTo>
                    <a:pt x="26" y="43"/>
                  </a:lnTo>
                  <a:lnTo>
                    <a:pt x="16" y="60"/>
                  </a:lnTo>
                  <a:lnTo>
                    <a:pt x="9" y="79"/>
                  </a:lnTo>
                  <a:lnTo>
                    <a:pt x="5" y="100"/>
                  </a:lnTo>
                  <a:lnTo>
                    <a:pt x="2" y="121"/>
                  </a:lnTo>
                  <a:lnTo>
                    <a:pt x="0" y="145"/>
                  </a:lnTo>
                  <a:lnTo>
                    <a:pt x="2" y="169"/>
                  </a:lnTo>
                  <a:lnTo>
                    <a:pt x="5" y="190"/>
                  </a:lnTo>
                  <a:lnTo>
                    <a:pt x="9" y="211"/>
                  </a:lnTo>
                  <a:lnTo>
                    <a:pt x="16" y="230"/>
                  </a:lnTo>
                  <a:lnTo>
                    <a:pt x="26" y="247"/>
                  </a:lnTo>
                  <a:lnTo>
                    <a:pt x="38" y="261"/>
                  </a:lnTo>
                  <a:lnTo>
                    <a:pt x="50" y="273"/>
                  </a:lnTo>
                  <a:lnTo>
                    <a:pt x="61" y="280"/>
                  </a:lnTo>
                  <a:lnTo>
                    <a:pt x="76" y="287"/>
                  </a:lnTo>
                  <a:lnTo>
                    <a:pt x="90" y="289"/>
                  </a:lnTo>
                  <a:lnTo>
                    <a:pt x="90" y="2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2" name="Freeform 526"/>
            <p:cNvSpPr>
              <a:spLocks noChangeArrowheads="1"/>
            </p:cNvSpPr>
            <p:nvPr/>
          </p:nvSpPr>
          <p:spPr bwMode="auto">
            <a:xfrm>
              <a:off x="3508" y="1152"/>
              <a:ext cx="180" cy="289"/>
            </a:xfrm>
            <a:custGeom>
              <a:avLst/>
              <a:gdLst>
                <a:gd name="T0" fmla="*/ 90 w 180"/>
                <a:gd name="T1" fmla="*/ 287 h 289"/>
                <a:gd name="T2" fmla="*/ 104 w 180"/>
                <a:gd name="T3" fmla="*/ 287 h 289"/>
                <a:gd name="T4" fmla="*/ 118 w 180"/>
                <a:gd name="T5" fmla="*/ 280 h 289"/>
                <a:gd name="T6" fmla="*/ 132 w 180"/>
                <a:gd name="T7" fmla="*/ 273 h 289"/>
                <a:gd name="T8" fmla="*/ 144 w 180"/>
                <a:gd name="T9" fmla="*/ 261 h 289"/>
                <a:gd name="T10" fmla="*/ 154 w 180"/>
                <a:gd name="T11" fmla="*/ 247 h 289"/>
                <a:gd name="T12" fmla="*/ 163 w 180"/>
                <a:gd name="T13" fmla="*/ 230 h 289"/>
                <a:gd name="T14" fmla="*/ 170 w 180"/>
                <a:gd name="T15" fmla="*/ 211 h 289"/>
                <a:gd name="T16" fmla="*/ 175 w 180"/>
                <a:gd name="T17" fmla="*/ 190 h 289"/>
                <a:gd name="T18" fmla="*/ 180 w 180"/>
                <a:gd name="T19" fmla="*/ 169 h 289"/>
                <a:gd name="T20" fmla="*/ 180 w 180"/>
                <a:gd name="T21" fmla="*/ 145 h 289"/>
                <a:gd name="T22" fmla="*/ 180 w 180"/>
                <a:gd name="T23" fmla="*/ 121 h 289"/>
                <a:gd name="T24" fmla="*/ 175 w 180"/>
                <a:gd name="T25" fmla="*/ 100 h 289"/>
                <a:gd name="T26" fmla="*/ 170 w 180"/>
                <a:gd name="T27" fmla="*/ 79 h 289"/>
                <a:gd name="T28" fmla="*/ 163 w 180"/>
                <a:gd name="T29" fmla="*/ 60 h 289"/>
                <a:gd name="T30" fmla="*/ 154 w 180"/>
                <a:gd name="T31" fmla="*/ 43 h 289"/>
                <a:gd name="T32" fmla="*/ 144 w 180"/>
                <a:gd name="T33" fmla="*/ 29 h 289"/>
                <a:gd name="T34" fmla="*/ 132 w 180"/>
                <a:gd name="T35" fmla="*/ 17 h 289"/>
                <a:gd name="T36" fmla="*/ 118 w 180"/>
                <a:gd name="T37" fmla="*/ 8 h 289"/>
                <a:gd name="T38" fmla="*/ 104 w 180"/>
                <a:gd name="T39" fmla="*/ 3 h 289"/>
                <a:gd name="T40" fmla="*/ 90 w 180"/>
                <a:gd name="T41" fmla="*/ 0 h 289"/>
                <a:gd name="T42" fmla="*/ 76 w 180"/>
                <a:gd name="T43" fmla="*/ 3 h 289"/>
                <a:gd name="T44" fmla="*/ 61 w 180"/>
                <a:gd name="T45" fmla="*/ 8 h 289"/>
                <a:gd name="T46" fmla="*/ 50 w 180"/>
                <a:gd name="T47" fmla="*/ 17 h 289"/>
                <a:gd name="T48" fmla="*/ 38 w 180"/>
                <a:gd name="T49" fmla="*/ 29 h 289"/>
                <a:gd name="T50" fmla="*/ 26 w 180"/>
                <a:gd name="T51" fmla="*/ 43 h 289"/>
                <a:gd name="T52" fmla="*/ 16 w 180"/>
                <a:gd name="T53" fmla="*/ 60 h 289"/>
                <a:gd name="T54" fmla="*/ 9 w 180"/>
                <a:gd name="T55" fmla="*/ 79 h 289"/>
                <a:gd name="T56" fmla="*/ 5 w 180"/>
                <a:gd name="T57" fmla="*/ 100 h 289"/>
                <a:gd name="T58" fmla="*/ 2 w 180"/>
                <a:gd name="T59" fmla="*/ 121 h 289"/>
                <a:gd name="T60" fmla="*/ 0 w 180"/>
                <a:gd name="T61" fmla="*/ 145 h 289"/>
                <a:gd name="T62" fmla="*/ 2 w 180"/>
                <a:gd name="T63" fmla="*/ 169 h 289"/>
                <a:gd name="T64" fmla="*/ 5 w 180"/>
                <a:gd name="T65" fmla="*/ 190 h 289"/>
                <a:gd name="T66" fmla="*/ 9 w 180"/>
                <a:gd name="T67" fmla="*/ 211 h 289"/>
                <a:gd name="T68" fmla="*/ 16 w 180"/>
                <a:gd name="T69" fmla="*/ 230 h 289"/>
                <a:gd name="T70" fmla="*/ 26 w 180"/>
                <a:gd name="T71" fmla="*/ 247 h 289"/>
                <a:gd name="T72" fmla="*/ 38 w 180"/>
                <a:gd name="T73" fmla="*/ 261 h 289"/>
                <a:gd name="T74" fmla="*/ 50 w 180"/>
                <a:gd name="T75" fmla="*/ 273 h 289"/>
                <a:gd name="T76" fmla="*/ 61 w 180"/>
                <a:gd name="T77" fmla="*/ 280 h 289"/>
                <a:gd name="T78" fmla="*/ 76 w 180"/>
                <a:gd name="T79" fmla="*/ 287 h 289"/>
                <a:gd name="T80" fmla="*/ 90 w 180"/>
                <a:gd name="T81" fmla="*/ 289 h 289"/>
                <a:gd name="T82" fmla="*/ 90 w 180"/>
                <a:gd name="T83" fmla="*/ 289 h 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80"/>
                <a:gd name="T127" fmla="*/ 0 h 289"/>
                <a:gd name="T128" fmla="*/ 180 w 180"/>
                <a:gd name="T129" fmla="*/ 289 h 28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80" h="289">
                  <a:moveTo>
                    <a:pt x="90" y="287"/>
                  </a:moveTo>
                  <a:lnTo>
                    <a:pt x="104" y="287"/>
                  </a:lnTo>
                  <a:lnTo>
                    <a:pt x="118" y="280"/>
                  </a:lnTo>
                  <a:lnTo>
                    <a:pt x="132" y="273"/>
                  </a:lnTo>
                  <a:lnTo>
                    <a:pt x="144" y="261"/>
                  </a:lnTo>
                  <a:lnTo>
                    <a:pt x="154" y="247"/>
                  </a:lnTo>
                  <a:lnTo>
                    <a:pt x="163" y="230"/>
                  </a:lnTo>
                  <a:lnTo>
                    <a:pt x="170" y="211"/>
                  </a:lnTo>
                  <a:lnTo>
                    <a:pt x="175" y="190"/>
                  </a:lnTo>
                  <a:lnTo>
                    <a:pt x="180" y="169"/>
                  </a:lnTo>
                  <a:lnTo>
                    <a:pt x="180" y="145"/>
                  </a:lnTo>
                  <a:lnTo>
                    <a:pt x="180" y="121"/>
                  </a:lnTo>
                  <a:lnTo>
                    <a:pt x="175" y="100"/>
                  </a:lnTo>
                  <a:lnTo>
                    <a:pt x="170" y="79"/>
                  </a:lnTo>
                  <a:lnTo>
                    <a:pt x="163" y="60"/>
                  </a:lnTo>
                  <a:lnTo>
                    <a:pt x="154" y="43"/>
                  </a:lnTo>
                  <a:lnTo>
                    <a:pt x="144" y="29"/>
                  </a:lnTo>
                  <a:lnTo>
                    <a:pt x="132" y="17"/>
                  </a:lnTo>
                  <a:lnTo>
                    <a:pt x="118" y="8"/>
                  </a:lnTo>
                  <a:lnTo>
                    <a:pt x="104" y="3"/>
                  </a:lnTo>
                  <a:lnTo>
                    <a:pt x="90" y="0"/>
                  </a:lnTo>
                  <a:lnTo>
                    <a:pt x="76" y="3"/>
                  </a:lnTo>
                  <a:lnTo>
                    <a:pt x="61" y="8"/>
                  </a:lnTo>
                  <a:lnTo>
                    <a:pt x="50" y="17"/>
                  </a:lnTo>
                  <a:lnTo>
                    <a:pt x="38" y="29"/>
                  </a:lnTo>
                  <a:lnTo>
                    <a:pt x="26" y="43"/>
                  </a:lnTo>
                  <a:lnTo>
                    <a:pt x="16" y="60"/>
                  </a:lnTo>
                  <a:lnTo>
                    <a:pt x="9" y="79"/>
                  </a:lnTo>
                  <a:lnTo>
                    <a:pt x="5" y="100"/>
                  </a:lnTo>
                  <a:lnTo>
                    <a:pt x="2" y="121"/>
                  </a:lnTo>
                  <a:lnTo>
                    <a:pt x="0" y="145"/>
                  </a:lnTo>
                  <a:lnTo>
                    <a:pt x="2" y="169"/>
                  </a:lnTo>
                  <a:lnTo>
                    <a:pt x="5" y="190"/>
                  </a:lnTo>
                  <a:lnTo>
                    <a:pt x="9" y="211"/>
                  </a:lnTo>
                  <a:lnTo>
                    <a:pt x="16" y="230"/>
                  </a:lnTo>
                  <a:lnTo>
                    <a:pt x="26" y="247"/>
                  </a:lnTo>
                  <a:lnTo>
                    <a:pt x="38" y="261"/>
                  </a:lnTo>
                  <a:lnTo>
                    <a:pt x="50" y="273"/>
                  </a:lnTo>
                  <a:lnTo>
                    <a:pt x="61" y="280"/>
                  </a:lnTo>
                  <a:lnTo>
                    <a:pt x="76" y="287"/>
                  </a:lnTo>
                  <a:lnTo>
                    <a:pt x="90" y="289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373" name="Group 527"/>
            <p:cNvGrpSpPr>
              <a:grpSpLocks/>
            </p:cNvGrpSpPr>
            <p:nvPr/>
          </p:nvGrpSpPr>
          <p:grpSpPr bwMode="auto">
            <a:xfrm>
              <a:off x="3581" y="3038"/>
              <a:ext cx="173" cy="143"/>
              <a:chOff x="3581" y="3038"/>
              <a:chExt cx="173" cy="143"/>
            </a:xfrm>
          </p:grpSpPr>
          <p:sp>
            <p:nvSpPr>
              <p:cNvPr id="2421" name="Rectangle 528"/>
              <p:cNvSpPr>
                <a:spLocks noChangeArrowheads="1"/>
              </p:cNvSpPr>
              <p:nvPr/>
            </p:nvSpPr>
            <p:spPr bwMode="auto">
              <a:xfrm>
                <a:off x="3619" y="3038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2422" name="Rectangle 529"/>
              <p:cNvSpPr>
                <a:spLocks noChangeArrowheads="1"/>
              </p:cNvSpPr>
              <p:nvPr/>
            </p:nvSpPr>
            <p:spPr bwMode="auto">
              <a:xfrm>
                <a:off x="3659" y="303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2423" name="Rectangle 530"/>
              <p:cNvSpPr>
                <a:spLocks noChangeArrowheads="1"/>
              </p:cNvSpPr>
              <p:nvPr/>
            </p:nvSpPr>
            <p:spPr bwMode="auto">
              <a:xfrm>
                <a:off x="3690" y="3038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2424" name="Rectangle 531"/>
              <p:cNvSpPr>
                <a:spLocks noChangeArrowheads="1"/>
              </p:cNvSpPr>
              <p:nvPr/>
            </p:nvSpPr>
            <p:spPr bwMode="auto">
              <a:xfrm>
                <a:off x="3733" y="3038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25" name="Rectangle 532"/>
              <p:cNvSpPr>
                <a:spLocks noChangeArrowheads="1"/>
              </p:cNvSpPr>
              <p:nvPr/>
            </p:nvSpPr>
            <p:spPr bwMode="auto">
              <a:xfrm>
                <a:off x="3581" y="3106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2426" name="Rectangle 533"/>
              <p:cNvSpPr>
                <a:spLocks noChangeArrowheads="1"/>
              </p:cNvSpPr>
              <p:nvPr/>
            </p:nvSpPr>
            <p:spPr bwMode="auto">
              <a:xfrm>
                <a:off x="3610" y="310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2427" name="Rectangle 534"/>
              <p:cNvSpPr>
                <a:spLocks noChangeArrowheads="1"/>
              </p:cNvSpPr>
              <p:nvPr/>
            </p:nvSpPr>
            <p:spPr bwMode="auto">
              <a:xfrm>
                <a:off x="3643" y="310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2428" name="Rectangle 535"/>
              <p:cNvSpPr>
                <a:spLocks noChangeArrowheads="1"/>
              </p:cNvSpPr>
              <p:nvPr/>
            </p:nvSpPr>
            <p:spPr bwMode="auto">
              <a:xfrm>
                <a:off x="3676" y="3106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2429" name="Rectangle 536"/>
              <p:cNvSpPr>
                <a:spLocks noChangeArrowheads="1"/>
              </p:cNvSpPr>
              <p:nvPr/>
            </p:nvSpPr>
            <p:spPr bwMode="auto">
              <a:xfrm>
                <a:off x="3690" y="3106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2430" name="Rectangle 537"/>
              <p:cNvSpPr>
                <a:spLocks noChangeArrowheads="1"/>
              </p:cNvSpPr>
              <p:nvPr/>
            </p:nvSpPr>
            <p:spPr bwMode="auto">
              <a:xfrm>
                <a:off x="3711" y="310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2431" name="Rectangle 538"/>
              <p:cNvSpPr>
                <a:spLocks noChangeArrowheads="1"/>
              </p:cNvSpPr>
              <p:nvPr/>
            </p:nvSpPr>
            <p:spPr bwMode="auto">
              <a:xfrm>
                <a:off x="3742" y="3106"/>
                <a:ext cx="13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</p:grpSp>
        <p:sp>
          <p:nvSpPr>
            <p:cNvPr id="2374" name="Freeform 539"/>
            <p:cNvSpPr>
              <a:spLocks noChangeArrowheads="1"/>
            </p:cNvSpPr>
            <p:nvPr/>
          </p:nvSpPr>
          <p:spPr bwMode="auto">
            <a:xfrm>
              <a:off x="3532" y="3089"/>
              <a:ext cx="28" cy="31"/>
            </a:xfrm>
            <a:custGeom>
              <a:avLst/>
              <a:gdLst>
                <a:gd name="T0" fmla="*/ 0 w 28"/>
                <a:gd name="T1" fmla="*/ 0 h 31"/>
                <a:gd name="T2" fmla="*/ 0 w 28"/>
                <a:gd name="T3" fmla="*/ 31 h 31"/>
                <a:gd name="T4" fmla="*/ 28 w 28"/>
                <a:gd name="T5" fmla="*/ 17 h 31"/>
                <a:gd name="T6" fmla="*/ 0 w 28"/>
                <a:gd name="T7" fmla="*/ 3 h 31"/>
                <a:gd name="T8" fmla="*/ 0 w 28"/>
                <a:gd name="T9" fmla="*/ 3 h 31"/>
                <a:gd name="T10" fmla="*/ 0 w 28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"/>
                <a:gd name="T19" fmla="*/ 0 h 31"/>
                <a:gd name="T20" fmla="*/ 28 w 28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" h="31">
                  <a:moveTo>
                    <a:pt x="0" y="0"/>
                  </a:moveTo>
                  <a:lnTo>
                    <a:pt x="0" y="31"/>
                  </a:lnTo>
                  <a:lnTo>
                    <a:pt x="28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5" name="Line 540"/>
            <p:cNvSpPr>
              <a:spLocks noChangeShapeType="1"/>
            </p:cNvSpPr>
            <p:nvPr/>
          </p:nvSpPr>
          <p:spPr bwMode="auto">
            <a:xfrm>
              <a:off x="1436" y="2398"/>
              <a:ext cx="196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" name="Freeform 541"/>
            <p:cNvSpPr>
              <a:spLocks noChangeArrowheads="1"/>
            </p:cNvSpPr>
            <p:nvPr/>
          </p:nvSpPr>
          <p:spPr bwMode="auto">
            <a:xfrm>
              <a:off x="1618" y="2386"/>
              <a:ext cx="31" cy="29"/>
            </a:xfrm>
            <a:custGeom>
              <a:avLst/>
              <a:gdLst>
                <a:gd name="T0" fmla="*/ 14 w 31"/>
                <a:gd name="T1" fmla="*/ 29 h 29"/>
                <a:gd name="T2" fmla="*/ 19 w 31"/>
                <a:gd name="T3" fmla="*/ 29 h 29"/>
                <a:gd name="T4" fmla="*/ 21 w 31"/>
                <a:gd name="T5" fmla="*/ 29 h 29"/>
                <a:gd name="T6" fmla="*/ 21 w 31"/>
                <a:gd name="T7" fmla="*/ 26 h 29"/>
                <a:gd name="T8" fmla="*/ 24 w 31"/>
                <a:gd name="T9" fmla="*/ 26 h 29"/>
                <a:gd name="T10" fmla="*/ 26 w 31"/>
                <a:gd name="T11" fmla="*/ 24 h 29"/>
                <a:gd name="T12" fmla="*/ 29 w 31"/>
                <a:gd name="T13" fmla="*/ 24 h 29"/>
                <a:gd name="T14" fmla="*/ 29 w 31"/>
                <a:gd name="T15" fmla="*/ 21 h 29"/>
                <a:gd name="T16" fmla="*/ 31 w 31"/>
                <a:gd name="T17" fmla="*/ 19 h 29"/>
                <a:gd name="T18" fmla="*/ 31 w 31"/>
                <a:gd name="T19" fmla="*/ 17 h 29"/>
                <a:gd name="T20" fmla="*/ 31 w 31"/>
                <a:gd name="T21" fmla="*/ 14 h 29"/>
                <a:gd name="T22" fmla="*/ 31 w 31"/>
                <a:gd name="T23" fmla="*/ 12 h 29"/>
                <a:gd name="T24" fmla="*/ 31 w 31"/>
                <a:gd name="T25" fmla="*/ 10 h 29"/>
                <a:gd name="T26" fmla="*/ 29 w 31"/>
                <a:gd name="T27" fmla="*/ 7 h 29"/>
                <a:gd name="T28" fmla="*/ 29 w 31"/>
                <a:gd name="T29" fmla="*/ 5 h 29"/>
                <a:gd name="T30" fmla="*/ 26 w 31"/>
                <a:gd name="T31" fmla="*/ 5 h 29"/>
                <a:gd name="T32" fmla="*/ 24 w 31"/>
                <a:gd name="T33" fmla="*/ 2 h 29"/>
                <a:gd name="T34" fmla="*/ 21 w 31"/>
                <a:gd name="T35" fmla="*/ 0 h 29"/>
                <a:gd name="T36" fmla="*/ 21 w 31"/>
                <a:gd name="T37" fmla="*/ 0 h 29"/>
                <a:gd name="T38" fmla="*/ 19 w 31"/>
                <a:gd name="T39" fmla="*/ 0 h 29"/>
                <a:gd name="T40" fmla="*/ 17 w 31"/>
                <a:gd name="T41" fmla="*/ 0 h 29"/>
                <a:gd name="T42" fmla="*/ 14 w 31"/>
                <a:gd name="T43" fmla="*/ 0 h 29"/>
                <a:gd name="T44" fmla="*/ 12 w 31"/>
                <a:gd name="T45" fmla="*/ 0 h 29"/>
                <a:gd name="T46" fmla="*/ 10 w 31"/>
                <a:gd name="T47" fmla="*/ 0 h 29"/>
                <a:gd name="T48" fmla="*/ 7 w 31"/>
                <a:gd name="T49" fmla="*/ 2 h 29"/>
                <a:gd name="T50" fmla="*/ 5 w 31"/>
                <a:gd name="T51" fmla="*/ 5 h 29"/>
                <a:gd name="T52" fmla="*/ 5 w 31"/>
                <a:gd name="T53" fmla="*/ 5 h 29"/>
                <a:gd name="T54" fmla="*/ 2 w 31"/>
                <a:gd name="T55" fmla="*/ 7 h 29"/>
                <a:gd name="T56" fmla="*/ 2 w 31"/>
                <a:gd name="T57" fmla="*/ 10 h 29"/>
                <a:gd name="T58" fmla="*/ 2 w 31"/>
                <a:gd name="T59" fmla="*/ 12 h 29"/>
                <a:gd name="T60" fmla="*/ 0 w 31"/>
                <a:gd name="T61" fmla="*/ 14 h 29"/>
                <a:gd name="T62" fmla="*/ 2 w 31"/>
                <a:gd name="T63" fmla="*/ 17 h 29"/>
                <a:gd name="T64" fmla="*/ 2 w 31"/>
                <a:gd name="T65" fmla="*/ 19 h 29"/>
                <a:gd name="T66" fmla="*/ 2 w 31"/>
                <a:gd name="T67" fmla="*/ 21 h 29"/>
                <a:gd name="T68" fmla="*/ 5 w 31"/>
                <a:gd name="T69" fmla="*/ 24 h 29"/>
                <a:gd name="T70" fmla="*/ 5 w 31"/>
                <a:gd name="T71" fmla="*/ 24 h 29"/>
                <a:gd name="T72" fmla="*/ 7 w 31"/>
                <a:gd name="T73" fmla="*/ 26 h 29"/>
                <a:gd name="T74" fmla="*/ 10 w 31"/>
                <a:gd name="T75" fmla="*/ 26 h 29"/>
                <a:gd name="T76" fmla="*/ 12 w 31"/>
                <a:gd name="T77" fmla="*/ 29 h 29"/>
                <a:gd name="T78" fmla="*/ 14 w 31"/>
                <a:gd name="T79" fmla="*/ 29 h 29"/>
                <a:gd name="T80" fmla="*/ 17 w 31"/>
                <a:gd name="T81" fmla="*/ 29 h 29"/>
                <a:gd name="T82" fmla="*/ 17 w 31"/>
                <a:gd name="T83" fmla="*/ 29 h 29"/>
                <a:gd name="T84" fmla="*/ 14 w 31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9"/>
                <a:gd name="T131" fmla="*/ 31 w 31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9">
                  <a:moveTo>
                    <a:pt x="14" y="29"/>
                  </a:moveTo>
                  <a:lnTo>
                    <a:pt x="19" y="29"/>
                  </a:lnTo>
                  <a:lnTo>
                    <a:pt x="21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1" y="10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10" y="26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7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7" name="Freeform 542"/>
            <p:cNvSpPr>
              <a:spLocks noChangeArrowheads="1"/>
            </p:cNvSpPr>
            <p:nvPr/>
          </p:nvSpPr>
          <p:spPr bwMode="auto">
            <a:xfrm>
              <a:off x="2096" y="2298"/>
              <a:ext cx="29" cy="29"/>
            </a:xfrm>
            <a:custGeom>
              <a:avLst/>
              <a:gdLst>
                <a:gd name="T0" fmla="*/ 12 w 29"/>
                <a:gd name="T1" fmla="*/ 29 h 29"/>
                <a:gd name="T2" fmla="*/ 17 w 29"/>
                <a:gd name="T3" fmla="*/ 29 h 29"/>
                <a:gd name="T4" fmla="*/ 19 w 29"/>
                <a:gd name="T5" fmla="*/ 29 h 29"/>
                <a:gd name="T6" fmla="*/ 22 w 29"/>
                <a:gd name="T7" fmla="*/ 27 h 29"/>
                <a:gd name="T8" fmla="*/ 22 w 29"/>
                <a:gd name="T9" fmla="*/ 27 h 29"/>
                <a:gd name="T10" fmla="*/ 24 w 29"/>
                <a:gd name="T11" fmla="*/ 24 h 29"/>
                <a:gd name="T12" fmla="*/ 26 w 29"/>
                <a:gd name="T13" fmla="*/ 22 h 29"/>
                <a:gd name="T14" fmla="*/ 26 w 29"/>
                <a:gd name="T15" fmla="*/ 22 h 29"/>
                <a:gd name="T16" fmla="*/ 29 w 29"/>
                <a:gd name="T17" fmla="*/ 19 h 29"/>
                <a:gd name="T18" fmla="*/ 29 w 29"/>
                <a:gd name="T19" fmla="*/ 17 h 29"/>
                <a:gd name="T20" fmla="*/ 29 w 29"/>
                <a:gd name="T21" fmla="*/ 15 h 29"/>
                <a:gd name="T22" fmla="*/ 29 w 29"/>
                <a:gd name="T23" fmla="*/ 12 h 29"/>
                <a:gd name="T24" fmla="*/ 29 w 29"/>
                <a:gd name="T25" fmla="*/ 10 h 29"/>
                <a:gd name="T26" fmla="*/ 26 w 29"/>
                <a:gd name="T27" fmla="*/ 8 h 29"/>
                <a:gd name="T28" fmla="*/ 26 w 29"/>
                <a:gd name="T29" fmla="*/ 5 h 29"/>
                <a:gd name="T30" fmla="*/ 24 w 29"/>
                <a:gd name="T31" fmla="*/ 3 h 29"/>
                <a:gd name="T32" fmla="*/ 22 w 29"/>
                <a:gd name="T33" fmla="*/ 3 h 29"/>
                <a:gd name="T34" fmla="*/ 22 w 29"/>
                <a:gd name="T35" fmla="*/ 0 h 29"/>
                <a:gd name="T36" fmla="*/ 19 w 29"/>
                <a:gd name="T37" fmla="*/ 0 h 29"/>
                <a:gd name="T38" fmla="*/ 17 w 29"/>
                <a:gd name="T39" fmla="*/ 0 h 29"/>
                <a:gd name="T40" fmla="*/ 15 w 29"/>
                <a:gd name="T41" fmla="*/ 0 h 29"/>
                <a:gd name="T42" fmla="*/ 12 w 29"/>
                <a:gd name="T43" fmla="*/ 0 h 29"/>
                <a:gd name="T44" fmla="*/ 10 w 29"/>
                <a:gd name="T45" fmla="*/ 0 h 29"/>
                <a:gd name="T46" fmla="*/ 8 w 29"/>
                <a:gd name="T47" fmla="*/ 0 h 29"/>
                <a:gd name="T48" fmla="*/ 5 w 29"/>
                <a:gd name="T49" fmla="*/ 3 h 29"/>
                <a:gd name="T50" fmla="*/ 3 w 29"/>
                <a:gd name="T51" fmla="*/ 3 h 29"/>
                <a:gd name="T52" fmla="*/ 3 w 29"/>
                <a:gd name="T53" fmla="*/ 5 h 29"/>
                <a:gd name="T54" fmla="*/ 0 w 29"/>
                <a:gd name="T55" fmla="*/ 8 h 29"/>
                <a:gd name="T56" fmla="*/ 0 w 29"/>
                <a:gd name="T57" fmla="*/ 10 h 29"/>
                <a:gd name="T58" fmla="*/ 0 w 29"/>
                <a:gd name="T59" fmla="*/ 12 h 29"/>
                <a:gd name="T60" fmla="*/ 0 w 29"/>
                <a:gd name="T61" fmla="*/ 15 h 29"/>
                <a:gd name="T62" fmla="*/ 0 w 29"/>
                <a:gd name="T63" fmla="*/ 17 h 29"/>
                <a:gd name="T64" fmla="*/ 0 w 29"/>
                <a:gd name="T65" fmla="*/ 19 h 29"/>
                <a:gd name="T66" fmla="*/ 0 w 29"/>
                <a:gd name="T67" fmla="*/ 22 h 29"/>
                <a:gd name="T68" fmla="*/ 3 w 29"/>
                <a:gd name="T69" fmla="*/ 22 h 29"/>
                <a:gd name="T70" fmla="*/ 3 w 29"/>
                <a:gd name="T71" fmla="*/ 24 h 29"/>
                <a:gd name="T72" fmla="*/ 5 w 29"/>
                <a:gd name="T73" fmla="*/ 27 h 29"/>
                <a:gd name="T74" fmla="*/ 8 w 29"/>
                <a:gd name="T75" fmla="*/ 27 h 29"/>
                <a:gd name="T76" fmla="*/ 10 w 29"/>
                <a:gd name="T77" fmla="*/ 29 h 29"/>
                <a:gd name="T78" fmla="*/ 12 w 29"/>
                <a:gd name="T79" fmla="*/ 29 h 29"/>
                <a:gd name="T80" fmla="*/ 15 w 29"/>
                <a:gd name="T81" fmla="*/ 29 h 29"/>
                <a:gd name="T82" fmla="*/ 15 w 29"/>
                <a:gd name="T83" fmla="*/ 29 h 29"/>
                <a:gd name="T84" fmla="*/ 12 w 29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29"/>
                <a:gd name="T131" fmla="*/ 29 w 29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29">
                  <a:moveTo>
                    <a:pt x="12" y="29"/>
                  </a:moveTo>
                  <a:lnTo>
                    <a:pt x="17" y="29"/>
                  </a:lnTo>
                  <a:lnTo>
                    <a:pt x="19" y="29"/>
                  </a:lnTo>
                  <a:lnTo>
                    <a:pt x="22" y="27"/>
                  </a:lnTo>
                  <a:lnTo>
                    <a:pt x="24" y="24"/>
                  </a:lnTo>
                  <a:lnTo>
                    <a:pt x="26" y="22"/>
                  </a:lnTo>
                  <a:lnTo>
                    <a:pt x="29" y="19"/>
                  </a:lnTo>
                  <a:lnTo>
                    <a:pt x="29" y="17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10"/>
                  </a:lnTo>
                  <a:lnTo>
                    <a:pt x="26" y="8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3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3" y="5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3" y="22"/>
                  </a:lnTo>
                  <a:lnTo>
                    <a:pt x="3" y="24"/>
                  </a:lnTo>
                  <a:lnTo>
                    <a:pt x="5" y="27"/>
                  </a:lnTo>
                  <a:lnTo>
                    <a:pt x="8" y="27"/>
                  </a:lnTo>
                  <a:lnTo>
                    <a:pt x="10" y="29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2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8" name="Freeform 543"/>
            <p:cNvSpPr>
              <a:spLocks noChangeArrowheads="1"/>
            </p:cNvSpPr>
            <p:nvPr/>
          </p:nvSpPr>
          <p:spPr bwMode="auto">
            <a:xfrm>
              <a:off x="1618" y="2123"/>
              <a:ext cx="31" cy="29"/>
            </a:xfrm>
            <a:custGeom>
              <a:avLst/>
              <a:gdLst>
                <a:gd name="T0" fmla="*/ 14 w 31"/>
                <a:gd name="T1" fmla="*/ 29 h 29"/>
                <a:gd name="T2" fmla="*/ 19 w 31"/>
                <a:gd name="T3" fmla="*/ 29 h 29"/>
                <a:gd name="T4" fmla="*/ 21 w 31"/>
                <a:gd name="T5" fmla="*/ 29 h 29"/>
                <a:gd name="T6" fmla="*/ 21 w 31"/>
                <a:gd name="T7" fmla="*/ 26 h 29"/>
                <a:gd name="T8" fmla="*/ 24 w 31"/>
                <a:gd name="T9" fmla="*/ 26 h 29"/>
                <a:gd name="T10" fmla="*/ 26 w 31"/>
                <a:gd name="T11" fmla="*/ 24 h 29"/>
                <a:gd name="T12" fmla="*/ 29 w 31"/>
                <a:gd name="T13" fmla="*/ 24 h 29"/>
                <a:gd name="T14" fmla="*/ 29 w 31"/>
                <a:gd name="T15" fmla="*/ 22 h 29"/>
                <a:gd name="T16" fmla="*/ 31 w 31"/>
                <a:gd name="T17" fmla="*/ 19 h 29"/>
                <a:gd name="T18" fmla="*/ 31 w 31"/>
                <a:gd name="T19" fmla="*/ 17 h 29"/>
                <a:gd name="T20" fmla="*/ 31 w 31"/>
                <a:gd name="T21" fmla="*/ 14 h 29"/>
                <a:gd name="T22" fmla="*/ 31 w 31"/>
                <a:gd name="T23" fmla="*/ 12 h 29"/>
                <a:gd name="T24" fmla="*/ 31 w 31"/>
                <a:gd name="T25" fmla="*/ 10 h 29"/>
                <a:gd name="T26" fmla="*/ 29 w 31"/>
                <a:gd name="T27" fmla="*/ 7 h 29"/>
                <a:gd name="T28" fmla="*/ 29 w 31"/>
                <a:gd name="T29" fmla="*/ 5 h 29"/>
                <a:gd name="T30" fmla="*/ 26 w 31"/>
                <a:gd name="T31" fmla="*/ 5 h 29"/>
                <a:gd name="T32" fmla="*/ 24 w 31"/>
                <a:gd name="T33" fmla="*/ 3 h 29"/>
                <a:gd name="T34" fmla="*/ 21 w 31"/>
                <a:gd name="T35" fmla="*/ 0 h 29"/>
                <a:gd name="T36" fmla="*/ 21 w 31"/>
                <a:gd name="T37" fmla="*/ 0 h 29"/>
                <a:gd name="T38" fmla="*/ 19 w 31"/>
                <a:gd name="T39" fmla="*/ 0 h 29"/>
                <a:gd name="T40" fmla="*/ 17 w 31"/>
                <a:gd name="T41" fmla="*/ 0 h 29"/>
                <a:gd name="T42" fmla="*/ 14 w 31"/>
                <a:gd name="T43" fmla="*/ 0 h 29"/>
                <a:gd name="T44" fmla="*/ 12 w 31"/>
                <a:gd name="T45" fmla="*/ 0 h 29"/>
                <a:gd name="T46" fmla="*/ 10 w 31"/>
                <a:gd name="T47" fmla="*/ 0 h 29"/>
                <a:gd name="T48" fmla="*/ 7 w 31"/>
                <a:gd name="T49" fmla="*/ 3 h 29"/>
                <a:gd name="T50" fmla="*/ 5 w 31"/>
                <a:gd name="T51" fmla="*/ 5 h 29"/>
                <a:gd name="T52" fmla="*/ 5 w 31"/>
                <a:gd name="T53" fmla="*/ 5 h 29"/>
                <a:gd name="T54" fmla="*/ 2 w 31"/>
                <a:gd name="T55" fmla="*/ 7 h 29"/>
                <a:gd name="T56" fmla="*/ 2 w 31"/>
                <a:gd name="T57" fmla="*/ 10 h 29"/>
                <a:gd name="T58" fmla="*/ 2 w 31"/>
                <a:gd name="T59" fmla="*/ 12 h 29"/>
                <a:gd name="T60" fmla="*/ 0 w 31"/>
                <a:gd name="T61" fmla="*/ 14 h 29"/>
                <a:gd name="T62" fmla="*/ 2 w 31"/>
                <a:gd name="T63" fmla="*/ 17 h 29"/>
                <a:gd name="T64" fmla="*/ 2 w 31"/>
                <a:gd name="T65" fmla="*/ 19 h 29"/>
                <a:gd name="T66" fmla="*/ 2 w 31"/>
                <a:gd name="T67" fmla="*/ 22 h 29"/>
                <a:gd name="T68" fmla="*/ 5 w 31"/>
                <a:gd name="T69" fmla="*/ 24 h 29"/>
                <a:gd name="T70" fmla="*/ 5 w 31"/>
                <a:gd name="T71" fmla="*/ 24 h 29"/>
                <a:gd name="T72" fmla="*/ 7 w 31"/>
                <a:gd name="T73" fmla="*/ 26 h 29"/>
                <a:gd name="T74" fmla="*/ 10 w 31"/>
                <a:gd name="T75" fmla="*/ 26 h 29"/>
                <a:gd name="T76" fmla="*/ 12 w 31"/>
                <a:gd name="T77" fmla="*/ 29 h 29"/>
                <a:gd name="T78" fmla="*/ 14 w 31"/>
                <a:gd name="T79" fmla="*/ 29 h 29"/>
                <a:gd name="T80" fmla="*/ 17 w 31"/>
                <a:gd name="T81" fmla="*/ 29 h 29"/>
                <a:gd name="T82" fmla="*/ 17 w 31"/>
                <a:gd name="T83" fmla="*/ 29 h 29"/>
                <a:gd name="T84" fmla="*/ 14 w 31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9"/>
                <a:gd name="T131" fmla="*/ 31 w 31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9">
                  <a:moveTo>
                    <a:pt x="14" y="29"/>
                  </a:moveTo>
                  <a:lnTo>
                    <a:pt x="19" y="29"/>
                  </a:lnTo>
                  <a:lnTo>
                    <a:pt x="21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1" y="10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10" y="26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7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79" name="Freeform 544"/>
            <p:cNvSpPr>
              <a:spLocks noChangeArrowheads="1"/>
            </p:cNvSpPr>
            <p:nvPr/>
          </p:nvSpPr>
          <p:spPr bwMode="auto">
            <a:xfrm>
              <a:off x="1618" y="2298"/>
              <a:ext cx="31" cy="29"/>
            </a:xfrm>
            <a:custGeom>
              <a:avLst/>
              <a:gdLst>
                <a:gd name="T0" fmla="*/ 14 w 31"/>
                <a:gd name="T1" fmla="*/ 29 h 29"/>
                <a:gd name="T2" fmla="*/ 19 w 31"/>
                <a:gd name="T3" fmla="*/ 29 h 29"/>
                <a:gd name="T4" fmla="*/ 21 w 31"/>
                <a:gd name="T5" fmla="*/ 29 h 29"/>
                <a:gd name="T6" fmla="*/ 21 w 31"/>
                <a:gd name="T7" fmla="*/ 27 h 29"/>
                <a:gd name="T8" fmla="*/ 24 w 31"/>
                <a:gd name="T9" fmla="*/ 27 h 29"/>
                <a:gd name="T10" fmla="*/ 26 w 31"/>
                <a:gd name="T11" fmla="*/ 24 h 29"/>
                <a:gd name="T12" fmla="*/ 29 w 31"/>
                <a:gd name="T13" fmla="*/ 24 h 29"/>
                <a:gd name="T14" fmla="*/ 29 w 31"/>
                <a:gd name="T15" fmla="*/ 22 h 29"/>
                <a:gd name="T16" fmla="*/ 31 w 31"/>
                <a:gd name="T17" fmla="*/ 19 h 29"/>
                <a:gd name="T18" fmla="*/ 31 w 31"/>
                <a:gd name="T19" fmla="*/ 17 h 29"/>
                <a:gd name="T20" fmla="*/ 31 w 31"/>
                <a:gd name="T21" fmla="*/ 15 h 29"/>
                <a:gd name="T22" fmla="*/ 31 w 31"/>
                <a:gd name="T23" fmla="*/ 12 h 29"/>
                <a:gd name="T24" fmla="*/ 31 w 31"/>
                <a:gd name="T25" fmla="*/ 10 h 29"/>
                <a:gd name="T26" fmla="*/ 29 w 31"/>
                <a:gd name="T27" fmla="*/ 8 h 29"/>
                <a:gd name="T28" fmla="*/ 29 w 31"/>
                <a:gd name="T29" fmla="*/ 5 h 29"/>
                <a:gd name="T30" fmla="*/ 26 w 31"/>
                <a:gd name="T31" fmla="*/ 5 h 29"/>
                <a:gd name="T32" fmla="*/ 24 w 31"/>
                <a:gd name="T33" fmla="*/ 3 h 29"/>
                <a:gd name="T34" fmla="*/ 21 w 31"/>
                <a:gd name="T35" fmla="*/ 0 h 29"/>
                <a:gd name="T36" fmla="*/ 21 w 31"/>
                <a:gd name="T37" fmla="*/ 0 h 29"/>
                <a:gd name="T38" fmla="*/ 19 w 31"/>
                <a:gd name="T39" fmla="*/ 0 h 29"/>
                <a:gd name="T40" fmla="*/ 17 w 31"/>
                <a:gd name="T41" fmla="*/ 0 h 29"/>
                <a:gd name="T42" fmla="*/ 14 w 31"/>
                <a:gd name="T43" fmla="*/ 0 h 29"/>
                <a:gd name="T44" fmla="*/ 12 w 31"/>
                <a:gd name="T45" fmla="*/ 0 h 29"/>
                <a:gd name="T46" fmla="*/ 10 w 31"/>
                <a:gd name="T47" fmla="*/ 0 h 29"/>
                <a:gd name="T48" fmla="*/ 7 w 31"/>
                <a:gd name="T49" fmla="*/ 3 h 29"/>
                <a:gd name="T50" fmla="*/ 5 w 31"/>
                <a:gd name="T51" fmla="*/ 5 h 29"/>
                <a:gd name="T52" fmla="*/ 5 w 31"/>
                <a:gd name="T53" fmla="*/ 5 h 29"/>
                <a:gd name="T54" fmla="*/ 2 w 31"/>
                <a:gd name="T55" fmla="*/ 8 h 29"/>
                <a:gd name="T56" fmla="*/ 2 w 31"/>
                <a:gd name="T57" fmla="*/ 10 h 29"/>
                <a:gd name="T58" fmla="*/ 2 w 31"/>
                <a:gd name="T59" fmla="*/ 12 h 29"/>
                <a:gd name="T60" fmla="*/ 0 w 31"/>
                <a:gd name="T61" fmla="*/ 15 h 29"/>
                <a:gd name="T62" fmla="*/ 2 w 31"/>
                <a:gd name="T63" fmla="*/ 17 h 29"/>
                <a:gd name="T64" fmla="*/ 2 w 31"/>
                <a:gd name="T65" fmla="*/ 19 h 29"/>
                <a:gd name="T66" fmla="*/ 2 w 31"/>
                <a:gd name="T67" fmla="*/ 22 h 29"/>
                <a:gd name="T68" fmla="*/ 5 w 31"/>
                <a:gd name="T69" fmla="*/ 24 h 29"/>
                <a:gd name="T70" fmla="*/ 5 w 31"/>
                <a:gd name="T71" fmla="*/ 24 h 29"/>
                <a:gd name="T72" fmla="*/ 7 w 31"/>
                <a:gd name="T73" fmla="*/ 27 h 29"/>
                <a:gd name="T74" fmla="*/ 10 w 31"/>
                <a:gd name="T75" fmla="*/ 27 h 29"/>
                <a:gd name="T76" fmla="*/ 12 w 31"/>
                <a:gd name="T77" fmla="*/ 29 h 29"/>
                <a:gd name="T78" fmla="*/ 14 w 31"/>
                <a:gd name="T79" fmla="*/ 29 h 29"/>
                <a:gd name="T80" fmla="*/ 17 w 31"/>
                <a:gd name="T81" fmla="*/ 29 h 29"/>
                <a:gd name="T82" fmla="*/ 17 w 31"/>
                <a:gd name="T83" fmla="*/ 29 h 29"/>
                <a:gd name="T84" fmla="*/ 14 w 31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9"/>
                <a:gd name="T131" fmla="*/ 31 w 31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9">
                  <a:moveTo>
                    <a:pt x="14" y="29"/>
                  </a:moveTo>
                  <a:lnTo>
                    <a:pt x="19" y="29"/>
                  </a:lnTo>
                  <a:lnTo>
                    <a:pt x="21" y="29"/>
                  </a:lnTo>
                  <a:lnTo>
                    <a:pt x="21" y="27"/>
                  </a:lnTo>
                  <a:lnTo>
                    <a:pt x="24" y="27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31" y="12"/>
                  </a:lnTo>
                  <a:lnTo>
                    <a:pt x="31" y="10"/>
                  </a:lnTo>
                  <a:lnTo>
                    <a:pt x="29" y="8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5" y="24"/>
                  </a:lnTo>
                  <a:lnTo>
                    <a:pt x="7" y="27"/>
                  </a:lnTo>
                  <a:lnTo>
                    <a:pt x="10" y="27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7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80" name="Freeform 545"/>
            <p:cNvSpPr>
              <a:spLocks noChangeArrowheads="1"/>
            </p:cNvSpPr>
            <p:nvPr/>
          </p:nvSpPr>
          <p:spPr bwMode="auto">
            <a:xfrm>
              <a:off x="3257" y="2431"/>
              <a:ext cx="31" cy="28"/>
            </a:xfrm>
            <a:custGeom>
              <a:avLst/>
              <a:gdLst>
                <a:gd name="T0" fmla="*/ 14 w 31"/>
                <a:gd name="T1" fmla="*/ 26 h 28"/>
                <a:gd name="T2" fmla="*/ 19 w 31"/>
                <a:gd name="T3" fmla="*/ 28 h 28"/>
                <a:gd name="T4" fmla="*/ 19 w 31"/>
                <a:gd name="T5" fmla="*/ 28 h 28"/>
                <a:gd name="T6" fmla="*/ 21 w 31"/>
                <a:gd name="T7" fmla="*/ 26 h 28"/>
                <a:gd name="T8" fmla="*/ 24 w 31"/>
                <a:gd name="T9" fmla="*/ 26 h 28"/>
                <a:gd name="T10" fmla="*/ 26 w 31"/>
                <a:gd name="T11" fmla="*/ 24 h 28"/>
                <a:gd name="T12" fmla="*/ 26 w 31"/>
                <a:gd name="T13" fmla="*/ 21 h 28"/>
                <a:gd name="T14" fmla="*/ 28 w 31"/>
                <a:gd name="T15" fmla="*/ 21 h 28"/>
                <a:gd name="T16" fmla="*/ 28 w 31"/>
                <a:gd name="T17" fmla="*/ 19 h 28"/>
                <a:gd name="T18" fmla="*/ 31 w 31"/>
                <a:gd name="T19" fmla="*/ 17 h 28"/>
                <a:gd name="T20" fmla="*/ 31 w 31"/>
                <a:gd name="T21" fmla="*/ 14 h 28"/>
                <a:gd name="T22" fmla="*/ 31 w 31"/>
                <a:gd name="T23" fmla="*/ 12 h 28"/>
                <a:gd name="T24" fmla="*/ 28 w 31"/>
                <a:gd name="T25" fmla="*/ 10 h 28"/>
                <a:gd name="T26" fmla="*/ 28 w 31"/>
                <a:gd name="T27" fmla="*/ 7 h 28"/>
                <a:gd name="T28" fmla="*/ 26 w 31"/>
                <a:gd name="T29" fmla="*/ 5 h 28"/>
                <a:gd name="T30" fmla="*/ 26 w 31"/>
                <a:gd name="T31" fmla="*/ 2 h 28"/>
                <a:gd name="T32" fmla="*/ 24 w 31"/>
                <a:gd name="T33" fmla="*/ 2 h 28"/>
                <a:gd name="T34" fmla="*/ 21 w 31"/>
                <a:gd name="T35" fmla="*/ 0 h 28"/>
                <a:gd name="T36" fmla="*/ 19 w 31"/>
                <a:gd name="T37" fmla="*/ 0 h 28"/>
                <a:gd name="T38" fmla="*/ 19 w 31"/>
                <a:gd name="T39" fmla="*/ 0 h 28"/>
                <a:gd name="T40" fmla="*/ 16 w 31"/>
                <a:gd name="T41" fmla="*/ 0 h 28"/>
                <a:gd name="T42" fmla="*/ 14 w 31"/>
                <a:gd name="T43" fmla="*/ 0 h 28"/>
                <a:gd name="T44" fmla="*/ 12 w 31"/>
                <a:gd name="T45" fmla="*/ 0 h 28"/>
                <a:gd name="T46" fmla="*/ 9 w 31"/>
                <a:gd name="T47" fmla="*/ 0 h 28"/>
                <a:gd name="T48" fmla="*/ 7 w 31"/>
                <a:gd name="T49" fmla="*/ 2 h 28"/>
                <a:gd name="T50" fmla="*/ 5 w 31"/>
                <a:gd name="T51" fmla="*/ 2 h 28"/>
                <a:gd name="T52" fmla="*/ 5 w 31"/>
                <a:gd name="T53" fmla="*/ 5 h 28"/>
                <a:gd name="T54" fmla="*/ 2 w 31"/>
                <a:gd name="T55" fmla="*/ 7 h 28"/>
                <a:gd name="T56" fmla="*/ 2 w 31"/>
                <a:gd name="T57" fmla="*/ 10 h 28"/>
                <a:gd name="T58" fmla="*/ 0 w 31"/>
                <a:gd name="T59" fmla="*/ 12 h 28"/>
                <a:gd name="T60" fmla="*/ 0 w 31"/>
                <a:gd name="T61" fmla="*/ 14 h 28"/>
                <a:gd name="T62" fmla="*/ 0 w 31"/>
                <a:gd name="T63" fmla="*/ 17 h 28"/>
                <a:gd name="T64" fmla="*/ 2 w 31"/>
                <a:gd name="T65" fmla="*/ 19 h 28"/>
                <a:gd name="T66" fmla="*/ 2 w 31"/>
                <a:gd name="T67" fmla="*/ 21 h 28"/>
                <a:gd name="T68" fmla="*/ 5 w 31"/>
                <a:gd name="T69" fmla="*/ 21 h 28"/>
                <a:gd name="T70" fmla="*/ 5 w 31"/>
                <a:gd name="T71" fmla="*/ 24 h 28"/>
                <a:gd name="T72" fmla="*/ 7 w 31"/>
                <a:gd name="T73" fmla="*/ 26 h 28"/>
                <a:gd name="T74" fmla="*/ 9 w 31"/>
                <a:gd name="T75" fmla="*/ 26 h 28"/>
                <a:gd name="T76" fmla="*/ 12 w 31"/>
                <a:gd name="T77" fmla="*/ 28 h 28"/>
                <a:gd name="T78" fmla="*/ 14 w 31"/>
                <a:gd name="T79" fmla="*/ 28 h 28"/>
                <a:gd name="T80" fmla="*/ 16 w 31"/>
                <a:gd name="T81" fmla="*/ 28 h 28"/>
                <a:gd name="T82" fmla="*/ 16 w 31"/>
                <a:gd name="T83" fmla="*/ 28 h 28"/>
                <a:gd name="T84" fmla="*/ 14 w 31"/>
                <a:gd name="T85" fmla="*/ 26 h 2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8"/>
                <a:gd name="T131" fmla="*/ 31 w 31"/>
                <a:gd name="T132" fmla="*/ 28 h 2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8">
                  <a:moveTo>
                    <a:pt x="14" y="26"/>
                  </a:moveTo>
                  <a:lnTo>
                    <a:pt x="19" y="28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5" y="21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9" y="26"/>
                  </a:lnTo>
                  <a:lnTo>
                    <a:pt x="12" y="28"/>
                  </a:lnTo>
                  <a:lnTo>
                    <a:pt x="14" y="28"/>
                  </a:lnTo>
                  <a:lnTo>
                    <a:pt x="16" y="28"/>
                  </a:lnTo>
                  <a:lnTo>
                    <a:pt x="14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81" name="Rectangle 546"/>
            <p:cNvSpPr>
              <a:spLocks noChangeArrowheads="1"/>
            </p:cNvSpPr>
            <p:nvPr/>
          </p:nvSpPr>
          <p:spPr bwMode="auto">
            <a:xfrm>
              <a:off x="3536" y="1229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382" name="Rectangle 547"/>
            <p:cNvSpPr>
              <a:spLocks noChangeArrowheads="1"/>
            </p:cNvSpPr>
            <p:nvPr/>
          </p:nvSpPr>
          <p:spPr bwMode="auto">
            <a:xfrm>
              <a:off x="3574" y="122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h</a:t>
              </a:r>
            </a:p>
          </p:txBody>
        </p:sp>
        <p:sp>
          <p:nvSpPr>
            <p:cNvPr id="2383" name="Rectangle 548"/>
            <p:cNvSpPr>
              <a:spLocks noChangeArrowheads="1"/>
            </p:cNvSpPr>
            <p:nvPr/>
          </p:nvSpPr>
          <p:spPr bwMode="auto">
            <a:xfrm>
              <a:off x="3607" y="1229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384" name="Rectangle 549"/>
            <p:cNvSpPr>
              <a:spLocks noChangeArrowheads="1"/>
            </p:cNvSpPr>
            <p:nvPr/>
          </p:nvSpPr>
          <p:spPr bwMode="auto">
            <a:xfrm>
              <a:off x="3622" y="122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2385" name="Rectangle 550"/>
            <p:cNvSpPr>
              <a:spLocks noChangeArrowheads="1"/>
            </p:cNvSpPr>
            <p:nvPr/>
          </p:nvSpPr>
          <p:spPr bwMode="auto">
            <a:xfrm>
              <a:off x="3638" y="122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386" name="Rectangle 551"/>
            <p:cNvSpPr>
              <a:spLocks noChangeArrowheads="1"/>
            </p:cNvSpPr>
            <p:nvPr/>
          </p:nvSpPr>
          <p:spPr bwMode="auto">
            <a:xfrm>
              <a:off x="3652" y="122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87" name="Rectangle 552"/>
            <p:cNvSpPr>
              <a:spLocks noChangeArrowheads="1"/>
            </p:cNvSpPr>
            <p:nvPr/>
          </p:nvSpPr>
          <p:spPr bwMode="auto">
            <a:xfrm>
              <a:off x="3527" y="1297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2388" name="Rectangle 553"/>
            <p:cNvSpPr>
              <a:spLocks noChangeArrowheads="1"/>
            </p:cNvSpPr>
            <p:nvPr/>
          </p:nvSpPr>
          <p:spPr bwMode="auto">
            <a:xfrm>
              <a:off x="3541" y="129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389" name="Rectangle 554"/>
            <p:cNvSpPr>
              <a:spLocks noChangeArrowheads="1"/>
            </p:cNvSpPr>
            <p:nvPr/>
          </p:nvSpPr>
          <p:spPr bwMode="auto">
            <a:xfrm>
              <a:off x="3574" y="129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2390" name="Rectangle 555"/>
            <p:cNvSpPr>
              <a:spLocks noChangeArrowheads="1"/>
            </p:cNvSpPr>
            <p:nvPr/>
          </p:nvSpPr>
          <p:spPr bwMode="auto">
            <a:xfrm>
              <a:off x="3588" y="129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391" name="Rectangle 556"/>
            <p:cNvSpPr>
              <a:spLocks noChangeArrowheads="1"/>
            </p:cNvSpPr>
            <p:nvPr/>
          </p:nvSpPr>
          <p:spPr bwMode="auto">
            <a:xfrm>
              <a:off x="3605" y="129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392" name="Rectangle 557"/>
            <p:cNvSpPr>
              <a:spLocks noChangeArrowheads="1"/>
            </p:cNvSpPr>
            <p:nvPr/>
          </p:nvSpPr>
          <p:spPr bwMode="auto">
            <a:xfrm>
              <a:off x="3622" y="129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2393" name="Freeform 558"/>
            <p:cNvSpPr>
              <a:spLocks noChangeArrowheads="1"/>
            </p:cNvSpPr>
            <p:nvPr/>
          </p:nvSpPr>
          <p:spPr bwMode="auto">
            <a:xfrm>
              <a:off x="2447" y="3004"/>
              <a:ext cx="28" cy="29"/>
            </a:xfrm>
            <a:custGeom>
              <a:avLst/>
              <a:gdLst>
                <a:gd name="T0" fmla="*/ 14 w 28"/>
                <a:gd name="T1" fmla="*/ 29 h 29"/>
                <a:gd name="T2" fmla="*/ 17 w 28"/>
                <a:gd name="T3" fmla="*/ 29 h 29"/>
                <a:gd name="T4" fmla="*/ 19 w 28"/>
                <a:gd name="T5" fmla="*/ 29 h 29"/>
                <a:gd name="T6" fmla="*/ 21 w 28"/>
                <a:gd name="T7" fmla="*/ 29 h 29"/>
                <a:gd name="T8" fmla="*/ 24 w 28"/>
                <a:gd name="T9" fmla="*/ 26 h 29"/>
                <a:gd name="T10" fmla="*/ 26 w 28"/>
                <a:gd name="T11" fmla="*/ 24 h 29"/>
                <a:gd name="T12" fmla="*/ 26 w 28"/>
                <a:gd name="T13" fmla="*/ 24 h 29"/>
                <a:gd name="T14" fmla="*/ 28 w 28"/>
                <a:gd name="T15" fmla="*/ 21 h 29"/>
                <a:gd name="T16" fmla="*/ 28 w 28"/>
                <a:gd name="T17" fmla="*/ 19 h 29"/>
                <a:gd name="T18" fmla="*/ 28 w 28"/>
                <a:gd name="T19" fmla="*/ 17 h 29"/>
                <a:gd name="T20" fmla="*/ 28 w 28"/>
                <a:gd name="T21" fmla="*/ 14 h 29"/>
                <a:gd name="T22" fmla="*/ 28 w 28"/>
                <a:gd name="T23" fmla="*/ 12 h 29"/>
                <a:gd name="T24" fmla="*/ 28 w 28"/>
                <a:gd name="T25" fmla="*/ 10 h 29"/>
                <a:gd name="T26" fmla="*/ 28 w 28"/>
                <a:gd name="T27" fmla="*/ 7 h 29"/>
                <a:gd name="T28" fmla="*/ 26 w 28"/>
                <a:gd name="T29" fmla="*/ 5 h 29"/>
                <a:gd name="T30" fmla="*/ 26 w 28"/>
                <a:gd name="T31" fmla="*/ 5 h 29"/>
                <a:gd name="T32" fmla="*/ 24 w 28"/>
                <a:gd name="T33" fmla="*/ 2 h 29"/>
                <a:gd name="T34" fmla="*/ 21 w 28"/>
                <a:gd name="T35" fmla="*/ 2 h 29"/>
                <a:gd name="T36" fmla="*/ 19 w 28"/>
                <a:gd name="T37" fmla="*/ 0 h 29"/>
                <a:gd name="T38" fmla="*/ 17 w 28"/>
                <a:gd name="T39" fmla="*/ 0 h 29"/>
                <a:gd name="T40" fmla="*/ 14 w 28"/>
                <a:gd name="T41" fmla="*/ 0 h 29"/>
                <a:gd name="T42" fmla="*/ 12 w 28"/>
                <a:gd name="T43" fmla="*/ 0 h 29"/>
                <a:gd name="T44" fmla="*/ 9 w 28"/>
                <a:gd name="T45" fmla="*/ 0 h 29"/>
                <a:gd name="T46" fmla="*/ 7 w 28"/>
                <a:gd name="T47" fmla="*/ 2 h 29"/>
                <a:gd name="T48" fmla="*/ 7 w 28"/>
                <a:gd name="T49" fmla="*/ 2 h 29"/>
                <a:gd name="T50" fmla="*/ 5 w 28"/>
                <a:gd name="T51" fmla="*/ 5 h 29"/>
                <a:gd name="T52" fmla="*/ 2 w 28"/>
                <a:gd name="T53" fmla="*/ 5 h 29"/>
                <a:gd name="T54" fmla="*/ 2 w 28"/>
                <a:gd name="T55" fmla="*/ 7 h 29"/>
                <a:gd name="T56" fmla="*/ 0 w 28"/>
                <a:gd name="T57" fmla="*/ 10 h 29"/>
                <a:gd name="T58" fmla="*/ 0 w 28"/>
                <a:gd name="T59" fmla="*/ 12 h 29"/>
                <a:gd name="T60" fmla="*/ 0 w 28"/>
                <a:gd name="T61" fmla="*/ 14 h 29"/>
                <a:gd name="T62" fmla="*/ 0 w 28"/>
                <a:gd name="T63" fmla="*/ 17 h 29"/>
                <a:gd name="T64" fmla="*/ 0 w 28"/>
                <a:gd name="T65" fmla="*/ 19 h 29"/>
                <a:gd name="T66" fmla="*/ 2 w 28"/>
                <a:gd name="T67" fmla="*/ 21 h 29"/>
                <a:gd name="T68" fmla="*/ 2 w 28"/>
                <a:gd name="T69" fmla="*/ 24 h 29"/>
                <a:gd name="T70" fmla="*/ 5 w 28"/>
                <a:gd name="T71" fmla="*/ 24 h 29"/>
                <a:gd name="T72" fmla="*/ 7 w 28"/>
                <a:gd name="T73" fmla="*/ 26 h 29"/>
                <a:gd name="T74" fmla="*/ 7 w 28"/>
                <a:gd name="T75" fmla="*/ 29 h 29"/>
                <a:gd name="T76" fmla="*/ 9 w 28"/>
                <a:gd name="T77" fmla="*/ 29 h 29"/>
                <a:gd name="T78" fmla="*/ 12 w 28"/>
                <a:gd name="T79" fmla="*/ 29 h 29"/>
                <a:gd name="T80" fmla="*/ 14 w 28"/>
                <a:gd name="T81" fmla="*/ 29 h 29"/>
                <a:gd name="T82" fmla="*/ 14 w 28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8"/>
                <a:gd name="T127" fmla="*/ 0 h 29"/>
                <a:gd name="T128" fmla="*/ 28 w 28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8" h="29">
                  <a:moveTo>
                    <a:pt x="14" y="29"/>
                  </a:moveTo>
                  <a:lnTo>
                    <a:pt x="17" y="29"/>
                  </a:lnTo>
                  <a:lnTo>
                    <a:pt x="19" y="29"/>
                  </a:lnTo>
                  <a:lnTo>
                    <a:pt x="21" y="29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8" y="17"/>
                  </a:lnTo>
                  <a:lnTo>
                    <a:pt x="28" y="14"/>
                  </a:lnTo>
                  <a:lnTo>
                    <a:pt x="28" y="12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4" name="Freeform 559"/>
            <p:cNvSpPr>
              <a:spLocks noChangeArrowheads="1"/>
            </p:cNvSpPr>
            <p:nvPr/>
          </p:nvSpPr>
          <p:spPr bwMode="auto">
            <a:xfrm>
              <a:off x="4214" y="2462"/>
              <a:ext cx="30" cy="28"/>
            </a:xfrm>
            <a:custGeom>
              <a:avLst/>
              <a:gdLst>
                <a:gd name="T0" fmla="*/ 14 w 30"/>
                <a:gd name="T1" fmla="*/ 28 h 28"/>
                <a:gd name="T2" fmla="*/ 16 w 30"/>
                <a:gd name="T3" fmla="*/ 28 h 28"/>
                <a:gd name="T4" fmla="*/ 18 w 30"/>
                <a:gd name="T5" fmla="*/ 28 h 28"/>
                <a:gd name="T6" fmla="*/ 21 w 30"/>
                <a:gd name="T7" fmla="*/ 26 h 28"/>
                <a:gd name="T8" fmla="*/ 23 w 30"/>
                <a:gd name="T9" fmla="*/ 26 h 28"/>
                <a:gd name="T10" fmla="*/ 26 w 30"/>
                <a:gd name="T11" fmla="*/ 24 h 28"/>
                <a:gd name="T12" fmla="*/ 26 w 30"/>
                <a:gd name="T13" fmla="*/ 21 h 28"/>
                <a:gd name="T14" fmla="*/ 28 w 30"/>
                <a:gd name="T15" fmla="*/ 21 h 28"/>
                <a:gd name="T16" fmla="*/ 28 w 30"/>
                <a:gd name="T17" fmla="*/ 19 h 28"/>
                <a:gd name="T18" fmla="*/ 28 w 30"/>
                <a:gd name="T19" fmla="*/ 16 h 28"/>
                <a:gd name="T20" fmla="*/ 30 w 30"/>
                <a:gd name="T21" fmla="*/ 14 h 28"/>
                <a:gd name="T22" fmla="*/ 28 w 30"/>
                <a:gd name="T23" fmla="*/ 12 h 28"/>
                <a:gd name="T24" fmla="*/ 28 w 30"/>
                <a:gd name="T25" fmla="*/ 9 h 28"/>
                <a:gd name="T26" fmla="*/ 28 w 30"/>
                <a:gd name="T27" fmla="*/ 7 h 28"/>
                <a:gd name="T28" fmla="*/ 26 w 30"/>
                <a:gd name="T29" fmla="*/ 5 h 28"/>
                <a:gd name="T30" fmla="*/ 26 w 30"/>
                <a:gd name="T31" fmla="*/ 2 h 28"/>
                <a:gd name="T32" fmla="*/ 23 w 30"/>
                <a:gd name="T33" fmla="*/ 2 h 28"/>
                <a:gd name="T34" fmla="*/ 21 w 30"/>
                <a:gd name="T35" fmla="*/ 0 h 28"/>
                <a:gd name="T36" fmla="*/ 18 w 30"/>
                <a:gd name="T37" fmla="*/ 0 h 28"/>
                <a:gd name="T38" fmla="*/ 16 w 30"/>
                <a:gd name="T39" fmla="*/ 0 h 28"/>
                <a:gd name="T40" fmla="*/ 14 w 30"/>
                <a:gd name="T41" fmla="*/ 0 h 28"/>
                <a:gd name="T42" fmla="*/ 11 w 30"/>
                <a:gd name="T43" fmla="*/ 0 h 28"/>
                <a:gd name="T44" fmla="*/ 9 w 30"/>
                <a:gd name="T45" fmla="*/ 0 h 28"/>
                <a:gd name="T46" fmla="*/ 9 w 30"/>
                <a:gd name="T47" fmla="*/ 0 h 28"/>
                <a:gd name="T48" fmla="*/ 7 w 30"/>
                <a:gd name="T49" fmla="*/ 2 h 28"/>
                <a:gd name="T50" fmla="*/ 4 w 30"/>
                <a:gd name="T51" fmla="*/ 2 h 28"/>
                <a:gd name="T52" fmla="*/ 2 w 30"/>
                <a:gd name="T53" fmla="*/ 5 h 28"/>
                <a:gd name="T54" fmla="*/ 2 w 30"/>
                <a:gd name="T55" fmla="*/ 7 h 28"/>
                <a:gd name="T56" fmla="*/ 2 w 30"/>
                <a:gd name="T57" fmla="*/ 9 h 28"/>
                <a:gd name="T58" fmla="*/ 0 w 30"/>
                <a:gd name="T59" fmla="*/ 12 h 28"/>
                <a:gd name="T60" fmla="*/ 0 w 30"/>
                <a:gd name="T61" fmla="*/ 14 h 28"/>
                <a:gd name="T62" fmla="*/ 0 w 30"/>
                <a:gd name="T63" fmla="*/ 16 h 28"/>
                <a:gd name="T64" fmla="*/ 2 w 30"/>
                <a:gd name="T65" fmla="*/ 19 h 28"/>
                <a:gd name="T66" fmla="*/ 2 w 30"/>
                <a:gd name="T67" fmla="*/ 21 h 28"/>
                <a:gd name="T68" fmla="*/ 2 w 30"/>
                <a:gd name="T69" fmla="*/ 21 h 28"/>
                <a:gd name="T70" fmla="*/ 4 w 30"/>
                <a:gd name="T71" fmla="*/ 24 h 28"/>
                <a:gd name="T72" fmla="*/ 7 w 30"/>
                <a:gd name="T73" fmla="*/ 26 h 28"/>
                <a:gd name="T74" fmla="*/ 9 w 30"/>
                <a:gd name="T75" fmla="*/ 26 h 28"/>
                <a:gd name="T76" fmla="*/ 9 w 30"/>
                <a:gd name="T77" fmla="*/ 28 h 28"/>
                <a:gd name="T78" fmla="*/ 11 w 30"/>
                <a:gd name="T79" fmla="*/ 28 h 28"/>
                <a:gd name="T80" fmla="*/ 14 w 30"/>
                <a:gd name="T81" fmla="*/ 28 h 28"/>
                <a:gd name="T82" fmla="*/ 14 w 30"/>
                <a:gd name="T83" fmla="*/ 28 h 2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8"/>
                <a:gd name="T128" fmla="*/ 30 w 30"/>
                <a:gd name="T129" fmla="*/ 28 h 2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8">
                  <a:moveTo>
                    <a:pt x="14" y="28"/>
                  </a:moveTo>
                  <a:lnTo>
                    <a:pt x="16" y="28"/>
                  </a:lnTo>
                  <a:lnTo>
                    <a:pt x="18" y="28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8" y="16"/>
                  </a:lnTo>
                  <a:lnTo>
                    <a:pt x="30" y="14"/>
                  </a:lnTo>
                  <a:lnTo>
                    <a:pt x="28" y="12"/>
                  </a:lnTo>
                  <a:lnTo>
                    <a:pt x="28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4" y="2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4" y="24"/>
                  </a:lnTo>
                  <a:lnTo>
                    <a:pt x="7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1" y="28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5" name="Rectangle 560"/>
            <p:cNvSpPr>
              <a:spLocks noChangeArrowheads="1"/>
            </p:cNvSpPr>
            <p:nvPr/>
          </p:nvSpPr>
          <p:spPr bwMode="auto">
            <a:xfrm>
              <a:off x="3849" y="2365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396" name="Rectangle 561"/>
            <p:cNvSpPr>
              <a:spLocks noChangeArrowheads="1"/>
            </p:cNvSpPr>
            <p:nvPr/>
          </p:nvSpPr>
          <p:spPr bwMode="auto">
            <a:xfrm>
              <a:off x="3889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2397" name="Rectangle 562"/>
            <p:cNvSpPr>
              <a:spLocks noChangeArrowheads="1"/>
            </p:cNvSpPr>
            <p:nvPr/>
          </p:nvSpPr>
          <p:spPr bwMode="auto">
            <a:xfrm>
              <a:off x="3922" y="236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398" name="Freeform 563"/>
            <p:cNvSpPr>
              <a:spLocks noChangeArrowheads="1"/>
            </p:cNvSpPr>
            <p:nvPr/>
          </p:nvSpPr>
          <p:spPr bwMode="auto">
            <a:xfrm>
              <a:off x="3475" y="1280"/>
              <a:ext cx="30" cy="31"/>
            </a:xfrm>
            <a:custGeom>
              <a:avLst/>
              <a:gdLst>
                <a:gd name="T0" fmla="*/ 0 w 30"/>
                <a:gd name="T1" fmla="*/ 0 h 31"/>
                <a:gd name="T2" fmla="*/ 0 w 30"/>
                <a:gd name="T3" fmla="*/ 31 h 31"/>
                <a:gd name="T4" fmla="*/ 30 w 30"/>
                <a:gd name="T5" fmla="*/ 17 h 31"/>
                <a:gd name="T6" fmla="*/ 0 w 30"/>
                <a:gd name="T7" fmla="*/ 3 h 31"/>
                <a:gd name="T8" fmla="*/ 0 w 30"/>
                <a:gd name="T9" fmla="*/ 3 h 31"/>
                <a:gd name="T10" fmla="*/ 0 w 30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"/>
                <a:gd name="T19" fmla="*/ 0 h 31"/>
                <a:gd name="T20" fmla="*/ 30 w 30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" h="31">
                  <a:moveTo>
                    <a:pt x="0" y="0"/>
                  </a:moveTo>
                  <a:lnTo>
                    <a:pt x="0" y="31"/>
                  </a:lnTo>
                  <a:lnTo>
                    <a:pt x="30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99" name="Freeform 564"/>
            <p:cNvSpPr>
              <a:spLocks noChangeArrowheads="1"/>
            </p:cNvSpPr>
            <p:nvPr/>
          </p:nvSpPr>
          <p:spPr bwMode="auto">
            <a:xfrm>
              <a:off x="3404" y="1297"/>
              <a:ext cx="80" cy="1409"/>
            </a:xfrm>
            <a:custGeom>
              <a:avLst/>
              <a:gdLst>
                <a:gd name="T0" fmla="*/ 0 w 80"/>
                <a:gd name="T1" fmla="*/ 1409 h 1409"/>
                <a:gd name="T2" fmla="*/ 0 w 80"/>
                <a:gd name="T3" fmla="*/ 0 h 1409"/>
                <a:gd name="T4" fmla="*/ 80 w 80"/>
                <a:gd name="T5" fmla="*/ 0 h 1409"/>
                <a:gd name="T6" fmla="*/ 0 60000 65536"/>
                <a:gd name="T7" fmla="*/ 0 60000 65536"/>
                <a:gd name="T8" fmla="*/ 0 60000 65536"/>
                <a:gd name="T9" fmla="*/ 0 w 80"/>
                <a:gd name="T10" fmla="*/ 0 h 1409"/>
                <a:gd name="T11" fmla="*/ 80 w 80"/>
                <a:gd name="T12" fmla="*/ 1409 h 14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" h="1409">
                  <a:moveTo>
                    <a:pt x="0" y="1409"/>
                  </a:moveTo>
                  <a:lnTo>
                    <a:pt x="0" y="0"/>
                  </a:lnTo>
                  <a:lnTo>
                    <a:pt x="8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00" name="Line 565"/>
            <p:cNvSpPr>
              <a:spLocks noChangeShapeType="1"/>
            </p:cNvSpPr>
            <p:nvPr/>
          </p:nvSpPr>
          <p:spPr bwMode="auto">
            <a:xfrm>
              <a:off x="3688" y="1294"/>
              <a:ext cx="64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1" name="Freeform 566"/>
            <p:cNvSpPr>
              <a:spLocks noChangeArrowheads="1"/>
            </p:cNvSpPr>
            <p:nvPr/>
          </p:nvSpPr>
          <p:spPr bwMode="auto">
            <a:xfrm>
              <a:off x="2044" y="2616"/>
              <a:ext cx="22" cy="2"/>
            </a:xfrm>
            <a:custGeom>
              <a:avLst/>
              <a:gdLst>
                <a:gd name="T0" fmla="*/ 0 w 22"/>
                <a:gd name="T1" fmla="*/ 0 h 2"/>
                <a:gd name="T2" fmla="*/ 22 w 22"/>
                <a:gd name="T3" fmla="*/ 2 h 2"/>
                <a:gd name="T4" fmla="*/ 0 w 22"/>
                <a:gd name="T5" fmla="*/ 0 h 2"/>
                <a:gd name="T6" fmla="*/ 0 60000 65536"/>
                <a:gd name="T7" fmla="*/ 0 60000 65536"/>
                <a:gd name="T8" fmla="*/ 0 60000 65536"/>
                <a:gd name="T9" fmla="*/ 0 w 22"/>
                <a:gd name="T10" fmla="*/ 0 h 2"/>
                <a:gd name="T11" fmla="*/ 22 w 22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2">
                  <a:moveTo>
                    <a:pt x="0" y="0"/>
                  </a:moveTo>
                  <a:lnTo>
                    <a:pt x="2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02" name="Line 567"/>
            <p:cNvSpPr>
              <a:spLocks noChangeShapeType="1"/>
            </p:cNvSpPr>
            <p:nvPr/>
          </p:nvSpPr>
          <p:spPr bwMode="auto">
            <a:xfrm>
              <a:off x="2044" y="2616"/>
              <a:ext cx="22" cy="2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3" name="Freeform 568"/>
            <p:cNvSpPr>
              <a:spLocks noChangeArrowheads="1"/>
            </p:cNvSpPr>
            <p:nvPr/>
          </p:nvSpPr>
          <p:spPr bwMode="auto">
            <a:xfrm>
              <a:off x="2044" y="2263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04" name="Line 569"/>
            <p:cNvSpPr>
              <a:spLocks noChangeShapeType="1"/>
            </p:cNvSpPr>
            <p:nvPr/>
          </p:nvSpPr>
          <p:spPr bwMode="auto">
            <a:xfrm>
              <a:off x="2044" y="2263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5" name="Freeform 570"/>
            <p:cNvSpPr>
              <a:spLocks noChangeArrowheads="1"/>
            </p:cNvSpPr>
            <p:nvPr/>
          </p:nvSpPr>
          <p:spPr bwMode="auto">
            <a:xfrm>
              <a:off x="2044" y="2088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06" name="Line 571"/>
            <p:cNvSpPr>
              <a:spLocks noChangeShapeType="1"/>
            </p:cNvSpPr>
            <p:nvPr/>
          </p:nvSpPr>
          <p:spPr bwMode="auto">
            <a:xfrm>
              <a:off x="2044" y="2088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7" name="Freeform 572"/>
            <p:cNvSpPr>
              <a:spLocks noChangeArrowheads="1"/>
            </p:cNvSpPr>
            <p:nvPr/>
          </p:nvSpPr>
          <p:spPr bwMode="auto">
            <a:xfrm>
              <a:off x="2042" y="1600"/>
              <a:ext cx="24" cy="1"/>
            </a:xfrm>
            <a:custGeom>
              <a:avLst/>
              <a:gdLst>
                <a:gd name="T0" fmla="*/ 0 w 24"/>
                <a:gd name="T1" fmla="*/ 0 h 1"/>
                <a:gd name="T2" fmla="*/ 24 w 24"/>
                <a:gd name="T3" fmla="*/ 0 h 1"/>
                <a:gd name="T4" fmla="*/ 0 w 24"/>
                <a:gd name="T5" fmla="*/ 0 h 1"/>
                <a:gd name="T6" fmla="*/ 0 60000 65536"/>
                <a:gd name="T7" fmla="*/ 0 60000 65536"/>
                <a:gd name="T8" fmla="*/ 0 60000 65536"/>
                <a:gd name="T9" fmla="*/ 0 w 24"/>
                <a:gd name="T10" fmla="*/ 0 h 1"/>
                <a:gd name="T11" fmla="*/ 24 w 2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" h="1">
                  <a:moveTo>
                    <a:pt x="0" y="0"/>
                  </a:move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08" name="Line 573"/>
            <p:cNvSpPr>
              <a:spLocks noChangeShapeType="1"/>
            </p:cNvSpPr>
            <p:nvPr/>
          </p:nvSpPr>
          <p:spPr bwMode="auto">
            <a:xfrm>
              <a:off x="2042" y="1600"/>
              <a:ext cx="24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9" name="Freeform 574"/>
            <p:cNvSpPr>
              <a:spLocks noChangeArrowheads="1"/>
            </p:cNvSpPr>
            <p:nvPr/>
          </p:nvSpPr>
          <p:spPr bwMode="auto">
            <a:xfrm>
              <a:off x="2044" y="2969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10" name="Line 575"/>
            <p:cNvSpPr>
              <a:spLocks noChangeShapeType="1"/>
            </p:cNvSpPr>
            <p:nvPr/>
          </p:nvSpPr>
          <p:spPr bwMode="auto">
            <a:xfrm>
              <a:off x="2044" y="2969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1" name="Freeform 576"/>
            <p:cNvSpPr>
              <a:spLocks noChangeArrowheads="1"/>
            </p:cNvSpPr>
            <p:nvPr/>
          </p:nvSpPr>
          <p:spPr bwMode="auto">
            <a:xfrm>
              <a:off x="2835" y="3272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12" name="Line 577"/>
            <p:cNvSpPr>
              <a:spLocks noChangeShapeType="1"/>
            </p:cNvSpPr>
            <p:nvPr/>
          </p:nvSpPr>
          <p:spPr bwMode="auto">
            <a:xfrm>
              <a:off x="2835" y="3272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3" name="Freeform 578"/>
            <p:cNvSpPr>
              <a:spLocks noChangeArrowheads="1"/>
            </p:cNvSpPr>
            <p:nvPr/>
          </p:nvSpPr>
          <p:spPr bwMode="auto">
            <a:xfrm>
              <a:off x="4346" y="2459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7 h 31"/>
                <a:gd name="T6" fmla="*/ 0 w 31"/>
                <a:gd name="T7" fmla="*/ 3 h 31"/>
                <a:gd name="T8" fmla="*/ 0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14" name="Rectangle 579"/>
            <p:cNvSpPr>
              <a:spLocks noChangeArrowheads="1"/>
            </p:cNvSpPr>
            <p:nvPr/>
          </p:nvSpPr>
          <p:spPr bwMode="auto">
            <a:xfrm>
              <a:off x="4405" y="2436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415" name="Rectangle 580"/>
            <p:cNvSpPr>
              <a:spLocks noChangeArrowheads="1"/>
            </p:cNvSpPr>
            <p:nvPr/>
          </p:nvSpPr>
          <p:spPr bwMode="auto">
            <a:xfrm>
              <a:off x="4443" y="24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416" name="Rectangle 581"/>
            <p:cNvSpPr>
              <a:spLocks noChangeArrowheads="1"/>
            </p:cNvSpPr>
            <p:nvPr/>
          </p:nvSpPr>
          <p:spPr bwMode="auto">
            <a:xfrm>
              <a:off x="4476" y="24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417" name="Rectangle 582"/>
            <p:cNvSpPr>
              <a:spLocks noChangeArrowheads="1"/>
            </p:cNvSpPr>
            <p:nvPr/>
          </p:nvSpPr>
          <p:spPr bwMode="auto">
            <a:xfrm>
              <a:off x="4510" y="243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418" name="Rectangle 583"/>
            <p:cNvSpPr>
              <a:spLocks noChangeArrowheads="1"/>
            </p:cNvSpPr>
            <p:nvPr/>
          </p:nvSpPr>
          <p:spPr bwMode="auto">
            <a:xfrm>
              <a:off x="4528" y="24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419" name="Rectangle 584"/>
            <p:cNvSpPr>
              <a:spLocks noChangeArrowheads="1"/>
            </p:cNvSpPr>
            <p:nvPr/>
          </p:nvSpPr>
          <p:spPr bwMode="auto">
            <a:xfrm>
              <a:off x="4562" y="243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420" name="Rectangle 585"/>
            <p:cNvSpPr>
              <a:spLocks noChangeArrowheads="1"/>
            </p:cNvSpPr>
            <p:nvPr/>
          </p:nvSpPr>
          <p:spPr bwMode="auto">
            <a:xfrm>
              <a:off x="4590" y="243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</p:grpSp>
      <p:grpSp>
        <p:nvGrpSpPr>
          <p:cNvPr id="2439" name="Group 586"/>
          <p:cNvGrpSpPr>
            <a:grpSpLocks/>
          </p:cNvGrpSpPr>
          <p:nvPr/>
        </p:nvGrpSpPr>
        <p:grpSpPr bwMode="auto">
          <a:xfrm>
            <a:off x="2016919" y="3839368"/>
            <a:ext cx="1676401" cy="1363663"/>
            <a:chOff x="576" y="2256"/>
            <a:chExt cx="1056" cy="859"/>
          </a:xfrm>
        </p:grpSpPr>
        <p:sp>
          <p:nvSpPr>
            <p:cNvPr id="2440" name="Line 587"/>
            <p:cNvSpPr>
              <a:spLocks noChangeShapeType="1"/>
            </p:cNvSpPr>
            <p:nvPr/>
          </p:nvSpPr>
          <p:spPr bwMode="auto">
            <a:xfrm>
              <a:off x="576" y="2256"/>
              <a:ext cx="1056" cy="1"/>
            </a:xfrm>
            <a:prstGeom prst="line">
              <a:avLst/>
            </a:prstGeom>
            <a:noFill/>
            <a:ln w="57240">
              <a:solidFill>
                <a:srgbClr val="CD3333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41" name="Text Box 588"/>
            <p:cNvSpPr txBox="1">
              <a:spLocks noChangeArrowheads="1"/>
            </p:cNvSpPr>
            <p:nvPr/>
          </p:nvSpPr>
          <p:spPr bwMode="auto">
            <a:xfrm>
              <a:off x="769" y="2784"/>
              <a:ext cx="316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700"/>
                </a:spcBef>
                <a:buClr>
                  <a:srgbClr val="000000"/>
                </a:buClr>
                <a:buFont typeface="Wingdings" charset="2"/>
                <a:buNone/>
              </a:pPr>
              <a:r>
                <a:rPr lang="en-US" altLang="zh-TW" sz="2800" dirty="0">
                  <a:solidFill>
                    <a:srgbClr val="CD3333"/>
                  </a:solidFill>
                  <a:latin typeface="Wingdings 2" charset="2"/>
                  <a:ea typeface="新細明體" charset="-120"/>
                  <a:cs typeface="Wingdings 2" charset="2"/>
                </a:rPr>
                <a:t>j</a:t>
              </a:r>
              <a:endParaRPr lang="zh-TW" altLang="en-GB" sz="2800" dirty="0">
                <a:solidFill>
                  <a:srgbClr val="996633"/>
                </a:solidFill>
                <a:latin typeface="Wingdings" charset="2"/>
                <a:ea typeface="新細明體" charset="-120"/>
              </a:endParaRPr>
            </a:p>
          </p:txBody>
        </p:sp>
      </p:grpSp>
      <p:grpSp>
        <p:nvGrpSpPr>
          <p:cNvPr id="2442" name="Group 589"/>
          <p:cNvGrpSpPr>
            <a:grpSpLocks/>
          </p:cNvGrpSpPr>
          <p:nvPr/>
        </p:nvGrpSpPr>
        <p:grpSpPr bwMode="auto">
          <a:xfrm>
            <a:off x="4785519" y="3229768"/>
            <a:ext cx="4724400" cy="3119438"/>
            <a:chOff x="2352" y="1872"/>
            <a:chExt cx="2976" cy="1965"/>
          </a:xfrm>
        </p:grpSpPr>
        <p:sp>
          <p:nvSpPr>
            <p:cNvPr id="2443" name="Text Box 590"/>
            <p:cNvSpPr txBox="1">
              <a:spLocks noChangeArrowheads="1"/>
            </p:cNvSpPr>
            <p:nvPr/>
          </p:nvSpPr>
          <p:spPr bwMode="auto">
            <a:xfrm>
              <a:off x="4560" y="3504"/>
              <a:ext cx="657" cy="33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700"/>
                </a:spcBef>
                <a:buClr>
                  <a:srgbClr val="000000"/>
                </a:buClr>
                <a:buFont typeface="Wingdings" charset="2"/>
                <a:buNone/>
              </a:pPr>
              <a:r>
                <a:rPr lang="zh-TW" altLang="en-GB" sz="2800">
                  <a:solidFill>
                    <a:srgbClr val="996633"/>
                  </a:solidFill>
                  <a:latin typeface="Wingdings" charset="2"/>
                  <a:ea typeface="新細明體" charset="-120"/>
                </a:rPr>
                <a:t></a:t>
              </a:r>
            </a:p>
          </p:txBody>
        </p:sp>
        <p:grpSp>
          <p:nvGrpSpPr>
            <p:cNvPr id="2444" name="Group 591"/>
            <p:cNvGrpSpPr>
              <a:grpSpLocks/>
            </p:cNvGrpSpPr>
            <p:nvPr/>
          </p:nvGrpSpPr>
          <p:grpSpPr bwMode="auto">
            <a:xfrm>
              <a:off x="2352" y="1872"/>
              <a:ext cx="2976" cy="1632"/>
              <a:chOff x="2352" y="1872"/>
              <a:chExt cx="2976" cy="1632"/>
            </a:xfrm>
          </p:grpSpPr>
          <p:sp>
            <p:nvSpPr>
              <p:cNvPr id="2445" name="Freeform 592"/>
              <p:cNvSpPr>
                <a:spLocks/>
              </p:cNvSpPr>
              <p:nvPr/>
            </p:nvSpPr>
            <p:spPr bwMode="auto">
              <a:xfrm>
                <a:off x="2352" y="2640"/>
                <a:ext cx="2976" cy="864"/>
              </a:xfrm>
              <a:custGeom>
                <a:avLst/>
                <a:gdLst>
                  <a:gd name="T0" fmla="*/ 2976 w 2976"/>
                  <a:gd name="T1" fmla="*/ 864 h 864"/>
                  <a:gd name="T2" fmla="*/ 0 w 2976"/>
                  <a:gd name="T3" fmla="*/ 864 h 864"/>
                  <a:gd name="T4" fmla="*/ 0 w 2976"/>
                  <a:gd name="T5" fmla="*/ 0 h 864"/>
                  <a:gd name="T6" fmla="*/ 192 w 2976"/>
                  <a:gd name="T7" fmla="*/ 0 h 86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76"/>
                  <a:gd name="T13" fmla="*/ 0 h 864"/>
                  <a:gd name="T14" fmla="*/ 2976 w 2976"/>
                  <a:gd name="T15" fmla="*/ 864 h 86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76" h="864">
                    <a:moveTo>
                      <a:pt x="2976" y="864"/>
                    </a:moveTo>
                    <a:lnTo>
                      <a:pt x="0" y="864"/>
                    </a:lnTo>
                    <a:lnTo>
                      <a:pt x="0" y="0"/>
                    </a:lnTo>
                    <a:lnTo>
                      <a:pt x="192" y="0"/>
                    </a:lnTo>
                  </a:path>
                </a:pathLst>
              </a:custGeom>
              <a:noFill/>
              <a:ln w="57240">
                <a:solidFill>
                  <a:srgbClr val="33CC33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46" name="Text Box 593"/>
              <p:cNvSpPr txBox="1">
                <a:spLocks noChangeArrowheads="1"/>
              </p:cNvSpPr>
              <p:nvPr/>
            </p:nvSpPr>
            <p:spPr bwMode="auto">
              <a:xfrm>
                <a:off x="2833" y="1872"/>
                <a:ext cx="212" cy="237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  <a:effectLst/>
            </p:spPr>
            <p:txBody>
              <a:bodyPr wrap="none" lIns="90000" tIns="46800" rIns="90000" bIns="46800">
                <a:spAutoFit/>
              </a:bodyPr>
              <a:lstStyle>
                <a:lvl1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1pPr>
                <a:lvl2pPr marL="37931725" indent="-37474525"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2pPr>
                <a:lvl3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3pPr>
                <a:lvl4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4pPr>
                <a:lvl5pPr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5pPr>
                <a:lvl6pPr marL="4572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6pPr>
                <a:lvl7pPr marL="9144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7pPr>
                <a:lvl8pPr marL="13716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8pPr>
                <a:lvl9pPr marL="1828800" eaLnBrk="0" fontAlgn="base" hangingPunct="0">
                  <a:lnSpc>
                    <a:spcPct val="95000"/>
                  </a:lnSpc>
                  <a:spcBef>
                    <a:spcPct val="0"/>
                  </a:spcBef>
                  <a:spcAft>
                    <a:spcPct val="0"/>
                  </a:spcAft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bg1"/>
                    </a:solidFill>
                    <a:latin typeface="Times New Roman" charset="0"/>
                    <a:ea typeface="SimSun" charset="-122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450"/>
                  </a:spcBef>
                  <a:buClr>
                    <a:srgbClr val="000000"/>
                  </a:buClr>
                  <a:buFont typeface="Tahoma" charset="0"/>
                  <a:buNone/>
                </a:pPr>
                <a:r>
                  <a:rPr lang="en-GB" altLang="zh-TW" sz="1800" b="1">
                    <a:solidFill>
                      <a:srgbClr val="3333CC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ahoma" charset="0"/>
                    <a:ea typeface="新細明體" charset="-120"/>
                  </a:rPr>
                  <a:t>1</a:t>
                </a:r>
              </a:p>
            </p:txBody>
          </p:sp>
        </p:grpSp>
      </p:grpSp>
      <p:sp>
        <p:nvSpPr>
          <p:cNvPr id="2447" name="Text Box 594"/>
          <p:cNvSpPr txBox="1">
            <a:spLocks noChangeArrowheads="1"/>
          </p:cNvSpPr>
          <p:nvPr/>
        </p:nvSpPr>
        <p:spPr bwMode="auto">
          <a:xfrm>
            <a:off x="8571707" y="3458368"/>
            <a:ext cx="327025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spcBef>
                <a:spcPts val="450"/>
              </a:spcBef>
              <a:buClr>
                <a:srgbClr val="000000"/>
              </a:buClr>
              <a:buFont typeface="Tahoma" charset="0"/>
              <a:buNone/>
            </a:pPr>
            <a:r>
              <a:rPr lang="en-GB" altLang="zh-TW" sz="1800" b="1">
                <a:solidFill>
                  <a:srgbClr val="0832B8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charset="0"/>
                <a:ea typeface="新細明體" charset="-120"/>
              </a:rPr>
              <a:t>0</a:t>
            </a:r>
          </a:p>
        </p:txBody>
      </p:sp>
      <p:grpSp>
        <p:nvGrpSpPr>
          <p:cNvPr id="2448" name="Group 595"/>
          <p:cNvGrpSpPr>
            <a:grpSpLocks/>
          </p:cNvGrpSpPr>
          <p:nvPr/>
        </p:nvGrpSpPr>
        <p:grpSpPr bwMode="auto">
          <a:xfrm>
            <a:off x="3693319" y="2848768"/>
            <a:ext cx="1446213" cy="2144713"/>
            <a:chOff x="1632" y="1632"/>
            <a:chExt cx="911" cy="1351"/>
          </a:xfrm>
        </p:grpSpPr>
        <p:sp>
          <p:nvSpPr>
            <p:cNvPr id="2449" name="Freeform 596"/>
            <p:cNvSpPr>
              <a:spLocks/>
            </p:cNvSpPr>
            <p:nvPr/>
          </p:nvSpPr>
          <p:spPr bwMode="auto">
            <a:xfrm>
              <a:off x="1632" y="1632"/>
              <a:ext cx="576" cy="624"/>
            </a:xfrm>
            <a:custGeom>
              <a:avLst/>
              <a:gdLst>
                <a:gd name="T0" fmla="*/ 0 w 576"/>
                <a:gd name="T1" fmla="*/ 624 h 624"/>
                <a:gd name="T2" fmla="*/ 0 w 576"/>
                <a:gd name="T3" fmla="*/ 0 h 624"/>
                <a:gd name="T4" fmla="*/ 576 w 576"/>
                <a:gd name="T5" fmla="*/ 0 h 624"/>
                <a:gd name="T6" fmla="*/ 0 60000 65536"/>
                <a:gd name="T7" fmla="*/ 0 60000 65536"/>
                <a:gd name="T8" fmla="*/ 0 60000 65536"/>
                <a:gd name="T9" fmla="*/ 0 w 576"/>
                <a:gd name="T10" fmla="*/ 0 h 624"/>
                <a:gd name="T11" fmla="*/ 576 w 576"/>
                <a:gd name="T12" fmla="*/ 624 h 6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624">
                  <a:moveTo>
                    <a:pt x="0" y="624"/>
                  </a:moveTo>
                  <a:lnTo>
                    <a:pt x="0" y="0"/>
                  </a:lnTo>
                  <a:lnTo>
                    <a:pt x="576" y="0"/>
                  </a:lnTo>
                </a:path>
              </a:pathLst>
            </a:custGeom>
            <a:noFill/>
            <a:ln w="38160">
              <a:solidFill>
                <a:srgbClr val="33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0" name="Freeform 597"/>
            <p:cNvSpPr>
              <a:spLocks/>
            </p:cNvSpPr>
            <p:nvPr/>
          </p:nvSpPr>
          <p:spPr bwMode="auto">
            <a:xfrm>
              <a:off x="1632" y="2160"/>
              <a:ext cx="864" cy="96"/>
            </a:xfrm>
            <a:custGeom>
              <a:avLst/>
              <a:gdLst>
                <a:gd name="T0" fmla="*/ 0 w 576"/>
                <a:gd name="T1" fmla="*/ 624 h 624"/>
                <a:gd name="T2" fmla="*/ 0 w 576"/>
                <a:gd name="T3" fmla="*/ 0 h 624"/>
                <a:gd name="T4" fmla="*/ 576 w 576"/>
                <a:gd name="T5" fmla="*/ 0 h 624"/>
                <a:gd name="T6" fmla="*/ 0 60000 65536"/>
                <a:gd name="T7" fmla="*/ 0 60000 65536"/>
                <a:gd name="T8" fmla="*/ 0 60000 65536"/>
                <a:gd name="T9" fmla="*/ 0 w 576"/>
                <a:gd name="T10" fmla="*/ 0 h 624"/>
                <a:gd name="T11" fmla="*/ 576 w 576"/>
                <a:gd name="T12" fmla="*/ 624 h 6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624">
                  <a:moveTo>
                    <a:pt x="0" y="624"/>
                  </a:moveTo>
                  <a:lnTo>
                    <a:pt x="0" y="0"/>
                  </a:lnTo>
                  <a:lnTo>
                    <a:pt x="576" y="0"/>
                  </a:lnTo>
                </a:path>
              </a:pathLst>
            </a:custGeom>
            <a:noFill/>
            <a:ln w="38160">
              <a:solidFill>
                <a:srgbClr val="CD33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1" name="Text Box 598"/>
            <p:cNvSpPr txBox="1">
              <a:spLocks noChangeArrowheads="1"/>
            </p:cNvSpPr>
            <p:nvPr/>
          </p:nvSpPr>
          <p:spPr bwMode="auto">
            <a:xfrm>
              <a:off x="1729" y="1728"/>
              <a:ext cx="31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700"/>
                </a:spcBef>
                <a:buClr>
                  <a:srgbClr val="000000"/>
                </a:buClr>
                <a:buFont typeface="Wingdings" charset="2"/>
                <a:buNone/>
              </a:pPr>
              <a:r>
                <a:rPr lang="zh-TW" altLang="en-GB" sz="2800" dirty="0">
                  <a:solidFill>
                    <a:srgbClr val="996633"/>
                  </a:solidFill>
                  <a:latin typeface="Wingdings" charset="2"/>
                  <a:ea typeface="新細明體" charset="-120"/>
                </a:rPr>
                <a:t></a:t>
              </a:r>
            </a:p>
          </p:txBody>
        </p:sp>
        <p:sp>
          <p:nvSpPr>
            <p:cNvPr id="2452" name="Text Box 599"/>
            <p:cNvSpPr txBox="1">
              <a:spLocks noChangeArrowheads="1"/>
            </p:cNvSpPr>
            <p:nvPr/>
          </p:nvSpPr>
          <p:spPr bwMode="auto">
            <a:xfrm>
              <a:off x="2161" y="2752"/>
              <a:ext cx="206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</a:pPr>
              <a:r>
                <a:rPr lang="en-GB" altLang="zh-TW" sz="18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2453" name="Freeform 600"/>
            <p:cNvSpPr>
              <a:spLocks/>
            </p:cNvSpPr>
            <p:nvPr/>
          </p:nvSpPr>
          <p:spPr bwMode="auto">
            <a:xfrm>
              <a:off x="1632" y="2256"/>
              <a:ext cx="912" cy="240"/>
            </a:xfrm>
            <a:custGeom>
              <a:avLst/>
              <a:gdLst>
                <a:gd name="T0" fmla="*/ 0 w 912"/>
                <a:gd name="T1" fmla="*/ 0 h 240"/>
                <a:gd name="T2" fmla="*/ 0 w 912"/>
                <a:gd name="T3" fmla="*/ 48 h 240"/>
                <a:gd name="T4" fmla="*/ 480 w 912"/>
                <a:gd name="T5" fmla="*/ 48 h 240"/>
                <a:gd name="T6" fmla="*/ 480 w 912"/>
                <a:gd name="T7" fmla="*/ 144 h 240"/>
                <a:gd name="T8" fmla="*/ 672 w 912"/>
                <a:gd name="T9" fmla="*/ 144 h 240"/>
                <a:gd name="T10" fmla="*/ 672 w 912"/>
                <a:gd name="T11" fmla="*/ 240 h 240"/>
                <a:gd name="T12" fmla="*/ 912 w 912"/>
                <a:gd name="T13" fmla="*/ 240 h 2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12"/>
                <a:gd name="T22" fmla="*/ 0 h 240"/>
                <a:gd name="T23" fmla="*/ 912 w 912"/>
                <a:gd name="T24" fmla="*/ 240 h 240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12" h="240">
                  <a:moveTo>
                    <a:pt x="0" y="0"/>
                  </a:moveTo>
                  <a:lnTo>
                    <a:pt x="0" y="48"/>
                  </a:lnTo>
                  <a:lnTo>
                    <a:pt x="480" y="48"/>
                  </a:lnTo>
                  <a:lnTo>
                    <a:pt x="480" y="144"/>
                  </a:lnTo>
                  <a:lnTo>
                    <a:pt x="672" y="144"/>
                  </a:lnTo>
                  <a:lnTo>
                    <a:pt x="672" y="240"/>
                  </a:lnTo>
                  <a:lnTo>
                    <a:pt x="912" y="240"/>
                  </a:lnTo>
                </a:path>
              </a:pathLst>
            </a:custGeom>
            <a:noFill/>
            <a:ln w="38160">
              <a:solidFill>
                <a:srgbClr val="CD33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454" name="Group 601"/>
          <p:cNvGrpSpPr>
            <a:grpSpLocks/>
          </p:cNvGrpSpPr>
          <p:nvPr/>
        </p:nvGrpSpPr>
        <p:grpSpPr bwMode="auto">
          <a:xfrm>
            <a:off x="3693319" y="3763168"/>
            <a:ext cx="4079875" cy="2043113"/>
            <a:chOff x="1632" y="2208"/>
            <a:chExt cx="2570" cy="1287"/>
          </a:xfrm>
        </p:grpSpPr>
        <p:sp>
          <p:nvSpPr>
            <p:cNvPr id="2455" name="Text Box 602"/>
            <p:cNvSpPr txBox="1">
              <a:spLocks noChangeArrowheads="1"/>
            </p:cNvSpPr>
            <p:nvPr/>
          </p:nvSpPr>
          <p:spPr bwMode="auto">
            <a:xfrm>
              <a:off x="3889" y="3024"/>
              <a:ext cx="31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700"/>
                </a:spcBef>
                <a:buClr>
                  <a:srgbClr val="000000"/>
                </a:buClr>
                <a:buFont typeface="Wingdings" charset="2"/>
                <a:buNone/>
              </a:pPr>
              <a:r>
                <a:rPr lang="zh-TW" altLang="en-GB" sz="2800">
                  <a:solidFill>
                    <a:srgbClr val="996633"/>
                  </a:solidFill>
                  <a:latin typeface="Wingdings" charset="2"/>
                  <a:ea typeface="新細明體" charset="-120"/>
                </a:rPr>
                <a:t></a:t>
              </a:r>
            </a:p>
          </p:txBody>
        </p:sp>
        <p:sp>
          <p:nvSpPr>
            <p:cNvPr id="2456" name="Line 603"/>
            <p:cNvSpPr>
              <a:spLocks noChangeShapeType="1"/>
            </p:cNvSpPr>
            <p:nvPr/>
          </p:nvSpPr>
          <p:spPr bwMode="auto">
            <a:xfrm>
              <a:off x="3168" y="2208"/>
              <a:ext cx="576" cy="1"/>
            </a:xfrm>
            <a:prstGeom prst="line">
              <a:avLst/>
            </a:prstGeom>
            <a:noFill/>
            <a:ln w="57240">
              <a:solidFill>
                <a:srgbClr val="CD3333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7" name="Text Box 604"/>
            <p:cNvSpPr txBox="1">
              <a:spLocks noChangeArrowheads="1"/>
            </p:cNvSpPr>
            <p:nvPr/>
          </p:nvSpPr>
          <p:spPr bwMode="auto">
            <a:xfrm>
              <a:off x="3409" y="2208"/>
              <a:ext cx="206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</a:pPr>
              <a:r>
                <a:rPr lang="en-GB" altLang="zh-TW" sz="18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2458" name="Freeform 605"/>
            <p:cNvSpPr>
              <a:spLocks/>
            </p:cNvSpPr>
            <p:nvPr/>
          </p:nvSpPr>
          <p:spPr bwMode="auto">
            <a:xfrm>
              <a:off x="1632" y="2640"/>
              <a:ext cx="2256" cy="672"/>
            </a:xfrm>
            <a:custGeom>
              <a:avLst/>
              <a:gdLst>
                <a:gd name="T0" fmla="*/ 0 w 2256"/>
                <a:gd name="T1" fmla="*/ 48 h 672"/>
                <a:gd name="T2" fmla="*/ 0 w 2256"/>
                <a:gd name="T3" fmla="*/ 384 h 672"/>
                <a:gd name="T4" fmla="*/ 816 w 2256"/>
                <a:gd name="T5" fmla="*/ 384 h 672"/>
                <a:gd name="T6" fmla="*/ 816 w 2256"/>
                <a:gd name="T7" fmla="*/ 672 h 672"/>
                <a:gd name="T8" fmla="*/ 1824 w 2256"/>
                <a:gd name="T9" fmla="*/ 672 h 672"/>
                <a:gd name="T10" fmla="*/ 1824 w 2256"/>
                <a:gd name="T11" fmla="*/ 480 h 672"/>
                <a:gd name="T12" fmla="*/ 2256 w 2256"/>
                <a:gd name="T13" fmla="*/ 480 h 672"/>
                <a:gd name="T14" fmla="*/ 2256 w 2256"/>
                <a:gd name="T15" fmla="*/ 0 h 6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256"/>
                <a:gd name="T25" fmla="*/ 0 h 672"/>
                <a:gd name="T26" fmla="*/ 2256 w 2256"/>
                <a:gd name="T27" fmla="*/ 672 h 6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256" h="672">
                  <a:moveTo>
                    <a:pt x="0" y="48"/>
                  </a:moveTo>
                  <a:lnTo>
                    <a:pt x="0" y="384"/>
                  </a:lnTo>
                  <a:lnTo>
                    <a:pt x="816" y="384"/>
                  </a:lnTo>
                  <a:lnTo>
                    <a:pt x="816" y="672"/>
                  </a:lnTo>
                  <a:lnTo>
                    <a:pt x="1824" y="672"/>
                  </a:lnTo>
                  <a:lnTo>
                    <a:pt x="1824" y="480"/>
                  </a:lnTo>
                  <a:lnTo>
                    <a:pt x="2256" y="480"/>
                  </a:lnTo>
                  <a:lnTo>
                    <a:pt x="2256" y="0"/>
                  </a:lnTo>
                </a:path>
              </a:pathLst>
            </a:custGeom>
            <a:noFill/>
            <a:ln w="3816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9" name="Text Box 606"/>
            <p:cNvSpPr txBox="1">
              <a:spLocks noChangeArrowheads="1"/>
            </p:cNvSpPr>
            <p:nvPr/>
          </p:nvSpPr>
          <p:spPr bwMode="auto">
            <a:xfrm>
              <a:off x="3697" y="3264"/>
              <a:ext cx="298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</a:pPr>
              <a:r>
                <a:rPr lang="en-GB" altLang="zh-TW" sz="18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  <a:ea typeface="新細明體" charset="-120"/>
                </a:rPr>
                <a:t>00</a:t>
              </a:r>
            </a:p>
          </p:txBody>
        </p:sp>
        <p:sp>
          <p:nvSpPr>
            <p:cNvPr id="2460" name="Freeform 607"/>
            <p:cNvSpPr>
              <a:spLocks/>
            </p:cNvSpPr>
            <p:nvPr/>
          </p:nvSpPr>
          <p:spPr bwMode="auto">
            <a:xfrm>
              <a:off x="1632" y="2304"/>
              <a:ext cx="1296" cy="720"/>
            </a:xfrm>
            <a:custGeom>
              <a:avLst/>
              <a:gdLst>
                <a:gd name="T0" fmla="*/ 0 w 1296"/>
                <a:gd name="T1" fmla="*/ 0 h 720"/>
                <a:gd name="T2" fmla="*/ 0 w 1296"/>
                <a:gd name="T3" fmla="*/ 720 h 720"/>
                <a:gd name="T4" fmla="*/ 1296 w 1296"/>
                <a:gd name="T5" fmla="*/ 720 h 720"/>
                <a:gd name="T6" fmla="*/ 0 60000 65536"/>
                <a:gd name="T7" fmla="*/ 0 60000 65536"/>
                <a:gd name="T8" fmla="*/ 0 60000 65536"/>
                <a:gd name="T9" fmla="*/ 0 w 1296"/>
                <a:gd name="T10" fmla="*/ 0 h 720"/>
                <a:gd name="T11" fmla="*/ 1296 w 1296"/>
                <a:gd name="T12" fmla="*/ 720 h 7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720">
                  <a:moveTo>
                    <a:pt x="0" y="0"/>
                  </a:moveTo>
                  <a:lnTo>
                    <a:pt x="0" y="720"/>
                  </a:lnTo>
                  <a:lnTo>
                    <a:pt x="1296" y="720"/>
                  </a:lnTo>
                </a:path>
              </a:pathLst>
            </a:custGeom>
            <a:noFill/>
            <a:ln w="38160">
              <a:solidFill>
                <a:srgbClr val="CD33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1" name="Freeform 608"/>
            <p:cNvSpPr>
              <a:spLocks/>
            </p:cNvSpPr>
            <p:nvPr/>
          </p:nvSpPr>
          <p:spPr bwMode="auto">
            <a:xfrm>
              <a:off x="3216" y="2592"/>
              <a:ext cx="528" cy="432"/>
            </a:xfrm>
            <a:custGeom>
              <a:avLst/>
              <a:gdLst>
                <a:gd name="T0" fmla="*/ 0 w 528"/>
                <a:gd name="T1" fmla="*/ 432 h 432"/>
                <a:gd name="T2" fmla="*/ 192 w 528"/>
                <a:gd name="T3" fmla="*/ 432 h 432"/>
                <a:gd name="T4" fmla="*/ 192 w 528"/>
                <a:gd name="T5" fmla="*/ 96 h 432"/>
                <a:gd name="T6" fmla="*/ 384 w 528"/>
                <a:gd name="T7" fmla="*/ 96 h 432"/>
                <a:gd name="T8" fmla="*/ 384 w 528"/>
                <a:gd name="T9" fmla="*/ 0 h 432"/>
                <a:gd name="T10" fmla="*/ 528 w 528"/>
                <a:gd name="T11" fmla="*/ 0 h 4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28"/>
                <a:gd name="T19" fmla="*/ 0 h 432"/>
                <a:gd name="T20" fmla="*/ 528 w 528"/>
                <a:gd name="T21" fmla="*/ 432 h 432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28" h="432">
                  <a:moveTo>
                    <a:pt x="0" y="432"/>
                  </a:moveTo>
                  <a:lnTo>
                    <a:pt x="192" y="432"/>
                  </a:lnTo>
                  <a:lnTo>
                    <a:pt x="192" y="96"/>
                  </a:lnTo>
                  <a:lnTo>
                    <a:pt x="384" y="96"/>
                  </a:lnTo>
                  <a:lnTo>
                    <a:pt x="384" y="0"/>
                  </a:lnTo>
                  <a:lnTo>
                    <a:pt x="528" y="0"/>
                  </a:lnTo>
                </a:path>
              </a:pathLst>
            </a:custGeom>
            <a:noFill/>
            <a:ln w="38160">
              <a:solidFill>
                <a:srgbClr val="CD33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462" name="Group 609"/>
          <p:cNvGrpSpPr>
            <a:grpSpLocks/>
          </p:cNvGrpSpPr>
          <p:nvPr/>
        </p:nvGrpSpPr>
        <p:grpSpPr bwMode="auto">
          <a:xfrm>
            <a:off x="7668419" y="3686968"/>
            <a:ext cx="1076325" cy="1738313"/>
            <a:chOff x="4136" y="2160"/>
            <a:chExt cx="678" cy="1095"/>
          </a:xfrm>
        </p:grpSpPr>
        <p:sp>
          <p:nvSpPr>
            <p:cNvPr id="2463" name="Text Box 610"/>
            <p:cNvSpPr txBox="1">
              <a:spLocks noChangeArrowheads="1"/>
            </p:cNvSpPr>
            <p:nvPr/>
          </p:nvSpPr>
          <p:spPr bwMode="auto">
            <a:xfrm>
              <a:off x="4609" y="3024"/>
              <a:ext cx="206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</a:pPr>
              <a:r>
                <a:rPr lang="en-GB" altLang="zh-TW" sz="18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2464" name="Freeform 611"/>
            <p:cNvSpPr>
              <a:spLocks/>
            </p:cNvSpPr>
            <p:nvPr/>
          </p:nvSpPr>
          <p:spPr bwMode="auto">
            <a:xfrm>
              <a:off x="4136" y="2464"/>
              <a:ext cx="584" cy="1"/>
            </a:xfrm>
            <a:custGeom>
              <a:avLst/>
              <a:gdLst>
                <a:gd name="T0" fmla="*/ 0 w 584"/>
                <a:gd name="T1" fmla="*/ 0 h 1"/>
                <a:gd name="T2" fmla="*/ 584 w 584"/>
                <a:gd name="T3" fmla="*/ 0 h 1"/>
                <a:gd name="T4" fmla="*/ 0 60000 65536"/>
                <a:gd name="T5" fmla="*/ 0 60000 65536"/>
                <a:gd name="T6" fmla="*/ 0 w 584"/>
                <a:gd name="T7" fmla="*/ 0 h 1"/>
                <a:gd name="T8" fmla="*/ 584 w 584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84" h="1">
                  <a:moveTo>
                    <a:pt x="0" y="0"/>
                  </a:moveTo>
                  <a:cubicBezTo>
                    <a:pt x="195" y="0"/>
                    <a:pt x="389" y="0"/>
                    <a:pt x="584" y="0"/>
                  </a:cubicBezTo>
                </a:path>
              </a:pathLst>
            </a:custGeom>
            <a:noFill/>
            <a:ln w="57240">
              <a:solidFill>
                <a:srgbClr val="CD33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5" name="Text Box 612"/>
            <p:cNvSpPr txBox="1">
              <a:spLocks noChangeArrowheads="1"/>
            </p:cNvSpPr>
            <p:nvPr/>
          </p:nvSpPr>
          <p:spPr bwMode="auto">
            <a:xfrm>
              <a:off x="4321" y="2160"/>
              <a:ext cx="31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700"/>
                </a:spcBef>
                <a:buClr>
                  <a:srgbClr val="000000"/>
                </a:buClr>
                <a:buFont typeface="Wingdings" charset="2"/>
                <a:buNone/>
              </a:pPr>
              <a:r>
                <a:rPr lang="zh-TW" altLang="en-GB" sz="2800">
                  <a:solidFill>
                    <a:srgbClr val="996633"/>
                  </a:solidFill>
                  <a:latin typeface="Wingdings" charset="2"/>
                  <a:ea typeface="新細明體" charset="-120"/>
                </a:rPr>
                <a:t></a:t>
              </a:r>
            </a:p>
          </p:txBody>
        </p:sp>
      </p:grpSp>
      <p:grpSp>
        <p:nvGrpSpPr>
          <p:cNvPr id="2466" name="Group 613"/>
          <p:cNvGrpSpPr>
            <a:grpSpLocks/>
          </p:cNvGrpSpPr>
          <p:nvPr/>
        </p:nvGrpSpPr>
        <p:grpSpPr bwMode="auto">
          <a:xfrm>
            <a:off x="9103519" y="3686968"/>
            <a:ext cx="457200" cy="2133600"/>
            <a:chOff x="5040" y="2160"/>
            <a:chExt cx="288" cy="1344"/>
          </a:xfrm>
        </p:grpSpPr>
        <p:sp>
          <p:nvSpPr>
            <p:cNvPr id="2467" name="Text Box 614"/>
            <p:cNvSpPr txBox="1">
              <a:spLocks noChangeArrowheads="1"/>
            </p:cNvSpPr>
            <p:nvPr/>
          </p:nvSpPr>
          <p:spPr bwMode="auto">
            <a:xfrm>
              <a:off x="5041" y="2160"/>
              <a:ext cx="212" cy="23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</a:pPr>
              <a:r>
                <a:rPr lang="en-GB" altLang="zh-TW" sz="18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2468" name="Freeform 615"/>
            <p:cNvSpPr>
              <a:spLocks noChangeArrowheads="1"/>
            </p:cNvSpPr>
            <p:nvPr/>
          </p:nvSpPr>
          <p:spPr bwMode="auto">
            <a:xfrm>
              <a:off x="5040" y="2448"/>
              <a:ext cx="288" cy="1056"/>
            </a:xfrm>
            <a:custGeom>
              <a:avLst/>
              <a:gdLst>
                <a:gd name="T0" fmla="*/ 0 w 288"/>
                <a:gd name="T1" fmla="*/ 0 h 1056"/>
                <a:gd name="T2" fmla="*/ 192 w 288"/>
                <a:gd name="T3" fmla="*/ 0 h 1056"/>
                <a:gd name="T4" fmla="*/ 192 w 288"/>
                <a:gd name="T5" fmla="*/ 144 h 1056"/>
                <a:gd name="T6" fmla="*/ 288 w 288"/>
                <a:gd name="T7" fmla="*/ 144 h 1056"/>
                <a:gd name="T8" fmla="*/ 288 w 288"/>
                <a:gd name="T9" fmla="*/ 1056 h 10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8"/>
                <a:gd name="T16" fmla="*/ 0 h 1056"/>
                <a:gd name="T17" fmla="*/ 288 w 288"/>
                <a:gd name="T18" fmla="*/ 1056 h 10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8" h="1056">
                  <a:moveTo>
                    <a:pt x="0" y="0"/>
                  </a:moveTo>
                  <a:lnTo>
                    <a:pt x="192" y="0"/>
                  </a:lnTo>
                  <a:lnTo>
                    <a:pt x="192" y="144"/>
                  </a:lnTo>
                  <a:lnTo>
                    <a:pt x="288" y="144"/>
                  </a:lnTo>
                  <a:lnTo>
                    <a:pt x="288" y="1056"/>
                  </a:lnTo>
                </a:path>
              </a:pathLst>
            </a:custGeom>
            <a:noFill/>
            <a:ln w="57240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69" name="Text Box 616"/>
          <p:cNvSpPr txBox="1">
            <a:spLocks noChangeArrowheads="1"/>
          </p:cNvSpPr>
          <p:nvPr/>
        </p:nvSpPr>
        <p:spPr bwMode="auto">
          <a:xfrm>
            <a:off x="8876507" y="2086768"/>
            <a:ext cx="327025" cy="368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spcBef>
                <a:spcPts val="450"/>
              </a:spcBef>
              <a:buClr>
                <a:srgbClr val="000000"/>
              </a:buClr>
              <a:buFont typeface="Tahoma" charset="0"/>
              <a:buNone/>
            </a:pPr>
            <a:r>
              <a:rPr lang="en-GB" altLang="zh-TW" sz="1800" b="1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charset="0"/>
                <a:ea typeface="新細明體" charset="-12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1537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2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2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000"/>
                            </p:stCondLst>
                            <p:childTnLst>
                              <p:par>
                                <p:cTn id="28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4000"/>
                            </p:stCondLst>
                            <p:childTnLst>
                              <p:par>
                                <p:cTn id="31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1000"/>
                                        <p:tgtEl>
                                          <p:spTgt spid="2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>
                <a:ea typeface="新細明體" charset="-120"/>
                <a:cs typeface="新細明體" charset="-120"/>
              </a:rPr>
              <a:t>Branch-on-Equal Instr. with Control</a:t>
            </a:r>
            <a:endParaRPr lang="en-US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723339" y="1333307"/>
            <a:ext cx="7975600" cy="4475163"/>
            <a:chOff x="384" y="672"/>
            <a:chExt cx="5024" cy="2819"/>
          </a:xfrm>
        </p:grpSpPr>
        <p:sp>
          <p:nvSpPr>
            <p:cNvPr id="6" name="Line 4"/>
            <p:cNvSpPr>
              <a:spLocks noChangeShapeType="1"/>
            </p:cNvSpPr>
            <p:nvPr/>
          </p:nvSpPr>
          <p:spPr bwMode="auto">
            <a:xfrm flipH="1">
              <a:off x="4227" y="2476"/>
              <a:ext cx="127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5"/>
            <p:cNvSpPr>
              <a:spLocks noChangeArrowheads="1"/>
            </p:cNvSpPr>
            <p:nvPr/>
          </p:nvSpPr>
          <p:spPr bwMode="auto">
            <a:xfrm>
              <a:off x="2482" y="1815"/>
              <a:ext cx="2229" cy="427"/>
            </a:xfrm>
            <a:custGeom>
              <a:avLst/>
              <a:gdLst>
                <a:gd name="T0" fmla="*/ 0 w 2229"/>
                <a:gd name="T1" fmla="*/ 0 h 427"/>
                <a:gd name="T2" fmla="*/ 2229 w 2229"/>
                <a:gd name="T3" fmla="*/ 0 h 427"/>
                <a:gd name="T4" fmla="*/ 2229 w 2229"/>
                <a:gd name="T5" fmla="*/ 427 h 427"/>
                <a:gd name="T6" fmla="*/ 0 60000 65536"/>
                <a:gd name="T7" fmla="*/ 0 60000 65536"/>
                <a:gd name="T8" fmla="*/ 0 60000 65536"/>
                <a:gd name="T9" fmla="*/ 0 w 2229"/>
                <a:gd name="T10" fmla="*/ 0 h 427"/>
                <a:gd name="T11" fmla="*/ 2229 w 2229"/>
                <a:gd name="T12" fmla="*/ 427 h 4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29" h="427">
                  <a:moveTo>
                    <a:pt x="0" y="0"/>
                  </a:moveTo>
                  <a:lnTo>
                    <a:pt x="2229" y="0"/>
                  </a:lnTo>
                  <a:lnTo>
                    <a:pt x="2229" y="427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Line 6"/>
            <p:cNvSpPr>
              <a:spLocks noChangeShapeType="1"/>
            </p:cNvSpPr>
            <p:nvPr/>
          </p:nvSpPr>
          <p:spPr bwMode="auto">
            <a:xfrm>
              <a:off x="2456" y="1465"/>
              <a:ext cx="1696" cy="1"/>
            </a:xfrm>
            <a:prstGeom prst="line">
              <a:avLst/>
            </a:prstGeom>
            <a:noFill/>
            <a:ln w="11160">
              <a:solidFill>
                <a:srgbClr val="EB75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/>
            <p:cNvSpPr>
              <a:spLocks noChangeArrowheads="1"/>
            </p:cNvSpPr>
            <p:nvPr/>
          </p:nvSpPr>
          <p:spPr bwMode="auto">
            <a:xfrm>
              <a:off x="2461" y="1903"/>
              <a:ext cx="1127" cy="488"/>
            </a:xfrm>
            <a:custGeom>
              <a:avLst/>
              <a:gdLst>
                <a:gd name="T0" fmla="*/ 0 w 1127"/>
                <a:gd name="T1" fmla="*/ 0 h 488"/>
                <a:gd name="T2" fmla="*/ 1127 w 1127"/>
                <a:gd name="T3" fmla="*/ 0 h 488"/>
                <a:gd name="T4" fmla="*/ 1127 w 1127"/>
                <a:gd name="T5" fmla="*/ 488 h 488"/>
                <a:gd name="T6" fmla="*/ 0 60000 65536"/>
                <a:gd name="T7" fmla="*/ 0 60000 65536"/>
                <a:gd name="T8" fmla="*/ 0 60000 65536"/>
                <a:gd name="T9" fmla="*/ 0 w 1127"/>
                <a:gd name="T10" fmla="*/ 0 h 488"/>
                <a:gd name="T11" fmla="*/ 1127 w 1127"/>
                <a:gd name="T12" fmla="*/ 488 h 4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27" h="488">
                  <a:moveTo>
                    <a:pt x="0" y="0"/>
                  </a:moveTo>
                  <a:lnTo>
                    <a:pt x="1127" y="0"/>
                  </a:lnTo>
                  <a:lnTo>
                    <a:pt x="1127" y="488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Freeform 8"/>
            <p:cNvSpPr>
              <a:spLocks noChangeArrowheads="1"/>
            </p:cNvSpPr>
            <p:nvPr/>
          </p:nvSpPr>
          <p:spPr bwMode="auto">
            <a:xfrm>
              <a:off x="2494" y="1640"/>
              <a:ext cx="2731" cy="782"/>
            </a:xfrm>
            <a:custGeom>
              <a:avLst/>
              <a:gdLst>
                <a:gd name="T0" fmla="*/ 0 w 2731"/>
                <a:gd name="T1" fmla="*/ 0 h 782"/>
                <a:gd name="T2" fmla="*/ 2731 w 2731"/>
                <a:gd name="T3" fmla="*/ 0 h 782"/>
                <a:gd name="T4" fmla="*/ 2731 w 2731"/>
                <a:gd name="T5" fmla="*/ 782 h 782"/>
                <a:gd name="T6" fmla="*/ 0 60000 65536"/>
                <a:gd name="T7" fmla="*/ 0 60000 65536"/>
                <a:gd name="T8" fmla="*/ 0 60000 65536"/>
                <a:gd name="T9" fmla="*/ 0 w 2731"/>
                <a:gd name="T10" fmla="*/ 0 h 782"/>
                <a:gd name="T11" fmla="*/ 2731 w 2731"/>
                <a:gd name="T12" fmla="*/ 782 h 7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31" h="782">
                  <a:moveTo>
                    <a:pt x="0" y="0"/>
                  </a:moveTo>
                  <a:lnTo>
                    <a:pt x="2731" y="0"/>
                  </a:lnTo>
                  <a:lnTo>
                    <a:pt x="2731" y="782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9"/>
            <p:cNvSpPr>
              <a:spLocks noChangeArrowheads="1"/>
            </p:cNvSpPr>
            <p:nvPr/>
          </p:nvSpPr>
          <p:spPr bwMode="auto">
            <a:xfrm>
              <a:off x="2478" y="1553"/>
              <a:ext cx="2931" cy="1463"/>
            </a:xfrm>
            <a:custGeom>
              <a:avLst/>
              <a:gdLst>
                <a:gd name="T0" fmla="*/ 0 w 2931"/>
                <a:gd name="T1" fmla="*/ 0 h 1463"/>
                <a:gd name="T2" fmla="*/ 2931 w 2931"/>
                <a:gd name="T3" fmla="*/ 0 h 1463"/>
                <a:gd name="T4" fmla="*/ 2931 w 2931"/>
                <a:gd name="T5" fmla="*/ 1463 h 1463"/>
                <a:gd name="T6" fmla="*/ 2233 w 2931"/>
                <a:gd name="T7" fmla="*/ 1463 h 1463"/>
                <a:gd name="T8" fmla="*/ 2233 w 2931"/>
                <a:gd name="T9" fmla="*/ 1375 h 146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31"/>
                <a:gd name="T16" fmla="*/ 0 h 1463"/>
                <a:gd name="T17" fmla="*/ 2931 w 2931"/>
                <a:gd name="T18" fmla="*/ 1463 h 146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31" h="1463">
                  <a:moveTo>
                    <a:pt x="0" y="0"/>
                  </a:moveTo>
                  <a:lnTo>
                    <a:pt x="2931" y="0"/>
                  </a:lnTo>
                  <a:lnTo>
                    <a:pt x="2931" y="1463"/>
                  </a:lnTo>
                  <a:lnTo>
                    <a:pt x="2233" y="1463"/>
                  </a:lnTo>
                  <a:lnTo>
                    <a:pt x="2233" y="1375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Freeform 10"/>
            <p:cNvSpPr>
              <a:spLocks noChangeArrowheads="1"/>
            </p:cNvSpPr>
            <p:nvPr/>
          </p:nvSpPr>
          <p:spPr bwMode="auto">
            <a:xfrm>
              <a:off x="1568" y="1233"/>
              <a:ext cx="929" cy="1551"/>
            </a:xfrm>
            <a:custGeom>
              <a:avLst/>
              <a:gdLst>
                <a:gd name="T0" fmla="*/ 829 w 929"/>
                <a:gd name="T1" fmla="*/ 144 h 1551"/>
                <a:gd name="T2" fmla="*/ 929 w 929"/>
                <a:gd name="T3" fmla="*/ 144 h 1551"/>
                <a:gd name="T4" fmla="*/ 929 w 929"/>
                <a:gd name="T5" fmla="*/ 0 h 1551"/>
                <a:gd name="T6" fmla="*/ 0 w 929"/>
                <a:gd name="T7" fmla="*/ 0 h 1551"/>
                <a:gd name="T8" fmla="*/ 0 w 929"/>
                <a:gd name="T9" fmla="*/ 1551 h 1551"/>
                <a:gd name="T10" fmla="*/ 730 w 929"/>
                <a:gd name="T11" fmla="*/ 1551 h 1551"/>
                <a:gd name="T12" fmla="*/ 730 w 929"/>
                <a:gd name="T13" fmla="*/ 1485 h 15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29"/>
                <a:gd name="T22" fmla="*/ 0 h 1551"/>
                <a:gd name="T23" fmla="*/ 929 w 929"/>
                <a:gd name="T24" fmla="*/ 1551 h 1551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29" h="1551">
                  <a:moveTo>
                    <a:pt x="829" y="144"/>
                  </a:moveTo>
                  <a:lnTo>
                    <a:pt x="929" y="144"/>
                  </a:lnTo>
                  <a:lnTo>
                    <a:pt x="929" y="0"/>
                  </a:lnTo>
                  <a:lnTo>
                    <a:pt x="0" y="0"/>
                  </a:lnTo>
                  <a:lnTo>
                    <a:pt x="0" y="1551"/>
                  </a:lnTo>
                  <a:lnTo>
                    <a:pt x="730" y="1551"/>
                  </a:lnTo>
                  <a:lnTo>
                    <a:pt x="730" y="1485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Freeform 11"/>
            <p:cNvSpPr>
              <a:spLocks noChangeArrowheads="1"/>
            </p:cNvSpPr>
            <p:nvPr/>
          </p:nvSpPr>
          <p:spPr bwMode="auto">
            <a:xfrm>
              <a:off x="2499" y="1728"/>
              <a:ext cx="1175" cy="1698"/>
            </a:xfrm>
            <a:custGeom>
              <a:avLst/>
              <a:gdLst>
                <a:gd name="T0" fmla="*/ 0 w 1175"/>
                <a:gd name="T1" fmla="*/ 0 h 1698"/>
                <a:gd name="T2" fmla="*/ 838 w 1175"/>
                <a:gd name="T3" fmla="*/ 0 h 1698"/>
                <a:gd name="T4" fmla="*/ 838 w 1175"/>
                <a:gd name="T5" fmla="*/ 1698 h 1698"/>
                <a:gd name="T6" fmla="*/ 1175 w 1175"/>
                <a:gd name="T7" fmla="*/ 1698 h 1698"/>
                <a:gd name="T8" fmla="*/ 1175 w 1175"/>
                <a:gd name="T9" fmla="*/ 1610 h 169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5"/>
                <a:gd name="T16" fmla="*/ 0 h 1698"/>
                <a:gd name="T17" fmla="*/ 1175 w 1175"/>
                <a:gd name="T18" fmla="*/ 1698 h 169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5" h="1698">
                  <a:moveTo>
                    <a:pt x="0" y="0"/>
                  </a:moveTo>
                  <a:lnTo>
                    <a:pt x="838" y="0"/>
                  </a:lnTo>
                  <a:lnTo>
                    <a:pt x="838" y="1698"/>
                  </a:lnTo>
                  <a:lnTo>
                    <a:pt x="1175" y="1698"/>
                  </a:lnTo>
                  <a:lnTo>
                    <a:pt x="1175" y="1610"/>
                  </a:lnTo>
                </a:path>
              </a:pathLst>
            </a:custGeom>
            <a:noFill/>
            <a:ln w="1908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Freeform 12"/>
            <p:cNvSpPr>
              <a:spLocks noChangeArrowheads="1"/>
            </p:cNvSpPr>
            <p:nvPr/>
          </p:nvSpPr>
          <p:spPr bwMode="auto">
            <a:xfrm>
              <a:off x="2407" y="1991"/>
              <a:ext cx="450" cy="66"/>
            </a:xfrm>
            <a:custGeom>
              <a:avLst/>
              <a:gdLst>
                <a:gd name="T0" fmla="*/ 0 w 450"/>
                <a:gd name="T1" fmla="*/ 0 h 66"/>
                <a:gd name="T2" fmla="*/ 450 w 450"/>
                <a:gd name="T3" fmla="*/ 0 h 66"/>
                <a:gd name="T4" fmla="*/ 450 w 450"/>
                <a:gd name="T5" fmla="*/ 66 h 66"/>
                <a:gd name="T6" fmla="*/ 0 60000 65536"/>
                <a:gd name="T7" fmla="*/ 0 60000 65536"/>
                <a:gd name="T8" fmla="*/ 0 60000 65536"/>
                <a:gd name="T9" fmla="*/ 0 w 450"/>
                <a:gd name="T10" fmla="*/ 0 h 66"/>
                <a:gd name="T11" fmla="*/ 450 w 450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0" h="66">
                  <a:moveTo>
                    <a:pt x="0" y="0"/>
                  </a:moveTo>
                  <a:lnTo>
                    <a:pt x="450" y="0"/>
                  </a:lnTo>
                  <a:lnTo>
                    <a:pt x="450" y="66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 flipH="1">
              <a:off x="1634" y="2661"/>
              <a:ext cx="589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>
              <a:off x="2461" y="3018"/>
              <a:ext cx="476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/>
            <p:cNvSpPr>
              <a:spLocks noChangeArrowheads="1"/>
            </p:cNvSpPr>
            <p:nvPr/>
          </p:nvSpPr>
          <p:spPr bwMode="auto">
            <a:xfrm>
              <a:off x="2111" y="2313"/>
              <a:ext cx="111" cy="87"/>
            </a:xfrm>
            <a:custGeom>
              <a:avLst/>
              <a:gdLst>
                <a:gd name="T0" fmla="*/ 111 w 111"/>
                <a:gd name="T1" fmla="*/ 85 h 87"/>
                <a:gd name="T2" fmla="*/ 0 w 111"/>
                <a:gd name="T3" fmla="*/ 87 h 87"/>
                <a:gd name="T4" fmla="*/ 0 w 111"/>
                <a:gd name="T5" fmla="*/ 0 h 87"/>
                <a:gd name="T6" fmla="*/ 0 60000 65536"/>
                <a:gd name="T7" fmla="*/ 0 60000 65536"/>
                <a:gd name="T8" fmla="*/ 0 60000 65536"/>
                <a:gd name="T9" fmla="*/ 0 w 111"/>
                <a:gd name="T10" fmla="*/ 0 h 87"/>
                <a:gd name="T11" fmla="*/ 111 w 111"/>
                <a:gd name="T12" fmla="*/ 87 h 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" h="87">
                  <a:moveTo>
                    <a:pt x="111" y="85"/>
                  </a:moveTo>
                  <a:lnTo>
                    <a:pt x="0" y="87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3783" y="2647"/>
              <a:ext cx="87" cy="459"/>
            </a:xfrm>
            <a:custGeom>
              <a:avLst/>
              <a:gdLst>
                <a:gd name="T0" fmla="*/ 87 w 87"/>
                <a:gd name="T1" fmla="*/ 0 h 459"/>
                <a:gd name="T2" fmla="*/ 87 w 87"/>
                <a:gd name="T3" fmla="*/ 459 h 459"/>
                <a:gd name="T4" fmla="*/ 0 w 87"/>
                <a:gd name="T5" fmla="*/ 459 h 459"/>
                <a:gd name="T6" fmla="*/ 0 60000 65536"/>
                <a:gd name="T7" fmla="*/ 0 60000 65536"/>
                <a:gd name="T8" fmla="*/ 0 60000 65536"/>
                <a:gd name="T9" fmla="*/ 0 w 87"/>
                <a:gd name="T10" fmla="*/ 0 h 459"/>
                <a:gd name="T11" fmla="*/ 87 w 87"/>
                <a:gd name="T12" fmla="*/ 459 h 4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7" h="459">
                  <a:moveTo>
                    <a:pt x="87" y="0"/>
                  </a:moveTo>
                  <a:lnTo>
                    <a:pt x="87" y="459"/>
                  </a:lnTo>
                  <a:lnTo>
                    <a:pt x="0" y="459"/>
                  </a:lnTo>
                </a:path>
              </a:pathLst>
            </a:custGeom>
            <a:noFill/>
            <a:ln w="1908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Freeform 17"/>
            <p:cNvSpPr>
              <a:spLocks noChangeArrowheads="1"/>
            </p:cNvSpPr>
            <p:nvPr/>
          </p:nvSpPr>
          <p:spPr bwMode="auto">
            <a:xfrm>
              <a:off x="4140" y="1465"/>
              <a:ext cx="178" cy="860"/>
            </a:xfrm>
            <a:custGeom>
              <a:avLst/>
              <a:gdLst>
                <a:gd name="T0" fmla="*/ 0 w 178"/>
                <a:gd name="T1" fmla="*/ 860 h 860"/>
                <a:gd name="T2" fmla="*/ 88 w 178"/>
                <a:gd name="T3" fmla="*/ 860 h 860"/>
                <a:gd name="T4" fmla="*/ 88 w 178"/>
                <a:gd name="T5" fmla="*/ 0 h 860"/>
                <a:gd name="T6" fmla="*/ 178 w 178"/>
                <a:gd name="T7" fmla="*/ 0 h 8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8"/>
                <a:gd name="T13" fmla="*/ 0 h 860"/>
                <a:gd name="T14" fmla="*/ 178 w 178"/>
                <a:gd name="T15" fmla="*/ 860 h 8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8" h="860">
                  <a:moveTo>
                    <a:pt x="0" y="860"/>
                  </a:moveTo>
                  <a:lnTo>
                    <a:pt x="88" y="860"/>
                  </a:lnTo>
                  <a:lnTo>
                    <a:pt x="88" y="0"/>
                  </a:lnTo>
                  <a:lnTo>
                    <a:pt x="178" y="0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18"/>
            <p:cNvSpPr>
              <a:spLocks noChangeArrowheads="1"/>
            </p:cNvSpPr>
            <p:nvPr/>
          </p:nvSpPr>
          <p:spPr bwMode="auto">
            <a:xfrm>
              <a:off x="4150" y="1368"/>
              <a:ext cx="168" cy="97"/>
            </a:xfrm>
            <a:custGeom>
              <a:avLst/>
              <a:gdLst>
                <a:gd name="T0" fmla="*/ 0 w 168"/>
                <a:gd name="T1" fmla="*/ 97 h 97"/>
                <a:gd name="T2" fmla="*/ 2 w 168"/>
                <a:gd name="T3" fmla="*/ 0 h 97"/>
                <a:gd name="T4" fmla="*/ 168 w 168"/>
                <a:gd name="T5" fmla="*/ 0 h 97"/>
                <a:gd name="T6" fmla="*/ 0 60000 65536"/>
                <a:gd name="T7" fmla="*/ 0 60000 65536"/>
                <a:gd name="T8" fmla="*/ 0 60000 65536"/>
                <a:gd name="T9" fmla="*/ 0 w 168"/>
                <a:gd name="T10" fmla="*/ 0 h 97"/>
                <a:gd name="T11" fmla="*/ 168 w 168"/>
                <a:gd name="T12" fmla="*/ 97 h 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8" h="97">
                  <a:moveTo>
                    <a:pt x="0" y="97"/>
                  </a:moveTo>
                  <a:lnTo>
                    <a:pt x="2" y="0"/>
                  </a:lnTo>
                  <a:lnTo>
                    <a:pt x="168" y="0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19"/>
            <p:cNvSpPr>
              <a:spLocks noChangeArrowheads="1"/>
            </p:cNvSpPr>
            <p:nvPr/>
          </p:nvSpPr>
          <p:spPr bwMode="auto">
            <a:xfrm>
              <a:off x="4500" y="1174"/>
              <a:ext cx="133" cy="244"/>
            </a:xfrm>
            <a:custGeom>
              <a:avLst/>
              <a:gdLst>
                <a:gd name="T0" fmla="*/ 130 w 133"/>
                <a:gd name="T1" fmla="*/ 0 h 244"/>
                <a:gd name="T2" fmla="*/ 133 w 133"/>
                <a:gd name="T3" fmla="*/ 244 h 244"/>
                <a:gd name="T4" fmla="*/ 0 w 133"/>
                <a:gd name="T5" fmla="*/ 244 h 244"/>
                <a:gd name="T6" fmla="*/ 0 60000 65536"/>
                <a:gd name="T7" fmla="*/ 0 60000 65536"/>
                <a:gd name="T8" fmla="*/ 0 60000 65536"/>
                <a:gd name="T9" fmla="*/ 0 w 133"/>
                <a:gd name="T10" fmla="*/ 0 h 244"/>
                <a:gd name="T11" fmla="*/ 133 w 133"/>
                <a:gd name="T12" fmla="*/ 244 h 2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3" h="244">
                  <a:moveTo>
                    <a:pt x="130" y="0"/>
                  </a:moveTo>
                  <a:lnTo>
                    <a:pt x="133" y="244"/>
                  </a:lnTo>
                  <a:lnTo>
                    <a:pt x="0" y="244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Freeform 20"/>
            <p:cNvSpPr>
              <a:spLocks noChangeArrowheads="1"/>
            </p:cNvSpPr>
            <p:nvPr/>
          </p:nvSpPr>
          <p:spPr bwMode="auto">
            <a:xfrm>
              <a:off x="4315" y="1342"/>
              <a:ext cx="185" cy="151"/>
            </a:xfrm>
            <a:custGeom>
              <a:avLst/>
              <a:gdLst>
                <a:gd name="T0" fmla="*/ 109 w 185"/>
                <a:gd name="T1" fmla="*/ 151 h 151"/>
                <a:gd name="T2" fmla="*/ 124 w 185"/>
                <a:gd name="T3" fmla="*/ 151 h 151"/>
                <a:gd name="T4" fmla="*/ 135 w 185"/>
                <a:gd name="T5" fmla="*/ 147 h 151"/>
                <a:gd name="T6" fmla="*/ 145 w 185"/>
                <a:gd name="T7" fmla="*/ 144 h 151"/>
                <a:gd name="T8" fmla="*/ 154 w 185"/>
                <a:gd name="T9" fmla="*/ 137 h 151"/>
                <a:gd name="T10" fmla="*/ 164 w 185"/>
                <a:gd name="T11" fmla="*/ 130 h 151"/>
                <a:gd name="T12" fmla="*/ 171 w 185"/>
                <a:gd name="T13" fmla="*/ 121 h 151"/>
                <a:gd name="T14" fmla="*/ 178 w 185"/>
                <a:gd name="T15" fmla="*/ 111 h 151"/>
                <a:gd name="T16" fmla="*/ 183 w 185"/>
                <a:gd name="T17" fmla="*/ 99 h 151"/>
                <a:gd name="T18" fmla="*/ 185 w 185"/>
                <a:gd name="T19" fmla="*/ 87 h 151"/>
                <a:gd name="T20" fmla="*/ 185 w 185"/>
                <a:gd name="T21" fmla="*/ 76 h 151"/>
                <a:gd name="T22" fmla="*/ 185 w 185"/>
                <a:gd name="T23" fmla="*/ 64 h 151"/>
                <a:gd name="T24" fmla="*/ 183 w 185"/>
                <a:gd name="T25" fmla="*/ 52 h 151"/>
                <a:gd name="T26" fmla="*/ 178 w 185"/>
                <a:gd name="T27" fmla="*/ 40 h 151"/>
                <a:gd name="T28" fmla="*/ 171 w 185"/>
                <a:gd name="T29" fmla="*/ 31 h 151"/>
                <a:gd name="T30" fmla="*/ 164 w 185"/>
                <a:gd name="T31" fmla="*/ 21 h 151"/>
                <a:gd name="T32" fmla="*/ 154 w 185"/>
                <a:gd name="T33" fmla="*/ 14 h 151"/>
                <a:gd name="T34" fmla="*/ 145 w 185"/>
                <a:gd name="T35" fmla="*/ 7 h 151"/>
                <a:gd name="T36" fmla="*/ 135 w 185"/>
                <a:gd name="T37" fmla="*/ 2 h 151"/>
                <a:gd name="T38" fmla="*/ 124 w 185"/>
                <a:gd name="T39" fmla="*/ 0 h 151"/>
                <a:gd name="T40" fmla="*/ 112 w 185"/>
                <a:gd name="T41" fmla="*/ 0 h 151"/>
                <a:gd name="T42" fmla="*/ 0 w 185"/>
                <a:gd name="T43" fmla="*/ 0 h 151"/>
                <a:gd name="T44" fmla="*/ 0 w 185"/>
                <a:gd name="T45" fmla="*/ 151 h 151"/>
                <a:gd name="T46" fmla="*/ 112 w 185"/>
                <a:gd name="T47" fmla="*/ 151 h 151"/>
                <a:gd name="T48" fmla="*/ 112 w 185"/>
                <a:gd name="T49" fmla="*/ 151 h 151"/>
                <a:gd name="T50" fmla="*/ 109 w 185"/>
                <a:gd name="T51" fmla="*/ 151 h 151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185"/>
                <a:gd name="T79" fmla="*/ 0 h 151"/>
                <a:gd name="T80" fmla="*/ 185 w 185"/>
                <a:gd name="T81" fmla="*/ 151 h 151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185" h="151">
                  <a:moveTo>
                    <a:pt x="109" y="151"/>
                  </a:moveTo>
                  <a:lnTo>
                    <a:pt x="124" y="151"/>
                  </a:lnTo>
                  <a:lnTo>
                    <a:pt x="135" y="147"/>
                  </a:lnTo>
                  <a:lnTo>
                    <a:pt x="145" y="144"/>
                  </a:lnTo>
                  <a:lnTo>
                    <a:pt x="154" y="137"/>
                  </a:lnTo>
                  <a:lnTo>
                    <a:pt x="164" y="130"/>
                  </a:lnTo>
                  <a:lnTo>
                    <a:pt x="171" y="121"/>
                  </a:lnTo>
                  <a:lnTo>
                    <a:pt x="178" y="111"/>
                  </a:lnTo>
                  <a:lnTo>
                    <a:pt x="183" y="99"/>
                  </a:lnTo>
                  <a:lnTo>
                    <a:pt x="185" y="87"/>
                  </a:lnTo>
                  <a:lnTo>
                    <a:pt x="185" y="76"/>
                  </a:lnTo>
                  <a:lnTo>
                    <a:pt x="185" y="64"/>
                  </a:lnTo>
                  <a:lnTo>
                    <a:pt x="183" y="52"/>
                  </a:lnTo>
                  <a:lnTo>
                    <a:pt x="178" y="40"/>
                  </a:lnTo>
                  <a:lnTo>
                    <a:pt x="171" y="31"/>
                  </a:lnTo>
                  <a:lnTo>
                    <a:pt x="164" y="21"/>
                  </a:lnTo>
                  <a:lnTo>
                    <a:pt x="154" y="14"/>
                  </a:lnTo>
                  <a:lnTo>
                    <a:pt x="145" y="7"/>
                  </a:lnTo>
                  <a:lnTo>
                    <a:pt x="135" y="2"/>
                  </a:lnTo>
                  <a:lnTo>
                    <a:pt x="124" y="0"/>
                  </a:lnTo>
                  <a:lnTo>
                    <a:pt x="112" y="0"/>
                  </a:lnTo>
                  <a:lnTo>
                    <a:pt x="0" y="0"/>
                  </a:lnTo>
                  <a:lnTo>
                    <a:pt x="0" y="151"/>
                  </a:lnTo>
                  <a:lnTo>
                    <a:pt x="112" y="151"/>
                  </a:lnTo>
                  <a:lnTo>
                    <a:pt x="109" y="1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Freeform 21"/>
            <p:cNvSpPr>
              <a:spLocks noChangeArrowheads="1"/>
            </p:cNvSpPr>
            <p:nvPr/>
          </p:nvSpPr>
          <p:spPr bwMode="auto">
            <a:xfrm>
              <a:off x="4315" y="1342"/>
              <a:ext cx="185" cy="151"/>
            </a:xfrm>
            <a:custGeom>
              <a:avLst/>
              <a:gdLst>
                <a:gd name="T0" fmla="*/ 109 w 185"/>
                <a:gd name="T1" fmla="*/ 151 h 151"/>
                <a:gd name="T2" fmla="*/ 124 w 185"/>
                <a:gd name="T3" fmla="*/ 151 h 151"/>
                <a:gd name="T4" fmla="*/ 135 w 185"/>
                <a:gd name="T5" fmla="*/ 147 h 151"/>
                <a:gd name="T6" fmla="*/ 145 w 185"/>
                <a:gd name="T7" fmla="*/ 144 h 151"/>
                <a:gd name="T8" fmla="*/ 154 w 185"/>
                <a:gd name="T9" fmla="*/ 137 h 151"/>
                <a:gd name="T10" fmla="*/ 164 w 185"/>
                <a:gd name="T11" fmla="*/ 130 h 151"/>
                <a:gd name="T12" fmla="*/ 171 w 185"/>
                <a:gd name="T13" fmla="*/ 121 h 151"/>
                <a:gd name="T14" fmla="*/ 178 w 185"/>
                <a:gd name="T15" fmla="*/ 111 h 151"/>
                <a:gd name="T16" fmla="*/ 183 w 185"/>
                <a:gd name="T17" fmla="*/ 99 h 151"/>
                <a:gd name="T18" fmla="*/ 185 w 185"/>
                <a:gd name="T19" fmla="*/ 87 h 151"/>
                <a:gd name="T20" fmla="*/ 185 w 185"/>
                <a:gd name="T21" fmla="*/ 76 h 151"/>
                <a:gd name="T22" fmla="*/ 185 w 185"/>
                <a:gd name="T23" fmla="*/ 64 h 151"/>
                <a:gd name="T24" fmla="*/ 183 w 185"/>
                <a:gd name="T25" fmla="*/ 52 h 151"/>
                <a:gd name="T26" fmla="*/ 178 w 185"/>
                <a:gd name="T27" fmla="*/ 40 h 151"/>
                <a:gd name="T28" fmla="*/ 171 w 185"/>
                <a:gd name="T29" fmla="*/ 31 h 151"/>
                <a:gd name="T30" fmla="*/ 164 w 185"/>
                <a:gd name="T31" fmla="*/ 21 h 151"/>
                <a:gd name="T32" fmla="*/ 154 w 185"/>
                <a:gd name="T33" fmla="*/ 14 h 151"/>
                <a:gd name="T34" fmla="*/ 145 w 185"/>
                <a:gd name="T35" fmla="*/ 7 h 151"/>
                <a:gd name="T36" fmla="*/ 135 w 185"/>
                <a:gd name="T37" fmla="*/ 2 h 151"/>
                <a:gd name="T38" fmla="*/ 124 w 185"/>
                <a:gd name="T39" fmla="*/ 0 h 151"/>
                <a:gd name="T40" fmla="*/ 112 w 185"/>
                <a:gd name="T41" fmla="*/ 0 h 151"/>
                <a:gd name="T42" fmla="*/ 0 w 185"/>
                <a:gd name="T43" fmla="*/ 0 h 151"/>
                <a:gd name="T44" fmla="*/ 0 w 185"/>
                <a:gd name="T45" fmla="*/ 151 h 151"/>
                <a:gd name="T46" fmla="*/ 112 w 185"/>
                <a:gd name="T47" fmla="*/ 151 h 151"/>
                <a:gd name="T48" fmla="*/ 112 w 185"/>
                <a:gd name="T49" fmla="*/ 151 h 15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85"/>
                <a:gd name="T76" fmla="*/ 0 h 151"/>
                <a:gd name="T77" fmla="*/ 185 w 185"/>
                <a:gd name="T78" fmla="*/ 151 h 15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85" h="151">
                  <a:moveTo>
                    <a:pt x="109" y="151"/>
                  </a:moveTo>
                  <a:lnTo>
                    <a:pt x="124" y="151"/>
                  </a:lnTo>
                  <a:lnTo>
                    <a:pt x="135" y="147"/>
                  </a:lnTo>
                  <a:lnTo>
                    <a:pt x="145" y="144"/>
                  </a:lnTo>
                  <a:lnTo>
                    <a:pt x="154" y="137"/>
                  </a:lnTo>
                  <a:lnTo>
                    <a:pt x="164" y="130"/>
                  </a:lnTo>
                  <a:lnTo>
                    <a:pt x="171" y="121"/>
                  </a:lnTo>
                  <a:lnTo>
                    <a:pt x="178" y="111"/>
                  </a:lnTo>
                  <a:lnTo>
                    <a:pt x="183" y="99"/>
                  </a:lnTo>
                  <a:lnTo>
                    <a:pt x="185" y="87"/>
                  </a:lnTo>
                  <a:lnTo>
                    <a:pt x="185" y="76"/>
                  </a:lnTo>
                  <a:lnTo>
                    <a:pt x="185" y="64"/>
                  </a:lnTo>
                  <a:lnTo>
                    <a:pt x="183" y="52"/>
                  </a:lnTo>
                  <a:lnTo>
                    <a:pt x="178" y="40"/>
                  </a:lnTo>
                  <a:lnTo>
                    <a:pt x="171" y="31"/>
                  </a:lnTo>
                  <a:lnTo>
                    <a:pt x="164" y="21"/>
                  </a:lnTo>
                  <a:lnTo>
                    <a:pt x="154" y="14"/>
                  </a:lnTo>
                  <a:lnTo>
                    <a:pt x="145" y="7"/>
                  </a:lnTo>
                  <a:lnTo>
                    <a:pt x="135" y="2"/>
                  </a:lnTo>
                  <a:lnTo>
                    <a:pt x="124" y="0"/>
                  </a:lnTo>
                  <a:lnTo>
                    <a:pt x="112" y="0"/>
                  </a:lnTo>
                  <a:lnTo>
                    <a:pt x="0" y="0"/>
                  </a:lnTo>
                  <a:lnTo>
                    <a:pt x="0" y="151"/>
                  </a:lnTo>
                  <a:lnTo>
                    <a:pt x="112" y="151"/>
                  </a:lnTo>
                </a:path>
              </a:pathLst>
            </a:custGeom>
            <a:noFill/>
            <a:ln w="11160">
              <a:solidFill>
                <a:srgbClr val="EB75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22"/>
            <p:cNvSpPr>
              <a:spLocks noChangeArrowheads="1"/>
            </p:cNvSpPr>
            <p:nvPr/>
          </p:nvSpPr>
          <p:spPr bwMode="auto">
            <a:xfrm>
              <a:off x="2208" y="2384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6 h 31"/>
                <a:gd name="T6" fmla="*/ 0 w 31"/>
                <a:gd name="T7" fmla="*/ 2 h 31"/>
                <a:gd name="T8" fmla="*/ 0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Freeform 23"/>
            <p:cNvSpPr>
              <a:spLocks noChangeArrowheads="1"/>
            </p:cNvSpPr>
            <p:nvPr/>
          </p:nvSpPr>
          <p:spPr bwMode="auto">
            <a:xfrm>
              <a:off x="2208" y="2647"/>
              <a:ext cx="31" cy="30"/>
            </a:xfrm>
            <a:custGeom>
              <a:avLst/>
              <a:gdLst>
                <a:gd name="T0" fmla="*/ 0 w 31"/>
                <a:gd name="T1" fmla="*/ 0 h 30"/>
                <a:gd name="T2" fmla="*/ 0 w 31"/>
                <a:gd name="T3" fmla="*/ 30 h 30"/>
                <a:gd name="T4" fmla="*/ 31 w 31"/>
                <a:gd name="T5" fmla="*/ 16 h 30"/>
                <a:gd name="T6" fmla="*/ 0 w 31"/>
                <a:gd name="T7" fmla="*/ 2 h 30"/>
                <a:gd name="T8" fmla="*/ 0 w 31"/>
                <a:gd name="T9" fmla="*/ 2 h 30"/>
                <a:gd name="T10" fmla="*/ 0 w 31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0"/>
                <a:gd name="T20" fmla="*/ 31 w 31"/>
                <a:gd name="T21" fmla="*/ 30 h 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0">
                  <a:moveTo>
                    <a:pt x="0" y="0"/>
                  </a:moveTo>
                  <a:lnTo>
                    <a:pt x="0" y="30"/>
                  </a:lnTo>
                  <a:lnTo>
                    <a:pt x="31" y="1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24"/>
            <p:cNvSpPr>
              <a:spLocks noChangeArrowheads="1"/>
            </p:cNvSpPr>
            <p:nvPr/>
          </p:nvSpPr>
          <p:spPr bwMode="auto">
            <a:xfrm>
              <a:off x="2492" y="2471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7 h 31"/>
                <a:gd name="T6" fmla="*/ 2 w 31"/>
                <a:gd name="T7" fmla="*/ 3 h 31"/>
                <a:gd name="T8" fmla="*/ 2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7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25"/>
            <p:cNvSpPr>
              <a:spLocks noChangeShapeType="1"/>
            </p:cNvSpPr>
            <p:nvPr/>
          </p:nvSpPr>
          <p:spPr bwMode="auto">
            <a:xfrm flipH="1" flipV="1">
              <a:off x="2844" y="2979"/>
              <a:ext cx="44" cy="78"/>
            </a:xfrm>
            <a:prstGeom prst="line">
              <a:avLst/>
            </a:prstGeom>
            <a:noFill/>
            <a:ln w="11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 noChangeArrowheads="1"/>
            </p:cNvSpPr>
            <p:nvPr/>
          </p:nvSpPr>
          <p:spPr bwMode="auto">
            <a:xfrm>
              <a:off x="472" y="2029"/>
              <a:ext cx="111" cy="305"/>
            </a:xfrm>
            <a:custGeom>
              <a:avLst/>
              <a:gdLst>
                <a:gd name="T0" fmla="*/ 109 w 111"/>
                <a:gd name="T1" fmla="*/ 305 h 305"/>
                <a:gd name="T2" fmla="*/ 111 w 111"/>
                <a:gd name="T3" fmla="*/ 0 h 305"/>
                <a:gd name="T4" fmla="*/ 0 w 111"/>
                <a:gd name="T5" fmla="*/ 0 h 305"/>
                <a:gd name="T6" fmla="*/ 0 w 111"/>
                <a:gd name="T7" fmla="*/ 305 h 305"/>
                <a:gd name="T8" fmla="*/ 111 w 111"/>
                <a:gd name="T9" fmla="*/ 305 h 305"/>
                <a:gd name="T10" fmla="*/ 111 w 111"/>
                <a:gd name="T11" fmla="*/ 305 h 305"/>
                <a:gd name="T12" fmla="*/ 109 w 111"/>
                <a:gd name="T13" fmla="*/ 305 h 3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11"/>
                <a:gd name="T22" fmla="*/ 0 h 305"/>
                <a:gd name="T23" fmla="*/ 111 w 111"/>
                <a:gd name="T24" fmla="*/ 305 h 30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11" h="305">
                  <a:moveTo>
                    <a:pt x="109" y="305"/>
                  </a:moveTo>
                  <a:lnTo>
                    <a:pt x="111" y="0"/>
                  </a:lnTo>
                  <a:lnTo>
                    <a:pt x="0" y="0"/>
                  </a:lnTo>
                  <a:lnTo>
                    <a:pt x="0" y="305"/>
                  </a:lnTo>
                  <a:lnTo>
                    <a:pt x="111" y="305"/>
                  </a:lnTo>
                  <a:lnTo>
                    <a:pt x="109" y="30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Freeform 27"/>
            <p:cNvSpPr>
              <a:spLocks noChangeArrowheads="1"/>
            </p:cNvSpPr>
            <p:nvPr/>
          </p:nvSpPr>
          <p:spPr bwMode="auto">
            <a:xfrm>
              <a:off x="472" y="2029"/>
              <a:ext cx="111" cy="305"/>
            </a:xfrm>
            <a:custGeom>
              <a:avLst/>
              <a:gdLst>
                <a:gd name="T0" fmla="*/ 109 w 111"/>
                <a:gd name="T1" fmla="*/ 305 h 305"/>
                <a:gd name="T2" fmla="*/ 111 w 111"/>
                <a:gd name="T3" fmla="*/ 0 h 305"/>
                <a:gd name="T4" fmla="*/ 0 w 111"/>
                <a:gd name="T5" fmla="*/ 0 h 305"/>
                <a:gd name="T6" fmla="*/ 0 w 111"/>
                <a:gd name="T7" fmla="*/ 305 h 305"/>
                <a:gd name="T8" fmla="*/ 111 w 111"/>
                <a:gd name="T9" fmla="*/ 305 h 305"/>
                <a:gd name="T10" fmla="*/ 111 w 111"/>
                <a:gd name="T11" fmla="*/ 305 h 3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1"/>
                <a:gd name="T19" fmla="*/ 0 h 305"/>
                <a:gd name="T20" fmla="*/ 111 w 111"/>
                <a:gd name="T21" fmla="*/ 305 h 30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1" h="305">
                  <a:moveTo>
                    <a:pt x="109" y="305"/>
                  </a:moveTo>
                  <a:lnTo>
                    <a:pt x="111" y="0"/>
                  </a:lnTo>
                  <a:lnTo>
                    <a:pt x="0" y="0"/>
                  </a:lnTo>
                  <a:lnTo>
                    <a:pt x="0" y="305"/>
                  </a:lnTo>
                  <a:lnTo>
                    <a:pt x="111" y="305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489" y="2145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529" y="214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32" name="Freeform 30"/>
            <p:cNvSpPr>
              <a:spLocks noChangeArrowheads="1"/>
            </p:cNvSpPr>
            <p:nvPr/>
          </p:nvSpPr>
          <p:spPr bwMode="auto">
            <a:xfrm>
              <a:off x="780" y="2059"/>
              <a:ext cx="656" cy="685"/>
            </a:xfrm>
            <a:custGeom>
              <a:avLst/>
              <a:gdLst>
                <a:gd name="T0" fmla="*/ 656 w 656"/>
                <a:gd name="T1" fmla="*/ 685 h 685"/>
                <a:gd name="T2" fmla="*/ 656 w 656"/>
                <a:gd name="T3" fmla="*/ 0 h 685"/>
                <a:gd name="T4" fmla="*/ 0 w 656"/>
                <a:gd name="T5" fmla="*/ 0 h 685"/>
                <a:gd name="T6" fmla="*/ 0 w 656"/>
                <a:gd name="T7" fmla="*/ 685 h 685"/>
                <a:gd name="T8" fmla="*/ 656 w 656"/>
                <a:gd name="T9" fmla="*/ 685 h 685"/>
                <a:gd name="T10" fmla="*/ 656 w 656"/>
                <a:gd name="T11" fmla="*/ 685 h 6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6"/>
                <a:gd name="T19" fmla="*/ 0 h 685"/>
                <a:gd name="T20" fmla="*/ 656 w 656"/>
                <a:gd name="T21" fmla="*/ 685 h 6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6" h="685">
                  <a:moveTo>
                    <a:pt x="656" y="685"/>
                  </a:moveTo>
                  <a:lnTo>
                    <a:pt x="656" y="0"/>
                  </a:lnTo>
                  <a:lnTo>
                    <a:pt x="0" y="0"/>
                  </a:lnTo>
                  <a:lnTo>
                    <a:pt x="0" y="685"/>
                  </a:lnTo>
                  <a:lnTo>
                    <a:pt x="656" y="68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31"/>
            <p:cNvSpPr>
              <a:spLocks noChangeArrowheads="1"/>
            </p:cNvSpPr>
            <p:nvPr/>
          </p:nvSpPr>
          <p:spPr bwMode="auto">
            <a:xfrm>
              <a:off x="780" y="2059"/>
              <a:ext cx="656" cy="685"/>
            </a:xfrm>
            <a:custGeom>
              <a:avLst/>
              <a:gdLst>
                <a:gd name="T0" fmla="*/ 656 w 656"/>
                <a:gd name="T1" fmla="*/ 685 h 685"/>
                <a:gd name="T2" fmla="*/ 656 w 656"/>
                <a:gd name="T3" fmla="*/ 0 h 685"/>
                <a:gd name="T4" fmla="*/ 0 w 656"/>
                <a:gd name="T5" fmla="*/ 0 h 685"/>
                <a:gd name="T6" fmla="*/ 0 w 656"/>
                <a:gd name="T7" fmla="*/ 685 h 685"/>
                <a:gd name="T8" fmla="*/ 656 w 656"/>
                <a:gd name="T9" fmla="*/ 685 h 685"/>
                <a:gd name="T10" fmla="*/ 656 w 656"/>
                <a:gd name="T11" fmla="*/ 685 h 68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6"/>
                <a:gd name="T19" fmla="*/ 0 h 685"/>
                <a:gd name="T20" fmla="*/ 656 w 656"/>
                <a:gd name="T21" fmla="*/ 685 h 68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6" h="685">
                  <a:moveTo>
                    <a:pt x="656" y="685"/>
                  </a:moveTo>
                  <a:lnTo>
                    <a:pt x="656" y="0"/>
                  </a:lnTo>
                  <a:lnTo>
                    <a:pt x="0" y="0"/>
                  </a:lnTo>
                  <a:lnTo>
                    <a:pt x="0" y="685"/>
                  </a:lnTo>
                  <a:lnTo>
                    <a:pt x="656" y="685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818" y="2481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834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867" y="248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896" y="248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912" y="248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9" name="Rectangle 37"/>
            <p:cNvSpPr>
              <a:spLocks noChangeArrowheads="1"/>
            </p:cNvSpPr>
            <p:nvPr/>
          </p:nvSpPr>
          <p:spPr bwMode="auto">
            <a:xfrm>
              <a:off x="931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40" name="Rectangle 38"/>
            <p:cNvSpPr>
              <a:spLocks noChangeArrowheads="1"/>
            </p:cNvSpPr>
            <p:nvPr/>
          </p:nvSpPr>
          <p:spPr bwMode="auto">
            <a:xfrm>
              <a:off x="964" y="248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41" name="Rectangle 39"/>
            <p:cNvSpPr>
              <a:spLocks noChangeArrowheads="1"/>
            </p:cNvSpPr>
            <p:nvPr/>
          </p:nvSpPr>
          <p:spPr bwMode="auto">
            <a:xfrm>
              <a:off x="993" y="248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>
              <a:off x="1008" y="2481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43" name="Rectangle 41"/>
            <p:cNvSpPr>
              <a:spLocks noChangeArrowheads="1"/>
            </p:cNvSpPr>
            <p:nvPr/>
          </p:nvSpPr>
          <p:spPr bwMode="auto">
            <a:xfrm>
              <a:off x="1024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1054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1088" y="248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Rectangle 44"/>
            <p:cNvSpPr>
              <a:spLocks noChangeArrowheads="1"/>
            </p:cNvSpPr>
            <p:nvPr/>
          </p:nvSpPr>
          <p:spPr bwMode="auto">
            <a:xfrm>
              <a:off x="858" y="2550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47" name="Rectangle 45"/>
            <p:cNvSpPr>
              <a:spLocks noChangeArrowheads="1"/>
            </p:cNvSpPr>
            <p:nvPr/>
          </p:nvSpPr>
          <p:spPr bwMode="auto">
            <a:xfrm>
              <a:off x="905" y="25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938" y="2550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49" name="Rectangle 47"/>
            <p:cNvSpPr>
              <a:spLocks noChangeArrowheads="1"/>
            </p:cNvSpPr>
            <p:nvPr/>
          </p:nvSpPr>
          <p:spPr bwMode="auto">
            <a:xfrm>
              <a:off x="986" y="25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50" name="Rectangle 48"/>
            <p:cNvSpPr>
              <a:spLocks noChangeArrowheads="1"/>
            </p:cNvSpPr>
            <p:nvPr/>
          </p:nvSpPr>
          <p:spPr bwMode="auto">
            <a:xfrm>
              <a:off x="1019" y="2550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1" name="Rectangle 49"/>
            <p:cNvSpPr>
              <a:spLocks noChangeArrowheads="1"/>
            </p:cNvSpPr>
            <p:nvPr/>
          </p:nvSpPr>
          <p:spPr bwMode="auto">
            <a:xfrm>
              <a:off x="1039" y="2550"/>
              <a:ext cx="2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52" name="Rectangle 50"/>
            <p:cNvSpPr>
              <a:spLocks noChangeArrowheads="1"/>
            </p:cNvSpPr>
            <p:nvPr/>
          </p:nvSpPr>
          <p:spPr bwMode="auto">
            <a:xfrm>
              <a:off x="803" y="2117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3" name="Rectangle 51"/>
            <p:cNvSpPr>
              <a:spLocks noChangeArrowheads="1"/>
            </p:cNvSpPr>
            <p:nvPr/>
          </p:nvSpPr>
          <p:spPr bwMode="auto">
            <a:xfrm>
              <a:off x="846" y="211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54" name="Rectangle 52"/>
            <p:cNvSpPr>
              <a:spLocks noChangeArrowheads="1"/>
            </p:cNvSpPr>
            <p:nvPr/>
          </p:nvSpPr>
          <p:spPr bwMode="auto">
            <a:xfrm>
              <a:off x="879" y="211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912" y="211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943" y="2117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Rectangle 55"/>
            <p:cNvSpPr>
              <a:spLocks noChangeArrowheads="1"/>
            </p:cNvSpPr>
            <p:nvPr/>
          </p:nvSpPr>
          <p:spPr bwMode="auto">
            <a:xfrm>
              <a:off x="803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58" name="Rectangle 56"/>
            <p:cNvSpPr>
              <a:spLocks noChangeArrowheads="1"/>
            </p:cNvSpPr>
            <p:nvPr/>
          </p:nvSpPr>
          <p:spPr bwMode="auto">
            <a:xfrm>
              <a:off x="837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59" name="Rectangle 57"/>
            <p:cNvSpPr>
              <a:spLocks noChangeArrowheads="1"/>
            </p:cNvSpPr>
            <p:nvPr/>
          </p:nvSpPr>
          <p:spPr bwMode="auto">
            <a:xfrm>
              <a:off x="870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60" name="Rectangle 58"/>
            <p:cNvSpPr>
              <a:spLocks noChangeArrowheads="1"/>
            </p:cNvSpPr>
            <p:nvPr/>
          </p:nvSpPr>
          <p:spPr bwMode="auto">
            <a:xfrm>
              <a:off x="901" y="217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1" name="Rectangle 59"/>
            <p:cNvSpPr>
              <a:spLocks noChangeArrowheads="1"/>
            </p:cNvSpPr>
            <p:nvPr/>
          </p:nvSpPr>
          <p:spPr bwMode="auto">
            <a:xfrm>
              <a:off x="922" y="217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62" name="Rectangle 60"/>
            <p:cNvSpPr>
              <a:spLocks noChangeArrowheads="1"/>
            </p:cNvSpPr>
            <p:nvPr/>
          </p:nvSpPr>
          <p:spPr bwMode="auto">
            <a:xfrm>
              <a:off x="953" y="217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3" name="Rectangle 61"/>
            <p:cNvSpPr>
              <a:spLocks noChangeArrowheads="1"/>
            </p:cNvSpPr>
            <p:nvPr/>
          </p:nvSpPr>
          <p:spPr bwMode="auto">
            <a:xfrm>
              <a:off x="983" y="217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4" name="Rectangle 62"/>
            <p:cNvSpPr>
              <a:spLocks noChangeArrowheads="1"/>
            </p:cNvSpPr>
            <p:nvPr/>
          </p:nvSpPr>
          <p:spPr bwMode="auto">
            <a:xfrm>
              <a:off x="1147" y="2337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5" name="Rectangle 63"/>
            <p:cNvSpPr>
              <a:spLocks noChangeArrowheads="1"/>
            </p:cNvSpPr>
            <p:nvPr/>
          </p:nvSpPr>
          <p:spPr bwMode="auto">
            <a:xfrm>
              <a:off x="1163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66" name="Rectangle 64"/>
            <p:cNvSpPr>
              <a:spLocks noChangeArrowheads="1"/>
            </p:cNvSpPr>
            <p:nvPr/>
          </p:nvSpPr>
          <p:spPr bwMode="auto">
            <a:xfrm>
              <a:off x="1194" y="2337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7" name="Rectangle 65"/>
            <p:cNvSpPr>
              <a:spLocks noChangeArrowheads="1"/>
            </p:cNvSpPr>
            <p:nvPr/>
          </p:nvSpPr>
          <p:spPr bwMode="auto">
            <a:xfrm>
              <a:off x="1225" y="233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8" name="Rectangle 66"/>
            <p:cNvSpPr>
              <a:spLocks noChangeArrowheads="1"/>
            </p:cNvSpPr>
            <p:nvPr/>
          </p:nvSpPr>
          <p:spPr bwMode="auto">
            <a:xfrm>
              <a:off x="1242" y="2337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9" name="Rectangle 67"/>
            <p:cNvSpPr>
              <a:spLocks noChangeArrowheads="1"/>
            </p:cNvSpPr>
            <p:nvPr/>
          </p:nvSpPr>
          <p:spPr bwMode="auto">
            <a:xfrm>
              <a:off x="1261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70" name="Rectangle 68"/>
            <p:cNvSpPr>
              <a:spLocks noChangeArrowheads="1"/>
            </p:cNvSpPr>
            <p:nvPr/>
          </p:nvSpPr>
          <p:spPr bwMode="auto">
            <a:xfrm>
              <a:off x="1294" y="2337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71" name="Rectangle 69"/>
            <p:cNvSpPr>
              <a:spLocks noChangeArrowheads="1"/>
            </p:cNvSpPr>
            <p:nvPr/>
          </p:nvSpPr>
          <p:spPr bwMode="auto">
            <a:xfrm>
              <a:off x="1322" y="233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72" name="Rectangle 70"/>
            <p:cNvSpPr>
              <a:spLocks noChangeArrowheads="1"/>
            </p:cNvSpPr>
            <p:nvPr/>
          </p:nvSpPr>
          <p:spPr bwMode="auto">
            <a:xfrm>
              <a:off x="1339" y="2337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3" name="Rectangle 71"/>
            <p:cNvSpPr>
              <a:spLocks noChangeArrowheads="1"/>
            </p:cNvSpPr>
            <p:nvPr/>
          </p:nvSpPr>
          <p:spPr bwMode="auto">
            <a:xfrm>
              <a:off x="1350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4" name="Rectangle 72"/>
            <p:cNvSpPr>
              <a:spLocks noChangeArrowheads="1"/>
            </p:cNvSpPr>
            <p:nvPr/>
          </p:nvSpPr>
          <p:spPr bwMode="auto">
            <a:xfrm>
              <a:off x="1384" y="233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5" name="Rectangle 73"/>
            <p:cNvSpPr>
              <a:spLocks noChangeArrowheads="1"/>
            </p:cNvSpPr>
            <p:nvPr/>
          </p:nvSpPr>
          <p:spPr bwMode="auto">
            <a:xfrm>
              <a:off x="1417" y="2337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Rectangle 74"/>
            <p:cNvSpPr>
              <a:spLocks noChangeArrowheads="1"/>
            </p:cNvSpPr>
            <p:nvPr/>
          </p:nvSpPr>
          <p:spPr bwMode="auto">
            <a:xfrm>
              <a:off x="1246" y="239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77" name="Rectangle 75"/>
            <p:cNvSpPr>
              <a:spLocks noChangeArrowheads="1"/>
            </p:cNvSpPr>
            <p:nvPr/>
          </p:nvSpPr>
          <p:spPr bwMode="auto">
            <a:xfrm>
              <a:off x="1263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78" name="Rectangle 76"/>
            <p:cNvSpPr>
              <a:spLocks noChangeArrowheads="1"/>
            </p:cNvSpPr>
            <p:nvPr/>
          </p:nvSpPr>
          <p:spPr bwMode="auto">
            <a:xfrm>
              <a:off x="1296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79" name="Rectangle 77"/>
            <p:cNvSpPr>
              <a:spLocks noChangeArrowheads="1"/>
            </p:cNvSpPr>
            <p:nvPr/>
          </p:nvSpPr>
          <p:spPr bwMode="auto">
            <a:xfrm>
              <a:off x="1329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–</a:t>
              </a:r>
            </a:p>
          </p:txBody>
        </p:sp>
        <p:sp>
          <p:nvSpPr>
            <p:cNvPr id="80" name="Rectangle 78"/>
            <p:cNvSpPr>
              <a:spLocks noChangeArrowheads="1"/>
            </p:cNvSpPr>
            <p:nvPr/>
          </p:nvSpPr>
          <p:spPr bwMode="auto">
            <a:xfrm>
              <a:off x="1372" y="23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81" name="Rectangle 79"/>
            <p:cNvSpPr>
              <a:spLocks noChangeArrowheads="1"/>
            </p:cNvSpPr>
            <p:nvPr/>
          </p:nvSpPr>
          <p:spPr bwMode="auto">
            <a:xfrm>
              <a:off x="1405" y="239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82" name="Line 80"/>
            <p:cNvSpPr>
              <a:spLocks noChangeShapeType="1"/>
            </p:cNvSpPr>
            <p:nvPr/>
          </p:nvSpPr>
          <p:spPr bwMode="auto">
            <a:xfrm flipH="1">
              <a:off x="5037" y="2474"/>
              <a:ext cx="113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81"/>
            <p:cNvSpPr>
              <a:spLocks noChangeArrowheads="1"/>
            </p:cNvSpPr>
            <p:nvPr/>
          </p:nvSpPr>
          <p:spPr bwMode="auto">
            <a:xfrm>
              <a:off x="4382" y="2242"/>
              <a:ext cx="658" cy="686"/>
            </a:xfrm>
            <a:custGeom>
              <a:avLst/>
              <a:gdLst>
                <a:gd name="T0" fmla="*/ 656 w 658"/>
                <a:gd name="T1" fmla="*/ 686 h 686"/>
                <a:gd name="T2" fmla="*/ 658 w 658"/>
                <a:gd name="T3" fmla="*/ 0 h 686"/>
                <a:gd name="T4" fmla="*/ 0 w 658"/>
                <a:gd name="T5" fmla="*/ 0 h 686"/>
                <a:gd name="T6" fmla="*/ 0 w 658"/>
                <a:gd name="T7" fmla="*/ 686 h 686"/>
                <a:gd name="T8" fmla="*/ 658 w 658"/>
                <a:gd name="T9" fmla="*/ 686 h 686"/>
                <a:gd name="T10" fmla="*/ 658 w 658"/>
                <a:gd name="T11" fmla="*/ 686 h 686"/>
                <a:gd name="T12" fmla="*/ 656 w 658"/>
                <a:gd name="T13" fmla="*/ 686 h 68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8"/>
                <a:gd name="T22" fmla="*/ 0 h 686"/>
                <a:gd name="T23" fmla="*/ 658 w 658"/>
                <a:gd name="T24" fmla="*/ 686 h 68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8" h="686">
                  <a:moveTo>
                    <a:pt x="656" y="686"/>
                  </a:moveTo>
                  <a:lnTo>
                    <a:pt x="658" y="0"/>
                  </a:lnTo>
                  <a:lnTo>
                    <a:pt x="0" y="0"/>
                  </a:lnTo>
                  <a:lnTo>
                    <a:pt x="0" y="686"/>
                  </a:lnTo>
                  <a:lnTo>
                    <a:pt x="658" y="686"/>
                  </a:lnTo>
                  <a:lnTo>
                    <a:pt x="656" y="68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Freeform 82"/>
            <p:cNvSpPr>
              <a:spLocks noChangeArrowheads="1"/>
            </p:cNvSpPr>
            <p:nvPr/>
          </p:nvSpPr>
          <p:spPr bwMode="auto">
            <a:xfrm>
              <a:off x="4382" y="2242"/>
              <a:ext cx="658" cy="686"/>
            </a:xfrm>
            <a:custGeom>
              <a:avLst/>
              <a:gdLst>
                <a:gd name="T0" fmla="*/ 656 w 658"/>
                <a:gd name="T1" fmla="*/ 686 h 686"/>
                <a:gd name="T2" fmla="*/ 658 w 658"/>
                <a:gd name="T3" fmla="*/ 0 h 686"/>
                <a:gd name="T4" fmla="*/ 0 w 658"/>
                <a:gd name="T5" fmla="*/ 0 h 686"/>
                <a:gd name="T6" fmla="*/ 0 w 658"/>
                <a:gd name="T7" fmla="*/ 686 h 686"/>
                <a:gd name="T8" fmla="*/ 658 w 658"/>
                <a:gd name="T9" fmla="*/ 686 h 686"/>
                <a:gd name="T10" fmla="*/ 658 w 658"/>
                <a:gd name="T11" fmla="*/ 686 h 6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8"/>
                <a:gd name="T19" fmla="*/ 0 h 686"/>
                <a:gd name="T20" fmla="*/ 658 w 658"/>
                <a:gd name="T21" fmla="*/ 686 h 68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8" h="686">
                  <a:moveTo>
                    <a:pt x="656" y="686"/>
                  </a:moveTo>
                  <a:lnTo>
                    <a:pt x="658" y="0"/>
                  </a:lnTo>
                  <a:lnTo>
                    <a:pt x="0" y="0"/>
                  </a:lnTo>
                  <a:lnTo>
                    <a:pt x="0" y="686"/>
                  </a:lnTo>
                  <a:lnTo>
                    <a:pt x="658" y="686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" name="Freeform 83"/>
            <p:cNvSpPr>
              <a:spLocks noChangeArrowheads="1"/>
            </p:cNvSpPr>
            <p:nvPr/>
          </p:nvSpPr>
          <p:spPr bwMode="auto">
            <a:xfrm>
              <a:off x="2492" y="2121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6 h 31"/>
                <a:gd name="T6" fmla="*/ 2 w 31"/>
                <a:gd name="T7" fmla="*/ 2 h 31"/>
                <a:gd name="T8" fmla="*/ 2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6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" name="Freeform 84"/>
            <p:cNvSpPr>
              <a:spLocks noChangeArrowheads="1"/>
            </p:cNvSpPr>
            <p:nvPr/>
          </p:nvSpPr>
          <p:spPr bwMode="auto">
            <a:xfrm>
              <a:off x="2492" y="2647"/>
              <a:ext cx="31" cy="30"/>
            </a:xfrm>
            <a:custGeom>
              <a:avLst/>
              <a:gdLst>
                <a:gd name="T0" fmla="*/ 0 w 31"/>
                <a:gd name="T1" fmla="*/ 0 h 30"/>
                <a:gd name="T2" fmla="*/ 2 w 31"/>
                <a:gd name="T3" fmla="*/ 30 h 30"/>
                <a:gd name="T4" fmla="*/ 31 w 31"/>
                <a:gd name="T5" fmla="*/ 16 h 30"/>
                <a:gd name="T6" fmla="*/ 2 w 31"/>
                <a:gd name="T7" fmla="*/ 2 h 30"/>
                <a:gd name="T8" fmla="*/ 2 w 31"/>
                <a:gd name="T9" fmla="*/ 2 h 30"/>
                <a:gd name="T10" fmla="*/ 0 w 31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0"/>
                <a:gd name="T20" fmla="*/ 31 w 31"/>
                <a:gd name="T21" fmla="*/ 30 h 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0">
                  <a:moveTo>
                    <a:pt x="0" y="0"/>
                  </a:moveTo>
                  <a:lnTo>
                    <a:pt x="2" y="30"/>
                  </a:lnTo>
                  <a:lnTo>
                    <a:pt x="31" y="16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7" name="Rectangle 85"/>
            <p:cNvSpPr>
              <a:spLocks noChangeArrowheads="1"/>
            </p:cNvSpPr>
            <p:nvPr/>
          </p:nvSpPr>
          <p:spPr bwMode="auto">
            <a:xfrm>
              <a:off x="1662" y="2228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88" name="Rectangle 86"/>
            <p:cNvSpPr>
              <a:spLocks noChangeArrowheads="1"/>
            </p:cNvSpPr>
            <p:nvPr/>
          </p:nvSpPr>
          <p:spPr bwMode="auto">
            <a:xfrm>
              <a:off x="1677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89" name="Rectangle 87"/>
            <p:cNvSpPr>
              <a:spLocks noChangeArrowheads="1"/>
            </p:cNvSpPr>
            <p:nvPr/>
          </p:nvSpPr>
          <p:spPr bwMode="auto">
            <a:xfrm>
              <a:off x="1710" y="222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90" name="Rectangle 88"/>
            <p:cNvSpPr>
              <a:spLocks noChangeArrowheads="1"/>
            </p:cNvSpPr>
            <p:nvPr/>
          </p:nvSpPr>
          <p:spPr bwMode="auto">
            <a:xfrm>
              <a:off x="1739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91" name="Rectangle 89"/>
            <p:cNvSpPr>
              <a:spLocks noChangeArrowheads="1"/>
            </p:cNvSpPr>
            <p:nvPr/>
          </p:nvSpPr>
          <p:spPr bwMode="auto">
            <a:xfrm>
              <a:off x="1755" y="222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92" name="Rectangle 90"/>
            <p:cNvSpPr>
              <a:spLocks noChangeArrowheads="1"/>
            </p:cNvSpPr>
            <p:nvPr/>
          </p:nvSpPr>
          <p:spPr bwMode="auto">
            <a:xfrm>
              <a:off x="1774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93" name="Rectangle 91"/>
            <p:cNvSpPr>
              <a:spLocks noChangeArrowheads="1"/>
            </p:cNvSpPr>
            <p:nvPr/>
          </p:nvSpPr>
          <p:spPr bwMode="auto">
            <a:xfrm>
              <a:off x="1808" y="222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94" name="Rectangle 92"/>
            <p:cNvSpPr>
              <a:spLocks noChangeArrowheads="1"/>
            </p:cNvSpPr>
            <p:nvPr/>
          </p:nvSpPr>
          <p:spPr bwMode="auto">
            <a:xfrm>
              <a:off x="1836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95" name="Rectangle 93"/>
            <p:cNvSpPr>
              <a:spLocks noChangeArrowheads="1"/>
            </p:cNvSpPr>
            <p:nvPr/>
          </p:nvSpPr>
          <p:spPr bwMode="auto">
            <a:xfrm>
              <a:off x="1852" y="2228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96" name="Rectangle 94"/>
            <p:cNvSpPr>
              <a:spLocks noChangeArrowheads="1"/>
            </p:cNvSpPr>
            <p:nvPr/>
          </p:nvSpPr>
          <p:spPr bwMode="auto">
            <a:xfrm>
              <a:off x="1867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97" name="Rectangle 95"/>
            <p:cNvSpPr>
              <a:spLocks noChangeArrowheads="1"/>
            </p:cNvSpPr>
            <p:nvPr/>
          </p:nvSpPr>
          <p:spPr bwMode="auto">
            <a:xfrm>
              <a:off x="1898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98" name="Rectangle 96"/>
            <p:cNvSpPr>
              <a:spLocks noChangeArrowheads="1"/>
            </p:cNvSpPr>
            <p:nvPr/>
          </p:nvSpPr>
          <p:spPr bwMode="auto">
            <a:xfrm>
              <a:off x="1931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99" name="Rectangle 97"/>
            <p:cNvSpPr>
              <a:spLocks noChangeArrowheads="1"/>
            </p:cNvSpPr>
            <p:nvPr/>
          </p:nvSpPr>
          <p:spPr bwMode="auto">
            <a:xfrm>
              <a:off x="1947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100" name="Rectangle 98"/>
            <p:cNvSpPr>
              <a:spLocks noChangeArrowheads="1"/>
            </p:cNvSpPr>
            <p:nvPr/>
          </p:nvSpPr>
          <p:spPr bwMode="auto">
            <a:xfrm>
              <a:off x="1964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101" name="Rectangle 99"/>
            <p:cNvSpPr>
              <a:spLocks noChangeArrowheads="1"/>
            </p:cNvSpPr>
            <p:nvPr/>
          </p:nvSpPr>
          <p:spPr bwMode="auto">
            <a:xfrm>
              <a:off x="1995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102" name="Rectangle 100"/>
            <p:cNvSpPr>
              <a:spLocks noChangeArrowheads="1"/>
            </p:cNvSpPr>
            <p:nvPr/>
          </p:nvSpPr>
          <p:spPr bwMode="auto">
            <a:xfrm>
              <a:off x="2028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03" name="Rectangle 101"/>
            <p:cNvSpPr>
              <a:spLocks noChangeArrowheads="1"/>
            </p:cNvSpPr>
            <p:nvPr/>
          </p:nvSpPr>
          <p:spPr bwMode="auto">
            <a:xfrm>
              <a:off x="2044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04" name="Rectangle 102"/>
            <p:cNvSpPr>
              <a:spLocks noChangeArrowheads="1"/>
            </p:cNvSpPr>
            <p:nvPr/>
          </p:nvSpPr>
          <p:spPr bwMode="auto">
            <a:xfrm>
              <a:off x="2061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105" name="Rectangle 103"/>
            <p:cNvSpPr>
              <a:spLocks noChangeArrowheads="1"/>
            </p:cNvSpPr>
            <p:nvPr/>
          </p:nvSpPr>
          <p:spPr bwMode="auto">
            <a:xfrm>
              <a:off x="2094" y="22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6</a:t>
              </a:r>
            </a:p>
          </p:txBody>
        </p:sp>
        <p:sp>
          <p:nvSpPr>
            <p:cNvPr id="106" name="Rectangle 104"/>
            <p:cNvSpPr>
              <a:spLocks noChangeArrowheads="1"/>
            </p:cNvSpPr>
            <p:nvPr/>
          </p:nvSpPr>
          <p:spPr bwMode="auto">
            <a:xfrm>
              <a:off x="2125" y="222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107" name="Rectangle 105"/>
            <p:cNvSpPr>
              <a:spLocks noChangeArrowheads="1"/>
            </p:cNvSpPr>
            <p:nvPr/>
          </p:nvSpPr>
          <p:spPr bwMode="auto">
            <a:xfrm>
              <a:off x="1662" y="2053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08" name="Rectangle 106"/>
            <p:cNvSpPr>
              <a:spLocks noChangeArrowheads="1"/>
            </p:cNvSpPr>
            <p:nvPr/>
          </p:nvSpPr>
          <p:spPr bwMode="auto">
            <a:xfrm>
              <a:off x="1677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09" name="Rectangle 107"/>
            <p:cNvSpPr>
              <a:spLocks noChangeArrowheads="1"/>
            </p:cNvSpPr>
            <p:nvPr/>
          </p:nvSpPr>
          <p:spPr bwMode="auto">
            <a:xfrm>
              <a:off x="1710" y="2053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10" name="Rectangle 108"/>
            <p:cNvSpPr>
              <a:spLocks noChangeArrowheads="1"/>
            </p:cNvSpPr>
            <p:nvPr/>
          </p:nvSpPr>
          <p:spPr bwMode="auto">
            <a:xfrm>
              <a:off x="1739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11" name="Rectangle 109"/>
            <p:cNvSpPr>
              <a:spLocks noChangeArrowheads="1"/>
            </p:cNvSpPr>
            <p:nvPr/>
          </p:nvSpPr>
          <p:spPr bwMode="auto">
            <a:xfrm>
              <a:off x="1755" y="2053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12" name="Rectangle 110"/>
            <p:cNvSpPr>
              <a:spLocks noChangeArrowheads="1"/>
            </p:cNvSpPr>
            <p:nvPr/>
          </p:nvSpPr>
          <p:spPr bwMode="auto">
            <a:xfrm>
              <a:off x="1774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113" name="Rectangle 111"/>
            <p:cNvSpPr>
              <a:spLocks noChangeArrowheads="1"/>
            </p:cNvSpPr>
            <p:nvPr/>
          </p:nvSpPr>
          <p:spPr bwMode="auto">
            <a:xfrm>
              <a:off x="1808" y="2053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114" name="Rectangle 112"/>
            <p:cNvSpPr>
              <a:spLocks noChangeArrowheads="1"/>
            </p:cNvSpPr>
            <p:nvPr/>
          </p:nvSpPr>
          <p:spPr bwMode="auto">
            <a:xfrm>
              <a:off x="1836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15" name="Rectangle 113"/>
            <p:cNvSpPr>
              <a:spLocks noChangeArrowheads="1"/>
            </p:cNvSpPr>
            <p:nvPr/>
          </p:nvSpPr>
          <p:spPr bwMode="auto">
            <a:xfrm>
              <a:off x="1852" y="2053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16" name="Rectangle 114"/>
            <p:cNvSpPr>
              <a:spLocks noChangeArrowheads="1"/>
            </p:cNvSpPr>
            <p:nvPr/>
          </p:nvSpPr>
          <p:spPr bwMode="auto">
            <a:xfrm>
              <a:off x="1867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17" name="Rectangle 115"/>
            <p:cNvSpPr>
              <a:spLocks noChangeArrowheads="1"/>
            </p:cNvSpPr>
            <p:nvPr/>
          </p:nvSpPr>
          <p:spPr bwMode="auto">
            <a:xfrm>
              <a:off x="1898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18" name="Rectangle 116"/>
            <p:cNvSpPr>
              <a:spLocks noChangeArrowheads="1"/>
            </p:cNvSpPr>
            <p:nvPr/>
          </p:nvSpPr>
          <p:spPr bwMode="auto">
            <a:xfrm>
              <a:off x="1931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19" name="Rectangle 117"/>
            <p:cNvSpPr>
              <a:spLocks noChangeArrowheads="1"/>
            </p:cNvSpPr>
            <p:nvPr/>
          </p:nvSpPr>
          <p:spPr bwMode="auto">
            <a:xfrm>
              <a:off x="1947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120" name="Rectangle 118"/>
            <p:cNvSpPr>
              <a:spLocks noChangeArrowheads="1"/>
            </p:cNvSpPr>
            <p:nvPr/>
          </p:nvSpPr>
          <p:spPr bwMode="auto">
            <a:xfrm>
              <a:off x="1964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121" name="Rectangle 119"/>
            <p:cNvSpPr>
              <a:spLocks noChangeArrowheads="1"/>
            </p:cNvSpPr>
            <p:nvPr/>
          </p:nvSpPr>
          <p:spPr bwMode="auto">
            <a:xfrm>
              <a:off x="1995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122" name="Rectangle 120"/>
            <p:cNvSpPr>
              <a:spLocks noChangeArrowheads="1"/>
            </p:cNvSpPr>
            <p:nvPr/>
          </p:nvSpPr>
          <p:spPr bwMode="auto">
            <a:xfrm>
              <a:off x="2028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23" name="Rectangle 121"/>
            <p:cNvSpPr>
              <a:spLocks noChangeArrowheads="1"/>
            </p:cNvSpPr>
            <p:nvPr/>
          </p:nvSpPr>
          <p:spPr bwMode="auto">
            <a:xfrm>
              <a:off x="2044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24" name="Rectangle 122"/>
            <p:cNvSpPr>
              <a:spLocks noChangeArrowheads="1"/>
            </p:cNvSpPr>
            <p:nvPr/>
          </p:nvSpPr>
          <p:spPr bwMode="auto">
            <a:xfrm>
              <a:off x="2061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125" name="Rectangle 123"/>
            <p:cNvSpPr>
              <a:spLocks noChangeArrowheads="1"/>
            </p:cNvSpPr>
            <p:nvPr/>
          </p:nvSpPr>
          <p:spPr bwMode="auto">
            <a:xfrm>
              <a:off x="2094" y="205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126" name="Rectangle 124"/>
            <p:cNvSpPr>
              <a:spLocks noChangeArrowheads="1"/>
            </p:cNvSpPr>
            <p:nvPr/>
          </p:nvSpPr>
          <p:spPr bwMode="auto">
            <a:xfrm>
              <a:off x="2125" y="205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127" name="Freeform 125"/>
            <p:cNvSpPr>
              <a:spLocks noChangeArrowheads="1"/>
            </p:cNvSpPr>
            <p:nvPr/>
          </p:nvSpPr>
          <p:spPr bwMode="auto">
            <a:xfrm>
              <a:off x="647" y="1058"/>
              <a:ext cx="341" cy="1122"/>
            </a:xfrm>
            <a:custGeom>
              <a:avLst/>
              <a:gdLst>
                <a:gd name="T0" fmla="*/ 341 w 341"/>
                <a:gd name="T1" fmla="*/ 0 h 1122"/>
                <a:gd name="T2" fmla="*/ 0 w 341"/>
                <a:gd name="T3" fmla="*/ 0 h 1122"/>
                <a:gd name="T4" fmla="*/ 0 w 341"/>
                <a:gd name="T5" fmla="*/ 1122 h 1122"/>
                <a:gd name="T6" fmla="*/ 0 60000 65536"/>
                <a:gd name="T7" fmla="*/ 0 60000 65536"/>
                <a:gd name="T8" fmla="*/ 0 60000 65536"/>
                <a:gd name="T9" fmla="*/ 0 w 341"/>
                <a:gd name="T10" fmla="*/ 0 h 1122"/>
                <a:gd name="T11" fmla="*/ 341 w 341"/>
                <a:gd name="T12" fmla="*/ 1122 h 11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1" h="1122">
                  <a:moveTo>
                    <a:pt x="341" y="0"/>
                  </a:moveTo>
                  <a:lnTo>
                    <a:pt x="0" y="0"/>
                  </a:lnTo>
                  <a:lnTo>
                    <a:pt x="0" y="1122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8" name="Line 126"/>
            <p:cNvSpPr>
              <a:spLocks noChangeShapeType="1"/>
            </p:cNvSpPr>
            <p:nvPr/>
          </p:nvSpPr>
          <p:spPr bwMode="auto">
            <a:xfrm flipH="1">
              <a:off x="881" y="1408"/>
              <a:ext cx="108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127"/>
            <p:cNvSpPr>
              <a:spLocks noChangeArrowheads="1"/>
            </p:cNvSpPr>
            <p:nvPr/>
          </p:nvSpPr>
          <p:spPr bwMode="auto">
            <a:xfrm>
              <a:off x="1012" y="939"/>
              <a:ext cx="189" cy="590"/>
            </a:xfrm>
            <a:custGeom>
              <a:avLst/>
              <a:gdLst>
                <a:gd name="T0" fmla="*/ 0 w 189"/>
                <a:gd name="T1" fmla="*/ 0 h 590"/>
                <a:gd name="T2" fmla="*/ 0 w 189"/>
                <a:gd name="T3" fmla="*/ 239 h 590"/>
                <a:gd name="T4" fmla="*/ 61 w 189"/>
                <a:gd name="T5" fmla="*/ 294 h 590"/>
                <a:gd name="T6" fmla="*/ 0 w 189"/>
                <a:gd name="T7" fmla="*/ 351 h 590"/>
                <a:gd name="T8" fmla="*/ 0 w 189"/>
                <a:gd name="T9" fmla="*/ 590 h 590"/>
                <a:gd name="T10" fmla="*/ 189 w 189"/>
                <a:gd name="T11" fmla="*/ 410 h 590"/>
                <a:gd name="T12" fmla="*/ 189 w 189"/>
                <a:gd name="T13" fmla="*/ 180 h 590"/>
                <a:gd name="T14" fmla="*/ 0 w 189"/>
                <a:gd name="T15" fmla="*/ 0 h 590"/>
                <a:gd name="T16" fmla="*/ 0 w 189"/>
                <a:gd name="T17" fmla="*/ 0 h 5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89"/>
                <a:gd name="T28" fmla="*/ 0 h 590"/>
                <a:gd name="T29" fmla="*/ 189 w 189"/>
                <a:gd name="T30" fmla="*/ 590 h 5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89" h="590">
                  <a:moveTo>
                    <a:pt x="0" y="0"/>
                  </a:moveTo>
                  <a:lnTo>
                    <a:pt x="0" y="239"/>
                  </a:lnTo>
                  <a:lnTo>
                    <a:pt x="61" y="294"/>
                  </a:lnTo>
                  <a:lnTo>
                    <a:pt x="0" y="351"/>
                  </a:lnTo>
                  <a:lnTo>
                    <a:pt x="0" y="590"/>
                  </a:lnTo>
                  <a:lnTo>
                    <a:pt x="189" y="410"/>
                  </a:lnTo>
                  <a:lnTo>
                    <a:pt x="189" y="180"/>
                  </a:lnTo>
                  <a:lnTo>
                    <a:pt x="0" y="0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0" name="Rectangle 128"/>
            <p:cNvSpPr>
              <a:spLocks noChangeArrowheads="1"/>
            </p:cNvSpPr>
            <p:nvPr/>
          </p:nvSpPr>
          <p:spPr bwMode="auto">
            <a:xfrm>
              <a:off x="1085" y="120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31" name="Rectangle 129"/>
            <p:cNvSpPr>
              <a:spLocks noChangeArrowheads="1"/>
            </p:cNvSpPr>
            <p:nvPr/>
          </p:nvSpPr>
          <p:spPr bwMode="auto">
            <a:xfrm>
              <a:off x="1126" y="120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32" name="Rectangle 130"/>
            <p:cNvSpPr>
              <a:spLocks noChangeArrowheads="1"/>
            </p:cNvSpPr>
            <p:nvPr/>
          </p:nvSpPr>
          <p:spPr bwMode="auto">
            <a:xfrm>
              <a:off x="1156" y="120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33" name="Freeform 131"/>
            <p:cNvSpPr>
              <a:spLocks noChangeArrowheads="1"/>
            </p:cNvSpPr>
            <p:nvPr/>
          </p:nvSpPr>
          <p:spPr bwMode="auto">
            <a:xfrm>
              <a:off x="3501" y="2429"/>
              <a:ext cx="31" cy="30"/>
            </a:xfrm>
            <a:custGeom>
              <a:avLst/>
              <a:gdLst>
                <a:gd name="T0" fmla="*/ 0 w 31"/>
                <a:gd name="T1" fmla="*/ 0 h 30"/>
                <a:gd name="T2" fmla="*/ 0 w 31"/>
                <a:gd name="T3" fmla="*/ 30 h 30"/>
                <a:gd name="T4" fmla="*/ 31 w 31"/>
                <a:gd name="T5" fmla="*/ 16 h 30"/>
                <a:gd name="T6" fmla="*/ 0 w 31"/>
                <a:gd name="T7" fmla="*/ 2 h 30"/>
                <a:gd name="T8" fmla="*/ 0 w 31"/>
                <a:gd name="T9" fmla="*/ 2 h 30"/>
                <a:gd name="T10" fmla="*/ 0 w 31"/>
                <a:gd name="T11" fmla="*/ 0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0"/>
                <a:gd name="T20" fmla="*/ 31 w 31"/>
                <a:gd name="T21" fmla="*/ 30 h 3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0">
                  <a:moveTo>
                    <a:pt x="0" y="0"/>
                  </a:moveTo>
                  <a:lnTo>
                    <a:pt x="0" y="30"/>
                  </a:lnTo>
                  <a:lnTo>
                    <a:pt x="31" y="1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4" name="Freeform 132"/>
            <p:cNvSpPr>
              <a:spLocks noChangeArrowheads="1"/>
            </p:cNvSpPr>
            <p:nvPr/>
          </p:nvSpPr>
          <p:spPr bwMode="auto">
            <a:xfrm>
              <a:off x="3501" y="2692"/>
              <a:ext cx="31" cy="28"/>
            </a:xfrm>
            <a:custGeom>
              <a:avLst/>
              <a:gdLst>
                <a:gd name="T0" fmla="*/ 0 w 31"/>
                <a:gd name="T1" fmla="*/ 0 h 28"/>
                <a:gd name="T2" fmla="*/ 0 w 31"/>
                <a:gd name="T3" fmla="*/ 28 h 28"/>
                <a:gd name="T4" fmla="*/ 31 w 31"/>
                <a:gd name="T5" fmla="*/ 14 h 28"/>
                <a:gd name="T6" fmla="*/ 0 w 31"/>
                <a:gd name="T7" fmla="*/ 0 h 28"/>
                <a:gd name="T8" fmla="*/ 0 w 31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"/>
                <a:gd name="T16" fmla="*/ 0 h 28"/>
                <a:gd name="T17" fmla="*/ 31 w 31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" h="28">
                  <a:moveTo>
                    <a:pt x="0" y="0"/>
                  </a:moveTo>
                  <a:lnTo>
                    <a:pt x="0" y="28"/>
                  </a:lnTo>
                  <a:lnTo>
                    <a:pt x="31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5" name="Freeform 133"/>
            <p:cNvSpPr>
              <a:spLocks noChangeArrowheads="1"/>
            </p:cNvSpPr>
            <p:nvPr/>
          </p:nvSpPr>
          <p:spPr bwMode="auto">
            <a:xfrm>
              <a:off x="3742" y="2559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7 h 31"/>
                <a:gd name="T6" fmla="*/ 0 w 31"/>
                <a:gd name="T7" fmla="*/ 2 h 31"/>
                <a:gd name="T8" fmla="*/ 0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7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6" name="Line 134"/>
            <p:cNvSpPr>
              <a:spLocks noChangeShapeType="1"/>
            </p:cNvSpPr>
            <p:nvPr/>
          </p:nvSpPr>
          <p:spPr bwMode="auto">
            <a:xfrm flipH="1">
              <a:off x="3644" y="2576"/>
              <a:ext cx="109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135"/>
            <p:cNvSpPr>
              <a:spLocks noChangeArrowheads="1"/>
            </p:cNvSpPr>
            <p:nvPr/>
          </p:nvSpPr>
          <p:spPr bwMode="auto">
            <a:xfrm>
              <a:off x="3742" y="2208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7 h 31"/>
                <a:gd name="T6" fmla="*/ 0 w 31"/>
                <a:gd name="T7" fmla="*/ 3 h 31"/>
                <a:gd name="T8" fmla="*/ 0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8" name="Freeform 136"/>
            <p:cNvSpPr>
              <a:spLocks noChangeArrowheads="1"/>
            </p:cNvSpPr>
            <p:nvPr/>
          </p:nvSpPr>
          <p:spPr bwMode="auto">
            <a:xfrm>
              <a:off x="5135" y="2459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7 h 31"/>
                <a:gd name="T6" fmla="*/ 2 w 31"/>
                <a:gd name="T7" fmla="*/ 3 h 31"/>
                <a:gd name="T8" fmla="*/ 2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7"/>
                  </a:lnTo>
                  <a:lnTo>
                    <a:pt x="2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9" name="Freeform 137"/>
            <p:cNvSpPr>
              <a:spLocks noChangeArrowheads="1"/>
            </p:cNvSpPr>
            <p:nvPr/>
          </p:nvSpPr>
          <p:spPr bwMode="auto">
            <a:xfrm>
              <a:off x="5135" y="2722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5 h 31"/>
                <a:gd name="T6" fmla="*/ 2 w 31"/>
                <a:gd name="T7" fmla="*/ 0 h 31"/>
                <a:gd name="T8" fmla="*/ 2 w 31"/>
                <a:gd name="T9" fmla="*/ 0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5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" name="Freeform 138"/>
            <p:cNvSpPr>
              <a:spLocks noChangeArrowheads="1"/>
            </p:cNvSpPr>
            <p:nvPr/>
          </p:nvSpPr>
          <p:spPr bwMode="auto">
            <a:xfrm>
              <a:off x="4349" y="2789"/>
              <a:ext cx="28" cy="30"/>
            </a:xfrm>
            <a:custGeom>
              <a:avLst/>
              <a:gdLst>
                <a:gd name="T0" fmla="*/ 0 w 28"/>
                <a:gd name="T1" fmla="*/ 0 h 30"/>
                <a:gd name="T2" fmla="*/ 0 w 28"/>
                <a:gd name="T3" fmla="*/ 30 h 30"/>
                <a:gd name="T4" fmla="*/ 28 w 28"/>
                <a:gd name="T5" fmla="*/ 16 h 30"/>
                <a:gd name="T6" fmla="*/ 0 w 28"/>
                <a:gd name="T7" fmla="*/ 0 h 30"/>
                <a:gd name="T8" fmla="*/ 0 w 28"/>
                <a:gd name="T9" fmla="*/ 0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30"/>
                <a:gd name="T17" fmla="*/ 28 w 28"/>
                <a:gd name="T18" fmla="*/ 30 h 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30">
                  <a:moveTo>
                    <a:pt x="0" y="0"/>
                  </a:moveTo>
                  <a:lnTo>
                    <a:pt x="0" y="30"/>
                  </a:lnTo>
                  <a:lnTo>
                    <a:pt x="28" y="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1" name="Freeform 139"/>
            <p:cNvSpPr>
              <a:spLocks noChangeArrowheads="1"/>
            </p:cNvSpPr>
            <p:nvPr/>
          </p:nvSpPr>
          <p:spPr bwMode="auto">
            <a:xfrm>
              <a:off x="3273" y="2445"/>
              <a:ext cx="1085" cy="360"/>
            </a:xfrm>
            <a:custGeom>
              <a:avLst/>
              <a:gdLst>
                <a:gd name="T0" fmla="*/ 1085 w 1085"/>
                <a:gd name="T1" fmla="*/ 358 h 360"/>
                <a:gd name="T2" fmla="*/ 0 w 1085"/>
                <a:gd name="T3" fmla="*/ 360 h 360"/>
                <a:gd name="T4" fmla="*/ 0 w 1085"/>
                <a:gd name="T5" fmla="*/ 0 h 360"/>
                <a:gd name="T6" fmla="*/ 0 60000 65536"/>
                <a:gd name="T7" fmla="*/ 0 60000 65536"/>
                <a:gd name="T8" fmla="*/ 0 60000 65536"/>
                <a:gd name="T9" fmla="*/ 0 w 1085"/>
                <a:gd name="T10" fmla="*/ 0 h 360"/>
                <a:gd name="T11" fmla="*/ 1085 w 1085"/>
                <a:gd name="T12" fmla="*/ 360 h 3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5" h="360">
                  <a:moveTo>
                    <a:pt x="1085" y="358"/>
                  </a:moveTo>
                  <a:lnTo>
                    <a:pt x="0" y="360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Freeform 140"/>
            <p:cNvSpPr>
              <a:spLocks noChangeArrowheads="1"/>
            </p:cNvSpPr>
            <p:nvPr/>
          </p:nvSpPr>
          <p:spPr bwMode="auto">
            <a:xfrm>
              <a:off x="3565" y="2874"/>
              <a:ext cx="218" cy="464"/>
            </a:xfrm>
            <a:custGeom>
              <a:avLst/>
              <a:gdLst>
                <a:gd name="T0" fmla="*/ 109 w 218"/>
                <a:gd name="T1" fmla="*/ 464 h 464"/>
                <a:gd name="T2" fmla="*/ 125 w 218"/>
                <a:gd name="T3" fmla="*/ 462 h 464"/>
                <a:gd name="T4" fmla="*/ 144 w 218"/>
                <a:gd name="T5" fmla="*/ 452 h 464"/>
                <a:gd name="T6" fmla="*/ 158 w 218"/>
                <a:gd name="T7" fmla="*/ 438 h 464"/>
                <a:gd name="T8" fmla="*/ 173 w 218"/>
                <a:gd name="T9" fmla="*/ 419 h 464"/>
                <a:gd name="T10" fmla="*/ 187 w 218"/>
                <a:gd name="T11" fmla="*/ 395 h 464"/>
                <a:gd name="T12" fmla="*/ 196 w 218"/>
                <a:gd name="T13" fmla="*/ 369 h 464"/>
                <a:gd name="T14" fmla="*/ 206 w 218"/>
                <a:gd name="T15" fmla="*/ 338 h 464"/>
                <a:gd name="T16" fmla="*/ 213 w 218"/>
                <a:gd name="T17" fmla="*/ 305 h 464"/>
                <a:gd name="T18" fmla="*/ 218 w 218"/>
                <a:gd name="T19" fmla="*/ 270 h 464"/>
                <a:gd name="T20" fmla="*/ 218 w 218"/>
                <a:gd name="T21" fmla="*/ 232 h 464"/>
                <a:gd name="T22" fmla="*/ 218 w 218"/>
                <a:gd name="T23" fmla="*/ 194 h 464"/>
                <a:gd name="T24" fmla="*/ 213 w 218"/>
                <a:gd name="T25" fmla="*/ 159 h 464"/>
                <a:gd name="T26" fmla="*/ 206 w 218"/>
                <a:gd name="T27" fmla="*/ 125 h 464"/>
                <a:gd name="T28" fmla="*/ 196 w 218"/>
                <a:gd name="T29" fmla="*/ 95 h 464"/>
                <a:gd name="T30" fmla="*/ 187 w 218"/>
                <a:gd name="T31" fmla="*/ 66 h 464"/>
                <a:gd name="T32" fmla="*/ 173 w 218"/>
                <a:gd name="T33" fmla="*/ 45 h 464"/>
                <a:gd name="T34" fmla="*/ 158 w 218"/>
                <a:gd name="T35" fmla="*/ 26 h 464"/>
                <a:gd name="T36" fmla="*/ 144 w 218"/>
                <a:gd name="T37" fmla="*/ 12 h 464"/>
                <a:gd name="T38" fmla="*/ 125 w 218"/>
                <a:gd name="T39" fmla="*/ 2 h 464"/>
                <a:gd name="T40" fmla="*/ 109 w 218"/>
                <a:gd name="T41" fmla="*/ 0 h 464"/>
                <a:gd name="T42" fmla="*/ 90 w 218"/>
                <a:gd name="T43" fmla="*/ 2 h 464"/>
                <a:gd name="T44" fmla="*/ 73 w 218"/>
                <a:gd name="T45" fmla="*/ 12 h 464"/>
                <a:gd name="T46" fmla="*/ 59 w 218"/>
                <a:gd name="T47" fmla="*/ 26 h 464"/>
                <a:gd name="T48" fmla="*/ 45 w 218"/>
                <a:gd name="T49" fmla="*/ 45 h 464"/>
                <a:gd name="T50" fmla="*/ 30 w 218"/>
                <a:gd name="T51" fmla="*/ 66 h 464"/>
                <a:gd name="T52" fmla="*/ 21 w 218"/>
                <a:gd name="T53" fmla="*/ 95 h 464"/>
                <a:gd name="T54" fmla="*/ 12 w 218"/>
                <a:gd name="T55" fmla="*/ 125 h 464"/>
                <a:gd name="T56" fmla="*/ 4 w 218"/>
                <a:gd name="T57" fmla="*/ 159 h 464"/>
                <a:gd name="T58" fmla="*/ 0 w 218"/>
                <a:gd name="T59" fmla="*/ 194 h 464"/>
                <a:gd name="T60" fmla="*/ 0 w 218"/>
                <a:gd name="T61" fmla="*/ 232 h 464"/>
                <a:gd name="T62" fmla="*/ 0 w 218"/>
                <a:gd name="T63" fmla="*/ 270 h 464"/>
                <a:gd name="T64" fmla="*/ 4 w 218"/>
                <a:gd name="T65" fmla="*/ 305 h 464"/>
                <a:gd name="T66" fmla="*/ 12 w 218"/>
                <a:gd name="T67" fmla="*/ 338 h 464"/>
                <a:gd name="T68" fmla="*/ 21 w 218"/>
                <a:gd name="T69" fmla="*/ 369 h 464"/>
                <a:gd name="T70" fmla="*/ 30 w 218"/>
                <a:gd name="T71" fmla="*/ 395 h 464"/>
                <a:gd name="T72" fmla="*/ 45 w 218"/>
                <a:gd name="T73" fmla="*/ 419 h 464"/>
                <a:gd name="T74" fmla="*/ 59 w 218"/>
                <a:gd name="T75" fmla="*/ 438 h 464"/>
                <a:gd name="T76" fmla="*/ 73 w 218"/>
                <a:gd name="T77" fmla="*/ 452 h 464"/>
                <a:gd name="T78" fmla="*/ 90 w 218"/>
                <a:gd name="T79" fmla="*/ 462 h 464"/>
                <a:gd name="T80" fmla="*/ 109 w 218"/>
                <a:gd name="T81" fmla="*/ 464 h 464"/>
                <a:gd name="T82" fmla="*/ 109 w 218"/>
                <a:gd name="T83" fmla="*/ 464 h 4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8"/>
                <a:gd name="T127" fmla="*/ 0 h 464"/>
                <a:gd name="T128" fmla="*/ 218 w 218"/>
                <a:gd name="T129" fmla="*/ 464 h 4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8" h="464">
                  <a:moveTo>
                    <a:pt x="109" y="464"/>
                  </a:moveTo>
                  <a:lnTo>
                    <a:pt x="125" y="462"/>
                  </a:lnTo>
                  <a:lnTo>
                    <a:pt x="144" y="452"/>
                  </a:lnTo>
                  <a:lnTo>
                    <a:pt x="158" y="438"/>
                  </a:lnTo>
                  <a:lnTo>
                    <a:pt x="173" y="419"/>
                  </a:lnTo>
                  <a:lnTo>
                    <a:pt x="187" y="395"/>
                  </a:lnTo>
                  <a:lnTo>
                    <a:pt x="196" y="369"/>
                  </a:lnTo>
                  <a:lnTo>
                    <a:pt x="206" y="338"/>
                  </a:lnTo>
                  <a:lnTo>
                    <a:pt x="213" y="305"/>
                  </a:lnTo>
                  <a:lnTo>
                    <a:pt x="218" y="270"/>
                  </a:lnTo>
                  <a:lnTo>
                    <a:pt x="218" y="232"/>
                  </a:lnTo>
                  <a:lnTo>
                    <a:pt x="218" y="194"/>
                  </a:lnTo>
                  <a:lnTo>
                    <a:pt x="213" y="159"/>
                  </a:lnTo>
                  <a:lnTo>
                    <a:pt x="206" y="125"/>
                  </a:lnTo>
                  <a:lnTo>
                    <a:pt x="196" y="95"/>
                  </a:lnTo>
                  <a:lnTo>
                    <a:pt x="187" y="66"/>
                  </a:lnTo>
                  <a:lnTo>
                    <a:pt x="173" y="45"/>
                  </a:lnTo>
                  <a:lnTo>
                    <a:pt x="158" y="26"/>
                  </a:lnTo>
                  <a:lnTo>
                    <a:pt x="144" y="12"/>
                  </a:lnTo>
                  <a:lnTo>
                    <a:pt x="125" y="2"/>
                  </a:lnTo>
                  <a:lnTo>
                    <a:pt x="109" y="0"/>
                  </a:lnTo>
                  <a:lnTo>
                    <a:pt x="90" y="2"/>
                  </a:lnTo>
                  <a:lnTo>
                    <a:pt x="73" y="12"/>
                  </a:lnTo>
                  <a:lnTo>
                    <a:pt x="59" y="26"/>
                  </a:lnTo>
                  <a:lnTo>
                    <a:pt x="45" y="45"/>
                  </a:lnTo>
                  <a:lnTo>
                    <a:pt x="30" y="66"/>
                  </a:lnTo>
                  <a:lnTo>
                    <a:pt x="21" y="95"/>
                  </a:lnTo>
                  <a:lnTo>
                    <a:pt x="12" y="125"/>
                  </a:lnTo>
                  <a:lnTo>
                    <a:pt x="4" y="159"/>
                  </a:lnTo>
                  <a:lnTo>
                    <a:pt x="0" y="194"/>
                  </a:lnTo>
                  <a:lnTo>
                    <a:pt x="0" y="232"/>
                  </a:lnTo>
                  <a:lnTo>
                    <a:pt x="0" y="270"/>
                  </a:lnTo>
                  <a:lnTo>
                    <a:pt x="4" y="305"/>
                  </a:lnTo>
                  <a:lnTo>
                    <a:pt x="12" y="338"/>
                  </a:lnTo>
                  <a:lnTo>
                    <a:pt x="21" y="369"/>
                  </a:lnTo>
                  <a:lnTo>
                    <a:pt x="30" y="395"/>
                  </a:lnTo>
                  <a:lnTo>
                    <a:pt x="45" y="419"/>
                  </a:lnTo>
                  <a:lnTo>
                    <a:pt x="59" y="438"/>
                  </a:lnTo>
                  <a:lnTo>
                    <a:pt x="73" y="452"/>
                  </a:lnTo>
                  <a:lnTo>
                    <a:pt x="90" y="462"/>
                  </a:lnTo>
                  <a:lnTo>
                    <a:pt x="109" y="4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Freeform 141"/>
            <p:cNvSpPr>
              <a:spLocks noChangeArrowheads="1"/>
            </p:cNvSpPr>
            <p:nvPr/>
          </p:nvSpPr>
          <p:spPr bwMode="auto">
            <a:xfrm>
              <a:off x="3565" y="2874"/>
              <a:ext cx="218" cy="464"/>
            </a:xfrm>
            <a:custGeom>
              <a:avLst/>
              <a:gdLst>
                <a:gd name="T0" fmla="*/ 109 w 218"/>
                <a:gd name="T1" fmla="*/ 464 h 464"/>
                <a:gd name="T2" fmla="*/ 125 w 218"/>
                <a:gd name="T3" fmla="*/ 462 h 464"/>
                <a:gd name="T4" fmla="*/ 144 w 218"/>
                <a:gd name="T5" fmla="*/ 452 h 464"/>
                <a:gd name="T6" fmla="*/ 158 w 218"/>
                <a:gd name="T7" fmla="*/ 438 h 464"/>
                <a:gd name="T8" fmla="*/ 173 w 218"/>
                <a:gd name="T9" fmla="*/ 419 h 464"/>
                <a:gd name="T10" fmla="*/ 187 w 218"/>
                <a:gd name="T11" fmla="*/ 395 h 464"/>
                <a:gd name="T12" fmla="*/ 196 w 218"/>
                <a:gd name="T13" fmla="*/ 369 h 464"/>
                <a:gd name="T14" fmla="*/ 206 w 218"/>
                <a:gd name="T15" fmla="*/ 338 h 464"/>
                <a:gd name="T16" fmla="*/ 213 w 218"/>
                <a:gd name="T17" fmla="*/ 305 h 464"/>
                <a:gd name="T18" fmla="*/ 218 w 218"/>
                <a:gd name="T19" fmla="*/ 270 h 464"/>
                <a:gd name="T20" fmla="*/ 218 w 218"/>
                <a:gd name="T21" fmla="*/ 232 h 464"/>
                <a:gd name="T22" fmla="*/ 218 w 218"/>
                <a:gd name="T23" fmla="*/ 194 h 464"/>
                <a:gd name="T24" fmla="*/ 213 w 218"/>
                <a:gd name="T25" fmla="*/ 159 h 464"/>
                <a:gd name="T26" fmla="*/ 206 w 218"/>
                <a:gd name="T27" fmla="*/ 125 h 464"/>
                <a:gd name="T28" fmla="*/ 196 w 218"/>
                <a:gd name="T29" fmla="*/ 95 h 464"/>
                <a:gd name="T30" fmla="*/ 187 w 218"/>
                <a:gd name="T31" fmla="*/ 66 h 464"/>
                <a:gd name="T32" fmla="*/ 173 w 218"/>
                <a:gd name="T33" fmla="*/ 45 h 464"/>
                <a:gd name="T34" fmla="*/ 158 w 218"/>
                <a:gd name="T35" fmla="*/ 26 h 464"/>
                <a:gd name="T36" fmla="*/ 144 w 218"/>
                <a:gd name="T37" fmla="*/ 12 h 464"/>
                <a:gd name="T38" fmla="*/ 125 w 218"/>
                <a:gd name="T39" fmla="*/ 2 h 464"/>
                <a:gd name="T40" fmla="*/ 109 w 218"/>
                <a:gd name="T41" fmla="*/ 0 h 464"/>
                <a:gd name="T42" fmla="*/ 90 w 218"/>
                <a:gd name="T43" fmla="*/ 2 h 464"/>
                <a:gd name="T44" fmla="*/ 73 w 218"/>
                <a:gd name="T45" fmla="*/ 12 h 464"/>
                <a:gd name="T46" fmla="*/ 59 w 218"/>
                <a:gd name="T47" fmla="*/ 26 h 464"/>
                <a:gd name="T48" fmla="*/ 45 w 218"/>
                <a:gd name="T49" fmla="*/ 45 h 464"/>
                <a:gd name="T50" fmla="*/ 30 w 218"/>
                <a:gd name="T51" fmla="*/ 66 h 464"/>
                <a:gd name="T52" fmla="*/ 21 w 218"/>
                <a:gd name="T53" fmla="*/ 95 h 464"/>
                <a:gd name="T54" fmla="*/ 12 w 218"/>
                <a:gd name="T55" fmla="*/ 125 h 464"/>
                <a:gd name="T56" fmla="*/ 4 w 218"/>
                <a:gd name="T57" fmla="*/ 159 h 464"/>
                <a:gd name="T58" fmla="*/ 0 w 218"/>
                <a:gd name="T59" fmla="*/ 194 h 464"/>
                <a:gd name="T60" fmla="*/ 0 w 218"/>
                <a:gd name="T61" fmla="*/ 232 h 464"/>
                <a:gd name="T62" fmla="*/ 0 w 218"/>
                <a:gd name="T63" fmla="*/ 270 h 464"/>
                <a:gd name="T64" fmla="*/ 4 w 218"/>
                <a:gd name="T65" fmla="*/ 305 h 464"/>
                <a:gd name="T66" fmla="*/ 12 w 218"/>
                <a:gd name="T67" fmla="*/ 338 h 464"/>
                <a:gd name="T68" fmla="*/ 21 w 218"/>
                <a:gd name="T69" fmla="*/ 369 h 464"/>
                <a:gd name="T70" fmla="*/ 30 w 218"/>
                <a:gd name="T71" fmla="*/ 395 h 464"/>
                <a:gd name="T72" fmla="*/ 45 w 218"/>
                <a:gd name="T73" fmla="*/ 419 h 464"/>
                <a:gd name="T74" fmla="*/ 59 w 218"/>
                <a:gd name="T75" fmla="*/ 438 h 464"/>
                <a:gd name="T76" fmla="*/ 73 w 218"/>
                <a:gd name="T77" fmla="*/ 452 h 464"/>
                <a:gd name="T78" fmla="*/ 90 w 218"/>
                <a:gd name="T79" fmla="*/ 462 h 464"/>
                <a:gd name="T80" fmla="*/ 109 w 218"/>
                <a:gd name="T81" fmla="*/ 464 h 464"/>
                <a:gd name="T82" fmla="*/ 109 w 218"/>
                <a:gd name="T83" fmla="*/ 464 h 4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18"/>
                <a:gd name="T127" fmla="*/ 0 h 464"/>
                <a:gd name="T128" fmla="*/ 218 w 218"/>
                <a:gd name="T129" fmla="*/ 464 h 4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18" h="464">
                  <a:moveTo>
                    <a:pt x="109" y="464"/>
                  </a:moveTo>
                  <a:lnTo>
                    <a:pt x="125" y="462"/>
                  </a:lnTo>
                  <a:lnTo>
                    <a:pt x="144" y="452"/>
                  </a:lnTo>
                  <a:lnTo>
                    <a:pt x="158" y="438"/>
                  </a:lnTo>
                  <a:lnTo>
                    <a:pt x="173" y="419"/>
                  </a:lnTo>
                  <a:lnTo>
                    <a:pt x="187" y="395"/>
                  </a:lnTo>
                  <a:lnTo>
                    <a:pt x="196" y="369"/>
                  </a:lnTo>
                  <a:lnTo>
                    <a:pt x="206" y="338"/>
                  </a:lnTo>
                  <a:lnTo>
                    <a:pt x="213" y="305"/>
                  </a:lnTo>
                  <a:lnTo>
                    <a:pt x="218" y="270"/>
                  </a:lnTo>
                  <a:lnTo>
                    <a:pt x="218" y="232"/>
                  </a:lnTo>
                  <a:lnTo>
                    <a:pt x="218" y="194"/>
                  </a:lnTo>
                  <a:lnTo>
                    <a:pt x="213" y="159"/>
                  </a:lnTo>
                  <a:lnTo>
                    <a:pt x="206" y="125"/>
                  </a:lnTo>
                  <a:lnTo>
                    <a:pt x="196" y="95"/>
                  </a:lnTo>
                  <a:lnTo>
                    <a:pt x="187" y="66"/>
                  </a:lnTo>
                  <a:lnTo>
                    <a:pt x="173" y="45"/>
                  </a:lnTo>
                  <a:lnTo>
                    <a:pt x="158" y="26"/>
                  </a:lnTo>
                  <a:lnTo>
                    <a:pt x="144" y="12"/>
                  </a:lnTo>
                  <a:lnTo>
                    <a:pt x="125" y="2"/>
                  </a:lnTo>
                  <a:lnTo>
                    <a:pt x="109" y="0"/>
                  </a:lnTo>
                  <a:lnTo>
                    <a:pt x="90" y="2"/>
                  </a:lnTo>
                  <a:lnTo>
                    <a:pt x="73" y="12"/>
                  </a:lnTo>
                  <a:lnTo>
                    <a:pt x="59" y="26"/>
                  </a:lnTo>
                  <a:lnTo>
                    <a:pt x="45" y="45"/>
                  </a:lnTo>
                  <a:lnTo>
                    <a:pt x="30" y="66"/>
                  </a:lnTo>
                  <a:lnTo>
                    <a:pt x="21" y="95"/>
                  </a:lnTo>
                  <a:lnTo>
                    <a:pt x="12" y="125"/>
                  </a:lnTo>
                  <a:lnTo>
                    <a:pt x="4" y="159"/>
                  </a:lnTo>
                  <a:lnTo>
                    <a:pt x="0" y="194"/>
                  </a:lnTo>
                  <a:lnTo>
                    <a:pt x="0" y="232"/>
                  </a:lnTo>
                  <a:lnTo>
                    <a:pt x="0" y="270"/>
                  </a:lnTo>
                  <a:lnTo>
                    <a:pt x="4" y="305"/>
                  </a:lnTo>
                  <a:lnTo>
                    <a:pt x="12" y="338"/>
                  </a:lnTo>
                  <a:lnTo>
                    <a:pt x="21" y="369"/>
                  </a:lnTo>
                  <a:lnTo>
                    <a:pt x="30" y="395"/>
                  </a:lnTo>
                  <a:lnTo>
                    <a:pt x="45" y="419"/>
                  </a:lnTo>
                  <a:lnTo>
                    <a:pt x="59" y="438"/>
                  </a:lnTo>
                  <a:lnTo>
                    <a:pt x="73" y="452"/>
                  </a:lnTo>
                  <a:lnTo>
                    <a:pt x="90" y="462"/>
                  </a:lnTo>
                  <a:lnTo>
                    <a:pt x="109" y="464"/>
                  </a:lnTo>
                </a:path>
              </a:pathLst>
            </a:custGeom>
            <a:solidFill>
              <a:srgbClr val="D9D9D9"/>
            </a:solidFill>
            <a:ln w="11160">
              <a:solidFill>
                <a:srgbClr val="EB75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" name="Rectangle 142"/>
            <p:cNvSpPr>
              <a:spLocks noChangeArrowheads="1"/>
            </p:cNvSpPr>
            <p:nvPr/>
          </p:nvSpPr>
          <p:spPr bwMode="auto">
            <a:xfrm>
              <a:off x="2490" y="3232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45" name="Rectangle 143"/>
            <p:cNvSpPr>
              <a:spLocks noChangeArrowheads="1"/>
            </p:cNvSpPr>
            <p:nvPr/>
          </p:nvSpPr>
          <p:spPr bwMode="auto">
            <a:xfrm>
              <a:off x="2506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46" name="Rectangle 144"/>
            <p:cNvSpPr>
              <a:spLocks noChangeArrowheads="1"/>
            </p:cNvSpPr>
            <p:nvPr/>
          </p:nvSpPr>
          <p:spPr bwMode="auto">
            <a:xfrm>
              <a:off x="2537" y="3232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47" name="Rectangle 145"/>
            <p:cNvSpPr>
              <a:spLocks noChangeArrowheads="1"/>
            </p:cNvSpPr>
            <p:nvPr/>
          </p:nvSpPr>
          <p:spPr bwMode="auto">
            <a:xfrm>
              <a:off x="2568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48" name="Rectangle 146"/>
            <p:cNvSpPr>
              <a:spLocks noChangeArrowheads="1"/>
            </p:cNvSpPr>
            <p:nvPr/>
          </p:nvSpPr>
          <p:spPr bwMode="auto">
            <a:xfrm>
              <a:off x="2584" y="3232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49" name="Rectangle 147"/>
            <p:cNvSpPr>
              <a:spLocks noChangeArrowheads="1"/>
            </p:cNvSpPr>
            <p:nvPr/>
          </p:nvSpPr>
          <p:spPr bwMode="auto">
            <a:xfrm>
              <a:off x="2603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150" name="Rectangle 148"/>
            <p:cNvSpPr>
              <a:spLocks noChangeArrowheads="1"/>
            </p:cNvSpPr>
            <p:nvPr/>
          </p:nvSpPr>
          <p:spPr bwMode="auto">
            <a:xfrm>
              <a:off x="2636" y="3232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151" name="Rectangle 149"/>
            <p:cNvSpPr>
              <a:spLocks noChangeArrowheads="1"/>
            </p:cNvSpPr>
            <p:nvPr/>
          </p:nvSpPr>
          <p:spPr bwMode="auto">
            <a:xfrm>
              <a:off x="2665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52" name="Rectangle 150"/>
            <p:cNvSpPr>
              <a:spLocks noChangeArrowheads="1"/>
            </p:cNvSpPr>
            <p:nvPr/>
          </p:nvSpPr>
          <p:spPr bwMode="auto">
            <a:xfrm>
              <a:off x="2680" y="3232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53" name="Rectangle 151"/>
            <p:cNvSpPr>
              <a:spLocks noChangeArrowheads="1"/>
            </p:cNvSpPr>
            <p:nvPr/>
          </p:nvSpPr>
          <p:spPr bwMode="auto">
            <a:xfrm>
              <a:off x="2693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54" name="Rectangle 152"/>
            <p:cNvSpPr>
              <a:spLocks noChangeArrowheads="1"/>
            </p:cNvSpPr>
            <p:nvPr/>
          </p:nvSpPr>
          <p:spPr bwMode="auto">
            <a:xfrm>
              <a:off x="2726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55" name="Rectangle 153"/>
            <p:cNvSpPr>
              <a:spLocks noChangeArrowheads="1"/>
            </p:cNvSpPr>
            <p:nvPr/>
          </p:nvSpPr>
          <p:spPr bwMode="auto">
            <a:xfrm>
              <a:off x="2760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56" name="Rectangle 154"/>
            <p:cNvSpPr>
              <a:spLocks noChangeArrowheads="1"/>
            </p:cNvSpPr>
            <p:nvPr/>
          </p:nvSpPr>
          <p:spPr bwMode="auto">
            <a:xfrm>
              <a:off x="2774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157" name="Rectangle 155"/>
            <p:cNvSpPr>
              <a:spLocks noChangeArrowheads="1"/>
            </p:cNvSpPr>
            <p:nvPr/>
          </p:nvSpPr>
          <p:spPr bwMode="auto">
            <a:xfrm>
              <a:off x="2790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158" name="Rectangle 156"/>
            <p:cNvSpPr>
              <a:spLocks noChangeArrowheads="1"/>
            </p:cNvSpPr>
            <p:nvPr/>
          </p:nvSpPr>
          <p:spPr bwMode="auto">
            <a:xfrm>
              <a:off x="2823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59" name="Rectangle 157"/>
            <p:cNvSpPr>
              <a:spLocks noChangeArrowheads="1"/>
            </p:cNvSpPr>
            <p:nvPr/>
          </p:nvSpPr>
          <p:spPr bwMode="auto">
            <a:xfrm>
              <a:off x="2840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60" name="Rectangle 158"/>
            <p:cNvSpPr>
              <a:spLocks noChangeArrowheads="1"/>
            </p:cNvSpPr>
            <p:nvPr/>
          </p:nvSpPr>
          <p:spPr bwMode="auto">
            <a:xfrm>
              <a:off x="2857" y="323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161" name="Rectangle 159"/>
            <p:cNvSpPr>
              <a:spLocks noChangeArrowheads="1"/>
            </p:cNvSpPr>
            <p:nvPr/>
          </p:nvSpPr>
          <p:spPr bwMode="auto">
            <a:xfrm>
              <a:off x="2887" y="323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162" name="Freeform 160"/>
            <p:cNvSpPr>
              <a:spLocks noChangeArrowheads="1"/>
            </p:cNvSpPr>
            <p:nvPr/>
          </p:nvSpPr>
          <p:spPr bwMode="auto">
            <a:xfrm>
              <a:off x="2461" y="3018"/>
              <a:ext cx="1080" cy="299"/>
            </a:xfrm>
            <a:custGeom>
              <a:avLst/>
              <a:gdLst>
                <a:gd name="T0" fmla="*/ 0 w 1080"/>
                <a:gd name="T1" fmla="*/ 0 h 299"/>
                <a:gd name="T2" fmla="*/ 0 w 1080"/>
                <a:gd name="T3" fmla="*/ 299 h 299"/>
                <a:gd name="T4" fmla="*/ 1014 w 1080"/>
                <a:gd name="T5" fmla="*/ 299 h 299"/>
                <a:gd name="T6" fmla="*/ 1014 w 1080"/>
                <a:gd name="T7" fmla="*/ 88 h 299"/>
                <a:gd name="T8" fmla="*/ 1080 w 1080"/>
                <a:gd name="T9" fmla="*/ 88 h 2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80"/>
                <a:gd name="T16" fmla="*/ 0 h 299"/>
                <a:gd name="T17" fmla="*/ 1080 w 1080"/>
                <a:gd name="T18" fmla="*/ 299 h 29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80" h="299">
                  <a:moveTo>
                    <a:pt x="0" y="0"/>
                  </a:moveTo>
                  <a:lnTo>
                    <a:pt x="0" y="299"/>
                  </a:lnTo>
                  <a:lnTo>
                    <a:pt x="1014" y="299"/>
                  </a:lnTo>
                  <a:lnTo>
                    <a:pt x="1014" y="88"/>
                  </a:lnTo>
                  <a:lnTo>
                    <a:pt x="1080" y="88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" name="Freeform 161"/>
            <p:cNvSpPr>
              <a:spLocks noChangeArrowheads="1"/>
            </p:cNvSpPr>
            <p:nvPr/>
          </p:nvSpPr>
          <p:spPr bwMode="auto">
            <a:xfrm>
              <a:off x="2224" y="1285"/>
              <a:ext cx="275" cy="727"/>
            </a:xfrm>
            <a:custGeom>
              <a:avLst/>
              <a:gdLst>
                <a:gd name="T0" fmla="*/ 138 w 275"/>
                <a:gd name="T1" fmla="*/ 727 h 727"/>
                <a:gd name="T2" fmla="*/ 161 w 275"/>
                <a:gd name="T3" fmla="*/ 722 h 727"/>
                <a:gd name="T4" fmla="*/ 180 w 275"/>
                <a:gd name="T5" fmla="*/ 710 h 727"/>
                <a:gd name="T6" fmla="*/ 202 w 275"/>
                <a:gd name="T7" fmla="*/ 687 h 727"/>
                <a:gd name="T8" fmla="*/ 218 w 275"/>
                <a:gd name="T9" fmla="*/ 658 h 727"/>
                <a:gd name="T10" fmla="*/ 235 w 275"/>
                <a:gd name="T11" fmla="*/ 620 h 727"/>
                <a:gd name="T12" fmla="*/ 249 w 275"/>
                <a:gd name="T13" fmla="*/ 580 h 727"/>
                <a:gd name="T14" fmla="*/ 261 w 275"/>
                <a:gd name="T15" fmla="*/ 530 h 727"/>
                <a:gd name="T16" fmla="*/ 268 w 275"/>
                <a:gd name="T17" fmla="*/ 478 h 727"/>
                <a:gd name="T18" fmla="*/ 273 w 275"/>
                <a:gd name="T19" fmla="*/ 424 h 727"/>
                <a:gd name="T20" fmla="*/ 275 w 275"/>
                <a:gd name="T21" fmla="*/ 365 h 727"/>
                <a:gd name="T22" fmla="*/ 273 w 275"/>
                <a:gd name="T23" fmla="*/ 305 h 727"/>
                <a:gd name="T24" fmla="*/ 268 w 275"/>
                <a:gd name="T25" fmla="*/ 249 h 727"/>
                <a:gd name="T26" fmla="*/ 261 w 275"/>
                <a:gd name="T27" fmla="*/ 197 h 727"/>
                <a:gd name="T28" fmla="*/ 249 w 275"/>
                <a:gd name="T29" fmla="*/ 149 h 727"/>
                <a:gd name="T30" fmla="*/ 235 w 275"/>
                <a:gd name="T31" fmla="*/ 107 h 727"/>
                <a:gd name="T32" fmla="*/ 218 w 275"/>
                <a:gd name="T33" fmla="*/ 71 h 727"/>
                <a:gd name="T34" fmla="*/ 202 w 275"/>
                <a:gd name="T35" fmla="*/ 40 h 727"/>
                <a:gd name="T36" fmla="*/ 180 w 275"/>
                <a:gd name="T37" fmla="*/ 19 h 727"/>
                <a:gd name="T38" fmla="*/ 161 w 275"/>
                <a:gd name="T39" fmla="*/ 5 h 727"/>
                <a:gd name="T40" fmla="*/ 138 w 275"/>
                <a:gd name="T41" fmla="*/ 0 h 727"/>
                <a:gd name="T42" fmla="*/ 116 w 275"/>
                <a:gd name="T43" fmla="*/ 5 h 727"/>
                <a:gd name="T44" fmla="*/ 95 w 275"/>
                <a:gd name="T45" fmla="*/ 19 h 727"/>
                <a:gd name="T46" fmla="*/ 76 w 275"/>
                <a:gd name="T47" fmla="*/ 40 h 727"/>
                <a:gd name="T48" fmla="*/ 57 w 275"/>
                <a:gd name="T49" fmla="*/ 71 h 727"/>
                <a:gd name="T50" fmla="*/ 41 w 275"/>
                <a:gd name="T51" fmla="*/ 107 h 727"/>
                <a:gd name="T52" fmla="*/ 26 w 275"/>
                <a:gd name="T53" fmla="*/ 149 h 727"/>
                <a:gd name="T54" fmla="*/ 17 w 275"/>
                <a:gd name="T55" fmla="*/ 197 h 727"/>
                <a:gd name="T56" fmla="*/ 7 w 275"/>
                <a:gd name="T57" fmla="*/ 249 h 727"/>
                <a:gd name="T58" fmla="*/ 3 w 275"/>
                <a:gd name="T59" fmla="*/ 305 h 727"/>
                <a:gd name="T60" fmla="*/ 0 w 275"/>
                <a:gd name="T61" fmla="*/ 365 h 727"/>
                <a:gd name="T62" fmla="*/ 3 w 275"/>
                <a:gd name="T63" fmla="*/ 424 h 727"/>
                <a:gd name="T64" fmla="*/ 7 w 275"/>
                <a:gd name="T65" fmla="*/ 478 h 727"/>
                <a:gd name="T66" fmla="*/ 17 w 275"/>
                <a:gd name="T67" fmla="*/ 530 h 727"/>
                <a:gd name="T68" fmla="*/ 26 w 275"/>
                <a:gd name="T69" fmla="*/ 580 h 727"/>
                <a:gd name="T70" fmla="*/ 41 w 275"/>
                <a:gd name="T71" fmla="*/ 620 h 727"/>
                <a:gd name="T72" fmla="*/ 57 w 275"/>
                <a:gd name="T73" fmla="*/ 658 h 727"/>
                <a:gd name="T74" fmla="*/ 76 w 275"/>
                <a:gd name="T75" fmla="*/ 687 h 727"/>
                <a:gd name="T76" fmla="*/ 95 w 275"/>
                <a:gd name="T77" fmla="*/ 710 h 727"/>
                <a:gd name="T78" fmla="*/ 116 w 275"/>
                <a:gd name="T79" fmla="*/ 722 h 727"/>
                <a:gd name="T80" fmla="*/ 138 w 275"/>
                <a:gd name="T81" fmla="*/ 727 h 727"/>
                <a:gd name="T82" fmla="*/ 138 w 275"/>
                <a:gd name="T83" fmla="*/ 727 h 72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75"/>
                <a:gd name="T127" fmla="*/ 0 h 727"/>
                <a:gd name="T128" fmla="*/ 275 w 275"/>
                <a:gd name="T129" fmla="*/ 727 h 72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75" h="727">
                  <a:moveTo>
                    <a:pt x="138" y="727"/>
                  </a:moveTo>
                  <a:lnTo>
                    <a:pt x="161" y="722"/>
                  </a:lnTo>
                  <a:lnTo>
                    <a:pt x="180" y="710"/>
                  </a:lnTo>
                  <a:lnTo>
                    <a:pt x="202" y="687"/>
                  </a:lnTo>
                  <a:lnTo>
                    <a:pt x="218" y="658"/>
                  </a:lnTo>
                  <a:lnTo>
                    <a:pt x="235" y="620"/>
                  </a:lnTo>
                  <a:lnTo>
                    <a:pt x="249" y="580"/>
                  </a:lnTo>
                  <a:lnTo>
                    <a:pt x="261" y="530"/>
                  </a:lnTo>
                  <a:lnTo>
                    <a:pt x="268" y="478"/>
                  </a:lnTo>
                  <a:lnTo>
                    <a:pt x="273" y="424"/>
                  </a:lnTo>
                  <a:lnTo>
                    <a:pt x="275" y="365"/>
                  </a:lnTo>
                  <a:lnTo>
                    <a:pt x="273" y="305"/>
                  </a:lnTo>
                  <a:lnTo>
                    <a:pt x="268" y="249"/>
                  </a:lnTo>
                  <a:lnTo>
                    <a:pt x="261" y="197"/>
                  </a:lnTo>
                  <a:lnTo>
                    <a:pt x="249" y="149"/>
                  </a:lnTo>
                  <a:lnTo>
                    <a:pt x="235" y="107"/>
                  </a:lnTo>
                  <a:lnTo>
                    <a:pt x="218" y="71"/>
                  </a:lnTo>
                  <a:lnTo>
                    <a:pt x="202" y="40"/>
                  </a:lnTo>
                  <a:lnTo>
                    <a:pt x="180" y="19"/>
                  </a:lnTo>
                  <a:lnTo>
                    <a:pt x="161" y="5"/>
                  </a:lnTo>
                  <a:lnTo>
                    <a:pt x="138" y="0"/>
                  </a:lnTo>
                  <a:lnTo>
                    <a:pt x="116" y="5"/>
                  </a:lnTo>
                  <a:lnTo>
                    <a:pt x="95" y="19"/>
                  </a:lnTo>
                  <a:lnTo>
                    <a:pt x="76" y="40"/>
                  </a:lnTo>
                  <a:lnTo>
                    <a:pt x="57" y="71"/>
                  </a:lnTo>
                  <a:lnTo>
                    <a:pt x="41" y="107"/>
                  </a:lnTo>
                  <a:lnTo>
                    <a:pt x="26" y="149"/>
                  </a:lnTo>
                  <a:lnTo>
                    <a:pt x="17" y="197"/>
                  </a:lnTo>
                  <a:lnTo>
                    <a:pt x="7" y="249"/>
                  </a:lnTo>
                  <a:lnTo>
                    <a:pt x="3" y="305"/>
                  </a:lnTo>
                  <a:lnTo>
                    <a:pt x="0" y="365"/>
                  </a:lnTo>
                  <a:lnTo>
                    <a:pt x="3" y="424"/>
                  </a:lnTo>
                  <a:lnTo>
                    <a:pt x="7" y="478"/>
                  </a:lnTo>
                  <a:lnTo>
                    <a:pt x="17" y="530"/>
                  </a:lnTo>
                  <a:lnTo>
                    <a:pt x="26" y="580"/>
                  </a:lnTo>
                  <a:lnTo>
                    <a:pt x="41" y="620"/>
                  </a:lnTo>
                  <a:lnTo>
                    <a:pt x="57" y="658"/>
                  </a:lnTo>
                  <a:lnTo>
                    <a:pt x="76" y="687"/>
                  </a:lnTo>
                  <a:lnTo>
                    <a:pt x="95" y="710"/>
                  </a:lnTo>
                  <a:lnTo>
                    <a:pt x="116" y="722"/>
                  </a:lnTo>
                  <a:lnTo>
                    <a:pt x="138" y="7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" name="Freeform 162"/>
            <p:cNvSpPr>
              <a:spLocks noChangeArrowheads="1"/>
            </p:cNvSpPr>
            <p:nvPr/>
          </p:nvSpPr>
          <p:spPr bwMode="auto">
            <a:xfrm>
              <a:off x="2224" y="1285"/>
              <a:ext cx="275" cy="727"/>
            </a:xfrm>
            <a:custGeom>
              <a:avLst/>
              <a:gdLst>
                <a:gd name="T0" fmla="*/ 138 w 275"/>
                <a:gd name="T1" fmla="*/ 727 h 727"/>
                <a:gd name="T2" fmla="*/ 161 w 275"/>
                <a:gd name="T3" fmla="*/ 722 h 727"/>
                <a:gd name="T4" fmla="*/ 180 w 275"/>
                <a:gd name="T5" fmla="*/ 710 h 727"/>
                <a:gd name="T6" fmla="*/ 202 w 275"/>
                <a:gd name="T7" fmla="*/ 687 h 727"/>
                <a:gd name="T8" fmla="*/ 218 w 275"/>
                <a:gd name="T9" fmla="*/ 658 h 727"/>
                <a:gd name="T10" fmla="*/ 235 w 275"/>
                <a:gd name="T11" fmla="*/ 620 h 727"/>
                <a:gd name="T12" fmla="*/ 249 w 275"/>
                <a:gd name="T13" fmla="*/ 580 h 727"/>
                <a:gd name="T14" fmla="*/ 261 w 275"/>
                <a:gd name="T15" fmla="*/ 530 h 727"/>
                <a:gd name="T16" fmla="*/ 268 w 275"/>
                <a:gd name="T17" fmla="*/ 478 h 727"/>
                <a:gd name="T18" fmla="*/ 273 w 275"/>
                <a:gd name="T19" fmla="*/ 424 h 727"/>
                <a:gd name="T20" fmla="*/ 275 w 275"/>
                <a:gd name="T21" fmla="*/ 365 h 727"/>
                <a:gd name="T22" fmla="*/ 273 w 275"/>
                <a:gd name="T23" fmla="*/ 305 h 727"/>
                <a:gd name="T24" fmla="*/ 268 w 275"/>
                <a:gd name="T25" fmla="*/ 249 h 727"/>
                <a:gd name="T26" fmla="*/ 261 w 275"/>
                <a:gd name="T27" fmla="*/ 197 h 727"/>
                <a:gd name="T28" fmla="*/ 249 w 275"/>
                <a:gd name="T29" fmla="*/ 149 h 727"/>
                <a:gd name="T30" fmla="*/ 235 w 275"/>
                <a:gd name="T31" fmla="*/ 107 h 727"/>
                <a:gd name="T32" fmla="*/ 218 w 275"/>
                <a:gd name="T33" fmla="*/ 71 h 727"/>
                <a:gd name="T34" fmla="*/ 202 w 275"/>
                <a:gd name="T35" fmla="*/ 40 h 727"/>
                <a:gd name="T36" fmla="*/ 180 w 275"/>
                <a:gd name="T37" fmla="*/ 19 h 727"/>
                <a:gd name="T38" fmla="*/ 161 w 275"/>
                <a:gd name="T39" fmla="*/ 5 h 727"/>
                <a:gd name="T40" fmla="*/ 138 w 275"/>
                <a:gd name="T41" fmla="*/ 0 h 727"/>
                <a:gd name="T42" fmla="*/ 116 w 275"/>
                <a:gd name="T43" fmla="*/ 5 h 727"/>
                <a:gd name="T44" fmla="*/ 95 w 275"/>
                <a:gd name="T45" fmla="*/ 19 h 727"/>
                <a:gd name="T46" fmla="*/ 76 w 275"/>
                <a:gd name="T47" fmla="*/ 40 h 727"/>
                <a:gd name="T48" fmla="*/ 57 w 275"/>
                <a:gd name="T49" fmla="*/ 71 h 727"/>
                <a:gd name="T50" fmla="*/ 41 w 275"/>
                <a:gd name="T51" fmla="*/ 107 h 727"/>
                <a:gd name="T52" fmla="*/ 26 w 275"/>
                <a:gd name="T53" fmla="*/ 149 h 727"/>
                <a:gd name="T54" fmla="*/ 17 w 275"/>
                <a:gd name="T55" fmla="*/ 197 h 727"/>
                <a:gd name="T56" fmla="*/ 7 w 275"/>
                <a:gd name="T57" fmla="*/ 249 h 727"/>
                <a:gd name="T58" fmla="*/ 3 w 275"/>
                <a:gd name="T59" fmla="*/ 305 h 727"/>
                <a:gd name="T60" fmla="*/ 0 w 275"/>
                <a:gd name="T61" fmla="*/ 365 h 727"/>
                <a:gd name="T62" fmla="*/ 3 w 275"/>
                <a:gd name="T63" fmla="*/ 424 h 727"/>
                <a:gd name="T64" fmla="*/ 7 w 275"/>
                <a:gd name="T65" fmla="*/ 478 h 727"/>
                <a:gd name="T66" fmla="*/ 17 w 275"/>
                <a:gd name="T67" fmla="*/ 530 h 727"/>
                <a:gd name="T68" fmla="*/ 26 w 275"/>
                <a:gd name="T69" fmla="*/ 580 h 727"/>
                <a:gd name="T70" fmla="*/ 41 w 275"/>
                <a:gd name="T71" fmla="*/ 620 h 727"/>
                <a:gd name="T72" fmla="*/ 57 w 275"/>
                <a:gd name="T73" fmla="*/ 658 h 727"/>
                <a:gd name="T74" fmla="*/ 76 w 275"/>
                <a:gd name="T75" fmla="*/ 687 h 727"/>
                <a:gd name="T76" fmla="*/ 95 w 275"/>
                <a:gd name="T77" fmla="*/ 710 h 727"/>
                <a:gd name="T78" fmla="*/ 116 w 275"/>
                <a:gd name="T79" fmla="*/ 722 h 727"/>
                <a:gd name="T80" fmla="*/ 138 w 275"/>
                <a:gd name="T81" fmla="*/ 727 h 727"/>
                <a:gd name="T82" fmla="*/ 138 w 275"/>
                <a:gd name="T83" fmla="*/ 727 h 72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75"/>
                <a:gd name="T127" fmla="*/ 0 h 727"/>
                <a:gd name="T128" fmla="*/ 275 w 275"/>
                <a:gd name="T129" fmla="*/ 727 h 72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75" h="727">
                  <a:moveTo>
                    <a:pt x="138" y="727"/>
                  </a:moveTo>
                  <a:lnTo>
                    <a:pt x="161" y="722"/>
                  </a:lnTo>
                  <a:lnTo>
                    <a:pt x="180" y="710"/>
                  </a:lnTo>
                  <a:lnTo>
                    <a:pt x="202" y="687"/>
                  </a:lnTo>
                  <a:lnTo>
                    <a:pt x="218" y="658"/>
                  </a:lnTo>
                  <a:lnTo>
                    <a:pt x="235" y="620"/>
                  </a:lnTo>
                  <a:lnTo>
                    <a:pt x="249" y="580"/>
                  </a:lnTo>
                  <a:lnTo>
                    <a:pt x="261" y="530"/>
                  </a:lnTo>
                  <a:lnTo>
                    <a:pt x="268" y="478"/>
                  </a:lnTo>
                  <a:lnTo>
                    <a:pt x="273" y="424"/>
                  </a:lnTo>
                  <a:lnTo>
                    <a:pt x="275" y="365"/>
                  </a:lnTo>
                  <a:lnTo>
                    <a:pt x="273" y="305"/>
                  </a:lnTo>
                  <a:lnTo>
                    <a:pt x="268" y="249"/>
                  </a:lnTo>
                  <a:lnTo>
                    <a:pt x="261" y="197"/>
                  </a:lnTo>
                  <a:lnTo>
                    <a:pt x="249" y="149"/>
                  </a:lnTo>
                  <a:lnTo>
                    <a:pt x="235" y="107"/>
                  </a:lnTo>
                  <a:lnTo>
                    <a:pt x="218" y="71"/>
                  </a:lnTo>
                  <a:lnTo>
                    <a:pt x="202" y="40"/>
                  </a:lnTo>
                  <a:lnTo>
                    <a:pt x="180" y="19"/>
                  </a:lnTo>
                  <a:lnTo>
                    <a:pt x="161" y="5"/>
                  </a:lnTo>
                  <a:lnTo>
                    <a:pt x="138" y="0"/>
                  </a:lnTo>
                  <a:lnTo>
                    <a:pt x="116" y="5"/>
                  </a:lnTo>
                  <a:lnTo>
                    <a:pt x="95" y="19"/>
                  </a:lnTo>
                  <a:lnTo>
                    <a:pt x="76" y="40"/>
                  </a:lnTo>
                  <a:lnTo>
                    <a:pt x="57" y="71"/>
                  </a:lnTo>
                  <a:lnTo>
                    <a:pt x="41" y="107"/>
                  </a:lnTo>
                  <a:lnTo>
                    <a:pt x="26" y="149"/>
                  </a:lnTo>
                  <a:lnTo>
                    <a:pt x="17" y="197"/>
                  </a:lnTo>
                  <a:lnTo>
                    <a:pt x="7" y="249"/>
                  </a:lnTo>
                  <a:lnTo>
                    <a:pt x="3" y="305"/>
                  </a:lnTo>
                  <a:lnTo>
                    <a:pt x="0" y="365"/>
                  </a:lnTo>
                  <a:lnTo>
                    <a:pt x="3" y="424"/>
                  </a:lnTo>
                  <a:lnTo>
                    <a:pt x="7" y="478"/>
                  </a:lnTo>
                  <a:lnTo>
                    <a:pt x="17" y="530"/>
                  </a:lnTo>
                  <a:lnTo>
                    <a:pt x="26" y="580"/>
                  </a:lnTo>
                  <a:lnTo>
                    <a:pt x="41" y="620"/>
                  </a:lnTo>
                  <a:lnTo>
                    <a:pt x="57" y="658"/>
                  </a:lnTo>
                  <a:lnTo>
                    <a:pt x="76" y="687"/>
                  </a:lnTo>
                  <a:lnTo>
                    <a:pt x="95" y="710"/>
                  </a:lnTo>
                  <a:lnTo>
                    <a:pt x="116" y="722"/>
                  </a:lnTo>
                  <a:lnTo>
                    <a:pt x="138" y="727"/>
                  </a:lnTo>
                </a:path>
              </a:pathLst>
            </a:custGeom>
            <a:solidFill>
              <a:srgbClr val="D9D9D9"/>
            </a:solidFill>
            <a:ln w="11160">
              <a:solidFill>
                <a:srgbClr val="EB75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5" name="Rectangle 163"/>
            <p:cNvSpPr>
              <a:spLocks noChangeArrowheads="1"/>
            </p:cNvSpPr>
            <p:nvPr/>
          </p:nvSpPr>
          <p:spPr bwMode="auto">
            <a:xfrm>
              <a:off x="2521" y="1563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66" name="Rectangle 164"/>
            <p:cNvSpPr>
              <a:spLocks noChangeArrowheads="1"/>
            </p:cNvSpPr>
            <p:nvPr/>
          </p:nvSpPr>
          <p:spPr bwMode="auto">
            <a:xfrm>
              <a:off x="2570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67" name="Rectangle 165"/>
            <p:cNvSpPr>
              <a:spLocks noChangeArrowheads="1"/>
            </p:cNvSpPr>
            <p:nvPr/>
          </p:nvSpPr>
          <p:spPr bwMode="auto">
            <a:xfrm>
              <a:off x="2603" y="1563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68" name="Rectangle 166"/>
            <p:cNvSpPr>
              <a:spLocks noChangeArrowheads="1"/>
            </p:cNvSpPr>
            <p:nvPr/>
          </p:nvSpPr>
          <p:spPr bwMode="auto">
            <a:xfrm>
              <a:off x="2651" y="156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69" name="Rectangle 167"/>
            <p:cNvSpPr>
              <a:spLocks noChangeArrowheads="1"/>
            </p:cNvSpPr>
            <p:nvPr/>
          </p:nvSpPr>
          <p:spPr bwMode="auto">
            <a:xfrm>
              <a:off x="2667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70" name="Rectangle 168"/>
            <p:cNvSpPr>
              <a:spLocks noChangeArrowheads="1"/>
            </p:cNvSpPr>
            <p:nvPr/>
          </p:nvSpPr>
          <p:spPr bwMode="auto">
            <a:xfrm>
              <a:off x="2700" y="1563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71" name="Rectangle 169"/>
            <p:cNvSpPr>
              <a:spLocks noChangeArrowheads="1"/>
            </p:cNvSpPr>
            <p:nvPr/>
          </p:nvSpPr>
          <p:spPr bwMode="auto">
            <a:xfrm>
              <a:off x="2741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72" name="Rectangle 170"/>
            <p:cNvSpPr>
              <a:spLocks noChangeArrowheads="1"/>
            </p:cNvSpPr>
            <p:nvPr/>
          </p:nvSpPr>
          <p:spPr bwMode="auto">
            <a:xfrm>
              <a:off x="2774" y="156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173" name="Rectangle 171"/>
            <p:cNvSpPr>
              <a:spLocks noChangeArrowheads="1"/>
            </p:cNvSpPr>
            <p:nvPr/>
          </p:nvSpPr>
          <p:spPr bwMode="auto">
            <a:xfrm>
              <a:off x="2520" y="16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74" name="Rectangle 172"/>
            <p:cNvSpPr>
              <a:spLocks noChangeArrowheads="1"/>
            </p:cNvSpPr>
            <p:nvPr/>
          </p:nvSpPr>
          <p:spPr bwMode="auto">
            <a:xfrm>
              <a:off x="2561" y="16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175" name="Rectangle 173"/>
            <p:cNvSpPr>
              <a:spLocks noChangeArrowheads="1"/>
            </p:cNvSpPr>
            <p:nvPr/>
          </p:nvSpPr>
          <p:spPr bwMode="auto">
            <a:xfrm>
              <a:off x="2591" y="1650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176" name="Rectangle 174"/>
            <p:cNvSpPr>
              <a:spLocks noChangeArrowheads="1"/>
            </p:cNvSpPr>
            <p:nvPr/>
          </p:nvSpPr>
          <p:spPr bwMode="auto">
            <a:xfrm>
              <a:off x="2634" y="1650"/>
              <a:ext cx="4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77" name="Rectangle 175"/>
            <p:cNvSpPr>
              <a:spLocks noChangeArrowheads="1"/>
            </p:cNvSpPr>
            <p:nvPr/>
          </p:nvSpPr>
          <p:spPr bwMode="auto">
            <a:xfrm>
              <a:off x="2679" y="16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178" name="Rectangle 176"/>
            <p:cNvSpPr>
              <a:spLocks noChangeArrowheads="1"/>
            </p:cNvSpPr>
            <p:nvPr/>
          </p:nvSpPr>
          <p:spPr bwMode="auto">
            <a:xfrm>
              <a:off x="2521" y="1738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79" name="Rectangle 177"/>
            <p:cNvSpPr>
              <a:spLocks noChangeArrowheads="1"/>
            </p:cNvSpPr>
            <p:nvPr/>
          </p:nvSpPr>
          <p:spPr bwMode="auto">
            <a:xfrm>
              <a:off x="2570" y="173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80" name="Rectangle 178"/>
            <p:cNvSpPr>
              <a:spLocks noChangeArrowheads="1"/>
            </p:cNvSpPr>
            <p:nvPr/>
          </p:nvSpPr>
          <p:spPr bwMode="auto">
            <a:xfrm>
              <a:off x="2603" y="1738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81" name="Rectangle 179"/>
            <p:cNvSpPr>
              <a:spLocks noChangeArrowheads="1"/>
            </p:cNvSpPr>
            <p:nvPr/>
          </p:nvSpPr>
          <p:spPr bwMode="auto">
            <a:xfrm>
              <a:off x="2649" y="1738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182" name="Rectangle 180"/>
            <p:cNvSpPr>
              <a:spLocks noChangeArrowheads="1"/>
            </p:cNvSpPr>
            <p:nvPr/>
          </p:nvSpPr>
          <p:spPr bwMode="auto">
            <a:xfrm>
              <a:off x="2705" y="173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83" name="Rectangle 181"/>
            <p:cNvSpPr>
              <a:spLocks noChangeArrowheads="1"/>
            </p:cNvSpPr>
            <p:nvPr/>
          </p:nvSpPr>
          <p:spPr bwMode="auto">
            <a:xfrm>
              <a:off x="2726" y="1738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84" name="Rectangle 182"/>
            <p:cNvSpPr>
              <a:spLocks noChangeArrowheads="1"/>
            </p:cNvSpPr>
            <p:nvPr/>
          </p:nvSpPr>
          <p:spPr bwMode="auto">
            <a:xfrm>
              <a:off x="2738" y="173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85" name="Rectangle 183"/>
            <p:cNvSpPr>
              <a:spLocks noChangeArrowheads="1"/>
            </p:cNvSpPr>
            <p:nvPr/>
          </p:nvSpPr>
          <p:spPr bwMode="auto">
            <a:xfrm>
              <a:off x="2755" y="173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86" name="Rectangle 184"/>
            <p:cNvSpPr>
              <a:spLocks noChangeArrowheads="1"/>
            </p:cNvSpPr>
            <p:nvPr/>
          </p:nvSpPr>
          <p:spPr bwMode="auto">
            <a:xfrm>
              <a:off x="2520" y="1913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87" name="Rectangle 185"/>
            <p:cNvSpPr>
              <a:spLocks noChangeArrowheads="1"/>
            </p:cNvSpPr>
            <p:nvPr/>
          </p:nvSpPr>
          <p:spPr bwMode="auto">
            <a:xfrm>
              <a:off x="2563" y="19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88" name="Rectangle 186"/>
            <p:cNvSpPr>
              <a:spLocks noChangeArrowheads="1"/>
            </p:cNvSpPr>
            <p:nvPr/>
          </p:nvSpPr>
          <p:spPr bwMode="auto">
            <a:xfrm>
              <a:off x="2596" y="19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189" name="Rectangle 187"/>
            <p:cNvSpPr>
              <a:spLocks noChangeArrowheads="1"/>
            </p:cNvSpPr>
            <p:nvPr/>
          </p:nvSpPr>
          <p:spPr bwMode="auto">
            <a:xfrm>
              <a:off x="2627" y="1913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190" name="Rectangle 188"/>
            <p:cNvSpPr>
              <a:spLocks noChangeArrowheads="1"/>
            </p:cNvSpPr>
            <p:nvPr/>
          </p:nvSpPr>
          <p:spPr bwMode="auto">
            <a:xfrm>
              <a:off x="2684" y="1913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91" name="Rectangle 189"/>
            <p:cNvSpPr>
              <a:spLocks noChangeArrowheads="1"/>
            </p:cNvSpPr>
            <p:nvPr/>
          </p:nvSpPr>
          <p:spPr bwMode="auto">
            <a:xfrm>
              <a:off x="2702" y="1913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92" name="Rectangle 190"/>
            <p:cNvSpPr>
              <a:spLocks noChangeArrowheads="1"/>
            </p:cNvSpPr>
            <p:nvPr/>
          </p:nvSpPr>
          <p:spPr bwMode="auto">
            <a:xfrm>
              <a:off x="2715" y="191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93" name="Rectangle 191"/>
            <p:cNvSpPr>
              <a:spLocks noChangeArrowheads="1"/>
            </p:cNvSpPr>
            <p:nvPr/>
          </p:nvSpPr>
          <p:spPr bwMode="auto">
            <a:xfrm>
              <a:off x="2731" y="19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94" name="Rectangle 192"/>
            <p:cNvSpPr>
              <a:spLocks noChangeArrowheads="1"/>
            </p:cNvSpPr>
            <p:nvPr/>
          </p:nvSpPr>
          <p:spPr bwMode="auto">
            <a:xfrm>
              <a:off x="2521" y="1475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95" name="Rectangle 193"/>
            <p:cNvSpPr>
              <a:spLocks noChangeArrowheads="1"/>
            </p:cNvSpPr>
            <p:nvPr/>
          </p:nvSpPr>
          <p:spPr bwMode="auto">
            <a:xfrm>
              <a:off x="2570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96" name="Rectangle 194"/>
            <p:cNvSpPr>
              <a:spLocks noChangeArrowheads="1"/>
            </p:cNvSpPr>
            <p:nvPr/>
          </p:nvSpPr>
          <p:spPr bwMode="auto">
            <a:xfrm>
              <a:off x="2603" y="1475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97" name="Rectangle 195"/>
            <p:cNvSpPr>
              <a:spLocks noChangeArrowheads="1"/>
            </p:cNvSpPr>
            <p:nvPr/>
          </p:nvSpPr>
          <p:spPr bwMode="auto">
            <a:xfrm>
              <a:off x="2651" y="147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98" name="Rectangle 196"/>
            <p:cNvSpPr>
              <a:spLocks noChangeArrowheads="1"/>
            </p:cNvSpPr>
            <p:nvPr/>
          </p:nvSpPr>
          <p:spPr bwMode="auto">
            <a:xfrm>
              <a:off x="2693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99" name="Rectangle 197"/>
            <p:cNvSpPr>
              <a:spLocks noChangeArrowheads="1"/>
            </p:cNvSpPr>
            <p:nvPr/>
          </p:nvSpPr>
          <p:spPr bwMode="auto">
            <a:xfrm>
              <a:off x="2726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00" name="Rectangle 198"/>
            <p:cNvSpPr>
              <a:spLocks noChangeArrowheads="1"/>
            </p:cNvSpPr>
            <p:nvPr/>
          </p:nvSpPr>
          <p:spPr bwMode="auto">
            <a:xfrm>
              <a:off x="2757" y="14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01" name="Rectangle 199"/>
            <p:cNvSpPr>
              <a:spLocks noChangeArrowheads="1"/>
            </p:cNvSpPr>
            <p:nvPr/>
          </p:nvSpPr>
          <p:spPr bwMode="auto">
            <a:xfrm>
              <a:off x="2520" y="1387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B</a:t>
              </a:r>
            </a:p>
          </p:txBody>
        </p:sp>
        <p:sp>
          <p:nvSpPr>
            <p:cNvPr id="202" name="Rectangle 200"/>
            <p:cNvSpPr>
              <a:spLocks noChangeArrowheads="1"/>
            </p:cNvSpPr>
            <p:nvPr/>
          </p:nvSpPr>
          <p:spPr bwMode="auto">
            <a:xfrm>
              <a:off x="2561" y="1387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3" name="Rectangle 201"/>
            <p:cNvSpPr>
              <a:spLocks noChangeArrowheads="1"/>
            </p:cNvSpPr>
            <p:nvPr/>
          </p:nvSpPr>
          <p:spPr bwMode="auto">
            <a:xfrm>
              <a:off x="2580" y="13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04" name="Rectangle 202"/>
            <p:cNvSpPr>
              <a:spLocks noChangeArrowheads="1"/>
            </p:cNvSpPr>
            <p:nvPr/>
          </p:nvSpPr>
          <p:spPr bwMode="auto">
            <a:xfrm>
              <a:off x="2613" y="13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05" name="Rectangle 203"/>
            <p:cNvSpPr>
              <a:spLocks noChangeArrowheads="1"/>
            </p:cNvSpPr>
            <p:nvPr/>
          </p:nvSpPr>
          <p:spPr bwMode="auto">
            <a:xfrm>
              <a:off x="2643" y="1387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06" name="Rectangle 204"/>
            <p:cNvSpPr>
              <a:spLocks noChangeArrowheads="1"/>
            </p:cNvSpPr>
            <p:nvPr/>
          </p:nvSpPr>
          <p:spPr bwMode="auto">
            <a:xfrm>
              <a:off x="2674" y="13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h</a:t>
              </a:r>
            </a:p>
          </p:txBody>
        </p:sp>
        <p:sp>
          <p:nvSpPr>
            <p:cNvPr id="207" name="Rectangle 205"/>
            <p:cNvSpPr>
              <a:spLocks noChangeArrowheads="1"/>
            </p:cNvSpPr>
            <p:nvPr/>
          </p:nvSpPr>
          <p:spPr bwMode="auto">
            <a:xfrm>
              <a:off x="2520" y="1309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8" name="Rectangle 206"/>
            <p:cNvSpPr>
              <a:spLocks noChangeArrowheads="1"/>
            </p:cNvSpPr>
            <p:nvPr/>
          </p:nvSpPr>
          <p:spPr bwMode="auto">
            <a:xfrm>
              <a:off x="2563" y="130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09" name="Rectangle 207"/>
            <p:cNvSpPr>
              <a:spLocks noChangeArrowheads="1"/>
            </p:cNvSpPr>
            <p:nvPr/>
          </p:nvSpPr>
          <p:spPr bwMode="auto">
            <a:xfrm>
              <a:off x="2594" y="130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210" name="Rectangle 208"/>
            <p:cNvSpPr>
              <a:spLocks noChangeArrowheads="1"/>
            </p:cNvSpPr>
            <p:nvPr/>
          </p:nvSpPr>
          <p:spPr bwMode="auto">
            <a:xfrm>
              <a:off x="2627" y="1309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11" name="Rectangle 209"/>
            <p:cNvSpPr>
              <a:spLocks noChangeArrowheads="1"/>
            </p:cNvSpPr>
            <p:nvPr/>
          </p:nvSpPr>
          <p:spPr bwMode="auto">
            <a:xfrm>
              <a:off x="2670" y="1309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12" name="Rectangle 210"/>
            <p:cNvSpPr>
              <a:spLocks noChangeArrowheads="1"/>
            </p:cNvSpPr>
            <p:nvPr/>
          </p:nvSpPr>
          <p:spPr bwMode="auto">
            <a:xfrm>
              <a:off x="2698" y="130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13" name="Rectangle 211"/>
            <p:cNvSpPr>
              <a:spLocks noChangeArrowheads="1"/>
            </p:cNvSpPr>
            <p:nvPr/>
          </p:nvSpPr>
          <p:spPr bwMode="auto">
            <a:xfrm>
              <a:off x="2520" y="1825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14" name="Rectangle 212"/>
            <p:cNvSpPr>
              <a:spLocks noChangeArrowheads="1"/>
            </p:cNvSpPr>
            <p:nvPr/>
          </p:nvSpPr>
          <p:spPr bwMode="auto">
            <a:xfrm>
              <a:off x="2561" y="182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215" name="Rectangle 213"/>
            <p:cNvSpPr>
              <a:spLocks noChangeArrowheads="1"/>
            </p:cNvSpPr>
            <p:nvPr/>
          </p:nvSpPr>
          <p:spPr bwMode="auto">
            <a:xfrm>
              <a:off x="2591" y="182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16" name="Rectangle 214"/>
            <p:cNvSpPr>
              <a:spLocks noChangeArrowheads="1"/>
            </p:cNvSpPr>
            <p:nvPr/>
          </p:nvSpPr>
          <p:spPr bwMode="auto">
            <a:xfrm>
              <a:off x="2633" y="1825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17" name="Rectangle 215"/>
            <p:cNvSpPr>
              <a:spLocks noChangeArrowheads="1"/>
            </p:cNvSpPr>
            <p:nvPr/>
          </p:nvSpPr>
          <p:spPr bwMode="auto">
            <a:xfrm>
              <a:off x="2674" y="1825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18" name="Rectangle 216"/>
            <p:cNvSpPr>
              <a:spLocks noChangeArrowheads="1"/>
            </p:cNvSpPr>
            <p:nvPr/>
          </p:nvSpPr>
          <p:spPr bwMode="auto">
            <a:xfrm>
              <a:off x="2693" y="182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19" name="Rectangle 217"/>
            <p:cNvSpPr>
              <a:spLocks noChangeArrowheads="1"/>
            </p:cNvSpPr>
            <p:nvPr/>
          </p:nvSpPr>
          <p:spPr bwMode="auto">
            <a:xfrm>
              <a:off x="1662" y="1565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20" name="Rectangle 218"/>
            <p:cNvSpPr>
              <a:spLocks noChangeArrowheads="1"/>
            </p:cNvSpPr>
            <p:nvPr/>
          </p:nvSpPr>
          <p:spPr bwMode="auto">
            <a:xfrm>
              <a:off x="1677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21" name="Rectangle 219"/>
            <p:cNvSpPr>
              <a:spLocks noChangeArrowheads="1"/>
            </p:cNvSpPr>
            <p:nvPr/>
          </p:nvSpPr>
          <p:spPr bwMode="auto">
            <a:xfrm>
              <a:off x="1710" y="156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22" name="Rectangle 220"/>
            <p:cNvSpPr>
              <a:spLocks noChangeArrowheads="1"/>
            </p:cNvSpPr>
            <p:nvPr/>
          </p:nvSpPr>
          <p:spPr bwMode="auto">
            <a:xfrm>
              <a:off x="1739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23" name="Rectangle 221"/>
            <p:cNvSpPr>
              <a:spLocks noChangeArrowheads="1"/>
            </p:cNvSpPr>
            <p:nvPr/>
          </p:nvSpPr>
          <p:spPr bwMode="auto">
            <a:xfrm>
              <a:off x="1755" y="1565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24" name="Rectangle 222"/>
            <p:cNvSpPr>
              <a:spLocks noChangeArrowheads="1"/>
            </p:cNvSpPr>
            <p:nvPr/>
          </p:nvSpPr>
          <p:spPr bwMode="auto">
            <a:xfrm>
              <a:off x="1774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25" name="Rectangle 223"/>
            <p:cNvSpPr>
              <a:spLocks noChangeArrowheads="1"/>
            </p:cNvSpPr>
            <p:nvPr/>
          </p:nvSpPr>
          <p:spPr bwMode="auto">
            <a:xfrm>
              <a:off x="1808" y="156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26" name="Rectangle 224"/>
            <p:cNvSpPr>
              <a:spLocks noChangeArrowheads="1"/>
            </p:cNvSpPr>
            <p:nvPr/>
          </p:nvSpPr>
          <p:spPr bwMode="auto">
            <a:xfrm>
              <a:off x="1836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27" name="Rectangle 225"/>
            <p:cNvSpPr>
              <a:spLocks noChangeArrowheads="1"/>
            </p:cNvSpPr>
            <p:nvPr/>
          </p:nvSpPr>
          <p:spPr bwMode="auto">
            <a:xfrm>
              <a:off x="1852" y="1565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28" name="Rectangle 226"/>
            <p:cNvSpPr>
              <a:spLocks noChangeArrowheads="1"/>
            </p:cNvSpPr>
            <p:nvPr/>
          </p:nvSpPr>
          <p:spPr bwMode="auto">
            <a:xfrm>
              <a:off x="1867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29" name="Rectangle 227"/>
            <p:cNvSpPr>
              <a:spLocks noChangeArrowheads="1"/>
            </p:cNvSpPr>
            <p:nvPr/>
          </p:nvSpPr>
          <p:spPr bwMode="auto">
            <a:xfrm>
              <a:off x="1898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30" name="Rectangle 228"/>
            <p:cNvSpPr>
              <a:spLocks noChangeArrowheads="1"/>
            </p:cNvSpPr>
            <p:nvPr/>
          </p:nvSpPr>
          <p:spPr bwMode="auto">
            <a:xfrm>
              <a:off x="1931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31" name="Rectangle 229"/>
            <p:cNvSpPr>
              <a:spLocks noChangeArrowheads="1"/>
            </p:cNvSpPr>
            <p:nvPr/>
          </p:nvSpPr>
          <p:spPr bwMode="auto">
            <a:xfrm>
              <a:off x="1947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232" name="Rectangle 230"/>
            <p:cNvSpPr>
              <a:spLocks noChangeArrowheads="1"/>
            </p:cNvSpPr>
            <p:nvPr/>
          </p:nvSpPr>
          <p:spPr bwMode="auto">
            <a:xfrm>
              <a:off x="1964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233" name="Rectangle 231"/>
            <p:cNvSpPr>
              <a:spLocks noChangeArrowheads="1"/>
            </p:cNvSpPr>
            <p:nvPr/>
          </p:nvSpPr>
          <p:spPr bwMode="auto">
            <a:xfrm>
              <a:off x="1995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34" name="Rectangle 232"/>
            <p:cNvSpPr>
              <a:spLocks noChangeArrowheads="1"/>
            </p:cNvSpPr>
            <p:nvPr/>
          </p:nvSpPr>
          <p:spPr bwMode="auto">
            <a:xfrm>
              <a:off x="2028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35" name="Rectangle 233"/>
            <p:cNvSpPr>
              <a:spLocks noChangeArrowheads="1"/>
            </p:cNvSpPr>
            <p:nvPr/>
          </p:nvSpPr>
          <p:spPr bwMode="auto">
            <a:xfrm>
              <a:off x="2044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36" name="Rectangle 234"/>
            <p:cNvSpPr>
              <a:spLocks noChangeArrowheads="1"/>
            </p:cNvSpPr>
            <p:nvPr/>
          </p:nvSpPr>
          <p:spPr bwMode="auto">
            <a:xfrm>
              <a:off x="2061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237" name="Rectangle 235"/>
            <p:cNvSpPr>
              <a:spLocks noChangeArrowheads="1"/>
            </p:cNvSpPr>
            <p:nvPr/>
          </p:nvSpPr>
          <p:spPr bwMode="auto">
            <a:xfrm>
              <a:off x="2094" y="15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6</a:t>
              </a:r>
            </a:p>
          </p:txBody>
        </p:sp>
        <p:sp>
          <p:nvSpPr>
            <p:cNvPr id="238" name="Rectangle 236"/>
            <p:cNvSpPr>
              <a:spLocks noChangeArrowheads="1"/>
            </p:cNvSpPr>
            <p:nvPr/>
          </p:nvSpPr>
          <p:spPr bwMode="auto">
            <a:xfrm>
              <a:off x="2125" y="15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239" name="Freeform 237"/>
            <p:cNvSpPr>
              <a:spLocks noChangeArrowheads="1"/>
            </p:cNvSpPr>
            <p:nvPr/>
          </p:nvSpPr>
          <p:spPr bwMode="auto">
            <a:xfrm>
              <a:off x="633" y="2166"/>
              <a:ext cx="28" cy="28"/>
            </a:xfrm>
            <a:custGeom>
              <a:avLst/>
              <a:gdLst>
                <a:gd name="T0" fmla="*/ 14 w 28"/>
                <a:gd name="T1" fmla="*/ 28 h 28"/>
                <a:gd name="T2" fmla="*/ 17 w 28"/>
                <a:gd name="T3" fmla="*/ 28 h 28"/>
                <a:gd name="T4" fmla="*/ 19 w 28"/>
                <a:gd name="T5" fmla="*/ 28 h 28"/>
                <a:gd name="T6" fmla="*/ 21 w 28"/>
                <a:gd name="T7" fmla="*/ 28 h 28"/>
                <a:gd name="T8" fmla="*/ 24 w 28"/>
                <a:gd name="T9" fmla="*/ 26 h 28"/>
                <a:gd name="T10" fmla="*/ 26 w 28"/>
                <a:gd name="T11" fmla="*/ 26 h 28"/>
                <a:gd name="T12" fmla="*/ 26 w 28"/>
                <a:gd name="T13" fmla="*/ 24 h 28"/>
                <a:gd name="T14" fmla="*/ 28 w 28"/>
                <a:gd name="T15" fmla="*/ 21 h 28"/>
                <a:gd name="T16" fmla="*/ 28 w 28"/>
                <a:gd name="T17" fmla="*/ 19 h 28"/>
                <a:gd name="T18" fmla="*/ 28 w 28"/>
                <a:gd name="T19" fmla="*/ 16 h 28"/>
                <a:gd name="T20" fmla="*/ 28 w 28"/>
                <a:gd name="T21" fmla="*/ 14 h 28"/>
                <a:gd name="T22" fmla="*/ 28 w 28"/>
                <a:gd name="T23" fmla="*/ 12 h 28"/>
                <a:gd name="T24" fmla="*/ 28 w 28"/>
                <a:gd name="T25" fmla="*/ 9 h 28"/>
                <a:gd name="T26" fmla="*/ 28 w 28"/>
                <a:gd name="T27" fmla="*/ 7 h 28"/>
                <a:gd name="T28" fmla="*/ 26 w 28"/>
                <a:gd name="T29" fmla="*/ 7 h 28"/>
                <a:gd name="T30" fmla="*/ 26 w 28"/>
                <a:gd name="T31" fmla="*/ 5 h 28"/>
                <a:gd name="T32" fmla="*/ 24 w 28"/>
                <a:gd name="T33" fmla="*/ 2 h 28"/>
                <a:gd name="T34" fmla="*/ 21 w 28"/>
                <a:gd name="T35" fmla="*/ 2 h 28"/>
                <a:gd name="T36" fmla="*/ 19 w 28"/>
                <a:gd name="T37" fmla="*/ 0 h 28"/>
                <a:gd name="T38" fmla="*/ 17 w 28"/>
                <a:gd name="T39" fmla="*/ 0 h 28"/>
                <a:gd name="T40" fmla="*/ 14 w 28"/>
                <a:gd name="T41" fmla="*/ 0 h 28"/>
                <a:gd name="T42" fmla="*/ 12 w 28"/>
                <a:gd name="T43" fmla="*/ 0 h 28"/>
                <a:gd name="T44" fmla="*/ 9 w 28"/>
                <a:gd name="T45" fmla="*/ 0 h 28"/>
                <a:gd name="T46" fmla="*/ 7 w 28"/>
                <a:gd name="T47" fmla="*/ 2 h 28"/>
                <a:gd name="T48" fmla="*/ 7 w 28"/>
                <a:gd name="T49" fmla="*/ 2 h 28"/>
                <a:gd name="T50" fmla="*/ 5 w 28"/>
                <a:gd name="T51" fmla="*/ 5 h 28"/>
                <a:gd name="T52" fmla="*/ 2 w 28"/>
                <a:gd name="T53" fmla="*/ 7 h 28"/>
                <a:gd name="T54" fmla="*/ 2 w 28"/>
                <a:gd name="T55" fmla="*/ 7 h 28"/>
                <a:gd name="T56" fmla="*/ 0 w 28"/>
                <a:gd name="T57" fmla="*/ 9 h 28"/>
                <a:gd name="T58" fmla="*/ 0 w 28"/>
                <a:gd name="T59" fmla="*/ 12 h 28"/>
                <a:gd name="T60" fmla="*/ 0 w 28"/>
                <a:gd name="T61" fmla="*/ 14 h 28"/>
                <a:gd name="T62" fmla="*/ 0 w 28"/>
                <a:gd name="T63" fmla="*/ 16 h 28"/>
                <a:gd name="T64" fmla="*/ 0 w 28"/>
                <a:gd name="T65" fmla="*/ 19 h 28"/>
                <a:gd name="T66" fmla="*/ 2 w 28"/>
                <a:gd name="T67" fmla="*/ 21 h 28"/>
                <a:gd name="T68" fmla="*/ 2 w 28"/>
                <a:gd name="T69" fmla="*/ 24 h 28"/>
                <a:gd name="T70" fmla="*/ 5 w 28"/>
                <a:gd name="T71" fmla="*/ 26 h 28"/>
                <a:gd name="T72" fmla="*/ 7 w 28"/>
                <a:gd name="T73" fmla="*/ 26 h 28"/>
                <a:gd name="T74" fmla="*/ 7 w 28"/>
                <a:gd name="T75" fmla="*/ 28 h 28"/>
                <a:gd name="T76" fmla="*/ 9 w 28"/>
                <a:gd name="T77" fmla="*/ 28 h 28"/>
                <a:gd name="T78" fmla="*/ 12 w 28"/>
                <a:gd name="T79" fmla="*/ 28 h 28"/>
                <a:gd name="T80" fmla="*/ 14 w 28"/>
                <a:gd name="T81" fmla="*/ 28 h 28"/>
                <a:gd name="T82" fmla="*/ 14 w 28"/>
                <a:gd name="T83" fmla="*/ 28 h 2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8"/>
                <a:gd name="T127" fmla="*/ 0 h 28"/>
                <a:gd name="T128" fmla="*/ 28 w 28"/>
                <a:gd name="T129" fmla="*/ 28 h 2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8" h="28">
                  <a:moveTo>
                    <a:pt x="14" y="28"/>
                  </a:moveTo>
                  <a:lnTo>
                    <a:pt x="17" y="28"/>
                  </a:lnTo>
                  <a:lnTo>
                    <a:pt x="19" y="28"/>
                  </a:lnTo>
                  <a:lnTo>
                    <a:pt x="21" y="28"/>
                  </a:lnTo>
                  <a:lnTo>
                    <a:pt x="24" y="26"/>
                  </a:lnTo>
                  <a:lnTo>
                    <a:pt x="26" y="26"/>
                  </a:lnTo>
                  <a:lnTo>
                    <a:pt x="26" y="24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8" y="16"/>
                  </a:lnTo>
                  <a:lnTo>
                    <a:pt x="28" y="14"/>
                  </a:lnTo>
                  <a:lnTo>
                    <a:pt x="28" y="12"/>
                  </a:lnTo>
                  <a:lnTo>
                    <a:pt x="28" y="9"/>
                  </a:lnTo>
                  <a:lnTo>
                    <a:pt x="28" y="7"/>
                  </a:lnTo>
                  <a:lnTo>
                    <a:pt x="26" y="7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7" y="26"/>
                  </a:lnTo>
                  <a:lnTo>
                    <a:pt x="7" y="28"/>
                  </a:lnTo>
                  <a:lnTo>
                    <a:pt x="9" y="28"/>
                  </a:lnTo>
                  <a:lnTo>
                    <a:pt x="12" y="28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0" name="Freeform 238"/>
            <p:cNvSpPr>
              <a:spLocks noChangeArrowheads="1"/>
            </p:cNvSpPr>
            <p:nvPr/>
          </p:nvSpPr>
          <p:spPr bwMode="auto">
            <a:xfrm>
              <a:off x="979" y="1043"/>
              <a:ext cx="28" cy="31"/>
            </a:xfrm>
            <a:custGeom>
              <a:avLst/>
              <a:gdLst>
                <a:gd name="T0" fmla="*/ 0 w 28"/>
                <a:gd name="T1" fmla="*/ 0 h 31"/>
                <a:gd name="T2" fmla="*/ 0 w 28"/>
                <a:gd name="T3" fmla="*/ 31 h 31"/>
                <a:gd name="T4" fmla="*/ 28 w 28"/>
                <a:gd name="T5" fmla="*/ 17 h 31"/>
                <a:gd name="T6" fmla="*/ 0 w 28"/>
                <a:gd name="T7" fmla="*/ 0 h 31"/>
                <a:gd name="T8" fmla="*/ 0 w 28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31"/>
                <a:gd name="T17" fmla="*/ 28 w 28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31">
                  <a:moveTo>
                    <a:pt x="0" y="0"/>
                  </a:moveTo>
                  <a:lnTo>
                    <a:pt x="0" y="31"/>
                  </a:lnTo>
                  <a:lnTo>
                    <a:pt x="28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1" name="Freeform 239"/>
            <p:cNvSpPr>
              <a:spLocks noChangeArrowheads="1"/>
            </p:cNvSpPr>
            <p:nvPr/>
          </p:nvSpPr>
          <p:spPr bwMode="auto">
            <a:xfrm>
              <a:off x="979" y="1394"/>
              <a:ext cx="28" cy="31"/>
            </a:xfrm>
            <a:custGeom>
              <a:avLst/>
              <a:gdLst>
                <a:gd name="T0" fmla="*/ 0 w 28"/>
                <a:gd name="T1" fmla="*/ 0 h 31"/>
                <a:gd name="T2" fmla="*/ 0 w 28"/>
                <a:gd name="T3" fmla="*/ 31 h 31"/>
                <a:gd name="T4" fmla="*/ 28 w 28"/>
                <a:gd name="T5" fmla="*/ 17 h 31"/>
                <a:gd name="T6" fmla="*/ 0 w 28"/>
                <a:gd name="T7" fmla="*/ 0 h 31"/>
                <a:gd name="T8" fmla="*/ 0 w 28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31"/>
                <a:gd name="T17" fmla="*/ 28 w 28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31">
                  <a:moveTo>
                    <a:pt x="0" y="0"/>
                  </a:moveTo>
                  <a:lnTo>
                    <a:pt x="0" y="31"/>
                  </a:lnTo>
                  <a:lnTo>
                    <a:pt x="28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2" name="Rectangle 240"/>
            <p:cNvSpPr>
              <a:spLocks noChangeArrowheads="1"/>
            </p:cNvSpPr>
            <p:nvPr/>
          </p:nvSpPr>
          <p:spPr bwMode="auto">
            <a:xfrm>
              <a:off x="822" y="13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4</a:t>
              </a:r>
            </a:p>
          </p:txBody>
        </p:sp>
        <p:sp>
          <p:nvSpPr>
            <p:cNvPr id="243" name="Line 241"/>
            <p:cNvSpPr>
              <a:spLocks noChangeShapeType="1"/>
            </p:cNvSpPr>
            <p:nvPr/>
          </p:nvSpPr>
          <p:spPr bwMode="auto">
            <a:xfrm flipH="1">
              <a:off x="3336" y="944"/>
              <a:ext cx="412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4" name="Freeform 242"/>
            <p:cNvSpPr>
              <a:spLocks noChangeArrowheads="1"/>
            </p:cNvSpPr>
            <p:nvPr/>
          </p:nvSpPr>
          <p:spPr bwMode="auto">
            <a:xfrm>
              <a:off x="3775" y="826"/>
              <a:ext cx="365" cy="589"/>
            </a:xfrm>
            <a:custGeom>
              <a:avLst/>
              <a:gdLst>
                <a:gd name="T0" fmla="*/ 0 w 365"/>
                <a:gd name="T1" fmla="*/ 0 h 589"/>
                <a:gd name="T2" fmla="*/ 0 w 365"/>
                <a:gd name="T3" fmla="*/ 239 h 589"/>
                <a:gd name="T4" fmla="*/ 62 w 365"/>
                <a:gd name="T5" fmla="*/ 296 h 589"/>
                <a:gd name="T6" fmla="*/ 0 w 365"/>
                <a:gd name="T7" fmla="*/ 352 h 589"/>
                <a:gd name="T8" fmla="*/ 0 w 365"/>
                <a:gd name="T9" fmla="*/ 589 h 589"/>
                <a:gd name="T10" fmla="*/ 365 w 365"/>
                <a:gd name="T11" fmla="*/ 409 h 589"/>
                <a:gd name="T12" fmla="*/ 365 w 365"/>
                <a:gd name="T13" fmla="*/ 180 h 589"/>
                <a:gd name="T14" fmla="*/ 0 w 365"/>
                <a:gd name="T15" fmla="*/ 2 h 589"/>
                <a:gd name="T16" fmla="*/ 0 w 365"/>
                <a:gd name="T17" fmla="*/ 2 h 589"/>
                <a:gd name="T18" fmla="*/ 0 w 365"/>
                <a:gd name="T19" fmla="*/ 0 h 5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5"/>
                <a:gd name="T31" fmla="*/ 0 h 589"/>
                <a:gd name="T32" fmla="*/ 365 w 365"/>
                <a:gd name="T33" fmla="*/ 589 h 5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5" h="589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2"/>
                  </a:lnTo>
                  <a:lnTo>
                    <a:pt x="0" y="589"/>
                  </a:lnTo>
                  <a:lnTo>
                    <a:pt x="365" y="409"/>
                  </a:lnTo>
                  <a:lnTo>
                    <a:pt x="365" y="180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" name="Freeform 243"/>
            <p:cNvSpPr>
              <a:spLocks noChangeArrowheads="1"/>
            </p:cNvSpPr>
            <p:nvPr/>
          </p:nvSpPr>
          <p:spPr bwMode="auto">
            <a:xfrm>
              <a:off x="3775" y="826"/>
              <a:ext cx="365" cy="589"/>
            </a:xfrm>
            <a:custGeom>
              <a:avLst/>
              <a:gdLst>
                <a:gd name="T0" fmla="*/ 0 w 365"/>
                <a:gd name="T1" fmla="*/ 0 h 589"/>
                <a:gd name="T2" fmla="*/ 0 w 365"/>
                <a:gd name="T3" fmla="*/ 239 h 589"/>
                <a:gd name="T4" fmla="*/ 62 w 365"/>
                <a:gd name="T5" fmla="*/ 296 h 589"/>
                <a:gd name="T6" fmla="*/ 0 w 365"/>
                <a:gd name="T7" fmla="*/ 352 h 589"/>
                <a:gd name="T8" fmla="*/ 0 w 365"/>
                <a:gd name="T9" fmla="*/ 589 h 589"/>
                <a:gd name="T10" fmla="*/ 365 w 365"/>
                <a:gd name="T11" fmla="*/ 409 h 589"/>
                <a:gd name="T12" fmla="*/ 365 w 365"/>
                <a:gd name="T13" fmla="*/ 180 h 589"/>
                <a:gd name="T14" fmla="*/ 0 w 365"/>
                <a:gd name="T15" fmla="*/ 2 h 589"/>
                <a:gd name="T16" fmla="*/ 0 w 365"/>
                <a:gd name="T17" fmla="*/ 2 h 58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5"/>
                <a:gd name="T28" fmla="*/ 0 h 589"/>
                <a:gd name="T29" fmla="*/ 365 w 365"/>
                <a:gd name="T30" fmla="*/ 589 h 58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5" h="589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2"/>
                  </a:lnTo>
                  <a:lnTo>
                    <a:pt x="0" y="589"/>
                  </a:lnTo>
                  <a:lnTo>
                    <a:pt x="365" y="409"/>
                  </a:lnTo>
                  <a:lnTo>
                    <a:pt x="365" y="180"/>
                  </a:lnTo>
                  <a:lnTo>
                    <a:pt x="0" y="2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6" name="Line 244"/>
            <p:cNvSpPr>
              <a:spLocks noChangeShapeType="1"/>
            </p:cNvSpPr>
            <p:nvPr/>
          </p:nvSpPr>
          <p:spPr bwMode="auto">
            <a:xfrm flipH="1">
              <a:off x="4139" y="1119"/>
              <a:ext cx="419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Freeform 245"/>
            <p:cNvSpPr>
              <a:spLocks noChangeArrowheads="1"/>
            </p:cNvSpPr>
            <p:nvPr/>
          </p:nvSpPr>
          <p:spPr bwMode="auto">
            <a:xfrm>
              <a:off x="4543" y="776"/>
              <a:ext cx="30" cy="31"/>
            </a:xfrm>
            <a:custGeom>
              <a:avLst/>
              <a:gdLst>
                <a:gd name="T0" fmla="*/ 0 w 30"/>
                <a:gd name="T1" fmla="*/ 0 h 31"/>
                <a:gd name="T2" fmla="*/ 0 w 30"/>
                <a:gd name="T3" fmla="*/ 31 h 31"/>
                <a:gd name="T4" fmla="*/ 30 w 30"/>
                <a:gd name="T5" fmla="*/ 16 h 31"/>
                <a:gd name="T6" fmla="*/ 0 w 30"/>
                <a:gd name="T7" fmla="*/ 2 h 31"/>
                <a:gd name="T8" fmla="*/ 0 w 30"/>
                <a:gd name="T9" fmla="*/ 2 h 31"/>
                <a:gd name="T10" fmla="*/ 0 w 30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"/>
                <a:gd name="T19" fmla="*/ 0 h 31"/>
                <a:gd name="T20" fmla="*/ 30 w 30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" h="31">
                  <a:moveTo>
                    <a:pt x="0" y="0"/>
                  </a:moveTo>
                  <a:lnTo>
                    <a:pt x="0" y="31"/>
                  </a:lnTo>
                  <a:lnTo>
                    <a:pt x="30" y="16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8" name="Freeform 246"/>
            <p:cNvSpPr>
              <a:spLocks noChangeArrowheads="1"/>
            </p:cNvSpPr>
            <p:nvPr/>
          </p:nvSpPr>
          <p:spPr bwMode="auto">
            <a:xfrm>
              <a:off x="4543" y="1105"/>
              <a:ext cx="30" cy="31"/>
            </a:xfrm>
            <a:custGeom>
              <a:avLst/>
              <a:gdLst>
                <a:gd name="T0" fmla="*/ 0 w 30"/>
                <a:gd name="T1" fmla="*/ 0 h 31"/>
                <a:gd name="T2" fmla="*/ 0 w 30"/>
                <a:gd name="T3" fmla="*/ 31 h 31"/>
                <a:gd name="T4" fmla="*/ 30 w 30"/>
                <a:gd name="T5" fmla="*/ 17 h 31"/>
                <a:gd name="T6" fmla="*/ 0 w 30"/>
                <a:gd name="T7" fmla="*/ 0 h 31"/>
                <a:gd name="T8" fmla="*/ 0 w 30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"/>
                <a:gd name="T16" fmla="*/ 0 h 31"/>
                <a:gd name="T17" fmla="*/ 30 w 30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" h="31">
                  <a:moveTo>
                    <a:pt x="0" y="0"/>
                  </a:moveTo>
                  <a:lnTo>
                    <a:pt x="0" y="31"/>
                  </a:lnTo>
                  <a:lnTo>
                    <a:pt x="30" y="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9" name="Freeform 247"/>
            <p:cNvSpPr>
              <a:spLocks noChangeArrowheads="1"/>
            </p:cNvSpPr>
            <p:nvPr/>
          </p:nvSpPr>
          <p:spPr bwMode="auto">
            <a:xfrm>
              <a:off x="4576" y="738"/>
              <a:ext cx="111" cy="438"/>
            </a:xfrm>
            <a:custGeom>
              <a:avLst/>
              <a:gdLst>
                <a:gd name="T0" fmla="*/ 0 w 111"/>
                <a:gd name="T1" fmla="*/ 54 h 438"/>
                <a:gd name="T2" fmla="*/ 2 w 111"/>
                <a:gd name="T3" fmla="*/ 45 h 438"/>
                <a:gd name="T4" fmla="*/ 5 w 111"/>
                <a:gd name="T5" fmla="*/ 38 h 438"/>
                <a:gd name="T6" fmla="*/ 7 w 111"/>
                <a:gd name="T7" fmla="*/ 28 h 438"/>
                <a:gd name="T8" fmla="*/ 12 w 111"/>
                <a:gd name="T9" fmla="*/ 21 h 438"/>
                <a:gd name="T10" fmla="*/ 16 w 111"/>
                <a:gd name="T11" fmla="*/ 17 h 438"/>
                <a:gd name="T12" fmla="*/ 24 w 111"/>
                <a:gd name="T13" fmla="*/ 10 h 438"/>
                <a:gd name="T14" fmla="*/ 31 w 111"/>
                <a:gd name="T15" fmla="*/ 7 h 438"/>
                <a:gd name="T16" fmla="*/ 38 w 111"/>
                <a:gd name="T17" fmla="*/ 2 h 438"/>
                <a:gd name="T18" fmla="*/ 47 w 111"/>
                <a:gd name="T19" fmla="*/ 0 h 438"/>
                <a:gd name="T20" fmla="*/ 57 w 111"/>
                <a:gd name="T21" fmla="*/ 0 h 438"/>
                <a:gd name="T22" fmla="*/ 64 w 111"/>
                <a:gd name="T23" fmla="*/ 0 h 438"/>
                <a:gd name="T24" fmla="*/ 73 w 111"/>
                <a:gd name="T25" fmla="*/ 2 h 438"/>
                <a:gd name="T26" fmla="*/ 80 w 111"/>
                <a:gd name="T27" fmla="*/ 7 h 438"/>
                <a:gd name="T28" fmla="*/ 87 w 111"/>
                <a:gd name="T29" fmla="*/ 10 h 438"/>
                <a:gd name="T30" fmla="*/ 95 w 111"/>
                <a:gd name="T31" fmla="*/ 17 h 438"/>
                <a:gd name="T32" fmla="*/ 99 w 111"/>
                <a:gd name="T33" fmla="*/ 21 h 438"/>
                <a:gd name="T34" fmla="*/ 104 w 111"/>
                <a:gd name="T35" fmla="*/ 28 h 438"/>
                <a:gd name="T36" fmla="*/ 106 w 111"/>
                <a:gd name="T37" fmla="*/ 38 h 438"/>
                <a:gd name="T38" fmla="*/ 109 w 111"/>
                <a:gd name="T39" fmla="*/ 45 h 438"/>
                <a:gd name="T40" fmla="*/ 111 w 111"/>
                <a:gd name="T41" fmla="*/ 54 h 438"/>
                <a:gd name="T42" fmla="*/ 111 w 111"/>
                <a:gd name="T43" fmla="*/ 384 h 438"/>
                <a:gd name="T44" fmla="*/ 109 w 111"/>
                <a:gd name="T45" fmla="*/ 391 h 438"/>
                <a:gd name="T46" fmla="*/ 106 w 111"/>
                <a:gd name="T47" fmla="*/ 400 h 438"/>
                <a:gd name="T48" fmla="*/ 104 w 111"/>
                <a:gd name="T49" fmla="*/ 407 h 438"/>
                <a:gd name="T50" fmla="*/ 99 w 111"/>
                <a:gd name="T51" fmla="*/ 414 h 438"/>
                <a:gd name="T52" fmla="*/ 95 w 111"/>
                <a:gd name="T53" fmla="*/ 422 h 438"/>
                <a:gd name="T54" fmla="*/ 87 w 111"/>
                <a:gd name="T55" fmla="*/ 426 h 438"/>
                <a:gd name="T56" fmla="*/ 80 w 111"/>
                <a:gd name="T57" fmla="*/ 431 h 438"/>
                <a:gd name="T58" fmla="*/ 73 w 111"/>
                <a:gd name="T59" fmla="*/ 433 h 438"/>
                <a:gd name="T60" fmla="*/ 64 w 111"/>
                <a:gd name="T61" fmla="*/ 436 h 438"/>
                <a:gd name="T62" fmla="*/ 57 w 111"/>
                <a:gd name="T63" fmla="*/ 438 h 438"/>
                <a:gd name="T64" fmla="*/ 47 w 111"/>
                <a:gd name="T65" fmla="*/ 436 h 438"/>
                <a:gd name="T66" fmla="*/ 38 w 111"/>
                <a:gd name="T67" fmla="*/ 433 h 438"/>
                <a:gd name="T68" fmla="*/ 31 w 111"/>
                <a:gd name="T69" fmla="*/ 431 h 438"/>
                <a:gd name="T70" fmla="*/ 24 w 111"/>
                <a:gd name="T71" fmla="*/ 426 h 438"/>
                <a:gd name="T72" fmla="*/ 16 w 111"/>
                <a:gd name="T73" fmla="*/ 422 h 438"/>
                <a:gd name="T74" fmla="*/ 12 w 111"/>
                <a:gd name="T75" fmla="*/ 414 h 438"/>
                <a:gd name="T76" fmla="*/ 7 w 111"/>
                <a:gd name="T77" fmla="*/ 407 h 438"/>
                <a:gd name="T78" fmla="*/ 5 w 111"/>
                <a:gd name="T79" fmla="*/ 400 h 438"/>
                <a:gd name="T80" fmla="*/ 2 w 111"/>
                <a:gd name="T81" fmla="*/ 391 h 438"/>
                <a:gd name="T82" fmla="*/ 2 w 111"/>
                <a:gd name="T83" fmla="*/ 384 h 438"/>
                <a:gd name="T84" fmla="*/ 2 w 111"/>
                <a:gd name="T85" fmla="*/ 54 h 438"/>
                <a:gd name="T86" fmla="*/ 2 w 111"/>
                <a:gd name="T87" fmla="*/ 54 h 438"/>
                <a:gd name="T88" fmla="*/ 0 w 111"/>
                <a:gd name="T89" fmla="*/ 54 h 438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11"/>
                <a:gd name="T136" fmla="*/ 0 h 438"/>
                <a:gd name="T137" fmla="*/ 111 w 111"/>
                <a:gd name="T138" fmla="*/ 438 h 438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11" h="438">
                  <a:moveTo>
                    <a:pt x="0" y="54"/>
                  </a:moveTo>
                  <a:lnTo>
                    <a:pt x="2" y="45"/>
                  </a:lnTo>
                  <a:lnTo>
                    <a:pt x="5" y="38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7"/>
                  </a:lnTo>
                  <a:lnTo>
                    <a:pt x="24" y="10"/>
                  </a:lnTo>
                  <a:lnTo>
                    <a:pt x="31" y="7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7" y="10"/>
                  </a:lnTo>
                  <a:lnTo>
                    <a:pt x="95" y="17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6" y="38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84"/>
                  </a:lnTo>
                  <a:lnTo>
                    <a:pt x="109" y="391"/>
                  </a:lnTo>
                  <a:lnTo>
                    <a:pt x="106" y="400"/>
                  </a:lnTo>
                  <a:lnTo>
                    <a:pt x="104" y="407"/>
                  </a:lnTo>
                  <a:lnTo>
                    <a:pt x="99" y="414"/>
                  </a:lnTo>
                  <a:lnTo>
                    <a:pt x="95" y="422"/>
                  </a:lnTo>
                  <a:lnTo>
                    <a:pt x="87" y="426"/>
                  </a:lnTo>
                  <a:lnTo>
                    <a:pt x="80" y="431"/>
                  </a:lnTo>
                  <a:lnTo>
                    <a:pt x="73" y="433"/>
                  </a:lnTo>
                  <a:lnTo>
                    <a:pt x="64" y="436"/>
                  </a:lnTo>
                  <a:lnTo>
                    <a:pt x="57" y="438"/>
                  </a:lnTo>
                  <a:lnTo>
                    <a:pt x="47" y="436"/>
                  </a:lnTo>
                  <a:lnTo>
                    <a:pt x="38" y="433"/>
                  </a:lnTo>
                  <a:lnTo>
                    <a:pt x="31" y="431"/>
                  </a:lnTo>
                  <a:lnTo>
                    <a:pt x="24" y="426"/>
                  </a:lnTo>
                  <a:lnTo>
                    <a:pt x="16" y="422"/>
                  </a:lnTo>
                  <a:lnTo>
                    <a:pt x="12" y="414"/>
                  </a:lnTo>
                  <a:lnTo>
                    <a:pt x="7" y="407"/>
                  </a:lnTo>
                  <a:lnTo>
                    <a:pt x="5" y="400"/>
                  </a:lnTo>
                  <a:lnTo>
                    <a:pt x="2" y="391"/>
                  </a:lnTo>
                  <a:lnTo>
                    <a:pt x="2" y="384"/>
                  </a:lnTo>
                  <a:lnTo>
                    <a:pt x="2" y="5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0" name="Freeform 248"/>
            <p:cNvSpPr>
              <a:spLocks noChangeArrowheads="1"/>
            </p:cNvSpPr>
            <p:nvPr/>
          </p:nvSpPr>
          <p:spPr bwMode="auto">
            <a:xfrm>
              <a:off x="4576" y="738"/>
              <a:ext cx="111" cy="438"/>
            </a:xfrm>
            <a:custGeom>
              <a:avLst/>
              <a:gdLst>
                <a:gd name="T0" fmla="*/ 0 w 111"/>
                <a:gd name="T1" fmla="*/ 54 h 438"/>
                <a:gd name="T2" fmla="*/ 2 w 111"/>
                <a:gd name="T3" fmla="*/ 45 h 438"/>
                <a:gd name="T4" fmla="*/ 5 w 111"/>
                <a:gd name="T5" fmla="*/ 38 h 438"/>
                <a:gd name="T6" fmla="*/ 7 w 111"/>
                <a:gd name="T7" fmla="*/ 28 h 438"/>
                <a:gd name="T8" fmla="*/ 12 w 111"/>
                <a:gd name="T9" fmla="*/ 21 h 438"/>
                <a:gd name="T10" fmla="*/ 16 w 111"/>
                <a:gd name="T11" fmla="*/ 17 h 438"/>
                <a:gd name="T12" fmla="*/ 24 w 111"/>
                <a:gd name="T13" fmla="*/ 10 h 438"/>
                <a:gd name="T14" fmla="*/ 31 w 111"/>
                <a:gd name="T15" fmla="*/ 7 h 438"/>
                <a:gd name="T16" fmla="*/ 38 w 111"/>
                <a:gd name="T17" fmla="*/ 2 h 438"/>
                <a:gd name="T18" fmla="*/ 47 w 111"/>
                <a:gd name="T19" fmla="*/ 0 h 438"/>
                <a:gd name="T20" fmla="*/ 57 w 111"/>
                <a:gd name="T21" fmla="*/ 0 h 438"/>
                <a:gd name="T22" fmla="*/ 64 w 111"/>
                <a:gd name="T23" fmla="*/ 0 h 438"/>
                <a:gd name="T24" fmla="*/ 73 w 111"/>
                <a:gd name="T25" fmla="*/ 2 h 438"/>
                <a:gd name="T26" fmla="*/ 80 w 111"/>
                <a:gd name="T27" fmla="*/ 7 h 438"/>
                <a:gd name="T28" fmla="*/ 87 w 111"/>
                <a:gd name="T29" fmla="*/ 10 h 438"/>
                <a:gd name="T30" fmla="*/ 95 w 111"/>
                <a:gd name="T31" fmla="*/ 17 h 438"/>
                <a:gd name="T32" fmla="*/ 99 w 111"/>
                <a:gd name="T33" fmla="*/ 21 h 438"/>
                <a:gd name="T34" fmla="*/ 104 w 111"/>
                <a:gd name="T35" fmla="*/ 28 h 438"/>
                <a:gd name="T36" fmla="*/ 106 w 111"/>
                <a:gd name="T37" fmla="*/ 38 h 438"/>
                <a:gd name="T38" fmla="*/ 109 w 111"/>
                <a:gd name="T39" fmla="*/ 45 h 438"/>
                <a:gd name="T40" fmla="*/ 111 w 111"/>
                <a:gd name="T41" fmla="*/ 54 h 438"/>
                <a:gd name="T42" fmla="*/ 111 w 111"/>
                <a:gd name="T43" fmla="*/ 384 h 438"/>
                <a:gd name="T44" fmla="*/ 109 w 111"/>
                <a:gd name="T45" fmla="*/ 391 h 438"/>
                <a:gd name="T46" fmla="*/ 106 w 111"/>
                <a:gd name="T47" fmla="*/ 400 h 438"/>
                <a:gd name="T48" fmla="*/ 104 w 111"/>
                <a:gd name="T49" fmla="*/ 407 h 438"/>
                <a:gd name="T50" fmla="*/ 99 w 111"/>
                <a:gd name="T51" fmla="*/ 414 h 438"/>
                <a:gd name="T52" fmla="*/ 95 w 111"/>
                <a:gd name="T53" fmla="*/ 422 h 438"/>
                <a:gd name="T54" fmla="*/ 87 w 111"/>
                <a:gd name="T55" fmla="*/ 426 h 438"/>
                <a:gd name="T56" fmla="*/ 80 w 111"/>
                <a:gd name="T57" fmla="*/ 431 h 438"/>
                <a:gd name="T58" fmla="*/ 73 w 111"/>
                <a:gd name="T59" fmla="*/ 433 h 438"/>
                <a:gd name="T60" fmla="*/ 64 w 111"/>
                <a:gd name="T61" fmla="*/ 436 h 438"/>
                <a:gd name="T62" fmla="*/ 57 w 111"/>
                <a:gd name="T63" fmla="*/ 438 h 438"/>
                <a:gd name="T64" fmla="*/ 47 w 111"/>
                <a:gd name="T65" fmla="*/ 436 h 438"/>
                <a:gd name="T66" fmla="*/ 38 w 111"/>
                <a:gd name="T67" fmla="*/ 433 h 438"/>
                <a:gd name="T68" fmla="*/ 31 w 111"/>
                <a:gd name="T69" fmla="*/ 431 h 438"/>
                <a:gd name="T70" fmla="*/ 24 w 111"/>
                <a:gd name="T71" fmla="*/ 426 h 438"/>
                <a:gd name="T72" fmla="*/ 16 w 111"/>
                <a:gd name="T73" fmla="*/ 422 h 438"/>
                <a:gd name="T74" fmla="*/ 12 w 111"/>
                <a:gd name="T75" fmla="*/ 414 h 438"/>
                <a:gd name="T76" fmla="*/ 7 w 111"/>
                <a:gd name="T77" fmla="*/ 407 h 438"/>
                <a:gd name="T78" fmla="*/ 5 w 111"/>
                <a:gd name="T79" fmla="*/ 400 h 438"/>
                <a:gd name="T80" fmla="*/ 2 w 111"/>
                <a:gd name="T81" fmla="*/ 391 h 438"/>
                <a:gd name="T82" fmla="*/ 2 w 111"/>
                <a:gd name="T83" fmla="*/ 384 h 438"/>
                <a:gd name="T84" fmla="*/ 2 w 111"/>
                <a:gd name="T85" fmla="*/ 54 h 438"/>
                <a:gd name="T86" fmla="*/ 2 w 111"/>
                <a:gd name="T87" fmla="*/ 54 h 438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1"/>
                <a:gd name="T133" fmla="*/ 0 h 438"/>
                <a:gd name="T134" fmla="*/ 111 w 111"/>
                <a:gd name="T135" fmla="*/ 438 h 438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1" h="438">
                  <a:moveTo>
                    <a:pt x="0" y="54"/>
                  </a:moveTo>
                  <a:lnTo>
                    <a:pt x="2" y="45"/>
                  </a:lnTo>
                  <a:lnTo>
                    <a:pt x="5" y="38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7"/>
                  </a:lnTo>
                  <a:lnTo>
                    <a:pt x="24" y="10"/>
                  </a:lnTo>
                  <a:lnTo>
                    <a:pt x="31" y="7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7" y="10"/>
                  </a:lnTo>
                  <a:lnTo>
                    <a:pt x="95" y="17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6" y="38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84"/>
                  </a:lnTo>
                  <a:lnTo>
                    <a:pt x="109" y="391"/>
                  </a:lnTo>
                  <a:lnTo>
                    <a:pt x="106" y="400"/>
                  </a:lnTo>
                  <a:lnTo>
                    <a:pt x="104" y="407"/>
                  </a:lnTo>
                  <a:lnTo>
                    <a:pt x="99" y="414"/>
                  </a:lnTo>
                  <a:lnTo>
                    <a:pt x="95" y="422"/>
                  </a:lnTo>
                  <a:lnTo>
                    <a:pt x="87" y="426"/>
                  </a:lnTo>
                  <a:lnTo>
                    <a:pt x="80" y="431"/>
                  </a:lnTo>
                  <a:lnTo>
                    <a:pt x="73" y="433"/>
                  </a:lnTo>
                  <a:lnTo>
                    <a:pt x="64" y="436"/>
                  </a:lnTo>
                  <a:lnTo>
                    <a:pt x="57" y="438"/>
                  </a:lnTo>
                  <a:lnTo>
                    <a:pt x="47" y="436"/>
                  </a:lnTo>
                  <a:lnTo>
                    <a:pt x="38" y="433"/>
                  </a:lnTo>
                  <a:lnTo>
                    <a:pt x="31" y="431"/>
                  </a:lnTo>
                  <a:lnTo>
                    <a:pt x="24" y="426"/>
                  </a:lnTo>
                  <a:lnTo>
                    <a:pt x="16" y="422"/>
                  </a:lnTo>
                  <a:lnTo>
                    <a:pt x="12" y="414"/>
                  </a:lnTo>
                  <a:lnTo>
                    <a:pt x="7" y="407"/>
                  </a:lnTo>
                  <a:lnTo>
                    <a:pt x="5" y="400"/>
                  </a:lnTo>
                  <a:lnTo>
                    <a:pt x="2" y="391"/>
                  </a:lnTo>
                  <a:lnTo>
                    <a:pt x="2" y="384"/>
                  </a:lnTo>
                  <a:lnTo>
                    <a:pt x="2" y="54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1" name="Freeform 249"/>
            <p:cNvSpPr>
              <a:spLocks noChangeArrowheads="1"/>
            </p:cNvSpPr>
            <p:nvPr/>
          </p:nvSpPr>
          <p:spPr bwMode="auto">
            <a:xfrm>
              <a:off x="384" y="672"/>
              <a:ext cx="4367" cy="1508"/>
            </a:xfrm>
            <a:custGeom>
              <a:avLst/>
              <a:gdLst>
                <a:gd name="T0" fmla="*/ 67 w 4367"/>
                <a:gd name="T1" fmla="*/ 1508 h 1508"/>
                <a:gd name="T2" fmla="*/ 0 w 4367"/>
                <a:gd name="T3" fmla="*/ 1508 h 1508"/>
                <a:gd name="T4" fmla="*/ 0 w 4367"/>
                <a:gd name="T5" fmla="*/ 0 h 1508"/>
                <a:gd name="T6" fmla="*/ 4367 w 4367"/>
                <a:gd name="T7" fmla="*/ 0 h 1508"/>
                <a:gd name="T8" fmla="*/ 4367 w 4367"/>
                <a:gd name="T9" fmla="*/ 284 h 1508"/>
                <a:gd name="T10" fmla="*/ 4303 w 4367"/>
                <a:gd name="T11" fmla="*/ 284 h 15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367"/>
                <a:gd name="T19" fmla="*/ 0 h 1508"/>
                <a:gd name="T20" fmla="*/ 4367 w 4367"/>
                <a:gd name="T21" fmla="*/ 1508 h 150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367" h="1508">
                  <a:moveTo>
                    <a:pt x="67" y="1508"/>
                  </a:moveTo>
                  <a:lnTo>
                    <a:pt x="0" y="1508"/>
                  </a:lnTo>
                  <a:lnTo>
                    <a:pt x="0" y="0"/>
                  </a:lnTo>
                  <a:lnTo>
                    <a:pt x="4367" y="0"/>
                  </a:lnTo>
                  <a:lnTo>
                    <a:pt x="4367" y="284"/>
                  </a:lnTo>
                  <a:lnTo>
                    <a:pt x="4303" y="284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2" name="Line 250"/>
            <p:cNvSpPr>
              <a:spLocks noChangeShapeType="1"/>
            </p:cNvSpPr>
            <p:nvPr/>
          </p:nvSpPr>
          <p:spPr bwMode="auto">
            <a:xfrm>
              <a:off x="581" y="2180"/>
              <a:ext cx="175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3" name="Freeform 251"/>
            <p:cNvSpPr>
              <a:spLocks noChangeArrowheads="1"/>
            </p:cNvSpPr>
            <p:nvPr/>
          </p:nvSpPr>
          <p:spPr bwMode="auto">
            <a:xfrm>
              <a:off x="747" y="2166"/>
              <a:ext cx="28" cy="31"/>
            </a:xfrm>
            <a:custGeom>
              <a:avLst/>
              <a:gdLst>
                <a:gd name="T0" fmla="*/ 0 w 28"/>
                <a:gd name="T1" fmla="*/ 0 h 31"/>
                <a:gd name="T2" fmla="*/ 0 w 28"/>
                <a:gd name="T3" fmla="*/ 31 h 31"/>
                <a:gd name="T4" fmla="*/ 28 w 28"/>
                <a:gd name="T5" fmla="*/ 14 h 31"/>
                <a:gd name="T6" fmla="*/ 0 w 28"/>
                <a:gd name="T7" fmla="*/ 0 h 31"/>
                <a:gd name="T8" fmla="*/ 0 w 28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"/>
                <a:gd name="T16" fmla="*/ 0 h 31"/>
                <a:gd name="T17" fmla="*/ 28 w 28"/>
                <a:gd name="T18" fmla="*/ 31 h 3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" h="31">
                  <a:moveTo>
                    <a:pt x="0" y="0"/>
                  </a:moveTo>
                  <a:lnTo>
                    <a:pt x="0" y="31"/>
                  </a:lnTo>
                  <a:lnTo>
                    <a:pt x="28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4" name="Freeform 252"/>
            <p:cNvSpPr>
              <a:spLocks noChangeArrowheads="1"/>
            </p:cNvSpPr>
            <p:nvPr/>
          </p:nvSpPr>
          <p:spPr bwMode="auto">
            <a:xfrm>
              <a:off x="439" y="2166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4 h 31"/>
                <a:gd name="T6" fmla="*/ 2 w 31"/>
                <a:gd name="T7" fmla="*/ 0 h 31"/>
                <a:gd name="T8" fmla="*/ 2 w 31"/>
                <a:gd name="T9" fmla="*/ 0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5" name="Freeform 253"/>
            <p:cNvSpPr>
              <a:spLocks noChangeArrowheads="1"/>
            </p:cNvSpPr>
            <p:nvPr/>
          </p:nvSpPr>
          <p:spPr bwMode="auto">
            <a:xfrm>
              <a:off x="2932" y="3004"/>
              <a:ext cx="29" cy="29"/>
            </a:xfrm>
            <a:custGeom>
              <a:avLst/>
              <a:gdLst>
                <a:gd name="T0" fmla="*/ 0 w 29"/>
                <a:gd name="T1" fmla="*/ 0 h 29"/>
                <a:gd name="T2" fmla="*/ 0 w 29"/>
                <a:gd name="T3" fmla="*/ 29 h 29"/>
                <a:gd name="T4" fmla="*/ 29 w 29"/>
                <a:gd name="T5" fmla="*/ 14 h 29"/>
                <a:gd name="T6" fmla="*/ 0 w 29"/>
                <a:gd name="T7" fmla="*/ 0 h 29"/>
                <a:gd name="T8" fmla="*/ 0 w 29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"/>
                <a:gd name="T16" fmla="*/ 0 h 29"/>
                <a:gd name="T17" fmla="*/ 29 w 29"/>
                <a:gd name="T18" fmla="*/ 29 h 2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" h="29">
                  <a:moveTo>
                    <a:pt x="0" y="0"/>
                  </a:moveTo>
                  <a:lnTo>
                    <a:pt x="0" y="29"/>
                  </a:lnTo>
                  <a:lnTo>
                    <a:pt x="29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" name="Freeform 254"/>
            <p:cNvSpPr>
              <a:spLocks noChangeArrowheads="1"/>
            </p:cNvSpPr>
            <p:nvPr/>
          </p:nvSpPr>
          <p:spPr bwMode="auto">
            <a:xfrm>
              <a:off x="2966" y="2786"/>
              <a:ext cx="220" cy="464"/>
            </a:xfrm>
            <a:custGeom>
              <a:avLst/>
              <a:gdLst>
                <a:gd name="T0" fmla="*/ 108 w 220"/>
                <a:gd name="T1" fmla="*/ 464 h 464"/>
                <a:gd name="T2" fmla="*/ 127 w 220"/>
                <a:gd name="T3" fmla="*/ 462 h 464"/>
                <a:gd name="T4" fmla="*/ 144 w 220"/>
                <a:gd name="T5" fmla="*/ 453 h 464"/>
                <a:gd name="T6" fmla="*/ 161 w 220"/>
                <a:gd name="T7" fmla="*/ 441 h 464"/>
                <a:gd name="T8" fmla="*/ 175 w 220"/>
                <a:gd name="T9" fmla="*/ 422 h 464"/>
                <a:gd name="T10" fmla="*/ 187 w 220"/>
                <a:gd name="T11" fmla="*/ 398 h 464"/>
                <a:gd name="T12" fmla="*/ 198 w 220"/>
                <a:gd name="T13" fmla="*/ 370 h 464"/>
                <a:gd name="T14" fmla="*/ 208 w 220"/>
                <a:gd name="T15" fmla="*/ 339 h 464"/>
                <a:gd name="T16" fmla="*/ 213 w 220"/>
                <a:gd name="T17" fmla="*/ 306 h 464"/>
                <a:gd name="T18" fmla="*/ 217 w 220"/>
                <a:gd name="T19" fmla="*/ 270 h 464"/>
                <a:gd name="T20" fmla="*/ 220 w 220"/>
                <a:gd name="T21" fmla="*/ 232 h 464"/>
                <a:gd name="T22" fmla="*/ 217 w 220"/>
                <a:gd name="T23" fmla="*/ 194 h 464"/>
                <a:gd name="T24" fmla="*/ 213 w 220"/>
                <a:gd name="T25" fmla="*/ 159 h 464"/>
                <a:gd name="T26" fmla="*/ 208 w 220"/>
                <a:gd name="T27" fmla="*/ 126 h 464"/>
                <a:gd name="T28" fmla="*/ 198 w 220"/>
                <a:gd name="T29" fmla="*/ 95 h 464"/>
                <a:gd name="T30" fmla="*/ 187 w 220"/>
                <a:gd name="T31" fmla="*/ 69 h 464"/>
                <a:gd name="T32" fmla="*/ 175 w 220"/>
                <a:gd name="T33" fmla="*/ 45 h 464"/>
                <a:gd name="T34" fmla="*/ 161 w 220"/>
                <a:gd name="T35" fmla="*/ 26 h 464"/>
                <a:gd name="T36" fmla="*/ 144 w 220"/>
                <a:gd name="T37" fmla="*/ 12 h 464"/>
                <a:gd name="T38" fmla="*/ 127 w 220"/>
                <a:gd name="T39" fmla="*/ 3 h 464"/>
                <a:gd name="T40" fmla="*/ 111 w 220"/>
                <a:gd name="T41" fmla="*/ 0 h 464"/>
                <a:gd name="T42" fmla="*/ 92 w 220"/>
                <a:gd name="T43" fmla="*/ 3 h 464"/>
                <a:gd name="T44" fmla="*/ 75 w 220"/>
                <a:gd name="T45" fmla="*/ 12 h 464"/>
                <a:gd name="T46" fmla="*/ 59 w 220"/>
                <a:gd name="T47" fmla="*/ 26 h 464"/>
                <a:gd name="T48" fmla="*/ 45 w 220"/>
                <a:gd name="T49" fmla="*/ 45 h 464"/>
                <a:gd name="T50" fmla="*/ 33 w 220"/>
                <a:gd name="T51" fmla="*/ 69 h 464"/>
                <a:gd name="T52" fmla="*/ 21 w 220"/>
                <a:gd name="T53" fmla="*/ 95 h 464"/>
                <a:gd name="T54" fmla="*/ 11 w 220"/>
                <a:gd name="T55" fmla="*/ 126 h 464"/>
                <a:gd name="T56" fmla="*/ 7 w 220"/>
                <a:gd name="T57" fmla="*/ 159 h 464"/>
                <a:gd name="T58" fmla="*/ 2 w 220"/>
                <a:gd name="T59" fmla="*/ 194 h 464"/>
                <a:gd name="T60" fmla="*/ 0 w 220"/>
                <a:gd name="T61" fmla="*/ 232 h 464"/>
                <a:gd name="T62" fmla="*/ 2 w 220"/>
                <a:gd name="T63" fmla="*/ 270 h 464"/>
                <a:gd name="T64" fmla="*/ 7 w 220"/>
                <a:gd name="T65" fmla="*/ 306 h 464"/>
                <a:gd name="T66" fmla="*/ 11 w 220"/>
                <a:gd name="T67" fmla="*/ 339 h 464"/>
                <a:gd name="T68" fmla="*/ 21 w 220"/>
                <a:gd name="T69" fmla="*/ 370 h 464"/>
                <a:gd name="T70" fmla="*/ 33 w 220"/>
                <a:gd name="T71" fmla="*/ 398 h 464"/>
                <a:gd name="T72" fmla="*/ 45 w 220"/>
                <a:gd name="T73" fmla="*/ 422 h 464"/>
                <a:gd name="T74" fmla="*/ 59 w 220"/>
                <a:gd name="T75" fmla="*/ 441 h 464"/>
                <a:gd name="T76" fmla="*/ 75 w 220"/>
                <a:gd name="T77" fmla="*/ 453 h 464"/>
                <a:gd name="T78" fmla="*/ 92 w 220"/>
                <a:gd name="T79" fmla="*/ 462 h 464"/>
                <a:gd name="T80" fmla="*/ 111 w 220"/>
                <a:gd name="T81" fmla="*/ 464 h 464"/>
                <a:gd name="T82" fmla="*/ 111 w 220"/>
                <a:gd name="T83" fmla="*/ 464 h 464"/>
                <a:gd name="T84" fmla="*/ 108 w 220"/>
                <a:gd name="T85" fmla="*/ 464 h 464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20"/>
                <a:gd name="T130" fmla="*/ 0 h 464"/>
                <a:gd name="T131" fmla="*/ 220 w 220"/>
                <a:gd name="T132" fmla="*/ 464 h 464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20" h="464">
                  <a:moveTo>
                    <a:pt x="108" y="464"/>
                  </a:moveTo>
                  <a:lnTo>
                    <a:pt x="127" y="462"/>
                  </a:lnTo>
                  <a:lnTo>
                    <a:pt x="144" y="453"/>
                  </a:lnTo>
                  <a:lnTo>
                    <a:pt x="161" y="441"/>
                  </a:lnTo>
                  <a:lnTo>
                    <a:pt x="175" y="422"/>
                  </a:lnTo>
                  <a:lnTo>
                    <a:pt x="187" y="398"/>
                  </a:lnTo>
                  <a:lnTo>
                    <a:pt x="198" y="370"/>
                  </a:lnTo>
                  <a:lnTo>
                    <a:pt x="208" y="339"/>
                  </a:lnTo>
                  <a:lnTo>
                    <a:pt x="213" y="306"/>
                  </a:lnTo>
                  <a:lnTo>
                    <a:pt x="217" y="270"/>
                  </a:lnTo>
                  <a:lnTo>
                    <a:pt x="220" y="232"/>
                  </a:lnTo>
                  <a:lnTo>
                    <a:pt x="217" y="194"/>
                  </a:lnTo>
                  <a:lnTo>
                    <a:pt x="213" y="159"/>
                  </a:lnTo>
                  <a:lnTo>
                    <a:pt x="208" y="126"/>
                  </a:lnTo>
                  <a:lnTo>
                    <a:pt x="198" y="95"/>
                  </a:lnTo>
                  <a:lnTo>
                    <a:pt x="187" y="69"/>
                  </a:lnTo>
                  <a:lnTo>
                    <a:pt x="175" y="45"/>
                  </a:lnTo>
                  <a:lnTo>
                    <a:pt x="161" y="26"/>
                  </a:lnTo>
                  <a:lnTo>
                    <a:pt x="144" y="12"/>
                  </a:lnTo>
                  <a:lnTo>
                    <a:pt x="127" y="3"/>
                  </a:lnTo>
                  <a:lnTo>
                    <a:pt x="111" y="0"/>
                  </a:lnTo>
                  <a:lnTo>
                    <a:pt x="92" y="3"/>
                  </a:lnTo>
                  <a:lnTo>
                    <a:pt x="75" y="12"/>
                  </a:lnTo>
                  <a:lnTo>
                    <a:pt x="59" y="26"/>
                  </a:lnTo>
                  <a:lnTo>
                    <a:pt x="45" y="45"/>
                  </a:lnTo>
                  <a:lnTo>
                    <a:pt x="33" y="69"/>
                  </a:lnTo>
                  <a:lnTo>
                    <a:pt x="21" y="95"/>
                  </a:lnTo>
                  <a:lnTo>
                    <a:pt x="11" y="126"/>
                  </a:lnTo>
                  <a:lnTo>
                    <a:pt x="7" y="159"/>
                  </a:lnTo>
                  <a:lnTo>
                    <a:pt x="2" y="194"/>
                  </a:lnTo>
                  <a:lnTo>
                    <a:pt x="0" y="232"/>
                  </a:lnTo>
                  <a:lnTo>
                    <a:pt x="2" y="270"/>
                  </a:lnTo>
                  <a:lnTo>
                    <a:pt x="7" y="306"/>
                  </a:lnTo>
                  <a:lnTo>
                    <a:pt x="11" y="339"/>
                  </a:lnTo>
                  <a:lnTo>
                    <a:pt x="21" y="370"/>
                  </a:lnTo>
                  <a:lnTo>
                    <a:pt x="33" y="398"/>
                  </a:lnTo>
                  <a:lnTo>
                    <a:pt x="45" y="422"/>
                  </a:lnTo>
                  <a:lnTo>
                    <a:pt x="59" y="441"/>
                  </a:lnTo>
                  <a:lnTo>
                    <a:pt x="75" y="453"/>
                  </a:lnTo>
                  <a:lnTo>
                    <a:pt x="92" y="462"/>
                  </a:lnTo>
                  <a:lnTo>
                    <a:pt x="111" y="464"/>
                  </a:lnTo>
                  <a:lnTo>
                    <a:pt x="108" y="4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7" name="Freeform 255"/>
            <p:cNvSpPr>
              <a:spLocks noChangeArrowheads="1"/>
            </p:cNvSpPr>
            <p:nvPr/>
          </p:nvSpPr>
          <p:spPr bwMode="auto">
            <a:xfrm>
              <a:off x="2966" y="2786"/>
              <a:ext cx="220" cy="464"/>
            </a:xfrm>
            <a:custGeom>
              <a:avLst/>
              <a:gdLst>
                <a:gd name="T0" fmla="*/ 108 w 220"/>
                <a:gd name="T1" fmla="*/ 464 h 464"/>
                <a:gd name="T2" fmla="*/ 127 w 220"/>
                <a:gd name="T3" fmla="*/ 462 h 464"/>
                <a:gd name="T4" fmla="*/ 144 w 220"/>
                <a:gd name="T5" fmla="*/ 453 h 464"/>
                <a:gd name="T6" fmla="*/ 161 w 220"/>
                <a:gd name="T7" fmla="*/ 441 h 464"/>
                <a:gd name="T8" fmla="*/ 175 w 220"/>
                <a:gd name="T9" fmla="*/ 422 h 464"/>
                <a:gd name="T10" fmla="*/ 187 w 220"/>
                <a:gd name="T11" fmla="*/ 398 h 464"/>
                <a:gd name="T12" fmla="*/ 198 w 220"/>
                <a:gd name="T13" fmla="*/ 370 h 464"/>
                <a:gd name="T14" fmla="*/ 208 w 220"/>
                <a:gd name="T15" fmla="*/ 339 h 464"/>
                <a:gd name="T16" fmla="*/ 213 w 220"/>
                <a:gd name="T17" fmla="*/ 306 h 464"/>
                <a:gd name="T18" fmla="*/ 217 w 220"/>
                <a:gd name="T19" fmla="*/ 270 h 464"/>
                <a:gd name="T20" fmla="*/ 220 w 220"/>
                <a:gd name="T21" fmla="*/ 232 h 464"/>
                <a:gd name="T22" fmla="*/ 217 w 220"/>
                <a:gd name="T23" fmla="*/ 194 h 464"/>
                <a:gd name="T24" fmla="*/ 213 w 220"/>
                <a:gd name="T25" fmla="*/ 159 h 464"/>
                <a:gd name="T26" fmla="*/ 208 w 220"/>
                <a:gd name="T27" fmla="*/ 126 h 464"/>
                <a:gd name="T28" fmla="*/ 198 w 220"/>
                <a:gd name="T29" fmla="*/ 95 h 464"/>
                <a:gd name="T30" fmla="*/ 187 w 220"/>
                <a:gd name="T31" fmla="*/ 69 h 464"/>
                <a:gd name="T32" fmla="*/ 175 w 220"/>
                <a:gd name="T33" fmla="*/ 45 h 464"/>
                <a:gd name="T34" fmla="*/ 161 w 220"/>
                <a:gd name="T35" fmla="*/ 26 h 464"/>
                <a:gd name="T36" fmla="*/ 144 w 220"/>
                <a:gd name="T37" fmla="*/ 12 h 464"/>
                <a:gd name="T38" fmla="*/ 127 w 220"/>
                <a:gd name="T39" fmla="*/ 3 h 464"/>
                <a:gd name="T40" fmla="*/ 111 w 220"/>
                <a:gd name="T41" fmla="*/ 0 h 464"/>
                <a:gd name="T42" fmla="*/ 92 w 220"/>
                <a:gd name="T43" fmla="*/ 3 h 464"/>
                <a:gd name="T44" fmla="*/ 75 w 220"/>
                <a:gd name="T45" fmla="*/ 12 h 464"/>
                <a:gd name="T46" fmla="*/ 59 w 220"/>
                <a:gd name="T47" fmla="*/ 26 h 464"/>
                <a:gd name="T48" fmla="*/ 45 w 220"/>
                <a:gd name="T49" fmla="*/ 45 h 464"/>
                <a:gd name="T50" fmla="*/ 33 w 220"/>
                <a:gd name="T51" fmla="*/ 69 h 464"/>
                <a:gd name="T52" fmla="*/ 21 w 220"/>
                <a:gd name="T53" fmla="*/ 95 h 464"/>
                <a:gd name="T54" fmla="*/ 11 w 220"/>
                <a:gd name="T55" fmla="*/ 126 h 464"/>
                <a:gd name="T56" fmla="*/ 7 w 220"/>
                <a:gd name="T57" fmla="*/ 159 h 464"/>
                <a:gd name="T58" fmla="*/ 2 w 220"/>
                <a:gd name="T59" fmla="*/ 194 h 464"/>
                <a:gd name="T60" fmla="*/ 0 w 220"/>
                <a:gd name="T61" fmla="*/ 232 h 464"/>
                <a:gd name="T62" fmla="*/ 2 w 220"/>
                <a:gd name="T63" fmla="*/ 270 h 464"/>
                <a:gd name="T64" fmla="*/ 7 w 220"/>
                <a:gd name="T65" fmla="*/ 306 h 464"/>
                <a:gd name="T66" fmla="*/ 11 w 220"/>
                <a:gd name="T67" fmla="*/ 339 h 464"/>
                <a:gd name="T68" fmla="*/ 21 w 220"/>
                <a:gd name="T69" fmla="*/ 370 h 464"/>
                <a:gd name="T70" fmla="*/ 33 w 220"/>
                <a:gd name="T71" fmla="*/ 398 h 464"/>
                <a:gd name="T72" fmla="*/ 45 w 220"/>
                <a:gd name="T73" fmla="*/ 422 h 464"/>
                <a:gd name="T74" fmla="*/ 59 w 220"/>
                <a:gd name="T75" fmla="*/ 441 h 464"/>
                <a:gd name="T76" fmla="*/ 75 w 220"/>
                <a:gd name="T77" fmla="*/ 453 h 464"/>
                <a:gd name="T78" fmla="*/ 92 w 220"/>
                <a:gd name="T79" fmla="*/ 462 h 464"/>
                <a:gd name="T80" fmla="*/ 111 w 220"/>
                <a:gd name="T81" fmla="*/ 464 h 464"/>
                <a:gd name="T82" fmla="*/ 111 w 220"/>
                <a:gd name="T83" fmla="*/ 464 h 464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20"/>
                <a:gd name="T127" fmla="*/ 0 h 464"/>
                <a:gd name="T128" fmla="*/ 220 w 220"/>
                <a:gd name="T129" fmla="*/ 464 h 464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20" h="464">
                  <a:moveTo>
                    <a:pt x="108" y="464"/>
                  </a:moveTo>
                  <a:lnTo>
                    <a:pt x="127" y="462"/>
                  </a:lnTo>
                  <a:lnTo>
                    <a:pt x="144" y="453"/>
                  </a:lnTo>
                  <a:lnTo>
                    <a:pt x="161" y="441"/>
                  </a:lnTo>
                  <a:lnTo>
                    <a:pt x="175" y="422"/>
                  </a:lnTo>
                  <a:lnTo>
                    <a:pt x="187" y="398"/>
                  </a:lnTo>
                  <a:lnTo>
                    <a:pt x="198" y="370"/>
                  </a:lnTo>
                  <a:lnTo>
                    <a:pt x="208" y="339"/>
                  </a:lnTo>
                  <a:lnTo>
                    <a:pt x="213" y="306"/>
                  </a:lnTo>
                  <a:lnTo>
                    <a:pt x="217" y="270"/>
                  </a:lnTo>
                  <a:lnTo>
                    <a:pt x="220" y="232"/>
                  </a:lnTo>
                  <a:lnTo>
                    <a:pt x="217" y="194"/>
                  </a:lnTo>
                  <a:lnTo>
                    <a:pt x="213" y="159"/>
                  </a:lnTo>
                  <a:lnTo>
                    <a:pt x="208" y="126"/>
                  </a:lnTo>
                  <a:lnTo>
                    <a:pt x="198" y="95"/>
                  </a:lnTo>
                  <a:lnTo>
                    <a:pt x="187" y="69"/>
                  </a:lnTo>
                  <a:lnTo>
                    <a:pt x="175" y="45"/>
                  </a:lnTo>
                  <a:lnTo>
                    <a:pt x="161" y="26"/>
                  </a:lnTo>
                  <a:lnTo>
                    <a:pt x="144" y="12"/>
                  </a:lnTo>
                  <a:lnTo>
                    <a:pt x="127" y="3"/>
                  </a:lnTo>
                  <a:lnTo>
                    <a:pt x="111" y="0"/>
                  </a:lnTo>
                  <a:lnTo>
                    <a:pt x="92" y="3"/>
                  </a:lnTo>
                  <a:lnTo>
                    <a:pt x="75" y="12"/>
                  </a:lnTo>
                  <a:lnTo>
                    <a:pt x="59" y="26"/>
                  </a:lnTo>
                  <a:lnTo>
                    <a:pt x="45" y="45"/>
                  </a:lnTo>
                  <a:lnTo>
                    <a:pt x="33" y="69"/>
                  </a:lnTo>
                  <a:lnTo>
                    <a:pt x="21" y="95"/>
                  </a:lnTo>
                  <a:lnTo>
                    <a:pt x="11" y="126"/>
                  </a:lnTo>
                  <a:lnTo>
                    <a:pt x="7" y="159"/>
                  </a:lnTo>
                  <a:lnTo>
                    <a:pt x="2" y="194"/>
                  </a:lnTo>
                  <a:lnTo>
                    <a:pt x="0" y="232"/>
                  </a:lnTo>
                  <a:lnTo>
                    <a:pt x="2" y="270"/>
                  </a:lnTo>
                  <a:lnTo>
                    <a:pt x="7" y="306"/>
                  </a:lnTo>
                  <a:lnTo>
                    <a:pt x="11" y="339"/>
                  </a:lnTo>
                  <a:lnTo>
                    <a:pt x="21" y="370"/>
                  </a:lnTo>
                  <a:lnTo>
                    <a:pt x="33" y="398"/>
                  </a:lnTo>
                  <a:lnTo>
                    <a:pt x="45" y="422"/>
                  </a:lnTo>
                  <a:lnTo>
                    <a:pt x="59" y="441"/>
                  </a:lnTo>
                  <a:lnTo>
                    <a:pt x="75" y="453"/>
                  </a:lnTo>
                  <a:lnTo>
                    <a:pt x="92" y="462"/>
                  </a:lnTo>
                  <a:lnTo>
                    <a:pt x="111" y="464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8" name="Rectangle 256"/>
            <p:cNvSpPr>
              <a:spLocks noChangeArrowheads="1"/>
            </p:cNvSpPr>
            <p:nvPr/>
          </p:nvSpPr>
          <p:spPr bwMode="auto">
            <a:xfrm>
              <a:off x="2831" y="290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59" name="Rectangle 257"/>
            <p:cNvSpPr>
              <a:spLocks noChangeArrowheads="1"/>
            </p:cNvSpPr>
            <p:nvPr/>
          </p:nvSpPr>
          <p:spPr bwMode="auto">
            <a:xfrm>
              <a:off x="2864" y="290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6</a:t>
              </a:r>
            </a:p>
          </p:txBody>
        </p:sp>
        <p:sp>
          <p:nvSpPr>
            <p:cNvPr id="260" name="Line 258"/>
            <p:cNvSpPr>
              <a:spLocks noChangeShapeType="1"/>
            </p:cNvSpPr>
            <p:nvPr/>
          </p:nvSpPr>
          <p:spPr bwMode="auto">
            <a:xfrm flipH="1" flipV="1">
              <a:off x="3227" y="2979"/>
              <a:ext cx="45" cy="78"/>
            </a:xfrm>
            <a:prstGeom prst="line">
              <a:avLst/>
            </a:prstGeom>
            <a:noFill/>
            <a:ln w="11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1" name="Rectangle 259"/>
            <p:cNvSpPr>
              <a:spLocks noChangeArrowheads="1"/>
            </p:cNvSpPr>
            <p:nvPr/>
          </p:nvSpPr>
          <p:spPr bwMode="auto">
            <a:xfrm>
              <a:off x="3214" y="290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262" name="Rectangle 260"/>
            <p:cNvSpPr>
              <a:spLocks noChangeArrowheads="1"/>
            </p:cNvSpPr>
            <p:nvPr/>
          </p:nvSpPr>
          <p:spPr bwMode="auto">
            <a:xfrm>
              <a:off x="3247" y="290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263" name="Rectangle 261"/>
            <p:cNvSpPr>
              <a:spLocks noChangeArrowheads="1"/>
            </p:cNvSpPr>
            <p:nvPr/>
          </p:nvSpPr>
          <p:spPr bwMode="auto">
            <a:xfrm>
              <a:off x="1662" y="2934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64" name="Rectangle 262"/>
            <p:cNvSpPr>
              <a:spLocks noChangeArrowheads="1"/>
            </p:cNvSpPr>
            <p:nvPr/>
          </p:nvSpPr>
          <p:spPr bwMode="auto">
            <a:xfrm>
              <a:off x="1677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65" name="Rectangle 263"/>
            <p:cNvSpPr>
              <a:spLocks noChangeArrowheads="1"/>
            </p:cNvSpPr>
            <p:nvPr/>
          </p:nvSpPr>
          <p:spPr bwMode="auto">
            <a:xfrm>
              <a:off x="1710" y="2934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66" name="Rectangle 264"/>
            <p:cNvSpPr>
              <a:spLocks noChangeArrowheads="1"/>
            </p:cNvSpPr>
            <p:nvPr/>
          </p:nvSpPr>
          <p:spPr bwMode="auto">
            <a:xfrm>
              <a:off x="1739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67" name="Rectangle 265"/>
            <p:cNvSpPr>
              <a:spLocks noChangeArrowheads="1"/>
            </p:cNvSpPr>
            <p:nvPr/>
          </p:nvSpPr>
          <p:spPr bwMode="auto">
            <a:xfrm>
              <a:off x="1755" y="2934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68" name="Rectangle 266"/>
            <p:cNvSpPr>
              <a:spLocks noChangeArrowheads="1"/>
            </p:cNvSpPr>
            <p:nvPr/>
          </p:nvSpPr>
          <p:spPr bwMode="auto">
            <a:xfrm>
              <a:off x="1774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69" name="Rectangle 267"/>
            <p:cNvSpPr>
              <a:spLocks noChangeArrowheads="1"/>
            </p:cNvSpPr>
            <p:nvPr/>
          </p:nvSpPr>
          <p:spPr bwMode="auto">
            <a:xfrm>
              <a:off x="1808" y="2934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70" name="Rectangle 268"/>
            <p:cNvSpPr>
              <a:spLocks noChangeArrowheads="1"/>
            </p:cNvSpPr>
            <p:nvPr/>
          </p:nvSpPr>
          <p:spPr bwMode="auto">
            <a:xfrm>
              <a:off x="1836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71" name="Rectangle 269"/>
            <p:cNvSpPr>
              <a:spLocks noChangeArrowheads="1"/>
            </p:cNvSpPr>
            <p:nvPr/>
          </p:nvSpPr>
          <p:spPr bwMode="auto">
            <a:xfrm>
              <a:off x="1852" y="2934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72" name="Rectangle 270"/>
            <p:cNvSpPr>
              <a:spLocks noChangeArrowheads="1"/>
            </p:cNvSpPr>
            <p:nvPr/>
          </p:nvSpPr>
          <p:spPr bwMode="auto">
            <a:xfrm>
              <a:off x="1867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73" name="Rectangle 271"/>
            <p:cNvSpPr>
              <a:spLocks noChangeArrowheads="1"/>
            </p:cNvSpPr>
            <p:nvPr/>
          </p:nvSpPr>
          <p:spPr bwMode="auto">
            <a:xfrm>
              <a:off x="1898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74" name="Rectangle 272"/>
            <p:cNvSpPr>
              <a:spLocks noChangeArrowheads="1"/>
            </p:cNvSpPr>
            <p:nvPr/>
          </p:nvSpPr>
          <p:spPr bwMode="auto">
            <a:xfrm>
              <a:off x="1931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75" name="Rectangle 273"/>
            <p:cNvSpPr>
              <a:spLocks noChangeArrowheads="1"/>
            </p:cNvSpPr>
            <p:nvPr/>
          </p:nvSpPr>
          <p:spPr bwMode="auto">
            <a:xfrm>
              <a:off x="1947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276" name="Rectangle 274"/>
            <p:cNvSpPr>
              <a:spLocks noChangeArrowheads="1"/>
            </p:cNvSpPr>
            <p:nvPr/>
          </p:nvSpPr>
          <p:spPr bwMode="auto">
            <a:xfrm>
              <a:off x="1964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77" name="Rectangle 275"/>
            <p:cNvSpPr>
              <a:spLocks noChangeArrowheads="1"/>
            </p:cNvSpPr>
            <p:nvPr/>
          </p:nvSpPr>
          <p:spPr bwMode="auto">
            <a:xfrm>
              <a:off x="1995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278" name="Rectangle 276"/>
            <p:cNvSpPr>
              <a:spLocks noChangeArrowheads="1"/>
            </p:cNvSpPr>
            <p:nvPr/>
          </p:nvSpPr>
          <p:spPr bwMode="auto">
            <a:xfrm>
              <a:off x="2028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79" name="Rectangle 277"/>
            <p:cNvSpPr>
              <a:spLocks noChangeArrowheads="1"/>
            </p:cNvSpPr>
            <p:nvPr/>
          </p:nvSpPr>
          <p:spPr bwMode="auto">
            <a:xfrm>
              <a:off x="2044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280" name="Rectangle 278"/>
            <p:cNvSpPr>
              <a:spLocks noChangeArrowheads="1"/>
            </p:cNvSpPr>
            <p:nvPr/>
          </p:nvSpPr>
          <p:spPr bwMode="auto">
            <a:xfrm>
              <a:off x="2061" y="293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281" name="Rectangle 279"/>
            <p:cNvSpPr>
              <a:spLocks noChangeArrowheads="1"/>
            </p:cNvSpPr>
            <p:nvPr/>
          </p:nvSpPr>
          <p:spPr bwMode="auto">
            <a:xfrm>
              <a:off x="2094" y="293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282" name="Freeform 280"/>
            <p:cNvSpPr>
              <a:spLocks noChangeArrowheads="1"/>
            </p:cNvSpPr>
            <p:nvPr/>
          </p:nvSpPr>
          <p:spPr bwMode="auto">
            <a:xfrm>
              <a:off x="3742" y="930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3 w 31"/>
                <a:gd name="T3" fmla="*/ 31 h 31"/>
                <a:gd name="T4" fmla="*/ 31 w 31"/>
                <a:gd name="T5" fmla="*/ 16 h 31"/>
                <a:gd name="T6" fmla="*/ 3 w 31"/>
                <a:gd name="T7" fmla="*/ 0 h 31"/>
                <a:gd name="T8" fmla="*/ 3 w 31"/>
                <a:gd name="T9" fmla="*/ 0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3" y="31"/>
                  </a:lnTo>
                  <a:lnTo>
                    <a:pt x="31" y="16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3" name="Freeform 281"/>
            <p:cNvSpPr>
              <a:spLocks noChangeArrowheads="1"/>
            </p:cNvSpPr>
            <p:nvPr/>
          </p:nvSpPr>
          <p:spPr bwMode="auto">
            <a:xfrm>
              <a:off x="3742" y="1280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3 w 31"/>
                <a:gd name="T3" fmla="*/ 31 h 31"/>
                <a:gd name="T4" fmla="*/ 31 w 31"/>
                <a:gd name="T5" fmla="*/ 17 h 31"/>
                <a:gd name="T6" fmla="*/ 3 w 31"/>
                <a:gd name="T7" fmla="*/ 3 h 31"/>
                <a:gd name="T8" fmla="*/ 3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3" y="31"/>
                  </a:lnTo>
                  <a:lnTo>
                    <a:pt x="31" y="17"/>
                  </a:lnTo>
                  <a:lnTo>
                    <a:pt x="3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4" name="Freeform 282"/>
            <p:cNvSpPr>
              <a:spLocks noChangeArrowheads="1"/>
            </p:cNvSpPr>
            <p:nvPr/>
          </p:nvSpPr>
          <p:spPr bwMode="auto">
            <a:xfrm>
              <a:off x="5168" y="2422"/>
              <a:ext cx="111" cy="371"/>
            </a:xfrm>
            <a:custGeom>
              <a:avLst/>
              <a:gdLst>
                <a:gd name="T0" fmla="*/ 0 w 111"/>
                <a:gd name="T1" fmla="*/ 52 h 371"/>
                <a:gd name="T2" fmla="*/ 2 w 111"/>
                <a:gd name="T3" fmla="*/ 45 h 371"/>
                <a:gd name="T4" fmla="*/ 5 w 111"/>
                <a:gd name="T5" fmla="*/ 35 h 371"/>
                <a:gd name="T6" fmla="*/ 7 w 111"/>
                <a:gd name="T7" fmla="*/ 28 h 371"/>
                <a:gd name="T8" fmla="*/ 12 w 111"/>
                <a:gd name="T9" fmla="*/ 21 h 371"/>
                <a:gd name="T10" fmla="*/ 19 w 111"/>
                <a:gd name="T11" fmla="*/ 14 h 371"/>
                <a:gd name="T12" fmla="*/ 24 w 111"/>
                <a:gd name="T13" fmla="*/ 9 h 371"/>
                <a:gd name="T14" fmla="*/ 31 w 111"/>
                <a:gd name="T15" fmla="*/ 4 h 371"/>
                <a:gd name="T16" fmla="*/ 40 w 111"/>
                <a:gd name="T17" fmla="*/ 2 h 371"/>
                <a:gd name="T18" fmla="*/ 47 w 111"/>
                <a:gd name="T19" fmla="*/ 0 h 371"/>
                <a:gd name="T20" fmla="*/ 57 w 111"/>
                <a:gd name="T21" fmla="*/ 0 h 371"/>
                <a:gd name="T22" fmla="*/ 66 w 111"/>
                <a:gd name="T23" fmla="*/ 0 h 371"/>
                <a:gd name="T24" fmla="*/ 73 w 111"/>
                <a:gd name="T25" fmla="*/ 2 h 371"/>
                <a:gd name="T26" fmla="*/ 80 w 111"/>
                <a:gd name="T27" fmla="*/ 4 h 371"/>
                <a:gd name="T28" fmla="*/ 87 w 111"/>
                <a:gd name="T29" fmla="*/ 9 h 371"/>
                <a:gd name="T30" fmla="*/ 95 w 111"/>
                <a:gd name="T31" fmla="*/ 14 h 371"/>
                <a:gd name="T32" fmla="*/ 99 w 111"/>
                <a:gd name="T33" fmla="*/ 21 h 371"/>
                <a:gd name="T34" fmla="*/ 104 w 111"/>
                <a:gd name="T35" fmla="*/ 28 h 371"/>
                <a:gd name="T36" fmla="*/ 109 w 111"/>
                <a:gd name="T37" fmla="*/ 35 h 371"/>
                <a:gd name="T38" fmla="*/ 111 w 111"/>
                <a:gd name="T39" fmla="*/ 45 h 371"/>
                <a:gd name="T40" fmla="*/ 111 w 111"/>
                <a:gd name="T41" fmla="*/ 54 h 371"/>
                <a:gd name="T42" fmla="*/ 111 w 111"/>
                <a:gd name="T43" fmla="*/ 315 h 371"/>
                <a:gd name="T44" fmla="*/ 111 w 111"/>
                <a:gd name="T45" fmla="*/ 324 h 371"/>
                <a:gd name="T46" fmla="*/ 109 w 111"/>
                <a:gd name="T47" fmla="*/ 333 h 371"/>
                <a:gd name="T48" fmla="*/ 104 w 111"/>
                <a:gd name="T49" fmla="*/ 341 h 371"/>
                <a:gd name="T50" fmla="*/ 99 w 111"/>
                <a:gd name="T51" fmla="*/ 348 h 371"/>
                <a:gd name="T52" fmla="*/ 95 w 111"/>
                <a:gd name="T53" fmla="*/ 355 h 371"/>
                <a:gd name="T54" fmla="*/ 87 w 111"/>
                <a:gd name="T55" fmla="*/ 360 h 371"/>
                <a:gd name="T56" fmla="*/ 80 w 111"/>
                <a:gd name="T57" fmla="*/ 364 h 371"/>
                <a:gd name="T58" fmla="*/ 73 w 111"/>
                <a:gd name="T59" fmla="*/ 367 h 371"/>
                <a:gd name="T60" fmla="*/ 66 w 111"/>
                <a:gd name="T61" fmla="*/ 369 h 371"/>
                <a:gd name="T62" fmla="*/ 57 w 111"/>
                <a:gd name="T63" fmla="*/ 371 h 371"/>
                <a:gd name="T64" fmla="*/ 47 w 111"/>
                <a:gd name="T65" fmla="*/ 369 h 371"/>
                <a:gd name="T66" fmla="*/ 40 w 111"/>
                <a:gd name="T67" fmla="*/ 367 h 371"/>
                <a:gd name="T68" fmla="*/ 31 w 111"/>
                <a:gd name="T69" fmla="*/ 364 h 371"/>
                <a:gd name="T70" fmla="*/ 24 w 111"/>
                <a:gd name="T71" fmla="*/ 360 h 371"/>
                <a:gd name="T72" fmla="*/ 19 w 111"/>
                <a:gd name="T73" fmla="*/ 355 h 371"/>
                <a:gd name="T74" fmla="*/ 12 w 111"/>
                <a:gd name="T75" fmla="*/ 348 h 371"/>
                <a:gd name="T76" fmla="*/ 7 w 111"/>
                <a:gd name="T77" fmla="*/ 341 h 371"/>
                <a:gd name="T78" fmla="*/ 5 w 111"/>
                <a:gd name="T79" fmla="*/ 333 h 371"/>
                <a:gd name="T80" fmla="*/ 2 w 111"/>
                <a:gd name="T81" fmla="*/ 324 h 371"/>
                <a:gd name="T82" fmla="*/ 2 w 111"/>
                <a:gd name="T83" fmla="*/ 315 h 371"/>
                <a:gd name="T84" fmla="*/ 2 w 111"/>
                <a:gd name="T85" fmla="*/ 54 h 371"/>
                <a:gd name="T86" fmla="*/ 2 w 111"/>
                <a:gd name="T87" fmla="*/ 54 h 371"/>
                <a:gd name="T88" fmla="*/ 0 w 111"/>
                <a:gd name="T89" fmla="*/ 52 h 371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11"/>
                <a:gd name="T136" fmla="*/ 0 h 371"/>
                <a:gd name="T137" fmla="*/ 111 w 111"/>
                <a:gd name="T138" fmla="*/ 371 h 371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11" h="371">
                  <a:moveTo>
                    <a:pt x="0" y="52"/>
                  </a:moveTo>
                  <a:lnTo>
                    <a:pt x="2" y="45"/>
                  </a:lnTo>
                  <a:lnTo>
                    <a:pt x="5" y="35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9" y="14"/>
                  </a:lnTo>
                  <a:lnTo>
                    <a:pt x="24" y="9"/>
                  </a:lnTo>
                  <a:lnTo>
                    <a:pt x="31" y="4"/>
                  </a:lnTo>
                  <a:lnTo>
                    <a:pt x="40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6" y="0"/>
                  </a:lnTo>
                  <a:lnTo>
                    <a:pt x="73" y="2"/>
                  </a:lnTo>
                  <a:lnTo>
                    <a:pt x="80" y="4"/>
                  </a:lnTo>
                  <a:lnTo>
                    <a:pt x="87" y="9"/>
                  </a:lnTo>
                  <a:lnTo>
                    <a:pt x="95" y="14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9" y="35"/>
                  </a:lnTo>
                  <a:lnTo>
                    <a:pt x="111" y="45"/>
                  </a:lnTo>
                  <a:lnTo>
                    <a:pt x="111" y="54"/>
                  </a:lnTo>
                  <a:lnTo>
                    <a:pt x="111" y="315"/>
                  </a:lnTo>
                  <a:lnTo>
                    <a:pt x="111" y="324"/>
                  </a:lnTo>
                  <a:lnTo>
                    <a:pt x="109" y="333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7" y="360"/>
                  </a:lnTo>
                  <a:lnTo>
                    <a:pt x="80" y="364"/>
                  </a:lnTo>
                  <a:lnTo>
                    <a:pt x="73" y="367"/>
                  </a:lnTo>
                  <a:lnTo>
                    <a:pt x="66" y="369"/>
                  </a:lnTo>
                  <a:lnTo>
                    <a:pt x="57" y="371"/>
                  </a:lnTo>
                  <a:lnTo>
                    <a:pt x="47" y="369"/>
                  </a:lnTo>
                  <a:lnTo>
                    <a:pt x="40" y="367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9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3"/>
                  </a:lnTo>
                  <a:lnTo>
                    <a:pt x="2" y="324"/>
                  </a:lnTo>
                  <a:lnTo>
                    <a:pt x="2" y="315"/>
                  </a:lnTo>
                  <a:lnTo>
                    <a:pt x="2" y="54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5" name="Freeform 283"/>
            <p:cNvSpPr>
              <a:spLocks noChangeArrowheads="1"/>
            </p:cNvSpPr>
            <p:nvPr/>
          </p:nvSpPr>
          <p:spPr bwMode="auto">
            <a:xfrm>
              <a:off x="5168" y="2422"/>
              <a:ext cx="111" cy="371"/>
            </a:xfrm>
            <a:custGeom>
              <a:avLst/>
              <a:gdLst>
                <a:gd name="T0" fmla="*/ 0 w 111"/>
                <a:gd name="T1" fmla="*/ 52 h 371"/>
                <a:gd name="T2" fmla="*/ 2 w 111"/>
                <a:gd name="T3" fmla="*/ 45 h 371"/>
                <a:gd name="T4" fmla="*/ 5 w 111"/>
                <a:gd name="T5" fmla="*/ 35 h 371"/>
                <a:gd name="T6" fmla="*/ 7 w 111"/>
                <a:gd name="T7" fmla="*/ 28 h 371"/>
                <a:gd name="T8" fmla="*/ 12 w 111"/>
                <a:gd name="T9" fmla="*/ 21 h 371"/>
                <a:gd name="T10" fmla="*/ 19 w 111"/>
                <a:gd name="T11" fmla="*/ 14 h 371"/>
                <a:gd name="T12" fmla="*/ 24 w 111"/>
                <a:gd name="T13" fmla="*/ 9 h 371"/>
                <a:gd name="T14" fmla="*/ 31 w 111"/>
                <a:gd name="T15" fmla="*/ 4 h 371"/>
                <a:gd name="T16" fmla="*/ 40 w 111"/>
                <a:gd name="T17" fmla="*/ 2 h 371"/>
                <a:gd name="T18" fmla="*/ 47 w 111"/>
                <a:gd name="T19" fmla="*/ 0 h 371"/>
                <a:gd name="T20" fmla="*/ 57 w 111"/>
                <a:gd name="T21" fmla="*/ 0 h 371"/>
                <a:gd name="T22" fmla="*/ 66 w 111"/>
                <a:gd name="T23" fmla="*/ 0 h 371"/>
                <a:gd name="T24" fmla="*/ 73 w 111"/>
                <a:gd name="T25" fmla="*/ 2 h 371"/>
                <a:gd name="T26" fmla="*/ 80 w 111"/>
                <a:gd name="T27" fmla="*/ 4 h 371"/>
                <a:gd name="T28" fmla="*/ 87 w 111"/>
                <a:gd name="T29" fmla="*/ 9 h 371"/>
                <a:gd name="T30" fmla="*/ 95 w 111"/>
                <a:gd name="T31" fmla="*/ 14 h 371"/>
                <a:gd name="T32" fmla="*/ 99 w 111"/>
                <a:gd name="T33" fmla="*/ 21 h 371"/>
                <a:gd name="T34" fmla="*/ 104 w 111"/>
                <a:gd name="T35" fmla="*/ 28 h 371"/>
                <a:gd name="T36" fmla="*/ 109 w 111"/>
                <a:gd name="T37" fmla="*/ 35 h 371"/>
                <a:gd name="T38" fmla="*/ 111 w 111"/>
                <a:gd name="T39" fmla="*/ 45 h 371"/>
                <a:gd name="T40" fmla="*/ 111 w 111"/>
                <a:gd name="T41" fmla="*/ 54 h 371"/>
                <a:gd name="T42" fmla="*/ 111 w 111"/>
                <a:gd name="T43" fmla="*/ 315 h 371"/>
                <a:gd name="T44" fmla="*/ 111 w 111"/>
                <a:gd name="T45" fmla="*/ 324 h 371"/>
                <a:gd name="T46" fmla="*/ 109 w 111"/>
                <a:gd name="T47" fmla="*/ 333 h 371"/>
                <a:gd name="T48" fmla="*/ 104 w 111"/>
                <a:gd name="T49" fmla="*/ 341 h 371"/>
                <a:gd name="T50" fmla="*/ 99 w 111"/>
                <a:gd name="T51" fmla="*/ 348 h 371"/>
                <a:gd name="T52" fmla="*/ 95 w 111"/>
                <a:gd name="T53" fmla="*/ 355 h 371"/>
                <a:gd name="T54" fmla="*/ 87 w 111"/>
                <a:gd name="T55" fmla="*/ 360 h 371"/>
                <a:gd name="T56" fmla="*/ 80 w 111"/>
                <a:gd name="T57" fmla="*/ 364 h 371"/>
                <a:gd name="T58" fmla="*/ 73 w 111"/>
                <a:gd name="T59" fmla="*/ 367 h 371"/>
                <a:gd name="T60" fmla="*/ 66 w 111"/>
                <a:gd name="T61" fmla="*/ 369 h 371"/>
                <a:gd name="T62" fmla="*/ 57 w 111"/>
                <a:gd name="T63" fmla="*/ 371 h 371"/>
                <a:gd name="T64" fmla="*/ 47 w 111"/>
                <a:gd name="T65" fmla="*/ 369 h 371"/>
                <a:gd name="T66" fmla="*/ 40 w 111"/>
                <a:gd name="T67" fmla="*/ 367 h 371"/>
                <a:gd name="T68" fmla="*/ 31 w 111"/>
                <a:gd name="T69" fmla="*/ 364 h 371"/>
                <a:gd name="T70" fmla="*/ 24 w 111"/>
                <a:gd name="T71" fmla="*/ 360 h 371"/>
                <a:gd name="T72" fmla="*/ 19 w 111"/>
                <a:gd name="T73" fmla="*/ 355 h 371"/>
                <a:gd name="T74" fmla="*/ 12 w 111"/>
                <a:gd name="T75" fmla="*/ 348 h 371"/>
                <a:gd name="T76" fmla="*/ 7 w 111"/>
                <a:gd name="T77" fmla="*/ 341 h 371"/>
                <a:gd name="T78" fmla="*/ 5 w 111"/>
                <a:gd name="T79" fmla="*/ 333 h 371"/>
                <a:gd name="T80" fmla="*/ 2 w 111"/>
                <a:gd name="T81" fmla="*/ 324 h 371"/>
                <a:gd name="T82" fmla="*/ 2 w 111"/>
                <a:gd name="T83" fmla="*/ 315 h 371"/>
                <a:gd name="T84" fmla="*/ 2 w 111"/>
                <a:gd name="T85" fmla="*/ 54 h 371"/>
                <a:gd name="T86" fmla="*/ 2 w 111"/>
                <a:gd name="T87" fmla="*/ 54 h 371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1"/>
                <a:gd name="T133" fmla="*/ 0 h 371"/>
                <a:gd name="T134" fmla="*/ 111 w 111"/>
                <a:gd name="T135" fmla="*/ 371 h 371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1" h="371">
                  <a:moveTo>
                    <a:pt x="0" y="52"/>
                  </a:moveTo>
                  <a:lnTo>
                    <a:pt x="2" y="45"/>
                  </a:lnTo>
                  <a:lnTo>
                    <a:pt x="5" y="35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9" y="14"/>
                  </a:lnTo>
                  <a:lnTo>
                    <a:pt x="24" y="9"/>
                  </a:lnTo>
                  <a:lnTo>
                    <a:pt x="31" y="4"/>
                  </a:lnTo>
                  <a:lnTo>
                    <a:pt x="40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6" y="0"/>
                  </a:lnTo>
                  <a:lnTo>
                    <a:pt x="73" y="2"/>
                  </a:lnTo>
                  <a:lnTo>
                    <a:pt x="80" y="4"/>
                  </a:lnTo>
                  <a:lnTo>
                    <a:pt x="87" y="9"/>
                  </a:lnTo>
                  <a:lnTo>
                    <a:pt x="95" y="14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9" y="35"/>
                  </a:lnTo>
                  <a:lnTo>
                    <a:pt x="111" y="45"/>
                  </a:lnTo>
                  <a:lnTo>
                    <a:pt x="111" y="54"/>
                  </a:lnTo>
                  <a:lnTo>
                    <a:pt x="111" y="315"/>
                  </a:lnTo>
                  <a:lnTo>
                    <a:pt x="111" y="324"/>
                  </a:lnTo>
                  <a:lnTo>
                    <a:pt x="109" y="333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7" y="360"/>
                  </a:lnTo>
                  <a:lnTo>
                    <a:pt x="80" y="364"/>
                  </a:lnTo>
                  <a:lnTo>
                    <a:pt x="73" y="367"/>
                  </a:lnTo>
                  <a:lnTo>
                    <a:pt x="66" y="369"/>
                  </a:lnTo>
                  <a:lnTo>
                    <a:pt x="57" y="371"/>
                  </a:lnTo>
                  <a:lnTo>
                    <a:pt x="47" y="369"/>
                  </a:lnTo>
                  <a:lnTo>
                    <a:pt x="40" y="367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9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3"/>
                  </a:lnTo>
                  <a:lnTo>
                    <a:pt x="2" y="324"/>
                  </a:lnTo>
                  <a:lnTo>
                    <a:pt x="2" y="315"/>
                  </a:lnTo>
                  <a:lnTo>
                    <a:pt x="2" y="54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6" name="Rectangle 284"/>
            <p:cNvSpPr>
              <a:spLocks noChangeArrowheads="1"/>
            </p:cNvSpPr>
            <p:nvPr/>
          </p:nvSpPr>
          <p:spPr bwMode="auto">
            <a:xfrm>
              <a:off x="5192" y="270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287" name="Freeform 285"/>
            <p:cNvSpPr>
              <a:spLocks noChangeArrowheads="1"/>
            </p:cNvSpPr>
            <p:nvPr/>
          </p:nvSpPr>
          <p:spPr bwMode="auto">
            <a:xfrm>
              <a:off x="3534" y="2391"/>
              <a:ext cx="111" cy="369"/>
            </a:xfrm>
            <a:custGeom>
              <a:avLst/>
              <a:gdLst>
                <a:gd name="T0" fmla="*/ 0 w 111"/>
                <a:gd name="T1" fmla="*/ 52 h 369"/>
                <a:gd name="T2" fmla="*/ 2 w 111"/>
                <a:gd name="T3" fmla="*/ 45 h 369"/>
                <a:gd name="T4" fmla="*/ 5 w 111"/>
                <a:gd name="T5" fmla="*/ 35 h 369"/>
                <a:gd name="T6" fmla="*/ 7 w 111"/>
                <a:gd name="T7" fmla="*/ 28 h 369"/>
                <a:gd name="T8" fmla="*/ 12 w 111"/>
                <a:gd name="T9" fmla="*/ 21 h 369"/>
                <a:gd name="T10" fmla="*/ 16 w 111"/>
                <a:gd name="T11" fmla="*/ 14 h 369"/>
                <a:gd name="T12" fmla="*/ 24 w 111"/>
                <a:gd name="T13" fmla="*/ 9 h 369"/>
                <a:gd name="T14" fmla="*/ 31 w 111"/>
                <a:gd name="T15" fmla="*/ 5 h 369"/>
                <a:gd name="T16" fmla="*/ 38 w 111"/>
                <a:gd name="T17" fmla="*/ 2 h 369"/>
                <a:gd name="T18" fmla="*/ 47 w 111"/>
                <a:gd name="T19" fmla="*/ 0 h 369"/>
                <a:gd name="T20" fmla="*/ 57 w 111"/>
                <a:gd name="T21" fmla="*/ 0 h 369"/>
                <a:gd name="T22" fmla="*/ 64 w 111"/>
                <a:gd name="T23" fmla="*/ 0 h 369"/>
                <a:gd name="T24" fmla="*/ 73 w 111"/>
                <a:gd name="T25" fmla="*/ 2 h 369"/>
                <a:gd name="T26" fmla="*/ 80 w 111"/>
                <a:gd name="T27" fmla="*/ 5 h 369"/>
                <a:gd name="T28" fmla="*/ 88 w 111"/>
                <a:gd name="T29" fmla="*/ 9 h 369"/>
                <a:gd name="T30" fmla="*/ 95 w 111"/>
                <a:gd name="T31" fmla="*/ 14 h 369"/>
                <a:gd name="T32" fmla="*/ 99 w 111"/>
                <a:gd name="T33" fmla="*/ 21 h 369"/>
                <a:gd name="T34" fmla="*/ 104 w 111"/>
                <a:gd name="T35" fmla="*/ 28 h 369"/>
                <a:gd name="T36" fmla="*/ 106 w 111"/>
                <a:gd name="T37" fmla="*/ 35 h 369"/>
                <a:gd name="T38" fmla="*/ 109 w 111"/>
                <a:gd name="T39" fmla="*/ 45 h 369"/>
                <a:gd name="T40" fmla="*/ 111 w 111"/>
                <a:gd name="T41" fmla="*/ 54 h 369"/>
                <a:gd name="T42" fmla="*/ 111 w 111"/>
                <a:gd name="T43" fmla="*/ 315 h 369"/>
                <a:gd name="T44" fmla="*/ 109 w 111"/>
                <a:gd name="T45" fmla="*/ 324 h 369"/>
                <a:gd name="T46" fmla="*/ 106 w 111"/>
                <a:gd name="T47" fmla="*/ 334 h 369"/>
                <a:gd name="T48" fmla="*/ 104 w 111"/>
                <a:gd name="T49" fmla="*/ 341 h 369"/>
                <a:gd name="T50" fmla="*/ 99 w 111"/>
                <a:gd name="T51" fmla="*/ 348 h 369"/>
                <a:gd name="T52" fmla="*/ 95 w 111"/>
                <a:gd name="T53" fmla="*/ 355 h 369"/>
                <a:gd name="T54" fmla="*/ 88 w 111"/>
                <a:gd name="T55" fmla="*/ 360 h 369"/>
                <a:gd name="T56" fmla="*/ 80 w 111"/>
                <a:gd name="T57" fmla="*/ 364 h 369"/>
                <a:gd name="T58" fmla="*/ 73 w 111"/>
                <a:gd name="T59" fmla="*/ 367 h 369"/>
                <a:gd name="T60" fmla="*/ 64 w 111"/>
                <a:gd name="T61" fmla="*/ 369 h 369"/>
                <a:gd name="T62" fmla="*/ 57 w 111"/>
                <a:gd name="T63" fmla="*/ 369 h 369"/>
                <a:gd name="T64" fmla="*/ 47 w 111"/>
                <a:gd name="T65" fmla="*/ 369 h 369"/>
                <a:gd name="T66" fmla="*/ 38 w 111"/>
                <a:gd name="T67" fmla="*/ 367 h 369"/>
                <a:gd name="T68" fmla="*/ 31 w 111"/>
                <a:gd name="T69" fmla="*/ 364 h 369"/>
                <a:gd name="T70" fmla="*/ 24 w 111"/>
                <a:gd name="T71" fmla="*/ 360 h 369"/>
                <a:gd name="T72" fmla="*/ 16 w 111"/>
                <a:gd name="T73" fmla="*/ 355 h 369"/>
                <a:gd name="T74" fmla="*/ 12 w 111"/>
                <a:gd name="T75" fmla="*/ 348 h 369"/>
                <a:gd name="T76" fmla="*/ 7 w 111"/>
                <a:gd name="T77" fmla="*/ 341 h 369"/>
                <a:gd name="T78" fmla="*/ 5 w 111"/>
                <a:gd name="T79" fmla="*/ 334 h 369"/>
                <a:gd name="T80" fmla="*/ 2 w 111"/>
                <a:gd name="T81" fmla="*/ 324 h 369"/>
                <a:gd name="T82" fmla="*/ 2 w 111"/>
                <a:gd name="T83" fmla="*/ 315 h 369"/>
                <a:gd name="T84" fmla="*/ 2 w 111"/>
                <a:gd name="T85" fmla="*/ 54 h 369"/>
                <a:gd name="T86" fmla="*/ 2 w 111"/>
                <a:gd name="T87" fmla="*/ 54 h 369"/>
                <a:gd name="T88" fmla="*/ 0 w 111"/>
                <a:gd name="T89" fmla="*/ 52 h 369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11"/>
                <a:gd name="T136" fmla="*/ 0 h 369"/>
                <a:gd name="T137" fmla="*/ 111 w 111"/>
                <a:gd name="T138" fmla="*/ 369 h 369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11" h="369">
                  <a:moveTo>
                    <a:pt x="0" y="52"/>
                  </a:moveTo>
                  <a:lnTo>
                    <a:pt x="2" y="45"/>
                  </a:lnTo>
                  <a:lnTo>
                    <a:pt x="5" y="35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4"/>
                  </a:lnTo>
                  <a:lnTo>
                    <a:pt x="24" y="9"/>
                  </a:lnTo>
                  <a:lnTo>
                    <a:pt x="31" y="5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5"/>
                  </a:lnTo>
                  <a:lnTo>
                    <a:pt x="88" y="9"/>
                  </a:lnTo>
                  <a:lnTo>
                    <a:pt x="95" y="14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6" y="35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15"/>
                  </a:lnTo>
                  <a:lnTo>
                    <a:pt x="109" y="324"/>
                  </a:lnTo>
                  <a:lnTo>
                    <a:pt x="106" y="334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8" y="360"/>
                  </a:lnTo>
                  <a:lnTo>
                    <a:pt x="80" y="364"/>
                  </a:lnTo>
                  <a:lnTo>
                    <a:pt x="73" y="367"/>
                  </a:lnTo>
                  <a:lnTo>
                    <a:pt x="64" y="369"/>
                  </a:lnTo>
                  <a:lnTo>
                    <a:pt x="57" y="369"/>
                  </a:lnTo>
                  <a:lnTo>
                    <a:pt x="47" y="369"/>
                  </a:lnTo>
                  <a:lnTo>
                    <a:pt x="38" y="367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6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4"/>
                  </a:lnTo>
                  <a:lnTo>
                    <a:pt x="2" y="324"/>
                  </a:lnTo>
                  <a:lnTo>
                    <a:pt x="2" y="315"/>
                  </a:lnTo>
                  <a:lnTo>
                    <a:pt x="2" y="54"/>
                  </a:lnTo>
                  <a:lnTo>
                    <a:pt x="0" y="5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8" name="Freeform 286"/>
            <p:cNvSpPr>
              <a:spLocks noChangeArrowheads="1"/>
            </p:cNvSpPr>
            <p:nvPr/>
          </p:nvSpPr>
          <p:spPr bwMode="auto">
            <a:xfrm>
              <a:off x="3534" y="2391"/>
              <a:ext cx="111" cy="369"/>
            </a:xfrm>
            <a:custGeom>
              <a:avLst/>
              <a:gdLst>
                <a:gd name="T0" fmla="*/ 0 w 111"/>
                <a:gd name="T1" fmla="*/ 52 h 369"/>
                <a:gd name="T2" fmla="*/ 2 w 111"/>
                <a:gd name="T3" fmla="*/ 45 h 369"/>
                <a:gd name="T4" fmla="*/ 5 w 111"/>
                <a:gd name="T5" fmla="*/ 35 h 369"/>
                <a:gd name="T6" fmla="*/ 7 w 111"/>
                <a:gd name="T7" fmla="*/ 28 h 369"/>
                <a:gd name="T8" fmla="*/ 12 w 111"/>
                <a:gd name="T9" fmla="*/ 21 h 369"/>
                <a:gd name="T10" fmla="*/ 16 w 111"/>
                <a:gd name="T11" fmla="*/ 14 h 369"/>
                <a:gd name="T12" fmla="*/ 24 w 111"/>
                <a:gd name="T13" fmla="*/ 9 h 369"/>
                <a:gd name="T14" fmla="*/ 31 w 111"/>
                <a:gd name="T15" fmla="*/ 5 h 369"/>
                <a:gd name="T16" fmla="*/ 38 w 111"/>
                <a:gd name="T17" fmla="*/ 2 h 369"/>
                <a:gd name="T18" fmla="*/ 47 w 111"/>
                <a:gd name="T19" fmla="*/ 0 h 369"/>
                <a:gd name="T20" fmla="*/ 57 w 111"/>
                <a:gd name="T21" fmla="*/ 0 h 369"/>
                <a:gd name="T22" fmla="*/ 64 w 111"/>
                <a:gd name="T23" fmla="*/ 0 h 369"/>
                <a:gd name="T24" fmla="*/ 73 w 111"/>
                <a:gd name="T25" fmla="*/ 2 h 369"/>
                <a:gd name="T26" fmla="*/ 80 w 111"/>
                <a:gd name="T27" fmla="*/ 5 h 369"/>
                <a:gd name="T28" fmla="*/ 88 w 111"/>
                <a:gd name="T29" fmla="*/ 9 h 369"/>
                <a:gd name="T30" fmla="*/ 95 w 111"/>
                <a:gd name="T31" fmla="*/ 14 h 369"/>
                <a:gd name="T32" fmla="*/ 99 w 111"/>
                <a:gd name="T33" fmla="*/ 21 h 369"/>
                <a:gd name="T34" fmla="*/ 104 w 111"/>
                <a:gd name="T35" fmla="*/ 28 h 369"/>
                <a:gd name="T36" fmla="*/ 106 w 111"/>
                <a:gd name="T37" fmla="*/ 35 h 369"/>
                <a:gd name="T38" fmla="*/ 109 w 111"/>
                <a:gd name="T39" fmla="*/ 45 h 369"/>
                <a:gd name="T40" fmla="*/ 111 w 111"/>
                <a:gd name="T41" fmla="*/ 54 h 369"/>
                <a:gd name="T42" fmla="*/ 111 w 111"/>
                <a:gd name="T43" fmla="*/ 315 h 369"/>
                <a:gd name="T44" fmla="*/ 109 w 111"/>
                <a:gd name="T45" fmla="*/ 324 h 369"/>
                <a:gd name="T46" fmla="*/ 106 w 111"/>
                <a:gd name="T47" fmla="*/ 334 h 369"/>
                <a:gd name="T48" fmla="*/ 104 w 111"/>
                <a:gd name="T49" fmla="*/ 341 h 369"/>
                <a:gd name="T50" fmla="*/ 99 w 111"/>
                <a:gd name="T51" fmla="*/ 348 h 369"/>
                <a:gd name="T52" fmla="*/ 95 w 111"/>
                <a:gd name="T53" fmla="*/ 355 h 369"/>
                <a:gd name="T54" fmla="*/ 88 w 111"/>
                <a:gd name="T55" fmla="*/ 360 h 369"/>
                <a:gd name="T56" fmla="*/ 80 w 111"/>
                <a:gd name="T57" fmla="*/ 364 h 369"/>
                <a:gd name="T58" fmla="*/ 73 w 111"/>
                <a:gd name="T59" fmla="*/ 367 h 369"/>
                <a:gd name="T60" fmla="*/ 64 w 111"/>
                <a:gd name="T61" fmla="*/ 369 h 369"/>
                <a:gd name="T62" fmla="*/ 57 w 111"/>
                <a:gd name="T63" fmla="*/ 369 h 369"/>
                <a:gd name="T64" fmla="*/ 47 w 111"/>
                <a:gd name="T65" fmla="*/ 369 h 369"/>
                <a:gd name="T66" fmla="*/ 38 w 111"/>
                <a:gd name="T67" fmla="*/ 367 h 369"/>
                <a:gd name="T68" fmla="*/ 31 w 111"/>
                <a:gd name="T69" fmla="*/ 364 h 369"/>
                <a:gd name="T70" fmla="*/ 24 w 111"/>
                <a:gd name="T71" fmla="*/ 360 h 369"/>
                <a:gd name="T72" fmla="*/ 16 w 111"/>
                <a:gd name="T73" fmla="*/ 355 h 369"/>
                <a:gd name="T74" fmla="*/ 12 w 111"/>
                <a:gd name="T75" fmla="*/ 348 h 369"/>
                <a:gd name="T76" fmla="*/ 7 w 111"/>
                <a:gd name="T77" fmla="*/ 341 h 369"/>
                <a:gd name="T78" fmla="*/ 5 w 111"/>
                <a:gd name="T79" fmla="*/ 334 h 369"/>
                <a:gd name="T80" fmla="*/ 2 w 111"/>
                <a:gd name="T81" fmla="*/ 324 h 369"/>
                <a:gd name="T82" fmla="*/ 2 w 111"/>
                <a:gd name="T83" fmla="*/ 315 h 369"/>
                <a:gd name="T84" fmla="*/ 2 w 111"/>
                <a:gd name="T85" fmla="*/ 54 h 369"/>
                <a:gd name="T86" fmla="*/ 2 w 111"/>
                <a:gd name="T87" fmla="*/ 54 h 369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1"/>
                <a:gd name="T133" fmla="*/ 0 h 369"/>
                <a:gd name="T134" fmla="*/ 111 w 111"/>
                <a:gd name="T135" fmla="*/ 369 h 369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1" h="369">
                  <a:moveTo>
                    <a:pt x="0" y="52"/>
                  </a:moveTo>
                  <a:lnTo>
                    <a:pt x="2" y="45"/>
                  </a:lnTo>
                  <a:lnTo>
                    <a:pt x="5" y="35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4"/>
                  </a:lnTo>
                  <a:lnTo>
                    <a:pt x="24" y="9"/>
                  </a:lnTo>
                  <a:lnTo>
                    <a:pt x="31" y="5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5"/>
                  </a:lnTo>
                  <a:lnTo>
                    <a:pt x="88" y="9"/>
                  </a:lnTo>
                  <a:lnTo>
                    <a:pt x="95" y="14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6" y="35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15"/>
                  </a:lnTo>
                  <a:lnTo>
                    <a:pt x="109" y="324"/>
                  </a:lnTo>
                  <a:lnTo>
                    <a:pt x="106" y="334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8" y="360"/>
                  </a:lnTo>
                  <a:lnTo>
                    <a:pt x="80" y="364"/>
                  </a:lnTo>
                  <a:lnTo>
                    <a:pt x="73" y="367"/>
                  </a:lnTo>
                  <a:lnTo>
                    <a:pt x="64" y="369"/>
                  </a:lnTo>
                  <a:lnTo>
                    <a:pt x="57" y="369"/>
                  </a:lnTo>
                  <a:lnTo>
                    <a:pt x="47" y="369"/>
                  </a:lnTo>
                  <a:lnTo>
                    <a:pt x="38" y="367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6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4"/>
                  </a:lnTo>
                  <a:lnTo>
                    <a:pt x="2" y="324"/>
                  </a:lnTo>
                  <a:lnTo>
                    <a:pt x="2" y="315"/>
                  </a:lnTo>
                  <a:lnTo>
                    <a:pt x="2" y="54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9" name="Rectangle 287"/>
            <p:cNvSpPr>
              <a:spLocks noChangeArrowheads="1"/>
            </p:cNvSpPr>
            <p:nvPr/>
          </p:nvSpPr>
          <p:spPr bwMode="auto">
            <a:xfrm>
              <a:off x="3555" y="241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290" name="Freeform 288"/>
            <p:cNvSpPr>
              <a:spLocks noChangeArrowheads="1"/>
            </p:cNvSpPr>
            <p:nvPr/>
          </p:nvSpPr>
          <p:spPr bwMode="auto">
            <a:xfrm>
              <a:off x="2241" y="2346"/>
              <a:ext cx="111" cy="372"/>
            </a:xfrm>
            <a:custGeom>
              <a:avLst/>
              <a:gdLst>
                <a:gd name="T0" fmla="*/ 0 w 111"/>
                <a:gd name="T1" fmla="*/ 54 h 372"/>
                <a:gd name="T2" fmla="*/ 2 w 111"/>
                <a:gd name="T3" fmla="*/ 45 h 372"/>
                <a:gd name="T4" fmla="*/ 5 w 111"/>
                <a:gd name="T5" fmla="*/ 38 h 372"/>
                <a:gd name="T6" fmla="*/ 7 w 111"/>
                <a:gd name="T7" fmla="*/ 28 h 372"/>
                <a:gd name="T8" fmla="*/ 12 w 111"/>
                <a:gd name="T9" fmla="*/ 21 h 372"/>
                <a:gd name="T10" fmla="*/ 16 w 111"/>
                <a:gd name="T11" fmla="*/ 16 h 372"/>
                <a:gd name="T12" fmla="*/ 24 w 111"/>
                <a:gd name="T13" fmla="*/ 9 h 372"/>
                <a:gd name="T14" fmla="*/ 31 w 111"/>
                <a:gd name="T15" fmla="*/ 7 h 372"/>
                <a:gd name="T16" fmla="*/ 38 w 111"/>
                <a:gd name="T17" fmla="*/ 2 h 372"/>
                <a:gd name="T18" fmla="*/ 47 w 111"/>
                <a:gd name="T19" fmla="*/ 0 h 372"/>
                <a:gd name="T20" fmla="*/ 57 w 111"/>
                <a:gd name="T21" fmla="*/ 0 h 372"/>
                <a:gd name="T22" fmla="*/ 64 w 111"/>
                <a:gd name="T23" fmla="*/ 0 h 372"/>
                <a:gd name="T24" fmla="*/ 73 w 111"/>
                <a:gd name="T25" fmla="*/ 2 h 372"/>
                <a:gd name="T26" fmla="*/ 80 w 111"/>
                <a:gd name="T27" fmla="*/ 7 h 372"/>
                <a:gd name="T28" fmla="*/ 88 w 111"/>
                <a:gd name="T29" fmla="*/ 9 h 372"/>
                <a:gd name="T30" fmla="*/ 95 w 111"/>
                <a:gd name="T31" fmla="*/ 16 h 372"/>
                <a:gd name="T32" fmla="*/ 99 w 111"/>
                <a:gd name="T33" fmla="*/ 21 h 372"/>
                <a:gd name="T34" fmla="*/ 104 w 111"/>
                <a:gd name="T35" fmla="*/ 28 h 372"/>
                <a:gd name="T36" fmla="*/ 109 w 111"/>
                <a:gd name="T37" fmla="*/ 38 h 372"/>
                <a:gd name="T38" fmla="*/ 109 w 111"/>
                <a:gd name="T39" fmla="*/ 45 h 372"/>
                <a:gd name="T40" fmla="*/ 111 w 111"/>
                <a:gd name="T41" fmla="*/ 54 h 372"/>
                <a:gd name="T42" fmla="*/ 111 w 111"/>
                <a:gd name="T43" fmla="*/ 317 h 372"/>
                <a:gd name="T44" fmla="*/ 109 w 111"/>
                <a:gd name="T45" fmla="*/ 327 h 372"/>
                <a:gd name="T46" fmla="*/ 109 w 111"/>
                <a:gd name="T47" fmla="*/ 334 h 372"/>
                <a:gd name="T48" fmla="*/ 104 w 111"/>
                <a:gd name="T49" fmla="*/ 341 h 372"/>
                <a:gd name="T50" fmla="*/ 99 w 111"/>
                <a:gd name="T51" fmla="*/ 348 h 372"/>
                <a:gd name="T52" fmla="*/ 95 w 111"/>
                <a:gd name="T53" fmla="*/ 355 h 372"/>
                <a:gd name="T54" fmla="*/ 88 w 111"/>
                <a:gd name="T55" fmla="*/ 360 h 372"/>
                <a:gd name="T56" fmla="*/ 80 w 111"/>
                <a:gd name="T57" fmla="*/ 364 h 372"/>
                <a:gd name="T58" fmla="*/ 73 w 111"/>
                <a:gd name="T59" fmla="*/ 369 h 372"/>
                <a:gd name="T60" fmla="*/ 64 w 111"/>
                <a:gd name="T61" fmla="*/ 372 h 372"/>
                <a:gd name="T62" fmla="*/ 57 w 111"/>
                <a:gd name="T63" fmla="*/ 372 h 372"/>
                <a:gd name="T64" fmla="*/ 47 w 111"/>
                <a:gd name="T65" fmla="*/ 372 h 372"/>
                <a:gd name="T66" fmla="*/ 38 w 111"/>
                <a:gd name="T67" fmla="*/ 369 h 372"/>
                <a:gd name="T68" fmla="*/ 31 w 111"/>
                <a:gd name="T69" fmla="*/ 364 h 372"/>
                <a:gd name="T70" fmla="*/ 24 w 111"/>
                <a:gd name="T71" fmla="*/ 360 h 372"/>
                <a:gd name="T72" fmla="*/ 16 w 111"/>
                <a:gd name="T73" fmla="*/ 355 h 372"/>
                <a:gd name="T74" fmla="*/ 12 w 111"/>
                <a:gd name="T75" fmla="*/ 348 h 372"/>
                <a:gd name="T76" fmla="*/ 7 w 111"/>
                <a:gd name="T77" fmla="*/ 341 h 372"/>
                <a:gd name="T78" fmla="*/ 5 w 111"/>
                <a:gd name="T79" fmla="*/ 334 h 372"/>
                <a:gd name="T80" fmla="*/ 2 w 111"/>
                <a:gd name="T81" fmla="*/ 327 h 372"/>
                <a:gd name="T82" fmla="*/ 2 w 111"/>
                <a:gd name="T83" fmla="*/ 317 h 372"/>
                <a:gd name="T84" fmla="*/ 2 w 111"/>
                <a:gd name="T85" fmla="*/ 54 h 372"/>
                <a:gd name="T86" fmla="*/ 2 w 111"/>
                <a:gd name="T87" fmla="*/ 54 h 372"/>
                <a:gd name="T88" fmla="*/ 0 w 111"/>
                <a:gd name="T89" fmla="*/ 54 h 372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w 111"/>
                <a:gd name="T136" fmla="*/ 0 h 372"/>
                <a:gd name="T137" fmla="*/ 111 w 111"/>
                <a:gd name="T138" fmla="*/ 372 h 372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T135" t="T136" r="T137" b="T138"/>
              <a:pathLst>
                <a:path w="111" h="372">
                  <a:moveTo>
                    <a:pt x="0" y="54"/>
                  </a:moveTo>
                  <a:lnTo>
                    <a:pt x="2" y="45"/>
                  </a:lnTo>
                  <a:lnTo>
                    <a:pt x="5" y="38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6"/>
                  </a:lnTo>
                  <a:lnTo>
                    <a:pt x="24" y="9"/>
                  </a:lnTo>
                  <a:lnTo>
                    <a:pt x="31" y="7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9"/>
                  </a:lnTo>
                  <a:lnTo>
                    <a:pt x="95" y="16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9" y="38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17"/>
                  </a:lnTo>
                  <a:lnTo>
                    <a:pt x="109" y="327"/>
                  </a:lnTo>
                  <a:lnTo>
                    <a:pt x="109" y="334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8" y="360"/>
                  </a:lnTo>
                  <a:lnTo>
                    <a:pt x="80" y="364"/>
                  </a:lnTo>
                  <a:lnTo>
                    <a:pt x="73" y="369"/>
                  </a:lnTo>
                  <a:lnTo>
                    <a:pt x="64" y="372"/>
                  </a:lnTo>
                  <a:lnTo>
                    <a:pt x="57" y="372"/>
                  </a:lnTo>
                  <a:lnTo>
                    <a:pt x="47" y="372"/>
                  </a:lnTo>
                  <a:lnTo>
                    <a:pt x="38" y="369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6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4"/>
                  </a:lnTo>
                  <a:lnTo>
                    <a:pt x="2" y="327"/>
                  </a:lnTo>
                  <a:lnTo>
                    <a:pt x="2" y="317"/>
                  </a:lnTo>
                  <a:lnTo>
                    <a:pt x="2" y="54"/>
                  </a:lnTo>
                  <a:lnTo>
                    <a:pt x="0" y="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1" name="Freeform 289"/>
            <p:cNvSpPr>
              <a:spLocks noChangeArrowheads="1"/>
            </p:cNvSpPr>
            <p:nvPr/>
          </p:nvSpPr>
          <p:spPr bwMode="auto">
            <a:xfrm>
              <a:off x="2241" y="2346"/>
              <a:ext cx="111" cy="372"/>
            </a:xfrm>
            <a:custGeom>
              <a:avLst/>
              <a:gdLst>
                <a:gd name="T0" fmla="*/ 0 w 111"/>
                <a:gd name="T1" fmla="*/ 54 h 372"/>
                <a:gd name="T2" fmla="*/ 2 w 111"/>
                <a:gd name="T3" fmla="*/ 45 h 372"/>
                <a:gd name="T4" fmla="*/ 5 w 111"/>
                <a:gd name="T5" fmla="*/ 38 h 372"/>
                <a:gd name="T6" fmla="*/ 7 w 111"/>
                <a:gd name="T7" fmla="*/ 28 h 372"/>
                <a:gd name="T8" fmla="*/ 12 w 111"/>
                <a:gd name="T9" fmla="*/ 21 h 372"/>
                <a:gd name="T10" fmla="*/ 16 w 111"/>
                <a:gd name="T11" fmla="*/ 16 h 372"/>
                <a:gd name="T12" fmla="*/ 24 w 111"/>
                <a:gd name="T13" fmla="*/ 9 h 372"/>
                <a:gd name="T14" fmla="*/ 31 w 111"/>
                <a:gd name="T15" fmla="*/ 7 h 372"/>
                <a:gd name="T16" fmla="*/ 38 w 111"/>
                <a:gd name="T17" fmla="*/ 2 h 372"/>
                <a:gd name="T18" fmla="*/ 47 w 111"/>
                <a:gd name="T19" fmla="*/ 0 h 372"/>
                <a:gd name="T20" fmla="*/ 57 w 111"/>
                <a:gd name="T21" fmla="*/ 0 h 372"/>
                <a:gd name="T22" fmla="*/ 64 w 111"/>
                <a:gd name="T23" fmla="*/ 0 h 372"/>
                <a:gd name="T24" fmla="*/ 73 w 111"/>
                <a:gd name="T25" fmla="*/ 2 h 372"/>
                <a:gd name="T26" fmla="*/ 80 w 111"/>
                <a:gd name="T27" fmla="*/ 7 h 372"/>
                <a:gd name="T28" fmla="*/ 88 w 111"/>
                <a:gd name="T29" fmla="*/ 9 h 372"/>
                <a:gd name="T30" fmla="*/ 95 w 111"/>
                <a:gd name="T31" fmla="*/ 16 h 372"/>
                <a:gd name="T32" fmla="*/ 99 w 111"/>
                <a:gd name="T33" fmla="*/ 21 h 372"/>
                <a:gd name="T34" fmla="*/ 104 w 111"/>
                <a:gd name="T35" fmla="*/ 28 h 372"/>
                <a:gd name="T36" fmla="*/ 109 w 111"/>
                <a:gd name="T37" fmla="*/ 38 h 372"/>
                <a:gd name="T38" fmla="*/ 109 w 111"/>
                <a:gd name="T39" fmla="*/ 45 h 372"/>
                <a:gd name="T40" fmla="*/ 111 w 111"/>
                <a:gd name="T41" fmla="*/ 54 h 372"/>
                <a:gd name="T42" fmla="*/ 111 w 111"/>
                <a:gd name="T43" fmla="*/ 317 h 372"/>
                <a:gd name="T44" fmla="*/ 109 w 111"/>
                <a:gd name="T45" fmla="*/ 327 h 372"/>
                <a:gd name="T46" fmla="*/ 109 w 111"/>
                <a:gd name="T47" fmla="*/ 334 h 372"/>
                <a:gd name="T48" fmla="*/ 104 w 111"/>
                <a:gd name="T49" fmla="*/ 341 h 372"/>
                <a:gd name="T50" fmla="*/ 99 w 111"/>
                <a:gd name="T51" fmla="*/ 348 h 372"/>
                <a:gd name="T52" fmla="*/ 95 w 111"/>
                <a:gd name="T53" fmla="*/ 355 h 372"/>
                <a:gd name="T54" fmla="*/ 88 w 111"/>
                <a:gd name="T55" fmla="*/ 360 h 372"/>
                <a:gd name="T56" fmla="*/ 80 w 111"/>
                <a:gd name="T57" fmla="*/ 364 h 372"/>
                <a:gd name="T58" fmla="*/ 73 w 111"/>
                <a:gd name="T59" fmla="*/ 369 h 372"/>
                <a:gd name="T60" fmla="*/ 64 w 111"/>
                <a:gd name="T61" fmla="*/ 372 h 372"/>
                <a:gd name="T62" fmla="*/ 57 w 111"/>
                <a:gd name="T63" fmla="*/ 372 h 372"/>
                <a:gd name="T64" fmla="*/ 47 w 111"/>
                <a:gd name="T65" fmla="*/ 372 h 372"/>
                <a:gd name="T66" fmla="*/ 38 w 111"/>
                <a:gd name="T67" fmla="*/ 369 h 372"/>
                <a:gd name="T68" fmla="*/ 31 w 111"/>
                <a:gd name="T69" fmla="*/ 364 h 372"/>
                <a:gd name="T70" fmla="*/ 24 w 111"/>
                <a:gd name="T71" fmla="*/ 360 h 372"/>
                <a:gd name="T72" fmla="*/ 16 w 111"/>
                <a:gd name="T73" fmla="*/ 355 h 372"/>
                <a:gd name="T74" fmla="*/ 12 w 111"/>
                <a:gd name="T75" fmla="*/ 348 h 372"/>
                <a:gd name="T76" fmla="*/ 7 w 111"/>
                <a:gd name="T77" fmla="*/ 341 h 372"/>
                <a:gd name="T78" fmla="*/ 5 w 111"/>
                <a:gd name="T79" fmla="*/ 334 h 372"/>
                <a:gd name="T80" fmla="*/ 2 w 111"/>
                <a:gd name="T81" fmla="*/ 327 h 372"/>
                <a:gd name="T82" fmla="*/ 2 w 111"/>
                <a:gd name="T83" fmla="*/ 317 h 372"/>
                <a:gd name="T84" fmla="*/ 2 w 111"/>
                <a:gd name="T85" fmla="*/ 54 h 372"/>
                <a:gd name="T86" fmla="*/ 2 w 111"/>
                <a:gd name="T87" fmla="*/ 54 h 372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111"/>
                <a:gd name="T133" fmla="*/ 0 h 372"/>
                <a:gd name="T134" fmla="*/ 111 w 111"/>
                <a:gd name="T135" fmla="*/ 372 h 372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111" h="372">
                  <a:moveTo>
                    <a:pt x="0" y="54"/>
                  </a:moveTo>
                  <a:lnTo>
                    <a:pt x="2" y="45"/>
                  </a:lnTo>
                  <a:lnTo>
                    <a:pt x="5" y="38"/>
                  </a:lnTo>
                  <a:lnTo>
                    <a:pt x="7" y="28"/>
                  </a:lnTo>
                  <a:lnTo>
                    <a:pt x="12" y="21"/>
                  </a:lnTo>
                  <a:lnTo>
                    <a:pt x="16" y="16"/>
                  </a:lnTo>
                  <a:lnTo>
                    <a:pt x="24" y="9"/>
                  </a:lnTo>
                  <a:lnTo>
                    <a:pt x="31" y="7"/>
                  </a:lnTo>
                  <a:lnTo>
                    <a:pt x="38" y="2"/>
                  </a:lnTo>
                  <a:lnTo>
                    <a:pt x="47" y="0"/>
                  </a:lnTo>
                  <a:lnTo>
                    <a:pt x="57" y="0"/>
                  </a:lnTo>
                  <a:lnTo>
                    <a:pt x="64" y="0"/>
                  </a:lnTo>
                  <a:lnTo>
                    <a:pt x="73" y="2"/>
                  </a:lnTo>
                  <a:lnTo>
                    <a:pt x="80" y="7"/>
                  </a:lnTo>
                  <a:lnTo>
                    <a:pt x="88" y="9"/>
                  </a:lnTo>
                  <a:lnTo>
                    <a:pt x="95" y="16"/>
                  </a:lnTo>
                  <a:lnTo>
                    <a:pt x="99" y="21"/>
                  </a:lnTo>
                  <a:lnTo>
                    <a:pt x="104" y="28"/>
                  </a:lnTo>
                  <a:lnTo>
                    <a:pt x="109" y="38"/>
                  </a:lnTo>
                  <a:lnTo>
                    <a:pt x="109" y="45"/>
                  </a:lnTo>
                  <a:lnTo>
                    <a:pt x="111" y="54"/>
                  </a:lnTo>
                  <a:lnTo>
                    <a:pt x="111" y="317"/>
                  </a:lnTo>
                  <a:lnTo>
                    <a:pt x="109" y="327"/>
                  </a:lnTo>
                  <a:lnTo>
                    <a:pt x="109" y="334"/>
                  </a:lnTo>
                  <a:lnTo>
                    <a:pt x="104" y="341"/>
                  </a:lnTo>
                  <a:lnTo>
                    <a:pt x="99" y="348"/>
                  </a:lnTo>
                  <a:lnTo>
                    <a:pt x="95" y="355"/>
                  </a:lnTo>
                  <a:lnTo>
                    <a:pt x="88" y="360"/>
                  </a:lnTo>
                  <a:lnTo>
                    <a:pt x="80" y="364"/>
                  </a:lnTo>
                  <a:lnTo>
                    <a:pt x="73" y="369"/>
                  </a:lnTo>
                  <a:lnTo>
                    <a:pt x="64" y="372"/>
                  </a:lnTo>
                  <a:lnTo>
                    <a:pt x="57" y="372"/>
                  </a:lnTo>
                  <a:lnTo>
                    <a:pt x="47" y="372"/>
                  </a:lnTo>
                  <a:lnTo>
                    <a:pt x="38" y="369"/>
                  </a:lnTo>
                  <a:lnTo>
                    <a:pt x="31" y="364"/>
                  </a:lnTo>
                  <a:lnTo>
                    <a:pt x="24" y="360"/>
                  </a:lnTo>
                  <a:lnTo>
                    <a:pt x="16" y="355"/>
                  </a:lnTo>
                  <a:lnTo>
                    <a:pt x="12" y="348"/>
                  </a:lnTo>
                  <a:lnTo>
                    <a:pt x="7" y="341"/>
                  </a:lnTo>
                  <a:lnTo>
                    <a:pt x="5" y="334"/>
                  </a:lnTo>
                  <a:lnTo>
                    <a:pt x="2" y="327"/>
                  </a:lnTo>
                  <a:lnTo>
                    <a:pt x="2" y="317"/>
                  </a:lnTo>
                  <a:lnTo>
                    <a:pt x="2" y="54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2" name="Rectangle 290"/>
            <p:cNvSpPr>
              <a:spLocks noChangeArrowheads="1"/>
            </p:cNvSpPr>
            <p:nvPr/>
          </p:nvSpPr>
          <p:spPr bwMode="auto">
            <a:xfrm>
              <a:off x="2270" y="2439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93" name="Rectangle 291"/>
            <p:cNvSpPr>
              <a:spLocks noChangeArrowheads="1"/>
            </p:cNvSpPr>
            <p:nvPr/>
          </p:nvSpPr>
          <p:spPr bwMode="auto">
            <a:xfrm>
              <a:off x="2319" y="243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4" name="Rectangle 292"/>
            <p:cNvSpPr>
              <a:spLocks noChangeArrowheads="1"/>
            </p:cNvSpPr>
            <p:nvPr/>
          </p:nvSpPr>
          <p:spPr bwMode="auto">
            <a:xfrm>
              <a:off x="2281" y="249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95" name="Rectangle 293"/>
            <p:cNvSpPr>
              <a:spLocks noChangeArrowheads="1"/>
            </p:cNvSpPr>
            <p:nvPr/>
          </p:nvSpPr>
          <p:spPr bwMode="auto">
            <a:xfrm>
              <a:off x="2312" y="2495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6" name="Rectangle 294"/>
            <p:cNvSpPr>
              <a:spLocks noChangeArrowheads="1"/>
            </p:cNvSpPr>
            <p:nvPr/>
          </p:nvSpPr>
          <p:spPr bwMode="auto">
            <a:xfrm>
              <a:off x="2281" y="2555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297" name="Rectangle 295"/>
            <p:cNvSpPr>
              <a:spLocks noChangeArrowheads="1"/>
            </p:cNvSpPr>
            <p:nvPr/>
          </p:nvSpPr>
          <p:spPr bwMode="auto">
            <a:xfrm>
              <a:off x="2262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298" name="Rectangle 296"/>
            <p:cNvSpPr>
              <a:spLocks noChangeArrowheads="1"/>
            </p:cNvSpPr>
            <p:nvPr/>
          </p:nvSpPr>
          <p:spPr bwMode="auto">
            <a:xfrm>
              <a:off x="2262" y="262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grpSp>
          <p:nvGrpSpPr>
            <p:cNvPr id="299" name="Group 297"/>
            <p:cNvGrpSpPr>
              <a:grpSpLocks/>
            </p:cNvGrpSpPr>
            <p:nvPr/>
          </p:nvGrpSpPr>
          <p:grpSpPr bwMode="auto">
            <a:xfrm>
              <a:off x="2267" y="1617"/>
              <a:ext cx="193" cy="76"/>
              <a:chOff x="2267" y="1617"/>
              <a:chExt cx="193" cy="76"/>
            </a:xfrm>
          </p:grpSpPr>
          <p:sp>
            <p:nvSpPr>
              <p:cNvPr id="581" name="Rectangle 298"/>
              <p:cNvSpPr>
                <a:spLocks noChangeArrowheads="1"/>
              </p:cNvSpPr>
              <p:nvPr/>
            </p:nvSpPr>
            <p:spPr bwMode="auto">
              <a:xfrm>
                <a:off x="2267" y="1617"/>
                <a:ext cx="47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582" name="Rectangle 299"/>
              <p:cNvSpPr>
                <a:spLocks noChangeArrowheads="1"/>
              </p:cNvSpPr>
              <p:nvPr/>
            </p:nvSpPr>
            <p:spPr bwMode="auto">
              <a:xfrm>
                <a:off x="2306" y="1617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583" name="Rectangle 300"/>
              <p:cNvSpPr>
                <a:spLocks noChangeArrowheads="1"/>
              </p:cNvSpPr>
              <p:nvPr/>
            </p:nvSpPr>
            <p:spPr bwMode="auto">
              <a:xfrm>
                <a:off x="2340" y="1617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584" name="Rectangle 301"/>
              <p:cNvSpPr>
                <a:spLocks noChangeArrowheads="1"/>
              </p:cNvSpPr>
              <p:nvPr/>
            </p:nvSpPr>
            <p:spPr bwMode="auto">
              <a:xfrm>
                <a:off x="2374" y="1617"/>
                <a:ext cx="22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585" name="Rectangle 302"/>
              <p:cNvSpPr>
                <a:spLocks noChangeArrowheads="1"/>
              </p:cNvSpPr>
              <p:nvPr/>
            </p:nvSpPr>
            <p:spPr bwMode="auto">
              <a:xfrm>
                <a:off x="2390" y="1617"/>
                <a:ext cx="26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586" name="Rectangle 303"/>
              <p:cNvSpPr>
                <a:spLocks noChangeArrowheads="1"/>
              </p:cNvSpPr>
              <p:nvPr/>
            </p:nvSpPr>
            <p:spPr bwMode="auto">
              <a:xfrm>
                <a:off x="2409" y="1617"/>
                <a:ext cx="40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587" name="Rectangle 304"/>
              <p:cNvSpPr>
                <a:spLocks noChangeArrowheads="1"/>
              </p:cNvSpPr>
              <p:nvPr/>
            </p:nvSpPr>
            <p:spPr bwMode="auto">
              <a:xfrm>
                <a:off x="2442" y="1617"/>
                <a:ext cx="19" cy="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800" b="1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</p:grpSp>
        <p:sp>
          <p:nvSpPr>
            <p:cNvPr id="300" name="Freeform 305"/>
            <p:cNvSpPr>
              <a:spLocks noChangeArrowheads="1"/>
            </p:cNvSpPr>
            <p:nvPr/>
          </p:nvSpPr>
          <p:spPr bwMode="auto">
            <a:xfrm>
              <a:off x="2191" y="1633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3 w 31"/>
                <a:gd name="T3" fmla="*/ 31 h 31"/>
                <a:gd name="T4" fmla="*/ 31 w 31"/>
                <a:gd name="T5" fmla="*/ 17 h 31"/>
                <a:gd name="T6" fmla="*/ 0 w 31"/>
                <a:gd name="T7" fmla="*/ 2 h 31"/>
                <a:gd name="T8" fmla="*/ 0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3" y="31"/>
                  </a:lnTo>
                  <a:lnTo>
                    <a:pt x="31" y="17"/>
                  </a:lnTo>
                  <a:lnTo>
                    <a:pt x="0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1" name="Rectangle 306"/>
            <p:cNvSpPr>
              <a:spLocks noChangeArrowheads="1"/>
            </p:cNvSpPr>
            <p:nvPr/>
          </p:nvSpPr>
          <p:spPr bwMode="auto">
            <a:xfrm>
              <a:off x="3851" y="1087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02" name="Rectangle 307"/>
            <p:cNvSpPr>
              <a:spLocks noChangeArrowheads="1"/>
            </p:cNvSpPr>
            <p:nvPr/>
          </p:nvSpPr>
          <p:spPr bwMode="auto">
            <a:xfrm>
              <a:off x="3889" y="10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03" name="Rectangle 308"/>
            <p:cNvSpPr>
              <a:spLocks noChangeArrowheads="1"/>
            </p:cNvSpPr>
            <p:nvPr/>
          </p:nvSpPr>
          <p:spPr bwMode="auto">
            <a:xfrm>
              <a:off x="3922" y="10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04" name="Rectangle 309"/>
            <p:cNvSpPr>
              <a:spLocks noChangeArrowheads="1"/>
            </p:cNvSpPr>
            <p:nvPr/>
          </p:nvSpPr>
          <p:spPr bwMode="auto">
            <a:xfrm>
              <a:off x="4019" y="1056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05" name="Rectangle 310"/>
            <p:cNvSpPr>
              <a:spLocks noChangeArrowheads="1"/>
            </p:cNvSpPr>
            <p:nvPr/>
          </p:nvSpPr>
          <p:spPr bwMode="auto">
            <a:xfrm>
              <a:off x="4057" y="105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306" name="Rectangle 311"/>
            <p:cNvSpPr>
              <a:spLocks noChangeArrowheads="1"/>
            </p:cNvSpPr>
            <p:nvPr/>
          </p:nvSpPr>
          <p:spPr bwMode="auto">
            <a:xfrm>
              <a:off x="4090" y="1056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307" name="Rectangle 312"/>
            <p:cNvSpPr>
              <a:spLocks noChangeArrowheads="1"/>
            </p:cNvSpPr>
            <p:nvPr/>
          </p:nvSpPr>
          <p:spPr bwMode="auto">
            <a:xfrm>
              <a:off x="4133" y="1056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8" name="Rectangle 313"/>
            <p:cNvSpPr>
              <a:spLocks noChangeArrowheads="1"/>
            </p:cNvSpPr>
            <p:nvPr/>
          </p:nvSpPr>
          <p:spPr bwMode="auto">
            <a:xfrm>
              <a:off x="3974" y="1115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09" name="Rectangle 314"/>
            <p:cNvSpPr>
              <a:spLocks noChangeArrowheads="1"/>
            </p:cNvSpPr>
            <p:nvPr/>
          </p:nvSpPr>
          <p:spPr bwMode="auto">
            <a:xfrm>
              <a:off x="3993" y="111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10" name="Rectangle 315"/>
            <p:cNvSpPr>
              <a:spLocks noChangeArrowheads="1"/>
            </p:cNvSpPr>
            <p:nvPr/>
          </p:nvSpPr>
          <p:spPr bwMode="auto">
            <a:xfrm>
              <a:off x="4024" y="111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311" name="Rectangle 316"/>
            <p:cNvSpPr>
              <a:spLocks noChangeArrowheads="1"/>
            </p:cNvSpPr>
            <p:nvPr/>
          </p:nvSpPr>
          <p:spPr bwMode="auto">
            <a:xfrm>
              <a:off x="4055" y="111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312" name="Rectangle 317"/>
            <p:cNvSpPr>
              <a:spLocks noChangeArrowheads="1"/>
            </p:cNvSpPr>
            <p:nvPr/>
          </p:nvSpPr>
          <p:spPr bwMode="auto">
            <a:xfrm>
              <a:off x="4088" y="1115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313" name="Rectangle 318"/>
            <p:cNvSpPr>
              <a:spLocks noChangeArrowheads="1"/>
            </p:cNvSpPr>
            <p:nvPr/>
          </p:nvSpPr>
          <p:spPr bwMode="auto">
            <a:xfrm>
              <a:off x="4100" y="111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14" name="Rectangle 319"/>
            <p:cNvSpPr>
              <a:spLocks noChangeArrowheads="1"/>
            </p:cNvSpPr>
            <p:nvPr/>
          </p:nvSpPr>
          <p:spPr bwMode="auto">
            <a:xfrm>
              <a:off x="4605" y="864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315" name="Rectangle 320"/>
            <p:cNvSpPr>
              <a:spLocks noChangeArrowheads="1"/>
            </p:cNvSpPr>
            <p:nvPr/>
          </p:nvSpPr>
          <p:spPr bwMode="auto">
            <a:xfrm>
              <a:off x="4654" y="86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6" name="Rectangle 321"/>
            <p:cNvSpPr>
              <a:spLocks noChangeArrowheads="1"/>
            </p:cNvSpPr>
            <p:nvPr/>
          </p:nvSpPr>
          <p:spPr bwMode="auto">
            <a:xfrm>
              <a:off x="4614" y="92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317" name="Rectangle 322"/>
            <p:cNvSpPr>
              <a:spLocks noChangeArrowheads="1"/>
            </p:cNvSpPr>
            <p:nvPr/>
          </p:nvSpPr>
          <p:spPr bwMode="auto">
            <a:xfrm>
              <a:off x="4647" y="92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8" name="Rectangle 323"/>
            <p:cNvSpPr>
              <a:spLocks noChangeArrowheads="1"/>
            </p:cNvSpPr>
            <p:nvPr/>
          </p:nvSpPr>
          <p:spPr bwMode="auto">
            <a:xfrm>
              <a:off x="4614" y="980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319" name="Rectangle 324"/>
            <p:cNvSpPr>
              <a:spLocks noChangeArrowheads="1"/>
            </p:cNvSpPr>
            <p:nvPr/>
          </p:nvSpPr>
          <p:spPr bwMode="auto">
            <a:xfrm>
              <a:off x="4597" y="75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320" name="Rectangle 325"/>
            <p:cNvSpPr>
              <a:spLocks noChangeArrowheads="1"/>
            </p:cNvSpPr>
            <p:nvPr/>
          </p:nvSpPr>
          <p:spPr bwMode="auto">
            <a:xfrm>
              <a:off x="4597" y="10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321" name="Freeform 326"/>
            <p:cNvSpPr>
              <a:spLocks noChangeArrowheads="1"/>
            </p:cNvSpPr>
            <p:nvPr/>
          </p:nvSpPr>
          <p:spPr bwMode="auto">
            <a:xfrm>
              <a:off x="1632" y="1650"/>
              <a:ext cx="566" cy="753"/>
            </a:xfrm>
            <a:custGeom>
              <a:avLst/>
              <a:gdLst>
                <a:gd name="T0" fmla="*/ 0 w 566"/>
                <a:gd name="T1" fmla="*/ 753 h 753"/>
                <a:gd name="T2" fmla="*/ 0 w 566"/>
                <a:gd name="T3" fmla="*/ 0 h 753"/>
                <a:gd name="T4" fmla="*/ 566 w 566"/>
                <a:gd name="T5" fmla="*/ 0 h 753"/>
                <a:gd name="T6" fmla="*/ 0 60000 65536"/>
                <a:gd name="T7" fmla="*/ 0 60000 65536"/>
                <a:gd name="T8" fmla="*/ 0 60000 65536"/>
                <a:gd name="T9" fmla="*/ 0 w 566"/>
                <a:gd name="T10" fmla="*/ 0 h 753"/>
                <a:gd name="T11" fmla="*/ 566 w 566"/>
                <a:gd name="T12" fmla="*/ 753 h 7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6" h="753">
                  <a:moveTo>
                    <a:pt x="0" y="753"/>
                  </a:moveTo>
                  <a:lnTo>
                    <a:pt x="0" y="0"/>
                  </a:lnTo>
                  <a:lnTo>
                    <a:pt x="566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2" name="Freeform 327"/>
            <p:cNvSpPr>
              <a:spLocks noChangeArrowheads="1"/>
            </p:cNvSpPr>
            <p:nvPr/>
          </p:nvSpPr>
          <p:spPr bwMode="auto">
            <a:xfrm>
              <a:off x="1201" y="790"/>
              <a:ext cx="3356" cy="370"/>
            </a:xfrm>
            <a:custGeom>
              <a:avLst/>
              <a:gdLst>
                <a:gd name="T0" fmla="*/ 3356 w 3356"/>
                <a:gd name="T1" fmla="*/ 0 h 370"/>
                <a:gd name="T2" fmla="*/ 2136 w 3356"/>
                <a:gd name="T3" fmla="*/ 2 h 370"/>
                <a:gd name="T4" fmla="*/ 2136 w 3356"/>
                <a:gd name="T5" fmla="*/ 370 h 370"/>
                <a:gd name="T6" fmla="*/ 0 w 3356"/>
                <a:gd name="T7" fmla="*/ 370 h 3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56"/>
                <a:gd name="T13" fmla="*/ 0 h 370"/>
                <a:gd name="T14" fmla="*/ 3356 w 3356"/>
                <a:gd name="T15" fmla="*/ 370 h 3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56" h="370">
                  <a:moveTo>
                    <a:pt x="3356" y="0"/>
                  </a:moveTo>
                  <a:lnTo>
                    <a:pt x="2136" y="2"/>
                  </a:lnTo>
                  <a:lnTo>
                    <a:pt x="2136" y="370"/>
                  </a:lnTo>
                  <a:lnTo>
                    <a:pt x="0" y="37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3" name="Freeform 328"/>
            <p:cNvSpPr>
              <a:spLocks noChangeArrowheads="1"/>
            </p:cNvSpPr>
            <p:nvPr/>
          </p:nvSpPr>
          <p:spPr bwMode="auto">
            <a:xfrm>
              <a:off x="3323" y="930"/>
              <a:ext cx="29" cy="31"/>
            </a:xfrm>
            <a:custGeom>
              <a:avLst/>
              <a:gdLst>
                <a:gd name="T0" fmla="*/ 14 w 29"/>
                <a:gd name="T1" fmla="*/ 28 h 31"/>
                <a:gd name="T2" fmla="*/ 17 w 29"/>
                <a:gd name="T3" fmla="*/ 31 h 31"/>
                <a:gd name="T4" fmla="*/ 19 w 29"/>
                <a:gd name="T5" fmla="*/ 28 h 31"/>
                <a:gd name="T6" fmla="*/ 21 w 29"/>
                <a:gd name="T7" fmla="*/ 28 h 31"/>
                <a:gd name="T8" fmla="*/ 24 w 29"/>
                <a:gd name="T9" fmla="*/ 28 h 31"/>
                <a:gd name="T10" fmla="*/ 26 w 29"/>
                <a:gd name="T11" fmla="*/ 26 h 31"/>
                <a:gd name="T12" fmla="*/ 26 w 29"/>
                <a:gd name="T13" fmla="*/ 24 h 31"/>
                <a:gd name="T14" fmla="*/ 29 w 29"/>
                <a:gd name="T15" fmla="*/ 21 h 31"/>
                <a:gd name="T16" fmla="*/ 29 w 29"/>
                <a:gd name="T17" fmla="*/ 21 h 31"/>
                <a:gd name="T18" fmla="*/ 29 w 29"/>
                <a:gd name="T19" fmla="*/ 19 h 31"/>
                <a:gd name="T20" fmla="*/ 29 w 29"/>
                <a:gd name="T21" fmla="*/ 16 h 31"/>
                <a:gd name="T22" fmla="*/ 29 w 29"/>
                <a:gd name="T23" fmla="*/ 14 h 31"/>
                <a:gd name="T24" fmla="*/ 29 w 29"/>
                <a:gd name="T25" fmla="*/ 12 h 31"/>
                <a:gd name="T26" fmla="*/ 29 w 29"/>
                <a:gd name="T27" fmla="*/ 9 h 31"/>
                <a:gd name="T28" fmla="*/ 26 w 29"/>
                <a:gd name="T29" fmla="*/ 7 h 31"/>
                <a:gd name="T30" fmla="*/ 26 w 29"/>
                <a:gd name="T31" fmla="*/ 5 h 31"/>
                <a:gd name="T32" fmla="*/ 24 w 29"/>
                <a:gd name="T33" fmla="*/ 5 h 31"/>
                <a:gd name="T34" fmla="*/ 21 w 29"/>
                <a:gd name="T35" fmla="*/ 2 h 31"/>
                <a:gd name="T36" fmla="*/ 19 w 29"/>
                <a:gd name="T37" fmla="*/ 2 h 31"/>
                <a:gd name="T38" fmla="*/ 17 w 29"/>
                <a:gd name="T39" fmla="*/ 2 h 31"/>
                <a:gd name="T40" fmla="*/ 14 w 29"/>
                <a:gd name="T41" fmla="*/ 0 h 31"/>
                <a:gd name="T42" fmla="*/ 12 w 29"/>
                <a:gd name="T43" fmla="*/ 2 h 31"/>
                <a:gd name="T44" fmla="*/ 10 w 29"/>
                <a:gd name="T45" fmla="*/ 2 h 31"/>
                <a:gd name="T46" fmla="*/ 7 w 29"/>
                <a:gd name="T47" fmla="*/ 2 h 31"/>
                <a:gd name="T48" fmla="*/ 7 w 29"/>
                <a:gd name="T49" fmla="*/ 5 h 31"/>
                <a:gd name="T50" fmla="*/ 5 w 29"/>
                <a:gd name="T51" fmla="*/ 5 h 31"/>
                <a:gd name="T52" fmla="*/ 2 w 29"/>
                <a:gd name="T53" fmla="*/ 7 h 31"/>
                <a:gd name="T54" fmla="*/ 2 w 29"/>
                <a:gd name="T55" fmla="*/ 9 h 31"/>
                <a:gd name="T56" fmla="*/ 0 w 29"/>
                <a:gd name="T57" fmla="*/ 12 h 31"/>
                <a:gd name="T58" fmla="*/ 0 w 29"/>
                <a:gd name="T59" fmla="*/ 14 h 31"/>
                <a:gd name="T60" fmla="*/ 0 w 29"/>
                <a:gd name="T61" fmla="*/ 16 h 31"/>
                <a:gd name="T62" fmla="*/ 0 w 29"/>
                <a:gd name="T63" fmla="*/ 19 h 31"/>
                <a:gd name="T64" fmla="*/ 0 w 29"/>
                <a:gd name="T65" fmla="*/ 21 h 31"/>
                <a:gd name="T66" fmla="*/ 2 w 29"/>
                <a:gd name="T67" fmla="*/ 21 h 31"/>
                <a:gd name="T68" fmla="*/ 2 w 29"/>
                <a:gd name="T69" fmla="*/ 24 h 31"/>
                <a:gd name="T70" fmla="*/ 5 w 29"/>
                <a:gd name="T71" fmla="*/ 26 h 31"/>
                <a:gd name="T72" fmla="*/ 7 w 29"/>
                <a:gd name="T73" fmla="*/ 28 h 31"/>
                <a:gd name="T74" fmla="*/ 7 w 29"/>
                <a:gd name="T75" fmla="*/ 28 h 31"/>
                <a:gd name="T76" fmla="*/ 10 w 29"/>
                <a:gd name="T77" fmla="*/ 28 h 31"/>
                <a:gd name="T78" fmla="*/ 12 w 29"/>
                <a:gd name="T79" fmla="*/ 31 h 31"/>
                <a:gd name="T80" fmla="*/ 14 w 29"/>
                <a:gd name="T81" fmla="*/ 31 h 31"/>
                <a:gd name="T82" fmla="*/ 14 w 29"/>
                <a:gd name="T83" fmla="*/ 31 h 31"/>
                <a:gd name="T84" fmla="*/ 14 w 29"/>
                <a:gd name="T85" fmla="*/ 28 h 31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31"/>
                <a:gd name="T131" fmla="*/ 29 w 29"/>
                <a:gd name="T132" fmla="*/ 31 h 31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31">
                  <a:moveTo>
                    <a:pt x="14" y="28"/>
                  </a:moveTo>
                  <a:lnTo>
                    <a:pt x="17" y="31"/>
                  </a:lnTo>
                  <a:lnTo>
                    <a:pt x="19" y="28"/>
                  </a:lnTo>
                  <a:lnTo>
                    <a:pt x="21" y="28"/>
                  </a:lnTo>
                  <a:lnTo>
                    <a:pt x="24" y="28"/>
                  </a:lnTo>
                  <a:lnTo>
                    <a:pt x="26" y="26"/>
                  </a:lnTo>
                  <a:lnTo>
                    <a:pt x="26" y="24"/>
                  </a:lnTo>
                  <a:lnTo>
                    <a:pt x="29" y="21"/>
                  </a:lnTo>
                  <a:lnTo>
                    <a:pt x="29" y="19"/>
                  </a:lnTo>
                  <a:lnTo>
                    <a:pt x="29" y="16"/>
                  </a:lnTo>
                  <a:lnTo>
                    <a:pt x="29" y="14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7"/>
                  </a:lnTo>
                  <a:lnTo>
                    <a:pt x="26" y="5"/>
                  </a:lnTo>
                  <a:lnTo>
                    <a:pt x="24" y="5"/>
                  </a:lnTo>
                  <a:lnTo>
                    <a:pt x="21" y="2"/>
                  </a:lnTo>
                  <a:lnTo>
                    <a:pt x="19" y="2"/>
                  </a:lnTo>
                  <a:lnTo>
                    <a:pt x="17" y="2"/>
                  </a:lnTo>
                  <a:lnTo>
                    <a:pt x="14" y="0"/>
                  </a:lnTo>
                  <a:lnTo>
                    <a:pt x="12" y="2"/>
                  </a:lnTo>
                  <a:lnTo>
                    <a:pt x="10" y="2"/>
                  </a:lnTo>
                  <a:lnTo>
                    <a:pt x="7" y="2"/>
                  </a:lnTo>
                  <a:lnTo>
                    <a:pt x="7" y="5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9"/>
                  </a:lnTo>
                  <a:lnTo>
                    <a:pt x="0" y="21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7" y="28"/>
                  </a:lnTo>
                  <a:lnTo>
                    <a:pt x="10" y="28"/>
                  </a:lnTo>
                  <a:lnTo>
                    <a:pt x="12" y="31"/>
                  </a:lnTo>
                  <a:lnTo>
                    <a:pt x="14" y="31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4" name="Freeform 329"/>
            <p:cNvSpPr>
              <a:spLocks noChangeArrowheads="1"/>
            </p:cNvSpPr>
            <p:nvPr/>
          </p:nvSpPr>
          <p:spPr bwMode="auto">
            <a:xfrm>
              <a:off x="2492" y="2296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2 w 31"/>
                <a:gd name="T3" fmla="*/ 31 h 31"/>
                <a:gd name="T4" fmla="*/ 31 w 31"/>
                <a:gd name="T5" fmla="*/ 17 h 31"/>
                <a:gd name="T6" fmla="*/ 2 w 31"/>
                <a:gd name="T7" fmla="*/ 2 h 31"/>
                <a:gd name="T8" fmla="*/ 2 w 31"/>
                <a:gd name="T9" fmla="*/ 2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2" y="31"/>
                  </a:lnTo>
                  <a:lnTo>
                    <a:pt x="31" y="17"/>
                  </a:lnTo>
                  <a:lnTo>
                    <a:pt x="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5" name="Line 330"/>
            <p:cNvSpPr>
              <a:spLocks noChangeShapeType="1"/>
            </p:cNvSpPr>
            <p:nvPr/>
          </p:nvSpPr>
          <p:spPr bwMode="auto">
            <a:xfrm flipH="1">
              <a:off x="2110" y="2310"/>
              <a:ext cx="395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6" name="Freeform 331"/>
            <p:cNvSpPr>
              <a:spLocks noChangeArrowheads="1"/>
            </p:cNvSpPr>
            <p:nvPr/>
          </p:nvSpPr>
          <p:spPr bwMode="auto">
            <a:xfrm>
              <a:off x="2527" y="2057"/>
              <a:ext cx="656" cy="687"/>
            </a:xfrm>
            <a:custGeom>
              <a:avLst/>
              <a:gdLst>
                <a:gd name="T0" fmla="*/ 656 w 656"/>
                <a:gd name="T1" fmla="*/ 684 h 687"/>
                <a:gd name="T2" fmla="*/ 656 w 656"/>
                <a:gd name="T3" fmla="*/ 0 h 687"/>
                <a:gd name="T4" fmla="*/ 0 w 656"/>
                <a:gd name="T5" fmla="*/ 0 h 687"/>
                <a:gd name="T6" fmla="*/ 0 w 656"/>
                <a:gd name="T7" fmla="*/ 687 h 687"/>
                <a:gd name="T8" fmla="*/ 656 w 656"/>
                <a:gd name="T9" fmla="*/ 687 h 687"/>
                <a:gd name="T10" fmla="*/ 656 w 656"/>
                <a:gd name="T11" fmla="*/ 687 h 687"/>
                <a:gd name="T12" fmla="*/ 656 w 656"/>
                <a:gd name="T13" fmla="*/ 684 h 6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56"/>
                <a:gd name="T22" fmla="*/ 0 h 687"/>
                <a:gd name="T23" fmla="*/ 656 w 656"/>
                <a:gd name="T24" fmla="*/ 687 h 68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56" h="687">
                  <a:moveTo>
                    <a:pt x="656" y="684"/>
                  </a:moveTo>
                  <a:lnTo>
                    <a:pt x="656" y="0"/>
                  </a:lnTo>
                  <a:lnTo>
                    <a:pt x="0" y="0"/>
                  </a:lnTo>
                  <a:lnTo>
                    <a:pt x="0" y="687"/>
                  </a:lnTo>
                  <a:lnTo>
                    <a:pt x="656" y="687"/>
                  </a:lnTo>
                  <a:lnTo>
                    <a:pt x="656" y="68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7" name="Freeform 332"/>
            <p:cNvSpPr>
              <a:spLocks noChangeArrowheads="1"/>
            </p:cNvSpPr>
            <p:nvPr/>
          </p:nvSpPr>
          <p:spPr bwMode="auto">
            <a:xfrm>
              <a:off x="2527" y="2057"/>
              <a:ext cx="656" cy="687"/>
            </a:xfrm>
            <a:custGeom>
              <a:avLst/>
              <a:gdLst>
                <a:gd name="T0" fmla="*/ 656 w 656"/>
                <a:gd name="T1" fmla="*/ 684 h 687"/>
                <a:gd name="T2" fmla="*/ 656 w 656"/>
                <a:gd name="T3" fmla="*/ 0 h 687"/>
                <a:gd name="T4" fmla="*/ 0 w 656"/>
                <a:gd name="T5" fmla="*/ 0 h 687"/>
                <a:gd name="T6" fmla="*/ 0 w 656"/>
                <a:gd name="T7" fmla="*/ 687 h 687"/>
                <a:gd name="T8" fmla="*/ 656 w 656"/>
                <a:gd name="T9" fmla="*/ 687 h 687"/>
                <a:gd name="T10" fmla="*/ 656 w 656"/>
                <a:gd name="T11" fmla="*/ 687 h 6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6"/>
                <a:gd name="T19" fmla="*/ 0 h 687"/>
                <a:gd name="T20" fmla="*/ 656 w 656"/>
                <a:gd name="T21" fmla="*/ 687 h 68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6" h="687">
                  <a:moveTo>
                    <a:pt x="656" y="684"/>
                  </a:moveTo>
                  <a:lnTo>
                    <a:pt x="656" y="0"/>
                  </a:lnTo>
                  <a:lnTo>
                    <a:pt x="0" y="0"/>
                  </a:lnTo>
                  <a:lnTo>
                    <a:pt x="0" y="687"/>
                  </a:lnTo>
                  <a:lnTo>
                    <a:pt x="656" y="687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8" name="Rectangle 333"/>
            <p:cNvSpPr>
              <a:spLocks noChangeArrowheads="1"/>
            </p:cNvSpPr>
            <p:nvPr/>
          </p:nvSpPr>
          <p:spPr bwMode="auto">
            <a:xfrm>
              <a:off x="2731" y="236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29" name="Rectangle 334"/>
            <p:cNvSpPr>
              <a:spLocks noChangeArrowheads="1"/>
            </p:cNvSpPr>
            <p:nvPr/>
          </p:nvSpPr>
          <p:spPr bwMode="auto">
            <a:xfrm>
              <a:off x="2771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30" name="Rectangle 335"/>
            <p:cNvSpPr>
              <a:spLocks noChangeArrowheads="1"/>
            </p:cNvSpPr>
            <p:nvPr/>
          </p:nvSpPr>
          <p:spPr bwMode="auto">
            <a:xfrm>
              <a:off x="2805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331" name="Rectangle 336"/>
            <p:cNvSpPr>
              <a:spLocks noChangeArrowheads="1"/>
            </p:cNvSpPr>
            <p:nvPr/>
          </p:nvSpPr>
          <p:spPr bwMode="auto">
            <a:xfrm>
              <a:off x="2838" y="2365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332" name="Rectangle 337"/>
            <p:cNvSpPr>
              <a:spLocks noChangeArrowheads="1"/>
            </p:cNvSpPr>
            <p:nvPr/>
          </p:nvSpPr>
          <p:spPr bwMode="auto">
            <a:xfrm>
              <a:off x="2850" y="236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333" name="Rectangle 338"/>
            <p:cNvSpPr>
              <a:spLocks noChangeArrowheads="1"/>
            </p:cNvSpPr>
            <p:nvPr/>
          </p:nvSpPr>
          <p:spPr bwMode="auto">
            <a:xfrm>
              <a:off x="2880" y="236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34" name="Rectangle 339"/>
            <p:cNvSpPr>
              <a:spLocks noChangeArrowheads="1"/>
            </p:cNvSpPr>
            <p:nvPr/>
          </p:nvSpPr>
          <p:spPr bwMode="auto">
            <a:xfrm>
              <a:off x="2895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35" name="Rectangle 340"/>
            <p:cNvSpPr>
              <a:spLocks noChangeArrowheads="1"/>
            </p:cNvSpPr>
            <p:nvPr/>
          </p:nvSpPr>
          <p:spPr bwMode="auto">
            <a:xfrm>
              <a:off x="2928" y="2365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36" name="Rectangle 341"/>
            <p:cNvSpPr>
              <a:spLocks noChangeArrowheads="1"/>
            </p:cNvSpPr>
            <p:nvPr/>
          </p:nvSpPr>
          <p:spPr bwMode="auto">
            <a:xfrm>
              <a:off x="2947" y="236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337" name="Rectangle 342"/>
            <p:cNvSpPr>
              <a:spLocks noChangeArrowheads="1"/>
            </p:cNvSpPr>
            <p:nvPr/>
          </p:nvSpPr>
          <p:spPr bwMode="auto">
            <a:xfrm>
              <a:off x="2549" y="2424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338" name="Rectangle 343"/>
            <p:cNvSpPr>
              <a:spLocks noChangeArrowheads="1"/>
            </p:cNvSpPr>
            <p:nvPr/>
          </p:nvSpPr>
          <p:spPr bwMode="auto">
            <a:xfrm>
              <a:off x="2608" y="2424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39" name="Rectangle 344"/>
            <p:cNvSpPr>
              <a:spLocks noChangeArrowheads="1"/>
            </p:cNvSpPr>
            <p:nvPr/>
          </p:nvSpPr>
          <p:spPr bwMode="auto">
            <a:xfrm>
              <a:off x="2626" y="2424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340" name="Rectangle 345"/>
            <p:cNvSpPr>
              <a:spLocks noChangeArrowheads="1"/>
            </p:cNvSpPr>
            <p:nvPr/>
          </p:nvSpPr>
          <p:spPr bwMode="auto">
            <a:xfrm>
              <a:off x="2639" y="242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41" name="Rectangle 346"/>
            <p:cNvSpPr>
              <a:spLocks noChangeArrowheads="1"/>
            </p:cNvSpPr>
            <p:nvPr/>
          </p:nvSpPr>
          <p:spPr bwMode="auto">
            <a:xfrm>
              <a:off x="2655" y="242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42" name="Rectangle 347"/>
            <p:cNvSpPr>
              <a:spLocks noChangeArrowheads="1"/>
            </p:cNvSpPr>
            <p:nvPr/>
          </p:nvSpPr>
          <p:spPr bwMode="auto">
            <a:xfrm>
              <a:off x="2688" y="242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3" name="Rectangle 348"/>
            <p:cNvSpPr>
              <a:spLocks noChangeArrowheads="1"/>
            </p:cNvSpPr>
            <p:nvPr/>
          </p:nvSpPr>
          <p:spPr bwMode="auto">
            <a:xfrm>
              <a:off x="2551" y="248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44" name="Rectangle 349"/>
            <p:cNvSpPr>
              <a:spLocks noChangeArrowheads="1"/>
            </p:cNvSpPr>
            <p:nvPr/>
          </p:nvSpPr>
          <p:spPr bwMode="auto">
            <a:xfrm>
              <a:off x="2572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45" name="Rectangle 350"/>
            <p:cNvSpPr>
              <a:spLocks noChangeArrowheads="1"/>
            </p:cNvSpPr>
            <p:nvPr/>
          </p:nvSpPr>
          <p:spPr bwMode="auto">
            <a:xfrm>
              <a:off x="2603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346" name="Rectangle 351"/>
            <p:cNvSpPr>
              <a:spLocks noChangeArrowheads="1"/>
            </p:cNvSpPr>
            <p:nvPr/>
          </p:nvSpPr>
          <p:spPr bwMode="auto">
            <a:xfrm>
              <a:off x="2636" y="2481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347" name="Rectangle 352"/>
            <p:cNvSpPr>
              <a:spLocks noChangeArrowheads="1"/>
            </p:cNvSpPr>
            <p:nvPr/>
          </p:nvSpPr>
          <p:spPr bwMode="auto">
            <a:xfrm>
              <a:off x="2651" y="248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348" name="Rectangle 353"/>
            <p:cNvSpPr>
              <a:spLocks noChangeArrowheads="1"/>
            </p:cNvSpPr>
            <p:nvPr/>
          </p:nvSpPr>
          <p:spPr bwMode="auto">
            <a:xfrm>
              <a:off x="2679" y="248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49" name="Rectangle 354"/>
            <p:cNvSpPr>
              <a:spLocks noChangeArrowheads="1"/>
            </p:cNvSpPr>
            <p:nvPr/>
          </p:nvSpPr>
          <p:spPr bwMode="auto">
            <a:xfrm>
              <a:off x="2696" y="248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50" name="Rectangle 355"/>
            <p:cNvSpPr>
              <a:spLocks noChangeArrowheads="1"/>
            </p:cNvSpPr>
            <p:nvPr/>
          </p:nvSpPr>
          <p:spPr bwMode="auto">
            <a:xfrm>
              <a:off x="2726" y="248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51" name="Rectangle 356"/>
            <p:cNvSpPr>
              <a:spLocks noChangeArrowheads="1"/>
            </p:cNvSpPr>
            <p:nvPr/>
          </p:nvSpPr>
          <p:spPr bwMode="auto">
            <a:xfrm>
              <a:off x="2549" y="2600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352" name="Rectangle 357"/>
            <p:cNvSpPr>
              <a:spLocks noChangeArrowheads="1"/>
            </p:cNvSpPr>
            <p:nvPr/>
          </p:nvSpPr>
          <p:spPr bwMode="auto">
            <a:xfrm>
              <a:off x="2608" y="2600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53" name="Rectangle 358"/>
            <p:cNvSpPr>
              <a:spLocks noChangeArrowheads="1"/>
            </p:cNvSpPr>
            <p:nvPr/>
          </p:nvSpPr>
          <p:spPr bwMode="auto">
            <a:xfrm>
              <a:off x="2626" y="2600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354" name="Rectangle 359"/>
            <p:cNvSpPr>
              <a:spLocks noChangeArrowheads="1"/>
            </p:cNvSpPr>
            <p:nvPr/>
          </p:nvSpPr>
          <p:spPr bwMode="auto">
            <a:xfrm>
              <a:off x="2639" y="2600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55" name="Rectangle 360"/>
            <p:cNvSpPr>
              <a:spLocks noChangeArrowheads="1"/>
            </p:cNvSpPr>
            <p:nvPr/>
          </p:nvSpPr>
          <p:spPr bwMode="auto">
            <a:xfrm>
              <a:off x="2655" y="260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56" name="Rectangle 361"/>
            <p:cNvSpPr>
              <a:spLocks noChangeArrowheads="1"/>
            </p:cNvSpPr>
            <p:nvPr/>
          </p:nvSpPr>
          <p:spPr bwMode="auto">
            <a:xfrm>
              <a:off x="2688" y="260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7" name="Rectangle 362"/>
            <p:cNvSpPr>
              <a:spLocks noChangeArrowheads="1"/>
            </p:cNvSpPr>
            <p:nvPr/>
          </p:nvSpPr>
          <p:spPr bwMode="auto">
            <a:xfrm>
              <a:off x="2551" y="265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58" name="Rectangle 363"/>
            <p:cNvSpPr>
              <a:spLocks noChangeArrowheads="1"/>
            </p:cNvSpPr>
            <p:nvPr/>
          </p:nvSpPr>
          <p:spPr bwMode="auto">
            <a:xfrm>
              <a:off x="2584" y="265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59" name="Rectangle 364"/>
            <p:cNvSpPr>
              <a:spLocks noChangeArrowheads="1"/>
            </p:cNvSpPr>
            <p:nvPr/>
          </p:nvSpPr>
          <p:spPr bwMode="auto">
            <a:xfrm>
              <a:off x="2617" y="265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60" name="Rectangle 365"/>
            <p:cNvSpPr>
              <a:spLocks noChangeArrowheads="1"/>
            </p:cNvSpPr>
            <p:nvPr/>
          </p:nvSpPr>
          <p:spPr bwMode="auto">
            <a:xfrm>
              <a:off x="2634" y="265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61" name="Rectangle 366"/>
            <p:cNvSpPr>
              <a:spLocks noChangeArrowheads="1"/>
            </p:cNvSpPr>
            <p:nvPr/>
          </p:nvSpPr>
          <p:spPr bwMode="auto">
            <a:xfrm>
              <a:off x="3027" y="2162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62" name="Rectangle 367"/>
            <p:cNvSpPr>
              <a:spLocks noChangeArrowheads="1"/>
            </p:cNvSpPr>
            <p:nvPr/>
          </p:nvSpPr>
          <p:spPr bwMode="auto">
            <a:xfrm>
              <a:off x="3070" y="216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63" name="Rectangle 368"/>
            <p:cNvSpPr>
              <a:spLocks noChangeArrowheads="1"/>
            </p:cNvSpPr>
            <p:nvPr/>
          </p:nvSpPr>
          <p:spPr bwMode="auto">
            <a:xfrm>
              <a:off x="3103" y="216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64" name="Rectangle 369"/>
            <p:cNvSpPr>
              <a:spLocks noChangeArrowheads="1"/>
            </p:cNvSpPr>
            <p:nvPr/>
          </p:nvSpPr>
          <p:spPr bwMode="auto">
            <a:xfrm>
              <a:off x="3134" y="216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65" name="Rectangle 370"/>
            <p:cNvSpPr>
              <a:spLocks noChangeArrowheads="1"/>
            </p:cNvSpPr>
            <p:nvPr/>
          </p:nvSpPr>
          <p:spPr bwMode="auto">
            <a:xfrm>
              <a:off x="3167" y="2162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6" name="Rectangle 371"/>
            <p:cNvSpPr>
              <a:spLocks noChangeArrowheads="1"/>
            </p:cNvSpPr>
            <p:nvPr/>
          </p:nvSpPr>
          <p:spPr bwMode="auto">
            <a:xfrm>
              <a:off x="2992" y="221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67" name="Rectangle 372"/>
            <p:cNvSpPr>
              <a:spLocks noChangeArrowheads="1"/>
            </p:cNvSpPr>
            <p:nvPr/>
          </p:nvSpPr>
          <p:spPr bwMode="auto">
            <a:xfrm>
              <a:off x="3025" y="221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68" name="Rectangle 373"/>
            <p:cNvSpPr>
              <a:spLocks noChangeArrowheads="1"/>
            </p:cNvSpPr>
            <p:nvPr/>
          </p:nvSpPr>
          <p:spPr bwMode="auto">
            <a:xfrm>
              <a:off x="3058" y="221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69" name="Rectangle 374"/>
            <p:cNvSpPr>
              <a:spLocks noChangeArrowheads="1"/>
            </p:cNvSpPr>
            <p:nvPr/>
          </p:nvSpPr>
          <p:spPr bwMode="auto">
            <a:xfrm>
              <a:off x="3074" y="221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70" name="Rectangle 375"/>
            <p:cNvSpPr>
              <a:spLocks noChangeArrowheads="1"/>
            </p:cNvSpPr>
            <p:nvPr/>
          </p:nvSpPr>
          <p:spPr bwMode="auto">
            <a:xfrm>
              <a:off x="3105" y="221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371" name="Rectangle 376"/>
            <p:cNvSpPr>
              <a:spLocks noChangeArrowheads="1"/>
            </p:cNvSpPr>
            <p:nvPr/>
          </p:nvSpPr>
          <p:spPr bwMode="auto">
            <a:xfrm>
              <a:off x="3122" y="221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372" name="Rectangle 377"/>
            <p:cNvSpPr>
              <a:spLocks noChangeArrowheads="1"/>
            </p:cNvSpPr>
            <p:nvPr/>
          </p:nvSpPr>
          <p:spPr bwMode="auto">
            <a:xfrm>
              <a:off x="3027" y="2379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73" name="Rectangle 378"/>
            <p:cNvSpPr>
              <a:spLocks noChangeArrowheads="1"/>
            </p:cNvSpPr>
            <p:nvPr/>
          </p:nvSpPr>
          <p:spPr bwMode="auto">
            <a:xfrm>
              <a:off x="3070" y="237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74" name="Rectangle 379"/>
            <p:cNvSpPr>
              <a:spLocks noChangeArrowheads="1"/>
            </p:cNvSpPr>
            <p:nvPr/>
          </p:nvSpPr>
          <p:spPr bwMode="auto">
            <a:xfrm>
              <a:off x="3103" y="237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75" name="Rectangle 380"/>
            <p:cNvSpPr>
              <a:spLocks noChangeArrowheads="1"/>
            </p:cNvSpPr>
            <p:nvPr/>
          </p:nvSpPr>
          <p:spPr bwMode="auto">
            <a:xfrm>
              <a:off x="3134" y="237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76" name="Rectangle 381"/>
            <p:cNvSpPr>
              <a:spLocks noChangeArrowheads="1"/>
            </p:cNvSpPr>
            <p:nvPr/>
          </p:nvSpPr>
          <p:spPr bwMode="auto">
            <a:xfrm>
              <a:off x="3167" y="237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7" name="Rectangle 382"/>
            <p:cNvSpPr>
              <a:spLocks noChangeArrowheads="1"/>
            </p:cNvSpPr>
            <p:nvPr/>
          </p:nvSpPr>
          <p:spPr bwMode="auto">
            <a:xfrm>
              <a:off x="2992" y="24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78" name="Rectangle 383"/>
            <p:cNvSpPr>
              <a:spLocks noChangeArrowheads="1"/>
            </p:cNvSpPr>
            <p:nvPr/>
          </p:nvSpPr>
          <p:spPr bwMode="auto">
            <a:xfrm>
              <a:off x="3025" y="24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79" name="Rectangle 384"/>
            <p:cNvSpPr>
              <a:spLocks noChangeArrowheads="1"/>
            </p:cNvSpPr>
            <p:nvPr/>
          </p:nvSpPr>
          <p:spPr bwMode="auto">
            <a:xfrm>
              <a:off x="3058" y="243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80" name="Rectangle 385"/>
            <p:cNvSpPr>
              <a:spLocks noChangeArrowheads="1"/>
            </p:cNvSpPr>
            <p:nvPr/>
          </p:nvSpPr>
          <p:spPr bwMode="auto">
            <a:xfrm>
              <a:off x="3074" y="24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81" name="Rectangle 386"/>
            <p:cNvSpPr>
              <a:spLocks noChangeArrowheads="1"/>
            </p:cNvSpPr>
            <p:nvPr/>
          </p:nvSpPr>
          <p:spPr bwMode="auto">
            <a:xfrm>
              <a:off x="3105" y="243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382" name="Rectangle 387"/>
            <p:cNvSpPr>
              <a:spLocks noChangeArrowheads="1"/>
            </p:cNvSpPr>
            <p:nvPr/>
          </p:nvSpPr>
          <p:spPr bwMode="auto">
            <a:xfrm>
              <a:off x="3122" y="24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383" name="Rectangle 388"/>
            <p:cNvSpPr>
              <a:spLocks noChangeArrowheads="1"/>
            </p:cNvSpPr>
            <p:nvPr/>
          </p:nvSpPr>
          <p:spPr bwMode="auto">
            <a:xfrm>
              <a:off x="2551" y="2074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84" name="Rectangle 389"/>
            <p:cNvSpPr>
              <a:spLocks noChangeArrowheads="1"/>
            </p:cNvSpPr>
            <p:nvPr/>
          </p:nvSpPr>
          <p:spPr bwMode="auto">
            <a:xfrm>
              <a:off x="2594" y="207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85" name="Rectangle 390"/>
            <p:cNvSpPr>
              <a:spLocks noChangeArrowheads="1"/>
            </p:cNvSpPr>
            <p:nvPr/>
          </p:nvSpPr>
          <p:spPr bwMode="auto">
            <a:xfrm>
              <a:off x="2627" y="207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386" name="Rectangle 391"/>
            <p:cNvSpPr>
              <a:spLocks noChangeArrowheads="1"/>
            </p:cNvSpPr>
            <p:nvPr/>
          </p:nvSpPr>
          <p:spPr bwMode="auto">
            <a:xfrm>
              <a:off x="2660" y="207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387" name="Rectangle 392"/>
            <p:cNvSpPr>
              <a:spLocks noChangeArrowheads="1"/>
            </p:cNvSpPr>
            <p:nvPr/>
          </p:nvSpPr>
          <p:spPr bwMode="auto">
            <a:xfrm>
              <a:off x="2691" y="207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8" name="Rectangle 393"/>
            <p:cNvSpPr>
              <a:spLocks noChangeArrowheads="1"/>
            </p:cNvSpPr>
            <p:nvPr/>
          </p:nvSpPr>
          <p:spPr bwMode="auto">
            <a:xfrm>
              <a:off x="2551" y="213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89" name="Rectangle 394"/>
            <p:cNvSpPr>
              <a:spLocks noChangeArrowheads="1"/>
            </p:cNvSpPr>
            <p:nvPr/>
          </p:nvSpPr>
          <p:spPr bwMode="auto">
            <a:xfrm>
              <a:off x="2572" y="21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90" name="Rectangle 395"/>
            <p:cNvSpPr>
              <a:spLocks noChangeArrowheads="1"/>
            </p:cNvSpPr>
            <p:nvPr/>
          </p:nvSpPr>
          <p:spPr bwMode="auto">
            <a:xfrm>
              <a:off x="2603" y="21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391" name="Rectangle 396"/>
            <p:cNvSpPr>
              <a:spLocks noChangeArrowheads="1"/>
            </p:cNvSpPr>
            <p:nvPr/>
          </p:nvSpPr>
          <p:spPr bwMode="auto">
            <a:xfrm>
              <a:off x="2636" y="2131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392" name="Rectangle 397"/>
            <p:cNvSpPr>
              <a:spLocks noChangeArrowheads="1"/>
            </p:cNvSpPr>
            <p:nvPr/>
          </p:nvSpPr>
          <p:spPr bwMode="auto">
            <a:xfrm>
              <a:off x="2651" y="213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393" name="Rectangle 398"/>
            <p:cNvSpPr>
              <a:spLocks noChangeArrowheads="1"/>
            </p:cNvSpPr>
            <p:nvPr/>
          </p:nvSpPr>
          <p:spPr bwMode="auto">
            <a:xfrm>
              <a:off x="2679" y="213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94" name="Rectangle 399"/>
            <p:cNvSpPr>
              <a:spLocks noChangeArrowheads="1"/>
            </p:cNvSpPr>
            <p:nvPr/>
          </p:nvSpPr>
          <p:spPr bwMode="auto">
            <a:xfrm>
              <a:off x="2696" y="21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95" name="Rectangle 400"/>
            <p:cNvSpPr>
              <a:spLocks noChangeArrowheads="1"/>
            </p:cNvSpPr>
            <p:nvPr/>
          </p:nvSpPr>
          <p:spPr bwMode="auto">
            <a:xfrm>
              <a:off x="2726" y="213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96" name="Rectangle 401"/>
            <p:cNvSpPr>
              <a:spLocks noChangeArrowheads="1"/>
            </p:cNvSpPr>
            <p:nvPr/>
          </p:nvSpPr>
          <p:spPr bwMode="auto">
            <a:xfrm>
              <a:off x="2748" y="213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397" name="Rectangle 402"/>
            <p:cNvSpPr>
              <a:spLocks noChangeArrowheads="1"/>
            </p:cNvSpPr>
            <p:nvPr/>
          </p:nvSpPr>
          <p:spPr bwMode="auto">
            <a:xfrm>
              <a:off x="2762" y="21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398" name="Rectangle 403"/>
            <p:cNvSpPr>
              <a:spLocks noChangeArrowheads="1"/>
            </p:cNvSpPr>
            <p:nvPr/>
          </p:nvSpPr>
          <p:spPr bwMode="auto">
            <a:xfrm>
              <a:off x="2551" y="2249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399" name="Rectangle 404"/>
            <p:cNvSpPr>
              <a:spLocks noChangeArrowheads="1"/>
            </p:cNvSpPr>
            <p:nvPr/>
          </p:nvSpPr>
          <p:spPr bwMode="auto">
            <a:xfrm>
              <a:off x="2594" y="224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00" name="Rectangle 405"/>
            <p:cNvSpPr>
              <a:spLocks noChangeArrowheads="1"/>
            </p:cNvSpPr>
            <p:nvPr/>
          </p:nvSpPr>
          <p:spPr bwMode="auto">
            <a:xfrm>
              <a:off x="2627" y="224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01" name="Rectangle 406"/>
            <p:cNvSpPr>
              <a:spLocks noChangeArrowheads="1"/>
            </p:cNvSpPr>
            <p:nvPr/>
          </p:nvSpPr>
          <p:spPr bwMode="auto">
            <a:xfrm>
              <a:off x="2660" y="224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402" name="Rectangle 407"/>
            <p:cNvSpPr>
              <a:spLocks noChangeArrowheads="1"/>
            </p:cNvSpPr>
            <p:nvPr/>
          </p:nvSpPr>
          <p:spPr bwMode="auto">
            <a:xfrm>
              <a:off x="2691" y="224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3" name="Rectangle 408"/>
            <p:cNvSpPr>
              <a:spLocks noChangeArrowheads="1"/>
            </p:cNvSpPr>
            <p:nvPr/>
          </p:nvSpPr>
          <p:spPr bwMode="auto">
            <a:xfrm>
              <a:off x="2551" y="230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04" name="Rectangle 409"/>
            <p:cNvSpPr>
              <a:spLocks noChangeArrowheads="1"/>
            </p:cNvSpPr>
            <p:nvPr/>
          </p:nvSpPr>
          <p:spPr bwMode="auto">
            <a:xfrm>
              <a:off x="2572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05" name="Rectangle 410"/>
            <p:cNvSpPr>
              <a:spLocks noChangeArrowheads="1"/>
            </p:cNvSpPr>
            <p:nvPr/>
          </p:nvSpPr>
          <p:spPr bwMode="auto">
            <a:xfrm>
              <a:off x="2603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406" name="Rectangle 411"/>
            <p:cNvSpPr>
              <a:spLocks noChangeArrowheads="1"/>
            </p:cNvSpPr>
            <p:nvPr/>
          </p:nvSpPr>
          <p:spPr bwMode="auto">
            <a:xfrm>
              <a:off x="2636" y="2306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407" name="Rectangle 412"/>
            <p:cNvSpPr>
              <a:spLocks noChangeArrowheads="1"/>
            </p:cNvSpPr>
            <p:nvPr/>
          </p:nvSpPr>
          <p:spPr bwMode="auto">
            <a:xfrm>
              <a:off x="2651" y="230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408" name="Rectangle 413"/>
            <p:cNvSpPr>
              <a:spLocks noChangeArrowheads="1"/>
            </p:cNvSpPr>
            <p:nvPr/>
          </p:nvSpPr>
          <p:spPr bwMode="auto">
            <a:xfrm>
              <a:off x="2679" y="230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09" name="Rectangle 414"/>
            <p:cNvSpPr>
              <a:spLocks noChangeArrowheads="1"/>
            </p:cNvSpPr>
            <p:nvPr/>
          </p:nvSpPr>
          <p:spPr bwMode="auto">
            <a:xfrm>
              <a:off x="2696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10" name="Rectangle 415"/>
            <p:cNvSpPr>
              <a:spLocks noChangeArrowheads="1"/>
            </p:cNvSpPr>
            <p:nvPr/>
          </p:nvSpPr>
          <p:spPr bwMode="auto">
            <a:xfrm>
              <a:off x="2726" y="230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11" name="Rectangle 416"/>
            <p:cNvSpPr>
              <a:spLocks noChangeArrowheads="1"/>
            </p:cNvSpPr>
            <p:nvPr/>
          </p:nvSpPr>
          <p:spPr bwMode="auto">
            <a:xfrm>
              <a:off x="2748" y="230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412" name="Rectangle 417"/>
            <p:cNvSpPr>
              <a:spLocks noChangeArrowheads="1"/>
            </p:cNvSpPr>
            <p:nvPr/>
          </p:nvSpPr>
          <p:spPr bwMode="auto">
            <a:xfrm>
              <a:off x="2762" y="23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413" name="Freeform 418"/>
            <p:cNvSpPr>
              <a:spLocks noChangeArrowheads="1"/>
            </p:cNvSpPr>
            <p:nvPr/>
          </p:nvSpPr>
          <p:spPr bwMode="auto">
            <a:xfrm>
              <a:off x="2395" y="2606"/>
              <a:ext cx="2950" cy="886"/>
            </a:xfrm>
            <a:custGeom>
              <a:avLst/>
              <a:gdLst>
                <a:gd name="T0" fmla="*/ 2884 w 2950"/>
                <a:gd name="T1" fmla="*/ 0 h 886"/>
                <a:gd name="T2" fmla="*/ 2950 w 2950"/>
                <a:gd name="T3" fmla="*/ 0 h 886"/>
                <a:gd name="T4" fmla="*/ 2950 w 2950"/>
                <a:gd name="T5" fmla="*/ 886 h 886"/>
                <a:gd name="T6" fmla="*/ 0 w 2950"/>
                <a:gd name="T7" fmla="*/ 886 h 886"/>
                <a:gd name="T8" fmla="*/ 0 w 2950"/>
                <a:gd name="T9" fmla="*/ 57 h 886"/>
                <a:gd name="T10" fmla="*/ 109 w 2950"/>
                <a:gd name="T11" fmla="*/ 57 h 8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50"/>
                <a:gd name="T19" fmla="*/ 0 h 886"/>
                <a:gd name="T20" fmla="*/ 2950 w 2950"/>
                <a:gd name="T21" fmla="*/ 886 h 88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50" h="886">
                  <a:moveTo>
                    <a:pt x="2884" y="0"/>
                  </a:moveTo>
                  <a:lnTo>
                    <a:pt x="2950" y="0"/>
                  </a:lnTo>
                  <a:lnTo>
                    <a:pt x="2950" y="886"/>
                  </a:lnTo>
                  <a:lnTo>
                    <a:pt x="0" y="886"/>
                  </a:lnTo>
                  <a:lnTo>
                    <a:pt x="0" y="57"/>
                  </a:lnTo>
                  <a:lnTo>
                    <a:pt x="109" y="5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4" name="Line 419"/>
            <p:cNvSpPr>
              <a:spLocks noChangeShapeType="1"/>
            </p:cNvSpPr>
            <p:nvPr/>
          </p:nvSpPr>
          <p:spPr bwMode="auto">
            <a:xfrm flipH="1">
              <a:off x="2351" y="2486"/>
              <a:ext cx="154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5" name="Line 420"/>
            <p:cNvSpPr>
              <a:spLocks noChangeShapeType="1"/>
            </p:cNvSpPr>
            <p:nvPr/>
          </p:nvSpPr>
          <p:spPr bwMode="auto">
            <a:xfrm flipH="1">
              <a:off x="1634" y="2135"/>
              <a:ext cx="871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6" name="Freeform 421"/>
            <p:cNvSpPr>
              <a:spLocks noChangeArrowheads="1"/>
            </p:cNvSpPr>
            <p:nvPr/>
          </p:nvSpPr>
          <p:spPr bwMode="auto">
            <a:xfrm>
              <a:off x="1632" y="2403"/>
              <a:ext cx="829" cy="615"/>
            </a:xfrm>
            <a:custGeom>
              <a:avLst/>
              <a:gdLst>
                <a:gd name="T0" fmla="*/ 829 w 829"/>
                <a:gd name="T1" fmla="*/ 615 h 615"/>
                <a:gd name="T2" fmla="*/ 0 w 829"/>
                <a:gd name="T3" fmla="*/ 615 h 615"/>
                <a:gd name="T4" fmla="*/ 0 w 829"/>
                <a:gd name="T5" fmla="*/ 0 h 615"/>
                <a:gd name="T6" fmla="*/ 0 60000 65536"/>
                <a:gd name="T7" fmla="*/ 0 60000 65536"/>
                <a:gd name="T8" fmla="*/ 0 60000 65536"/>
                <a:gd name="T9" fmla="*/ 0 w 829"/>
                <a:gd name="T10" fmla="*/ 0 h 615"/>
                <a:gd name="T11" fmla="*/ 829 w 829"/>
                <a:gd name="T12" fmla="*/ 615 h 6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29" h="615">
                  <a:moveTo>
                    <a:pt x="829" y="615"/>
                  </a:moveTo>
                  <a:lnTo>
                    <a:pt x="0" y="615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" name="Freeform 422"/>
            <p:cNvSpPr>
              <a:spLocks noChangeArrowheads="1"/>
            </p:cNvSpPr>
            <p:nvPr/>
          </p:nvSpPr>
          <p:spPr bwMode="auto">
            <a:xfrm>
              <a:off x="1618" y="2649"/>
              <a:ext cx="31" cy="28"/>
            </a:xfrm>
            <a:custGeom>
              <a:avLst/>
              <a:gdLst>
                <a:gd name="T0" fmla="*/ 14 w 31"/>
                <a:gd name="T1" fmla="*/ 28 h 28"/>
                <a:gd name="T2" fmla="*/ 19 w 31"/>
                <a:gd name="T3" fmla="*/ 28 h 28"/>
                <a:gd name="T4" fmla="*/ 21 w 31"/>
                <a:gd name="T5" fmla="*/ 28 h 28"/>
                <a:gd name="T6" fmla="*/ 21 w 31"/>
                <a:gd name="T7" fmla="*/ 26 h 28"/>
                <a:gd name="T8" fmla="*/ 24 w 31"/>
                <a:gd name="T9" fmla="*/ 26 h 28"/>
                <a:gd name="T10" fmla="*/ 26 w 31"/>
                <a:gd name="T11" fmla="*/ 24 h 28"/>
                <a:gd name="T12" fmla="*/ 29 w 31"/>
                <a:gd name="T13" fmla="*/ 24 h 28"/>
                <a:gd name="T14" fmla="*/ 29 w 31"/>
                <a:gd name="T15" fmla="*/ 21 h 28"/>
                <a:gd name="T16" fmla="*/ 31 w 31"/>
                <a:gd name="T17" fmla="*/ 19 h 28"/>
                <a:gd name="T18" fmla="*/ 31 w 31"/>
                <a:gd name="T19" fmla="*/ 17 h 28"/>
                <a:gd name="T20" fmla="*/ 31 w 31"/>
                <a:gd name="T21" fmla="*/ 14 h 28"/>
                <a:gd name="T22" fmla="*/ 31 w 31"/>
                <a:gd name="T23" fmla="*/ 12 h 28"/>
                <a:gd name="T24" fmla="*/ 31 w 31"/>
                <a:gd name="T25" fmla="*/ 9 h 28"/>
                <a:gd name="T26" fmla="*/ 29 w 31"/>
                <a:gd name="T27" fmla="*/ 7 h 28"/>
                <a:gd name="T28" fmla="*/ 29 w 31"/>
                <a:gd name="T29" fmla="*/ 5 h 28"/>
                <a:gd name="T30" fmla="*/ 26 w 31"/>
                <a:gd name="T31" fmla="*/ 5 h 28"/>
                <a:gd name="T32" fmla="*/ 24 w 31"/>
                <a:gd name="T33" fmla="*/ 2 h 28"/>
                <a:gd name="T34" fmla="*/ 21 w 31"/>
                <a:gd name="T35" fmla="*/ 0 h 28"/>
                <a:gd name="T36" fmla="*/ 21 w 31"/>
                <a:gd name="T37" fmla="*/ 0 h 28"/>
                <a:gd name="T38" fmla="*/ 19 w 31"/>
                <a:gd name="T39" fmla="*/ 0 h 28"/>
                <a:gd name="T40" fmla="*/ 17 w 31"/>
                <a:gd name="T41" fmla="*/ 0 h 28"/>
                <a:gd name="T42" fmla="*/ 14 w 31"/>
                <a:gd name="T43" fmla="*/ 0 h 28"/>
                <a:gd name="T44" fmla="*/ 12 w 31"/>
                <a:gd name="T45" fmla="*/ 0 h 28"/>
                <a:gd name="T46" fmla="*/ 10 w 31"/>
                <a:gd name="T47" fmla="*/ 0 h 28"/>
                <a:gd name="T48" fmla="*/ 7 w 31"/>
                <a:gd name="T49" fmla="*/ 2 h 28"/>
                <a:gd name="T50" fmla="*/ 5 w 31"/>
                <a:gd name="T51" fmla="*/ 5 h 28"/>
                <a:gd name="T52" fmla="*/ 5 w 31"/>
                <a:gd name="T53" fmla="*/ 5 h 28"/>
                <a:gd name="T54" fmla="*/ 2 w 31"/>
                <a:gd name="T55" fmla="*/ 7 h 28"/>
                <a:gd name="T56" fmla="*/ 2 w 31"/>
                <a:gd name="T57" fmla="*/ 9 h 28"/>
                <a:gd name="T58" fmla="*/ 2 w 31"/>
                <a:gd name="T59" fmla="*/ 12 h 28"/>
                <a:gd name="T60" fmla="*/ 0 w 31"/>
                <a:gd name="T61" fmla="*/ 14 h 28"/>
                <a:gd name="T62" fmla="*/ 2 w 31"/>
                <a:gd name="T63" fmla="*/ 17 h 28"/>
                <a:gd name="T64" fmla="*/ 2 w 31"/>
                <a:gd name="T65" fmla="*/ 19 h 28"/>
                <a:gd name="T66" fmla="*/ 2 w 31"/>
                <a:gd name="T67" fmla="*/ 21 h 28"/>
                <a:gd name="T68" fmla="*/ 5 w 31"/>
                <a:gd name="T69" fmla="*/ 24 h 28"/>
                <a:gd name="T70" fmla="*/ 5 w 31"/>
                <a:gd name="T71" fmla="*/ 24 h 28"/>
                <a:gd name="T72" fmla="*/ 7 w 31"/>
                <a:gd name="T73" fmla="*/ 26 h 28"/>
                <a:gd name="T74" fmla="*/ 10 w 31"/>
                <a:gd name="T75" fmla="*/ 26 h 28"/>
                <a:gd name="T76" fmla="*/ 12 w 31"/>
                <a:gd name="T77" fmla="*/ 28 h 28"/>
                <a:gd name="T78" fmla="*/ 14 w 31"/>
                <a:gd name="T79" fmla="*/ 28 h 28"/>
                <a:gd name="T80" fmla="*/ 17 w 31"/>
                <a:gd name="T81" fmla="*/ 28 h 28"/>
                <a:gd name="T82" fmla="*/ 17 w 31"/>
                <a:gd name="T83" fmla="*/ 28 h 28"/>
                <a:gd name="T84" fmla="*/ 14 w 31"/>
                <a:gd name="T85" fmla="*/ 28 h 2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8"/>
                <a:gd name="T131" fmla="*/ 31 w 31"/>
                <a:gd name="T132" fmla="*/ 28 h 2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8">
                  <a:moveTo>
                    <a:pt x="14" y="28"/>
                  </a:moveTo>
                  <a:lnTo>
                    <a:pt x="19" y="28"/>
                  </a:lnTo>
                  <a:lnTo>
                    <a:pt x="21" y="28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1" y="9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10" y="26"/>
                  </a:lnTo>
                  <a:lnTo>
                    <a:pt x="12" y="28"/>
                  </a:lnTo>
                  <a:lnTo>
                    <a:pt x="14" y="28"/>
                  </a:lnTo>
                  <a:lnTo>
                    <a:pt x="17" y="28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8" name="Rectangle 423"/>
            <p:cNvSpPr>
              <a:spLocks noChangeArrowheads="1"/>
            </p:cNvSpPr>
            <p:nvPr/>
          </p:nvSpPr>
          <p:spPr bwMode="auto">
            <a:xfrm>
              <a:off x="3018" y="29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419" name="Rectangle 424"/>
            <p:cNvSpPr>
              <a:spLocks noChangeArrowheads="1"/>
            </p:cNvSpPr>
            <p:nvPr/>
          </p:nvSpPr>
          <p:spPr bwMode="auto">
            <a:xfrm>
              <a:off x="3056" y="2950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420" name="Rectangle 425"/>
            <p:cNvSpPr>
              <a:spLocks noChangeArrowheads="1"/>
            </p:cNvSpPr>
            <p:nvPr/>
          </p:nvSpPr>
          <p:spPr bwMode="auto">
            <a:xfrm>
              <a:off x="3070" y="29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421" name="Rectangle 426"/>
            <p:cNvSpPr>
              <a:spLocks noChangeArrowheads="1"/>
            </p:cNvSpPr>
            <p:nvPr/>
          </p:nvSpPr>
          <p:spPr bwMode="auto">
            <a:xfrm>
              <a:off x="3103" y="295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422" name="Rectangle 427"/>
            <p:cNvSpPr>
              <a:spLocks noChangeArrowheads="1"/>
            </p:cNvSpPr>
            <p:nvPr/>
          </p:nvSpPr>
          <p:spPr bwMode="auto">
            <a:xfrm>
              <a:off x="3134" y="295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3" name="Rectangle 428"/>
            <p:cNvSpPr>
              <a:spLocks noChangeArrowheads="1"/>
            </p:cNvSpPr>
            <p:nvPr/>
          </p:nvSpPr>
          <p:spPr bwMode="auto">
            <a:xfrm>
              <a:off x="2984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24" name="Rectangle 429"/>
            <p:cNvSpPr>
              <a:spLocks noChangeArrowheads="1"/>
            </p:cNvSpPr>
            <p:nvPr/>
          </p:nvSpPr>
          <p:spPr bwMode="auto">
            <a:xfrm>
              <a:off x="3018" y="3019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425" name="Rectangle 430"/>
            <p:cNvSpPr>
              <a:spLocks noChangeArrowheads="1"/>
            </p:cNvSpPr>
            <p:nvPr/>
          </p:nvSpPr>
          <p:spPr bwMode="auto">
            <a:xfrm>
              <a:off x="3046" y="301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26" name="Rectangle 431"/>
            <p:cNvSpPr>
              <a:spLocks noChangeArrowheads="1"/>
            </p:cNvSpPr>
            <p:nvPr/>
          </p:nvSpPr>
          <p:spPr bwMode="auto">
            <a:xfrm>
              <a:off x="3063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27" name="Rectangle 432"/>
            <p:cNvSpPr>
              <a:spLocks noChangeArrowheads="1"/>
            </p:cNvSpPr>
            <p:nvPr/>
          </p:nvSpPr>
          <p:spPr bwMode="auto">
            <a:xfrm>
              <a:off x="3096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428" name="Rectangle 433"/>
            <p:cNvSpPr>
              <a:spLocks noChangeArrowheads="1"/>
            </p:cNvSpPr>
            <p:nvPr/>
          </p:nvSpPr>
          <p:spPr bwMode="auto">
            <a:xfrm>
              <a:off x="3127" y="301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429" name="Line 434"/>
            <p:cNvSpPr>
              <a:spLocks noChangeShapeType="1"/>
            </p:cNvSpPr>
            <p:nvPr/>
          </p:nvSpPr>
          <p:spPr bwMode="auto">
            <a:xfrm flipH="1">
              <a:off x="3403" y="2706"/>
              <a:ext cx="113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" name="Freeform 435"/>
            <p:cNvSpPr>
              <a:spLocks noChangeArrowheads="1"/>
            </p:cNvSpPr>
            <p:nvPr/>
          </p:nvSpPr>
          <p:spPr bwMode="auto">
            <a:xfrm>
              <a:off x="3183" y="2706"/>
              <a:ext cx="221" cy="312"/>
            </a:xfrm>
            <a:custGeom>
              <a:avLst/>
              <a:gdLst>
                <a:gd name="T0" fmla="*/ 0 w 221"/>
                <a:gd name="T1" fmla="*/ 312 h 312"/>
                <a:gd name="T2" fmla="*/ 221 w 221"/>
                <a:gd name="T3" fmla="*/ 312 h 312"/>
                <a:gd name="T4" fmla="*/ 221 w 221"/>
                <a:gd name="T5" fmla="*/ 0 h 312"/>
                <a:gd name="T6" fmla="*/ 0 60000 65536"/>
                <a:gd name="T7" fmla="*/ 0 60000 65536"/>
                <a:gd name="T8" fmla="*/ 0 60000 65536"/>
                <a:gd name="T9" fmla="*/ 0 w 221"/>
                <a:gd name="T10" fmla="*/ 0 h 312"/>
                <a:gd name="T11" fmla="*/ 221 w 221"/>
                <a:gd name="T12" fmla="*/ 312 h 3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1" h="312">
                  <a:moveTo>
                    <a:pt x="0" y="312"/>
                  </a:moveTo>
                  <a:lnTo>
                    <a:pt x="221" y="312"/>
                  </a:lnTo>
                  <a:lnTo>
                    <a:pt x="221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1" name="Freeform 436"/>
            <p:cNvSpPr>
              <a:spLocks noChangeArrowheads="1"/>
            </p:cNvSpPr>
            <p:nvPr/>
          </p:nvSpPr>
          <p:spPr bwMode="auto">
            <a:xfrm>
              <a:off x="3389" y="2692"/>
              <a:ext cx="29" cy="28"/>
            </a:xfrm>
            <a:custGeom>
              <a:avLst/>
              <a:gdLst>
                <a:gd name="T0" fmla="*/ 15 w 29"/>
                <a:gd name="T1" fmla="*/ 28 h 28"/>
                <a:gd name="T2" fmla="*/ 17 w 29"/>
                <a:gd name="T3" fmla="*/ 28 h 28"/>
                <a:gd name="T4" fmla="*/ 19 w 29"/>
                <a:gd name="T5" fmla="*/ 28 h 28"/>
                <a:gd name="T6" fmla="*/ 22 w 29"/>
                <a:gd name="T7" fmla="*/ 28 h 28"/>
                <a:gd name="T8" fmla="*/ 24 w 29"/>
                <a:gd name="T9" fmla="*/ 26 h 28"/>
                <a:gd name="T10" fmla="*/ 24 w 29"/>
                <a:gd name="T11" fmla="*/ 26 h 28"/>
                <a:gd name="T12" fmla="*/ 26 w 29"/>
                <a:gd name="T13" fmla="*/ 23 h 28"/>
                <a:gd name="T14" fmla="*/ 26 w 29"/>
                <a:gd name="T15" fmla="*/ 21 h 28"/>
                <a:gd name="T16" fmla="*/ 29 w 29"/>
                <a:gd name="T17" fmla="*/ 18 h 28"/>
                <a:gd name="T18" fmla="*/ 29 w 29"/>
                <a:gd name="T19" fmla="*/ 16 h 28"/>
                <a:gd name="T20" fmla="*/ 29 w 29"/>
                <a:gd name="T21" fmla="*/ 14 h 28"/>
                <a:gd name="T22" fmla="*/ 29 w 29"/>
                <a:gd name="T23" fmla="*/ 11 h 28"/>
                <a:gd name="T24" fmla="*/ 29 w 29"/>
                <a:gd name="T25" fmla="*/ 9 h 28"/>
                <a:gd name="T26" fmla="*/ 26 w 29"/>
                <a:gd name="T27" fmla="*/ 7 h 28"/>
                <a:gd name="T28" fmla="*/ 26 w 29"/>
                <a:gd name="T29" fmla="*/ 7 h 28"/>
                <a:gd name="T30" fmla="*/ 24 w 29"/>
                <a:gd name="T31" fmla="*/ 4 h 28"/>
                <a:gd name="T32" fmla="*/ 24 w 29"/>
                <a:gd name="T33" fmla="*/ 2 h 28"/>
                <a:gd name="T34" fmla="*/ 22 w 29"/>
                <a:gd name="T35" fmla="*/ 2 h 28"/>
                <a:gd name="T36" fmla="*/ 19 w 29"/>
                <a:gd name="T37" fmla="*/ 0 h 28"/>
                <a:gd name="T38" fmla="*/ 17 w 29"/>
                <a:gd name="T39" fmla="*/ 0 h 28"/>
                <a:gd name="T40" fmla="*/ 15 w 29"/>
                <a:gd name="T41" fmla="*/ 0 h 28"/>
                <a:gd name="T42" fmla="*/ 12 w 29"/>
                <a:gd name="T43" fmla="*/ 0 h 28"/>
                <a:gd name="T44" fmla="*/ 10 w 29"/>
                <a:gd name="T45" fmla="*/ 0 h 28"/>
                <a:gd name="T46" fmla="*/ 8 w 29"/>
                <a:gd name="T47" fmla="*/ 2 h 28"/>
                <a:gd name="T48" fmla="*/ 5 w 29"/>
                <a:gd name="T49" fmla="*/ 2 h 28"/>
                <a:gd name="T50" fmla="*/ 5 w 29"/>
                <a:gd name="T51" fmla="*/ 4 h 28"/>
                <a:gd name="T52" fmla="*/ 3 w 29"/>
                <a:gd name="T53" fmla="*/ 7 h 28"/>
                <a:gd name="T54" fmla="*/ 3 w 29"/>
                <a:gd name="T55" fmla="*/ 7 h 28"/>
                <a:gd name="T56" fmla="*/ 0 w 29"/>
                <a:gd name="T57" fmla="*/ 9 h 28"/>
                <a:gd name="T58" fmla="*/ 0 w 29"/>
                <a:gd name="T59" fmla="*/ 11 h 28"/>
                <a:gd name="T60" fmla="*/ 0 w 29"/>
                <a:gd name="T61" fmla="*/ 14 h 28"/>
                <a:gd name="T62" fmla="*/ 0 w 29"/>
                <a:gd name="T63" fmla="*/ 16 h 28"/>
                <a:gd name="T64" fmla="*/ 0 w 29"/>
                <a:gd name="T65" fmla="*/ 18 h 28"/>
                <a:gd name="T66" fmla="*/ 3 w 29"/>
                <a:gd name="T67" fmla="*/ 21 h 28"/>
                <a:gd name="T68" fmla="*/ 3 w 29"/>
                <a:gd name="T69" fmla="*/ 23 h 28"/>
                <a:gd name="T70" fmla="*/ 5 w 29"/>
                <a:gd name="T71" fmla="*/ 26 h 28"/>
                <a:gd name="T72" fmla="*/ 5 w 29"/>
                <a:gd name="T73" fmla="*/ 26 h 28"/>
                <a:gd name="T74" fmla="*/ 8 w 29"/>
                <a:gd name="T75" fmla="*/ 28 h 28"/>
                <a:gd name="T76" fmla="*/ 10 w 29"/>
                <a:gd name="T77" fmla="*/ 28 h 28"/>
                <a:gd name="T78" fmla="*/ 12 w 29"/>
                <a:gd name="T79" fmla="*/ 28 h 28"/>
                <a:gd name="T80" fmla="*/ 15 w 29"/>
                <a:gd name="T81" fmla="*/ 28 h 28"/>
                <a:gd name="T82" fmla="*/ 15 w 29"/>
                <a:gd name="T83" fmla="*/ 28 h 2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8"/>
                <a:gd name="T128" fmla="*/ 29 w 29"/>
                <a:gd name="T129" fmla="*/ 28 h 2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8">
                  <a:moveTo>
                    <a:pt x="15" y="28"/>
                  </a:moveTo>
                  <a:lnTo>
                    <a:pt x="17" y="28"/>
                  </a:lnTo>
                  <a:lnTo>
                    <a:pt x="19" y="28"/>
                  </a:lnTo>
                  <a:lnTo>
                    <a:pt x="22" y="28"/>
                  </a:lnTo>
                  <a:lnTo>
                    <a:pt x="24" y="26"/>
                  </a:lnTo>
                  <a:lnTo>
                    <a:pt x="26" y="23"/>
                  </a:lnTo>
                  <a:lnTo>
                    <a:pt x="26" y="21"/>
                  </a:lnTo>
                  <a:lnTo>
                    <a:pt x="29" y="18"/>
                  </a:lnTo>
                  <a:lnTo>
                    <a:pt x="29" y="16"/>
                  </a:lnTo>
                  <a:lnTo>
                    <a:pt x="29" y="14"/>
                  </a:lnTo>
                  <a:lnTo>
                    <a:pt x="29" y="11"/>
                  </a:lnTo>
                  <a:lnTo>
                    <a:pt x="29" y="9"/>
                  </a:lnTo>
                  <a:lnTo>
                    <a:pt x="26" y="7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2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2"/>
                  </a:lnTo>
                  <a:lnTo>
                    <a:pt x="5" y="2"/>
                  </a:lnTo>
                  <a:lnTo>
                    <a:pt x="5" y="4"/>
                  </a:lnTo>
                  <a:lnTo>
                    <a:pt x="3" y="7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8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5" y="26"/>
                  </a:lnTo>
                  <a:lnTo>
                    <a:pt x="8" y="28"/>
                  </a:lnTo>
                  <a:lnTo>
                    <a:pt x="10" y="28"/>
                  </a:lnTo>
                  <a:lnTo>
                    <a:pt x="12" y="28"/>
                  </a:lnTo>
                  <a:lnTo>
                    <a:pt x="15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2" name="Rectangle 437"/>
            <p:cNvSpPr>
              <a:spLocks noChangeArrowheads="1"/>
            </p:cNvSpPr>
            <p:nvPr/>
          </p:nvSpPr>
          <p:spPr bwMode="auto">
            <a:xfrm>
              <a:off x="3563" y="2481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433" name="Rectangle 438"/>
            <p:cNvSpPr>
              <a:spLocks noChangeArrowheads="1"/>
            </p:cNvSpPr>
            <p:nvPr/>
          </p:nvSpPr>
          <p:spPr bwMode="auto">
            <a:xfrm>
              <a:off x="3612" y="248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4" name="Rectangle 439"/>
            <p:cNvSpPr>
              <a:spLocks noChangeArrowheads="1"/>
            </p:cNvSpPr>
            <p:nvPr/>
          </p:nvSpPr>
          <p:spPr bwMode="auto">
            <a:xfrm>
              <a:off x="3574" y="254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435" name="Rectangle 440"/>
            <p:cNvSpPr>
              <a:spLocks noChangeArrowheads="1"/>
            </p:cNvSpPr>
            <p:nvPr/>
          </p:nvSpPr>
          <p:spPr bwMode="auto">
            <a:xfrm>
              <a:off x="3605" y="254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6" name="Rectangle 441"/>
            <p:cNvSpPr>
              <a:spLocks noChangeArrowheads="1"/>
            </p:cNvSpPr>
            <p:nvPr/>
          </p:nvSpPr>
          <p:spPr bwMode="auto">
            <a:xfrm>
              <a:off x="3574" y="2600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437" name="Rectangle 442"/>
            <p:cNvSpPr>
              <a:spLocks noChangeArrowheads="1"/>
            </p:cNvSpPr>
            <p:nvPr/>
          </p:nvSpPr>
          <p:spPr bwMode="auto">
            <a:xfrm>
              <a:off x="3555" y="267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438" name="Line 443"/>
            <p:cNvSpPr>
              <a:spLocks noChangeShapeType="1"/>
            </p:cNvSpPr>
            <p:nvPr/>
          </p:nvSpPr>
          <p:spPr bwMode="auto">
            <a:xfrm flipH="1">
              <a:off x="3182" y="2225"/>
              <a:ext cx="571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9" name="Freeform 444"/>
            <p:cNvSpPr>
              <a:spLocks noChangeArrowheads="1"/>
            </p:cNvSpPr>
            <p:nvPr/>
          </p:nvSpPr>
          <p:spPr bwMode="auto">
            <a:xfrm>
              <a:off x="3775" y="2104"/>
              <a:ext cx="365" cy="590"/>
            </a:xfrm>
            <a:custGeom>
              <a:avLst/>
              <a:gdLst>
                <a:gd name="T0" fmla="*/ 0 w 365"/>
                <a:gd name="T1" fmla="*/ 0 h 590"/>
                <a:gd name="T2" fmla="*/ 0 w 365"/>
                <a:gd name="T3" fmla="*/ 239 h 590"/>
                <a:gd name="T4" fmla="*/ 62 w 365"/>
                <a:gd name="T5" fmla="*/ 296 h 590"/>
                <a:gd name="T6" fmla="*/ 0 w 365"/>
                <a:gd name="T7" fmla="*/ 353 h 590"/>
                <a:gd name="T8" fmla="*/ 0 w 365"/>
                <a:gd name="T9" fmla="*/ 590 h 590"/>
                <a:gd name="T10" fmla="*/ 365 w 365"/>
                <a:gd name="T11" fmla="*/ 410 h 590"/>
                <a:gd name="T12" fmla="*/ 365 w 365"/>
                <a:gd name="T13" fmla="*/ 183 h 590"/>
                <a:gd name="T14" fmla="*/ 0 w 365"/>
                <a:gd name="T15" fmla="*/ 3 h 590"/>
                <a:gd name="T16" fmla="*/ 0 w 365"/>
                <a:gd name="T17" fmla="*/ 3 h 590"/>
                <a:gd name="T18" fmla="*/ 0 w 365"/>
                <a:gd name="T19" fmla="*/ 0 h 5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65"/>
                <a:gd name="T31" fmla="*/ 0 h 590"/>
                <a:gd name="T32" fmla="*/ 365 w 365"/>
                <a:gd name="T33" fmla="*/ 590 h 59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65" h="590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3"/>
                  </a:lnTo>
                  <a:lnTo>
                    <a:pt x="0" y="590"/>
                  </a:lnTo>
                  <a:lnTo>
                    <a:pt x="365" y="410"/>
                  </a:lnTo>
                  <a:lnTo>
                    <a:pt x="365" y="183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0" name="Freeform 445"/>
            <p:cNvSpPr>
              <a:spLocks noChangeArrowheads="1"/>
            </p:cNvSpPr>
            <p:nvPr/>
          </p:nvSpPr>
          <p:spPr bwMode="auto">
            <a:xfrm>
              <a:off x="3775" y="2104"/>
              <a:ext cx="365" cy="590"/>
            </a:xfrm>
            <a:custGeom>
              <a:avLst/>
              <a:gdLst>
                <a:gd name="T0" fmla="*/ 0 w 365"/>
                <a:gd name="T1" fmla="*/ 0 h 590"/>
                <a:gd name="T2" fmla="*/ 0 w 365"/>
                <a:gd name="T3" fmla="*/ 239 h 590"/>
                <a:gd name="T4" fmla="*/ 62 w 365"/>
                <a:gd name="T5" fmla="*/ 296 h 590"/>
                <a:gd name="T6" fmla="*/ 0 w 365"/>
                <a:gd name="T7" fmla="*/ 353 h 590"/>
                <a:gd name="T8" fmla="*/ 0 w 365"/>
                <a:gd name="T9" fmla="*/ 590 h 590"/>
                <a:gd name="T10" fmla="*/ 365 w 365"/>
                <a:gd name="T11" fmla="*/ 410 h 590"/>
                <a:gd name="T12" fmla="*/ 365 w 365"/>
                <a:gd name="T13" fmla="*/ 183 h 590"/>
                <a:gd name="T14" fmla="*/ 0 w 365"/>
                <a:gd name="T15" fmla="*/ 3 h 590"/>
                <a:gd name="T16" fmla="*/ 0 w 365"/>
                <a:gd name="T17" fmla="*/ 3 h 5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5"/>
                <a:gd name="T28" fmla="*/ 0 h 590"/>
                <a:gd name="T29" fmla="*/ 365 w 365"/>
                <a:gd name="T30" fmla="*/ 590 h 5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5" h="590">
                  <a:moveTo>
                    <a:pt x="0" y="0"/>
                  </a:moveTo>
                  <a:lnTo>
                    <a:pt x="0" y="239"/>
                  </a:lnTo>
                  <a:lnTo>
                    <a:pt x="62" y="296"/>
                  </a:lnTo>
                  <a:lnTo>
                    <a:pt x="0" y="353"/>
                  </a:lnTo>
                  <a:lnTo>
                    <a:pt x="0" y="590"/>
                  </a:lnTo>
                  <a:lnTo>
                    <a:pt x="365" y="410"/>
                  </a:lnTo>
                  <a:lnTo>
                    <a:pt x="365" y="183"/>
                  </a:lnTo>
                  <a:lnTo>
                    <a:pt x="0" y="3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1" name="Rectangle 446"/>
            <p:cNvSpPr>
              <a:spLocks noChangeArrowheads="1"/>
            </p:cNvSpPr>
            <p:nvPr/>
          </p:nvSpPr>
          <p:spPr bwMode="auto">
            <a:xfrm>
              <a:off x="4019" y="2382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42" name="Rectangle 447"/>
            <p:cNvSpPr>
              <a:spLocks noChangeArrowheads="1"/>
            </p:cNvSpPr>
            <p:nvPr/>
          </p:nvSpPr>
          <p:spPr bwMode="auto">
            <a:xfrm>
              <a:off x="4057" y="23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443" name="Rectangle 448"/>
            <p:cNvSpPr>
              <a:spLocks noChangeArrowheads="1"/>
            </p:cNvSpPr>
            <p:nvPr/>
          </p:nvSpPr>
          <p:spPr bwMode="auto">
            <a:xfrm>
              <a:off x="4090" y="2382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444" name="Rectangle 449"/>
            <p:cNvSpPr>
              <a:spLocks noChangeArrowheads="1"/>
            </p:cNvSpPr>
            <p:nvPr/>
          </p:nvSpPr>
          <p:spPr bwMode="auto">
            <a:xfrm>
              <a:off x="4133" y="2382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5" name="Rectangle 450"/>
            <p:cNvSpPr>
              <a:spLocks noChangeArrowheads="1"/>
            </p:cNvSpPr>
            <p:nvPr/>
          </p:nvSpPr>
          <p:spPr bwMode="auto">
            <a:xfrm>
              <a:off x="3972" y="2441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46" name="Rectangle 451"/>
            <p:cNvSpPr>
              <a:spLocks noChangeArrowheads="1"/>
            </p:cNvSpPr>
            <p:nvPr/>
          </p:nvSpPr>
          <p:spPr bwMode="auto">
            <a:xfrm>
              <a:off x="3993" y="244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47" name="Rectangle 452"/>
            <p:cNvSpPr>
              <a:spLocks noChangeArrowheads="1"/>
            </p:cNvSpPr>
            <p:nvPr/>
          </p:nvSpPr>
          <p:spPr bwMode="auto">
            <a:xfrm>
              <a:off x="4024" y="2441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448" name="Rectangle 453"/>
            <p:cNvSpPr>
              <a:spLocks noChangeArrowheads="1"/>
            </p:cNvSpPr>
            <p:nvPr/>
          </p:nvSpPr>
          <p:spPr bwMode="auto">
            <a:xfrm>
              <a:off x="4055" y="244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449" name="Rectangle 454"/>
            <p:cNvSpPr>
              <a:spLocks noChangeArrowheads="1"/>
            </p:cNvSpPr>
            <p:nvPr/>
          </p:nvSpPr>
          <p:spPr bwMode="auto">
            <a:xfrm>
              <a:off x="4086" y="2441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450" name="Rectangle 455"/>
            <p:cNvSpPr>
              <a:spLocks noChangeArrowheads="1"/>
            </p:cNvSpPr>
            <p:nvPr/>
          </p:nvSpPr>
          <p:spPr bwMode="auto">
            <a:xfrm>
              <a:off x="4100" y="244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51" name="Rectangle 456"/>
            <p:cNvSpPr>
              <a:spLocks noChangeArrowheads="1"/>
            </p:cNvSpPr>
            <p:nvPr/>
          </p:nvSpPr>
          <p:spPr bwMode="auto">
            <a:xfrm>
              <a:off x="4005" y="2289"/>
              <a:ext cx="34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Z</a:t>
              </a:r>
            </a:p>
          </p:txBody>
        </p:sp>
        <p:sp>
          <p:nvSpPr>
            <p:cNvPr id="452" name="Rectangle 457"/>
            <p:cNvSpPr>
              <a:spLocks noChangeArrowheads="1"/>
            </p:cNvSpPr>
            <p:nvPr/>
          </p:nvSpPr>
          <p:spPr bwMode="auto">
            <a:xfrm>
              <a:off x="4041" y="228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53" name="Rectangle 458"/>
            <p:cNvSpPr>
              <a:spLocks noChangeArrowheads="1"/>
            </p:cNvSpPr>
            <p:nvPr/>
          </p:nvSpPr>
          <p:spPr bwMode="auto">
            <a:xfrm>
              <a:off x="4071" y="2289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54" name="Rectangle 459"/>
            <p:cNvSpPr>
              <a:spLocks noChangeArrowheads="1"/>
            </p:cNvSpPr>
            <p:nvPr/>
          </p:nvSpPr>
          <p:spPr bwMode="auto">
            <a:xfrm>
              <a:off x="4093" y="228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455" name="Rectangle 460"/>
            <p:cNvSpPr>
              <a:spLocks noChangeArrowheads="1"/>
            </p:cNvSpPr>
            <p:nvPr/>
          </p:nvSpPr>
          <p:spPr bwMode="auto">
            <a:xfrm>
              <a:off x="4656" y="12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456" name="Rectangle 461"/>
            <p:cNvSpPr>
              <a:spLocks noChangeArrowheads="1"/>
            </p:cNvSpPr>
            <p:nvPr/>
          </p:nvSpPr>
          <p:spPr bwMode="auto">
            <a:xfrm>
              <a:off x="4694" y="1250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457" name="Rectangle 462"/>
            <p:cNvSpPr>
              <a:spLocks noChangeArrowheads="1"/>
            </p:cNvSpPr>
            <p:nvPr/>
          </p:nvSpPr>
          <p:spPr bwMode="auto">
            <a:xfrm>
              <a:off x="4737" y="1250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458" name="Rectangle 463"/>
            <p:cNvSpPr>
              <a:spLocks noChangeArrowheads="1"/>
            </p:cNvSpPr>
            <p:nvPr/>
          </p:nvSpPr>
          <p:spPr bwMode="auto">
            <a:xfrm>
              <a:off x="4777" y="1250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59" name="Rectangle 464"/>
            <p:cNvSpPr>
              <a:spLocks noChangeArrowheads="1"/>
            </p:cNvSpPr>
            <p:nvPr/>
          </p:nvSpPr>
          <p:spPr bwMode="auto">
            <a:xfrm>
              <a:off x="4796" y="1250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EB75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EB75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460" name="Rectangle 465"/>
            <p:cNvSpPr>
              <a:spLocks noChangeArrowheads="1"/>
            </p:cNvSpPr>
            <p:nvPr/>
          </p:nvSpPr>
          <p:spPr bwMode="auto">
            <a:xfrm>
              <a:off x="4746" y="2626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461" name="Rectangle 466"/>
            <p:cNvSpPr>
              <a:spLocks noChangeArrowheads="1"/>
            </p:cNvSpPr>
            <p:nvPr/>
          </p:nvSpPr>
          <p:spPr bwMode="auto">
            <a:xfrm>
              <a:off x="4789" y="262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62" name="Rectangle 467"/>
            <p:cNvSpPr>
              <a:spLocks noChangeArrowheads="1"/>
            </p:cNvSpPr>
            <p:nvPr/>
          </p:nvSpPr>
          <p:spPr bwMode="auto">
            <a:xfrm>
              <a:off x="4822" y="262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63" name="Rectangle 468"/>
            <p:cNvSpPr>
              <a:spLocks noChangeArrowheads="1"/>
            </p:cNvSpPr>
            <p:nvPr/>
          </p:nvSpPr>
          <p:spPr bwMode="auto">
            <a:xfrm>
              <a:off x="4839" y="262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64" name="Rectangle 469"/>
            <p:cNvSpPr>
              <a:spLocks noChangeArrowheads="1"/>
            </p:cNvSpPr>
            <p:nvPr/>
          </p:nvSpPr>
          <p:spPr bwMode="auto">
            <a:xfrm>
              <a:off x="4872" y="2626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5" name="Rectangle 470"/>
            <p:cNvSpPr>
              <a:spLocks noChangeArrowheads="1"/>
            </p:cNvSpPr>
            <p:nvPr/>
          </p:nvSpPr>
          <p:spPr bwMode="auto">
            <a:xfrm>
              <a:off x="4706" y="2694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466" name="Rectangle 471"/>
            <p:cNvSpPr>
              <a:spLocks noChangeArrowheads="1"/>
            </p:cNvSpPr>
            <p:nvPr/>
          </p:nvSpPr>
          <p:spPr bwMode="auto">
            <a:xfrm>
              <a:off x="4753" y="26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67" name="Rectangle 472"/>
            <p:cNvSpPr>
              <a:spLocks noChangeArrowheads="1"/>
            </p:cNvSpPr>
            <p:nvPr/>
          </p:nvSpPr>
          <p:spPr bwMode="auto">
            <a:xfrm>
              <a:off x="4787" y="2694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468" name="Rectangle 473"/>
            <p:cNvSpPr>
              <a:spLocks noChangeArrowheads="1"/>
            </p:cNvSpPr>
            <p:nvPr/>
          </p:nvSpPr>
          <p:spPr bwMode="auto">
            <a:xfrm>
              <a:off x="4836" y="26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469" name="Rectangle 474"/>
            <p:cNvSpPr>
              <a:spLocks noChangeArrowheads="1"/>
            </p:cNvSpPr>
            <p:nvPr/>
          </p:nvSpPr>
          <p:spPr bwMode="auto">
            <a:xfrm>
              <a:off x="4867" y="2694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70" name="Rectangle 475"/>
            <p:cNvSpPr>
              <a:spLocks noChangeArrowheads="1"/>
            </p:cNvSpPr>
            <p:nvPr/>
          </p:nvSpPr>
          <p:spPr bwMode="auto">
            <a:xfrm>
              <a:off x="4889" y="2694"/>
              <a:ext cx="2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471" name="Rectangle 476"/>
            <p:cNvSpPr>
              <a:spLocks noChangeArrowheads="1"/>
            </p:cNvSpPr>
            <p:nvPr/>
          </p:nvSpPr>
          <p:spPr bwMode="auto">
            <a:xfrm>
              <a:off x="4406" y="2739"/>
              <a:ext cx="5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472" name="Rectangle 477"/>
            <p:cNvSpPr>
              <a:spLocks noChangeArrowheads="1"/>
            </p:cNvSpPr>
            <p:nvPr/>
          </p:nvSpPr>
          <p:spPr bwMode="auto">
            <a:xfrm>
              <a:off x="4462" y="2739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73" name="Rectangle 478"/>
            <p:cNvSpPr>
              <a:spLocks noChangeArrowheads="1"/>
            </p:cNvSpPr>
            <p:nvPr/>
          </p:nvSpPr>
          <p:spPr bwMode="auto">
            <a:xfrm>
              <a:off x="4481" y="2739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474" name="Rectangle 479"/>
            <p:cNvSpPr>
              <a:spLocks noChangeArrowheads="1"/>
            </p:cNvSpPr>
            <p:nvPr/>
          </p:nvSpPr>
          <p:spPr bwMode="auto">
            <a:xfrm>
              <a:off x="4495" y="273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75" name="Rectangle 480"/>
            <p:cNvSpPr>
              <a:spLocks noChangeArrowheads="1"/>
            </p:cNvSpPr>
            <p:nvPr/>
          </p:nvSpPr>
          <p:spPr bwMode="auto">
            <a:xfrm>
              <a:off x="4510" y="273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76" name="Rectangle 481"/>
            <p:cNvSpPr>
              <a:spLocks noChangeArrowheads="1"/>
            </p:cNvSpPr>
            <p:nvPr/>
          </p:nvSpPr>
          <p:spPr bwMode="auto">
            <a:xfrm>
              <a:off x="4543" y="273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7" name="Rectangle 482"/>
            <p:cNvSpPr>
              <a:spLocks noChangeArrowheads="1"/>
            </p:cNvSpPr>
            <p:nvPr/>
          </p:nvSpPr>
          <p:spPr bwMode="auto">
            <a:xfrm>
              <a:off x="4408" y="279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478" name="Rectangle 483"/>
            <p:cNvSpPr>
              <a:spLocks noChangeArrowheads="1"/>
            </p:cNvSpPr>
            <p:nvPr/>
          </p:nvSpPr>
          <p:spPr bwMode="auto">
            <a:xfrm>
              <a:off x="4439" y="279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79" name="Rectangle 484"/>
            <p:cNvSpPr>
              <a:spLocks noChangeArrowheads="1"/>
            </p:cNvSpPr>
            <p:nvPr/>
          </p:nvSpPr>
          <p:spPr bwMode="auto">
            <a:xfrm>
              <a:off x="4472" y="279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80" name="Rectangle 485"/>
            <p:cNvSpPr>
              <a:spLocks noChangeArrowheads="1"/>
            </p:cNvSpPr>
            <p:nvPr/>
          </p:nvSpPr>
          <p:spPr bwMode="auto">
            <a:xfrm>
              <a:off x="4488" y="279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81" name="Rectangle 486"/>
            <p:cNvSpPr>
              <a:spLocks noChangeArrowheads="1"/>
            </p:cNvSpPr>
            <p:nvPr/>
          </p:nvSpPr>
          <p:spPr bwMode="auto">
            <a:xfrm>
              <a:off x="4881" y="2413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482" name="Rectangle 487"/>
            <p:cNvSpPr>
              <a:spLocks noChangeArrowheads="1"/>
            </p:cNvSpPr>
            <p:nvPr/>
          </p:nvSpPr>
          <p:spPr bwMode="auto">
            <a:xfrm>
              <a:off x="4924" y="24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483" name="Rectangle 488"/>
            <p:cNvSpPr>
              <a:spLocks noChangeArrowheads="1"/>
            </p:cNvSpPr>
            <p:nvPr/>
          </p:nvSpPr>
          <p:spPr bwMode="auto">
            <a:xfrm>
              <a:off x="4957" y="24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84" name="Rectangle 489"/>
            <p:cNvSpPr>
              <a:spLocks noChangeArrowheads="1"/>
            </p:cNvSpPr>
            <p:nvPr/>
          </p:nvSpPr>
          <p:spPr bwMode="auto">
            <a:xfrm>
              <a:off x="4988" y="24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485" name="Rectangle 490"/>
            <p:cNvSpPr>
              <a:spLocks noChangeArrowheads="1"/>
            </p:cNvSpPr>
            <p:nvPr/>
          </p:nvSpPr>
          <p:spPr bwMode="auto">
            <a:xfrm>
              <a:off x="5021" y="2413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6" name="Rectangle 491"/>
            <p:cNvSpPr>
              <a:spLocks noChangeArrowheads="1"/>
            </p:cNvSpPr>
            <p:nvPr/>
          </p:nvSpPr>
          <p:spPr bwMode="auto">
            <a:xfrm>
              <a:off x="4900" y="24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487" name="Rectangle 492"/>
            <p:cNvSpPr>
              <a:spLocks noChangeArrowheads="1"/>
            </p:cNvSpPr>
            <p:nvPr/>
          </p:nvSpPr>
          <p:spPr bwMode="auto">
            <a:xfrm>
              <a:off x="4931" y="24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88" name="Rectangle 493"/>
            <p:cNvSpPr>
              <a:spLocks noChangeArrowheads="1"/>
            </p:cNvSpPr>
            <p:nvPr/>
          </p:nvSpPr>
          <p:spPr bwMode="auto">
            <a:xfrm>
              <a:off x="4964" y="246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489" name="Rectangle 494"/>
            <p:cNvSpPr>
              <a:spLocks noChangeArrowheads="1"/>
            </p:cNvSpPr>
            <p:nvPr/>
          </p:nvSpPr>
          <p:spPr bwMode="auto">
            <a:xfrm>
              <a:off x="4981" y="24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490" name="Rectangle 495"/>
            <p:cNvSpPr>
              <a:spLocks noChangeArrowheads="1"/>
            </p:cNvSpPr>
            <p:nvPr/>
          </p:nvSpPr>
          <p:spPr bwMode="auto">
            <a:xfrm>
              <a:off x="5200" y="2514"/>
              <a:ext cx="4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491" name="Rectangle 496"/>
            <p:cNvSpPr>
              <a:spLocks noChangeArrowheads="1"/>
            </p:cNvSpPr>
            <p:nvPr/>
          </p:nvSpPr>
          <p:spPr bwMode="auto">
            <a:xfrm>
              <a:off x="5246" y="251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2" name="Rectangle 497"/>
            <p:cNvSpPr>
              <a:spLocks noChangeArrowheads="1"/>
            </p:cNvSpPr>
            <p:nvPr/>
          </p:nvSpPr>
          <p:spPr bwMode="auto">
            <a:xfrm>
              <a:off x="5208" y="257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493" name="Rectangle 498"/>
            <p:cNvSpPr>
              <a:spLocks noChangeArrowheads="1"/>
            </p:cNvSpPr>
            <p:nvPr/>
          </p:nvSpPr>
          <p:spPr bwMode="auto">
            <a:xfrm>
              <a:off x="5241" y="257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4" name="Rectangle 499"/>
            <p:cNvSpPr>
              <a:spLocks noChangeArrowheads="1"/>
            </p:cNvSpPr>
            <p:nvPr/>
          </p:nvSpPr>
          <p:spPr bwMode="auto">
            <a:xfrm>
              <a:off x="5208" y="2630"/>
              <a:ext cx="2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x</a:t>
              </a:r>
            </a:p>
          </p:txBody>
        </p:sp>
        <p:sp>
          <p:nvSpPr>
            <p:cNvPr id="495" name="Rectangle 500"/>
            <p:cNvSpPr>
              <a:spLocks noChangeArrowheads="1"/>
            </p:cNvSpPr>
            <p:nvPr/>
          </p:nvSpPr>
          <p:spPr bwMode="auto">
            <a:xfrm>
              <a:off x="5192" y="244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496" name="Line 501"/>
            <p:cNvSpPr>
              <a:spLocks noChangeShapeType="1"/>
            </p:cNvSpPr>
            <p:nvPr/>
          </p:nvSpPr>
          <p:spPr bwMode="auto">
            <a:xfrm flipH="1">
              <a:off x="1634" y="2310"/>
              <a:ext cx="475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7" name="Rectangle 502"/>
            <p:cNvSpPr>
              <a:spLocks noChangeArrowheads="1"/>
            </p:cNvSpPr>
            <p:nvPr/>
          </p:nvSpPr>
          <p:spPr bwMode="auto">
            <a:xfrm>
              <a:off x="1662" y="2578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498" name="Rectangle 503"/>
            <p:cNvSpPr>
              <a:spLocks noChangeArrowheads="1"/>
            </p:cNvSpPr>
            <p:nvPr/>
          </p:nvSpPr>
          <p:spPr bwMode="auto">
            <a:xfrm>
              <a:off x="1677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499" name="Rectangle 504"/>
            <p:cNvSpPr>
              <a:spLocks noChangeArrowheads="1"/>
            </p:cNvSpPr>
            <p:nvPr/>
          </p:nvSpPr>
          <p:spPr bwMode="auto">
            <a:xfrm>
              <a:off x="1710" y="257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500" name="Rectangle 505"/>
            <p:cNvSpPr>
              <a:spLocks noChangeArrowheads="1"/>
            </p:cNvSpPr>
            <p:nvPr/>
          </p:nvSpPr>
          <p:spPr bwMode="auto">
            <a:xfrm>
              <a:off x="1739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01" name="Rectangle 506"/>
            <p:cNvSpPr>
              <a:spLocks noChangeArrowheads="1"/>
            </p:cNvSpPr>
            <p:nvPr/>
          </p:nvSpPr>
          <p:spPr bwMode="auto">
            <a:xfrm>
              <a:off x="1755" y="257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02" name="Rectangle 507"/>
            <p:cNvSpPr>
              <a:spLocks noChangeArrowheads="1"/>
            </p:cNvSpPr>
            <p:nvPr/>
          </p:nvSpPr>
          <p:spPr bwMode="auto">
            <a:xfrm>
              <a:off x="1774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503" name="Rectangle 508"/>
            <p:cNvSpPr>
              <a:spLocks noChangeArrowheads="1"/>
            </p:cNvSpPr>
            <p:nvPr/>
          </p:nvSpPr>
          <p:spPr bwMode="auto">
            <a:xfrm>
              <a:off x="1808" y="2578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504" name="Rectangle 509"/>
            <p:cNvSpPr>
              <a:spLocks noChangeArrowheads="1"/>
            </p:cNvSpPr>
            <p:nvPr/>
          </p:nvSpPr>
          <p:spPr bwMode="auto">
            <a:xfrm>
              <a:off x="1836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05" name="Rectangle 510"/>
            <p:cNvSpPr>
              <a:spLocks noChangeArrowheads="1"/>
            </p:cNvSpPr>
            <p:nvPr/>
          </p:nvSpPr>
          <p:spPr bwMode="auto">
            <a:xfrm>
              <a:off x="1852" y="2578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506" name="Rectangle 511"/>
            <p:cNvSpPr>
              <a:spLocks noChangeArrowheads="1"/>
            </p:cNvSpPr>
            <p:nvPr/>
          </p:nvSpPr>
          <p:spPr bwMode="auto">
            <a:xfrm>
              <a:off x="1867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507" name="Rectangle 512"/>
            <p:cNvSpPr>
              <a:spLocks noChangeArrowheads="1"/>
            </p:cNvSpPr>
            <p:nvPr/>
          </p:nvSpPr>
          <p:spPr bwMode="auto">
            <a:xfrm>
              <a:off x="1898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508" name="Rectangle 513"/>
            <p:cNvSpPr>
              <a:spLocks noChangeArrowheads="1"/>
            </p:cNvSpPr>
            <p:nvPr/>
          </p:nvSpPr>
          <p:spPr bwMode="auto">
            <a:xfrm>
              <a:off x="1931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509" name="Rectangle 514"/>
            <p:cNvSpPr>
              <a:spLocks noChangeArrowheads="1"/>
            </p:cNvSpPr>
            <p:nvPr/>
          </p:nvSpPr>
          <p:spPr bwMode="auto">
            <a:xfrm>
              <a:off x="1947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510" name="Rectangle 515"/>
            <p:cNvSpPr>
              <a:spLocks noChangeArrowheads="1"/>
            </p:cNvSpPr>
            <p:nvPr/>
          </p:nvSpPr>
          <p:spPr bwMode="auto">
            <a:xfrm>
              <a:off x="1964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511" name="Rectangle 516"/>
            <p:cNvSpPr>
              <a:spLocks noChangeArrowheads="1"/>
            </p:cNvSpPr>
            <p:nvPr/>
          </p:nvSpPr>
          <p:spPr bwMode="auto">
            <a:xfrm>
              <a:off x="1995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512" name="Rectangle 517"/>
            <p:cNvSpPr>
              <a:spLocks noChangeArrowheads="1"/>
            </p:cNvSpPr>
            <p:nvPr/>
          </p:nvSpPr>
          <p:spPr bwMode="auto">
            <a:xfrm>
              <a:off x="2028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513" name="Rectangle 518"/>
            <p:cNvSpPr>
              <a:spLocks noChangeArrowheads="1"/>
            </p:cNvSpPr>
            <p:nvPr/>
          </p:nvSpPr>
          <p:spPr bwMode="auto">
            <a:xfrm>
              <a:off x="2044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514" name="Rectangle 519"/>
            <p:cNvSpPr>
              <a:spLocks noChangeArrowheads="1"/>
            </p:cNvSpPr>
            <p:nvPr/>
          </p:nvSpPr>
          <p:spPr bwMode="auto">
            <a:xfrm>
              <a:off x="2061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515" name="Rectangle 520"/>
            <p:cNvSpPr>
              <a:spLocks noChangeArrowheads="1"/>
            </p:cNvSpPr>
            <p:nvPr/>
          </p:nvSpPr>
          <p:spPr bwMode="auto">
            <a:xfrm>
              <a:off x="2094" y="257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516" name="Rectangle 521"/>
            <p:cNvSpPr>
              <a:spLocks noChangeArrowheads="1"/>
            </p:cNvSpPr>
            <p:nvPr/>
          </p:nvSpPr>
          <p:spPr bwMode="auto">
            <a:xfrm>
              <a:off x="2125" y="2578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517" name="Line 522"/>
            <p:cNvSpPr>
              <a:spLocks noChangeShapeType="1"/>
            </p:cNvSpPr>
            <p:nvPr/>
          </p:nvSpPr>
          <p:spPr bwMode="auto">
            <a:xfrm flipH="1">
              <a:off x="3182" y="2443"/>
              <a:ext cx="334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8" name="Line 523"/>
            <p:cNvSpPr>
              <a:spLocks noChangeShapeType="1"/>
            </p:cNvSpPr>
            <p:nvPr/>
          </p:nvSpPr>
          <p:spPr bwMode="auto">
            <a:xfrm flipH="1">
              <a:off x="4139" y="2474"/>
              <a:ext cx="90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9" name="Freeform 524"/>
            <p:cNvSpPr>
              <a:spLocks noChangeArrowheads="1"/>
            </p:cNvSpPr>
            <p:nvPr/>
          </p:nvSpPr>
          <p:spPr bwMode="auto">
            <a:xfrm>
              <a:off x="4228" y="2476"/>
              <a:ext cx="921" cy="497"/>
            </a:xfrm>
            <a:custGeom>
              <a:avLst/>
              <a:gdLst>
                <a:gd name="T0" fmla="*/ 921 w 921"/>
                <a:gd name="T1" fmla="*/ 261 h 497"/>
                <a:gd name="T2" fmla="*/ 855 w 921"/>
                <a:gd name="T3" fmla="*/ 261 h 497"/>
                <a:gd name="T4" fmla="*/ 855 w 921"/>
                <a:gd name="T5" fmla="*/ 497 h 497"/>
                <a:gd name="T6" fmla="*/ 0 w 921"/>
                <a:gd name="T7" fmla="*/ 497 h 497"/>
                <a:gd name="T8" fmla="*/ 0 w 921"/>
                <a:gd name="T9" fmla="*/ 0 h 49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21"/>
                <a:gd name="T16" fmla="*/ 0 h 497"/>
                <a:gd name="T17" fmla="*/ 921 w 921"/>
                <a:gd name="T18" fmla="*/ 497 h 49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21" h="497">
                  <a:moveTo>
                    <a:pt x="921" y="261"/>
                  </a:moveTo>
                  <a:lnTo>
                    <a:pt x="855" y="261"/>
                  </a:lnTo>
                  <a:lnTo>
                    <a:pt x="855" y="497"/>
                  </a:lnTo>
                  <a:lnTo>
                    <a:pt x="0" y="497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0" name="Freeform 525"/>
            <p:cNvSpPr>
              <a:spLocks noChangeArrowheads="1"/>
            </p:cNvSpPr>
            <p:nvPr/>
          </p:nvSpPr>
          <p:spPr bwMode="auto">
            <a:xfrm>
              <a:off x="3508" y="1152"/>
              <a:ext cx="180" cy="289"/>
            </a:xfrm>
            <a:custGeom>
              <a:avLst/>
              <a:gdLst>
                <a:gd name="T0" fmla="*/ 90 w 180"/>
                <a:gd name="T1" fmla="*/ 287 h 289"/>
                <a:gd name="T2" fmla="*/ 104 w 180"/>
                <a:gd name="T3" fmla="*/ 287 h 289"/>
                <a:gd name="T4" fmla="*/ 118 w 180"/>
                <a:gd name="T5" fmla="*/ 280 h 289"/>
                <a:gd name="T6" fmla="*/ 132 w 180"/>
                <a:gd name="T7" fmla="*/ 273 h 289"/>
                <a:gd name="T8" fmla="*/ 144 w 180"/>
                <a:gd name="T9" fmla="*/ 261 h 289"/>
                <a:gd name="T10" fmla="*/ 154 w 180"/>
                <a:gd name="T11" fmla="*/ 247 h 289"/>
                <a:gd name="T12" fmla="*/ 163 w 180"/>
                <a:gd name="T13" fmla="*/ 230 h 289"/>
                <a:gd name="T14" fmla="*/ 170 w 180"/>
                <a:gd name="T15" fmla="*/ 211 h 289"/>
                <a:gd name="T16" fmla="*/ 175 w 180"/>
                <a:gd name="T17" fmla="*/ 190 h 289"/>
                <a:gd name="T18" fmla="*/ 180 w 180"/>
                <a:gd name="T19" fmla="*/ 169 h 289"/>
                <a:gd name="T20" fmla="*/ 180 w 180"/>
                <a:gd name="T21" fmla="*/ 145 h 289"/>
                <a:gd name="T22" fmla="*/ 180 w 180"/>
                <a:gd name="T23" fmla="*/ 121 h 289"/>
                <a:gd name="T24" fmla="*/ 175 w 180"/>
                <a:gd name="T25" fmla="*/ 100 h 289"/>
                <a:gd name="T26" fmla="*/ 170 w 180"/>
                <a:gd name="T27" fmla="*/ 79 h 289"/>
                <a:gd name="T28" fmla="*/ 163 w 180"/>
                <a:gd name="T29" fmla="*/ 60 h 289"/>
                <a:gd name="T30" fmla="*/ 154 w 180"/>
                <a:gd name="T31" fmla="*/ 43 h 289"/>
                <a:gd name="T32" fmla="*/ 144 w 180"/>
                <a:gd name="T33" fmla="*/ 29 h 289"/>
                <a:gd name="T34" fmla="*/ 132 w 180"/>
                <a:gd name="T35" fmla="*/ 17 h 289"/>
                <a:gd name="T36" fmla="*/ 118 w 180"/>
                <a:gd name="T37" fmla="*/ 8 h 289"/>
                <a:gd name="T38" fmla="*/ 104 w 180"/>
                <a:gd name="T39" fmla="*/ 3 h 289"/>
                <a:gd name="T40" fmla="*/ 90 w 180"/>
                <a:gd name="T41" fmla="*/ 0 h 289"/>
                <a:gd name="T42" fmla="*/ 76 w 180"/>
                <a:gd name="T43" fmla="*/ 3 h 289"/>
                <a:gd name="T44" fmla="*/ 61 w 180"/>
                <a:gd name="T45" fmla="*/ 8 h 289"/>
                <a:gd name="T46" fmla="*/ 50 w 180"/>
                <a:gd name="T47" fmla="*/ 17 h 289"/>
                <a:gd name="T48" fmla="*/ 38 w 180"/>
                <a:gd name="T49" fmla="*/ 29 h 289"/>
                <a:gd name="T50" fmla="*/ 26 w 180"/>
                <a:gd name="T51" fmla="*/ 43 h 289"/>
                <a:gd name="T52" fmla="*/ 16 w 180"/>
                <a:gd name="T53" fmla="*/ 60 h 289"/>
                <a:gd name="T54" fmla="*/ 9 w 180"/>
                <a:gd name="T55" fmla="*/ 79 h 289"/>
                <a:gd name="T56" fmla="*/ 5 w 180"/>
                <a:gd name="T57" fmla="*/ 100 h 289"/>
                <a:gd name="T58" fmla="*/ 2 w 180"/>
                <a:gd name="T59" fmla="*/ 121 h 289"/>
                <a:gd name="T60" fmla="*/ 0 w 180"/>
                <a:gd name="T61" fmla="*/ 145 h 289"/>
                <a:gd name="T62" fmla="*/ 2 w 180"/>
                <a:gd name="T63" fmla="*/ 169 h 289"/>
                <a:gd name="T64" fmla="*/ 5 w 180"/>
                <a:gd name="T65" fmla="*/ 190 h 289"/>
                <a:gd name="T66" fmla="*/ 9 w 180"/>
                <a:gd name="T67" fmla="*/ 211 h 289"/>
                <a:gd name="T68" fmla="*/ 16 w 180"/>
                <a:gd name="T69" fmla="*/ 230 h 289"/>
                <a:gd name="T70" fmla="*/ 26 w 180"/>
                <a:gd name="T71" fmla="*/ 247 h 289"/>
                <a:gd name="T72" fmla="*/ 38 w 180"/>
                <a:gd name="T73" fmla="*/ 261 h 289"/>
                <a:gd name="T74" fmla="*/ 50 w 180"/>
                <a:gd name="T75" fmla="*/ 273 h 289"/>
                <a:gd name="T76" fmla="*/ 61 w 180"/>
                <a:gd name="T77" fmla="*/ 280 h 289"/>
                <a:gd name="T78" fmla="*/ 76 w 180"/>
                <a:gd name="T79" fmla="*/ 287 h 289"/>
                <a:gd name="T80" fmla="*/ 90 w 180"/>
                <a:gd name="T81" fmla="*/ 289 h 289"/>
                <a:gd name="T82" fmla="*/ 90 w 180"/>
                <a:gd name="T83" fmla="*/ 289 h 289"/>
                <a:gd name="T84" fmla="*/ 90 w 180"/>
                <a:gd name="T85" fmla="*/ 287 h 28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80"/>
                <a:gd name="T130" fmla="*/ 0 h 289"/>
                <a:gd name="T131" fmla="*/ 180 w 180"/>
                <a:gd name="T132" fmla="*/ 289 h 28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80" h="289">
                  <a:moveTo>
                    <a:pt x="90" y="287"/>
                  </a:moveTo>
                  <a:lnTo>
                    <a:pt x="104" y="287"/>
                  </a:lnTo>
                  <a:lnTo>
                    <a:pt x="118" y="280"/>
                  </a:lnTo>
                  <a:lnTo>
                    <a:pt x="132" y="273"/>
                  </a:lnTo>
                  <a:lnTo>
                    <a:pt x="144" y="261"/>
                  </a:lnTo>
                  <a:lnTo>
                    <a:pt x="154" y="247"/>
                  </a:lnTo>
                  <a:lnTo>
                    <a:pt x="163" y="230"/>
                  </a:lnTo>
                  <a:lnTo>
                    <a:pt x="170" y="211"/>
                  </a:lnTo>
                  <a:lnTo>
                    <a:pt x="175" y="190"/>
                  </a:lnTo>
                  <a:lnTo>
                    <a:pt x="180" y="169"/>
                  </a:lnTo>
                  <a:lnTo>
                    <a:pt x="180" y="145"/>
                  </a:lnTo>
                  <a:lnTo>
                    <a:pt x="180" y="121"/>
                  </a:lnTo>
                  <a:lnTo>
                    <a:pt x="175" y="100"/>
                  </a:lnTo>
                  <a:lnTo>
                    <a:pt x="170" y="79"/>
                  </a:lnTo>
                  <a:lnTo>
                    <a:pt x="163" y="60"/>
                  </a:lnTo>
                  <a:lnTo>
                    <a:pt x="154" y="43"/>
                  </a:lnTo>
                  <a:lnTo>
                    <a:pt x="144" y="29"/>
                  </a:lnTo>
                  <a:lnTo>
                    <a:pt x="132" y="17"/>
                  </a:lnTo>
                  <a:lnTo>
                    <a:pt x="118" y="8"/>
                  </a:lnTo>
                  <a:lnTo>
                    <a:pt x="104" y="3"/>
                  </a:lnTo>
                  <a:lnTo>
                    <a:pt x="90" y="0"/>
                  </a:lnTo>
                  <a:lnTo>
                    <a:pt x="76" y="3"/>
                  </a:lnTo>
                  <a:lnTo>
                    <a:pt x="61" y="8"/>
                  </a:lnTo>
                  <a:lnTo>
                    <a:pt x="50" y="17"/>
                  </a:lnTo>
                  <a:lnTo>
                    <a:pt x="38" y="29"/>
                  </a:lnTo>
                  <a:lnTo>
                    <a:pt x="26" y="43"/>
                  </a:lnTo>
                  <a:lnTo>
                    <a:pt x="16" y="60"/>
                  </a:lnTo>
                  <a:lnTo>
                    <a:pt x="9" y="79"/>
                  </a:lnTo>
                  <a:lnTo>
                    <a:pt x="5" y="100"/>
                  </a:lnTo>
                  <a:lnTo>
                    <a:pt x="2" y="121"/>
                  </a:lnTo>
                  <a:lnTo>
                    <a:pt x="0" y="145"/>
                  </a:lnTo>
                  <a:lnTo>
                    <a:pt x="2" y="169"/>
                  </a:lnTo>
                  <a:lnTo>
                    <a:pt x="5" y="190"/>
                  </a:lnTo>
                  <a:lnTo>
                    <a:pt x="9" y="211"/>
                  </a:lnTo>
                  <a:lnTo>
                    <a:pt x="16" y="230"/>
                  </a:lnTo>
                  <a:lnTo>
                    <a:pt x="26" y="247"/>
                  </a:lnTo>
                  <a:lnTo>
                    <a:pt x="38" y="261"/>
                  </a:lnTo>
                  <a:lnTo>
                    <a:pt x="50" y="273"/>
                  </a:lnTo>
                  <a:lnTo>
                    <a:pt x="61" y="280"/>
                  </a:lnTo>
                  <a:lnTo>
                    <a:pt x="76" y="287"/>
                  </a:lnTo>
                  <a:lnTo>
                    <a:pt x="90" y="289"/>
                  </a:lnTo>
                  <a:lnTo>
                    <a:pt x="90" y="28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1" name="Freeform 526"/>
            <p:cNvSpPr>
              <a:spLocks noChangeArrowheads="1"/>
            </p:cNvSpPr>
            <p:nvPr/>
          </p:nvSpPr>
          <p:spPr bwMode="auto">
            <a:xfrm>
              <a:off x="3508" y="1152"/>
              <a:ext cx="180" cy="289"/>
            </a:xfrm>
            <a:custGeom>
              <a:avLst/>
              <a:gdLst>
                <a:gd name="T0" fmla="*/ 90 w 180"/>
                <a:gd name="T1" fmla="*/ 287 h 289"/>
                <a:gd name="T2" fmla="*/ 104 w 180"/>
                <a:gd name="T3" fmla="*/ 287 h 289"/>
                <a:gd name="T4" fmla="*/ 118 w 180"/>
                <a:gd name="T5" fmla="*/ 280 h 289"/>
                <a:gd name="T6" fmla="*/ 132 w 180"/>
                <a:gd name="T7" fmla="*/ 273 h 289"/>
                <a:gd name="T8" fmla="*/ 144 w 180"/>
                <a:gd name="T9" fmla="*/ 261 h 289"/>
                <a:gd name="T10" fmla="*/ 154 w 180"/>
                <a:gd name="T11" fmla="*/ 247 h 289"/>
                <a:gd name="T12" fmla="*/ 163 w 180"/>
                <a:gd name="T13" fmla="*/ 230 h 289"/>
                <a:gd name="T14" fmla="*/ 170 w 180"/>
                <a:gd name="T15" fmla="*/ 211 h 289"/>
                <a:gd name="T16" fmla="*/ 175 w 180"/>
                <a:gd name="T17" fmla="*/ 190 h 289"/>
                <a:gd name="T18" fmla="*/ 180 w 180"/>
                <a:gd name="T19" fmla="*/ 169 h 289"/>
                <a:gd name="T20" fmla="*/ 180 w 180"/>
                <a:gd name="T21" fmla="*/ 145 h 289"/>
                <a:gd name="T22" fmla="*/ 180 w 180"/>
                <a:gd name="T23" fmla="*/ 121 h 289"/>
                <a:gd name="T24" fmla="*/ 175 w 180"/>
                <a:gd name="T25" fmla="*/ 100 h 289"/>
                <a:gd name="T26" fmla="*/ 170 w 180"/>
                <a:gd name="T27" fmla="*/ 79 h 289"/>
                <a:gd name="T28" fmla="*/ 163 w 180"/>
                <a:gd name="T29" fmla="*/ 60 h 289"/>
                <a:gd name="T30" fmla="*/ 154 w 180"/>
                <a:gd name="T31" fmla="*/ 43 h 289"/>
                <a:gd name="T32" fmla="*/ 144 w 180"/>
                <a:gd name="T33" fmla="*/ 29 h 289"/>
                <a:gd name="T34" fmla="*/ 132 w 180"/>
                <a:gd name="T35" fmla="*/ 17 h 289"/>
                <a:gd name="T36" fmla="*/ 118 w 180"/>
                <a:gd name="T37" fmla="*/ 8 h 289"/>
                <a:gd name="T38" fmla="*/ 104 w 180"/>
                <a:gd name="T39" fmla="*/ 3 h 289"/>
                <a:gd name="T40" fmla="*/ 90 w 180"/>
                <a:gd name="T41" fmla="*/ 0 h 289"/>
                <a:gd name="T42" fmla="*/ 76 w 180"/>
                <a:gd name="T43" fmla="*/ 3 h 289"/>
                <a:gd name="T44" fmla="*/ 61 w 180"/>
                <a:gd name="T45" fmla="*/ 8 h 289"/>
                <a:gd name="T46" fmla="*/ 50 w 180"/>
                <a:gd name="T47" fmla="*/ 17 h 289"/>
                <a:gd name="T48" fmla="*/ 38 w 180"/>
                <a:gd name="T49" fmla="*/ 29 h 289"/>
                <a:gd name="T50" fmla="*/ 26 w 180"/>
                <a:gd name="T51" fmla="*/ 43 h 289"/>
                <a:gd name="T52" fmla="*/ 16 w 180"/>
                <a:gd name="T53" fmla="*/ 60 h 289"/>
                <a:gd name="T54" fmla="*/ 9 w 180"/>
                <a:gd name="T55" fmla="*/ 79 h 289"/>
                <a:gd name="T56" fmla="*/ 5 w 180"/>
                <a:gd name="T57" fmla="*/ 100 h 289"/>
                <a:gd name="T58" fmla="*/ 2 w 180"/>
                <a:gd name="T59" fmla="*/ 121 h 289"/>
                <a:gd name="T60" fmla="*/ 0 w 180"/>
                <a:gd name="T61" fmla="*/ 145 h 289"/>
                <a:gd name="T62" fmla="*/ 2 w 180"/>
                <a:gd name="T63" fmla="*/ 169 h 289"/>
                <a:gd name="T64" fmla="*/ 5 w 180"/>
                <a:gd name="T65" fmla="*/ 190 h 289"/>
                <a:gd name="T66" fmla="*/ 9 w 180"/>
                <a:gd name="T67" fmla="*/ 211 h 289"/>
                <a:gd name="T68" fmla="*/ 16 w 180"/>
                <a:gd name="T69" fmla="*/ 230 h 289"/>
                <a:gd name="T70" fmla="*/ 26 w 180"/>
                <a:gd name="T71" fmla="*/ 247 h 289"/>
                <a:gd name="T72" fmla="*/ 38 w 180"/>
                <a:gd name="T73" fmla="*/ 261 h 289"/>
                <a:gd name="T74" fmla="*/ 50 w 180"/>
                <a:gd name="T75" fmla="*/ 273 h 289"/>
                <a:gd name="T76" fmla="*/ 61 w 180"/>
                <a:gd name="T77" fmla="*/ 280 h 289"/>
                <a:gd name="T78" fmla="*/ 76 w 180"/>
                <a:gd name="T79" fmla="*/ 287 h 289"/>
                <a:gd name="T80" fmla="*/ 90 w 180"/>
                <a:gd name="T81" fmla="*/ 289 h 289"/>
                <a:gd name="T82" fmla="*/ 90 w 180"/>
                <a:gd name="T83" fmla="*/ 289 h 28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80"/>
                <a:gd name="T127" fmla="*/ 0 h 289"/>
                <a:gd name="T128" fmla="*/ 180 w 180"/>
                <a:gd name="T129" fmla="*/ 289 h 28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80" h="289">
                  <a:moveTo>
                    <a:pt x="90" y="287"/>
                  </a:moveTo>
                  <a:lnTo>
                    <a:pt x="104" y="287"/>
                  </a:lnTo>
                  <a:lnTo>
                    <a:pt x="118" y="280"/>
                  </a:lnTo>
                  <a:lnTo>
                    <a:pt x="132" y="273"/>
                  </a:lnTo>
                  <a:lnTo>
                    <a:pt x="144" y="261"/>
                  </a:lnTo>
                  <a:lnTo>
                    <a:pt x="154" y="247"/>
                  </a:lnTo>
                  <a:lnTo>
                    <a:pt x="163" y="230"/>
                  </a:lnTo>
                  <a:lnTo>
                    <a:pt x="170" y="211"/>
                  </a:lnTo>
                  <a:lnTo>
                    <a:pt x="175" y="190"/>
                  </a:lnTo>
                  <a:lnTo>
                    <a:pt x="180" y="169"/>
                  </a:lnTo>
                  <a:lnTo>
                    <a:pt x="180" y="145"/>
                  </a:lnTo>
                  <a:lnTo>
                    <a:pt x="180" y="121"/>
                  </a:lnTo>
                  <a:lnTo>
                    <a:pt x="175" y="100"/>
                  </a:lnTo>
                  <a:lnTo>
                    <a:pt x="170" y="79"/>
                  </a:lnTo>
                  <a:lnTo>
                    <a:pt x="163" y="60"/>
                  </a:lnTo>
                  <a:lnTo>
                    <a:pt x="154" y="43"/>
                  </a:lnTo>
                  <a:lnTo>
                    <a:pt x="144" y="29"/>
                  </a:lnTo>
                  <a:lnTo>
                    <a:pt x="132" y="17"/>
                  </a:lnTo>
                  <a:lnTo>
                    <a:pt x="118" y="8"/>
                  </a:lnTo>
                  <a:lnTo>
                    <a:pt x="104" y="3"/>
                  </a:lnTo>
                  <a:lnTo>
                    <a:pt x="90" y="0"/>
                  </a:lnTo>
                  <a:lnTo>
                    <a:pt x="76" y="3"/>
                  </a:lnTo>
                  <a:lnTo>
                    <a:pt x="61" y="8"/>
                  </a:lnTo>
                  <a:lnTo>
                    <a:pt x="50" y="17"/>
                  </a:lnTo>
                  <a:lnTo>
                    <a:pt x="38" y="29"/>
                  </a:lnTo>
                  <a:lnTo>
                    <a:pt x="26" y="43"/>
                  </a:lnTo>
                  <a:lnTo>
                    <a:pt x="16" y="60"/>
                  </a:lnTo>
                  <a:lnTo>
                    <a:pt x="9" y="79"/>
                  </a:lnTo>
                  <a:lnTo>
                    <a:pt x="5" y="100"/>
                  </a:lnTo>
                  <a:lnTo>
                    <a:pt x="2" y="121"/>
                  </a:lnTo>
                  <a:lnTo>
                    <a:pt x="0" y="145"/>
                  </a:lnTo>
                  <a:lnTo>
                    <a:pt x="2" y="169"/>
                  </a:lnTo>
                  <a:lnTo>
                    <a:pt x="5" y="190"/>
                  </a:lnTo>
                  <a:lnTo>
                    <a:pt x="9" y="211"/>
                  </a:lnTo>
                  <a:lnTo>
                    <a:pt x="16" y="230"/>
                  </a:lnTo>
                  <a:lnTo>
                    <a:pt x="26" y="247"/>
                  </a:lnTo>
                  <a:lnTo>
                    <a:pt x="38" y="261"/>
                  </a:lnTo>
                  <a:lnTo>
                    <a:pt x="50" y="273"/>
                  </a:lnTo>
                  <a:lnTo>
                    <a:pt x="61" y="280"/>
                  </a:lnTo>
                  <a:lnTo>
                    <a:pt x="76" y="287"/>
                  </a:lnTo>
                  <a:lnTo>
                    <a:pt x="90" y="289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522" name="Group 527"/>
            <p:cNvGrpSpPr>
              <a:grpSpLocks/>
            </p:cNvGrpSpPr>
            <p:nvPr/>
          </p:nvGrpSpPr>
          <p:grpSpPr bwMode="auto">
            <a:xfrm>
              <a:off x="3581" y="3038"/>
              <a:ext cx="173" cy="143"/>
              <a:chOff x="3581" y="3038"/>
              <a:chExt cx="173" cy="143"/>
            </a:xfrm>
          </p:grpSpPr>
          <p:sp>
            <p:nvSpPr>
              <p:cNvPr id="570" name="Rectangle 528"/>
              <p:cNvSpPr>
                <a:spLocks noChangeArrowheads="1"/>
              </p:cNvSpPr>
              <p:nvPr/>
            </p:nvSpPr>
            <p:spPr bwMode="auto">
              <a:xfrm>
                <a:off x="3619" y="3038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A</a:t>
                </a:r>
              </a:p>
            </p:txBody>
          </p:sp>
          <p:sp>
            <p:nvSpPr>
              <p:cNvPr id="571" name="Rectangle 529"/>
              <p:cNvSpPr>
                <a:spLocks noChangeArrowheads="1"/>
              </p:cNvSpPr>
              <p:nvPr/>
            </p:nvSpPr>
            <p:spPr bwMode="auto">
              <a:xfrm>
                <a:off x="3659" y="3038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  <p:sp>
            <p:nvSpPr>
              <p:cNvPr id="572" name="Rectangle 530"/>
              <p:cNvSpPr>
                <a:spLocks noChangeArrowheads="1"/>
              </p:cNvSpPr>
              <p:nvPr/>
            </p:nvSpPr>
            <p:spPr bwMode="auto">
              <a:xfrm>
                <a:off x="3690" y="3038"/>
                <a:ext cx="4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U</a:t>
                </a:r>
              </a:p>
            </p:txBody>
          </p:sp>
          <p:sp>
            <p:nvSpPr>
              <p:cNvPr id="573" name="Rectangle 531"/>
              <p:cNvSpPr>
                <a:spLocks noChangeArrowheads="1"/>
              </p:cNvSpPr>
              <p:nvPr/>
            </p:nvSpPr>
            <p:spPr bwMode="auto">
              <a:xfrm>
                <a:off x="3733" y="3038"/>
                <a:ext cx="1" cy="1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74" name="Rectangle 532"/>
              <p:cNvSpPr>
                <a:spLocks noChangeArrowheads="1"/>
              </p:cNvSpPr>
              <p:nvPr/>
            </p:nvSpPr>
            <p:spPr bwMode="auto">
              <a:xfrm>
                <a:off x="3581" y="3106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c</a:t>
                </a:r>
              </a:p>
            </p:txBody>
          </p:sp>
          <p:sp>
            <p:nvSpPr>
              <p:cNvPr id="575" name="Rectangle 533"/>
              <p:cNvSpPr>
                <a:spLocks noChangeArrowheads="1"/>
              </p:cNvSpPr>
              <p:nvPr/>
            </p:nvSpPr>
            <p:spPr bwMode="auto">
              <a:xfrm>
                <a:off x="3610" y="310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576" name="Rectangle 534"/>
              <p:cNvSpPr>
                <a:spLocks noChangeArrowheads="1"/>
              </p:cNvSpPr>
              <p:nvPr/>
            </p:nvSpPr>
            <p:spPr bwMode="auto">
              <a:xfrm>
                <a:off x="3643" y="310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n</a:t>
                </a:r>
              </a:p>
            </p:txBody>
          </p:sp>
          <p:sp>
            <p:nvSpPr>
              <p:cNvPr id="577" name="Rectangle 535"/>
              <p:cNvSpPr>
                <a:spLocks noChangeArrowheads="1"/>
              </p:cNvSpPr>
              <p:nvPr/>
            </p:nvSpPr>
            <p:spPr bwMode="auto">
              <a:xfrm>
                <a:off x="3676" y="3106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t</a:t>
                </a:r>
              </a:p>
            </p:txBody>
          </p:sp>
          <p:sp>
            <p:nvSpPr>
              <p:cNvPr id="578" name="Rectangle 536"/>
              <p:cNvSpPr>
                <a:spLocks noChangeArrowheads="1"/>
              </p:cNvSpPr>
              <p:nvPr/>
            </p:nvSpPr>
            <p:spPr bwMode="auto">
              <a:xfrm>
                <a:off x="3690" y="3106"/>
                <a:ext cx="1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r</a:t>
                </a:r>
              </a:p>
            </p:txBody>
          </p:sp>
          <p:sp>
            <p:nvSpPr>
              <p:cNvPr id="579" name="Rectangle 537"/>
              <p:cNvSpPr>
                <a:spLocks noChangeArrowheads="1"/>
              </p:cNvSpPr>
              <p:nvPr/>
            </p:nvSpPr>
            <p:spPr bwMode="auto">
              <a:xfrm>
                <a:off x="3711" y="310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o</a:t>
                </a:r>
              </a:p>
            </p:txBody>
          </p:sp>
          <p:sp>
            <p:nvSpPr>
              <p:cNvPr id="580" name="Rectangle 538"/>
              <p:cNvSpPr>
                <a:spLocks noChangeArrowheads="1"/>
              </p:cNvSpPr>
              <p:nvPr/>
            </p:nvSpPr>
            <p:spPr bwMode="auto">
              <a:xfrm>
                <a:off x="3742" y="3106"/>
                <a:ext cx="13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lnSpc>
                    <a:spcPct val="100000"/>
                  </a:lnSpc>
                  <a:buClr>
                    <a:srgbClr val="CE9964"/>
                  </a:buClr>
                  <a:buFont typeface="Arial" charset="0"/>
                  <a:buNone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</a:pPr>
                <a:r>
                  <a:rPr lang="en-GB" altLang="zh-TW" sz="700">
                    <a:solidFill>
                      <a:srgbClr val="CE9964"/>
                    </a:solidFill>
                    <a:latin typeface="Arial" charset="0"/>
                    <a:ea typeface="新細明體" charset="-120"/>
                  </a:rPr>
                  <a:t>l</a:t>
                </a:r>
              </a:p>
            </p:txBody>
          </p:sp>
        </p:grpSp>
        <p:sp>
          <p:nvSpPr>
            <p:cNvPr id="523" name="Freeform 539"/>
            <p:cNvSpPr>
              <a:spLocks noChangeArrowheads="1"/>
            </p:cNvSpPr>
            <p:nvPr/>
          </p:nvSpPr>
          <p:spPr bwMode="auto">
            <a:xfrm>
              <a:off x="3532" y="3089"/>
              <a:ext cx="28" cy="31"/>
            </a:xfrm>
            <a:custGeom>
              <a:avLst/>
              <a:gdLst>
                <a:gd name="T0" fmla="*/ 0 w 28"/>
                <a:gd name="T1" fmla="*/ 0 h 31"/>
                <a:gd name="T2" fmla="*/ 0 w 28"/>
                <a:gd name="T3" fmla="*/ 31 h 31"/>
                <a:gd name="T4" fmla="*/ 28 w 28"/>
                <a:gd name="T5" fmla="*/ 17 h 31"/>
                <a:gd name="T6" fmla="*/ 0 w 28"/>
                <a:gd name="T7" fmla="*/ 3 h 31"/>
                <a:gd name="T8" fmla="*/ 0 w 28"/>
                <a:gd name="T9" fmla="*/ 3 h 31"/>
                <a:gd name="T10" fmla="*/ 0 w 28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"/>
                <a:gd name="T19" fmla="*/ 0 h 31"/>
                <a:gd name="T20" fmla="*/ 28 w 28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" h="31">
                  <a:moveTo>
                    <a:pt x="0" y="0"/>
                  </a:moveTo>
                  <a:lnTo>
                    <a:pt x="0" y="31"/>
                  </a:lnTo>
                  <a:lnTo>
                    <a:pt x="28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4" name="Line 540"/>
            <p:cNvSpPr>
              <a:spLocks noChangeShapeType="1"/>
            </p:cNvSpPr>
            <p:nvPr/>
          </p:nvSpPr>
          <p:spPr bwMode="auto">
            <a:xfrm>
              <a:off x="1436" y="2398"/>
              <a:ext cx="196" cy="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5" name="Freeform 541"/>
            <p:cNvSpPr>
              <a:spLocks noChangeArrowheads="1"/>
            </p:cNvSpPr>
            <p:nvPr/>
          </p:nvSpPr>
          <p:spPr bwMode="auto">
            <a:xfrm>
              <a:off x="1618" y="2386"/>
              <a:ext cx="31" cy="29"/>
            </a:xfrm>
            <a:custGeom>
              <a:avLst/>
              <a:gdLst>
                <a:gd name="T0" fmla="*/ 14 w 31"/>
                <a:gd name="T1" fmla="*/ 29 h 29"/>
                <a:gd name="T2" fmla="*/ 19 w 31"/>
                <a:gd name="T3" fmla="*/ 29 h 29"/>
                <a:gd name="T4" fmla="*/ 21 w 31"/>
                <a:gd name="T5" fmla="*/ 29 h 29"/>
                <a:gd name="T6" fmla="*/ 21 w 31"/>
                <a:gd name="T7" fmla="*/ 26 h 29"/>
                <a:gd name="T8" fmla="*/ 24 w 31"/>
                <a:gd name="T9" fmla="*/ 26 h 29"/>
                <a:gd name="T10" fmla="*/ 26 w 31"/>
                <a:gd name="T11" fmla="*/ 24 h 29"/>
                <a:gd name="T12" fmla="*/ 29 w 31"/>
                <a:gd name="T13" fmla="*/ 24 h 29"/>
                <a:gd name="T14" fmla="*/ 29 w 31"/>
                <a:gd name="T15" fmla="*/ 21 h 29"/>
                <a:gd name="T16" fmla="*/ 31 w 31"/>
                <a:gd name="T17" fmla="*/ 19 h 29"/>
                <a:gd name="T18" fmla="*/ 31 w 31"/>
                <a:gd name="T19" fmla="*/ 17 h 29"/>
                <a:gd name="T20" fmla="*/ 31 w 31"/>
                <a:gd name="T21" fmla="*/ 14 h 29"/>
                <a:gd name="T22" fmla="*/ 31 w 31"/>
                <a:gd name="T23" fmla="*/ 12 h 29"/>
                <a:gd name="T24" fmla="*/ 31 w 31"/>
                <a:gd name="T25" fmla="*/ 10 h 29"/>
                <a:gd name="T26" fmla="*/ 29 w 31"/>
                <a:gd name="T27" fmla="*/ 7 h 29"/>
                <a:gd name="T28" fmla="*/ 29 w 31"/>
                <a:gd name="T29" fmla="*/ 5 h 29"/>
                <a:gd name="T30" fmla="*/ 26 w 31"/>
                <a:gd name="T31" fmla="*/ 5 h 29"/>
                <a:gd name="T32" fmla="*/ 24 w 31"/>
                <a:gd name="T33" fmla="*/ 2 h 29"/>
                <a:gd name="T34" fmla="*/ 21 w 31"/>
                <a:gd name="T35" fmla="*/ 0 h 29"/>
                <a:gd name="T36" fmla="*/ 21 w 31"/>
                <a:gd name="T37" fmla="*/ 0 h 29"/>
                <a:gd name="T38" fmla="*/ 19 w 31"/>
                <a:gd name="T39" fmla="*/ 0 h 29"/>
                <a:gd name="T40" fmla="*/ 17 w 31"/>
                <a:gd name="T41" fmla="*/ 0 h 29"/>
                <a:gd name="T42" fmla="*/ 14 w 31"/>
                <a:gd name="T43" fmla="*/ 0 h 29"/>
                <a:gd name="T44" fmla="*/ 12 w 31"/>
                <a:gd name="T45" fmla="*/ 0 h 29"/>
                <a:gd name="T46" fmla="*/ 10 w 31"/>
                <a:gd name="T47" fmla="*/ 0 h 29"/>
                <a:gd name="T48" fmla="*/ 7 w 31"/>
                <a:gd name="T49" fmla="*/ 2 h 29"/>
                <a:gd name="T50" fmla="*/ 5 w 31"/>
                <a:gd name="T51" fmla="*/ 5 h 29"/>
                <a:gd name="T52" fmla="*/ 5 w 31"/>
                <a:gd name="T53" fmla="*/ 5 h 29"/>
                <a:gd name="T54" fmla="*/ 2 w 31"/>
                <a:gd name="T55" fmla="*/ 7 h 29"/>
                <a:gd name="T56" fmla="*/ 2 w 31"/>
                <a:gd name="T57" fmla="*/ 10 h 29"/>
                <a:gd name="T58" fmla="*/ 2 w 31"/>
                <a:gd name="T59" fmla="*/ 12 h 29"/>
                <a:gd name="T60" fmla="*/ 0 w 31"/>
                <a:gd name="T61" fmla="*/ 14 h 29"/>
                <a:gd name="T62" fmla="*/ 2 w 31"/>
                <a:gd name="T63" fmla="*/ 17 h 29"/>
                <a:gd name="T64" fmla="*/ 2 w 31"/>
                <a:gd name="T65" fmla="*/ 19 h 29"/>
                <a:gd name="T66" fmla="*/ 2 w 31"/>
                <a:gd name="T67" fmla="*/ 21 h 29"/>
                <a:gd name="T68" fmla="*/ 5 w 31"/>
                <a:gd name="T69" fmla="*/ 24 h 29"/>
                <a:gd name="T70" fmla="*/ 5 w 31"/>
                <a:gd name="T71" fmla="*/ 24 h 29"/>
                <a:gd name="T72" fmla="*/ 7 w 31"/>
                <a:gd name="T73" fmla="*/ 26 h 29"/>
                <a:gd name="T74" fmla="*/ 10 w 31"/>
                <a:gd name="T75" fmla="*/ 26 h 29"/>
                <a:gd name="T76" fmla="*/ 12 w 31"/>
                <a:gd name="T77" fmla="*/ 29 h 29"/>
                <a:gd name="T78" fmla="*/ 14 w 31"/>
                <a:gd name="T79" fmla="*/ 29 h 29"/>
                <a:gd name="T80" fmla="*/ 17 w 31"/>
                <a:gd name="T81" fmla="*/ 29 h 29"/>
                <a:gd name="T82" fmla="*/ 17 w 31"/>
                <a:gd name="T83" fmla="*/ 29 h 29"/>
                <a:gd name="T84" fmla="*/ 14 w 31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9"/>
                <a:gd name="T131" fmla="*/ 31 w 31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9">
                  <a:moveTo>
                    <a:pt x="14" y="29"/>
                  </a:moveTo>
                  <a:lnTo>
                    <a:pt x="19" y="29"/>
                  </a:lnTo>
                  <a:lnTo>
                    <a:pt x="21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1" y="10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10" y="26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7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6" name="Freeform 542"/>
            <p:cNvSpPr>
              <a:spLocks noChangeArrowheads="1"/>
            </p:cNvSpPr>
            <p:nvPr/>
          </p:nvSpPr>
          <p:spPr bwMode="auto">
            <a:xfrm>
              <a:off x="2096" y="2298"/>
              <a:ext cx="29" cy="29"/>
            </a:xfrm>
            <a:custGeom>
              <a:avLst/>
              <a:gdLst>
                <a:gd name="T0" fmla="*/ 12 w 29"/>
                <a:gd name="T1" fmla="*/ 29 h 29"/>
                <a:gd name="T2" fmla="*/ 17 w 29"/>
                <a:gd name="T3" fmla="*/ 29 h 29"/>
                <a:gd name="T4" fmla="*/ 19 w 29"/>
                <a:gd name="T5" fmla="*/ 29 h 29"/>
                <a:gd name="T6" fmla="*/ 22 w 29"/>
                <a:gd name="T7" fmla="*/ 27 h 29"/>
                <a:gd name="T8" fmla="*/ 22 w 29"/>
                <a:gd name="T9" fmla="*/ 27 h 29"/>
                <a:gd name="T10" fmla="*/ 24 w 29"/>
                <a:gd name="T11" fmla="*/ 24 h 29"/>
                <a:gd name="T12" fmla="*/ 26 w 29"/>
                <a:gd name="T13" fmla="*/ 22 h 29"/>
                <a:gd name="T14" fmla="*/ 26 w 29"/>
                <a:gd name="T15" fmla="*/ 22 h 29"/>
                <a:gd name="T16" fmla="*/ 29 w 29"/>
                <a:gd name="T17" fmla="*/ 19 h 29"/>
                <a:gd name="T18" fmla="*/ 29 w 29"/>
                <a:gd name="T19" fmla="*/ 17 h 29"/>
                <a:gd name="T20" fmla="*/ 29 w 29"/>
                <a:gd name="T21" fmla="*/ 15 h 29"/>
                <a:gd name="T22" fmla="*/ 29 w 29"/>
                <a:gd name="T23" fmla="*/ 12 h 29"/>
                <a:gd name="T24" fmla="*/ 29 w 29"/>
                <a:gd name="T25" fmla="*/ 10 h 29"/>
                <a:gd name="T26" fmla="*/ 26 w 29"/>
                <a:gd name="T27" fmla="*/ 8 h 29"/>
                <a:gd name="T28" fmla="*/ 26 w 29"/>
                <a:gd name="T29" fmla="*/ 5 h 29"/>
                <a:gd name="T30" fmla="*/ 24 w 29"/>
                <a:gd name="T31" fmla="*/ 3 h 29"/>
                <a:gd name="T32" fmla="*/ 22 w 29"/>
                <a:gd name="T33" fmla="*/ 3 h 29"/>
                <a:gd name="T34" fmla="*/ 22 w 29"/>
                <a:gd name="T35" fmla="*/ 0 h 29"/>
                <a:gd name="T36" fmla="*/ 19 w 29"/>
                <a:gd name="T37" fmla="*/ 0 h 29"/>
                <a:gd name="T38" fmla="*/ 17 w 29"/>
                <a:gd name="T39" fmla="*/ 0 h 29"/>
                <a:gd name="T40" fmla="*/ 15 w 29"/>
                <a:gd name="T41" fmla="*/ 0 h 29"/>
                <a:gd name="T42" fmla="*/ 12 w 29"/>
                <a:gd name="T43" fmla="*/ 0 h 29"/>
                <a:gd name="T44" fmla="*/ 10 w 29"/>
                <a:gd name="T45" fmla="*/ 0 h 29"/>
                <a:gd name="T46" fmla="*/ 8 w 29"/>
                <a:gd name="T47" fmla="*/ 0 h 29"/>
                <a:gd name="T48" fmla="*/ 5 w 29"/>
                <a:gd name="T49" fmla="*/ 3 h 29"/>
                <a:gd name="T50" fmla="*/ 3 w 29"/>
                <a:gd name="T51" fmla="*/ 3 h 29"/>
                <a:gd name="T52" fmla="*/ 3 w 29"/>
                <a:gd name="T53" fmla="*/ 5 h 29"/>
                <a:gd name="T54" fmla="*/ 0 w 29"/>
                <a:gd name="T55" fmla="*/ 8 h 29"/>
                <a:gd name="T56" fmla="*/ 0 w 29"/>
                <a:gd name="T57" fmla="*/ 10 h 29"/>
                <a:gd name="T58" fmla="*/ 0 w 29"/>
                <a:gd name="T59" fmla="*/ 12 h 29"/>
                <a:gd name="T60" fmla="*/ 0 w 29"/>
                <a:gd name="T61" fmla="*/ 15 h 29"/>
                <a:gd name="T62" fmla="*/ 0 w 29"/>
                <a:gd name="T63" fmla="*/ 17 h 29"/>
                <a:gd name="T64" fmla="*/ 0 w 29"/>
                <a:gd name="T65" fmla="*/ 19 h 29"/>
                <a:gd name="T66" fmla="*/ 0 w 29"/>
                <a:gd name="T67" fmla="*/ 22 h 29"/>
                <a:gd name="T68" fmla="*/ 3 w 29"/>
                <a:gd name="T69" fmla="*/ 22 h 29"/>
                <a:gd name="T70" fmla="*/ 3 w 29"/>
                <a:gd name="T71" fmla="*/ 24 h 29"/>
                <a:gd name="T72" fmla="*/ 5 w 29"/>
                <a:gd name="T73" fmla="*/ 27 h 29"/>
                <a:gd name="T74" fmla="*/ 8 w 29"/>
                <a:gd name="T75" fmla="*/ 27 h 29"/>
                <a:gd name="T76" fmla="*/ 10 w 29"/>
                <a:gd name="T77" fmla="*/ 29 h 29"/>
                <a:gd name="T78" fmla="*/ 12 w 29"/>
                <a:gd name="T79" fmla="*/ 29 h 29"/>
                <a:gd name="T80" fmla="*/ 15 w 29"/>
                <a:gd name="T81" fmla="*/ 29 h 29"/>
                <a:gd name="T82" fmla="*/ 15 w 29"/>
                <a:gd name="T83" fmla="*/ 29 h 29"/>
                <a:gd name="T84" fmla="*/ 12 w 29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29"/>
                <a:gd name="T131" fmla="*/ 29 w 29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29">
                  <a:moveTo>
                    <a:pt x="12" y="29"/>
                  </a:moveTo>
                  <a:lnTo>
                    <a:pt x="17" y="29"/>
                  </a:lnTo>
                  <a:lnTo>
                    <a:pt x="19" y="29"/>
                  </a:lnTo>
                  <a:lnTo>
                    <a:pt x="22" y="27"/>
                  </a:lnTo>
                  <a:lnTo>
                    <a:pt x="24" y="24"/>
                  </a:lnTo>
                  <a:lnTo>
                    <a:pt x="26" y="22"/>
                  </a:lnTo>
                  <a:lnTo>
                    <a:pt x="29" y="19"/>
                  </a:lnTo>
                  <a:lnTo>
                    <a:pt x="29" y="17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10"/>
                  </a:lnTo>
                  <a:lnTo>
                    <a:pt x="26" y="8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2" y="3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8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3" y="5"/>
                  </a:lnTo>
                  <a:lnTo>
                    <a:pt x="0" y="8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0" y="22"/>
                  </a:lnTo>
                  <a:lnTo>
                    <a:pt x="3" y="22"/>
                  </a:lnTo>
                  <a:lnTo>
                    <a:pt x="3" y="24"/>
                  </a:lnTo>
                  <a:lnTo>
                    <a:pt x="5" y="27"/>
                  </a:lnTo>
                  <a:lnTo>
                    <a:pt x="8" y="27"/>
                  </a:lnTo>
                  <a:lnTo>
                    <a:pt x="10" y="29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2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7" name="Freeform 543"/>
            <p:cNvSpPr>
              <a:spLocks noChangeArrowheads="1"/>
            </p:cNvSpPr>
            <p:nvPr/>
          </p:nvSpPr>
          <p:spPr bwMode="auto">
            <a:xfrm>
              <a:off x="1618" y="2123"/>
              <a:ext cx="31" cy="29"/>
            </a:xfrm>
            <a:custGeom>
              <a:avLst/>
              <a:gdLst>
                <a:gd name="T0" fmla="*/ 14 w 31"/>
                <a:gd name="T1" fmla="*/ 29 h 29"/>
                <a:gd name="T2" fmla="*/ 19 w 31"/>
                <a:gd name="T3" fmla="*/ 29 h 29"/>
                <a:gd name="T4" fmla="*/ 21 w 31"/>
                <a:gd name="T5" fmla="*/ 29 h 29"/>
                <a:gd name="T6" fmla="*/ 21 w 31"/>
                <a:gd name="T7" fmla="*/ 26 h 29"/>
                <a:gd name="T8" fmla="*/ 24 w 31"/>
                <a:gd name="T9" fmla="*/ 26 h 29"/>
                <a:gd name="T10" fmla="*/ 26 w 31"/>
                <a:gd name="T11" fmla="*/ 24 h 29"/>
                <a:gd name="T12" fmla="*/ 29 w 31"/>
                <a:gd name="T13" fmla="*/ 24 h 29"/>
                <a:gd name="T14" fmla="*/ 29 w 31"/>
                <a:gd name="T15" fmla="*/ 22 h 29"/>
                <a:gd name="T16" fmla="*/ 31 w 31"/>
                <a:gd name="T17" fmla="*/ 19 h 29"/>
                <a:gd name="T18" fmla="*/ 31 w 31"/>
                <a:gd name="T19" fmla="*/ 17 h 29"/>
                <a:gd name="T20" fmla="*/ 31 w 31"/>
                <a:gd name="T21" fmla="*/ 14 h 29"/>
                <a:gd name="T22" fmla="*/ 31 w 31"/>
                <a:gd name="T23" fmla="*/ 12 h 29"/>
                <a:gd name="T24" fmla="*/ 31 w 31"/>
                <a:gd name="T25" fmla="*/ 10 h 29"/>
                <a:gd name="T26" fmla="*/ 29 w 31"/>
                <a:gd name="T27" fmla="*/ 7 h 29"/>
                <a:gd name="T28" fmla="*/ 29 w 31"/>
                <a:gd name="T29" fmla="*/ 5 h 29"/>
                <a:gd name="T30" fmla="*/ 26 w 31"/>
                <a:gd name="T31" fmla="*/ 5 h 29"/>
                <a:gd name="T32" fmla="*/ 24 w 31"/>
                <a:gd name="T33" fmla="*/ 3 h 29"/>
                <a:gd name="T34" fmla="*/ 21 w 31"/>
                <a:gd name="T35" fmla="*/ 0 h 29"/>
                <a:gd name="T36" fmla="*/ 21 w 31"/>
                <a:gd name="T37" fmla="*/ 0 h 29"/>
                <a:gd name="T38" fmla="*/ 19 w 31"/>
                <a:gd name="T39" fmla="*/ 0 h 29"/>
                <a:gd name="T40" fmla="*/ 17 w 31"/>
                <a:gd name="T41" fmla="*/ 0 h 29"/>
                <a:gd name="T42" fmla="*/ 14 w 31"/>
                <a:gd name="T43" fmla="*/ 0 h 29"/>
                <a:gd name="T44" fmla="*/ 12 w 31"/>
                <a:gd name="T45" fmla="*/ 0 h 29"/>
                <a:gd name="T46" fmla="*/ 10 w 31"/>
                <a:gd name="T47" fmla="*/ 0 h 29"/>
                <a:gd name="T48" fmla="*/ 7 w 31"/>
                <a:gd name="T49" fmla="*/ 3 h 29"/>
                <a:gd name="T50" fmla="*/ 5 w 31"/>
                <a:gd name="T51" fmla="*/ 5 h 29"/>
                <a:gd name="T52" fmla="*/ 5 w 31"/>
                <a:gd name="T53" fmla="*/ 5 h 29"/>
                <a:gd name="T54" fmla="*/ 2 w 31"/>
                <a:gd name="T55" fmla="*/ 7 h 29"/>
                <a:gd name="T56" fmla="*/ 2 w 31"/>
                <a:gd name="T57" fmla="*/ 10 h 29"/>
                <a:gd name="T58" fmla="*/ 2 w 31"/>
                <a:gd name="T59" fmla="*/ 12 h 29"/>
                <a:gd name="T60" fmla="*/ 0 w 31"/>
                <a:gd name="T61" fmla="*/ 14 h 29"/>
                <a:gd name="T62" fmla="*/ 2 w 31"/>
                <a:gd name="T63" fmla="*/ 17 h 29"/>
                <a:gd name="T64" fmla="*/ 2 w 31"/>
                <a:gd name="T65" fmla="*/ 19 h 29"/>
                <a:gd name="T66" fmla="*/ 2 w 31"/>
                <a:gd name="T67" fmla="*/ 22 h 29"/>
                <a:gd name="T68" fmla="*/ 5 w 31"/>
                <a:gd name="T69" fmla="*/ 24 h 29"/>
                <a:gd name="T70" fmla="*/ 5 w 31"/>
                <a:gd name="T71" fmla="*/ 24 h 29"/>
                <a:gd name="T72" fmla="*/ 7 w 31"/>
                <a:gd name="T73" fmla="*/ 26 h 29"/>
                <a:gd name="T74" fmla="*/ 10 w 31"/>
                <a:gd name="T75" fmla="*/ 26 h 29"/>
                <a:gd name="T76" fmla="*/ 12 w 31"/>
                <a:gd name="T77" fmla="*/ 29 h 29"/>
                <a:gd name="T78" fmla="*/ 14 w 31"/>
                <a:gd name="T79" fmla="*/ 29 h 29"/>
                <a:gd name="T80" fmla="*/ 17 w 31"/>
                <a:gd name="T81" fmla="*/ 29 h 29"/>
                <a:gd name="T82" fmla="*/ 17 w 31"/>
                <a:gd name="T83" fmla="*/ 29 h 29"/>
                <a:gd name="T84" fmla="*/ 14 w 31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9"/>
                <a:gd name="T131" fmla="*/ 31 w 31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9">
                  <a:moveTo>
                    <a:pt x="14" y="29"/>
                  </a:moveTo>
                  <a:lnTo>
                    <a:pt x="19" y="29"/>
                  </a:lnTo>
                  <a:lnTo>
                    <a:pt x="21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31" y="10"/>
                  </a:lnTo>
                  <a:lnTo>
                    <a:pt x="29" y="7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4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10" y="26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7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8" name="Freeform 544"/>
            <p:cNvSpPr>
              <a:spLocks noChangeArrowheads="1"/>
            </p:cNvSpPr>
            <p:nvPr/>
          </p:nvSpPr>
          <p:spPr bwMode="auto">
            <a:xfrm>
              <a:off x="1618" y="2298"/>
              <a:ext cx="31" cy="29"/>
            </a:xfrm>
            <a:custGeom>
              <a:avLst/>
              <a:gdLst>
                <a:gd name="T0" fmla="*/ 14 w 31"/>
                <a:gd name="T1" fmla="*/ 29 h 29"/>
                <a:gd name="T2" fmla="*/ 19 w 31"/>
                <a:gd name="T3" fmla="*/ 29 h 29"/>
                <a:gd name="T4" fmla="*/ 21 w 31"/>
                <a:gd name="T5" fmla="*/ 29 h 29"/>
                <a:gd name="T6" fmla="*/ 21 w 31"/>
                <a:gd name="T7" fmla="*/ 27 h 29"/>
                <a:gd name="T8" fmla="*/ 24 w 31"/>
                <a:gd name="T9" fmla="*/ 27 h 29"/>
                <a:gd name="T10" fmla="*/ 26 w 31"/>
                <a:gd name="T11" fmla="*/ 24 h 29"/>
                <a:gd name="T12" fmla="*/ 29 w 31"/>
                <a:gd name="T13" fmla="*/ 24 h 29"/>
                <a:gd name="T14" fmla="*/ 29 w 31"/>
                <a:gd name="T15" fmla="*/ 22 h 29"/>
                <a:gd name="T16" fmla="*/ 31 w 31"/>
                <a:gd name="T17" fmla="*/ 19 h 29"/>
                <a:gd name="T18" fmla="*/ 31 w 31"/>
                <a:gd name="T19" fmla="*/ 17 h 29"/>
                <a:gd name="T20" fmla="*/ 31 w 31"/>
                <a:gd name="T21" fmla="*/ 15 h 29"/>
                <a:gd name="T22" fmla="*/ 31 w 31"/>
                <a:gd name="T23" fmla="*/ 12 h 29"/>
                <a:gd name="T24" fmla="*/ 31 w 31"/>
                <a:gd name="T25" fmla="*/ 10 h 29"/>
                <a:gd name="T26" fmla="*/ 29 w 31"/>
                <a:gd name="T27" fmla="*/ 8 h 29"/>
                <a:gd name="T28" fmla="*/ 29 w 31"/>
                <a:gd name="T29" fmla="*/ 5 h 29"/>
                <a:gd name="T30" fmla="*/ 26 w 31"/>
                <a:gd name="T31" fmla="*/ 5 h 29"/>
                <a:gd name="T32" fmla="*/ 24 w 31"/>
                <a:gd name="T33" fmla="*/ 3 h 29"/>
                <a:gd name="T34" fmla="*/ 21 w 31"/>
                <a:gd name="T35" fmla="*/ 0 h 29"/>
                <a:gd name="T36" fmla="*/ 21 w 31"/>
                <a:gd name="T37" fmla="*/ 0 h 29"/>
                <a:gd name="T38" fmla="*/ 19 w 31"/>
                <a:gd name="T39" fmla="*/ 0 h 29"/>
                <a:gd name="T40" fmla="*/ 17 w 31"/>
                <a:gd name="T41" fmla="*/ 0 h 29"/>
                <a:gd name="T42" fmla="*/ 14 w 31"/>
                <a:gd name="T43" fmla="*/ 0 h 29"/>
                <a:gd name="T44" fmla="*/ 12 w 31"/>
                <a:gd name="T45" fmla="*/ 0 h 29"/>
                <a:gd name="T46" fmla="*/ 10 w 31"/>
                <a:gd name="T47" fmla="*/ 0 h 29"/>
                <a:gd name="T48" fmla="*/ 7 w 31"/>
                <a:gd name="T49" fmla="*/ 3 h 29"/>
                <a:gd name="T50" fmla="*/ 5 w 31"/>
                <a:gd name="T51" fmla="*/ 5 h 29"/>
                <a:gd name="T52" fmla="*/ 5 w 31"/>
                <a:gd name="T53" fmla="*/ 5 h 29"/>
                <a:gd name="T54" fmla="*/ 2 w 31"/>
                <a:gd name="T55" fmla="*/ 8 h 29"/>
                <a:gd name="T56" fmla="*/ 2 w 31"/>
                <a:gd name="T57" fmla="*/ 10 h 29"/>
                <a:gd name="T58" fmla="*/ 2 w 31"/>
                <a:gd name="T59" fmla="*/ 12 h 29"/>
                <a:gd name="T60" fmla="*/ 0 w 31"/>
                <a:gd name="T61" fmla="*/ 15 h 29"/>
                <a:gd name="T62" fmla="*/ 2 w 31"/>
                <a:gd name="T63" fmla="*/ 17 h 29"/>
                <a:gd name="T64" fmla="*/ 2 w 31"/>
                <a:gd name="T65" fmla="*/ 19 h 29"/>
                <a:gd name="T66" fmla="*/ 2 w 31"/>
                <a:gd name="T67" fmla="*/ 22 h 29"/>
                <a:gd name="T68" fmla="*/ 5 w 31"/>
                <a:gd name="T69" fmla="*/ 24 h 29"/>
                <a:gd name="T70" fmla="*/ 5 w 31"/>
                <a:gd name="T71" fmla="*/ 24 h 29"/>
                <a:gd name="T72" fmla="*/ 7 w 31"/>
                <a:gd name="T73" fmla="*/ 27 h 29"/>
                <a:gd name="T74" fmla="*/ 10 w 31"/>
                <a:gd name="T75" fmla="*/ 27 h 29"/>
                <a:gd name="T76" fmla="*/ 12 w 31"/>
                <a:gd name="T77" fmla="*/ 29 h 29"/>
                <a:gd name="T78" fmla="*/ 14 w 31"/>
                <a:gd name="T79" fmla="*/ 29 h 29"/>
                <a:gd name="T80" fmla="*/ 17 w 31"/>
                <a:gd name="T81" fmla="*/ 29 h 29"/>
                <a:gd name="T82" fmla="*/ 17 w 31"/>
                <a:gd name="T83" fmla="*/ 29 h 29"/>
                <a:gd name="T84" fmla="*/ 14 w 31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9"/>
                <a:gd name="T131" fmla="*/ 31 w 31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9">
                  <a:moveTo>
                    <a:pt x="14" y="29"/>
                  </a:moveTo>
                  <a:lnTo>
                    <a:pt x="19" y="29"/>
                  </a:lnTo>
                  <a:lnTo>
                    <a:pt x="21" y="29"/>
                  </a:lnTo>
                  <a:lnTo>
                    <a:pt x="21" y="27"/>
                  </a:lnTo>
                  <a:lnTo>
                    <a:pt x="24" y="27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2"/>
                  </a:lnTo>
                  <a:lnTo>
                    <a:pt x="31" y="19"/>
                  </a:lnTo>
                  <a:lnTo>
                    <a:pt x="31" y="17"/>
                  </a:lnTo>
                  <a:lnTo>
                    <a:pt x="31" y="15"/>
                  </a:lnTo>
                  <a:lnTo>
                    <a:pt x="31" y="12"/>
                  </a:lnTo>
                  <a:lnTo>
                    <a:pt x="31" y="10"/>
                  </a:lnTo>
                  <a:lnTo>
                    <a:pt x="29" y="8"/>
                  </a:lnTo>
                  <a:lnTo>
                    <a:pt x="29" y="5"/>
                  </a:lnTo>
                  <a:lnTo>
                    <a:pt x="26" y="5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7" y="3"/>
                  </a:lnTo>
                  <a:lnTo>
                    <a:pt x="5" y="5"/>
                  </a:lnTo>
                  <a:lnTo>
                    <a:pt x="2" y="8"/>
                  </a:lnTo>
                  <a:lnTo>
                    <a:pt x="2" y="10"/>
                  </a:lnTo>
                  <a:lnTo>
                    <a:pt x="2" y="12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2" y="22"/>
                  </a:lnTo>
                  <a:lnTo>
                    <a:pt x="5" y="24"/>
                  </a:lnTo>
                  <a:lnTo>
                    <a:pt x="7" y="27"/>
                  </a:lnTo>
                  <a:lnTo>
                    <a:pt x="10" y="27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7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9" name="Freeform 545"/>
            <p:cNvSpPr>
              <a:spLocks noChangeArrowheads="1"/>
            </p:cNvSpPr>
            <p:nvPr/>
          </p:nvSpPr>
          <p:spPr bwMode="auto">
            <a:xfrm>
              <a:off x="3257" y="2431"/>
              <a:ext cx="31" cy="28"/>
            </a:xfrm>
            <a:custGeom>
              <a:avLst/>
              <a:gdLst>
                <a:gd name="T0" fmla="*/ 14 w 31"/>
                <a:gd name="T1" fmla="*/ 26 h 28"/>
                <a:gd name="T2" fmla="*/ 19 w 31"/>
                <a:gd name="T3" fmla="*/ 28 h 28"/>
                <a:gd name="T4" fmla="*/ 19 w 31"/>
                <a:gd name="T5" fmla="*/ 28 h 28"/>
                <a:gd name="T6" fmla="*/ 21 w 31"/>
                <a:gd name="T7" fmla="*/ 26 h 28"/>
                <a:gd name="T8" fmla="*/ 24 w 31"/>
                <a:gd name="T9" fmla="*/ 26 h 28"/>
                <a:gd name="T10" fmla="*/ 26 w 31"/>
                <a:gd name="T11" fmla="*/ 24 h 28"/>
                <a:gd name="T12" fmla="*/ 26 w 31"/>
                <a:gd name="T13" fmla="*/ 21 h 28"/>
                <a:gd name="T14" fmla="*/ 28 w 31"/>
                <a:gd name="T15" fmla="*/ 21 h 28"/>
                <a:gd name="T16" fmla="*/ 28 w 31"/>
                <a:gd name="T17" fmla="*/ 19 h 28"/>
                <a:gd name="T18" fmla="*/ 31 w 31"/>
                <a:gd name="T19" fmla="*/ 17 h 28"/>
                <a:gd name="T20" fmla="*/ 31 w 31"/>
                <a:gd name="T21" fmla="*/ 14 h 28"/>
                <a:gd name="T22" fmla="*/ 31 w 31"/>
                <a:gd name="T23" fmla="*/ 12 h 28"/>
                <a:gd name="T24" fmla="*/ 28 w 31"/>
                <a:gd name="T25" fmla="*/ 10 h 28"/>
                <a:gd name="T26" fmla="*/ 28 w 31"/>
                <a:gd name="T27" fmla="*/ 7 h 28"/>
                <a:gd name="T28" fmla="*/ 26 w 31"/>
                <a:gd name="T29" fmla="*/ 5 h 28"/>
                <a:gd name="T30" fmla="*/ 26 w 31"/>
                <a:gd name="T31" fmla="*/ 2 h 28"/>
                <a:gd name="T32" fmla="*/ 24 w 31"/>
                <a:gd name="T33" fmla="*/ 2 h 28"/>
                <a:gd name="T34" fmla="*/ 21 w 31"/>
                <a:gd name="T35" fmla="*/ 0 h 28"/>
                <a:gd name="T36" fmla="*/ 19 w 31"/>
                <a:gd name="T37" fmla="*/ 0 h 28"/>
                <a:gd name="T38" fmla="*/ 19 w 31"/>
                <a:gd name="T39" fmla="*/ 0 h 28"/>
                <a:gd name="T40" fmla="*/ 16 w 31"/>
                <a:gd name="T41" fmla="*/ 0 h 28"/>
                <a:gd name="T42" fmla="*/ 14 w 31"/>
                <a:gd name="T43" fmla="*/ 0 h 28"/>
                <a:gd name="T44" fmla="*/ 12 w 31"/>
                <a:gd name="T45" fmla="*/ 0 h 28"/>
                <a:gd name="T46" fmla="*/ 9 w 31"/>
                <a:gd name="T47" fmla="*/ 0 h 28"/>
                <a:gd name="T48" fmla="*/ 7 w 31"/>
                <a:gd name="T49" fmla="*/ 2 h 28"/>
                <a:gd name="T50" fmla="*/ 5 w 31"/>
                <a:gd name="T51" fmla="*/ 2 h 28"/>
                <a:gd name="T52" fmla="*/ 5 w 31"/>
                <a:gd name="T53" fmla="*/ 5 h 28"/>
                <a:gd name="T54" fmla="*/ 2 w 31"/>
                <a:gd name="T55" fmla="*/ 7 h 28"/>
                <a:gd name="T56" fmla="*/ 2 w 31"/>
                <a:gd name="T57" fmla="*/ 10 h 28"/>
                <a:gd name="T58" fmla="*/ 0 w 31"/>
                <a:gd name="T59" fmla="*/ 12 h 28"/>
                <a:gd name="T60" fmla="*/ 0 w 31"/>
                <a:gd name="T61" fmla="*/ 14 h 28"/>
                <a:gd name="T62" fmla="*/ 0 w 31"/>
                <a:gd name="T63" fmla="*/ 17 h 28"/>
                <a:gd name="T64" fmla="*/ 2 w 31"/>
                <a:gd name="T65" fmla="*/ 19 h 28"/>
                <a:gd name="T66" fmla="*/ 2 w 31"/>
                <a:gd name="T67" fmla="*/ 21 h 28"/>
                <a:gd name="T68" fmla="*/ 5 w 31"/>
                <a:gd name="T69" fmla="*/ 21 h 28"/>
                <a:gd name="T70" fmla="*/ 5 w 31"/>
                <a:gd name="T71" fmla="*/ 24 h 28"/>
                <a:gd name="T72" fmla="*/ 7 w 31"/>
                <a:gd name="T73" fmla="*/ 26 h 28"/>
                <a:gd name="T74" fmla="*/ 9 w 31"/>
                <a:gd name="T75" fmla="*/ 26 h 28"/>
                <a:gd name="T76" fmla="*/ 12 w 31"/>
                <a:gd name="T77" fmla="*/ 28 h 28"/>
                <a:gd name="T78" fmla="*/ 14 w 31"/>
                <a:gd name="T79" fmla="*/ 28 h 28"/>
                <a:gd name="T80" fmla="*/ 16 w 31"/>
                <a:gd name="T81" fmla="*/ 28 h 28"/>
                <a:gd name="T82" fmla="*/ 16 w 31"/>
                <a:gd name="T83" fmla="*/ 28 h 28"/>
                <a:gd name="T84" fmla="*/ 14 w 31"/>
                <a:gd name="T85" fmla="*/ 26 h 28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1"/>
                <a:gd name="T130" fmla="*/ 0 h 28"/>
                <a:gd name="T131" fmla="*/ 31 w 31"/>
                <a:gd name="T132" fmla="*/ 28 h 28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1" h="28">
                  <a:moveTo>
                    <a:pt x="14" y="26"/>
                  </a:moveTo>
                  <a:lnTo>
                    <a:pt x="19" y="28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31" y="17"/>
                  </a:lnTo>
                  <a:lnTo>
                    <a:pt x="31" y="14"/>
                  </a:lnTo>
                  <a:lnTo>
                    <a:pt x="31" y="12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6" y="2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9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5" y="5"/>
                  </a:lnTo>
                  <a:lnTo>
                    <a:pt x="2" y="7"/>
                  </a:lnTo>
                  <a:lnTo>
                    <a:pt x="2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5" y="21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9" y="26"/>
                  </a:lnTo>
                  <a:lnTo>
                    <a:pt x="12" y="28"/>
                  </a:lnTo>
                  <a:lnTo>
                    <a:pt x="14" y="28"/>
                  </a:lnTo>
                  <a:lnTo>
                    <a:pt x="16" y="28"/>
                  </a:lnTo>
                  <a:lnTo>
                    <a:pt x="14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0" name="Rectangle 546"/>
            <p:cNvSpPr>
              <a:spLocks noChangeArrowheads="1"/>
            </p:cNvSpPr>
            <p:nvPr/>
          </p:nvSpPr>
          <p:spPr bwMode="auto">
            <a:xfrm>
              <a:off x="3536" y="1229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531" name="Rectangle 547"/>
            <p:cNvSpPr>
              <a:spLocks noChangeArrowheads="1"/>
            </p:cNvSpPr>
            <p:nvPr/>
          </p:nvSpPr>
          <p:spPr bwMode="auto">
            <a:xfrm>
              <a:off x="3574" y="122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h</a:t>
              </a:r>
            </a:p>
          </p:txBody>
        </p:sp>
        <p:sp>
          <p:nvSpPr>
            <p:cNvPr id="532" name="Rectangle 548"/>
            <p:cNvSpPr>
              <a:spLocks noChangeArrowheads="1"/>
            </p:cNvSpPr>
            <p:nvPr/>
          </p:nvSpPr>
          <p:spPr bwMode="auto">
            <a:xfrm>
              <a:off x="3607" y="1229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533" name="Rectangle 549"/>
            <p:cNvSpPr>
              <a:spLocks noChangeArrowheads="1"/>
            </p:cNvSpPr>
            <p:nvPr/>
          </p:nvSpPr>
          <p:spPr bwMode="auto">
            <a:xfrm>
              <a:off x="3622" y="122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534" name="Rectangle 550"/>
            <p:cNvSpPr>
              <a:spLocks noChangeArrowheads="1"/>
            </p:cNvSpPr>
            <p:nvPr/>
          </p:nvSpPr>
          <p:spPr bwMode="auto">
            <a:xfrm>
              <a:off x="3638" y="122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35" name="Rectangle 551"/>
            <p:cNvSpPr>
              <a:spLocks noChangeArrowheads="1"/>
            </p:cNvSpPr>
            <p:nvPr/>
          </p:nvSpPr>
          <p:spPr bwMode="auto">
            <a:xfrm>
              <a:off x="3652" y="122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6" name="Rectangle 552"/>
            <p:cNvSpPr>
              <a:spLocks noChangeArrowheads="1"/>
            </p:cNvSpPr>
            <p:nvPr/>
          </p:nvSpPr>
          <p:spPr bwMode="auto">
            <a:xfrm>
              <a:off x="3527" y="1297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537" name="Rectangle 553"/>
            <p:cNvSpPr>
              <a:spLocks noChangeArrowheads="1"/>
            </p:cNvSpPr>
            <p:nvPr/>
          </p:nvSpPr>
          <p:spPr bwMode="auto">
            <a:xfrm>
              <a:off x="3541" y="129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538" name="Rectangle 554"/>
            <p:cNvSpPr>
              <a:spLocks noChangeArrowheads="1"/>
            </p:cNvSpPr>
            <p:nvPr/>
          </p:nvSpPr>
          <p:spPr bwMode="auto">
            <a:xfrm>
              <a:off x="3574" y="129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539" name="Rectangle 555"/>
            <p:cNvSpPr>
              <a:spLocks noChangeArrowheads="1"/>
            </p:cNvSpPr>
            <p:nvPr/>
          </p:nvSpPr>
          <p:spPr bwMode="auto">
            <a:xfrm>
              <a:off x="3588" y="129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540" name="Rectangle 556"/>
            <p:cNvSpPr>
              <a:spLocks noChangeArrowheads="1"/>
            </p:cNvSpPr>
            <p:nvPr/>
          </p:nvSpPr>
          <p:spPr bwMode="auto">
            <a:xfrm>
              <a:off x="3605" y="129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541" name="Rectangle 557"/>
            <p:cNvSpPr>
              <a:spLocks noChangeArrowheads="1"/>
            </p:cNvSpPr>
            <p:nvPr/>
          </p:nvSpPr>
          <p:spPr bwMode="auto">
            <a:xfrm>
              <a:off x="3622" y="129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542" name="Freeform 558"/>
            <p:cNvSpPr>
              <a:spLocks noChangeArrowheads="1"/>
            </p:cNvSpPr>
            <p:nvPr/>
          </p:nvSpPr>
          <p:spPr bwMode="auto">
            <a:xfrm>
              <a:off x="2447" y="3004"/>
              <a:ext cx="28" cy="29"/>
            </a:xfrm>
            <a:custGeom>
              <a:avLst/>
              <a:gdLst>
                <a:gd name="T0" fmla="*/ 14 w 28"/>
                <a:gd name="T1" fmla="*/ 29 h 29"/>
                <a:gd name="T2" fmla="*/ 17 w 28"/>
                <a:gd name="T3" fmla="*/ 29 h 29"/>
                <a:gd name="T4" fmla="*/ 19 w 28"/>
                <a:gd name="T5" fmla="*/ 29 h 29"/>
                <a:gd name="T6" fmla="*/ 21 w 28"/>
                <a:gd name="T7" fmla="*/ 29 h 29"/>
                <a:gd name="T8" fmla="*/ 24 w 28"/>
                <a:gd name="T9" fmla="*/ 26 h 29"/>
                <a:gd name="T10" fmla="*/ 26 w 28"/>
                <a:gd name="T11" fmla="*/ 24 h 29"/>
                <a:gd name="T12" fmla="*/ 26 w 28"/>
                <a:gd name="T13" fmla="*/ 24 h 29"/>
                <a:gd name="T14" fmla="*/ 28 w 28"/>
                <a:gd name="T15" fmla="*/ 21 h 29"/>
                <a:gd name="T16" fmla="*/ 28 w 28"/>
                <a:gd name="T17" fmla="*/ 19 h 29"/>
                <a:gd name="T18" fmla="*/ 28 w 28"/>
                <a:gd name="T19" fmla="*/ 17 h 29"/>
                <a:gd name="T20" fmla="*/ 28 w 28"/>
                <a:gd name="T21" fmla="*/ 14 h 29"/>
                <a:gd name="T22" fmla="*/ 28 w 28"/>
                <a:gd name="T23" fmla="*/ 12 h 29"/>
                <a:gd name="T24" fmla="*/ 28 w 28"/>
                <a:gd name="T25" fmla="*/ 10 h 29"/>
                <a:gd name="T26" fmla="*/ 28 w 28"/>
                <a:gd name="T27" fmla="*/ 7 h 29"/>
                <a:gd name="T28" fmla="*/ 26 w 28"/>
                <a:gd name="T29" fmla="*/ 5 h 29"/>
                <a:gd name="T30" fmla="*/ 26 w 28"/>
                <a:gd name="T31" fmla="*/ 5 h 29"/>
                <a:gd name="T32" fmla="*/ 24 w 28"/>
                <a:gd name="T33" fmla="*/ 2 h 29"/>
                <a:gd name="T34" fmla="*/ 21 w 28"/>
                <a:gd name="T35" fmla="*/ 2 h 29"/>
                <a:gd name="T36" fmla="*/ 19 w 28"/>
                <a:gd name="T37" fmla="*/ 0 h 29"/>
                <a:gd name="T38" fmla="*/ 17 w 28"/>
                <a:gd name="T39" fmla="*/ 0 h 29"/>
                <a:gd name="T40" fmla="*/ 14 w 28"/>
                <a:gd name="T41" fmla="*/ 0 h 29"/>
                <a:gd name="T42" fmla="*/ 12 w 28"/>
                <a:gd name="T43" fmla="*/ 0 h 29"/>
                <a:gd name="T44" fmla="*/ 9 w 28"/>
                <a:gd name="T45" fmla="*/ 0 h 29"/>
                <a:gd name="T46" fmla="*/ 7 w 28"/>
                <a:gd name="T47" fmla="*/ 2 h 29"/>
                <a:gd name="T48" fmla="*/ 7 w 28"/>
                <a:gd name="T49" fmla="*/ 2 h 29"/>
                <a:gd name="T50" fmla="*/ 5 w 28"/>
                <a:gd name="T51" fmla="*/ 5 h 29"/>
                <a:gd name="T52" fmla="*/ 2 w 28"/>
                <a:gd name="T53" fmla="*/ 5 h 29"/>
                <a:gd name="T54" fmla="*/ 2 w 28"/>
                <a:gd name="T55" fmla="*/ 7 h 29"/>
                <a:gd name="T56" fmla="*/ 0 w 28"/>
                <a:gd name="T57" fmla="*/ 10 h 29"/>
                <a:gd name="T58" fmla="*/ 0 w 28"/>
                <a:gd name="T59" fmla="*/ 12 h 29"/>
                <a:gd name="T60" fmla="*/ 0 w 28"/>
                <a:gd name="T61" fmla="*/ 14 h 29"/>
                <a:gd name="T62" fmla="*/ 0 w 28"/>
                <a:gd name="T63" fmla="*/ 17 h 29"/>
                <a:gd name="T64" fmla="*/ 0 w 28"/>
                <a:gd name="T65" fmla="*/ 19 h 29"/>
                <a:gd name="T66" fmla="*/ 2 w 28"/>
                <a:gd name="T67" fmla="*/ 21 h 29"/>
                <a:gd name="T68" fmla="*/ 2 w 28"/>
                <a:gd name="T69" fmla="*/ 24 h 29"/>
                <a:gd name="T70" fmla="*/ 5 w 28"/>
                <a:gd name="T71" fmla="*/ 24 h 29"/>
                <a:gd name="T72" fmla="*/ 7 w 28"/>
                <a:gd name="T73" fmla="*/ 26 h 29"/>
                <a:gd name="T74" fmla="*/ 7 w 28"/>
                <a:gd name="T75" fmla="*/ 29 h 29"/>
                <a:gd name="T76" fmla="*/ 9 w 28"/>
                <a:gd name="T77" fmla="*/ 29 h 29"/>
                <a:gd name="T78" fmla="*/ 12 w 28"/>
                <a:gd name="T79" fmla="*/ 29 h 29"/>
                <a:gd name="T80" fmla="*/ 14 w 28"/>
                <a:gd name="T81" fmla="*/ 29 h 29"/>
                <a:gd name="T82" fmla="*/ 14 w 28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8"/>
                <a:gd name="T127" fmla="*/ 0 h 29"/>
                <a:gd name="T128" fmla="*/ 28 w 28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8" h="29">
                  <a:moveTo>
                    <a:pt x="14" y="29"/>
                  </a:moveTo>
                  <a:lnTo>
                    <a:pt x="17" y="29"/>
                  </a:lnTo>
                  <a:lnTo>
                    <a:pt x="19" y="29"/>
                  </a:lnTo>
                  <a:lnTo>
                    <a:pt x="21" y="29"/>
                  </a:lnTo>
                  <a:lnTo>
                    <a:pt x="24" y="26"/>
                  </a:lnTo>
                  <a:lnTo>
                    <a:pt x="26" y="24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8" y="17"/>
                  </a:lnTo>
                  <a:lnTo>
                    <a:pt x="28" y="14"/>
                  </a:lnTo>
                  <a:lnTo>
                    <a:pt x="28" y="12"/>
                  </a:lnTo>
                  <a:lnTo>
                    <a:pt x="28" y="10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4" y="2"/>
                  </a:lnTo>
                  <a:lnTo>
                    <a:pt x="21" y="2"/>
                  </a:lnTo>
                  <a:lnTo>
                    <a:pt x="19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2" y="5"/>
                  </a:lnTo>
                  <a:lnTo>
                    <a:pt x="2" y="7"/>
                  </a:lnTo>
                  <a:lnTo>
                    <a:pt x="0" y="10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2" y="21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7" y="26"/>
                  </a:lnTo>
                  <a:lnTo>
                    <a:pt x="7" y="29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4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3" name="Freeform 559"/>
            <p:cNvSpPr>
              <a:spLocks noChangeArrowheads="1"/>
            </p:cNvSpPr>
            <p:nvPr/>
          </p:nvSpPr>
          <p:spPr bwMode="auto">
            <a:xfrm>
              <a:off x="4214" y="2462"/>
              <a:ext cx="30" cy="28"/>
            </a:xfrm>
            <a:custGeom>
              <a:avLst/>
              <a:gdLst>
                <a:gd name="T0" fmla="*/ 14 w 30"/>
                <a:gd name="T1" fmla="*/ 28 h 28"/>
                <a:gd name="T2" fmla="*/ 16 w 30"/>
                <a:gd name="T3" fmla="*/ 28 h 28"/>
                <a:gd name="T4" fmla="*/ 18 w 30"/>
                <a:gd name="T5" fmla="*/ 28 h 28"/>
                <a:gd name="T6" fmla="*/ 21 w 30"/>
                <a:gd name="T7" fmla="*/ 26 h 28"/>
                <a:gd name="T8" fmla="*/ 23 w 30"/>
                <a:gd name="T9" fmla="*/ 26 h 28"/>
                <a:gd name="T10" fmla="*/ 26 w 30"/>
                <a:gd name="T11" fmla="*/ 24 h 28"/>
                <a:gd name="T12" fmla="*/ 26 w 30"/>
                <a:gd name="T13" fmla="*/ 21 h 28"/>
                <a:gd name="T14" fmla="*/ 28 w 30"/>
                <a:gd name="T15" fmla="*/ 21 h 28"/>
                <a:gd name="T16" fmla="*/ 28 w 30"/>
                <a:gd name="T17" fmla="*/ 19 h 28"/>
                <a:gd name="T18" fmla="*/ 28 w 30"/>
                <a:gd name="T19" fmla="*/ 16 h 28"/>
                <a:gd name="T20" fmla="*/ 30 w 30"/>
                <a:gd name="T21" fmla="*/ 14 h 28"/>
                <a:gd name="T22" fmla="*/ 28 w 30"/>
                <a:gd name="T23" fmla="*/ 12 h 28"/>
                <a:gd name="T24" fmla="*/ 28 w 30"/>
                <a:gd name="T25" fmla="*/ 9 h 28"/>
                <a:gd name="T26" fmla="*/ 28 w 30"/>
                <a:gd name="T27" fmla="*/ 7 h 28"/>
                <a:gd name="T28" fmla="*/ 26 w 30"/>
                <a:gd name="T29" fmla="*/ 5 h 28"/>
                <a:gd name="T30" fmla="*/ 26 w 30"/>
                <a:gd name="T31" fmla="*/ 2 h 28"/>
                <a:gd name="T32" fmla="*/ 23 w 30"/>
                <a:gd name="T33" fmla="*/ 2 h 28"/>
                <a:gd name="T34" fmla="*/ 21 w 30"/>
                <a:gd name="T35" fmla="*/ 0 h 28"/>
                <a:gd name="T36" fmla="*/ 18 w 30"/>
                <a:gd name="T37" fmla="*/ 0 h 28"/>
                <a:gd name="T38" fmla="*/ 16 w 30"/>
                <a:gd name="T39" fmla="*/ 0 h 28"/>
                <a:gd name="T40" fmla="*/ 14 w 30"/>
                <a:gd name="T41" fmla="*/ 0 h 28"/>
                <a:gd name="T42" fmla="*/ 11 w 30"/>
                <a:gd name="T43" fmla="*/ 0 h 28"/>
                <a:gd name="T44" fmla="*/ 9 w 30"/>
                <a:gd name="T45" fmla="*/ 0 h 28"/>
                <a:gd name="T46" fmla="*/ 9 w 30"/>
                <a:gd name="T47" fmla="*/ 0 h 28"/>
                <a:gd name="T48" fmla="*/ 7 w 30"/>
                <a:gd name="T49" fmla="*/ 2 h 28"/>
                <a:gd name="T50" fmla="*/ 4 w 30"/>
                <a:gd name="T51" fmla="*/ 2 h 28"/>
                <a:gd name="T52" fmla="*/ 2 w 30"/>
                <a:gd name="T53" fmla="*/ 5 h 28"/>
                <a:gd name="T54" fmla="*/ 2 w 30"/>
                <a:gd name="T55" fmla="*/ 7 h 28"/>
                <a:gd name="T56" fmla="*/ 2 w 30"/>
                <a:gd name="T57" fmla="*/ 9 h 28"/>
                <a:gd name="T58" fmla="*/ 0 w 30"/>
                <a:gd name="T59" fmla="*/ 12 h 28"/>
                <a:gd name="T60" fmla="*/ 0 w 30"/>
                <a:gd name="T61" fmla="*/ 14 h 28"/>
                <a:gd name="T62" fmla="*/ 0 w 30"/>
                <a:gd name="T63" fmla="*/ 16 h 28"/>
                <a:gd name="T64" fmla="*/ 2 w 30"/>
                <a:gd name="T65" fmla="*/ 19 h 28"/>
                <a:gd name="T66" fmla="*/ 2 w 30"/>
                <a:gd name="T67" fmla="*/ 21 h 28"/>
                <a:gd name="T68" fmla="*/ 2 w 30"/>
                <a:gd name="T69" fmla="*/ 21 h 28"/>
                <a:gd name="T70" fmla="*/ 4 w 30"/>
                <a:gd name="T71" fmla="*/ 24 h 28"/>
                <a:gd name="T72" fmla="*/ 7 w 30"/>
                <a:gd name="T73" fmla="*/ 26 h 28"/>
                <a:gd name="T74" fmla="*/ 9 w 30"/>
                <a:gd name="T75" fmla="*/ 26 h 28"/>
                <a:gd name="T76" fmla="*/ 9 w 30"/>
                <a:gd name="T77" fmla="*/ 28 h 28"/>
                <a:gd name="T78" fmla="*/ 11 w 30"/>
                <a:gd name="T79" fmla="*/ 28 h 28"/>
                <a:gd name="T80" fmla="*/ 14 w 30"/>
                <a:gd name="T81" fmla="*/ 28 h 28"/>
                <a:gd name="T82" fmla="*/ 14 w 30"/>
                <a:gd name="T83" fmla="*/ 28 h 2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8"/>
                <a:gd name="T128" fmla="*/ 30 w 30"/>
                <a:gd name="T129" fmla="*/ 28 h 28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8">
                  <a:moveTo>
                    <a:pt x="14" y="28"/>
                  </a:moveTo>
                  <a:lnTo>
                    <a:pt x="16" y="28"/>
                  </a:lnTo>
                  <a:lnTo>
                    <a:pt x="18" y="28"/>
                  </a:lnTo>
                  <a:lnTo>
                    <a:pt x="21" y="26"/>
                  </a:lnTo>
                  <a:lnTo>
                    <a:pt x="23" y="26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8" y="21"/>
                  </a:lnTo>
                  <a:lnTo>
                    <a:pt x="28" y="19"/>
                  </a:lnTo>
                  <a:lnTo>
                    <a:pt x="28" y="16"/>
                  </a:lnTo>
                  <a:lnTo>
                    <a:pt x="30" y="14"/>
                  </a:lnTo>
                  <a:lnTo>
                    <a:pt x="28" y="12"/>
                  </a:lnTo>
                  <a:lnTo>
                    <a:pt x="28" y="9"/>
                  </a:lnTo>
                  <a:lnTo>
                    <a:pt x="28" y="7"/>
                  </a:lnTo>
                  <a:lnTo>
                    <a:pt x="26" y="5"/>
                  </a:lnTo>
                  <a:lnTo>
                    <a:pt x="26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6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7" y="2"/>
                  </a:lnTo>
                  <a:lnTo>
                    <a:pt x="4" y="2"/>
                  </a:lnTo>
                  <a:lnTo>
                    <a:pt x="2" y="5"/>
                  </a:lnTo>
                  <a:lnTo>
                    <a:pt x="2" y="7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2" y="19"/>
                  </a:lnTo>
                  <a:lnTo>
                    <a:pt x="2" y="21"/>
                  </a:lnTo>
                  <a:lnTo>
                    <a:pt x="4" y="24"/>
                  </a:lnTo>
                  <a:lnTo>
                    <a:pt x="7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11" y="28"/>
                  </a:lnTo>
                  <a:lnTo>
                    <a:pt x="14" y="2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4" name="Rectangle 560"/>
            <p:cNvSpPr>
              <a:spLocks noChangeArrowheads="1"/>
            </p:cNvSpPr>
            <p:nvPr/>
          </p:nvSpPr>
          <p:spPr bwMode="auto">
            <a:xfrm>
              <a:off x="3849" y="2365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545" name="Rectangle 561"/>
            <p:cNvSpPr>
              <a:spLocks noChangeArrowheads="1"/>
            </p:cNvSpPr>
            <p:nvPr/>
          </p:nvSpPr>
          <p:spPr bwMode="auto">
            <a:xfrm>
              <a:off x="3889" y="236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546" name="Rectangle 562"/>
            <p:cNvSpPr>
              <a:spLocks noChangeArrowheads="1"/>
            </p:cNvSpPr>
            <p:nvPr/>
          </p:nvSpPr>
          <p:spPr bwMode="auto">
            <a:xfrm>
              <a:off x="3922" y="236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547" name="Freeform 563"/>
            <p:cNvSpPr>
              <a:spLocks noChangeArrowheads="1"/>
            </p:cNvSpPr>
            <p:nvPr/>
          </p:nvSpPr>
          <p:spPr bwMode="auto">
            <a:xfrm>
              <a:off x="3475" y="1280"/>
              <a:ext cx="30" cy="31"/>
            </a:xfrm>
            <a:custGeom>
              <a:avLst/>
              <a:gdLst>
                <a:gd name="T0" fmla="*/ 0 w 30"/>
                <a:gd name="T1" fmla="*/ 0 h 31"/>
                <a:gd name="T2" fmla="*/ 0 w 30"/>
                <a:gd name="T3" fmla="*/ 31 h 31"/>
                <a:gd name="T4" fmla="*/ 30 w 30"/>
                <a:gd name="T5" fmla="*/ 17 h 31"/>
                <a:gd name="T6" fmla="*/ 0 w 30"/>
                <a:gd name="T7" fmla="*/ 3 h 31"/>
                <a:gd name="T8" fmla="*/ 0 w 30"/>
                <a:gd name="T9" fmla="*/ 3 h 31"/>
                <a:gd name="T10" fmla="*/ 0 w 30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"/>
                <a:gd name="T19" fmla="*/ 0 h 31"/>
                <a:gd name="T20" fmla="*/ 30 w 30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" h="31">
                  <a:moveTo>
                    <a:pt x="0" y="0"/>
                  </a:moveTo>
                  <a:lnTo>
                    <a:pt x="0" y="31"/>
                  </a:lnTo>
                  <a:lnTo>
                    <a:pt x="30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8" name="Freeform 564"/>
            <p:cNvSpPr>
              <a:spLocks noChangeArrowheads="1"/>
            </p:cNvSpPr>
            <p:nvPr/>
          </p:nvSpPr>
          <p:spPr bwMode="auto">
            <a:xfrm>
              <a:off x="3404" y="1297"/>
              <a:ext cx="80" cy="1409"/>
            </a:xfrm>
            <a:custGeom>
              <a:avLst/>
              <a:gdLst>
                <a:gd name="T0" fmla="*/ 0 w 80"/>
                <a:gd name="T1" fmla="*/ 1409 h 1409"/>
                <a:gd name="T2" fmla="*/ 0 w 80"/>
                <a:gd name="T3" fmla="*/ 0 h 1409"/>
                <a:gd name="T4" fmla="*/ 80 w 80"/>
                <a:gd name="T5" fmla="*/ 0 h 1409"/>
                <a:gd name="T6" fmla="*/ 0 60000 65536"/>
                <a:gd name="T7" fmla="*/ 0 60000 65536"/>
                <a:gd name="T8" fmla="*/ 0 60000 65536"/>
                <a:gd name="T9" fmla="*/ 0 w 80"/>
                <a:gd name="T10" fmla="*/ 0 h 1409"/>
                <a:gd name="T11" fmla="*/ 80 w 80"/>
                <a:gd name="T12" fmla="*/ 1409 h 14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0" h="1409">
                  <a:moveTo>
                    <a:pt x="0" y="1409"/>
                  </a:moveTo>
                  <a:lnTo>
                    <a:pt x="0" y="0"/>
                  </a:lnTo>
                  <a:lnTo>
                    <a:pt x="80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9" name="Line 565"/>
            <p:cNvSpPr>
              <a:spLocks noChangeShapeType="1"/>
            </p:cNvSpPr>
            <p:nvPr/>
          </p:nvSpPr>
          <p:spPr bwMode="auto">
            <a:xfrm>
              <a:off x="3688" y="1294"/>
              <a:ext cx="64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0" name="Freeform 566"/>
            <p:cNvSpPr>
              <a:spLocks noChangeArrowheads="1"/>
            </p:cNvSpPr>
            <p:nvPr/>
          </p:nvSpPr>
          <p:spPr bwMode="auto">
            <a:xfrm>
              <a:off x="2044" y="2616"/>
              <a:ext cx="22" cy="2"/>
            </a:xfrm>
            <a:custGeom>
              <a:avLst/>
              <a:gdLst>
                <a:gd name="T0" fmla="*/ 0 w 22"/>
                <a:gd name="T1" fmla="*/ 0 h 2"/>
                <a:gd name="T2" fmla="*/ 22 w 22"/>
                <a:gd name="T3" fmla="*/ 2 h 2"/>
                <a:gd name="T4" fmla="*/ 0 w 22"/>
                <a:gd name="T5" fmla="*/ 0 h 2"/>
                <a:gd name="T6" fmla="*/ 0 60000 65536"/>
                <a:gd name="T7" fmla="*/ 0 60000 65536"/>
                <a:gd name="T8" fmla="*/ 0 60000 65536"/>
                <a:gd name="T9" fmla="*/ 0 w 22"/>
                <a:gd name="T10" fmla="*/ 0 h 2"/>
                <a:gd name="T11" fmla="*/ 22 w 22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2">
                  <a:moveTo>
                    <a:pt x="0" y="0"/>
                  </a:moveTo>
                  <a:lnTo>
                    <a:pt x="22" y="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1" name="Line 567"/>
            <p:cNvSpPr>
              <a:spLocks noChangeShapeType="1"/>
            </p:cNvSpPr>
            <p:nvPr/>
          </p:nvSpPr>
          <p:spPr bwMode="auto">
            <a:xfrm>
              <a:off x="2044" y="2616"/>
              <a:ext cx="22" cy="2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2" name="Freeform 568"/>
            <p:cNvSpPr>
              <a:spLocks noChangeArrowheads="1"/>
            </p:cNvSpPr>
            <p:nvPr/>
          </p:nvSpPr>
          <p:spPr bwMode="auto">
            <a:xfrm>
              <a:off x="2044" y="2263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3" name="Line 569"/>
            <p:cNvSpPr>
              <a:spLocks noChangeShapeType="1"/>
            </p:cNvSpPr>
            <p:nvPr/>
          </p:nvSpPr>
          <p:spPr bwMode="auto">
            <a:xfrm>
              <a:off x="2044" y="2263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4" name="Freeform 570"/>
            <p:cNvSpPr>
              <a:spLocks noChangeArrowheads="1"/>
            </p:cNvSpPr>
            <p:nvPr/>
          </p:nvSpPr>
          <p:spPr bwMode="auto">
            <a:xfrm>
              <a:off x="2044" y="2088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5" name="Line 571"/>
            <p:cNvSpPr>
              <a:spLocks noChangeShapeType="1"/>
            </p:cNvSpPr>
            <p:nvPr/>
          </p:nvSpPr>
          <p:spPr bwMode="auto">
            <a:xfrm>
              <a:off x="2044" y="2088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6" name="Freeform 572"/>
            <p:cNvSpPr>
              <a:spLocks noChangeArrowheads="1"/>
            </p:cNvSpPr>
            <p:nvPr/>
          </p:nvSpPr>
          <p:spPr bwMode="auto">
            <a:xfrm>
              <a:off x="2042" y="1600"/>
              <a:ext cx="24" cy="1"/>
            </a:xfrm>
            <a:custGeom>
              <a:avLst/>
              <a:gdLst>
                <a:gd name="T0" fmla="*/ 0 w 24"/>
                <a:gd name="T1" fmla="*/ 0 h 1"/>
                <a:gd name="T2" fmla="*/ 24 w 24"/>
                <a:gd name="T3" fmla="*/ 0 h 1"/>
                <a:gd name="T4" fmla="*/ 0 w 24"/>
                <a:gd name="T5" fmla="*/ 0 h 1"/>
                <a:gd name="T6" fmla="*/ 0 60000 65536"/>
                <a:gd name="T7" fmla="*/ 0 60000 65536"/>
                <a:gd name="T8" fmla="*/ 0 60000 65536"/>
                <a:gd name="T9" fmla="*/ 0 w 24"/>
                <a:gd name="T10" fmla="*/ 0 h 1"/>
                <a:gd name="T11" fmla="*/ 24 w 2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" h="1">
                  <a:moveTo>
                    <a:pt x="0" y="0"/>
                  </a:moveTo>
                  <a:lnTo>
                    <a:pt x="2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7" name="Line 573"/>
            <p:cNvSpPr>
              <a:spLocks noChangeShapeType="1"/>
            </p:cNvSpPr>
            <p:nvPr/>
          </p:nvSpPr>
          <p:spPr bwMode="auto">
            <a:xfrm>
              <a:off x="2042" y="1600"/>
              <a:ext cx="24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8" name="Freeform 574"/>
            <p:cNvSpPr>
              <a:spLocks noChangeArrowheads="1"/>
            </p:cNvSpPr>
            <p:nvPr/>
          </p:nvSpPr>
          <p:spPr bwMode="auto">
            <a:xfrm>
              <a:off x="2044" y="2969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9" name="Line 575"/>
            <p:cNvSpPr>
              <a:spLocks noChangeShapeType="1"/>
            </p:cNvSpPr>
            <p:nvPr/>
          </p:nvSpPr>
          <p:spPr bwMode="auto">
            <a:xfrm>
              <a:off x="2044" y="2969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0" name="Freeform 576"/>
            <p:cNvSpPr>
              <a:spLocks noChangeArrowheads="1"/>
            </p:cNvSpPr>
            <p:nvPr/>
          </p:nvSpPr>
          <p:spPr bwMode="auto">
            <a:xfrm>
              <a:off x="2835" y="3272"/>
              <a:ext cx="22" cy="1"/>
            </a:xfrm>
            <a:custGeom>
              <a:avLst/>
              <a:gdLst>
                <a:gd name="T0" fmla="*/ 0 w 22"/>
                <a:gd name="T1" fmla="*/ 0 h 1"/>
                <a:gd name="T2" fmla="*/ 22 w 22"/>
                <a:gd name="T3" fmla="*/ 0 h 1"/>
                <a:gd name="T4" fmla="*/ 0 w 22"/>
                <a:gd name="T5" fmla="*/ 0 h 1"/>
                <a:gd name="T6" fmla="*/ 0 60000 65536"/>
                <a:gd name="T7" fmla="*/ 0 60000 65536"/>
                <a:gd name="T8" fmla="*/ 0 60000 65536"/>
                <a:gd name="T9" fmla="*/ 0 w 22"/>
                <a:gd name="T10" fmla="*/ 0 h 1"/>
                <a:gd name="T11" fmla="*/ 22 w 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" h="1">
                  <a:moveTo>
                    <a:pt x="0" y="0"/>
                  </a:moveTo>
                  <a:lnTo>
                    <a:pt x="2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1" name="Line 577"/>
            <p:cNvSpPr>
              <a:spLocks noChangeShapeType="1"/>
            </p:cNvSpPr>
            <p:nvPr/>
          </p:nvSpPr>
          <p:spPr bwMode="auto">
            <a:xfrm>
              <a:off x="2835" y="3272"/>
              <a:ext cx="22" cy="1"/>
            </a:xfrm>
            <a:prstGeom prst="line">
              <a:avLst/>
            </a:prstGeom>
            <a:noFill/>
            <a:ln w="324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2" name="Freeform 578"/>
            <p:cNvSpPr>
              <a:spLocks noChangeArrowheads="1"/>
            </p:cNvSpPr>
            <p:nvPr/>
          </p:nvSpPr>
          <p:spPr bwMode="auto">
            <a:xfrm>
              <a:off x="4346" y="2459"/>
              <a:ext cx="31" cy="31"/>
            </a:xfrm>
            <a:custGeom>
              <a:avLst/>
              <a:gdLst>
                <a:gd name="T0" fmla="*/ 0 w 31"/>
                <a:gd name="T1" fmla="*/ 0 h 31"/>
                <a:gd name="T2" fmla="*/ 0 w 31"/>
                <a:gd name="T3" fmla="*/ 31 h 31"/>
                <a:gd name="T4" fmla="*/ 31 w 31"/>
                <a:gd name="T5" fmla="*/ 17 h 31"/>
                <a:gd name="T6" fmla="*/ 0 w 31"/>
                <a:gd name="T7" fmla="*/ 3 h 31"/>
                <a:gd name="T8" fmla="*/ 0 w 31"/>
                <a:gd name="T9" fmla="*/ 3 h 31"/>
                <a:gd name="T10" fmla="*/ 0 w 31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1"/>
                <a:gd name="T19" fmla="*/ 0 h 31"/>
                <a:gd name="T20" fmla="*/ 31 w 31"/>
                <a:gd name="T21" fmla="*/ 31 h 3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1" h="31">
                  <a:moveTo>
                    <a:pt x="0" y="0"/>
                  </a:moveTo>
                  <a:lnTo>
                    <a:pt x="0" y="31"/>
                  </a:lnTo>
                  <a:lnTo>
                    <a:pt x="31" y="17"/>
                  </a:lnTo>
                  <a:lnTo>
                    <a:pt x="0" y="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3" name="Rectangle 579"/>
            <p:cNvSpPr>
              <a:spLocks noChangeArrowheads="1"/>
            </p:cNvSpPr>
            <p:nvPr/>
          </p:nvSpPr>
          <p:spPr bwMode="auto">
            <a:xfrm>
              <a:off x="4405" y="2436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564" name="Rectangle 580"/>
            <p:cNvSpPr>
              <a:spLocks noChangeArrowheads="1"/>
            </p:cNvSpPr>
            <p:nvPr/>
          </p:nvSpPr>
          <p:spPr bwMode="auto">
            <a:xfrm>
              <a:off x="4443" y="24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565" name="Rectangle 581"/>
            <p:cNvSpPr>
              <a:spLocks noChangeArrowheads="1"/>
            </p:cNvSpPr>
            <p:nvPr/>
          </p:nvSpPr>
          <p:spPr bwMode="auto">
            <a:xfrm>
              <a:off x="4476" y="24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566" name="Rectangle 582"/>
            <p:cNvSpPr>
              <a:spLocks noChangeArrowheads="1"/>
            </p:cNvSpPr>
            <p:nvPr/>
          </p:nvSpPr>
          <p:spPr bwMode="auto">
            <a:xfrm>
              <a:off x="4510" y="2436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567" name="Rectangle 583"/>
            <p:cNvSpPr>
              <a:spLocks noChangeArrowheads="1"/>
            </p:cNvSpPr>
            <p:nvPr/>
          </p:nvSpPr>
          <p:spPr bwMode="auto">
            <a:xfrm>
              <a:off x="4528" y="24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568" name="Rectangle 584"/>
            <p:cNvSpPr>
              <a:spLocks noChangeArrowheads="1"/>
            </p:cNvSpPr>
            <p:nvPr/>
          </p:nvSpPr>
          <p:spPr bwMode="auto">
            <a:xfrm>
              <a:off x="4562" y="243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569" name="Rectangle 585"/>
            <p:cNvSpPr>
              <a:spLocks noChangeArrowheads="1"/>
            </p:cNvSpPr>
            <p:nvPr/>
          </p:nvSpPr>
          <p:spPr bwMode="auto">
            <a:xfrm>
              <a:off x="4590" y="2436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</p:grpSp>
      <p:grpSp>
        <p:nvGrpSpPr>
          <p:cNvPr id="588" name="Group 586"/>
          <p:cNvGrpSpPr>
            <a:grpSpLocks/>
          </p:cNvGrpSpPr>
          <p:nvPr/>
        </p:nvGrpSpPr>
        <p:grpSpPr bwMode="auto">
          <a:xfrm>
            <a:off x="2028139" y="3847907"/>
            <a:ext cx="1676401" cy="1363663"/>
            <a:chOff x="576" y="2256"/>
            <a:chExt cx="1056" cy="859"/>
          </a:xfrm>
        </p:grpSpPr>
        <p:sp>
          <p:nvSpPr>
            <p:cNvPr id="589" name="Line 587"/>
            <p:cNvSpPr>
              <a:spLocks noChangeShapeType="1"/>
            </p:cNvSpPr>
            <p:nvPr/>
          </p:nvSpPr>
          <p:spPr bwMode="auto">
            <a:xfrm>
              <a:off x="576" y="2256"/>
              <a:ext cx="1056" cy="1"/>
            </a:xfrm>
            <a:prstGeom prst="line">
              <a:avLst/>
            </a:prstGeom>
            <a:noFill/>
            <a:ln w="57240">
              <a:solidFill>
                <a:srgbClr val="CD3333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0" name="Text Box 588"/>
            <p:cNvSpPr txBox="1">
              <a:spLocks noChangeArrowheads="1"/>
            </p:cNvSpPr>
            <p:nvPr/>
          </p:nvSpPr>
          <p:spPr bwMode="auto">
            <a:xfrm>
              <a:off x="769" y="2784"/>
              <a:ext cx="316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700"/>
                </a:spcBef>
                <a:buClr>
                  <a:srgbClr val="000000"/>
                </a:buClr>
                <a:buFont typeface="Wingdings" charset="2"/>
                <a:buNone/>
              </a:pPr>
              <a:r>
                <a:rPr lang="en-US" altLang="zh-TW" sz="2800" dirty="0">
                  <a:solidFill>
                    <a:srgbClr val="CD3333"/>
                  </a:solidFill>
                  <a:latin typeface="Wingdings 2" charset="2"/>
                  <a:ea typeface="新細明體" charset="-120"/>
                  <a:cs typeface="Wingdings 2" charset="2"/>
                </a:rPr>
                <a:t>j</a:t>
              </a:r>
              <a:endParaRPr lang="zh-TW" altLang="en-GB" sz="2800" dirty="0">
                <a:solidFill>
                  <a:srgbClr val="996633"/>
                </a:solidFill>
                <a:latin typeface="Wingdings" charset="2"/>
                <a:ea typeface="新細明體" charset="-120"/>
              </a:endParaRPr>
            </a:p>
          </p:txBody>
        </p:sp>
      </p:grpSp>
      <p:grpSp>
        <p:nvGrpSpPr>
          <p:cNvPr id="591" name="Group 589"/>
          <p:cNvGrpSpPr>
            <a:grpSpLocks/>
          </p:cNvGrpSpPr>
          <p:nvPr/>
        </p:nvGrpSpPr>
        <p:grpSpPr bwMode="auto">
          <a:xfrm>
            <a:off x="3704540" y="2857308"/>
            <a:ext cx="1371601" cy="2146301"/>
            <a:chOff x="1632" y="1632"/>
            <a:chExt cx="864" cy="1352"/>
          </a:xfrm>
        </p:grpSpPr>
        <p:sp>
          <p:nvSpPr>
            <p:cNvPr id="592" name="Freeform 590"/>
            <p:cNvSpPr>
              <a:spLocks/>
            </p:cNvSpPr>
            <p:nvPr/>
          </p:nvSpPr>
          <p:spPr bwMode="auto">
            <a:xfrm>
              <a:off x="1632" y="1632"/>
              <a:ext cx="576" cy="624"/>
            </a:xfrm>
            <a:custGeom>
              <a:avLst/>
              <a:gdLst>
                <a:gd name="T0" fmla="*/ 0 w 576"/>
                <a:gd name="T1" fmla="*/ 624 h 624"/>
                <a:gd name="T2" fmla="*/ 0 w 576"/>
                <a:gd name="T3" fmla="*/ 0 h 624"/>
                <a:gd name="T4" fmla="*/ 576 w 576"/>
                <a:gd name="T5" fmla="*/ 0 h 624"/>
                <a:gd name="T6" fmla="*/ 0 60000 65536"/>
                <a:gd name="T7" fmla="*/ 0 60000 65536"/>
                <a:gd name="T8" fmla="*/ 0 60000 65536"/>
                <a:gd name="T9" fmla="*/ 0 w 576"/>
                <a:gd name="T10" fmla="*/ 0 h 624"/>
                <a:gd name="T11" fmla="*/ 576 w 576"/>
                <a:gd name="T12" fmla="*/ 624 h 6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624">
                  <a:moveTo>
                    <a:pt x="0" y="624"/>
                  </a:moveTo>
                  <a:lnTo>
                    <a:pt x="0" y="0"/>
                  </a:lnTo>
                  <a:lnTo>
                    <a:pt x="576" y="0"/>
                  </a:lnTo>
                </a:path>
              </a:pathLst>
            </a:custGeom>
            <a:noFill/>
            <a:ln w="38160">
              <a:solidFill>
                <a:srgbClr val="3333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3" name="Freeform 591"/>
            <p:cNvSpPr>
              <a:spLocks/>
            </p:cNvSpPr>
            <p:nvPr/>
          </p:nvSpPr>
          <p:spPr bwMode="auto">
            <a:xfrm>
              <a:off x="1632" y="2160"/>
              <a:ext cx="864" cy="96"/>
            </a:xfrm>
            <a:custGeom>
              <a:avLst/>
              <a:gdLst>
                <a:gd name="T0" fmla="*/ 0 w 576"/>
                <a:gd name="T1" fmla="*/ 624 h 624"/>
                <a:gd name="T2" fmla="*/ 0 w 576"/>
                <a:gd name="T3" fmla="*/ 0 h 624"/>
                <a:gd name="T4" fmla="*/ 576 w 576"/>
                <a:gd name="T5" fmla="*/ 0 h 624"/>
                <a:gd name="T6" fmla="*/ 0 60000 65536"/>
                <a:gd name="T7" fmla="*/ 0 60000 65536"/>
                <a:gd name="T8" fmla="*/ 0 60000 65536"/>
                <a:gd name="T9" fmla="*/ 0 w 576"/>
                <a:gd name="T10" fmla="*/ 0 h 624"/>
                <a:gd name="T11" fmla="*/ 576 w 576"/>
                <a:gd name="T12" fmla="*/ 624 h 6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624">
                  <a:moveTo>
                    <a:pt x="0" y="624"/>
                  </a:moveTo>
                  <a:lnTo>
                    <a:pt x="0" y="0"/>
                  </a:lnTo>
                  <a:lnTo>
                    <a:pt x="576" y="0"/>
                  </a:lnTo>
                </a:path>
              </a:pathLst>
            </a:custGeom>
            <a:noFill/>
            <a:ln w="38160">
              <a:solidFill>
                <a:srgbClr val="CD33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4" name="Freeform 592"/>
            <p:cNvSpPr>
              <a:spLocks/>
            </p:cNvSpPr>
            <p:nvPr/>
          </p:nvSpPr>
          <p:spPr bwMode="auto">
            <a:xfrm flipV="1">
              <a:off x="1632" y="2256"/>
              <a:ext cx="864" cy="48"/>
            </a:xfrm>
            <a:custGeom>
              <a:avLst/>
              <a:gdLst>
                <a:gd name="T0" fmla="*/ 0 w 576"/>
                <a:gd name="T1" fmla="*/ 624 h 624"/>
                <a:gd name="T2" fmla="*/ 0 w 576"/>
                <a:gd name="T3" fmla="*/ 0 h 624"/>
                <a:gd name="T4" fmla="*/ 576 w 576"/>
                <a:gd name="T5" fmla="*/ 0 h 624"/>
                <a:gd name="T6" fmla="*/ 0 60000 65536"/>
                <a:gd name="T7" fmla="*/ 0 60000 65536"/>
                <a:gd name="T8" fmla="*/ 0 60000 65536"/>
                <a:gd name="T9" fmla="*/ 0 w 576"/>
                <a:gd name="T10" fmla="*/ 0 h 624"/>
                <a:gd name="T11" fmla="*/ 576 w 576"/>
                <a:gd name="T12" fmla="*/ 624 h 6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6" h="624">
                  <a:moveTo>
                    <a:pt x="0" y="624"/>
                  </a:moveTo>
                  <a:lnTo>
                    <a:pt x="0" y="0"/>
                  </a:lnTo>
                  <a:lnTo>
                    <a:pt x="576" y="0"/>
                  </a:lnTo>
                </a:path>
              </a:pathLst>
            </a:custGeom>
            <a:noFill/>
            <a:ln w="38160">
              <a:solidFill>
                <a:srgbClr val="CD33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95" name="Text Box 594"/>
            <p:cNvSpPr txBox="1">
              <a:spLocks noChangeArrowheads="1"/>
            </p:cNvSpPr>
            <p:nvPr/>
          </p:nvSpPr>
          <p:spPr bwMode="auto">
            <a:xfrm>
              <a:off x="2161" y="2752"/>
              <a:ext cx="213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</a:pPr>
              <a:r>
                <a:rPr lang="en-GB" altLang="zh-TW" sz="18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  <a:ea typeface="新細明體" charset="-120"/>
                </a:rPr>
                <a:t>X</a:t>
              </a:r>
            </a:p>
          </p:txBody>
        </p:sp>
      </p:grpSp>
      <p:grpSp>
        <p:nvGrpSpPr>
          <p:cNvPr id="596" name="Group 595"/>
          <p:cNvGrpSpPr>
            <a:grpSpLocks/>
          </p:cNvGrpSpPr>
          <p:nvPr/>
        </p:nvGrpSpPr>
        <p:grpSpPr bwMode="auto">
          <a:xfrm>
            <a:off x="3704539" y="3771707"/>
            <a:ext cx="4079875" cy="2043113"/>
            <a:chOff x="1632" y="2208"/>
            <a:chExt cx="2570" cy="1287"/>
          </a:xfrm>
        </p:grpSpPr>
        <p:sp>
          <p:nvSpPr>
            <p:cNvPr id="597" name="Text Box 596"/>
            <p:cNvSpPr txBox="1">
              <a:spLocks noChangeArrowheads="1"/>
            </p:cNvSpPr>
            <p:nvPr/>
          </p:nvSpPr>
          <p:spPr bwMode="auto">
            <a:xfrm>
              <a:off x="3889" y="3024"/>
              <a:ext cx="314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700"/>
                </a:spcBef>
                <a:buClr>
                  <a:srgbClr val="000000"/>
                </a:buClr>
                <a:buFont typeface="Wingdings" charset="2"/>
                <a:buNone/>
              </a:pPr>
              <a:r>
                <a:rPr lang="zh-TW" altLang="en-GB" sz="2800">
                  <a:solidFill>
                    <a:srgbClr val="996633"/>
                  </a:solidFill>
                  <a:latin typeface="Wingdings" charset="2"/>
                  <a:ea typeface="新細明體" charset="-120"/>
                </a:rPr>
                <a:t></a:t>
              </a:r>
            </a:p>
          </p:txBody>
        </p:sp>
        <p:sp>
          <p:nvSpPr>
            <p:cNvPr id="598" name="Line 597"/>
            <p:cNvSpPr>
              <a:spLocks noChangeShapeType="1"/>
            </p:cNvSpPr>
            <p:nvPr/>
          </p:nvSpPr>
          <p:spPr bwMode="auto">
            <a:xfrm>
              <a:off x="3168" y="2208"/>
              <a:ext cx="576" cy="1"/>
            </a:xfrm>
            <a:prstGeom prst="line">
              <a:avLst/>
            </a:prstGeom>
            <a:noFill/>
            <a:ln w="57240">
              <a:solidFill>
                <a:srgbClr val="CD3333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9" name="Text Box 598"/>
            <p:cNvSpPr txBox="1">
              <a:spLocks noChangeArrowheads="1"/>
            </p:cNvSpPr>
            <p:nvPr/>
          </p:nvSpPr>
          <p:spPr bwMode="auto">
            <a:xfrm>
              <a:off x="3409" y="2208"/>
              <a:ext cx="206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</a:pPr>
              <a:r>
                <a:rPr lang="en-GB" altLang="zh-TW" sz="18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600" name="Freeform 599"/>
            <p:cNvSpPr>
              <a:spLocks/>
            </p:cNvSpPr>
            <p:nvPr/>
          </p:nvSpPr>
          <p:spPr bwMode="auto">
            <a:xfrm>
              <a:off x="1632" y="2640"/>
              <a:ext cx="2256" cy="672"/>
            </a:xfrm>
            <a:custGeom>
              <a:avLst/>
              <a:gdLst>
                <a:gd name="T0" fmla="*/ 0 w 2256"/>
                <a:gd name="T1" fmla="*/ 48 h 672"/>
                <a:gd name="T2" fmla="*/ 0 w 2256"/>
                <a:gd name="T3" fmla="*/ 384 h 672"/>
                <a:gd name="T4" fmla="*/ 816 w 2256"/>
                <a:gd name="T5" fmla="*/ 384 h 672"/>
                <a:gd name="T6" fmla="*/ 816 w 2256"/>
                <a:gd name="T7" fmla="*/ 672 h 672"/>
                <a:gd name="T8" fmla="*/ 1824 w 2256"/>
                <a:gd name="T9" fmla="*/ 672 h 672"/>
                <a:gd name="T10" fmla="*/ 1824 w 2256"/>
                <a:gd name="T11" fmla="*/ 480 h 672"/>
                <a:gd name="T12" fmla="*/ 2256 w 2256"/>
                <a:gd name="T13" fmla="*/ 480 h 672"/>
                <a:gd name="T14" fmla="*/ 2256 w 2256"/>
                <a:gd name="T15" fmla="*/ 0 h 6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2256"/>
                <a:gd name="T25" fmla="*/ 0 h 672"/>
                <a:gd name="T26" fmla="*/ 2256 w 2256"/>
                <a:gd name="T27" fmla="*/ 672 h 6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2256" h="672">
                  <a:moveTo>
                    <a:pt x="0" y="48"/>
                  </a:moveTo>
                  <a:lnTo>
                    <a:pt x="0" y="384"/>
                  </a:lnTo>
                  <a:lnTo>
                    <a:pt x="816" y="384"/>
                  </a:lnTo>
                  <a:lnTo>
                    <a:pt x="816" y="672"/>
                  </a:lnTo>
                  <a:lnTo>
                    <a:pt x="1824" y="672"/>
                  </a:lnTo>
                  <a:lnTo>
                    <a:pt x="1824" y="480"/>
                  </a:lnTo>
                  <a:lnTo>
                    <a:pt x="2256" y="480"/>
                  </a:lnTo>
                  <a:lnTo>
                    <a:pt x="2256" y="0"/>
                  </a:lnTo>
                </a:path>
              </a:pathLst>
            </a:custGeom>
            <a:noFill/>
            <a:ln w="38160">
              <a:solidFill>
                <a:srgbClr val="0066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1" name="Text Box 600"/>
            <p:cNvSpPr txBox="1">
              <a:spLocks noChangeArrowheads="1"/>
            </p:cNvSpPr>
            <p:nvPr/>
          </p:nvSpPr>
          <p:spPr bwMode="auto">
            <a:xfrm>
              <a:off x="3697" y="3264"/>
              <a:ext cx="298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</a:pPr>
              <a:r>
                <a:rPr lang="en-GB" altLang="zh-TW" sz="18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  <a:ea typeface="新細明體" charset="-120"/>
                </a:rPr>
                <a:t>01</a:t>
              </a:r>
            </a:p>
          </p:txBody>
        </p:sp>
        <p:sp>
          <p:nvSpPr>
            <p:cNvPr id="602" name="Freeform 601"/>
            <p:cNvSpPr>
              <a:spLocks/>
            </p:cNvSpPr>
            <p:nvPr/>
          </p:nvSpPr>
          <p:spPr bwMode="auto">
            <a:xfrm>
              <a:off x="1632" y="2304"/>
              <a:ext cx="1296" cy="720"/>
            </a:xfrm>
            <a:custGeom>
              <a:avLst/>
              <a:gdLst>
                <a:gd name="T0" fmla="*/ 0 w 1296"/>
                <a:gd name="T1" fmla="*/ 0 h 720"/>
                <a:gd name="T2" fmla="*/ 0 w 1296"/>
                <a:gd name="T3" fmla="*/ 720 h 720"/>
                <a:gd name="T4" fmla="*/ 1296 w 1296"/>
                <a:gd name="T5" fmla="*/ 720 h 720"/>
                <a:gd name="T6" fmla="*/ 0 60000 65536"/>
                <a:gd name="T7" fmla="*/ 0 60000 65536"/>
                <a:gd name="T8" fmla="*/ 0 60000 65536"/>
                <a:gd name="T9" fmla="*/ 0 w 1296"/>
                <a:gd name="T10" fmla="*/ 0 h 720"/>
                <a:gd name="T11" fmla="*/ 1296 w 1296"/>
                <a:gd name="T12" fmla="*/ 720 h 7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6" h="720">
                  <a:moveTo>
                    <a:pt x="0" y="0"/>
                  </a:moveTo>
                  <a:lnTo>
                    <a:pt x="0" y="720"/>
                  </a:lnTo>
                  <a:lnTo>
                    <a:pt x="1296" y="720"/>
                  </a:lnTo>
                </a:path>
              </a:pathLst>
            </a:custGeom>
            <a:noFill/>
            <a:ln w="38160">
              <a:solidFill>
                <a:srgbClr val="CD33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3" name="Freeform 602"/>
            <p:cNvSpPr>
              <a:spLocks/>
            </p:cNvSpPr>
            <p:nvPr/>
          </p:nvSpPr>
          <p:spPr bwMode="auto">
            <a:xfrm>
              <a:off x="3168" y="2448"/>
              <a:ext cx="576" cy="144"/>
            </a:xfrm>
            <a:custGeom>
              <a:avLst/>
              <a:gdLst>
                <a:gd name="T0" fmla="*/ 0 w 576"/>
                <a:gd name="T1" fmla="*/ 0 h 144"/>
                <a:gd name="T2" fmla="*/ 432 w 576"/>
                <a:gd name="T3" fmla="*/ 0 h 144"/>
                <a:gd name="T4" fmla="*/ 432 w 576"/>
                <a:gd name="T5" fmla="*/ 144 h 144"/>
                <a:gd name="T6" fmla="*/ 576 w 576"/>
                <a:gd name="T7" fmla="*/ 144 h 1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144"/>
                <a:gd name="T14" fmla="*/ 576 w 576"/>
                <a:gd name="T15" fmla="*/ 144 h 1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144">
                  <a:moveTo>
                    <a:pt x="0" y="0"/>
                  </a:moveTo>
                  <a:lnTo>
                    <a:pt x="432" y="0"/>
                  </a:lnTo>
                  <a:lnTo>
                    <a:pt x="432" y="144"/>
                  </a:lnTo>
                  <a:lnTo>
                    <a:pt x="576" y="144"/>
                  </a:lnTo>
                </a:path>
              </a:pathLst>
            </a:custGeom>
            <a:noFill/>
            <a:ln w="57240">
              <a:solidFill>
                <a:srgbClr val="CD33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04" name="Group 603"/>
          <p:cNvGrpSpPr>
            <a:grpSpLocks/>
          </p:cNvGrpSpPr>
          <p:nvPr/>
        </p:nvGrpSpPr>
        <p:grpSpPr bwMode="auto">
          <a:xfrm>
            <a:off x="2180539" y="1790507"/>
            <a:ext cx="4875213" cy="3275013"/>
            <a:chOff x="672" y="960"/>
            <a:chExt cx="3071" cy="2063"/>
          </a:xfrm>
        </p:grpSpPr>
        <p:sp>
          <p:nvSpPr>
            <p:cNvPr id="605" name="Freeform 604"/>
            <p:cNvSpPr>
              <a:spLocks/>
            </p:cNvSpPr>
            <p:nvPr/>
          </p:nvSpPr>
          <p:spPr bwMode="auto">
            <a:xfrm>
              <a:off x="3168" y="1296"/>
              <a:ext cx="576" cy="1728"/>
            </a:xfrm>
            <a:custGeom>
              <a:avLst/>
              <a:gdLst>
                <a:gd name="T0" fmla="*/ 0 w 576"/>
                <a:gd name="T1" fmla="*/ 1728 h 1728"/>
                <a:gd name="T2" fmla="*/ 240 w 576"/>
                <a:gd name="T3" fmla="*/ 1728 h 1728"/>
                <a:gd name="T4" fmla="*/ 240 w 576"/>
                <a:gd name="T5" fmla="*/ 0 h 1728"/>
                <a:gd name="T6" fmla="*/ 576 w 576"/>
                <a:gd name="T7" fmla="*/ 0 h 17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"/>
                <a:gd name="T13" fmla="*/ 0 h 1728"/>
                <a:gd name="T14" fmla="*/ 576 w 576"/>
                <a:gd name="T15" fmla="*/ 1728 h 17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" h="1728">
                  <a:moveTo>
                    <a:pt x="0" y="1728"/>
                  </a:moveTo>
                  <a:lnTo>
                    <a:pt x="240" y="1728"/>
                  </a:lnTo>
                  <a:lnTo>
                    <a:pt x="240" y="0"/>
                  </a:lnTo>
                  <a:lnTo>
                    <a:pt x="576" y="0"/>
                  </a:lnTo>
                </a:path>
              </a:pathLst>
            </a:custGeom>
            <a:noFill/>
            <a:ln w="38160">
              <a:solidFill>
                <a:srgbClr val="CD33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6" name="Freeform 605"/>
            <p:cNvSpPr>
              <a:spLocks/>
            </p:cNvSpPr>
            <p:nvPr/>
          </p:nvSpPr>
          <p:spPr bwMode="auto">
            <a:xfrm>
              <a:off x="672" y="960"/>
              <a:ext cx="3072" cy="1296"/>
            </a:xfrm>
            <a:custGeom>
              <a:avLst/>
              <a:gdLst>
                <a:gd name="T0" fmla="*/ 0 w 3072"/>
                <a:gd name="T1" fmla="*/ 1296 h 1296"/>
                <a:gd name="T2" fmla="*/ 0 w 3072"/>
                <a:gd name="T3" fmla="*/ 96 h 1296"/>
                <a:gd name="T4" fmla="*/ 432 w 3072"/>
                <a:gd name="T5" fmla="*/ 96 h 1296"/>
                <a:gd name="T6" fmla="*/ 432 w 3072"/>
                <a:gd name="T7" fmla="*/ 192 h 1296"/>
                <a:gd name="T8" fmla="*/ 2640 w 3072"/>
                <a:gd name="T9" fmla="*/ 192 h 1296"/>
                <a:gd name="T10" fmla="*/ 2640 w 3072"/>
                <a:gd name="T11" fmla="*/ 0 h 1296"/>
                <a:gd name="T12" fmla="*/ 3072 w 3072"/>
                <a:gd name="T13" fmla="*/ 0 h 129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072"/>
                <a:gd name="T22" fmla="*/ 0 h 1296"/>
                <a:gd name="T23" fmla="*/ 3072 w 3072"/>
                <a:gd name="T24" fmla="*/ 1296 h 129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072" h="1296">
                  <a:moveTo>
                    <a:pt x="0" y="1296"/>
                  </a:moveTo>
                  <a:lnTo>
                    <a:pt x="0" y="96"/>
                  </a:lnTo>
                  <a:lnTo>
                    <a:pt x="432" y="96"/>
                  </a:lnTo>
                  <a:lnTo>
                    <a:pt x="432" y="192"/>
                  </a:lnTo>
                  <a:lnTo>
                    <a:pt x="2640" y="192"/>
                  </a:lnTo>
                  <a:lnTo>
                    <a:pt x="2640" y="0"/>
                  </a:lnTo>
                  <a:lnTo>
                    <a:pt x="3072" y="0"/>
                  </a:lnTo>
                </a:path>
              </a:pathLst>
            </a:custGeom>
            <a:noFill/>
            <a:ln w="57240">
              <a:solidFill>
                <a:srgbClr val="CD3333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607" name="Group 606"/>
          <p:cNvGrpSpPr>
            <a:grpSpLocks/>
          </p:cNvGrpSpPr>
          <p:nvPr/>
        </p:nvGrpSpPr>
        <p:grpSpPr bwMode="auto">
          <a:xfrm>
            <a:off x="5076139" y="2095307"/>
            <a:ext cx="4060825" cy="1827213"/>
            <a:chOff x="2496" y="1152"/>
            <a:chExt cx="2558" cy="1151"/>
          </a:xfrm>
        </p:grpSpPr>
        <p:sp>
          <p:nvSpPr>
            <p:cNvPr id="608" name="Freeform 607"/>
            <p:cNvSpPr>
              <a:spLocks/>
            </p:cNvSpPr>
            <p:nvPr/>
          </p:nvSpPr>
          <p:spPr bwMode="auto">
            <a:xfrm>
              <a:off x="4080" y="1488"/>
              <a:ext cx="288" cy="816"/>
            </a:xfrm>
            <a:custGeom>
              <a:avLst/>
              <a:gdLst>
                <a:gd name="T0" fmla="*/ 0 w 192"/>
                <a:gd name="T1" fmla="*/ 816 h 816"/>
                <a:gd name="T2" fmla="*/ 96 w 192"/>
                <a:gd name="T3" fmla="*/ 816 h 816"/>
                <a:gd name="T4" fmla="*/ 96 w 192"/>
                <a:gd name="T5" fmla="*/ 0 h 816"/>
                <a:gd name="T6" fmla="*/ 192 w 192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2"/>
                <a:gd name="T13" fmla="*/ 0 h 816"/>
                <a:gd name="T14" fmla="*/ 192 w 192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2" h="816">
                  <a:moveTo>
                    <a:pt x="0" y="816"/>
                  </a:moveTo>
                  <a:lnTo>
                    <a:pt x="96" y="816"/>
                  </a:lnTo>
                  <a:lnTo>
                    <a:pt x="96" y="0"/>
                  </a:lnTo>
                  <a:lnTo>
                    <a:pt x="192" y="0"/>
                  </a:lnTo>
                </a:path>
              </a:pathLst>
            </a:custGeom>
            <a:noFill/>
            <a:ln w="3816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9" name="Freeform 608"/>
            <p:cNvSpPr>
              <a:spLocks/>
            </p:cNvSpPr>
            <p:nvPr/>
          </p:nvSpPr>
          <p:spPr bwMode="auto">
            <a:xfrm>
              <a:off x="2496" y="1344"/>
              <a:ext cx="1824" cy="96"/>
            </a:xfrm>
            <a:custGeom>
              <a:avLst/>
              <a:gdLst>
                <a:gd name="T0" fmla="*/ 0 w 1824"/>
                <a:gd name="T1" fmla="*/ 96 h 96"/>
                <a:gd name="T2" fmla="*/ 1632 w 1824"/>
                <a:gd name="T3" fmla="*/ 96 h 96"/>
                <a:gd name="T4" fmla="*/ 1632 w 1824"/>
                <a:gd name="T5" fmla="*/ 0 h 96"/>
                <a:gd name="T6" fmla="*/ 1824 w 1824"/>
                <a:gd name="T7" fmla="*/ 0 h 9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24"/>
                <a:gd name="T13" fmla="*/ 0 h 96"/>
                <a:gd name="T14" fmla="*/ 1824 w 1824"/>
                <a:gd name="T15" fmla="*/ 96 h 9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24" h="96">
                  <a:moveTo>
                    <a:pt x="0" y="96"/>
                  </a:moveTo>
                  <a:lnTo>
                    <a:pt x="1632" y="96"/>
                  </a:lnTo>
                  <a:lnTo>
                    <a:pt x="1632" y="0"/>
                  </a:lnTo>
                  <a:lnTo>
                    <a:pt x="1824" y="0"/>
                  </a:lnTo>
                </a:path>
              </a:pathLst>
            </a:custGeom>
            <a:noFill/>
            <a:ln w="3816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0" name="Text Box 609"/>
            <p:cNvSpPr txBox="1">
              <a:spLocks noChangeArrowheads="1"/>
            </p:cNvSpPr>
            <p:nvPr/>
          </p:nvSpPr>
          <p:spPr bwMode="auto">
            <a:xfrm>
              <a:off x="4849" y="1152"/>
              <a:ext cx="206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</a:pPr>
              <a:r>
                <a:rPr lang="en-GB" altLang="zh-TW" sz="18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  <a:ea typeface="新細明體" charset="-120"/>
                </a:rPr>
                <a:t>1</a:t>
              </a:r>
            </a:p>
          </p:txBody>
        </p:sp>
      </p:grpSp>
      <p:sp>
        <p:nvSpPr>
          <p:cNvPr id="611" name="Freeform 610"/>
          <p:cNvSpPr>
            <a:spLocks/>
          </p:cNvSpPr>
          <p:nvPr/>
        </p:nvSpPr>
        <p:spPr bwMode="auto">
          <a:xfrm>
            <a:off x="1647139" y="1333307"/>
            <a:ext cx="7010400" cy="2362200"/>
          </a:xfrm>
          <a:custGeom>
            <a:avLst/>
            <a:gdLst>
              <a:gd name="T0" fmla="*/ 4416 w 4416"/>
              <a:gd name="T1" fmla="*/ 0 h 1488"/>
              <a:gd name="T2" fmla="*/ 0 w 4416"/>
              <a:gd name="T3" fmla="*/ 0 h 1488"/>
              <a:gd name="T4" fmla="*/ 0 w 4416"/>
              <a:gd name="T5" fmla="*/ 1488 h 1488"/>
              <a:gd name="T6" fmla="*/ 144 w 4416"/>
              <a:gd name="T7" fmla="*/ 1488 h 1488"/>
              <a:gd name="T8" fmla="*/ 0 60000 65536"/>
              <a:gd name="T9" fmla="*/ 0 60000 65536"/>
              <a:gd name="T10" fmla="*/ 0 60000 65536"/>
              <a:gd name="T11" fmla="*/ 0 60000 65536"/>
              <a:gd name="T12" fmla="*/ 0 w 4416"/>
              <a:gd name="T13" fmla="*/ 0 h 1488"/>
              <a:gd name="T14" fmla="*/ 4416 w 4416"/>
              <a:gd name="T15" fmla="*/ 1488 h 14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16" h="1488">
                <a:moveTo>
                  <a:pt x="4416" y="0"/>
                </a:moveTo>
                <a:lnTo>
                  <a:pt x="0" y="0"/>
                </a:lnTo>
                <a:lnTo>
                  <a:pt x="0" y="1488"/>
                </a:lnTo>
                <a:lnTo>
                  <a:pt x="144" y="1488"/>
                </a:lnTo>
              </a:path>
            </a:pathLst>
          </a:custGeom>
          <a:noFill/>
          <a:ln w="57240">
            <a:solidFill>
              <a:srgbClr val="CD3333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2" name="Group 611"/>
          <p:cNvGrpSpPr>
            <a:grpSpLocks/>
          </p:cNvGrpSpPr>
          <p:nvPr/>
        </p:nvGrpSpPr>
        <p:grpSpPr bwMode="auto">
          <a:xfrm>
            <a:off x="5611127" y="3238307"/>
            <a:ext cx="3841750" cy="2195513"/>
            <a:chOff x="2833" y="1872"/>
            <a:chExt cx="2420" cy="1383"/>
          </a:xfrm>
        </p:grpSpPr>
        <p:sp>
          <p:nvSpPr>
            <p:cNvPr id="613" name="Text Box 612"/>
            <p:cNvSpPr txBox="1">
              <a:spLocks noChangeArrowheads="1"/>
            </p:cNvSpPr>
            <p:nvPr/>
          </p:nvSpPr>
          <p:spPr bwMode="auto">
            <a:xfrm>
              <a:off x="4705" y="2016"/>
              <a:ext cx="206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defPPr>
                <a:defRPr lang="en-GB"/>
              </a:defPPr>
              <a:lvl1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 b="1">
                  <a:solidFill>
                    <a:srgbClr val="0832B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charset="0"/>
                  <a:ea typeface="新細明體" charset="-120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9pPr>
            </a:lstStyle>
            <a:p>
              <a:r>
                <a:rPr lang="en-GB" altLang="zh-TW" dirty="0"/>
                <a:t>0</a:t>
              </a:r>
            </a:p>
          </p:txBody>
        </p:sp>
        <p:sp>
          <p:nvSpPr>
            <p:cNvPr id="614" name="Text Box 613"/>
            <p:cNvSpPr txBox="1">
              <a:spLocks noChangeArrowheads="1"/>
            </p:cNvSpPr>
            <p:nvPr/>
          </p:nvSpPr>
          <p:spPr bwMode="auto">
            <a:xfrm>
              <a:off x="2833" y="1872"/>
              <a:ext cx="206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defPPr>
                <a:defRPr lang="en-GB"/>
              </a:defPPr>
              <a:lvl1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 b="1">
                  <a:solidFill>
                    <a:srgbClr val="0832B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charset="0"/>
                  <a:ea typeface="新細明體" charset="-120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9pPr>
            </a:lstStyle>
            <a:p>
              <a:r>
                <a:rPr lang="en-GB" altLang="zh-TW" dirty="0"/>
                <a:t>0</a:t>
              </a:r>
            </a:p>
          </p:txBody>
        </p:sp>
        <p:sp>
          <p:nvSpPr>
            <p:cNvPr id="615" name="Text Box 614"/>
            <p:cNvSpPr txBox="1">
              <a:spLocks noChangeArrowheads="1"/>
            </p:cNvSpPr>
            <p:nvPr/>
          </p:nvSpPr>
          <p:spPr bwMode="auto">
            <a:xfrm>
              <a:off x="4513" y="3024"/>
              <a:ext cx="206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defPPr>
                <a:defRPr lang="en-GB"/>
              </a:defPPr>
              <a:lvl1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1800" b="1">
                  <a:solidFill>
                    <a:srgbClr val="0832B8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ahoma" charset="0"/>
                  <a:ea typeface="新細明體" charset="-120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lvl9pPr>
            </a:lstStyle>
            <a:p>
              <a:r>
                <a:rPr lang="en-GB" altLang="zh-TW"/>
                <a:t>0</a:t>
              </a:r>
            </a:p>
          </p:txBody>
        </p:sp>
        <p:sp>
          <p:nvSpPr>
            <p:cNvPr id="616" name="Text Box 615"/>
            <p:cNvSpPr txBox="1">
              <a:spLocks noChangeArrowheads="1"/>
            </p:cNvSpPr>
            <p:nvPr/>
          </p:nvSpPr>
          <p:spPr bwMode="auto">
            <a:xfrm>
              <a:off x="5041" y="2208"/>
              <a:ext cx="213" cy="23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1pPr>
              <a:lvl2pPr marL="37931725" indent="-37474525"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5pPr>
              <a:lvl6pPr marL="4572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6pPr>
              <a:lvl7pPr marL="9144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7pPr>
              <a:lvl8pPr marL="13716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8pPr>
              <a:lvl9pPr marL="1828800" eaLnBrk="0" fontAlgn="base" hangingPunct="0">
                <a:lnSpc>
                  <a:spcPct val="95000"/>
                </a:lnSpc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bg1"/>
                  </a:solidFill>
                  <a:latin typeface="Times New Roman" charset="0"/>
                  <a:ea typeface="SimSun" charset="-122"/>
                </a:defRPr>
              </a:lvl9pPr>
            </a:lstStyle>
            <a:p>
              <a:pPr>
                <a:lnSpc>
                  <a:spcPct val="100000"/>
                </a:lnSpc>
                <a:spcBef>
                  <a:spcPts val="450"/>
                </a:spcBef>
                <a:buClr>
                  <a:srgbClr val="000000"/>
                </a:buClr>
                <a:buFont typeface="Tahoma" charset="0"/>
                <a:buNone/>
              </a:pPr>
              <a:r>
                <a:rPr lang="en-GB" altLang="zh-TW" sz="1800" b="1">
                  <a:solidFill>
                    <a:srgbClr val="3333C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ahoma" charset="0"/>
                  <a:ea typeface="新細明體" charset="-120"/>
                </a:rPr>
                <a:t>X</a:t>
              </a:r>
            </a:p>
          </p:txBody>
        </p:sp>
      </p:grpSp>
      <p:sp>
        <p:nvSpPr>
          <p:cNvPr id="617" name="Freeform 617"/>
          <p:cNvSpPr>
            <a:spLocks noChangeArrowheads="1"/>
          </p:cNvSpPr>
          <p:nvPr/>
        </p:nvSpPr>
        <p:spPr bwMode="auto">
          <a:xfrm>
            <a:off x="7666939" y="1333306"/>
            <a:ext cx="990600" cy="685800"/>
          </a:xfrm>
          <a:custGeom>
            <a:avLst/>
            <a:gdLst>
              <a:gd name="T0" fmla="*/ 0 w 624"/>
              <a:gd name="T1" fmla="*/ 432 h 432"/>
              <a:gd name="T2" fmla="*/ 480 w 624"/>
              <a:gd name="T3" fmla="*/ 432 h 432"/>
              <a:gd name="T4" fmla="*/ 480 w 624"/>
              <a:gd name="T5" fmla="*/ 288 h 432"/>
              <a:gd name="T6" fmla="*/ 624 w 624"/>
              <a:gd name="T7" fmla="*/ 288 h 432"/>
              <a:gd name="T8" fmla="*/ 624 w 624"/>
              <a:gd name="T9" fmla="*/ 0 h 4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4"/>
              <a:gd name="T16" fmla="*/ 0 h 432"/>
              <a:gd name="T17" fmla="*/ 624 w 624"/>
              <a:gd name="T18" fmla="*/ 432 h 4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4" h="432">
                <a:moveTo>
                  <a:pt x="0" y="432"/>
                </a:moveTo>
                <a:lnTo>
                  <a:pt x="480" y="432"/>
                </a:lnTo>
                <a:lnTo>
                  <a:pt x="480" y="288"/>
                </a:lnTo>
                <a:lnTo>
                  <a:pt x="624" y="288"/>
                </a:lnTo>
                <a:lnTo>
                  <a:pt x="624" y="0"/>
                </a:lnTo>
              </a:path>
            </a:pathLst>
          </a:custGeom>
          <a:noFill/>
          <a:ln w="57240">
            <a:solidFill>
              <a:srgbClr val="CD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" name="Oval 586"/>
          <p:cNvSpPr>
            <a:spLocks noChangeArrowheads="1"/>
          </p:cNvSpPr>
          <p:nvPr/>
        </p:nvSpPr>
        <p:spPr bwMode="auto">
          <a:xfrm>
            <a:off x="7722502" y="2169920"/>
            <a:ext cx="762000" cy="762000"/>
          </a:xfrm>
          <a:prstGeom prst="ellipse">
            <a:avLst/>
          </a:prstGeom>
          <a:noFill/>
          <a:ln w="31680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188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1000"/>
                                        <p:tgtEl>
                                          <p:spTgt spid="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6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1" grpId="0" animBg="1"/>
      <p:bldP spid="617" grpId="0" animBg="1"/>
      <p:bldP spid="6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Setting of Control Signals (Cont’d)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24744"/>
            <a:ext cx="11031016" cy="5256584"/>
          </a:xfrm>
        </p:spPr>
        <p:txBody>
          <a:bodyPr/>
          <a:lstStyle/>
          <a:p>
            <a:pPr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ea typeface="新細明體" charset="-120"/>
              </a:rPr>
              <a:t>Setting of control lines (</a:t>
            </a:r>
            <a:r>
              <a:rPr lang="en-GB" altLang="zh-TW" dirty="0">
                <a:solidFill>
                  <a:srgbClr val="CD3333"/>
                </a:solidFill>
                <a:ea typeface="新細明體" charset="-120"/>
              </a:rPr>
              <a:t>output</a:t>
            </a:r>
            <a:r>
              <a:rPr lang="en-GB" altLang="zh-TW" dirty="0">
                <a:ea typeface="新細明體" charset="-120"/>
              </a:rPr>
              <a:t> of control unit):</a:t>
            </a:r>
          </a:p>
          <a:p>
            <a:pPr>
              <a:lnSpc>
                <a:spcPct val="10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zh-TW" dirty="0">
              <a:ea typeface="新細明體" charset="-120"/>
            </a:endParaRPr>
          </a:p>
          <a:p>
            <a:pPr>
              <a:lnSpc>
                <a:spcPct val="10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zh-TW" dirty="0">
              <a:ea typeface="新細明體" charset="-120"/>
            </a:endParaRPr>
          </a:p>
          <a:p>
            <a:pPr>
              <a:lnSpc>
                <a:spcPct val="10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zh-TW" dirty="0">
              <a:ea typeface="新細明體" charset="-120"/>
            </a:endParaRPr>
          </a:p>
          <a:p>
            <a:pPr>
              <a:lnSpc>
                <a:spcPct val="10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zh-TW" dirty="0">
              <a:ea typeface="新細明體" charset="-120"/>
            </a:endParaRPr>
          </a:p>
          <a:p>
            <a:pPr>
              <a:lnSpc>
                <a:spcPct val="100000"/>
              </a:lnSpc>
              <a:spcBef>
                <a:spcPts val="300"/>
              </a:spcBef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br>
              <a:rPr lang="en-GB" altLang="zh-TW" sz="1400" dirty="0">
                <a:ea typeface="新細明體" charset="-120"/>
              </a:rPr>
            </a:br>
            <a:endParaRPr lang="en-GB" altLang="zh-TW" sz="1400" dirty="0">
              <a:ea typeface="新細明體" charset="-120"/>
            </a:endParaRPr>
          </a:p>
          <a:p>
            <a:pPr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solidFill>
                  <a:srgbClr val="CD3333"/>
                </a:solidFill>
                <a:ea typeface="新細明體" charset="-120"/>
              </a:rPr>
              <a:t>Input</a:t>
            </a:r>
            <a:r>
              <a:rPr lang="en-GB" altLang="zh-TW" dirty="0">
                <a:ea typeface="新細明體" charset="-120"/>
              </a:rPr>
              <a:t> to control unit (i.e. opcode determines setting of control lines):</a:t>
            </a:r>
            <a:br>
              <a:rPr lang="en-GB" altLang="zh-TW" dirty="0">
                <a:ea typeface="新細明體" charset="-120"/>
              </a:rPr>
            </a:br>
            <a:endParaRPr lang="en-GB" altLang="zh-TW" dirty="0">
              <a:ea typeface="新細明體" charset="-120"/>
            </a:endParaRPr>
          </a:p>
          <a:p>
            <a:endParaRPr lang="en-US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1258093" y="1697400"/>
            <a:ext cx="7923213" cy="1698625"/>
            <a:chOff x="384" y="864"/>
            <a:chExt cx="4991" cy="1070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2832" y="1747"/>
              <a:ext cx="43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2832" y="1559"/>
              <a:ext cx="43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2832" y="1371"/>
              <a:ext cx="43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2832" y="1183"/>
              <a:ext cx="43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2832" y="864"/>
              <a:ext cx="432" cy="319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Mem-Read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3264" y="1747"/>
              <a:ext cx="43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3264" y="1559"/>
              <a:ext cx="43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3264" y="1371"/>
              <a:ext cx="43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3264" y="1183"/>
              <a:ext cx="43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3264" y="864"/>
              <a:ext cx="432" cy="319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Mem-Write</a:t>
              </a: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3696" y="1747"/>
              <a:ext cx="528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3696" y="1559"/>
              <a:ext cx="528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3696" y="1371"/>
              <a:ext cx="528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3696" y="1183"/>
              <a:ext cx="528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3696" y="864"/>
              <a:ext cx="528" cy="319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Branch</a:t>
              </a: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4224" y="1747"/>
              <a:ext cx="576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4224" y="1559"/>
              <a:ext cx="576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4224" y="1371"/>
              <a:ext cx="576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4224" y="1183"/>
              <a:ext cx="576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4224" y="864"/>
              <a:ext cx="576" cy="319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ALUOp1</a:t>
              </a: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4800" y="1559"/>
              <a:ext cx="576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2410" y="1559"/>
              <a:ext cx="42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1968" y="1559"/>
              <a:ext cx="44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X</a:t>
              </a: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1584" y="1559"/>
              <a:ext cx="384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1200" y="1559"/>
              <a:ext cx="384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X</a:t>
              </a: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384" y="1559"/>
              <a:ext cx="816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0000CC"/>
                  </a:solidFill>
                  <a:latin typeface="Courier New" charset="0"/>
                  <a:ea typeface="新細明體" charset="-120"/>
                </a:rPr>
                <a:t>sw</a:t>
              </a:r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1584" y="1747"/>
              <a:ext cx="384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1584" y="1371"/>
              <a:ext cx="384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1584" y="1183"/>
              <a:ext cx="384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1584" y="864"/>
              <a:ext cx="384" cy="319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ALU-Src</a:t>
              </a:r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1968" y="1747"/>
              <a:ext cx="44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X</a:t>
              </a: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1968" y="1371"/>
              <a:ext cx="44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1968" y="1183"/>
              <a:ext cx="44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39" name="Rectangle 37"/>
            <p:cNvSpPr>
              <a:spLocks noChangeArrowheads="1"/>
            </p:cNvSpPr>
            <p:nvPr/>
          </p:nvSpPr>
          <p:spPr bwMode="auto">
            <a:xfrm>
              <a:off x="1968" y="864"/>
              <a:ext cx="442" cy="319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Mem-toReg</a:t>
              </a:r>
            </a:p>
          </p:txBody>
        </p:sp>
        <p:sp>
          <p:nvSpPr>
            <p:cNvPr id="40" name="Rectangle 38"/>
            <p:cNvSpPr>
              <a:spLocks noChangeArrowheads="1"/>
            </p:cNvSpPr>
            <p:nvPr/>
          </p:nvSpPr>
          <p:spPr bwMode="auto">
            <a:xfrm>
              <a:off x="1200" y="1747"/>
              <a:ext cx="384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X</a:t>
              </a:r>
            </a:p>
          </p:txBody>
        </p:sp>
        <p:sp>
          <p:nvSpPr>
            <p:cNvPr id="41" name="Rectangle 39"/>
            <p:cNvSpPr>
              <a:spLocks noChangeArrowheads="1"/>
            </p:cNvSpPr>
            <p:nvPr/>
          </p:nvSpPr>
          <p:spPr bwMode="auto">
            <a:xfrm>
              <a:off x="1200" y="1371"/>
              <a:ext cx="384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>
              <a:off x="1200" y="1183"/>
              <a:ext cx="384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43" name="Rectangle 41"/>
            <p:cNvSpPr>
              <a:spLocks noChangeArrowheads="1"/>
            </p:cNvSpPr>
            <p:nvPr/>
          </p:nvSpPr>
          <p:spPr bwMode="auto">
            <a:xfrm>
              <a:off x="1200" y="864"/>
              <a:ext cx="384" cy="319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Reg-Dst</a:t>
              </a: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2410" y="1747"/>
              <a:ext cx="42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2410" y="1371"/>
              <a:ext cx="42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46" name="Rectangle 44"/>
            <p:cNvSpPr>
              <a:spLocks noChangeArrowheads="1"/>
            </p:cNvSpPr>
            <p:nvPr/>
          </p:nvSpPr>
          <p:spPr bwMode="auto">
            <a:xfrm>
              <a:off x="2410" y="1183"/>
              <a:ext cx="422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47" name="Rectangle 45"/>
            <p:cNvSpPr>
              <a:spLocks noChangeArrowheads="1"/>
            </p:cNvSpPr>
            <p:nvPr/>
          </p:nvSpPr>
          <p:spPr bwMode="auto">
            <a:xfrm>
              <a:off x="2410" y="864"/>
              <a:ext cx="422" cy="319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Reg-Write</a:t>
              </a:r>
            </a:p>
          </p:txBody>
        </p:sp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4800" y="1747"/>
              <a:ext cx="576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49" name="Rectangle 47"/>
            <p:cNvSpPr>
              <a:spLocks noChangeArrowheads="1"/>
            </p:cNvSpPr>
            <p:nvPr/>
          </p:nvSpPr>
          <p:spPr bwMode="auto">
            <a:xfrm>
              <a:off x="384" y="1747"/>
              <a:ext cx="816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0000CC"/>
                  </a:solidFill>
                  <a:latin typeface="Courier New" charset="0"/>
                  <a:ea typeface="新細明體" charset="-120"/>
                </a:rPr>
                <a:t>beq</a:t>
              </a:r>
            </a:p>
          </p:txBody>
        </p:sp>
        <p:sp>
          <p:nvSpPr>
            <p:cNvPr id="50" name="Rectangle 48"/>
            <p:cNvSpPr>
              <a:spLocks noChangeArrowheads="1"/>
            </p:cNvSpPr>
            <p:nvPr/>
          </p:nvSpPr>
          <p:spPr bwMode="auto">
            <a:xfrm>
              <a:off x="4800" y="1371"/>
              <a:ext cx="576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51" name="Rectangle 49"/>
            <p:cNvSpPr>
              <a:spLocks noChangeArrowheads="1"/>
            </p:cNvSpPr>
            <p:nvPr/>
          </p:nvSpPr>
          <p:spPr bwMode="auto">
            <a:xfrm>
              <a:off x="384" y="1371"/>
              <a:ext cx="816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0000CC"/>
                  </a:solidFill>
                  <a:latin typeface="Courier New" charset="0"/>
                  <a:ea typeface="新細明體" charset="-120"/>
                </a:rPr>
                <a:t>lw</a:t>
              </a:r>
            </a:p>
          </p:txBody>
        </p:sp>
        <p:sp>
          <p:nvSpPr>
            <p:cNvPr id="52" name="Rectangle 50"/>
            <p:cNvSpPr>
              <a:spLocks noChangeArrowheads="1"/>
            </p:cNvSpPr>
            <p:nvPr/>
          </p:nvSpPr>
          <p:spPr bwMode="auto">
            <a:xfrm>
              <a:off x="4800" y="1183"/>
              <a:ext cx="576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53" name="Rectangle 51"/>
            <p:cNvSpPr>
              <a:spLocks noChangeArrowheads="1"/>
            </p:cNvSpPr>
            <p:nvPr/>
          </p:nvSpPr>
          <p:spPr bwMode="auto">
            <a:xfrm>
              <a:off x="384" y="1183"/>
              <a:ext cx="816" cy="188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R-format</a:t>
              </a:r>
            </a:p>
          </p:txBody>
        </p:sp>
        <p:sp>
          <p:nvSpPr>
            <p:cNvPr id="54" name="Rectangle 52"/>
            <p:cNvSpPr>
              <a:spLocks noChangeArrowheads="1"/>
            </p:cNvSpPr>
            <p:nvPr/>
          </p:nvSpPr>
          <p:spPr bwMode="auto">
            <a:xfrm>
              <a:off x="4800" y="864"/>
              <a:ext cx="576" cy="319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ALUOp0</a:t>
              </a:r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384" y="864"/>
              <a:ext cx="816" cy="319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85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Instruction</a:t>
              </a:r>
            </a:p>
          </p:txBody>
        </p:sp>
        <p:sp>
          <p:nvSpPr>
            <p:cNvPr id="56" name="Line 54"/>
            <p:cNvSpPr>
              <a:spLocks noChangeShapeType="1"/>
            </p:cNvSpPr>
            <p:nvPr/>
          </p:nvSpPr>
          <p:spPr bwMode="auto">
            <a:xfrm>
              <a:off x="384" y="864"/>
              <a:ext cx="4992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55"/>
            <p:cNvSpPr>
              <a:spLocks noChangeShapeType="1"/>
            </p:cNvSpPr>
            <p:nvPr/>
          </p:nvSpPr>
          <p:spPr bwMode="auto">
            <a:xfrm>
              <a:off x="384" y="1183"/>
              <a:ext cx="4992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56"/>
            <p:cNvSpPr>
              <a:spLocks noChangeShapeType="1"/>
            </p:cNvSpPr>
            <p:nvPr/>
          </p:nvSpPr>
          <p:spPr bwMode="auto">
            <a:xfrm>
              <a:off x="384" y="1371"/>
              <a:ext cx="4992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57"/>
            <p:cNvSpPr>
              <a:spLocks noChangeShapeType="1"/>
            </p:cNvSpPr>
            <p:nvPr/>
          </p:nvSpPr>
          <p:spPr bwMode="auto">
            <a:xfrm>
              <a:off x="384" y="1559"/>
              <a:ext cx="4992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58"/>
            <p:cNvSpPr>
              <a:spLocks noChangeShapeType="1"/>
            </p:cNvSpPr>
            <p:nvPr/>
          </p:nvSpPr>
          <p:spPr bwMode="auto">
            <a:xfrm>
              <a:off x="384" y="1935"/>
              <a:ext cx="4992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59"/>
            <p:cNvSpPr>
              <a:spLocks noChangeShapeType="1"/>
            </p:cNvSpPr>
            <p:nvPr/>
          </p:nvSpPr>
          <p:spPr bwMode="auto">
            <a:xfrm>
              <a:off x="384" y="864"/>
              <a:ext cx="1" cy="107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60"/>
            <p:cNvSpPr>
              <a:spLocks noChangeShapeType="1"/>
            </p:cNvSpPr>
            <p:nvPr/>
          </p:nvSpPr>
          <p:spPr bwMode="auto">
            <a:xfrm>
              <a:off x="1200" y="864"/>
              <a:ext cx="1" cy="107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Line 61"/>
            <p:cNvSpPr>
              <a:spLocks noChangeShapeType="1"/>
            </p:cNvSpPr>
            <p:nvPr/>
          </p:nvSpPr>
          <p:spPr bwMode="auto">
            <a:xfrm>
              <a:off x="5376" y="864"/>
              <a:ext cx="1" cy="107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Line 62"/>
            <p:cNvSpPr>
              <a:spLocks noChangeShapeType="1"/>
            </p:cNvSpPr>
            <p:nvPr/>
          </p:nvSpPr>
          <p:spPr bwMode="auto">
            <a:xfrm>
              <a:off x="2832" y="864"/>
              <a:ext cx="1" cy="107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Line 63"/>
            <p:cNvSpPr>
              <a:spLocks noChangeShapeType="1"/>
            </p:cNvSpPr>
            <p:nvPr/>
          </p:nvSpPr>
          <p:spPr bwMode="auto">
            <a:xfrm>
              <a:off x="1584" y="864"/>
              <a:ext cx="1" cy="107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64"/>
            <p:cNvSpPr>
              <a:spLocks noChangeShapeType="1"/>
            </p:cNvSpPr>
            <p:nvPr/>
          </p:nvSpPr>
          <p:spPr bwMode="auto">
            <a:xfrm>
              <a:off x="2410" y="864"/>
              <a:ext cx="1" cy="107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65"/>
            <p:cNvSpPr>
              <a:spLocks noChangeShapeType="1"/>
            </p:cNvSpPr>
            <p:nvPr/>
          </p:nvSpPr>
          <p:spPr bwMode="auto">
            <a:xfrm>
              <a:off x="1968" y="864"/>
              <a:ext cx="1" cy="107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Line 66"/>
            <p:cNvSpPr>
              <a:spLocks noChangeShapeType="1"/>
            </p:cNvSpPr>
            <p:nvPr/>
          </p:nvSpPr>
          <p:spPr bwMode="auto">
            <a:xfrm>
              <a:off x="384" y="1747"/>
              <a:ext cx="4992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67"/>
            <p:cNvSpPr>
              <a:spLocks noChangeShapeType="1"/>
            </p:cNvSpPr>
            <p:nvPr/>
          </p:nvSpPr>
          <p:spPr bwMode="auto">
            <a:xfrm>
              <a:off x="4800" y="864"/>
              <a:ext cx="1" cy="107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Line 68"/>
            <p:cNvSpPr>
              <a:spLocks noChangeShapeType="1"/>
            </p:cNvSpPr>
            <p:nvPr/>
          </p:nvSpPr>
          <p:spPr bwMode="auto">
            <a:xfrm>
              <a:off x="4224" y="864"/>
              <a:ext cx="1" cy="107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Line 69"/>
            <p:cNvSpPr>
              <a:spLocks noChangeShapeType="1"/>
            </p:cNvSpPr>
            <p:nvPr/>
          </p:nvSpPr>
          <p:spPr bwMode="auto">
            <a:xfrm>
              <a:off x="3696" y="864"/>
              <a:ext cx="1" cy="107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Line 70"/>
            <p:cNvSpPr>
              <a:spLocks noChangeShapeType="1"/>
            </p:cNvSpPr>
            <p:nvPr/>
          </p:nvSpPr>
          <p:spPr bwMode="auto">
            <a:xfrm>
              <a:off x="3264" y="864"/>
              <a:ext cx="1" cy="107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3" name="Text Box 129"/>
          <p:cNvSpPr txBox="1">
            <a:spLocks noChangeArrowheads="1"/>
          </p:cNvSpPr>
          <p:nvPr/>
        </p:nvSpPr>
        <p:spPr bwMode="auto">
          <a:xfrm>
            <a:off x="1524793" y="3414546"/>
            <a:ext cx="7391400" cy="5810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buClr>
                <a:srgbClr val="3333CC"/>
              </a:buClr>
              <a:buFont typeface="Courier New" charset="0"/>
              <a:buNone/>
            </a:pPr>
            <a:r>
              <a:rPr lang="en-GB" altLang="zh-TW" sz="1600" b="1" dirty="0" err="1">
                <a:solidFill>
                  <a:srgbClr val="3333CC"/>
                </a:solidFill>
                <a:latin typeface="Courier New" charset="0"/>
                <a:ea typeface="新細明體" charset="-120"/>
              </a:rPr>
              <a:t>sw</a:t>
            </a:r>
            <a:r>
              <a:rPr lang="en-GB" altLang="zh-TW" sz="1600" dirty="0">
                <a:solidFill>
                  <a:srgbClr val="402000"/>
                </a:solidFill>
                <a:latin typeface="Tahoma" charset="0"/>
                <a:ea typeface="新細明體" charset="-120"/>
              </a:rPr>
              <a:t> &amp; </a:t>
            </a:r>
            <a:r>
              <a:rPr lang="en-GB" altLang="zh-TW" sz="1600" b="1" dirty="0" err="1">
                <a:solidFill>
                  <a:srgbClr val="3333CC"/>
                </a:solidFill>
                <a:latin typeface="Courier New" charset="0"/>
                <a:ea typeface="新細明體" charset="-120"/>
              </a:rPr>
              <a:t>beq</a:t>
            </a:r>
            <a:r>
              <a:rPr lang="en-GB" altLang="zh-TW" sz="1600" dirty="0">
                <a:solidFill>
                  <a:srgbClr val="402000"/>
                </a:solidFill>
                <a:latin typeface="Tahoma" charset="0"/>
                <a:ea typeface="新細明體" charset="-120"/>
              </a:rPr>
              <a:t> will not modify any register, it is ensured by making </a:t>
            </a:r>
            <a:r>
              <a:rPr lang="en-GB" altLang="zh-TW" sz="1600" dirty="0" err="1">
                <a:solidFill>
                  <a:srgbClr val="402000"/>
                </a:solidFill>
                <a:latin typeface="Tahoma" charset="0"/>
                <a:ea typeface="新細明體" charset="-120"/>
              </a:rPr>
              <a:t>RegWrite</a:t>
            </a:r>
            <a:r>
              <a:rPr lang="en-GB" altLang="zh-TW" sz="1600" dirty="0">
                <a:solidFill>
                  <a:srgbClr val="402000"/>
                </a:solidFill>
                <a:latin typeface="Tahoma" charset="0"/>
                <a:ea typeface="新細明體" charset="-120"/>
              </a:rPr>
              <a:t> to 0</a:t>
            </a:r>
          </a:p>
          <a:p>
            <a:pPr>
              <a:lnSpc>
                <a:spcPct val="100000"/>
              </a:lnSpc>
              <a:buFont typeface="Tahoma" charset="0"/>
              <a:buNone/>
            </a:pPr>
            <a:r>
              <a:rPr lang="en-GB" altLang="zh-TW" sz="1600" dirty="0">
                <a:solidFill>
                  <a:srgbClr val="402000"/>
                </a:solidFill>
                <a:latin typeface="Tahoma" charset="0"/>
                <a:ea typeface="新細明體" charset="-120"/>
              </a:rPr>
              <a:t>So, we don’t care what write register &amp; write data are</a:t>
            </a:r>
          </a:p>
        </p:txBody>
      </p:sp>
      <p:grpSp>
        <p:nvGrpSpPr>
          <p:cNvPr id="74" name="Group 71"/>
          <p:cNvGrpSpPr>
            <a:grpSpLocks/>
          </p:cNvGrpSpPr>
          <p:nvPr/>
        </p:nvGrpSpPr>
        <p:grpSpPr bwMode="auto">
          <a:xfrm>
            <a:off x="1282532" y="4370639"/>
            <a:ext cx="5484813" cy="1995488"/>
            <a:chOff x="384" y="2736"/>
            <a:chExt cx="3455" cy="1257"/>
          </a:xfrm>
        </p:grpSpPr>
        <p:sp>
          <p:nvSpPr>
            <p:cNvPr id="75" name="Rectangle 72"/>
            <p:cNvSpPr>
              <a:spLocks noChangeArrowheads="1"/>
            </p:cNvSpPr>
            <p:nvPr/>
          </p:nvSpPr>
          <p:spPr bwMode="auto">
            <a:xfrm>
              <a:off x="1200" y="3798"/>
              <a:ext cx="624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4</a:t>
              </a:r>
            </a:p>
          </p:txBody>
        </p:sp>
        <p:sp>
          <p:nvSpPr>
            <p:cNvPr id="76" name="Rectangle 73"/>
            <p:cNvSpPr>
              <a:spLocks noChangeArrowheads="1"/>
            </p:cNvSpPr>
            <p:nvPr/>
          </p:nvSpPr>
          <p:spPr bwMode="auto">
            <a:xfrm>
              <a:off x="1200" y="3602"/>
              <a:ext cx="624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43</a:t>
              </a:r>
            </a:p>
          </p:txBody>
        </p:sp>
        <p:sp>
          <p:nvSpPr>
            <p:cNvPr id="77" name="Rectangle 74"/>
            <p:cNvSpPr>
              <a:spLocks noChangeArrowheads="1"/>
            </p:cNvSpPr>
            <p:nvPr/>
          </p:nvSpPr>
          <p:spPr bwMode="auto">
            <a:xfrm>
              <a:off x="1200" y="3406"/>
              <a:ext cx="624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35</a:t>
              </a:r>
            </a:p>
          </p:txBody>
        </p:sp>
        <p:sp>
          <p:nvSpPr>
            <p:cNvPr id="78" name="Rectangle 75"/>
            <p:cNvSpPr>
              <a:spLocks noChangeArrowheads="1"/>
            </p:cNvSpPr>
            <p:nvPr/>
          </p:nvSpPr>
          <p:spPr bwMode="auto">
            <a:xfrm>
              <a:off x="1200" y="3210"/>
              <a:ext cx="624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79" name="Rectangle 76"/>
            <p:cNvSpPr>
              <a:spLocks noChangeArrowheads="1"/>
            </p:cNvSpPr>
            <p:nvPr/>
          </p:nvSpPr>
          <p:spPr bwMode="auto">
            <a:xfrm>
              <a:off x="1200" y="2736"/>
              <a:ext cx="624" cy="474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Opcode in decimal</a:t>
              </a:r>
            </a:p>
          </p:txBody>
        </p:sp>
        <p:sp>
          <p:nvSpPr>
            <p:cNvPr id="80" name="Rectangle 77"/>
            <p:cNvSpPr>
              <a:spLocks noChangeArrowheads="1"/>
            </p:cNvSpPr>
            <p:nvPr/>
          </p:nvSpPr>
          <p:spPr bwMode="auto">
            <a:xfrm>
              <a:off x="1824" y="3798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81" name="Rectangle 78"/>
            <p:cNvSpPr>
              <a:spLocks noChangeArrowheads="1"/>
            </p:cNvSpPr>
            <p:nvPr/>
          </p:nvSpPr>
          <p:spPr bwMode="auto">
            <a:xfrm>
              <a:off x="1824" y="3602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82" name="Rectangle 79"/>
            <p:cNvSpPr>
              <a:spLocks noChangeArrowheads="1"/>
            </p:cNvSpPr>
            <p:nvPr/>
          </p:nvSpPr>
          <p:spPr bwMode="auto">
            <a:xfrm>
              <a:off x="1824" y="3406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83" name="Rectangle 80"/>
            <p:cNvSpPr>
              <a:spLocks noChangeArrowheads="1"/>
            </p:cNvSpPr>
            <p:nvPr/>
          </p:nvSpPr>
          <p:spPr bwMode="auto">
            <a:xfrm>
              <a:off x="1824" y="3210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84" name="Rectangle 81"/>
            <p:cNvSpPr>
              <a:spLocks noChangeArrowheads="1"/>
            </p:cNvSpPr>
            <p:nvPr/>
          </p:nvSpPr>
          <p:spPr bwMode="auto">
            <a:xfrm>
              <a:off x="1824" y="2932"/>
              <a:ext cx="336" cy="278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Op5</a:t>
              </a:r>
            </a:p>
          </p:txBody>
        </p:sp>
        <p:sp>
          <p:nvSpPr>
            <p:cNvPr id="85" name="Rectangle 82"/>
            <p:cNvSpPr>
              <a:spLocks noChangeArrowheads="1"/>
            </p:cNvSpPr>
            <p:nvPr/>
          </p:nvSpPr>
          <p:spPr bwMode="auto">
            <a:xfrm>
              <a:off x="1824" y="2736"/>
              <a:ext cx="2016" cy="196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Opcode in binary</a:t>
              </a:r>
            </a:p>
          </p:txBody>
        </p:sp>
        <p:sp>
          <p:nvSpPr>
            <p:cNvPr id="86" name="Rectangle 83"/>
            <p:cNvSpPr>
              <a:spLocks noChangeArrowheads="1"/>
            </p:cNvSpPr>
            <p:nvPr/>
          </p:nvSpPr>
          <p:spPr bwMode="auto">
            <a:xfrm>
              <a:off x="2160" y="3798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87" name="Rectangle 84"/>
            <p:cNvSpPr>
              <a:spLocks noChangeArrowheads="1"/>
            </p:cNvSpPr>
            <p:nvPr/>
          </p:nvSpPr>
          <p:spPr bwMode="auto">
            <a:xfrm>
              <a:off x="2160" y="3602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88" name="Rectangle 85"/>
            <p:cNvSpPr>
              <a:spLocks noChangeArrowheads="1"/>
            </p:cNvSpPr>
            <p:nvPr/>
          </p:nvSpPr>
          <p:spPr bwMode="auto">
            <a:xfrm>
              <a:off x="2160" y="3406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89" name="Rectangle 86"/>
            <p:cNvSpPr>
              <a:spLocks noChangeArrowheads="1"/>
            </p:cNvSpPr>
            <p:nvPr/>
          </p:nvSpPr>
          <p:spPr bwMode="auto">
            <a:xfrm>
              <a:off x="2160" y="3210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90" name="Rectangle 87"/>
            <p:cNvSpPr>
              <a:spLocks noChangeArrowheads="1"/>
            </p:cNvSpPr>
            <p:nvPr/>
          </p:nvSpPr>
          <p:spPr bwMode="auto">
            <a:xfrm>
              <a:off x="2160" y="2932"/>
              <a:ext cx="336" cy="278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Op4</a:t>
              </a:r>
            </a:p>
          </p:txBody>
        </p:sp>
        <p:sp>
          <p:nvSpPr>
            <p:cNvPr id="91" name="Rectangle 88"/>
            <p:cNvSpPr>
              <a:spLocks noChangeArrowheads="1"/>
            </p:cNvSpPr>
            <p:nvPr/>
          </p:nvSpPr>
          <p:spPr bwMode="auto">
            <a:xfrm>
              <a:off x="2496" y="3798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92" name="Rectangle 89"/>
            <p:cNvSpPr>
              <a:spLocks noChangeArrowheads="1"/>
            </p:cNvSpPr>
            <p:nvPr/>
          </p:nvSpPr>
          <p:spPr bwMode="auto">
            <a:xfrm>
              <a:off x="2496" y="3602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93" name="Rectangle 90"/>
            <p:cNvSpPr>
              <a:spLocks noChangeArrowheads="1"/>
            </p:cNvSpPr>
            <p:nvPr/>
          </p:nvSpPr>
          <p:spPr bwMode="auto">
            <a:xfrm>
              <a:off x="2496" y="3406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94" name="Rectangle 91"/>
            <p:cNvSpPr>
              <a:spLocks noChangeArrowheads="1"/>
            </p:cNvSpPr>
            <p:nvPr/>
          </p:nvSpPr>
          <p:spPr bwMode="auto">
            <a:xfrm>
              <a:off x="2496" y="3210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95" name="Rectangle 92"/>
            <p:cNvSpPr>
              <a:spLocks noChangeArrowheads="1"/>
            </p:cNvSpPr>
            <p:nvPr/>
          </p:nvSpPr>
          <p:spPr bwMode="auto">
            <a:xfrm>
              <a:off x="2496" y="2932"/>
              <a:ext cx="336" cy="278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Op3</a:t>
              </a:r>
            </a:p>
          </p:txBody>
        </p:sp>
        <p:sp>
          <p:nvSpPr>
            <p:cNvPr id="96" name="Rectangle 93"/>
            <p:cNvSpPr>
              <a:spLocks noChangeArrowheads="1"/>
            </p:cNvSpPr>
            <p:nvPr/>
          </p:nvSpPr>
          <p:spPr bwMode="auto">
            <a:xfrm>
              <a:off x="2832" y="3798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97" name="Rectangle 94"/>
            <p:cNvSpPr>
              <a:spLocks noChangeArrowheads="1"/>
            </p:cNvSpPr>
            <p:nvPr/>
          </p:nvSpPr>
          <p:spPr bwMode="auto">
            <a:xfrm>
              <a:off x="2832" y="3602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98" name="Rectangle 95"/>
            <p:cNvSpPr>
              <a:spLocks noChangeArrowheads="1"/>
            </p:cNvSpPr>
            <p:nvPr/>
          </p:nvSpPr>
          <p:spPr bwMode="auto">
            <a:xfrm>
              <a:off x="2832" y="3406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99" name="Rectangle 96"/>
            <p:cNvSpPr>
              <a:spLocks noChangeArrowheads="1"/>
            </p:cNvSpPr>
            <p:nvPr/>
          </p:nvSpPr>
          <p:spPr bwMode="auto">
            <a:xfrm>
              <a:off x="2832" y="3210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00" name="Rectangle 97"/>
            <p:cNvSpPr>
              <a:spLocks noChangeArrowheads="1"/>
            </p:cNvSpPr>
            <p:nvPr/>
          </p:nvSpPr>
          <p:spPr bwMode="auto">
            <a:xfrm>
              <a:off x="2832" y="2932"/>
              <a:ext cx="336" cy="278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Op2</a:t>
              </a:r>
            </a:p>
          </p:txBody>
        </p:sp>
        <p:sp>
          <p:nvSpPr>
            <p:cNvPr id="101" name="Rectangle 98"/>
            <p:cNvSpPr>
              <a:spLocks noChangeArrowheads="1"/>
            </p:cNvSpPr>
            <p:nvPr/>
          </p:nvSpPr>
          <p:spPr bwMode="auto">
            <a:xfrm>
              <a:off x="3168" y="3798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02" name="Rectangle 99"/>
            <p:cNvSpPr>
              <a:spLocks noChangeArrowheads="1"/>
            </p:cNvSpPr>
            <p:nvPr/>
          </p:nvSpPr>
          <p:spPr bwMode="auto">
            <a:xfrm>
              <a:off x="3168" y="3602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103" name="Rectangle 100"/>
            <p:cNvSpPr>
              <a:spLocks noChangeArrowheads="1"/>
            </p:cNvSpPr>
            <p:nvPr/>
          </p:nvSpPr>
          <p:spPr bwMode="auto">
            <a:xfrm>
              <a:off x="3168" y="3406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104" name="Rectangle 101"/>
            <p:cNvSpPr>
              <a:spLocks noChangeArrowheads="1"/>
            </p:cNvSpPr>
            <p:nvPr/>
          </p:nvSpPr>
          <p:spPr bwMode="auto">
            <a:xfrm>
              <a:off x="3168" y="3210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05" name="Rectangle 102"/>
            <p:cNvSpPr>
              <a:spLocks noChangeArrowheads="1"/>
            </p:cNvSpPr>
            <p:nvPr/>
          </p:nvSpPr>
          <p:spPr bwMode="auto">
            <a:xfrm>
              <a:off x="3168" y="2932"/>
              <a:ext cx="336" cy="278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Op1</a:t>
              </a:r>
            </a:p>
          </p:txBody>
        </p:sp>
        <p:sp>
          <p:nvSpPr>
            <p:cNvPr id="106" name="Rectangle 103"/>
            <p:cNvSpPr>
              <a:spLocks noChangeArrowheads="1"/>
            </p:cNvSpPr>
            <p:nvPr/>
          </p:nvSpPr>
          <p:spPr bwMode="auto">
            <a:xfrm>
              <a:off x="3504" y="3602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107" name="Rectangle 104"/>
            <p:cNvSpPr>
              <a:spLocks noChangeArrowheads="1"/>
            </p:cNvSpPr>
            <p:nvPr/>
          </p:nvSpPr>
          <p:spPr bwMode="auto">
            <a:xfrm>
              <a:off x="384" y="3602"/>
              <a:ext cx="81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0000CC"/>
                  </a:solidFill>
                  <a:latin typeface="Courier New" charset="0"/>
                  <a:ea typeface="新細明體" charset="-120"/>
                </a:rPr>
                <a:t>sw</a:t>
              </a:r>
            </a:p>
          </p:txBody>
        </p:sp>
        <p:sp>
          <p:nvSpPr>
            <p:cNvPr id="108" name="Rectangle 105"/>
            <p:cNvSpPr>
              <a:spLocks noChangeArrowheads="1"/>
            </p:cNvSpPr>
            <p:nvPr/>
          </p:nvSpPr>
          <p:spPr bwMode="auto">
            <a:xfrm>
              <a:off x="3504" y="3798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09" name="Rectangle 106"/>
            <p:cNvSpPr>
              <a:spLocks noChangeArrowheads="1"/>
            </p:cNvSpPr>
            <p:nvPr/>
          </p:nvSpPr>
          <p:spPr bwMode="auto">
            <a:xfrm>
              <a:off x="3504" y="3406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110" name="Rectangle 107"/>
            <p:cNvSpPr>
              <a:spLocks noChangeArrowheads="1"/>
            </p:cNvSpPr>
            <p:nvPr/>
          </p:nvSpPr>
          <p:spPr bwMode="auto">
            <a:xfrm>
              <a:off x="3504" y="3210"/>
              <a:ext cx="33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11" name="Rectangle 108"/>
            <p:cNvSpPr>
              <a:spLocks noChangeArrowheads="1"/>
            </p:cNvSpPr>
            <p:nvPr/>
          </p:nvSpPr>
          <p:spPr bwMode="auto">
            <a:xfrm>
              <a:off x="3504" y="2932"/>
              <a:ext cx="336" cy="278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Op0</a:t>
              </a:r>
            </a:p>
          </p:txBody>
        </p:sp>
        <p:sp>
          <p:nvSpPr>
            <p:cNvPr id="112" name="Rectangle 109"/>
            <p:cNvSpPr>
              <a:spLocks noChangeArrowheads="1"/>
            </p:cNvSpPr>
            <p:nvPr/>
          </p:nvSpPr>
          <p:spPr bwMode="auto">
            <a:xfrm>
              <a:off x="384" y="3798"/>
              <a:ext cx="81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0000CC"/>
                  </a:solidFill>
                  <a:latin typeface="Courier New" charset="0"/>
                  <a:ea typeface="新細明體" charset="-120"/>
                </a:rPr>
                <a:t>beq</a:t>
              </a:r>
            </a:p>
          </p:txBody>
        </p:sp>
        <p:sp>
          <p:nvSpPr>
            <p:cNvPr id="113" name="Rectangle 110"/>
            <p:cNvSpPr>
              <a:spLocks noChangeArrowheads="1"/>
            </p:cNvSpPr>
            <p:nvPr/>
          </p:nvSpPr>
          <p:spPr bwMode="auto">
            <a:xfrm>
              <a:off x="384" y="3406"/>
              <a:ext cx="81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0000CC"/>
                  </a:solidFill>
                  <a:latin typeface="Courier New" charset="0"/>
                  <a:ea typeface="新細明體" charset="-120"/>
                </a:rPr>
                <a:t>lw</a:t>
              </a:r>
            </a:p>
          </p:txBody>
        </p:sp>
        <p:sp>
          <p:nvSpPr>
            <p:cNvPr id="114" name="Rectangle 111"/>
            <p:cNvSpPr>
              <a:spLocks noChangeArrowheads="1"/>
            </p:cNvSpPr>
            <p:nvPr/>
          </p:nvSpPr>
          <p:spPr bwMode="auto">
            <a:xfrm>
              <a:off x="384" y="3210"/>
              <a:ext cx="816" cy="19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R-format</a:t>
              </a:r>
            </a:p>
          </p:txBody>
        </p:sp>
        <p:sp>
          <p:nvSpPr>
            <p:cNvPr id="115" name="Rectangle 112"/>
            <p:cNvSpPr>
              <a:spLocks noChangeArrowheads="1"/>
            </p:cNvSpPr>
            <p:nvPr/>
          </p:nvSpPr>
          <p:spPr bwMode="auto">
            <a:xfrm>
              <a:off x="384" y="2736"/>
              <a:ext cx="816" cy="474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90000"/>
                </a:lnSpc>
                <a:spcBef>
                  <a:spcPts val="40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6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Instruction</a:t>
              </a:r>
            </a:p>
          </p:txBody>
        </p:sp>
        <p:sp>
          <p:nvSpPr>
            <p:cNvPr id="116" name="Line 113"/>
            <p:cNvSpPr>
              <a:spLocks noChangeShapeType="1"/>
            </p:cNvSpPr>
            <p:nvPr/>
          </p:nvSpPr>
          <p:spPr bwMode="auto">
            <a:xfrm>
              <a:off x="384" y="2736"/>
              <a:ext cx="3456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Line 114"/>
            <p:cNvSpPr>
              <a:spLocks noChangeShapeType="1"/>
            </p:cNvSpPr>
            <p:nvPr/>
          </p:nvSpPr>
          <p:spPr bwMode="auto">
            <a:xfrm>
              <a:off x="384" y="3210"/>
              <a:ext cx="3456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Line 115"/>
            <p:cNvSpPr>
              <a:spLocks noChangeShapeType="1"/>
            </p:cNvSpPr>
            <p:nvPr/>
          </p:nvSpPr>
          <p:spPr bwMode="auto">
            <a:xfrm>
              <a:off x="384" y="3406"/>
              <a:ext cx="3456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Line 116"/>
            <p:cNvSpPr>
              <a:spLocks noChangeShapeType="1"/>
            </p:cNvSpPr>
            <p:nvPr/>
          </p:nvSpPr>
          <p:spPr bwMode="auto">
            <a:xfrm>
              <a:off x="384" y="3602"/>
              <a:ext cx="3456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Line 117"/>
            <p:cNvSpPr>
              <a:spLocks noChangeShapeType="1"/>
            </p:cNvSpPr>
            <p:nvPr/>
          </p:nvSpPr>
          <p:spPr bwMode="auto">
            <a:xfrm>
              <a:off x="384" y="3994"/>
              <a:ext cx="3456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Line 118"/>
            <p:cNvSpPr>
              <a:spLocks noChangeShapeType="1"/>
            </p:cNvSpPr>
            <p:nvPr/>
          </p:nvSpPr>
          <p:spPr bwMode="auto">
            <a:xfrm>
              <a:off x="384" y="2736"/>
              <a:ext cx="1" cy="1258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Line 119"/>
            <p:cNvSpPr>
              <a:spLocks noChangeShapeType="1"/>
            </p:cNvSpPr>
            <p:nvPr/>
          </p:nvSpPr>
          <p:spPr bwMode="auto">
            <a:xfrm>
              <a:off x="1200" y="2736"/>
              <a:ext cx="1" cy="1258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Line 120"/>
            <p:cNvSpPr>
              <a:spLocks noChangeShapeType="1"/>
            </p:cNvSpPr>
            <p:nvPr/>
          </p:nvSpPr>
          <p:spPr bwMode="auto">
            <a:xfrm>
              <a:off x="3840" y="2736"/>
              <a:ext cx="1" cy="1258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Line 121"/>
            <p:cNvSpPr>
              <a:spLocks noChangeShapeType="1"/>
            </p:cNvSpPr>
            <p:nvPr/>
          </p:nvSpPr>
          <p:spPr bwMode="auto">
            <a:xfrm>
              <a:off x="384" y="3798"/>
              <a:ext cx="3456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Line 122"/>
            <p:cNvSpPr>
              <a:spLocks noChangeShapeType="1"/>
            </p:cNvSpPr>
            <p:nvPr/>
          </p:nvSpPr>
          <p:spPr bwMode="auto">
            <a:xfrm>
              <a:off x="1824" y="2932"/>
              <a:ext cx="2016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Line 123"/>
            <p:cNvSpPr>
              <a:spLocks noChangeShapeType="1"/>
            </p:cNvSpPr>
            <p:nvPr/>
          </p:nvSpPr>
          <p:spPr bwMode="auto">
            <a:xfrm>
              <a:off x="2160" y="2932"/>
              <a:ext cx="1" cy="1062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Line 124"/>
            <p:cNvSpPr>
              <a:spLocks noChangeShapeType="1"/>
            </p:cNvSpPr>
            <p:nvPr/>
          </p:nvSpPr>
          <p:spPr bwMode="auto">
            <a:xfrm>
              <a:off x="2496" y="2932"/>
              <a:ext cx="1" cy="1062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Line 125"/>
            <p:cNvSpPr>
              <a:spLocks noChangeShapeType="1"/>
            </p:cNvSpPr>
            <p:nvPr/>
          </p:nvSpPr>
          <p:spPr bwMode="auto">
            <a:xfrm>
              <a:off x="2832" y="2932"/>
              <a:ext cx="1" cy="1062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126"/>
            <p:cNvSpPr>
              <a:spLocks noChangeShapeType="1"/>
            </p:cNvSpPr>
            <p:nvPr/>
          </p:nvSpPr>
          <p:spPr bwMode="auto">
            <a:xfrm>
              <a:off x="3168" y="2932"/>
              <a:ext cx="1" cy="1062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Line 127"/>
            <p:cNvSpPr>
              <a:spLocks noChangeShapeType="1"/>
            </p:cNvSpPr>
            <p:nvPr/>
          </p:nvSpPr>
          <p:spPr bwMode="auto">
            <a:xfrm>
              <a:off x="3504" y="2932"/>
              <a:ext cx="1" cy="1062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128"/>
            <p:cNvSpPr>
              <a:spLocks noChangeShapeType="1"/>
            </p:cNvSpPr>
            <p:nvPr/>
          </p:nvSpPr>
          <p:spPr bwMode="auto">
            <a:xfrm>
              <a:off x="1824" y="2736"/>
              <a:ext cx="1" cy="1258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907822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>
                <a:ea typeface="新細明體" charset="-120"/>
                <a:cs typeface="新細明體" charset="-120"/>
              </a:rPr>
              <a:t>Implementing </a:t>
            </a:r>
            <a:r>
              <a:rPr lang="en-GB" altLang="zh-TW" dirty="0" err="1">
                <a:ea typeface="新細明體" charset="-120"/>
                <a:cs typeface="新細明體" charset="-120"/>
              </a:rPr>
              <a:t>Datapath</a:t>
            </a:r>
            <a:r>
              <a:rPr lang="en-GB" altLang="zh-TW" dirty="0">
                <a:ea typeface="新細明體" charset="-120"/>
                <a:cs typeface="新細明體" charset="-120"/>
              </a:rPr>
              <a:t> Control Unit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24744"/>
            <a:ext cx="10959008" cy="5256584"/>
          </a:xfrm>
        </p:spPr>
        <p:txBody>
          <a:bodyPr/>
          <a:lstStyle/>
          <a:p>
            <a:pPr>
              <a:lnSpc>
                <a:spcPct val="10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ea typeface="新細明體" charset="-120"/>
              </a:rPr>
              <a:t>Start with truth table</a:t>
            </a: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2470722" y="1587091"/>
            <a:ext cx="5789613" cy="4849813"/>
            <a:chOff x="1056" y="864"/>
            <a:chExt cx="3647" cy="3055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4344" y="3156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3984" y="3156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3624" y="3156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3000" y="3156"/>
              <a:ext cx="624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2200" y="3156"/>
              <a:ext cx="800" cy="1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MemWrite</a:t>
              </a:r>
            </a:p>
          </p:txBody>
        </p:sp>
        <p:sp>
          <p:nvSpPr>
            <p:cNvPr id="11" name="Rectangle 9"/>
            <p:cNvSpPr>
              <a:spLocks noChangeArrowheads="1"/>
            </p:cNvSpPr>
            <p:nvPr/>
          </p:nvSpPr>
          <p:spPr bwMode="auto">
            <a:xfrm>
              <a:off x="4344" y="3347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3984" y="3347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3624" y="3347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4" name="Rectangle 12"/>
            <p:cNvSpPr>
              <a:spLocks noChangeArrowheads="1"/>
            </p:cNvSpPr>
            <p:nvPr/>
          </p:nvSpPr>
          <p:spPr bwMode="auto">
            <a:xfrm>
              <a:off x="3000" y="3347"/>
              <a:ext cx="624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5" name="Rectangle 13"/>
            <p:cNvSpPr>
              <a:spLocks noChangeArrowheads="1"/>
            </p:cNvSpPr>
            <p:nvPr/>
          </p:nvSpPr>
          <p:spPr bwMode="auto">
            <a:xfrm>
              <a:off x="2200" y="3347"/>
              <a:ext cx="800" cy="1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Branch</a:t>
              </a: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4344" y="2774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7" name="Rectangle 15"/>
            <p:cNvSpPr>
              <a:spLocks noChangeArrowheads="1"/>
            </p:cNvSpPr>
            <p:nvPr/>
          </p:nvSpPr>
          <p:spPr bwMode="auto">
            <a:xfrm>
              <a:off x="3984" y="2774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18" name="Rectangle 16"/>
            <p:cNvSpPr>
              <a:spLocks noChangeArrowheads="1"/>
            </p:cNvSpPr>
            <p:nvPr/>
          </p:nvSpPr>
          <p:spPr bwMode="auto">
            <a:xfrm>
              <a:off x="3624" y="2774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19" name="Rectangle 17"/>
            <p:cNvSpPr>
              <a:spLocks noChangeArrowheads="1"/>
            </p:cNvSpPr>
            <p:nvPr/>
          </p:nvSpPr>
          <p:spPr bwMode="auto">
            <a:xfrm>
              <a:off x="3000" y="2774"/>
              <a:ext cx="624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20" name="Rectangle 18"/>
            <p:cNvSpPr>
              <a:spLocks noChangeArrowheads="1"/>
            </p:cNvSpPr>
            <p:nvPr/>
          </p:nvSpPr>
          <p:spPr bwMode="auto">
            <a:xfrm>
              <a:off x="2200" y="2774"/>
              <a:ext cx="800" cy="1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RegWrite</a:t>
              </a:r>
            </a:p>
          </p:txBody>
        </p:sp>
        <p:sp>
          <p:nvSpPr>
            <p:cNvPr id="21" name="Rectangle 19"/>
            <p:cNvSpPr>
              <a:spLocks noChangeArrowheads="1"/>
            </p:cNvSpPr>
            <p:nvPr/>
          </p:nvSpPr>
          <p:spPr bwMode="auto">
            <a:xfrm>
              <a:off x="4344" y="2965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22" name="Rectangle 20"/>
            <p:cNvSpPr>
              <a:spLocks noChangeArrowheads="1"/>
            </p:cNvSpPr>
            <p:nvPr/>
          </p:nvSpPr>
          <p:spPr bwMode="auto">
            <a:xfrm>
              <a:off x="3984" y="2965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23" name="Rectangle 21"/>
            <p:cNvSpPr>
              <a:spLocks noChangeArrowheads="1"/>
            </p:cNvSpPr>
            <p:nvPr/>
          </p:nvSpPr>
          <p:spPr bwMode="auto">
            <a:xfrm>
              <a:off x="3624" y="2965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24" name="Rectangle 22"/>
            <p:cNvSpPr>
              <a:spLocks noChangeArrowheads="1"/>
            </p:cNvSpPr>
            <p:nvPr/>
          </p:nvSpPr>
          <p:spPr bwMode="auto">
            <a:xfrm>
              <a:off x="3000" y="2965"/>
              <a:ext cx="624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25" name="Rectangle 23"/>
            <p:cNvSpPr>
              <a:spLocks noChangeArrowheads="1"/>
            </p:cNvSpPr>
            <p:nvPr/>
          </p:nvSpPr>
          <p:spPr bwMode="auto">
            <a:xfrm>
              <a:off x="2200" y="2965"/>
              <a:ext cx="800" cy="1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MemRead</a:t>
              </a:r>
            </a:p>
          </p:txBody>
        </p:sp>
        <p:sp>
          <p:nvSpPr>
            <p:cNvPr id="26" name="Rectangle 24"/>
            <p:cNvSpPr>
              <a:spLocks noChangeArrowheads="1"/>
            </p:cNvSpPr>
            <p:nvPr/>
          </p:nvSpPr>
          <p:spPr bwMode="auto">
            <a:xfrm>
              <a:off x="4344" y="3538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27" name="Rectangle 25"/>
            <p:cNvSpPr>
              <a:spLocks noChangeArrowheads="1"/>
            </p:cNvSpPr>
            <p:nvPr/>
          </p:nvSpPr>
          <p:spPr bwMode="auto">
            <a:xfrm>
              <a:off x="3984" y="3538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28" name="Rectangle 26"/>
            <p:cNvSpPr>
              <a:spLocks noChangeArrowheads="1"/>
            </p:cNvSpPr>
            <p:nvPr/>
          </p:nvSpPr>
          <p:spPr bwMode="auto">
            <a:xfrm>
              <a:off x="3624" y="3538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29" name="Rectangle 27"/>
            <p:cNvSpPr>
              <a:spLocks noChangeArrowheads="1"/>
            </p:cNvSpPr>
            <p:nvPr/>
          </p:nvSpPr>
          <p:spPr bwMode="auto">
            <a:xfrm>
              <a:off x="3000" y="3538"/>
              <a:ext cx="624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30" name="Rectangle 28"/>
            <p:cNvSpPr>
              <a:spLocks noChangeArrowheads="1"/>
            </p:cNvSpPr>
            <p:nvPr/>
          </p:nvSpPr>
          <p:spPr bwMode="auto">
            <a:xfrm>
              <a:off x="2200" y="3538"/>
              <a:ext cx="800" cy="1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ALUOp1</a:t>
              </a:r>
            </a:p>
          </p:txBody>
        </p:sp>
        <p:sp>
          <p:nvSpPr>
            <p:cNvPr id="31" name="Rectangle 29"/>
            <p:cNvSpPr>
              <a:spLocks noChangeArrowheads="1"/>
            </p:cNvSpPr>
            <p:nvPr/>
          </p:nvSpPr>
          <p:spPr bwMode="auto">
            <a:xfrm>
              <a:off x="4344" y="2392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32" name="Rectangle 30"/>
            <p:cNvSpPr>
              <a:spLocks noChangeArrowheads="1"/>
            </p:cNvSpPr>
            <p:nvPr/>
          </p:nvSpPr>
          <p:spPr bwMode="auto">
            <a:xfrm>
              <a:off x="3984" y="2392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33" name="Rectangle 31"/>
            <p:cNvSpPr>
              <a:spLocks noChangeArrowheads="1"/>
            </p:cNvSpPr>
            <p:nvPr/>
          </p:nvSpPr>
          <p:spPr bwMode="auto">
            <a:xfrm>
              <a:off x="3624" y="2392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 dirty="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34" name="Rectangle 32"/>
            <p:cNvSpPr>
              <a:spLocks noChangeArrowheads="1"/>
            </p:cNvSpPr>
            <p:nvPr/>
          </p:nvSpPr>
          <p:spPr bwMode="auto">
            <a:xfrm>
              <a:off x="3000" y="2392"/>
              <a:ext cx="624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35" name="Rectangle 33"/>
            <p:cNvSpPr>
              <a:spLocks noChangeArrowheads="1"/>
            </p:cNvSpPr>
            <p:nvPr/>
          </p:nvSpPr>
          <p:spPr bwMode="auto">
            <a:xfrm>
              <a:off x="2200" y="2392"/>
              <a:ext cx="800" cy="1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ALUSrc</a:t>
              </a:r>
            </a:p>
          </p:txBody>
        </p:sp>
        <p:sp>
          <p:nvSpPr>
            <p:cNvPr id="36" name="Rectangle 34"/>
            <p:cNvSpPr>
              <a:spLocks noChangeArrowheads="1"/>
            </p:cNvSpPr>
            <p:nvPr/>
          </p:nvSpPr>
          <p:spPr bwMode="auto">
            <a:xfrm>
              <a:off x="4344" y="2583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X</a:t>
              </a:r>
            </a:p>
          </p:txBody>
        </p:sp>
        <p:sp>
          <p:nvSpPr>
            <p:cNvPr id="37" name="Rectangle 35"/>
            <p:cNvSpPr>
              <a:spLocks noChangeArrowheads="1"/>
            </p:cNvSpPr>
            <p:nvPr/>
          </p:nvSpPr>
          <p:spPr bwMode="auto">
            <a:xfrm>
              <a:off x="3984" y="2583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X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3624" y="2583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39" name="Rectangle 37"/>
            <p:cNvSpPr>
              <a:spLocks noChangeArrowheads="1"/>
            </p:cNvSpPr>
            <p:nvPr/>
          </p:nvSpPr>
          <p:spPr bwMode="auto">
            <a:xfrm>
              <a:off x="3000" y="2583"/>
              <a:ext cx="624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40" name="Rectangle 38"/>
            <p:cNvSpPr>
              <a:spLocks noChangeArrowheads="1"/>
            </p:cNvSpPr>
            <p:nvPr/>
          </p:nvSpPr>
          <p:spPr bwMode="auto">
            <a:xfrm>
              <a:off x="2200" y="2583"/>
              <a:ext cx="800" cy="1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MemtoReg</a:t>
              </a:r>
            </a:p>
          </p:txBody>
        </p:sp>
        <p:sp>
          <p:nvSpPr>
            <p:cNvPr id="41" name="Rectangle 39"/>
            <p:cNvSpPr>
              <a:spLocks noChangeArrowheads="1"/>
            </p:cNvSpPr>
            <p:nvPr/>
          </p:nvSpPr>
          <p:spPr bwMode="auto">
            <a:xfrm>
              <a:off x="4344" y="2010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42" name="Rectangle 40"/>
            <p:cNvSpPr>
              <a:spLocks noChangeArrowheads="1"/>
            </p:cNvSpPr>
            <p:nvPr/>
          </p:nvSpPr>
          <p:spPr bwMode="auto">
            <a:xfrm>
              <a:off x="3984" y="2010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43" name="Rectangle 41"/>
            <p:cNvSpPr>
              <a:spLocks noChangeArrowheads="1"/>
            </p:cNvSpPr>
            <p:nvPr/>
          </p:nvSpPr>
          <p:spPr bwMode="auto">
            <a:xfrm>
              <a:off x="3624" y="2010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44" name="Rectangle 42"/>
            <p:cNvSpPr>
              <a:spLocks noChangeArrowheads="1"/>
            </p:cNvSpPr>
            <p:nvPr/>
          </p:nvSpPr>
          <p:spPr bwMode="auto">
            <a:xfrm>
              <a:off x="3000" y="2010"/>
              <a:ext cx="624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45" name="Rectangle 43"/>
            <p:cNvSpPr>
              <a:spLocks noChangeArrowheads="1"/>
            </p:cNvSpPr>
            <p:nvPr/>
          </p:nvSpPr>
          <p:spPr bwMode="auto">
            <a:xfrm>
              <a:off x="2200" y="2010"/>
              <a:ext cx="800" cy="1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Op0</a:t>
              </a:r>
            </a:p>
          </p:txBody>
        </p:sp>
        <p:sp>
          <p:nvSpPr>
            <p:cNvPr id="46" name="Rectangle 44"/>
            <p:cNvSpPr>
              <a:spLocks noChangeArrowheads="1"/>
            </p:cNvSpPr>
            <p:nvPr/>
          </p:nvSpPr>
          <p:spPr bwMode="auto">
            <a:xfrm>
              <a:off x="4344" y="2201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X</a:t>
              </a:r>
            </a:p>
          </p:txBody>
        </p:sp>
        <p:sp>
          <p:nvSpPr>
            <p:cNvPr id="47" name="Rectangle 45"/>
            <p:cNvSpPr>
              <a:spLocks noChangeArrowheads="1"/>
            </p:cNvSpPr>
            <p:nvPr/>
          </p:nvSpPr>
          <p:spPr bwMode="auto">
            <a:xfrm>
              <a:off x="3984" y="2201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X</a:t>
              </a:r>
            </a:p>
          </p:txBody>
        </p:sp>
        <p:sp>
          <p:nvSpPr>
            <p:cNvPr id="48" name="Rectangle 46"/>
            <p:cNvSpPr>
              <a:spLocks noChangeArrowheads="1"/>
            </p:cNvSpPr>
            <p:nvPr/>
          </p:nvSpPr>
          <p:spPr bwMode="auto">
            <a:xfrm>
              <a:off x="3624" y="2201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49" name="Rectangle 47"/>
            <p:cNvSpPr>
              <a:spLocks noChangeArrowheads="1"/>
            </p:cNvSpPr>
            <p:nvPr/>
          </p:nvSpPr>
          <p:spPr bwMode="auto">
            <a:xfrm>
              <a:off x="3000" y="2201"/>
              <a:ext cx="624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50" name="Rectangle 48"/>
            <p:cNvSpPr>
              <a:spLocks noChangeArrowheads="1"/>
            </p:cNvSpPr>
            <p:nvPr/>
          </p:nvSpPr>
          <p:spPr bwMode="auto">
            <a:xfrm>
              <a:off x="2200" y="2201"/>
              <a:ext cx="800" cy="1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RegDst</a:t>
              </a:r>
            </a:p>
          </p:txBody>
        </p:sp>
        <p:sp>
          <p:nvSpPr>
            <p:cNvPr id="51" name="Rectangle 49"/>
            <p:cNvSpPr>
              <a:spLocks noChangeArrowheads="1"/>
            </p:cNvSpPr>
            <p:nvPr/>
          </p:nvSpPr>
          <p:spPr bwMode="auto">
            <a:xfrm>
              <a:off x="1056" y="2201"/>
              <a:ext cx="1144" cy="1719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algn="ctr"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Outputs</a:t>
              </a:r>
            </a:p>
          </p:txBody>
        </p:sp>
        <p:sp>
          <p:nvSpPr>
            <p:cNvPr id="52" name="Rectangle 50"/>
            <p:cNvSpPr>
              <a:spLocks noChangeArrowheads="1"/>
            </p:cNvSpPr>
            <p:nvPr/>
          </p:nvSpPr>
          <p:spPr bwMode="auto">
            <a:xfrm>
              <a:off x="4344" y="1628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53" name="Rectangle 51"/>
            <p:cNvSpPr>
              <a:spLocks noChangeArrowheads="1"/>
            </p:cNvSpPr>
            <p:nvPr/>
          </p:nvSpPr>
          <p:spPr bwMode="auto">
            <a:xfrm>
              <a:off x="3984" y="1628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54" name="Rectangle 52"/>
            <p:cNvSpPr>
              <a:spLocks noChangeArrowheads="1"/>
            </p:cNvSpPr>
            <p:nvPr/>
          </p:nvSpPr>
          <p:spPr bwMode="auto">
            <a:xfrm>
              <a:off x="3624" y="1628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55" name="Rectangle 53"/>
            <p:cNvSpPr>
              <a:spLocks noChangeArrowheads="1"/>
            </p:cNvSpPr>
            <p:nvPr/>
          </p:nvSpPr>
          <p:spPr bwMode="auto">
            <a:xfrm>
              <a:off x="3000" y="1628"/>
              <a:ext cx="624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56" name="Rectangle 54"/>
            <p:cNvSpPr>
              <a:spLocks noChangeArrowheads="1"/>
            </p:cNvSpPr>
            <p:nvPr/>
          </p:nvSpPr>
          <p:spPr bwMode="auto">
            <a:xfrm>
              <a:off x="2200" y="1628"/>
              <a:ext cx="800" cy="1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Op2</a:t>
              </a:r>
            </a:p>
          </p:txBody>
        </p:sp>
        <p:sp>
          <p:nvSpPr>
            <p:cNvPr id="57" name="Rectangle 55"/>
            <p:cNvSpPr>
              <a:spLocks noChangeArrowheads="1"/>
            </p:cNvSpPr>
            <p:nvPr/>
          </p:nvSpPr>
          <p:spPr bwMode="auto">
            <a:xfrm>
              <a:off x="4344" y="1819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58" name="Rectangle 56"/>
            <p:cNvSpPr>
              <a:spLocks noChangeArrowheads="1"/>
            </p:cNvSpPr>
            <p:nvPr/>
          </p:nvSpPr>
          <p:spPr bwMode="auto">
            <a:xfrm>
              <a:off x="3984" y="1819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59" name="Rectangle 57"/>
            <p:cNvSpPr>
              <a:spLocks noChangeArrowheads="1"/>
            </p:cNvSpPr>
            <p:nvPr/>
          </p:nvSpPr>
          <p:spPr bwMode="auto">
            <a:xfrm>
              <a:off x="3624" y="1819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60" name="Rectangle 58"/>
            <p:cNvSpPr>
              <a:spLocks noChangeArrowheads="1"/>
            </p:cNvSpPr>
            <p:nvPr/>
          </p:nvSpPr>
          <p:spPr bwMode="auto">
            <a:xfrm>
              <a:off x="3000" y="1819"/>
              <a:ext cx="624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61" name="Rectangle 59"/>
            <p:cNvSpPr>
              <a:spLocks noChangeArrowheads="1"/>
            </p:cNvSpPr>
            <p:nvPr/>
          </p:nvSpPr>
          <p:spPr bwMode="auto">
            <a:xfrm>
              <a:off x="2200" y="1819"/>
              <a:ext cx="800" cy="1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Op1</a:t>
              </a:r>
            </a:p>
          </p:txBody>
        </p:sp>
        <p:sp>
          <p:nvSpPr>
            <p:cNvPr id="62" name="Rectangle 60"/>
            <p:cNvSpPr>
              <a:spLocks noChangeArrowheads="1"/>
            </p:cNvSpPr>
            <p:nvPr/>
          </p:nvSpPr>
          <p:spPr bwMode="auto">
            <a:xfrm>
              <a:off x="4344" y="3729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63" name="Rectangle 61"/>
            <p:cNvSpPr>
              <a:spLocks noChangeArrowheads="1"/>
            </p:cNvSpPr>
            <p:nvPr/>
          </p:nvSpPr>
          <p:spPr bwMode="auto">
            <a:xfrm>
              <a:off x="4344" y="1437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64" name="Rectangle 62"/>
            <p:cNvSpPr>
              <a:spLocks noChangeArrowheads="1"/>
            </p:cNvSpPr>
            <p:nvPr/>
          </p:nvSpPr>
          <p:spPr bwMode="auto">
            <a:xfrm>
              <a:off x="4344" y="1246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65" name="Rectangle 63"/>
            <p:cNvSpPr>
              <a:spLocks noChangeArrowheads="1"/>
            </p:cNvSpPr>
            <p:nvPr/>
          </p:nvSpPr>
          <p:spPr bwMode="auto">
            <a:xfrm>
              <a:off x="4344" y="1055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66" name="Rectangle 64"/>
            <p:cNvSpPr>
              <a:spLocks noChangeArrowheads="1"/>
            </p:cNvSpPr>
            <p:nvPr/>
          </p:nvSpPr>
          <p:spPr bwMode="auto">
            <a:xfrm>
              <a:off x="4344" y="864"/>
              <a:ext cx="360" cy="19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FFFFFF"/>
                  </a:solidFill>
                  <a:latin typeface="Courier New" charset="0"/>
                  <a:ea typeface="新細明體" charset="-120"/>
                </a:rPr>
                <a:t>beq</a:t>
              </a:r>
            </a:p>
          </p:txBody>
        </p:sp>
        <p:sp>
          <p:nvSpPr>
            <p:cNvPr id="67" name="Rectangle 65"/>
            <p:cNvSpPr>
              <a:spLocks noChangeArrowheads="1"/>
            </p:cNvSpPr>
            <p:nvPr/>
          </p:nvSpPr>
          <p:spPr bwMode="auto">
            <a:xfrm>
              <a:off x="3984" y="3729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68" name="Rectangle 66"/>
            <p:cNvSpPr>
              <a:spLocks noChangeArrowheads="1"/>
            </p:cNvSpPr>
            <p:nvPr/>
          </p:nvSpPr>
          <p:spPr bwMode="auto">
            <a:xfrm>
              <a:off x="3984" y="1437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69" name="Rectangle 67"/>
            <p:cNvSpPr>
              <a:spLocks noChangeArrowheads="1"/>
            </p:cNvSpPr>
            <p:nvPr/>
          </p:nvSpPr>
          <p:spPr bwMode="auto">
            <a:xfrm>
              <a:off x="3984" y="1246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70" name="Rectangle 68"/>
            <p:cNvSpPr>
              <a:spLocks noChangeArrowheads="1"/>
            </p:cNvSpPr>
            <p:nvPr/>
          </p:nvSpPr>
          <p:spPr bwMode="auto">
            <a:xfrm>
              <a:off x="3984" y="1055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71" name="Rectangle 69"/>
            <p:cNvSpPr>
              <a:spLocks noChangeArrowheads="1"/>
            </p:cNvSpPr>
            <p:nvPr/>
          </p:nvSpPr>
          <p:spPr bwMode="auto">
            <a:xfrm>
              <a:off x="3984" y="864"/>
              <a:ext cx="360" cy="19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FFFFFF"/>
                  </a:solidFill>
                  <a:latin typeface="Courier New" charset="0"/>
                  <a:ea typeface="新細明體" charset="-120"/>
                </a:rPr>
                <a:t>sw</a:t>
              </a:r>
            </a:p>
          </p:txBody>
        </p:sp>
        <p:sp>
          <p:nvSpPr>
            <p:cNvPr id="72" name="Rectangle 70"/>
            <p:cNvSpPr>
              <a:spLocks noChangeArrowheads="1"/>
            </p:cNvSpPr>
            <p:nvPr/>
          </p:nvSpPr>
          <p:spPr bwMode="auto">
            <a:xfrm>
              <a:off x="3624" y="3729"/>
              <a:ext cx="360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73" name="Rectangle 71"/>
            <p:cNvSpPr>
              <a:spLocks noChangeArrowheads="1"/>
            </p:cNvSpPr>
            <p:nvPr/>
          </p:nvSpPr>
          <p:spPr bwMode="auto">
            <a:xfrm>
              <a:off x="3624" y="1437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74" name="Rectangle 72"/>
            <p:cNvSpPr>
              <a:spLocks noChangeArrowheads="1"/>
            </p:cNvSpPr>
            <p:nvPr/>
          </p:nvSpPr>
          <p:spPr bwMode="auto">
            <a:xfrm>
              <a:off x="3624" y="1246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75" name="Rectangle 73"/>
            <p:cNvSpPr>
              <a:spLocks noChangeArrowheads="1"/>
            </p:cNvSpPr>
            <p:nvPr/>
          </p:nvSpPr>
          <p:spPr bwMode="auto">
            <a:xfrm>
              <a:off x="3624" y="1055"/>
              <a:ext cx="360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1</a:t>
              </a:r>
            </a:p>
          </p:txBody>
        </p:sp>
        <p:sp>
          <p:nvSpPr>
            <p:cNvPr id="76" name="Rectangle 74"/>
            <p:cNvSpPr>
              <a:spLocks noChangeArrowheads="1"/>
            </p:cNvSpPr>
            <p:nvPr/>
          </p:nvSpPr>
          <p:spPr bwMode="auto">
            <a:xfrm>
              <a:off x="3624" y="864"/>
              <a:ext cx="360" cy="19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FFFFFF"/>
                  </a:solidFill>
                  <a:latin typeface="Courier New" charset="0"/>
                  <a:ea typeface="新細明體" charset="-120"/>
                </a:rPr>
                <a:t>lw</a:t>
              </a:r>
            </a:p>
          </p:txBody>
        </p:sp>
        <p:sp>
          <p:nvSpPr>
            <p:cNvPr id="77" name="Rectangle 75"/>
            <p:cNvSpPr>
              <a:spLocks noChangeArrowheads="1"/>
            </p:cNvSpPr>
            <p:nvPr/>
          </p:nvSpPr>
          <p:spPr bwMode="auto">
            <a:xfrm>
              <a:off x="2200" y="3729"/>
              <a:ext cx="800" cy="1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ALUOp0</a:t>
              </a:r>
            </a:p>
          </p:txBody>
        </p:sp>
        <p:sp>
          <p:nvSpPr>
            <p:cNvPr id="78" name="Rectangle 76"/>
            <p:cNvSpPr>
              <a:spLocks noChangeArrowheads="1"/>
            </p:cNvSpPr>
            <p:nvPr/>
          </p:nvSpPr>
          <p:spPr bwMode="auto">
            <a:xfrm>
              <a:off x="2200" y="1437"/>
              <a:ext cx="800" cy="1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Op3</a:t>
              </a:r>
            </a:p>
          </p:txBody>
        </p:sp>
        <p:sp>
          <p:nvSpPr>
            <p:cNvPr id="79" name="Rectangle 77"/>
            <p:cNvSpPr>
              <a:spLocks noChangeArrowheads="1"/>
            </p:cNvSpPr>
            <p:nvPr/>
          </p:nvSpPr>
          <p:spPr bwMode="auto">
            <a:xfrm>
              <a:off x="2200" y="1246"/>
              <a:ext cx="800" cy="1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Op4</a:t>
              </a:r>
            </a:p>
          </p:txBody>
        </p:sp>
        <p:sp>
          <p:nvSpPr>
            <p:cNvPr id="80" name="Rectangle 78"/>
            <p:cNvSpPr>
              <a:spLocks noChangeArrowheads="1"/>
            </p:cNvSpPr>
            <p:nvPr/>
          </p:nvSpPr>
          <p:spPr bwMode="auto">
            <a:xfrm>
              <a:off x="2200" y="1055"/>
              <a:ext cx="800" cy="1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Op5</a:t>
              </a:r>
            </a:p>
          </p:txBody>
        </p:sp>
        <p:sp>
          <p:nvSpPr>
            <p:cNvPr id="81" name="Rectangle 79"/>
            <p:cNvSpPr>
              <a:spLocks noChangeArrowheads="1"/>
            </p:cNvSpPr>
            <p:nvPr/>
          </p:nvSpPr>
          <p:spPr bwMode="auto">
            <a:xfrm>
              <a:off x="2200" y="864"/>
              <a:ext cx="800" cy="19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FFFFFF"/>
                  </a:solidFill>
                  <a:latin typeface="Tahoma" charset="0"/>
                  <a:ea typeface="新細明體" charset="-120"/>
                </a:rPr>
                <a:t>Signal name</a:t>
              </a:r>
            </a:p>
          </p:txBody>
        </p:sp>
        <p:sp>
          <p:nvSpPr>
            <p:cNvPr id="82" name="Rectangle 80"/>
            <p:cNvSpPr>
              <a:spLocks noChangeArrowheads="1"/>
            </p:cNvSpPr>
            <p:nvPr/>
          </p:nvSpPr>
          <p:spPr bwMode="auto">
            <a:xfrm>
              <a:off x="3000" y="3729"/>
              <a:ext cx="624" cy="191"/>
            </a:xfrm>
            <a:prstGeom prst="rect">
              <a:avLst/>
            </a:prstGeom>
            <a:solidFill>
              <a:srgbClr val="ECA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83" name="Rectangle 81"/>
            <p:cNvSpPr>
              <a:spLocks noChangeArrowheads="1"/>
            </p:cNvSpPr>
            <p:nvPr/>
          </p:nvSpPr>
          <p:spPr bwMode="auto">
            <a:xfrm>
              <a:off x="3000" y="1437"/>
              <a:ext cx="624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84" name="Rectangle 82"/>
            <p:cNvSpPr>
              <a:spLocks noChangeArrowheads="1"/>
            </p:cNvSpPr>
            <p:nvPr/>
          </p:nvSpPr>
          <p:spPr bwMode="auto">
            <a:xfrm>
              <a:off x="3000" y="1246"/>
              <a:ext cx="624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85" name="Rectangle 83"/>
            <p:cNvSpPr>
              <a:spLocks noChangeArrowheads="1"/>
            </p:cNvSpPr>
            <p:nvPr/>
          </p:nvSpPr>
          <p:spPr bwMode="auto">
            <a:xfrm>
              <a:off x="3000" y="1055"/>
              <a:ext cx="624" cy="191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 anchorCtr="1"/>
            <a:lstStyle/>
            <a:p>
              <a:pPr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0</a:t>
              </a:r>
            </a:p>
          </p:txBody>
        </p:sp>
        <p:sp>
          <p:nvSpPr>
            <p:cNvPr id="86" name="Rectangle 84"/>
            <p:cNvSpPr>
              <a:spLocks noChangeArrowheads="1"/>
            </p:cNvSpPr>
            <p:nvPr/>
          </p:nvSpPr>
          <p:spPr bwMode="auto">
            <a:xfrm>
              <a:off x="3000" y="864"/>
              <a:ext cx="624" cy="19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FFFFFF"/>
                  </a:solidFill>
                  <a:latin typeface="Tahoma" charset="0"/>
                  <a:ea typeface="新細明體" charset="-120"/>
                </a:rPr>
                <a:t>R-format</a:t>
              </a:r>
            </a:p>
          </p:txBody>
        </p:sp>
        <p:sp>
          <p:nvSpPr>
            <p:cNvPr id="87" name="Rectangle 85"/>
            <p:cNvSpPr>
              <a:spLocks noChangeArrowheads="1"/>
            </p:cNvSpPr>
            <p:nvPr/>
          </p:nvSpPr>
          <p:spPr bwMode="auto">
            <a:xfrm>
              <a:off x="1056" y="1055"/>
              <a:ext cx="1144" cy="1146"/>
            </a:xfrm>
            <a:prstGeom prst="rect">
              <a:avLst/>
            </a:prstGeom>
            <a:solidFill>
              <a:srgbClr val="FFFF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 anchor="ctr"/>
            <a:lstStyle/>
            <a:p>
              <a:pPr algn="ctr"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>
                  <a:solidFill>
                    <a:srgbClr val="402000"/>
                  </a:solidFill>
                  <a:latin typeface="Tahoma" charset="0"/>
                  <a:ea typeface="新細明體" charset="-120"/>
                </a:rPr>
                <a:t>Inputs</a:t>
              </a:r>
            </a:p>
          </p:txBody>
        </p:sp>
        <p:sp>
          <p:nvSpPr>
            <p:cNvPr id="88" name="Rectangle 86"/>
            <p:cNvSpPr>
              <a:spLocks noChangeArrowheads="1"/>
            </p:cNvSpPr>
            <p:nvPr/>
          </p:nvSpPr>
          <p:spPr bwMode="auto">
            <a:xfrm>
              <a:off x="1056" y="864"/>
              <a:ext cx="1144" cy="191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45720" tIns="46800" rIns="45720" bIns="46800" anchor="ctr" anchorCtr="1"/>
            <a:lstStyle/>
            <a:p>
              <a:pPr algn="ctr">
                <a:lnSpc>
                  <a:spcPct val="100000"/>
                </a:lnSpc>
                <a:spcBef>
                  <a:spcPts val="350"/>
                </a:spcBef>
                <a:buClr>
                  <a:srgbClr val="000000"/>
                </a:buClr>
                <a:buSzPct val="90000"/>
                <a:buFont typeface="Wingdings" charset="2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400" b="1">
                  <a:solidFill>
                    <a:srgbClr val="FFFFFF"/>
                  </a:solidFill>
                  <a:latin typeface="Tahoma" charset="0"/>
                  <a:ea typeface="新細明體" charset="-120"/>
                </a:rPr>
                <a:t>Input or output</a:t>
              </a:r>
            </a:p>
          </p:txBody>
        </p:sp>
        <p:sp>
          <p:nvSpPr>
            <p:cNvPr id="89" name="Line 87"/>
            <p:cNvSpPr>
              <a:spLocks noChangeShapeType="1"/>
            </p:cNvSpPr>
            <p:nvPr/>
          </p:nvSpPr>
          <p:spPr bwMode="auto">
            <a:xfrm>
              <a:off x="1056" y="864"/>
              <a:ext cx="3648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Line 88"/>
            <p:cNvSpPr>
              <a:spLocks noChangeShapeType="1"/>
            </p:cNvSpPr>
            <p:nvPr/>
          </p:nvSpPr>
          <p:spPr bwMode="auto">
            <a:xfrm>
              <a:off x="1056" y="1055"/>
              <a:ext cx="3648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Line 89"/>
            <p:cNvSpPr>
              <a:spLocks noChangeShapeType="1"/>
            </p:cNvSpPr>
            <p:nvPr/>
          </p:nvSpPr>
          <p:spPr bwMode="auto">
            <a:xfrm>
              <a:off x="1056" y="3920"/>
              <a:ext cx="3648" cy="1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Line 90"/>
            <p:cNvSpPr>
              <a:spLocks noChangeShapeType="1"/>
            </p:cNvSpPr>
            <p:nvPr/>
          </p:nvSpPr>
          <p:spPr bwMode="auto">
            <a:xfrm>
              <a:off x="1056" y="864"/>
              <a:ext cx="1" cy="3056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Line 91"/>
            <p:cNvSpPr>
              <a:spLocks noChangeShapeType="1"/>
            </p:cNvSpPr>
            <p:nvPr/>
          </p:nvSpPr>
          <p:spPr bwMode="auto">
            <a:xfrm>
              <a:off x="2200" y="864"/>
              <a:ext cx="1" cy="3056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Line 92"/>
            <p:cNvSpPr>
              <a:spLocks noChangeShapeType="1"/>
            </p:cNvSpPr>
            <p:nvPr/>
          </p:nvSpPr>
          <p:spPr bwMode="auto">
            <a:xfrm>
              <a:off x="4704" y="864"/>
              <a:ext cx="1" cy="3056"/>
            </a:xfrm>
            <a:prstGeom prst="line">
              <a:avLst/>
            </a:prstGeom>
            <a:noFill/>
            <a:ln w="2844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Line 93"/>
            <p:cNvSpPr>
              <a:spLocks noChangeShapeType="1"/>
            </p:cNvSpPr>
            <p:nvPr/>
          </p:nvSpPr>
          <p:spPr bwMode="auto">
            <a:xfrm>
              <a:off x="3624" y="864"/>
              <a:ext cx="1" cy="3056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Line 94"/>
            <p:cNvSpPr>
              <a:spLocks noChangeShapeType="1"/>
            </p:cNvSpPr>
            <p:nvPr/>
          </p:nvSpPr>
          <p:spPr bwMode="auto">
            <a:xfrm>
              <a:off x="3000" y="864"/>
              <a:ext cx="1" cy="3056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Line 95"/>
            <p:cNvSpPr>
              <a:spLocks noChangeShapeType="1"/>
            </p:cNvSpPr>
            <p:nvPr/>
          </p:nvSpPr>
          <p:spPr bwMode="auto">
            <a:xfrm>
              <a:off x="3984" y="864"/>
              <a:ext cx="1" cy="3056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Line 96"/>
            <p:cNvSpPr>
              <a:spLocks noChangeShapeType="1"/>
            </p:cNvSpPr>
            <p:nvPr/>
          </p:nvSpPr>
          <p:spPr bwMode="auto">
            <a:xfrm>
              <a:off x="4344" y="864"/>
              <a:ext cx="1" cy="3056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Line 97"/>
            <p:cNvSpPr>
              <a:spLocks noChangeShapeType="1"/>
            </p:cNvSpPr>
            <p:nvPr/>
          </p:nvSpPr>
          <p:spPr bwMode="auto">
            <a:xfrm>
              <a:off x="1056" y="2201"/>
              <a:ext cx="3648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Line 98"/>
            <p:cNvSpPr>
              <a:spLocks noChangeShapeType="1"/>
            </p:cNvSpPr>
            <p:nvPr/>
          </p:nvSpPr>
          <p:spPr bwMode="auto">
            <a:xfrm>
              <a:off x="2200" y="1246"/>
              <a:ext cx="25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99"/>
            <p:cNvSpPr>
              <a:spLocks noChangeShapeType="1"/>
            </p:cNvSpPr>
            <p:nvPr/>
          </p:nvSpPr>
          <p:spPr bwMode="auto">
            <a:xfrm>
              <a:off x="2200" y="1437"/>
              <a:ext cx="25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100"/>
            <p:cNvSpPr>
              <a:spLocks noChangeShapeType="1"/>
            </p:cNvSpPr>
            <p:nvPr/>
          </p:nvSpPr>
          <p:spPr bwMode="auto">
            <a:xfrm>
              <a:off x="2200" y="1628"/>
              <a:ext cx="25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Line 101"/>
            <p:cNvSpPr>
              <a:spLocks noChangeShapeType="1"/>
            </p:cNvSpPr>
            <p:nvPr/>
          </p:nvSpPr>
          <p:spPr bwMode="auto">
            <a:xfrm>
              <a:off x="2200" y="1819"/>
              <a:ext cx="25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Line 102"/>
            <p:cNvSpPr>
              <a:spLocks noChangeShapeType="1"/>
            </p:cNvSpPr>
            <p:nvPr/>
          </p:nvSpPr>
          <p:spPr bwMode="auto">
            <a:xfrm>
              <a:off x="2200" y="2010"/>
              <a:ext cx="25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Line 103"/>
            <p:cNvSpPr>
              <a:spLocks noChangeShapeType="1"/>
            </p:cNvSpPr>
            <p:nvPr/>
          </p:nvSpPr>
          <p:spPr bwMode="auto">
            <a:xfrm>
              <a:off x="2200" y="2392"/>
              <a:ext cx="25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Line 104"/>
            <p:cNvSpPr>
              <a:spLocks noChangeShapeType="1"/>
            </p:cNvSpPr>
            <p:nvPr/>
          </p:nvSpPr>
          <p:spPr bwMode="auto">
            <a:xfrm>
              <a:off x="2200" y="2583"/>
              <a:ext cx="25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Line 105"/>
            <p:cNvSpPr>
              <a:spLocks noChangeShapeType="1"/>
            </p:cNvSpPr>
            <p:nvPr/>
          </p:nvSpPr>
          <p:spPr bwMode="auto">
            <a:xfrm>
              <a:off x="2200" y="2774"/>
              <a:ext cx="25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Line 106"/>
            <p:cNvSpPr>
              <a:spLocks noChangeShapeType="1"/>
            </p:cNvSpPr>
            <p:nvPr/>
          </p:nvSpPr>
          <p:spPr bwMode="auto">
            <a:xfrm>
              <a:off x="2200" y="2965"/>
              <a:ext cx="25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Line 107"/>
            <p:cNvSpPr>
              <a:spLocks noChangeShapeType="1"/>
            </p:cNvSpPr>
            <p:nvPr/>
          </p:nvSpPr>
          <p:spPr bwMode="auto">
            <a:xfrm>
              <a:off x="2200" y="3156"/>
              <a:ext cx="25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Line 108"/>
            <p:cNvSpPr>
              <a:spLocks noChangeShapeType="1"/>
            </p:cNvSpPr>
            <p:nvPr/>
          </p:nvSpPr>
          <p:spPr bwMode="auto">
            <a:xfrm>
              <a:off x="2200" y="3347"/>
              <a:ext cx="25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Line 109"/>
            <p:cNvSpPr>
              <a:spLocks noChangeShapeType="1"/>
            </p:cNvSpPr>
            <p:nvPr/>
          </p:nvSpPr>
          <p:spPr bwMode="auto">
            <a:xfrm>
              <a:off x="2200" y="3538"/>
              <a:ext cx="25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Line 110"/>
            <p:cNvSpPr>
              <a:spLocks noChangeShapeType="1"/>
            </p:cNvSpPr>
            <p:nvPr/>
          </p:nvSpPr>
          <p:spPr bwMode="auto">
            <a:xfrm>
              <a:off x="2200" y="3729"/>
              <a:ext cx="2504" cy="1"/>
            </a:xfrm>
            <a:prstGeom prst="line">
              <a:avLst/>
            </a:prstGeom>
            <a:noFill/>
            <a:ln w="12600">
              <a:solidFill>
                <a:srgbClr val="402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994497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>
                <a:ea typeface="新細明體" charset="-120"/>
                <a:cs typeface="新細明體" charset="-120"/>
              </a:rPr>
              <a:t>Hardware Implementation of </a:t>
            </a:r>
            <a:r>
              <a:rPr lang="en-GB" altLang="zh-TW" dirty="0" err="1">
                <a:ea typeface="新細明體" charset="-120"/>
                <a:cs typeface="新細明體" charset="-120"/>
              </a:rPr>
              <a:t>Datapath</a:t>
            </a:r>
            <a:r>
              <a:rPr lang="en-GB" altLang="zh-TW" dirty="0">
                <a:ea typeface="新細明體" charset="-120"/>
                <a:cs typeface="新細明體" charset="-120"/>
              </a:rPr>
              <a:t> Control Unit</a:t>
            </a:r>
            <a:endParaRPr lang="en-US" dirty="0"/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3356811" y="1202531"/>
            <a:ext cx="4930775" cy="5164138"/>
            <a:chOff x="1488" y="624"/>
            <a:chExt cx="3106" cy="3253"/>
          </a:xfrm>
        </p:grpSpPr>
        <p:sp>
          <p:nvSpPr>
            <p:cNvPr id="6" name="Freeform 4"/>
            <p:cNvSpPr>
              <a:spLocks noChangeArrowheads="1"/>
            </p:cNvSpPr>
            <p:nvPr/>
          </p:nvSpPr>
          <p:spPr bwMode="auto">
            <a:xfrm>
              <a:off x="3467" y="2388"/>
              <a:ext cx="423" cy="271"/>
            </a:xfrm>
            <a:custGeom>
              <a:avLst/>
              <a:gdLst>
                <a:gd name="T0" fmla="*/ 3 w 423"/>
                <a:gd name="T1" fmla="*/ 6 h 271"/>
                <a:gd name="T2" fmla="*/ 9 w 423"/>
                <a:gd name="T3" fmla="*/ 15 h 271"/>
                <a:gd name="T4" fmla="*/ 18 w 423"/>
                <a:gd name="T5" fmla="*/ 27 h 271"/>
                <a:gd name="T6" fmla="*/ 32 w 423"/>
                <a:gd name="T7" fmla="*/ 47 h 271"/>
                <a:gd name="T8" fmla="*/ 41 w 423"/>
                <a:gd name="T9" fmla="*/ 71 h 271"/>
                <a:gd name="T10" fmla="*/ 47 w 423"/>
                <a:gd name="T11" fmla="*/ 94 h 271"/>
                <a:gd name="T12" fmla="*/ 50 w 423"/>
                <a:gd name="T13" fmla="*/ 118 h 271"/>
                <a:gd name="T14" fmla="*/ 53 w 423"/>
                <a:gd name="T15" fmla="*/ 141 h 271"/>
                <a:gd name="T16" fmla="*/ 50 w 423"/>
                <a:gd name="T17" fmla="*/ 165 h 271"/>
                <a:gd name="T18" fmla="*/ 47 w 423"/>
                <a:gd name="T19" fmla="*/ 185 h 271"/>
                <a:gd name="T20" fmla="*/ 44 w 423"/>
                <a:gd name="T21" fmla="*/ 200 h 271"/>
                <a:gd name="T22" fmla="*/ 32 w 423"/>
                <a:gd name="T23" fmla="*/ 218 h 271"/>
                <a:gd name="T24" fmla="*/ 21 w 423"/>
                <a:gd name="T25" fmla="*/ 238 h 271"/>
                <a:gd name="T26" fmla="*/ 12 w 423"/>
                <a:gd name="T27" fmla="*/ 256 h 271"/>
                <a:gd name="T28" fmla="*/ 3 w 423"/>
                <a:gd name="T29" fmla="*/ 268 h 271"/>
                <a:gd name="T30" fmla="*/ 6 w 423"/>
                <a:gd name="T31" fmla="*/ 271 h 271"/>
                <a:gd name="T32" fmla="*/ 35 w 423"/>
                <a:gd name="T33" fmla="*/ 271 h 271"/>
                <a:gd name="T34" fmla="*/ 85 w 423"/>
                <a:gd name="T35" fmla="*/ 271 h 271"/>
                <a:gd name="T36" fmla="*/ 138 w 423"/>
                <a:gd name="T37" fmla="*/ 271 h 271"/>
                <a:gd name="T38" fmla="*/ 185 w 423"/>
                <a:gd name="T39" fmla="*/ 271 h 271"/>
                <a:gd name="T40" fmla="*/ 217 w 423"/>
                <a:gd name="T41" fmla="*/ 265 h 271"/>
                <a:gd name="T42" fmla="*/ 247 w 423"/>
                <a:gd name="T43" fmla="*/ 262 h 271"/>
                <a:gd name="T44" fmla="*/ 276 w 423"/>
                <a:gd name="T45" fmla="*/ 253 h 271"/>
                <a:gd name="T46" fmla="*/ 308 w 423"/>
                <a:gd name="T47" fmla="*/ 241 h 271"/>
                <a:gd name="T48" fmla="*/ 341 w 423"/>
                <a:gd name="T49" fmla="*/ 224 h 271"/>
                <a:gd name="T50" fmla="*/ 370 w 423"/>
                <a:gd name="T51" fmla="*/ 203 h 271"/>
                <a:gd name="T52" fmla="*/ 394 w 423"/>
                <a:gd name="T53" fmla="*/ 183 h 271"/>
                <a:gd name="T54" fmla="*/ 408 w 423"/>
                <a:gd name="T55" fmla="*/ 165 h 271"/>
                <a:gd name="T56" fmla="*/ 417 w 423"/>
                <a:gd name="T57" fmla="*/ 153 h 271"/>
                <a:gd name="T58" fmla="*/ 423 w 423"/>
                <a:gd name="T59" fmla="*/ 144 h 271"/>
                <a:gd name="T60" fmla="*/ 423 w 423"/>
                <a:gd name="T61" fmla="*/ 141 h 271"/>
                <a:gd name="T62" fmla="*/ 417 w 423"/>
                <a:gd name="T63" fmla="*/ 130 h 271"/>
                <a:gd name="T64" fmla="*/ 402 w 423"/>
                <a:gd name="T65" fmla="*/ 112 h 271"/>
                <a:gd name="T66" fmla="*/ 385 w 423"/>
                <a:gd name="T67" fmla="*/ 91 h 271"/>
                <a:gd name="T68" fmla="*/ 364 w 423"/>
                <a:gd name="T69" fmla="*/ 71 h 271"/>
                <a:gd name="T70" fmla="*/ 344 w 423"/>
                <a:gd name="T71" fmla="*/ 53 h 271"/>
                <a:gd name="T72" fmla="*/ 326 w 423"/>
                <a:gd name="T73" fmla="*/ 42 h 271"/>
                <a:gd name="T74" fmla="*/ 303 w 423"/>
                <a:gd name="T75" fmla="*/ 30 h 271"/>
                <a:gd name="T76" fmla="*/ 279 w 423"/>
                <a:gd name="T77" fmla="*/ 21 h 271"/>
                <a:gd name="T78" fmla="*/ 253 w 423"/>
                <a:gd name="T79" fmla="*/ 12 h 271"/>
                <a:gd name="T80" fmla="*/ 226 w 423"/>
                <a:gd name="T81" fmla="*/ 6 h 271"/>
                <a:gd name="T82" fmla="*/ 194 w 423"/>
                <a:gd name="T83" fmla="*/ 3 h 271"/>
                <a:gd name="T84" fmla="*/ 156 w 423"/>
                <a:gd name="T85" fmla="*/ 0 h 271"/>
                <a:gd name="T86" fmla="*/ 106 w 423"/>
                <a:gd name="T87" fmla="*/ 0 h 271"/>
                <a:gd name="T88" fmla="*/ 41 w 423"/>
                <a:gd name="T89" fmla="*/ 3 h 271"/>
                <a:gd name="T90" fmla="*/ 0 w 423"/>
                <a:gd name="T91" fmla="*/ 3 h 271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23"/>
                <a:gd name="T139" fmla="*/ 0 h 271"/>
                <a:gd name="T140" fmla="*/ 423 w 423"/>
                <a:gd name="T141" fmla="*/ 271 h 271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23" h="271">
                  <a:moveTo>
                    <a:pt x="0" y="3"/>
                  </a:moveTo>
                  <a:lnTo>
                    <a:pt x="3" y="6"/>
                  </a:lnTo>
                  <a:lnTo>
                    <a:pt x="3" y="9"/>
                  </a:lnTo>
                  <a:lnTo>
                    <a:pt x="9" y="15"/>
                  </a:lnTo>
                  <a:lnTo>
                    <a:pt x="15" y="21"/>
                  </a:lnTo>
                  <a:lnTo>
                    <a:pt x="18" y="27"/>
                  </a:lnTo>
                  <a:lnTo>
                    <a:pt x="24" y="39"/>
                  </a:lnTo>
                  <a:lnTo>
                    <a:pt x="32" y="47"/>
                  </a:lnTo>
                  <a:lnTo>
                    <a:pt x="35" y="59"/>
                  </a:lnTo>
                  <a:lnTo>
                    <a:pt x="41" y="71"/>
                  </a:lnTo>
                  <a:lnTo>
                    <a:pt x="47" y="86"/>
                  </a:lnTo>
                  <a:lnTo>
                    <a:pt x="47" y="94"/>
                  </a:lnTo>
                  <a:lnTo>
                    <a:pt x="50" y="106"/>
                  </a:lnTo>
                  <a:lnTo>
                    <a:pt x="50" y="118"/>
                  </a:lnTo>
                  <a:lnTo>
                    <a:pt x="53" y="130"/>
                  </a:lnTo>
                  <a:lnTo>
                    <a:pt x="53" y="141"/>
                  </a:lnTo>
                  <a:lnTo>
                    <a:pt x="53" y="153"/>
                  </a:lnTo>
                  <a:lnTo>
                    <a:pt x="50" y="165"/>
                  </a:lnTo>
                  <a:lnTo>
                    <a:pt x="50" y="177"/>
                  </a:lnTo>
                  <a:lnTo>
                    <a:pt x="47" y="185"/>
                  </a:lnTo>
                  <a:lnTo>
                    <a:pt x="47" y="191"/>
                  </a:lnTo>
                  <a:lnTo>
                    <a:pt x="44" y="200"/>
                  </a:lnTo>
                  <a:lnTo>
                    <a:pt x="38" y="209"/>
                  </a:lnTo>
                  <a:lnTo>
                    <a:pt x="32" y="218"/>
                  </a:lnTo>
                  <a:lnTo>
                    <a:pt x="26" y="229"/>
                  </a:lnTo>
                  <a:lnTo>
                    <a:pt x="21" y="238"/>
                  </a:lnTo>
                  <a:lnTo>
                    <a:pt x="15" y="250"/>
                  </a:lnTo>
                  <a:lnTo>
                    <a:pt x="12" y="256"/>
                  </a:lnTo>
                  <a:lnTo>
                    <a:pt x="6" y="265"/>
                  </a:lnTo>
                  <a:lnTo>
                    <a:pt x="3" y="268"/>
                  </a:lnTo>
                  <a:lnTo>
                    <a:pt x="3" y="271"/>
                  </a:lnTo>
                  <a:lnTo>
                    <a:pt x="6" y="271"/>
                  </a:lnTo>
                  <a:lnTo>
                    <a:pt x="18" y="271"/>
                  </a:lnTo>
                  <a:lnTo>
                    <a:pt x="35" y="271"/>
                  </a:lnTo>
                  <a:lnTo>
                    <a:pt x="59" y="271"/>
                  </a:lnTo>
                  <a:lnTo>
                    <a:pt x="85" y="271"/>
                  </a:lnTo>
                  <a:lnTo>
                    <a:pt x="112" y="271"/>
                  </a:lnTo>
                  <a:lnTo>
                    <a:pt x="138" y="271"/>
                  </a:lnTo>
                  <a:lnTo>
                    <a:pt x="162" y="271"/>
                  </a:lnTo>
                  <a:lnTo>
                    <a:pt x="185" y="271"/>
                  </a:lnTo>
                  <a:lnTo>
                    <a:pt x="203" y="268"/>
                  </a:lnTo>
                  <a:lnTo>
                    <a:pt x="217" y="265"/>
                  </a:lnTo>
                  <a:lnTo>
                    <a:pt x="232" y="265"/>
                  </a:lnTo>
                  <a:lnTo>
                    <a:pt x="247" y="262"/>
                  </a:lnTo>
                  <a:lnTo>
                    <a:pt x="261" y="259"/>
                  </a:lnTo>
                  <a:lnTo>
                    <a:pt x="276" y="253"/>
                  </a:lnTo>
                  <a:lnTo>
                    <a:pt x="294" y="247"/>
                  </a:lnTo>
                  <a:lnTo>
                    <a:pt x="308" y="241"/>
                  </a:lnTo>
                  <a:lnTo>
                    <a:pt x="323" y="232"/>
                  </a:lnTo>
                  <a:lnTo>
                    <a:pt x="341" y="224"/>
                  </a:lnTo>
                  <a:lnTo>
                    <a:pt x="358" y="212"/>
                  </a:lnTo>
                  <a:lnTo>
                    <a:pt x="370" y="203"/>
                  </a:lnTo>
                  <a:lnTo>
                    <a:pt x="382" y="194"/>
                  </a:lnTo>
                  <a:lnTo>
                    <a:pt x="394" y="183"/>
                  </a:lnTo>
                  <a:lnTo>
                    <a:pt x="402" y="174"/>
                  </a:lnTo>
                  <a:lnTo>
                    <a:pt x="408" y="165"/>
                  </a:lnTo>
                  <a:lnTo>
                    <a:pt x="414" y="159"/>
                  </a:lnTo>
                  <a:lnTo>
                    <a:pt x="417" y="153"/>
                  </a:lnTo>
                  <a:lnTo>
                    <a:pt x="420" y="147"/>
                  </a:lnTo>
                  <a:lnTo>
                    <a:pt x="423" y="144"/>
                  </a:lnTo>
                  <a:lnTo>
                    <a:pt x="423" y="141"/>
                  </a:lnTo>
                  <a:lnTo>
                    <a:pt x="420" y="138"/>
                  </a:lnTo>
                  <a:lnTo>
                    <a:pt x="417" y="130"/>
                  </a:lnTo>
                  <a:lnTo>
                    <a:pt x="411" y="124"/>
                  </a:lnTo>
                  <a:lnTo>
                    <a:pt x="402" y="112"/>
                  </a:lnTo>
                  <a:lnTo>
                    <a:pt x="396" y="103"/>
                  </a:lnTo>
                  <a:lnTo>
                    <a:pt x="385" y="91"/>
                  </a:lnTo>
                  <a:lnTo>
                    <a:pt x="376" y="80"/>
                  </a:lnTo>
                  <a:lnTo>
                    <a:pt x="364" y="71"/>
                  </a:lnTo>
                  <a:lnTo>
                    <a:pt x="352" y="59"/>
                  </a:lnTo>
                  <a:lnTo>
                    <a:pt x="344" y="53"/>
                  </a:lnTo>
                  <a:lnTo>
                    <a:pt x="335" y="47"/>
                  </a:lnTo>
                  <a:lnTo>
                    <a:pt x="326" y="42"/>
                  </a:lnTo>
                  <a:lnTo>
                    <a:pt x="314" y="36"/>
                  </a:lnTo>
                  <a:lnTo>
                    <a:pt x="303" y="30"/>
                  </a:lnTo>
                  <a:lnTo>
                    <a:pt x="291" y="24"/>
                  </a:lnTo>
                  <a:lnTo>
                    <a:pt x="279" y="21"/>
                  </a:lnTo>
                  <a:lnTo>
                    <a:pt x="267" y="15"/>
                  </a:lnTo>
                  <a:lnTo>
                    <a:pt x="253" y="12"/>
                  </a:lnTo>
                  <a:lnTo>
                    <a:pt x="241" y="9"/>
                  </a:lnTo>
                  <a:lnTo>
                    <a:pt x="226" y="6"/>
                  </a:lnTo>
                  <a:lnTo>
                    <a:pt x="211" y="3"/>
                  </a:lnTo>
                  <a:lnTo>
                    <a:pt x="194" y="3"/>
                  </a:lnTo>
                  <a:lnTo>
                    <a:pt x="176" y="0"/>
                  </a:lnTo>
                  <a:lnTo>
                    <a:pt x="156" y="0"/>
                  </a:lnTo>
                  <a:lnTo>
                    <a:pt x="132" y="0"/>
                  </a:lnTo>
                  <a:lnTo>
                    <a:pt x="106" y="0"/>
                  </a:lnTo>
                  <a:lnTo>
                    <a:pt x="76" y="0"/>
                  </a:lnTo>
                  <a:lnTo>
                    <a:pt x="41" y="3"/>
                  </a:lnTo>
                  <a:lnTo>
                    <a:pt x="0" y="3"/>
                  </a:lnTo>
                </a:path>
              </a:pathLst>
            </a:custGeom>
            <a:solidFill>
              <a:srgbClr val="FFFFFF"/>
            </a:solidFill>
            <a:ln w="1908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Freeform 5"/>
            <p:cNvSpPr>
              <a:spLocks noChangeArrowheads="1"/>
            </p:cNvSpPr>
            <p:nvPr/>
          </p:nvSpPr>
          <p:spPr bwMode="auto">
            <a:xfrm>
              <a:off x="3467" y="2758"/>
              <a:ext cx="423" cy="273"/>
            </a:xfrm>
            <a:custGeom>
              <a:avLst/>
              <a:gdLst>
                <a:gd name="T0" fmla="*/ 3 w 423"/>
                <a:gd name="T1" fmla="*/ 6 h 273"/>
                <a:gd name="T2" fmla="*/ 9 w 423"/>
                <a:gd name="T3" fmla="*/ 15 h 273"/>
                <a:gd name="T4" fmla="*/ 18 w 423"/>
                <a:gd name="T5" fmla="*/ 30 h 273"/>
                <a:gd name="T6" fmla="*/ 32 w 423"/>
                <a:gd name="T7" fmla="*/ 50 h 273"/>
                <a:gd name="T8" fmla="*/ 41 w 423"/>
                <a:gd name="T9" fmla="*/ 74 h 273"/>
                <a:gd name="T10" fmla="*/ 47 w 423"/>
                <a:gd name="T11" fmla="*/ 94 h 273"/>
                <a:gd name="T12" fmla="*/ 50 w 423"/>
                <a:gd name="T13" fmla="*/ 118 h 273"/>
                <a:gd name="T14" fmla="*/ 53 w 423"/>
                <a:gd name="T15" fmla="*/ 141 h 273"/>
                <a:gd name="T16" fmla="*/ 50 w 423"/>
                <a:gd name="T17" fmla="*/ 165 h 273"/>
                <a:gd name="T18" fmla="*/ 47 w 423"/>
                <a:gd name="T19" fmla="*/ 185 h 273"/>
                <a:gd name="T20" fmla="*/ 44 w 423"/>
                <a:gd name="T21" fmla="*/ 200 h 273"/>
                <a:gd name="T22" fmla="*/ 32 w 423"/>
                <a:gd name="T23" fmla="*/ 221 h 273"/>
                <a:gd name="T24" fmla="*/ 21 w 423"/>
                <a:gd name="T25" fmla="*/ 241 h 273"/>
                <a:gd name="T26" fmla="*/ 12 w 423"/>
                <a:gd name="T27" fmla="*/ 259 h 273"/>
                <a:gd name="T28" fmla="*/ 3 w 423"/>
                <a:gd name="T29" fmla="*/ 271 h 273"/>
                <a:gd name="T30" fmla="*/ 6 w 423"/>
                <a:gd name="T31" fmla="*/ 271 h 273"/>
                <a:gd name="T32" fmla="*/ 35 w 423"/>
                <a:gd name="T33" fmla="*/ 271 h 273"/>
                <a:gd name="T34" fmla="*/ 85 w 423"/>
                <a:gd name="T35" fmla="*/ 273 h 273"/>
                <a:gd name="T36" fmla="*/ 138 w 423"/>
                <a:gd name="T37" fmla="*/ 271 h 273"/>
                <a:gd name="T38" fmla="*/ 185 w 423"/>
                <a:gd name="T39" fmla="*/ 271 h 273"/>
                <a:gd name="T40" fmla="*/ 217 w 423"/>
                <a:gd name="T41" fmla="*/ 268 h 273"/>
                <a:gd name="T42" fmla="*/ 247 w 423"/>
                <a:gd name="T43" fmla="*/ 262 h 273"/>
                <a:gd name="T44" fmla="*/ 276 w 423"/>
                <a:gd name="T45" fmla="*/ 253 h 273"/>
                <a:gd name="T46" fmla="*/ 308 w 423"/>
                <a:gd name="T47" fmla="*/ 241 h 273"/>
                <a:gd name="T48" fmla="*/ 341 w 423"/>
                <a:gd name="T49" fmla="*/ 227 h 273"/>
                <a:gd name="T50" fmla="*/ 370 w 423"/>
                <a:gd name="T51" fmla="*/ 203 h 273"/>
                <a:gd name="T52" fmla="*/ 394 w 423"/>
                <a:gd name="T53" fmla="*/ 185 h 273"/>
                <a:gd name="T54" fmla="*/ 408 w 423"/>
                <a:gd name="T55" fmla="*/ 168 h 273"/>
                <a:gd name="T56" fmla="*/ 417 w 423"/>
                <a:gd name="T57" fmla="*/ 153 h 273"/>
                <a:gd name="T58" fmla="*/ 423 w 423"/>
                <a:gd name="T59" fmla="*/ 144 h 273"/>
                <a:gd name="T60" fmla="*/ 423 w 423"/>
                <a:gd name="T61" fmla="*/ 144 h 273"/>
                <a:gd name="T62" fmla="*/ 417 w 423"/>
                <a:gd name="T63" fmla="*/ 133 h 273"/>
                <a:gd name="T64" fmla="*/ 402 w 423"/>
                <a:gd name="T65" fmla="*/ 115 h 273"/>
                <a:gd name="T66" fmla="*/ 385 w 423"/>
                <a:gd name="T67" fmla="*/ 91 h 273"/>
                <a:gd name="T68" fmla="*/ 364 w 423"/>
                <a:gd name="T69" fmla="*/ 71 h 273"/>
                <a:gd name="T70" fmla="*/ 344 w 423"/>
                <a:gd name="T71" fmla="*/ 56 h 273"/>
                <a:gd name="T72" fmla="*/ 326 w 423"/>
                <a:gd name="T73" fmla="*/ 44 h 273"/>
                <a:gd name="T74" fmla="*/ 303 w 423"/>
                <a:gd name="T75" fmla="*/ 33 h 273"/>
                <a:gd name="T76" fmla="*/ 279 w 423"/>
                <a:gd name="T77" fmla="*/ 21 h 273"/>
                <a:gd name="T78" fmla="*/ 253 w 423"/>
                <a:gd name="T79" fmla="*/ 12 h 273"/>
                <a:gd name="T80" fmla="*/ 226 w 423"/>
                <a:gd name="T81" fmla="*/ 6 h 273"/>
                <a:gd name="T82" fmla="*/ 194 w 423"/>
                <a:gd name="T83" fmla="*/ 3 h 273"/>
                <a:gd name="T84" fmla="*/ 156 w 423"/>
                <a:gd name="T85" fmla="*/ 0 h 273"/>
                <a:gd name="T86" fmla="*/ 106 w 423"/>
                <a:gd name="T87" fmla="*/ 0 h 273"/>
                <a:gd name="T88" fmla="*/ 41 w 423"/>
                <a:gd name="T89" fmla="*/ 3 h 273"/>
                <a:gd name="T90" fmla="*/ 0 w 423"/>
                <a:gd name="T91" fmla="*/ 6 h 273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423"/>
                <a:gd name="T139" fmla="*/ 0 h 273"/>
                <a:gd name="T140" fmla="*/ 423 w 423"/>
                <a:gd name="T141" fmla="*/ 273 h 273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423" h="273">
                  <a:moveTo>
                    <a:pt x="0" y="3"/>
                  </a:moveTo>
                  <a:lnTo>
                    <a:pt x="3" y="6"/>
                  </a:lnTo>
                  <a:lnTo>
                    <a:pt x="3" y="9"/>
                  </a:lnTo>
                  <a:lnTo>
                    <a:pt x="9" y="15"/>
                  </a:lnTo>
                  <a:lnTo>
                    <a:pt x="15" y="21"/>
                  </a:lnTo>
                  <a:lnTo>
                    <a:pt x="18" y="30"/>
                  </a:lnTo>
                  <a:lnTo>
                    <a:pt x="24" y="39"/>
                  </a:lnTo>
                  <a:lnTo>
                    <a:pt x="32" y="50"/>
                  </a:lnTo>
                  <a:lnTo>
                    <a:pt x="35" y="59"/>
                  </a:lnTo>
                  <a:lnTo>
                    <a:pt x="41" y="74"/>
                  </a:lnTo>
                  <a:lnTo>
                    <a:pt x="47" y="86"/>
                  </a:lnTo>
                  <a:lnTo>
                    <a:pt x="47" y="94"/>
                  </a:lnTo>
                  <a:lnTo>
                    <a:pt x="50" y="106"/>
                  </a:lnTo>
                  <a:lnTo>
                    <a:pt x="50" y="118"/>
                  </a:lnTo>
                  <a:lnTo>
                    <a:pt x="53" y="130"/>
                  </a:lnTo>
                  <a:lnTo>
                    <a:pt x="53" y="141"/>
                  </a:lnTo>
                  <a:lnTo>
                    <a:pt x="53" y="153"/>
                  </a:lnTo>
                  <a:lnTo>
                    <a:pt x="50" y="165"/>
                  </a:lnTo>
                  <a:lnTo>
                    <a:pt x="50" y="177"/>
                  </a:lnTo>
                  <a:lnTo>
                    <a:pt x="47" y="185"/>
                  </a:lnTo>
                  <a:lnTo>
                    <a:pt x="47" y="194"/>
                  </a:lnTo>
                  <a:lnTo>
                    <a:pt x="44" y="200"/>
                  </a:lnTo>
                  <a:lnTo>
                    <a:pt x="38" y="209"/>
                  </a:lnTo>
                  <a:lnTo>
                    <a:pt x="32" y="221"/>
                  </a:lnTo>
                  <a:lnTo>
                    <a:pt x="26" y="229"/>
                  </a:lnTo>
                  <a:lnTo>
                    <a:pt x="21" y="241"/>
                  </a:lnTo>
                  <a:lnTo>
                    <a:pt x="15" y="250"/>
                  </a:lnTo>
                  <a:lnTo>
                    <a:pt x="12" y="259"/>
                  </a:lnTo>
                  <a:lnTo>
                    <a:pt x="6" y="265"/>
                  </a:lnTo>
                  <a:lnTo>
                    <a:pt x="3" y="271"/>
                  </a:lnTo>
                  <a:lnTo>
                    <a:pt x="6" y="271"/>
                  </a:lnTo>
                  <a:lnTo>
                    <a:pt x="18" y="271"/>
                  </a:lnTo>
                  <a:lnTo>
                    <a:pt x="35" y="271"/>
                  </a:lnTo>
                  <a:lnTo>
                    <a:pt x="59" y="271"/>
                  </a:lnTo>
                  <a:lnTo>
                    <a:pt x="85" y="273"/>
                  </a:lnTo>
                  <a:lnTo>
                    <a:pt x="112" y="273"/>
                  </a:lnTo>
                  <a:lnTo>
                    <a:pt x="138" y="271"/>
                  </a:lnTo>
                  <a:lnTo>
                    <a:pt x="162" y="271"/>
                  </a:lnTo>
                  <a:lnTo>
                    <a:pt x="185" y="271"/>
                  </a:lnTo>
                  <a:lnTo>
                    <a:pt x="203" y="268"/>
                  </a:lnTo>
                  <a:lnTo>
                    <a:pt x="217" y="268"/>
                  </a:lnTo>
                  <a:lnTo>
                    <a:pt x="232" y="265"/>
                  </a:lnTo>
                  <a:lnTo>
                    <a:pt x="247" y="262"/>
                  </a:lnTo>
                  <a:lnTo>
                    <a:pt x="261" y="259"/>
                  </a:lnTo>
                  <a:lnTo>
                    <a:pt x="276" y="253"/>
                  </a:lnTo>
                  <a:lnTo>
                    <a:pt x="294" y="250"/>
                  </a:lnTo>
                  <a:lnTo>
                    <a:pt x="308" y="241"/>
                  </a:lnTo>
                  <a:lnTo>
                    <a:pt x="323" y="235"/>
                  </a:lnTo>
                  <a:lnTo>
                    <a:pt x="341" y="227"/>
                  </a:lnTo>
                  <a:lnTo>
                    <a:pt x="358" y="215"/>
                  </a:lnTo>
                  <a:lnTo>
                    <a:pt x="370" y="203"/>
                  </a:lnTo>
                  <a:lnTo>
                    <a:pt x="382" y="194"/>
                  </a:lnTo>
                  <a:lnTo>
                    <a:pt x="394" y="185"/>
                  </a:lnTo>
                  <a:lnTo>
                    <a:pt x="402" y="177"/>
                  </a:lnTo>
                  <a:lnTo>
                    <a:pt x="408" y="168"/>
                  </a:lnTo>
                  <a:lnTo>
                    <a:pt x="414" y="159"/>
                  </a:lnTo>
                  <a:lnTo>
                    <a:pt x="417" y="153"/>
                  </a:lnTo>
                  <a:lnTo>
                    <a:pt x="420" y="147"/>
                  </a:lnTo>
                  <a:lnTo>
                    <a:pt x="423" y="144"/>
                  </a:lnTo>
                  <a:lnTo>
                    <a:pt x="420" y="138"/>
                  </a:lnTo>
                  <a:lnTo>
                    <a:pt x="417" y="133"/>
                  </a:lnTo>
                  <a:lnTo>
                    <a:pt x="411" y="124"/>
                  </a:lnTo>
                  <a:lnTo>
                    <a:pt x="402" y="115"/>
                  </a:lnTo>
                  <a:lnTo>
                    <a:pt x="396" y="103"/>
                  </a:lnTo>
                  <a:lnTo>
                    <a:pt x="385" y="91"/>
                  </a:lnTo>
                  <a:lnTo>
                    <a:pt x="376" y="83"/>
                  </a:lnTo>
                  <a:lnTo>
                    <a:pt x="364" y="71"/>
                  </a:lnTo>
                  <a:lnTo>
                    <a:pt x="352" y="62"/>
                  </a:lnTo>
                  <a:lnTo>
                    <a:pt x="344" y="56"/>
                  </a:lnTo>
                  <a:lnTo>
                    <a:pt x="335" y="50"/>
                  </a:lnTo>
                  <a:lnTo>
                    <a:pt x="326" y="44"/>
                  </a:lnTo>
                  <a:lnTo>
                    <a:pt x="314" y="39"/>
                  </a:lnTo>
                  <a:lnTo>
                    <a:pt x="303" y="33"/>
                  </a:lnTo>
                  <a:lnTo>
                    <a:pt x="291" y="27"/>
                  </a:lnTo>
                  <a:lnTo>
                    <a:pt x="279" y="21"/>
                  </a:lnTo>
                  <a:lnTo>
                    <a:pt x="267" y="15"/>
                  </a:lnTo>
                  <a:lnTo>
                    <a:pt x="253" y="12"/>
                  </a:lnTo>
                  <a:lnTo>
                    <a:pt x="241" y="9"/>
                  </a:lnTo>
                  <a:lnTo>
                    <a:pt x="226" y="6"/>
                  </a:lnTo>
                  <a:lnTo>
                    <a:pt x="211" y="6"/>
                  </a:lnTo>
                  <a:lnTo>
                    <a:pt x="194" y="3"/>
                  </a:lnTo>
                  <a:lnTo>
                    <a:pt x="176" y="3"/>
                  </a:lnTo>
                  <a:lnTo>
                    <a:pt x="156" y="0"/>
                  </a:lnTo>
                  <a:lnTo>
                    <a:pt x="132" y="0"/>
                  </a:lnTo>
                  <a:lnTo>
                    <a:pt x="106" y="0"/>
                  </a:lnTo>
                  <a:lnTo>
                    <a:pt x="76" y="0"/>
                  </a:lnTo>
                  <a:lnTo>
                    <a:pt x="41" y="3"/>
                  </a:lnTo>
                  <a:lnTo>
                    <a:pt x="0" y="6"/>
                  </a:lnTo>
                </a:path>
              </a:pathLst>
            </a:custGeom>
            <a:solidFill>
              <a:srgbClr val="FFFFFF"/>
            </a:solidFill>
            <a:ln w="1908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Freeform 6"/>
            <p:cNvSpPr>
              <a:spLocks noChangeArrowheads="1"/>
            </p:cNvSpPr>
            <p:nvPr/>
          </p:nvSpPr>
          <p:spPr bwMode="auto">
            <a:xfrm>
              <a:off x="3159" y="1810"/>
              <a:ext cx="367" cy="379"/>
            </a:xfrm>
            <a:custGeom>
              <a:avLst/>
              <a:gdLst>
                <a:gd name="T0" fmla="*/ 0 w 367"/>
                <a:gd name="T1" fmla="*/ 0 h 379"/>
                <a:gd name="T2" fmla="*/ 3 w 367"/>
                <a:gd name="T3" fmla="*/ 6 h 379"/>
                <a:gd name="T4" fmla="*/ 3 w 367"/>
                <a:gd name="T5" fmla="*/ 15 h 379"/>
                <a:gd name="T6" fmla="*/ 3 w 367"/>
                <a:gd name="T7" fmla="*/ 29 h 379"/>
                <a:gd name="T8" fmla="*/ 3 w 367"/>
                <a:gd name="T9" fmla="*/ 47 h 379"/>
                <a:gd name="T10" fmla="*/ 3 w 367"/>
                <a:gd name="T11" fmla="*/ 71 h 379"/>
                <a:gd name="T12" fmla="*/ 3 w 367"/>
                <a:gd name="T13" fmla="*/ 94 h 379"/>
                <a:gd name="T14" fmla="*/ 3 w 367"/>
                <a:gd name="T15" fmla="*/ 117 h 379"/>
                <a:gd name="T16" fmla="*/ 0 w 367"/>
                <a:gd name="T17" fmla="*/ 138 h 379"/>
                <a:gd name="T18" fmla="*/ 0 w 367"/>
                <a:gd name="T19" fmla="*/ 162 h 379"/>
                <a:gd name="T20" fmla="*/ 0 w 367"/>
                <a:gd name="T21" fmla="*/ 179 h 379"/>
                <a:gd name="T22" fmla="*/ 0 w 367"/>
                <a:gd name="T23" fmla="*/ 194 h 379"/>
                <a:gd name="T24" fmla="*/ 3 w 367"/>
                <a:gd name="T25" fmla="*/ 209 h 379"/>
                <a:gd name="T26" fmla="*/ 3 w 367"/>
                <a:gd name="T27" fmla="*/ 223 h 379"/>
                <a:gd name="T28" fmla="*/ 3 w 367"/>
                <a:gd name="T29" fmla="*/ 238 h 379"/>
                <a:gd name="T30" fmla="*/ 6 w 367"/>
                <a:gd name="T31" fmla="*/ 250 h 379"/>
                <a:gd name="T32" fmla="*/ 9 w 367"/>
                <a:gd name="T33" fmla="*/ 261 h 379"/>
                <a:gd name="T34" fmla="*/ 11 w 367"/>
                <a:gd name="T35" fmla="*/ 276 h 379"/>
                <a:gd name="T36" fmla="*/ 17 w 367"/>
                <a:gd name="T37" fmla="*/ 288 h 379"/>
                <a:gd name="T38" fmla="*/ 26 w 367"/>
                <a:gd name="T39" fmla="*/ 300 h 379"/>
                <a:gd name="T40" fmla="*/ 35 w 367"/>
                <a:gd name="T41" fmla="*/ 314 h 379"/>
                <a:gd name="T42" fmla="*/ 41 w 367"/>
                <a:gd name="T43" fmla="*/ 320 h 379"/>
                <a:gd name="T44" fmla="*/ 50 w 367"/>
                <a:gd name="T45" fmla="*/ 329 h 379"/>
                <a:gd name="T46" fmla="*/ 58 w 367"/>
                <a:gd name="T47" fmla="*/ 338 h 379"/>
                <a:gd name="T48" fmla="*/ 67 w 367"/>
                <a:gd name="T49" fmla="*/ 347 h 379"/>
                <a:gd name="T50" fmla="*/ 82 w 367"/>
                <a:gd name="T51" fmla="*/ 355 h 379"/>
                <a:gd name="T52" fmla="*/ 94 w 367"/>
                <a:gd name="T53" fmla="*/ 364 h 379"/>
                <a:gd name="T54" fmla="*/ 111 w 367"/>
                <a:gd name="T55" fmla="*/ 370 h 379"/>
                <a:gd name="T56" fmla="*/ 129 w 367"/>
                <a:gd name="T57" fmla="*/ 376 h 379"/>
                <a:gd name="T58" fmla="*/ 149 w 367"/>
                <a:gd name="T59" fmla="*/ 379 h 379"/>
                <a:gd name="T60" fmla="*/ 173 w 367"/>
                <a:gd name="T61" fmla="*/ 379 h 379"/>
                <a:gd name="T62" fmla="*/ 196 w 367"/>
                <a:gd name="T63" fmla="*/ 379 h 379"/>
                <a:gd name="T64" fmla="*/ 217 w 367"/>
                <a:gd name="T65" fmla="*/ 376 h 379"/>
                <a:gd name="T66" fmla="*/ 235 w 367"/>
                <a:gd name="T67" fmla="*/ 373 h 379"/>
                <a:gd name="T68" fmla="*/ 249 w 367"/>
                <a:gd name="T69" fmla="*/ 370 h 379"/>
                <a:gd name="T70" fmla="*/ 261 w 367"/>
                <a:gd name="T71" fmla="*/ 364 h 379"/>
                <a:gd name="T72" fmla="*/ 273 w 367"/>
                <a:gd name="T73" fmla="*/ 358 h 379"/>
                <a:gd name="T74" fmla="*/ 285 w 367"/>
                <a:gd name="T75" fmla="*/ 349 h 379"/>
                <a:gd name="T76" fmla="*/ 293 w 367"/>
                <a:gd name="T77" fmla="*/ 344 h 379"/>
                <a:gd name="T78" fmla="*/ 299 w 367"/>
                <a:gd name="T79" fmla="*/ 335 h 379"/>
                <a:gd name="T80" fmla="*/ 308 w 367"/>
                <a:gd name="T81" fmla="*/ 329 h 379"/>
                <a:gd name="T82" fmla="*/ 320 w 367"/>
                <a:gd name="T83" fmla="*/ 317 h 379"/>
                <a:gd name="T84" fmla="*/ 329 w 367"/>
                <a:gd name="T85" fmla="*/ 305 h 379"/>
                <a:gd name="T86" fmla="*/ 337 w 367"/>
                <a:gd name="T87" fmla="*/ 297 h 379"/>
                <a:gd name="T88" fmla="*/ 343 w 367"/>
                <a:gd name="T89" fmla="*/ 285 h 379"/>
                <a:gd name="T90" fmla="*/ 349 w 367"/>
                <a:gd name="T91" fmla="*/ 273 h 379"/>
                <a:gd name="T92" fmla="*/ 355 w 367"/>
                <a:gd name="T93" fmla="*/ 261 h 379"/>
                <a:gd name="T94" fmla="*/ 358 w 367"/>
                <a:gd name="T95" fmla="*/ 247 h 379"/>
                <a:gd name="T96" fmla="*/ 361 w 367"/>
                <a:gd name="T97" fmla="*/ 232 h 379"/>
                <a:gd name="T98" fmla="*/ 364 w 367"/>
                <a:gd name="T99" fmla="*/ 217 h 379"/>
                <a:gd name="T100" fmla="*/ 364 w 367"/>
                <a:gd name="T101" fmla="*/ 200 h 379"/>
                <a:gd name="T102" fmla="*/ 364 w 367"/>
                <a:gd name="T103" fmla="*/ 179 h 379"/>
                <a:gd name="T104" fmla="*/ 364 w 367"/>
                <a:gd name="T105" fmla="*/ 156 h 379"/>
                <a:gd name="T106" fmla="*/ 364 w 367"/>
                <a:gd name="T107" fmla="*/ 129 h 379"/>
                <a:gd name="T108" fmla="*/ 367 w 367"/>
                <a:gd name="T109" fmla="*/ 103 h 379"/>
                <a:gd name="T110" fmla="*/ 367 w 367"/>
                <a:gd name="T111" fmla="*/ 76 h 379"/>
                <a:gd name="T112" fmla="*/ 367 w 367"/>
                <a:gd name="T113" fmla="*/ 53 h 379"/>
                <a:gd name="T114" fmla="*/ 367 w 367"/>
                <a:gd name="T115" fmla="*/ 32 h 379"/>
                <a:gd name="T116" fmla="*/ 367 w 367"/>
                <a:gd name="T117" fmla="*/ 18 h 379"/>
                <a:gd name="T118" fmla="*/ 367 w 367"/>
                <a:gd name="T119" fmla="*/ 6 h 379"/>
                <a:gd name="T120" fmla="*/ 367 w 367"/>
                <a:gd name="T121" fmla="*/ 3 h 379"/>
                <a:gd name="T122" fmla="*/ 3 w 367"/>
                <a:gd name="T123" fmla="*/ 3 h 379"/>
                <a:gd name="T124" fmla="*/ 3 w 367"/>
                <a:gd name="T125" fmla="*/ 3 h 37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67"/>
                <a:gd name="T190" fmla="*/ 0 h 379"/>
                <a:gd name="T191" fmla="*/ 367 w 367"/>
                <a:gd name="T192" fmla="*/ 379 h 37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67" h="379">
                  <a:moveTo>
                    <a:pt x="0" y="0"/>
                  </a:moveTo>
                  <a:lnTo>
                    <a:pt x="3" y="6"/>
                  </a:lnTo>
                  <a:lnTo>
                    <a:pt x="3" y="15"/>
                  </a:lnTo>
                  <a:lnTo>
                    <a:pt x="3" y="29"/>
                  </a:lnTo>
                  <a:lnTo>
                    <a:pt x="3" y="47"/>
                  </a:lnTo>
                  <a:lnTo>
                    <a:pt x="3" y="71"/>
                  </a:lnTo>
                  <a:lnTo>
                    <a:pt x="3" y="94"/>
                  </a:lnTo>
                  <a:lnTo>
                    <a:pt x="3" y="117"/>
                  </a:lnTo>
                  <a:lnTo>
                    <a:pt x="0" y="138"/>
                  </a:lnTo>
                  <a:lnTo>
                    <a:pt x="0" y="162"/>
                  </a:lnTo>
                  <a:lnTo>
                    <a:pt x="0" y="179"/>
                  </a:lnTo>
                  <a:lnTo>
                    <a:pt x="0" y="194"/>
                  </a:lnTo>
                  <a:lnTo>
                    <a:pt x="3" y="209"/>
                  </a:lnTo>
                  <a:lnTo>
                    <a:pt x="3" y="223"/>
                  </a:lnTo>
                  <a:lnTo>
                    <a:pt x="3" y="238"/>
                  </a:lnTo>
                  <a:lnTo>
                    <a:pt x="6" y="250"/>
                  </a:lnTo>
                  <a:lnTo>
                    <a:pt x="9" y="261"/>
                  </a:lnTo>
                  <a:lnTo>
                    <a:pt x="11" y="276"/>
                  </a:lnTo>
                  <a:lnTo>
                    <a:pt x="17" y="288"/>
                  </a:lnTo>
                  <a:lnTo>
                    <a:pt x="26" y="300"/>
                  </a:lnTo>
                  <a:lnTo>
                    <a:pt x="35" y="314"/>
                  </a:lnTo>
                  <a:lnTo>
                    <a:pt x="41" y="320"/>
                  </a:lnTo>
                  <a:lnTo>
                    <a:pt x="50" y="329"/>
                  </a:lnTo>
                  <a:lnTo>
                    <a:pt x="58" y="338"/>
                  </a:lnTo>
                  <a:lnTo>
                    <a:pt x="67" y="347"/>
                  </a:lnTo>
                  <a:lnTo>
                    <a:pt x="82" y="355"/>
                  </a:lnTo>
                  <a:lnTo>
                    <a:pt x="94" y="364"/>
                  </a:lnTo>
                  <a:lnTo>
                    <a:pt x="111" y="370"/>
                  </a:lnTo>
                  <a:lnTo>
                    <a:pt x="129" y="376"/>
                  </a:lnTo>
                  <a:lnTo>
                    <a:pt x="149" y="379"/>
                  </a:lnTo>
                  <a:lnTo>
                    <a:pt x="173" y="379"/>
                  </a:lnTo>
                  <a:lnTo>
                    <a:pt x="196" y="379"/>
                  </a:lnTo>
                  <a:lnTo>
                    <a:pt x="217" y="376"/>
                  </a:lnTo>
                  <a:lnTo>
                    <a:pt x="235" y="373"/>
                  </a:lnTo>
                  <a:lnTo>
                    <a:pt x="249" y="370"/>
                  </a:lnTo>
                  <a:lnTo>
                    <a:pt x="261" y="364"/>
                  </a:lnTo>
                  <a:lnTo>
                    <a:pt x="273" y="358"/>
                  </a:lnTo>
                  <a:lnTo>
                    <a:pt x="285" y="349"/>
                  </a:lnTo>
                  <a:lnTo>
                    <a:pt x="293" y="344"/>
                  </a:lnTo>
                  <a:lnTo>
                    <a:pt x="299" y="335"/>
                  </a:lnTo>
                  <a:lnTo>
                    <a:pt x="308" y="329"/>
                  </a:lnTo>
                  <a:lnTo>
                    <a:pt x="320" y="317"/>
                  </a:lnTo>
                  <a:lnTo>
                    <a:pt x="329" y="305"/>
                  </a:lnTo>
                  <a:lnTo>
                    <a:pt x="337" y="297"/>
                  </a:lnTo>
                  <a:lnTo>
                    <a:pt x="343" y="285"/>
                  </a:lnTo>
                  <a:lnTo>
                    <a:pt x="349" y="273"/>
                  </a:lnTo>
                  <a:lnTo>
                    <a:pt x="355" y="261"/>
                  </a:lnTo>
                  <a:lnTo>
                    <a:pt x="358" y="247"/>
                  </a:lnTo>
                  <a:lnTo>
                    <a:pt x="361" y="232"/>
                  </a:lnTo>
                  <a:lnTo>
                    <a:pt x="364" y="217"/>
                  </a:lnTo>
                  <a:lnTo>
                    <a:pt x="364" y="200"/>
                  </a:lnTo>
                  <a:lnTo>
                    <a:pt x="364" y="179"/>
                  </a:lnTo>
                  <a:lnTo>
                    <a:pt x="364" y="156"/>
                  </a:lnTo>
                  <a:lnTo>
                    <a:pt x="364" y="129"/>
                  </a:lnTo>
                  <a:lnTo>
                    <a:pt x="367" y="103"/>
                  </a:lnTo>
                  <a:lnTo>
                    <a:pt x="367" y="76"/>
                  </a:lnTo>
                  <a:lnTo>
                    <a:pt x="367" y="53"/>
                  </a:lnTo>
                  <a:lnTo>
                    <a:pt x="367" y="32"/>
                  </a:lnTo>
                  <a:lnTo>
                    <a:pt x="367" y="18"/>
                  </a:lnTo>
                  <a:lnTo>
                    <a:pt x="367" y="6"/>
                  </a:lnTo>
                  <a:lnTo>
                    <a:pt x="367" y="3"/>
                  </a:lnTo>
                  <a:lnTo>
                    <a:pt x="3" y="3"/>
                  </a:lnTo>
                </a:path>
              </a:pathLst>
            </a:custGeom>
            <a:solidFill>
              <a:srgbClr val="FFFFFF"/>
            </a:solidFill>
            <a:ln w="1908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Freeform 7"/>
            <p:cNvSpPr>
              <a:spLocks noChangeArrowheads="1"/>
            </p:cNvSpPr>
            <p:nvPr/>
          </p:nvSpPr>
          <p:spPr bwMode="auto">
            <a:xfrm>
              <a:off x="3470" y="1748"/>
              <a:ext cx="44" cy="47"/>
            </a:xfrm>
            <a:custGeom>
              <a:avLst/>
              <a:gdLst>
                <a:gd name="T0" fmla="*/ 21 w 44"/>
                <a:gd name="T1" fmla="*/ 47 h 47"/>
                <a:gd name="T2" fmla="*/ 26 w 44"/>
                <a:gd name="T3" fmla="*/ 47 h 47"/>
                <a:gd name="T4" fmla="*/ 29 w 44"/>
                <a:gd name="T5" fmla="*/ 47 h 47"/>
                <a:gd name="T6" fmla="*/ 32 w 44"/>
                <a:gd name="T7" fmla="*/ 44 h 47"/>
                <a:gd name="T8" fmla="*/ 35 w 44"/>
                <a:gd name="T9" fmla="*/ 44 h 47"/>
                <a:gd name="T10" fmla="*/ 38 w 44"/>
                <a:gd name="T11" fmla="*/ 41 h 47"/>
                <a:gd name="T12" fmla="*/ 41 w 44"/>
                <a:gd name="T13" fmla="*/ 39 h 47"/>
                <a:gd name="T14" fmla="*/ 44 w 44"/>
                <a:gd name="T15" fmla="*/ 36 h 47"/>
                <a:gd name="T16" fmla="*/ 44 w 44"/>
                <a:gd name="T17" fmla="*/ 33 h 47"/>
                <a:gd name="T18" fmla="*/ 44 w 44"/>
                <a:gd name="T19" fmla="*/ 27 h 47"/>
                <a:gd name="T20" fmla="*/ 44 w 44"/>
                <a:gd name="T21" fmla="*/ 24 h 47"/>
                <a:gd name="T22" fmla="*/ 44 w 44"/>
                <a:gd name="T23" fmla="*/ 21 h 47"/>
                <a:gd name="T24" fmla="*/ 44 w 44"/>
                <a:gd name="T25" fmla="*/ 15 h 47"/>
                <a:gd name="T26" fmla="*/ 44 w 44"/>
                <a:gd name="T27" fmla="*/ 12 h 47"/>
                <a:gd name="T28" fmla="*/ 41 w 44"/>
                <a:gd name="T29" fmla="*/ 9 h 47"/>
                <a:gd name="T30" fmla="*/ 38 w 44"/>
                <a:gd name="T31" fmla="*/ 6 h 47"/>
                <a:gd name="T32" fmla="*/ 35 w 44"/>
                <a:gd name="T33" fmla="*/ 3 h 47"/>
                <a:gd name="T34" fmla="*/ 32 w 44"/>
                <a:gd name="T35" fmla="*/ 3 h 47"/>
                <a:gd name="T36" fmla="*/ 29 w 44"/>
                <a:gd name="T37" fmla="*/ 0 h 47"/>
                <a:gd name="T38" fmla="*/ 26 w 44"/>
                <a:gd name="T39" fmla="*/ 0 h 47"/>
                <a:gd name="T40" fmla="*/ 23 w 44"/>
                <a:gd name="T41" fmla="*/ 0 h 47"/>
                <a:gd name="T42" fmla="*/ 18 w 44"/>
                <a:gd name="T43" fmla="*/ 0 h 47"/>
                <a:gd name="T44" fmla="*/ 15 w 44"/>
                <a:gd name="T45" fmla="*/ 0 h 47"/>
                <a:gd name="T46" fmla="*/ 12 w 44"/>
                <a:gd name="T47" fmla="*/ 3 h 47"/>
                <a:gd name="T48" fmla="*/ 9 w 44"/>
                <a:gd name="T49" fmla="*/ 3 h 47"/>
                <a:gd name="T50" fmla="*/ 6 w 44"/>
                <a:gd name="T51" fmla="*/ 6 h 47"/>
                <a:gd name="T52" fmla="*/ 3 w 44"/>
                <a:gd name="T53" fmla="*/ 9 h 47"/>
                <a:gd name="T54" fmla="*/ 3 w 44"/>
                <a:gd name="T55" fmla="*/ 12 h 47"/>
                <a:gd name="T56" fmla="*/ 0 w 44"/>
                <a:gd name="T57" fmla="*/ 15 h 47"/>
                <a:gd name="T58" fmla="*/ 0 w 44"/>
                <a:gd name="T59" fmla="*/ 21 h 47"/>
                <a:gd name="T60" fmla="*/ 0 w 44"/>
                <a:gd name="T61" fmla="*/ 24 h 47"/>
                <a:gd name="T62" fmla="*/ 0 w 44"/>
                <a:gd name="T63" fmla="*/ 27 h 47"/>
                <a:gd name="T64" fmla="*/ 0 w 44"/>
                <a:gd name="T65" fmla="*/ 33 h 47"/>
                <a:gd name="T66" fmla="*/ 3 w 44"/>
                <a:gd name="T67" fmla="*/ 36 h 47"/>
                <a:gd name="T68" fmla="*/ 3 w 44"/>
                <a:gd name="T69" fmla="*/ 39 h 47"/>
                <a:gd name="T70" fmla="*/ 6 w 44"/>
                <a:gd name="T71" fmla="*/ 41 h 47"/>
                <a:gd name="T72" fmla="*/ 9 w 44"/>
                <a:gd name="T73" fmla="*/ 44 h 47"/>
                <a:gd name="T74" fmla="*/ 12 w 44"/>
                <a:gd name="T75" fmla="*/ 44 h 47"/>
                <a:gd name="T76" fmla="*/ 15 w 44"/>
                <a:gd name="T77" fmla="*/ 47 h 47"/>
                <a:gd name="T78" fmla="*/ 18 w 44"/>
                <a:gd name="T79" fmla="*/ 47 h 47"/>
                <a:gd name="T80" fmla="*/ 23 w 44"/>
                <a:gd name="T81" fmla="*/ 47 h 47"/>
                <a:gd name="T82" fmla="*/ 23 w 44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4"/>
                <a:gd name="T127" fmla="*/ 0 h 47"/>
                <a:gd name="T128" fmla="*/ 44 w 44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4" h="47">
                  <a:moveTo>
                    <a:pt x="21" y="47"/>
                  </a:moveTo>
                  <a:lnTo>
                    <a:pt x="26" y="47"/>
                  </a:lnTo>
                  <a:lnTo>
                    <a:pt x="29" y="47"/>
                  </a:lnTo>
                  <a:lnTo>
                    <a:pt x="32" y="44"/>
                  </a:lnTo>
                  <a:lnTo>
                    <a:pt x="35" y="44"/>
                  </a:lnTo>
                  <a:lnTo>
                    <a:pt x="38" y="41"/>
                  </a:lnTo>
                  <a:lnTo>
                    <a:pt x="41" y="39"/>
                  </a:lnTo>
                  <a:lnTo>
                    <a:pt x="44" y="36"/>
                  </a:lnTo>
                  <a:lnTo>
                    <a:pt x="44" y="33"/>
                  </a:lnTo>
                  <a:lnTo>
                    <a:pt x="44" y="27"/>
                  </a:lnTo>
                  <a:lnTo>
                    <a:pt x="44" y="24"/>
                  </a:lnTo>
                  <a:lnTo>
                    <a:pt x="44" y="21"/>
                  </a:lnTo>
                  <a:lnTo>
                    <a:pt x="44" y="15"/>
                  </a:lnTo>
                  <a:lnTo>
                    <a:pt x="44" y="12"/>
                  </a:lnTo>
                  <a:lnTo>
                    <a:pt x="41" y="9"/>
                  </a:lnTo>
                  <a:lnTo>
                    <a:pt x="38" y="6"/>
                  </a:lnTo>
                  <a:lnTo>
                    <a:pt x="35" y="3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3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33"/>
                  </a:lnTo>
                  <a:lnTo>
                    <a:pt x="3" y="36"/>
                  </a:lnTo>
                  <a:lnTo>
                    <a:pt x="3" y="39"/>
                  </a:lnTo>
                  <a:lnTo>
                    <a:pt x="6" y="41"/>
                  </a:lnTo>
                  <a:lnTo>
                    <a:pt x="9" y="44"/>
                  </a:lnTo>
                  <a:lnTo>
                    <a:pt x="12" y="44"/>
                  </a:lnTo>
                  <a:lnTo>
                    <a:pt x="15" y="47"/>
                  </a:lnTo>
                  <a:lnTo>
                    <a:pt x="18" y="47"/>
                  </a:lnTo>
                  <a:lnTo>
                    <a:pt x="23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Freeform 8"/>
            <p:cNvSpPr>
              <a:spLocks noChangeArrowheads="1"/>
            </p:cNvSpPr>
            <p:nvPr/>
          </p:nvSpPr>
          <p:spPr bwMode="auto">
            <a:xfrm>
              <a:off x="3405" y="1748"/>
              <a:ext cx="47" cy="47"/>
            </a:xfrm>
            <a:custGeom>
              <a:avLst/>
              <a:gdLst>
                <a:gd name="T0" fmla="*/ 24 w 47"/>
                <a:gd name="T1" fmla="*/ 47 h 47"/>
                <a:gd name="T2" fmla="*/ 27 w 47"/>
                <a:gd name="T3" fmla="*/ 47 h 47"/>
                <a:gd name="T4" fmla="*/ 33 w 47"/>
                <a:gd name="T5" fmla="*/ 47 h 47"/>
                <a:gd name="T6" fmla="*/ 36 w 47"/>
                <a:gd name="T7" fmla="*/ 44 h 47"/>
                <a:gd name="T8" fmla="*/ 39 w 47"/>
                <a:gd name="T9" fmla="*/ 44 h 47"/>
                <a:gd name="T10" fmla="*/ 42 w 47"/>
                <a:gd name="T11" fmla="*/ 41 h 47"/>
                <a:gd name="T12" fmla="*/ 42 w 47"/>
                <a:gd name="T13" fmla="*/ 39 h 47"/>
                <a:gd name="T14" fmla="*/ 44 w 47"/>
                <a:gd name="T15" fmla="*/ 36 h 47"/>
                <a:gd name="T16" fmla="*/ 47 w 47"/>
                <a:gd name="T17" fmla="*/ 33 h 47"/>
                <a:gd name="T18" fmla="*/ 47 w 47"/>
                <a:gd name="T19" fmla="*/ 27 h 47"/>
                <a:gd name="T20" fmla="*/ 47 w 47"/>
                <a:gd name="T21" fmla="*/ 24 h 47"/>
                <a:gd name="T22" fmla="*/ 47 w 47"/>
                <a:gd name="T23" fmla="*/ 21 h 47"/>
                <a:gd name="T24" fmla="*/ 47 w 47"/>
                <a:gd name="T25" fmla="*/ 15 h 47"/>
                <a:gd name="T26" fmla="*/ 44 w 47"/>
                <a:gd name="T27" fmla="*/ 12 h 47"/>
                <a:gd name="T28" fmla="*/ 42 w 47"/>
                <a:gd name="T29" fmla="*/ 9 h 47"/>
                <a:gd name="T30" fmla="*/ 42 w 47"/>
                <a:gd name="T31" fmla="*/ 6 h 47"/>
                <a:gd name="T32" fmla="*/ 39 w 47"/>
                <a:gd name="T33" fmla="*/ 3 h 47"/>
                <a:gd name="T34" fmla="*/ 36 w 47"/>
                <a:gd name="T35" fmla="*/ 3 h 47"/>
                <a:gd name="T36" fmla="*/ 33 w 47"/>
                <a:gd name="T37" fmla="*/ 0 h 47"/>
                <a:gd name="T38" fmla="*/ 27 w 47"/>
                <a:gd name="T39" fmla="*/ 0 h 47"/>
                <a:gd name="T40" fmla="*/ 24 w 47"/>
                <a:gd name="T41" fmla="*/ 0 h 47"/>
                <a:gd name="T42" fmla="*/ 21 w 47"/>
                <a:gd name="T43" fmla="*/ 0 h 47"/>
                <a:gd name="T44" fmla="*/ 18 w 47"/>
                <a:gd name="T45" fmla="*/ 0 h 47"/>
                <a:gd name="T46" fmla="*/ 12 w 47"/>
                <a:gd name="T47" fmla="*/ 3 h 47"/>
                <a:gd name="T48" fmla="*/ 9 w 47"/>
                <a:gd name="T49" fmla="*/ 3 h 47"/>
                <a:gd name="T50" fmla="*/ 9 w 47"/>
                <a:gd name="T51" fmla="*/ 6 h 47"/>
                <a:gd name="T52" fmla="*/ 6 w 47"/>
                <a:gd name="T53" fmla="*/ 9 h 47"/>
                <a:gd name="T54" fmla="*/ 3 w 47"/>
                <a:gd name="T55" fmla="*/ 12 h 47"/>
                <a:gd name="T56" fmla="*/ 3 w 47"/>
                <a:gd name="T57" fmla="*/ 15 h 47"/>
                <a:gd name="T58" fmla="*/ 0 w 47"/>
                <a:gd name="T59" fmla="*/ 21 h 47"/>
                <a:gd name="T60" fmla="*/ 0 w 47"/>
                <a:gd name="T61" fmla="*/ 24 h 47"/>
                <a:gd name="T62" fmla="*/ 0 w 47"/>
                <a:gd name="T63" fmla="*/ 27 h 47"/>
                <a:gd name="T64" fmla="*/ 3 w 47"/>
                <a:gd name="T65" fmla="*/ 33 h 47"/>
                <a:gd name="T66" fmla="*/ 3 w 47"/>
                <a:gd name="T67" fmla="*/ 36 h 47"/>
                <a:gd name="T68" fmla="*/ 6 w 47"/>
                <a:gd name="T69" fmla="*/ 39 h 47"/>
                <a:gd name="T70" fmla="*/ 9 w 47"/>
                <a:gd name="T71" fmla="*/ 41 h 47"/>
                <a:gd name="T72" fmla="*/ 9 w 47"/>
                <a:gd name="T73" fmla="*/ 44 h 47"/>
                <a:gd name="T74" fmla="*/ 12 w 47"/>
                <a:gd name="T75" fmla="*/ 44 h 47"/>
                <a:gd name="T76" fmla="*/ 18 w 47"/>
                <a:gd name="T77" fmla="*/ 47 h 47"/>
                <a:gd name="T78" fmla="*/ 21 w 47"/>
                <a:gd name="T79" fmla="*/ 47 h 47"/>
                <a:gd name="T80" fmla="*/ 24 w 47"/>
                <a:gd name="T81" fmla="*/ 47 h 47"/>
                <a:gd name="T82" fmla="*/ 24 w 47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7"/>
                <a:gd name="T127" fmla="*/ 0 h 47"/>
                <a:gd name="T128" fmla="*/ 47 w 47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7" h="47">
                  <a:moveTo>
                    <a:pt x="24" y="47"/>
                  </a:moveTo>
                  <a:lnTo>
                    <a:pt x="27" y="47"/>
                  </a:lnTo>
                  <a:lnTo>
                    <a:pt x="33" y="47"/>
                  </a:lnTo>
                  <a:lnTo>
                    <a:pt x="36" y="44"/>
                  </a:lnTo>
                  <a:lnTo>
                    <a:pt x="39" y="44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4" y="36"/>
                  </a:lnTo>
                  <a:lnTo>
                    <a:pt x="47" y="33"/>
                  </a:lnTo>
                  <a:lnTo>
                    <a:pt x="47" y="27"/>
                  </a:lnTo>
                  <a:lnTo>
                    <a:pt x="47" y="24"/>
                  </a:lnTo>
                  <a:lnTo>
                    <a:pt x="47" y="21"/>
                  </a:lnTo>
                  <a:lnTo>
                    <a:pt x="47" y="15"/>
                  </a:lnTo>
                  <a:lnTo>
                    <a:pt x="44" y="12"/>
                  </a:lnTo>
                  <a:lnTo>
                    <a:pt x="42" y="9"/>
                  </a:lnTo>
                  <a:lnTo>
                    <a:pt x="42" y="6"/>
                  </a:lnTo>
                  <a:lnTo>
                    <a:pt x="39" y="3"/>
                  </a:lnTo>
                  <a:lnTo>
                    <a:pt x="36" y="3"/>
                  </a:lnTo>
                  <a:lnTo>
                    <a:pt x="33" y="0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9" y="6"/>
                  </a:lnTo>
                  <a:lnTo>
                    <a:pt x="6" y="9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3" y="33"/>
                  </a:lnTo>
                  <a:lnTo>
                    <a:pt x="3" y="36"/>
                  </a:lnTo>
                  <a:lnTo>
                    <a:pt x="6" y="39"/>
                  </a:lnTo>
                  <a:lnTo>
                    <a:pt x="9" y="41"/>
                  </a:lnTo>
                  <a:lnTo>
                    <a:pt x="9" y="44"/>
                  </a:lnTo>
                  <a:lnTo>
                    <a:pt x="12" y="44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4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9"/>
            <p:cNvSpPr>
              <a:spLocks noChangeArrowheads="1"/>
            </p:cNvSpPr>
            <p:nvPr/>
          </p:nvSpPr>
          <p:spPr bwMode="auto">
            <a:xfrm>
              <a:off x="3294" y="1748"/>
              <a:ext cx="47" cy="47"/>
            </a:xfrm>
            <a:custGeom>
              <a:avLst/>
              <a:gdLst>
                <a:gd name="T0" fmla="*/ 23 w 47"/>
                <a:gd name="T1" fmla="*/ 47 h 47"/>
                <a:gd name="T2" fmla="*/ 29 w 47"/>
                <a:gd name="T3" fmla="*/ 47 h 47"/>
                <a:gd name="T4" fmla="*/ 32 w 47"/>
                <a:gd name="T5" fmla="*/ 47 h 47"/>
                <a:gd name="T6" fmla="*/ 35 w 47"/>
                <a:gd name="T7" fmla="*/ 44 h 47"/>
                <a:gd name="T8" fmla="*/ 38 w 47"/>
                <a:gd name="T9" fmla="*/ 44 h 47"/>
                <a:gd name="T10" fmla="*/ 41 w 47"/>
                <a:gd name="T11" fmla="*/ 41 h 47"/>
                <a:gd name="T12" fmla="*/ 44 w 47"/>
                <a:gd name="T13" fmla="*/ 39 h 47"/>
                <a:gd name="T14" fmla="*/ 44 w 47"/>
                <a:gd name="T15" fmla="*/ 36 h 47"/>
                <a:gd name="T16" fmla="*/ 47 w 47"/>
                <a:gd name="T17" fmla="*/ 33 h 47"/>
                <a:gd name="T18" fmla="*/ 47 w 47"/>
                <a:gd name="T19" fmla="*/ 27 h 47"/>
                <a:gd name="T20" fmla="*/ 47 w 47"/>
                <a:gd name="T21" fmla="*/ 24 h 47"/>
                <a:gd name="T22" fmla="*/ 47 w 47"/>
                <a:gd name="T23" fmla="*/ 21 h 47"/>
                <a:gd name="T24" fmla="*/ 47 w 47"/>
                <a:gd name="T25" fmla="*/ 15 h 47"/>
                <a:gd name="T26" fmla="*/ 44 w 47"/>
                <a:gd name="T27" fmla="*/ 12 h 47"/>
                <a:gd name="T28" fmla="*/ 44 w 47"/>
                <a:gd name="T29" fmla="*/ 9 h 47"/>
                <a:gd name="T30" fmla="*/ 41 w 47"/>
                <a:gd name="T31" fmla="*/ 6 h 47"/>
                <a:gd name="T32" fmla="*/ 38 w 47"/>
                <a:gd name="T33" fmla="*/ 3 h 47"/>
                <a:gd name="T34" fmla="*/ 35 w 47"/>
                <a:gd name="T35" fmla="*/ 3 h 47"/>
                <a:gd name="T36" fmla="*/ 32 w 47"/>
                <a:gd name="T37" fmla="*/ 0 h 47"/>
                <a:gd name="T38" fmla="*/ 29 w 47"/>
                <a:gd name="T39" fmla="*/ 0 h 47"/>
                <a:gd name="T40" fmla="*/ 23 w 47"/>
                <a:gd name="T41" fmla="*/ 0 h 47"/>
                <a:gd name="T42" fmla="*/ 20 w 47"/>
                <a:gd name="T43" fmla="*/ 0 h 47"/>
                <a:gd name="T44" fmla="*/ 17 w 47"/>
                <a:gd name="T45" fmla="*/ 0 h 47"/>
                <a:gd name="T46" fmla="*/ 14 w 47"/>
                <a:gd name="T47" fmla="*/ 3 h 47"/>
                <a:gd name="T48" fmla="*/ 12 w 47"/>
                <a:gd name="T49" fmla="*/ 3 h 47"/>
                <a:gd name="T50" fmla="*/ 9 w 47"/>
                <a:gd name="T51" fmla="*/ 6 h 47"/>
                <a:gd name="T52" fmla="*/ 6 w 47"/>
                <a:gd name="T53" fmla="*/ 9 h 47"/>
                <a:gd name="T54" fmla="*/ 3 w 47"/>
                <a:gd name="T55" fmla="*/ 12 h 47"/>
                <a:gd name="T56" fmla="*/ 3 w 47"/>
                <a:gd name="T57" fmla="*/ 15 h 47"/>
                <a:gd name="T58" fmla="*/ 0 w 47"/>
                <a:gd name="T59" fmla="*/ 21 h 47"/>
                <a:gd name="T60" fmla="*/ 0 w 47"/>
                <a:gd name="T61" fmla="*/ 24 h 47"/>
                <a:gd name="T62" fmla="*/ 0 w 47"/>
                <a:gd name="T63" fmla="*/ 27 h 47"/>
                <a:gd name="T64" fmla="*/ 3 w 47"/>
                <a:gd name="T65" fmla="*/ 33 h 47"/>
                <a:gd name="T66" fmla="*/ 3 w 47"/>
                <a:gd name="T67" fmla="*/ 36 h 47"/>
                <a:gd name="T68" fmla="*/ 6 w 47"/>
                <a:gd name="T69" fmla="*/ 39 h 47"/>
                <a:gd name="T70" fmla="*/ 9 w 47"/>
                <a:gd name="T71" fmla="*/ 41 h 47"/>
                <a:gd name="T72" fmla="*/ 12 w 47"/>
                <a:gd name="T73" fmla="*/ 44 h 47"/>
                <a:gd name="T74" fmla="*/ 14 w 47"/>
                <a:gd name="T75" fmla="*/ 44 h 47"/>
                <a:gd name="T76" fmla="*/ 17 w 47"/>
                <a:gd name="T77" fmla="*/ 47 h 47"/>
                <a:gd name="T78" fmla="*/ 20 w 47"/>
                <a:gd name="T79" fmla="*/ 47 h 47"/>
                <a:gd name="T80" fmla="*/ 23 w 47"/>
                <a:gd name="T81" fmla="*/ 47 h 47"/>
                <a:gd name="T82" fmla="*/ 23 w 47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7"/>
                <a:gd name="T127" fmla="*/ 0 h 47"/>
                <a:gd name="T128" fmla="*/ 47 w 47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7" h="47">
                  <a:moveTo>
                    <a:pt x="23" y="47"/>
                  </a:moveTo>
                  <a:lnTo>
                    <a:pt x="29" y="47"/>
                  </a:lnTo>
                  <a:lnTo>
                    <a:pt x="32" y="47"/>
                  </a:lnTo>
                  <a:lnTo>
                    <a:pt x="35" y="44"/>
                  </a:lnTo>
                  <a:lnTo>
                    <a:pt x="38" y="44"/>
                  </a:lnTo>
                  <a:lnTo>
                    <a:pt x="41" y="41"/>
                  </a:lnTo>
                  <a:lnTo>
                    <a:pt x="44" y="39"/>
                  </a:lnTo>
                  <a:lnTo>
                    <a:pt x="44" y="36"/>
                  </a:lnTo>
                  <a:lnTo>
                    <a:pt x="47" y="33"/>
                  </a:lnTo>
                  <a:lnTo>
                    <a:pt x="47" y="27"/>
                  </a:lnTo>
                  <a:lnTo>
                    <a:pt x="47" y="24"/>
                  </a:lnTo>
                  <a:lnTo>
                    <a:pt x="47" y="21"/>
                  </a:lnTo>
                  <a:lnTo>
                    <a:pt x="47" y="15"/>
                  </a:lnTo>
                  <a:lnTo>
                    <a:pt x="44" y="12"/>
                  </a:lnTo>
                  <a:lnTo>
                    <a:pt x="44" y="9"/>
                  </a:lnTo>
                  <a:lnTo>
                    <a:pt x="41" y="6"/>
                  </a:lnTo>
                  <a:lnTo>
                    <a:pt x="38" y="3"/>
                  </a:lnTo>
                  <a:lnTo>
                    <a:pt x="35" y="3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3"/>
                  </a:lnTo>
                  <a:lnTo>
                    <a:pt x="12" y="3"/>
                  </a:lnTo>
                  <a:lnTo>
                    <a:pt x="9" y="6"/>
                  </a:lnTo>
                  <a:lnTo>
                    <a:pt x="6" y="9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3" y="33"/>
                  </a:lnTo>
                  <a:lnTo>
                    <a:pt x="3" y="36"/>
                  </a:lnTo>
                  <a:lnTo>
                    <a:pt x="6" y="39"/>
                  </a:lnTo>
                  <a:lnTo>
                    <a:pt x="9" y="41"/>
                  </a:lnTo>
                  <a:lnTo>
                    <a:pt x="12" y="44"/>
                  </a:lnTo>
                  <a:lnTo>
                    <a:pt x="14" y="44"/>
                  </a:lnTo>
                  <a:lnTo>
                    <a:pt x="17" y="47"/>
                  </a:lnTo>
                  <a:lnTo>
                    <a:pt x="20" y="47"/>
                  </a:lnTo>
                  <a:lnTo>
                    <a:pt x="23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Freeform 10"/>
            <p:cNvSpPr>
              <a:spLocks noChangeArrowheads="1"/>
            </p:cNvSpPr>
            <p:nvPr/>
          </p:nvSpPr>
          <p:spPr bwMode="auto">
            <a:xfrm>
              <a:off x="3232" y="1748"/>
              <a:ext cx="47" cy="47"/>
            </a:xfrm>
            <a:custGeom>
              <a:avLst/>
              <a:gdLst>
                <a:gd name="T0" fmla="*/ 24 w 47"/>
                <a:gd name="T1" fmla="*/ 47 h 47"/>
                <a:gd name="T2" fmla="*/ 27 w 47"/>
                <a:gd name="T3" fmla="*/ 47 h 47"/>
                <a:gd name="T4" fmla="*/ 32 w 47"/>
                <a:gd name="T5" fmla="*/ 47 h 47"/>
                <a:gd name="T6" fmla="*/ 35 w 47"/>
                <a:gd name="T7" fmla="*/ 44 h 47"/>
                <a:gd name="T8" fmla="*/ 38 w 47"/>
                <a:gd name="T9" fmla="*/ 44 h 47"/>
                <a:gd name="T10" fmla="*/ 41 w 47"/>
                <a:gd name="T11" fmla="*/ 41 h 47"/>
                <a:gd name="T12" fmla="*/ 41 w 47"/>
                <a:gd name="T13" fmla="*/ 39 h 47"/>
                <a:gd name="T14" fmla="*/ 44 w 47"/>
                <a:gd name="T15" fmla="*/ 36 h 47"/>
                <a:gd name="T16" fmla="*/ 47 w 47"/>
                <a:gd name="T17" fmla="*/ 33 h 47"/>
                <a:gd name="T18" fmla="*/ 47 w 47"/>
                <a:gd name="T19" fmla="*/ 27 h 47"/>
                <a:gd name="T20" fmla="*/ 47 w 47"/>
                <a:gd name="T21" fmla="*/ 24 h 47"/>
                <a:gd name="T22" fmla="*/ 47 w 47"/>
                <a:gd name="T23" fmla="*/ 21 h 47"/>
                <a:gd name="T24" fmla="*/ 47 w 47"/>
                <a:gd name="T25" fmla="*/ 15 h 47"/>
                <a:gd name="T26" fmla="*/ 44 w 47"/>
                <a:gd name="T27" fmla="*/ 12 h 47"/>
                <a:gd name="T28" fmla="*/ 41 w 47"/>
                <a:gd name="T29" fmla="*/ 9 h 47"/>
                <a:gd name="T30" fmla="*/ 41 w 47"/>
                <a:gd name="T31" fmla="*/ 6 h 47"/>
                <a:gd name="T32" fmla="*/ 38 w 47"/>
                <a:gd name="T33" fmla="*/ 3 h 47"/>
                <a:gd name="T34" fmla="*/ 35 w 47"/>
                <a:gd name="T35" fmla="*/ 3 h 47"/>
                <a:gd name="T36" fmla="*/ 32 w 47"/>
                <a:gd name="T37" fmla="*/ 0 h 47"/>
                <a:gd name="T38" fmla="*/ 27 w 47"/>
                <a:gd name="T39" fmla="*/ 0 h 47"/>
                <a:gd name="T40" fmla="*/ 24 w 47"/>
                <a:gd name="T41" fmla="*/ 0 h 47"/>
                <a:gd name="T42" fmla="*/ 21 w 47"/>
                <a:gd name="T43" fmla="*/ 0 h 47"/>
                <a:gd name="T44" fmla="*/ 18 w 47"/>
                <a:gd name="T45" fmla="*/ 0 h 47"/>
                <a:gd name="T46" fmla="*/ 12 w 47"/>
                <a:gd name="T47" fmla="*/ 3 h 47"/>
                <a:gd name="T48" fmla="*/ 9 w 47"/>
                <a:gd name="T49" fmla="*/ 3 h 47"/>
                <a:gd name="T50" fmla="*/ 9 w 47"/>
                <a:gd name="T51" fmla="*/ 6 h 47"/>
                <a:gd name="T52" fmla="*/ 6 w 47"/>
                <a:gd name="T53" fmla="*/ 9 h 47"/>
                <a:gd name="T54" fmla="*/ 3 w 47"/>
                <a:gd name="T55" fmla="*/ 12 h 47"/>
                <a:gd name="T56" fmla="*/ 3 w 47"/>
                <a:gd name="T57" fmla="*/ 15 h 47"/>
                <a:gd name="T58" fmla="*/ 0 w 47"/>
                <a:gd name="T59" fmla="*/ 21 h 47"/>
                <a:gd name="T60" fmla="*/ 0 w 47"/>
                <a:gd name="T61" fmla="*/ 24 h 47"/>
                <a:gd name="T62" fmla="*/ 0 w 47"/>
                <a:gd name="T63" fmla="*/ 27 h 47"/>
                <a:gd name="T64" fmla="*/ 3 w 47"/>
                <a:gd name="T65" fmla="*/ 33 h 47"/>
                <a:gd name="T66" fmla="*/ 3 w 47"/>
                <a:gd name="T67" fmla="*/ 36 h 47"/>
                <a:gd name="T68" fmla="*/ 6 w 47"/>
                <a:gd name="T69" fmla="*/ 39 h 47"/>
                <a:gd name="T70" fmla="*/ 9 w 47"/>
                <a:gd name="T71" fmla="*/ 41 h 47"/>
                <a:gd name="T72" fmla="*/ 9 w 47"/>
                <a:gd name="T73" fmla="*/ 44 h 47"/>
                <a:gd name="T74" fmla="*/ 12 w 47"/>
                <a:gd name="T75" fmla="*/ 44 h 47"/>
                <a:gd name="T76" fmla="*/ 18 w 47"/>
                <a:gd name="T77" fmla="*/ 47 h 47"/>
                <a:gd name="T78" fmla="*/ 21 w 47"/>
                <a:gd name="T79" fmla="*/ 47 h 47"/>
                <a:gd name="T80" fmla="*/ 24 w 47"/>
                <a:gd name="T81" fmla="*/ 47 h 47"/>
                <a:gd name="T82" fmla="*/ 24 w 47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7"/>
                <a:gd name="T127" fmla="*/ 0 h 47"/>
                <a:gd name="T128" fmla="*/ 47 w 47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7" h="47">
                  <a:moveTo>
                    <a:pt x="24" y="47"/>
                  </a:moveTo>
                  <a:lnTo>
                    <a:pt x="27" y="47"/>
                  </a:lnTo>
                  <a:lnTo>
                    <a:pt x="32" y="47"/>
                  </a:lnTo>
                  <a:lnTo>
                    <a:pt x="35" y="44"/>
                  </a:lnTo>
                  <a:lnTo>
                    <a:pt x="38" y="44"/>
                  </a:lnTo>
                  <a:lnTo>
                    <a:pt x="41" y="41"/>
                  </a:lnTo>
                  <a:lnTo>
                    <a:pt x="41" y="39"/>
                  </a:lnTo>
                  <a:lnTo>
                    <a:pt x="44" y="36"/>
                  </a:lnTo>
                  <a:lnTo>
                    <a:pt x="47" y="33"/>
                  </a:lnTo>
                  <a:lnTo>
                    <a:pt x="47" y="27"/>
                  </a:lnTo>
                  <a:lnTo>
                    <a:pt x="47" y="24"/>
                  </a:lnTo>
                  <a:lnTo>
                    <a:pt x="47" y="21"/>
                  </a:lnTo>
                  <a:lnTo>
                    <a:pt x="47" y="15"/>
                  </a:lnTo>
                  <a:lnTo>
                    <a:pt x="44" y="12"/>
                  </a:lnTo>
                  <a:lnTo>
                    <a:pt x="41" y="9"/>
                  </a:lnTo>
                  <a:lnTo>
                    <a:pt x="41" y="6"/>
                  </a:lnTo>
                  <a:lnTo>
                    <a:pt x="38" y="3"/>
                  </a:lnTo>
                  <a:lnTo>
                    <a:pt x="35" y="3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9" y="6"/>
                  </a:lnTo>
                  <a:lnTo>
                    <a:pt x="6" y="9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3" y="33"/>
                  </a:lnTo>
                  <a:lnTo>
                    <a:pt x="3" y="36"/>
                  </a:lnTo>
                  <a:lnTo>
                    <a:pt x="6" y="39"/>
                  </a:lnTo>
                  <a:lnTo>
                    <a:pt x="9" y="41"/>
                  </a:lnTo>
                  <a:lnTo>
                    <a:pt x="9" y="44"/>
                  </a:lnTo>
                  <a:lnTo>
                    <a:pt x="12" y="44"/>
                  </a:lnTo>
                  <a:lnTo>
                    <a:pt x="18" y="47"/>
                  </a:lnTo>
                  <a:lnTo>
                    <a:pt x="21" y="47"/>
                  </a:lnTo>
                  <a:lnTo>
                    <a:pt x="24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Freeform 11"/>
            <p:cNvSpPr>
              <a:spLocks noChangeArrowheads="1"/>
            </p:cNvSpPr>
            <p:nvPr/>
          </p:nvSpPr>
          <p:spPr bwMode="auto">
            <a:xfrm>
              <a:off x="3170" y="1748"/>
              <a:ext cx="45" cy="47"/>
            </a:xfrm>
            <a:custGeom>
              <a:avLst/>
              <a:gdLst>
                <a:gd name="T0" fmla="*/ 21 w 45"/>
                <a:gd name="T1" fmla="*/ 47 h 47"/>
                <a:gd name="T2" fmla="*/ 27 w 45"/>
                <a:gd name="T3" fmla="*/ 47 h 47"/>
                <a:gd name="T4" fmla="*/ 30 w 45"/>
                <a:gd name="T5" fmla="*/ 47 h 47"/>
                <a:gd name="T6" fmla="*/ 33 w 45"/>
                <a:gd name="T7" fmla="*/ 44 h 47"/>
                <a:gd name="T8" fmla="*/ 36 w 45"/>
                <a:gd name="T9" fmla="*/ 44 h 47"/>
                <a:gd name="T10" fmla="*/ 39 w 45"/>
                <a:gd name="T11" fmla="*/ 41 h 47"/>
                <a:gd name="T12" fmla="*/ 42 w 45"/>
                <a:gd name="T13" fmla="*/ 39 h 47"/>
                <a:gd name="T14" fmla="*/ 45 w 45"/>
                <a:gd name="T15" fmla="*/ 36 h 47"/>
                <a:gd name="T16" fmla="*/ 45 w 45"/>
                <a:gd name="T17" fmla="*/ 33 h 47"/>
                <a:gd name="T18" fmla="*/ 45 w 45"/>
                <a:gd name="T19" fmla="*/ 27 h 47"/>
                <a:gd name="T20" fmla="*/ 45 w 45"/>
                <a:gd name="T21" fmla="*/ 24 h 47"/>
                <a:gd name="T22" fmla="*/ 45 w 45"/>
                <a:gd name="T23" fmla="*/ 21 h 47"/>
                <a:gd name="T24" fmla="*/ 45 w 45"/>
                <a:gd name="T25" fmla="*/ 15 h 47"/>
                <a:gd name="T26" fmla="*/ 45 w 45"/>
                <a:gd name="T27" fmla="*/ 12 h 47"/>
                <a:gd name="T28" fmla="*/ 42 w 45"/>
                <a:gd name="T29" fmla="*/ 9 h 47"/>
                <a:gd name="T30" fmla="*/ 39 w 45"/>
                <a:gd name="T31" fmla="*/ 6 h 47"/>
                <a:gd name="T32" fmla="*/ 36 w 45"/>
                <a:gd name="T33" fmla="*/ 3 h 47"/>
                <a:gd name="T34" fmla="*/ 33 w 45"/>
                <a:gd name="T35" fmla="*/ 3 h 47"/>
                <a:gd name="T36" fmla="*/ 30 w 45"/>
                <a:gd name="T37" fmla="*/ 0 h 47"/>
                <a:gd name="T38" fmla="*/ 27 w 45"/>
                <a:gd name="T39" fmla="*/ 0 h 47"/>
                <a:gd name="T40" fmla="*/ 24 w 45"/>
                <a:gd name="T41" fmla="*/ 0 h 47"/>
                <a:gd name="T42" fmla="*/ 18 w 45"/>
                <a:gd name="T43" fmla="*/ 0 h 47"/>
                <a:gd name="T44" fmla="*/ 15 w 45"/>
                <a:gd name="T45" fmla="*/ 0 h 47"/>
                <a:gd name="T46" fmla="*/ 12 w 45"/>
                <a:gd name="T47" fmla="*/ 3 h 47"/>
                <a:gd name="T48" fmla="*/ 9 w 45"/>
                <a:gd name="T49" fmla="*/ 3 h 47"/>
                <a:gd name="T50" fmla="*/ 6 w 45"/>
                <a:gd name="T51" fmla="*/ 6 h 47"/>
                <a:gd name="T52" fmla="*/ 3 w 45"/>
                <a:gd name="T53" fmla="*/ 9 h 47"/>
                <a:gd name="T54" fmla="*/ 3 w 45"/>
                <a:gd name="T55" fmla="*/ 12 h 47"/>
                <a:gd name="T56" fmla="*/ 0 w 45"/>
                <a:gd name="T57" fmla="*/ 15 h 47"/>
                <a:gd name="T58" fmla="*/ 0 w 45"/>
                <a:gd name="T59" fmla="*/ 21 h 47"/>
                <a:gd name="T60" fmla="*/ 0 w 45"/>
                <a:gd name="T61" fmla="*/ 24 h 47"/>
                <a:gd name="T62" fmla="*/ 0 w 45"/>
                <a:gd name="T63" fmla="*/ 27 h 47"/>
                <a:gd name="T64" fmla="*/ 0 w 45"/>
                <a:gd name="T65" fmla="*/ 33 h 47"/>
                <a:gd name="T66" fmla="*/ 3 w 45"/>
                <a:gd name="T67" fmla="*/ 36 h 47"/>
                <a:gd name="T68" fmla="*/ 3 w 45"/>
                <a:gd name="T69" fmla="*/ 39 h 47"/>
                <a:gd name="T70" fmla="*/ 6 w 45"/>
                <a:gd name="T71" fmla="*/ 41 h 47"/>
                <a:gd name="T72" fmla="*/ 9 w 45"/>
                <a:gd name="T73" fmla="*/ 44 h 47"/>
                <a:gd name="T74" fmla="*/ 12 w 45"/>
                <a:gd name="T75" fmla="*/ 44 h 47"/>
                <a:gd name="T76" fmla="*/ 15 w 45"/>
                <a:gd name="T77" fmla="*/ 47 h 47"/>
                <a:gd name="T78" fmla="*/ 18 w 45"/>
                <a:gd name="T79" fmla="*/ 47 h 47"/>
                <a:gd name="T80" fmla="*/ 24 w 45"/>
                <a:gd name="T81" fmla="*/ 47 h 47"/>
                <a:gd name="T82" fmla="*/ 24 w 45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5"/>
                <a:gd name="T127" fmla="*/ 0 h 47"/>
                <a:gd name="T128" fmla="*/ 45 w 45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5" h="47">
                  <a:moveTo>
                    <a:pt x="21" y="47"/>
                  </a:moveTo>
                  <a:lnTo>
                    <a:pt x="27" y="47"/>
                  </a:lnTo>
                  <a:lnTo>
                    <a:pt x="30" y="47"/>
                  </a:lnTo>
                  <a:lnTo>
                    <a:pt x="33" y="44"/>
                  </a:lnTo>
                  <a:lnTo>
                    <a:pt x="36" y="44"/>
                  </a:lnTo>
                  <a:lnTo>
                    <a:pt x="39" y="41"/>
                  </a:lnTo>
                  <a:lnTo>
                    <a:pt x="42" y="39"/>
                  </a:lnTo>
                  <a:lnTo>
                    <a:pt x="45" y="36"/>
                  </a:lnTo>
                  <a:lnTo>
                    <a:pt x="45" y="33"/>
                  </a:lnTo>
                  <a:lnTo>
                    <a:pt x="45" y="27"/>
                  </a:lnTo>
                  <a:lnTo>
                    <a:pt x="45" y="24"/>
                  </a:lnTo>
                  <a:lnTo>
                    <a:pt x="45" y="21"/>
                  </a:lnTo>
                  <a:lnTo>
                    <a:pt x="45" y="15"/>
                  </a:lnTo>
                  <a:lnTo>
                    <a:pt x="45" y="12"/>
                  </a:lnTo>
                  <a:lnTo>
                    <a:pt x="42" y="9"/>
                  </a:lnTo>
                  <a:lnTo>
                    <a:pt x="39" y="6"/>
                  </a:lnTo>
                  <a:lnTo>
                    <a:pt x="36" y="3"/>
                  </a:lnTo>
                  <a:lnTo>
                    <a:pt x="33" y="3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33"/>
                  </a:lnTo>
                  <a:lnTo>
                    <a:pt x="3" y="36"/>
                  </a:lnTo>
                  <a:lnTo>
                    <a:pt x="3" y="39"/>
                  </a:lnTo>
                  <a:lnTo>
                    <a:pt x="6" y="41"/>
                  </a:lnTo>
                  <a:lnTo>
                    <a:pt x="9" y="44"/>
                  </a:lnTo>
                  <a:lnTo>
                    <a:pt x="12" y="44"/>
                  </a:lnTo>
                  <a:lnTo>
                    <a:pt x="15" y="47"/>
                  </a:lnTo>
                  <a:lnTo>
                    <a:pt x="18" y="47"/>
                  </a:lnTo>
                  <a:lnTo>
                    <a:pt x="24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 flipV="1">
              <a:off x="3188" y="922"/>
              <a:ext cx="3" cy="819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Line 13"/>
            <p:cNvSpPr>
              <a:spLocks noChangeShapeType="1"/>
            </p:cNvSpPr>
            <p:nvPr/>
          </p:nvSpPr>
          <p:spPr bwMode="auto">
            <a:xfrm flipV="1">
              <a:off x="3256" y="1060"/>
              <a:ext cx="1" cy="686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14"/>
            <p:cNvSpPr>
              <a:spLocks noChangeShapeType="1"/>
            </p:cNvSpPr>
            <p:nvPr/>
          </p:nvSpPr>
          <p:spPr bwMode="auto">
            <a:xfrm flipV="1">
              <a:off x="3317" y="1207"/>
              <a:ext cx="1" cy="539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Line 15"/>
            <p:cNvSpPr>
              <a:spLocks noChangeShapeType="1"/>
            </p:cNvSpPr>
            <p:nvPr/>
          </p:nvSpPr>
          <p:spPr bwMode="auto">
            <a:xfrm flipV="1">
              <a:off x="3370" y="1363"/>
              <a:ext cx="1" cy="445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6"/>
            <p:cNvSpPr>
              <a:spLocks noChangeShapeType="1"/>
            </p:cNvSpPr>
            <p:nvPr/>
          </p:nvSpPr>
          <p:spPr bwMode="auto">
            <a:xfrm flipV="1">
              <a:off x="3429" y="1504"/>
              <a:ext cx="1" cy="24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 flipV="1">
              <a:off x="3491" y="1653"/>
              <a:ext cx="2" cy="9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8"/>
            <p:cNvSpPr>
              <a:spLocks noChangeArrowheads="1"/>
            </p:cNvSpPr>
            <p:nvPr/>
          </p:nvSpPr>
          <p:spPr bwMode="auto">
            <a:xfrm>
              <a:off x="3479" y="1640"/>
              <a:ext cx="29" cy="29"/>
            </a:xfrm>
            <a:custGeom>
              <a:avLst/>
              <a:gdLst>
                <a:gd name="T0" fmla="*/ 12 w 29"/>
                <a:gd name="T1" fmla="*/ 29 h 29"/>
                <a:gd name="T2" fmla="*/ 14 w 29"/>
                <a:gd name="T3" fmla="*/ 29 h 29"/>
                <a:gd name="T4" fmla="*/ 17 w 29"/>
                <a:gd name="T5" fmla="*/ 29 h 29"/>
                <a:gd name="T6" fmla="*/ 20 w 29"/>
                <a:gd name="T7" fmla="*/ 26 h 29"/>
                <a:gd name="T8" fmla="*/ 23 w 29"/>
                <a:gd name="T9" fmla="*/ 26 h 29"/>
                <a:gd name="T10" fmla="*/ 23 w 29"/>
                <a:gd name="T11" fmla="*/ 26 h 29"/>
                <a:gd name="T12" fmla="*/ 26 w 29"/>
                <a:gd name="T13" fmla="*/ 23 h 29"/>
                <a:gd name="T14" fmla="*/ 26 w 29"/>
                <a:gd name="T15" fmla="*/ 20 h 29"/>
                <a:gd name="T16" fmla="*/ 26 w 29"/>
                <a:gd name="T17" fmla="*/ 20 h 29"/>
                <a:gd name="T18" fmla="*/ 26 w 29"/>
                <a:gd name="T19" fmla="*/ 17 h 29"/>
                <a:gd name="T20" fmla="*/ 29 w 29"/>
                <a:gd name="T21" fmla="*/ 14 h 29"/>
                <a:gd name="T22" fmla="*/ 26 w 29"/>
                <a:gd name="T23" fmla="*/ 11 h 29"/>
                <a:gd name="T24" fmla="*/ 26 w 29"/>
                <a:gd name="T25" fmla="*/ 11 h 29"/>
                <a:gd name="T26" fmla="*/ 26 w 29"/>
                <a:gd name="T27" fmla="*/ 9 h 29"/>
                <a:gd name="T28" fmla="*/ 26 w 29"/>
                <a:gd name="T29" fmla="*/ 6 h 29"/>
                <a:gd name="T30" fmla="*/ 23 w 29"/>
                <a:gd name="T31" fmla="*/ 6 h 29"/>
                <a:gd name="T32" fmla="*/ 23 w 29"/>
                <a:gd name="T33" fmla="*/ 3 h 29"/>
                <a:gd name="T34" fmla="*/ 20 w 29"/>
                <a:gd name="T35" fmla="*/ 3 h 29"/>
                <a:gd name="T36" fmla="*/ 17 w 29"/>
                <a:gd name="T37" fmla="*/ 0 h 29"/>
                <a:gd name="T38" fmla="*/ 14 w 29"/>
                <a:gd name="T39" fmla="*/ 0 h 29"/>
                <a:gd name="T40" fmla="*/ 14 w 29"/>
                <a:gd name="T41" fmla="*/ 0 h 29"/>
                <a:gd name="T42" fmla="*/ 12 w 29"/>
                <a:gd name="T43" fmla="*/ 0 h 29"/>
                <a:gd name="T44" fmla="*/ 9 w 29"/>
                <a:gd name="T45" fmla="*/ 0 h 29"/>
                <a:gd name="T46" fmla="*/ 6 w 29"/>
                <a:gd name="T47" fmla="*/ 3 h 29"/>
                <a:gd name="T48" fmla="*/ 6 w 29"/>
                <a:gd name="T49" fmla="*/ 3 h 29"/>
                <a:gd name="T50" fmla="*/ 3 w 29"/>
                <a:gd name="T51" fmla="*/ 6 h 29"/>
                <a:gd name="T52" fmla="*/ 3 w 29"/>
                <a:gd name="T53" fmla="*/ 6 h 29"/>
                <a:gd name="T54" fmla="*/ 0 w 29"/>
                <a:gd name="T55" fmla="*/ 9 h 29"/>
                <a:gd name="T56" fmla="*/ 0 w 29"/>
                <a:gd name="T57" fmla="*/ 11 h 29"/>
                <a:gd name="T58" fmla="*/ 0 w 29"/>
                <a:gd name="T59" fmla="*/ 11 h 29"/>
                <a:gd name="T60" fmla="*/ 0 w 29"/>
                <a:gd name="T61" fmla="*/ 14 h 29"/>
                <a:gd name="T62" fmla="*/ 0 w 29"/>
                <a:gd name="T63" fmla="*/ 17 h 29"/>
                <a:gd name="T64" fmla="*/ 0 w 29"/>
                <a:gd name="T65" fmla="*/ 20 h 29"/>
                <a:gd name="T66" fmla="*/ 0 w 29"/>
                <a:gd name="T67" fmla="*/ 20 h 29"/>
                <a:gd name="T68" fmla="*/ 3 w 29"/>
                <a:gd name="T69" fmla="*/ 23 h 29"/>
                <a:gd name="T70" fmla="*/ 3 w 29"/>
                <a:gd name="T71" fmla="*/ 26 h 29"/>
                <a:gd name="T72" fmla="*/ 6 w 29"/>
                <a:gd name="T73" fmla="*/ 26 h 29"/>
                <a:gd name="T74" fmla="*/ 6 w 29"/>
                <a:gd name="T75" fmla="*/ 26 h 29"/>
                <a:gd name="T76" fmla="*/ 9 w 29"/>
                <a:gd name="T77" fmla="*/ 29 h 29"/>
                <a:gd name="T78" fmla="*/ 12 w 29"/>
                <a:gd name="T79" fmla="*/ 29 h 29"/>
                <a:gd name="T80" fmla="*/ 14 w 29"/>
                <a:gd name="T81" fmla="*/ 29 h 29"/>
                <a:gd name="T82" fmla="*/ 14 w 29"/>
                <a:gd name="T83" fmla="*/ 29 h 29"/>
                <a:gd name="T84" fmla="*/ 12 w 29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29"/>
                <a:gd name="T131" fmla="*/ 29 w 29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29">
                  <a:moveTo>
                    <a:pt x="12" y="29"/>
                  </a:moveTo>
                  <a:lnTo>
                    <a:pt x="14" y="29"/>
                  </a:lnTo>
                  <a:lnTo>
                    <a:pt x="17" y="29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6" y="23"/>
                  </a:lnTo>
                  <a:lnTo>
                    <a:pt x="26" y="20"/>
                  </a:lnTo>
                  <a:lnTo>
                    <a:pt x="26" y="17"/>
                  </a:lnTo>
                  <a:lnTo>
                    <a:pt x="29" y="14"/>
                  </a:lnTo>
                  <a:lnTo>
                    <a:pt x="26" y="11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6"/>
                  </a:lnTo>
                  <a:lnTo>
                    <a:pt x="23" y="3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3" y="26"/>
                  </a:lnTo>
                  <a:lnTo>
                    <a:pt x="6" y="26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2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19"/>
            <p:cNvSpPr>
              <a:spLocks noChangeArrowheads="1"/>
            </p:cNvSpPr>
            <p:nvPr/>
          </p:nvSpPr>
          <p:spPr bwMode="auto">
            <a:xfrm>
              <a:off x="3479" y="1640"/>
              <a:ext cx="29" cy="29"/>
            </a:xfrm>
            <a:custGeom>
              <a:avLst/>
              <a:gdLst>
                <a:gd name="T0" fmla="*/ 12 w 29"/>
                <a:gd name="T1" fmla="*/ 29 h 29"/>
                <a:gd name="T2" fmla="*/ 14 w 29"/>
                <a:gd name="T3" fmla="*/ 29 h 29"/>
                <a:gd name="T4" fmla="*/ 17 w 29"/>
                <a:gd name="T5" fmla="*/ 29 h 29"/>
                <a:gd name="T6" fmla="*/ 20 w 29"/>
                <a:gd name="T7" fmla="*/ 26 h 29"/>
                <a:gd name="T8" fmla="*/ 23 w 29"/>
                <a:gd name="T9" fmla="*/ 26 h 29"/>
                <a:gd name="T10" fmla="*/ 23 w 29"/>
                <a:gd name="T11" fmla="*/ 26 h 29"/>
                <a:gd name="T12" fmla="*/ 26 w 29"/>
                <a:gd name="T13" fmla="*/ 23 h 29"/>
                <a:gd name="T14" fmla="*/ 26 w 29"/>
                <a:gd name="T15" fmla="*/ 20 h 29"/>
                <a:gd name="T16" fmla="*/ 26 w 29"/>
                <a:gd name="T17" fmla="*/ 20 h 29"/>
                <a:gd name="T18" fmla="*/ 26 w 29"/>
                <a:gd name="T19" fmla="*/ 17 h 29"/>
                <a:gd name="T20" fmla="*/ 29 w 29"/>
                <a:gd name="T21" fmla="*/ 14 h 29"/>
                <a:gd name="T22" fmla="*/ 26 w 29"/>
                <a:gd name="T23" fmla="*/ 11 h 29"/>
                <a:gd name="T24" fmla="*/ 26 w 29"/>
                <a:gd name="T25" fmla="*/ 11 h 29"/>
                <a:gd name="T26" fmla="*/ 26 w 29"/>
                <a:gd name="T27" fmla="*/ 9 h 29"/>
                <a:gd name="T28" fmla="*/ 26 w 29"/>
                <a:gd name="T29" fmla="*/ 6 h 29"/>
                <a:gd name="T30" fmla="*/ 23 w 29"/>
                <a:gd name="T31" fmla="*/ 6 h 29"/>
                <a:gd name="T32" fmla="*/ 23 w 29"/>
                <a:gd name="T33" fmla="*/ 3 h 29"/>
                <a:gd name="T34" fmla="*/ 20 w 29"/>
                <a:gd name="T35" fmla="*/ 3 h 29"/>
                <a:gd name="T36" fmla="*/ 17 w 29"/>
                <a:gd name="T37" fmla="*/ 0 h 29"/>
                <a:gd name="T38" fmla="*/ 14 w 29"/>
                <a:gd name="T39" fmla="*/ 0 h 29"/>
                <a:gd name="T40" fmla="*/ 14 w 29"/>
                <a:gd name="T41" fmla="*/ 0 h 29"/>
                <a:gd name="T42" fmla="*/ 12 w 29"/>
                <a:gd name="T43" fmla="*/ 0 h 29"/>
                <a:gd name="T44" fmla="*/ 9 w 29"/>
                <a:gd name="T45" fmla="*/ 0 h 29"/>
                <a:gd name="T46" fmla="*/ 6 w 29"/>
                <a:gd name="T47" fmla="*/ 3 h 29"/>
                <a:gd name="T48" fmla="*/ 6 w 29"/>
                <a:gd name="T49" fmla="*/ 3 h 29"/>
                <a:gd name="T50" fmla="*/ 3 w 29"/>
                <a:gd name="T51" fmla="*/ 6 h 29"/>
                <a:gd name="T52" fmla="*/ 3 w 29"/>
                <a:gd name="T53" fmla="*/ 6 h 29"/>
                <a:gd name="T54" fmla="*/ 0 w 29"/>
                <a:gd name="T55" fmla="*/ 9 h 29"/>
                <a:gd name="T56" fmla="*/ 0 w 29"/>
                <a:gd name="T57" fmla="*/ 11 h 29"/>
                <a:gd name="T58" fmla="*/ 0 w 29"/>
                <a:gd name="T59" fmla="*/ 11 h 29"/>
                <a:gd name="T60" fmla="*/ 0 w 29"/>
                <a:gd name="T61" fmla="*/ 14 h 29"/>
                <a:gd name="T62" fmla="*/ 0 w 29"/>
                <a:gd name="T63" fmla="*/ 17 h 29"/>
                <a:gd name="T64" fmla="*/ 0 w 29"/>
                <a:gd name="T65" fmla="*/ 20 h 29"/>
                <a:gd name="T66" fmla="*/ 0 w 29"/>
                <a:gd name="T67" fmla="*/ 20 h 29"/>
                <a:gd name="T68" fmla="*/ 3 w 29"/>
                <a:gd name="T69" fmla="*/ 23 h 29"/>
                <a:gd name="T70" fmla="*/ 3 w 29"/>
                <a:gd name="T71" fmla="*/ 26 h 29"/>
                <a:gd name="T72" fmla="*/ 6 w 29"/>
                <a:gd name="T73" fmla="*/ 26 h 29"/>
                <a:gd name="T74" fmla="*/ 6 w 29"/>
                <a:gd name="T75" fmla="*/ 26 h 29"/>
                <a:gd name="T76" fmla="*/ 9 w 29"/>
                <a:gd name="T77" fmla="*/ 29 h 29"/>
                <a:gd name="T78" fmla="*/ 12 w 29"/>
                <a:gd name="T79" fmla="*/ 29 h 29"/>
                <a:gd name="T80" fmla="*/ 14 w 29"/>
                <a:gd name="T81" fmla="*/ 29 h 29"/>
                <a:gd name="T82" fmla="*/ 14 w 29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9"/>
                <a:gd name="T128" fmla="*/ 29 w 29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9">
                  <a:moveTo>
                    <a:pt x="12" y="29"/>
                  </a:moveTo>
                  <a:lnTo>
                    <a:pt x="14" y="29"/>
                  </a:lnTo>
                  <a:lnTo>
                    <a:pt x="17" y="29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6" y="23"/>
                  </a:lnTo>
                  <a:lnTo>
                    <a:pt x="26" y="20"/>
                  </a:lnTo>
                  <a:lnTo>
                    <a:pt x="26" y="17"/>
                  </a:lnTo>
                  <a:lnTo>
                    <a:pt x="29" y="14"/>
                  </a:lnTo>
                  <a:lnTo>
                    <a:pt x="26" y="11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6"/>
                  </a:lnTo>
                  <a:lnTo>
                    <a:pt x="23" y="3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3" y="26"/>
                  </a:lnTo>
                  <a:lnTo>
                    <a:pt x="6" y="26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4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Freeform 20"/>
            <p:cNvSpPr>
              <a:spLocks noChangeArrowheads="1"/>
            </p:cNvSpPr>
            <p:nvPr/>
          </p:nvSpPr>
          <p:spPr bwMode="auto">
            <a:xfrm>
              <a:off x="3417" y="1496"/>
              <a:ext cx="27" cy="26"/>
            </a:xfrm>
            <a:custGeom>
              <a:avLst/>
              <a:gdLst>
                <a:gd name="T0" fmla="*/ 12 w 27"/>
                <a:gd name="T1" fmla="*/ 26 h 26"/>
                <a:gd name="T2" fmla="*/ 15 w 27"/>
                <a:gd name="T3" fmla="*/ 26 h 26"/>
                <a:gd name="T4" fmla="*/ 18 w 27"/>
                <a:gd name="T5" fmla="*/ 26 h 26"/>
                <a:gd name="T6" fmla="*/ 21 w 27"/>
                <a:gd name="T7" fmla="*/ 26 h 26"/>
                <a:gd name="T8" fmla="*/ 21 w 27"/>
                <a:gd name="T9" fmla="*/ 26 h 26"/>
                <a:gd name="T10" fmla="*/ 24 w 27"/>
                <a:gd name="T11" fmla="*/ 23 h 26"/>
                <a:gd name="T12" fmla="*/ 24 w 27"/>
                <a:gd name="T13" fmla="*/ 20 h 26"/>
                <a:gd name="T14" fmla="*/ 27 w 27"/>
                <a:gd name="T15" fmla="*/ 20 h 26"/>
                <a:gd name="T16" fmla="*/ 27 w 27"/>
                <a:gd name="T17" fmla="*/ 17 h 26"/>
                <a:gd name="T18" fmla="*/ 27 w 27"/>
                <a:gd name="T19" fmla="*/ 15 h 26"/>
                <a:gd name="T20" fmla="*/ 27 w 27"/>
                <a:gd name="T21" fmla="*/ 15 h 26"/>
                <a:gd name="T22" fmla="*/ 27 w 27"/>
                <a:gd name="T23" fmla="*/ 12 h 26"/>
                <a:gd name="T24" fmla="*/ 27 w 27"/>
                <a:gd name="T25" fmla="*/ 9 h 26"/>
                <a:gd name="T26" fmla="*/ 27 w 27"/>
                <a:gd name="T27" fmla="*/ 6 h 26"/>
                <a:gd name="T28" fmla="*/ 24 w 27"/>
                <a:gd name="T29" fmla="*/ 6 h 26"/>
                <a:gd name="T30" fmla="*/ 24 w 27"/>
                <a:gd name="T31" fmla="*/ 3 h 26"/>
                <a:gd name="T32" fmla="*/ 21 w 27"/>
                <a:gd name="T33" fmla="*/ 3 h 26"/>
                <a:gd name="T34" fmla="*/ 21 w 27"/>
                <a:gd name="T35" fmla="*/ 0 h 26"/>
                <a:gd name="T36" fmla="*/ 18 w 27"/>
                <a:gd name="T37" fmla="*/ 0 h 26"/>
                <a:gd name="T38" fmla="*/ 15 w 27"/>
                <a:gd name="T39" fmla="*/ 0 h 26"/>
                <a:gd name="T40" fmla="*/ 12 w 27"/>
                <a:gd name="T41" fmla="*/ 0 h 26"/>
                <a:gd name="T42" fmla="*/ 12 w 27"/>
                <a:gd name="T43" fmla="*/ 0 h 26"/>
                <a:gd name="T44" fmla="*/ 9 w 27"/>
                <a:gd name="T45" fmla="*/ 0 h 26"/>
                <a:gd name="T46" fmla="*/ 6 w 27"/>
                <a:gd name="T47" fmla="*/ 0 h 26"/>
                <a:gd name="T48" fmla="*/ 6 w 27"/>
                <a:gd name="T49" fmla="*/ 3 h 26"/>
                <a:gd name="T50" fmla="*/ 3 w 27"/>
                <a:gd name="T51" fmla="*/ 3 h 26"/>
                <a:gd name="T52" fmla="*/ 0 w 27"/>
                <a:gd name="T53" fmla="*/ 6 h 26"/>
                <a:gd name="T54" fmla="*/ 0 w 27"/>
                <a:gd name="T55" fmla="*/ 6 h 26"/>
                <a:gd name="T56" fmla="*/ 0 w 27"/>
                <a:gd name="T57" fmla="*/ 9 h 26"/>
                <a:gd name="T58" fmla="*/ 0 w 27"/>
                <a:gd name="T59" fmla="*/ 12 h 26"/>
                <a:gd name="T60" fmla="*/ 0 w 27"/>
                <a:gd name="T61" fmla="*/ 15 h 26"/>
                <a:gd name="T62" fmla="*/ 0 w 27"/>
                <a:gd name="T63" fmla="*/ 15 h 26"/>
                <a:gd name="T64" fmla="*/ 0 w 27"/>
                <a:gd name="T65" fmla="*/ 17 h 26"/>
                <a:gd name="T66" fmla="*/ 0 w 27"/>
                <a:gd name="T67" fmla="*/ 20 h 26"/>
                <a:gd name="T68" fmla="*/ 0 w 27"/>
                <a:gd name="T69" fmla="*/ 20 h 26"/>
                <a:gd name="T70" fmla="*/ 3 w 27"/>
                <a:gd name="T71" fmla="*/ 23 h 26"/>
                <a:gd name="T72" fmla="*/ 6 w 27"/>
                <a:gd name="T73" fmla="*/ 26 h 26"/>
                <a:gd name="T74" fmla="*/ 6 w 27"/>
                <a:gd name="T75" fmla="*/ 26 h 26"/>
                <a:gd name="T76" fmla="*/ 9 w 27"/>
                <a:gd name="T77" fmla="*/ 26 h 26"/>
                <a:gd name="T78" fmla="*/ 12 w 27"/>
                <a:gd name="T79" fmla="*/ 26 h 26"/>
                <a:gd name="T80" fmla="*/ 12 w 27"/>
                <a:gd name="T81" fmla="*/ 26 h 26"/>
                <a:gd name="T82" fmla="*/ 12 w 27"/>
                <a:gd name="T83" fmla="*/ 26 h 2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7"/>
                <a:gd name="T127" fmla="*/ 0 h 26"/>
                <a:gd name="T128" fmla="*/ 27 w 27"/>
                <a:gd name="T129" fmla="*/ 26 h 2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7" h="26">
                  <a:moveTo>
                    <a:pt x="12" y="26"/>
                  </a:moveTo>
                  <a:lnTo>
                    <a:pt x="15" y="26"/>
                  </a:lnTo>
                  <a:lnTo>
                    <a:pt x="18" y="26"/>
                  </a:lnTo>
                  <a:lnTo>
                    <a:pt x="21" y="26"/>
                  </a:lnTo>
                  <a:lnTo>
                    <a:pt x="24" y="23"/>
                  </a:lnTo>
                  <a:lnTo>
                    <a:pt x="24" y="20"/>
                  </a:lnTo>
                  <a:lnTo>
                    <a:pt x="27" y="20"/>
                  </a:lnTo>
                  <a:lnTo>
                    <a:pt x="27" y="17"/>
                  </a:lnTo>
                  <a:lnTo>
                    <a:pt x="27" y="15"/>
                  </a:lnTo>
                  <a:lnTo>
                    <a:pt x="27" y="12"/>
                  </a:lnTo>
                  <a:lnTo>
                    <a:pt x="27" y="9"/>
                  </a:lnTo>
                  <a:lnTo>
                    <a:pt x="27" y="6"/>
                  </a:lnTo>
                  <a:lnTo>
                    <a:pt x="24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Freeform 21"/>
            <p:cNvSpPr>
              <a:spLocks noChangeArrowheads="1"/>
            </p:cNvSpPr>
            <p:nvPr/>
          </p:nvSpPr>
          <p:spPr bwMode="auto">
            <a:xfrm>
              <a:off x="3417" y="1496"/>
              <a:ext cx="27" cy="26"/>
            </a:xfrm>
            <a:custGeom>
              <a:avLst/>
              <a:gdLst>
                <a:gd name="T0" fmla="*/ 12 w 27"/>
                <a:gd name="T1" fmla="*/ 26 h 26"/>
                <a:gd name="T2" fmla="*/ 15 w 27"/>
                <a:gd name="T3" fmla="*/ 26 h 26"/>
                <a:gd name="T4" fmla="*/ 18 w 27"/>
                <a:gd name="T5" fmla="*/ 26 h 26"/>
                <a:gd name="T6" fmla="*/ 21 w 27"/>
                <a:gd name="T7" fmla="*/ 26 h 26"/>
                <a:gd name="T8" fmla="*/ 21 w 27"/>
                <a:gd name="T9" fmla="*/ 26 h 26"/>
                <a:gd name="T10" fmla="*/ 24 w 27"/>
                <a:gd name="T11" fmla="*/ 23 h 26"/>
                <a:gd name="T12" fmla="*/ 24 w 27"/>
                <a:gd name="T13" fmla="*/ 20 h 26"/>
                <a:gd name="T14" fmla="*/ 27 w 27"/>
                <a:gd name="T15" fmla="*/ 20 h 26"/>
                <a:gd name="T16" fmla="*/ 27 w 27"/>
                <a:gd name="T17" fmla="*/ 17 h 26"/>
                <a:gd name="T18" fmla="*/ 27 w 27"/>
                <a:gd name="T19" fmla="*/ 15 h 26"/>
                <a:gd name="T20" fmla="*/ 27 w 27"/>
                <a:gd name="T21" fmla="*/ 15 h 26"/>
                <a:gd name="T22" fmla="*/ 27 w 27"/>
                <a:gd name="T23" fmla="*/ 12 h 26"/>
                <a:gd name="T24" fmla="*/ 27 w 27"/>
                <a:gd name="T25" fmla="*/ 9 h 26"/>
                <a:gd name="T26" fmla="*/ 27 w 27"/>
                <a:gd name="T27" fmla="*/ 6 h 26"/>
                <a:gd name="T28" fmla="*/ 24 w 27"/>
                <a:gd name="T29" fmla="*/ 6 h 26"/>
                <a:gd name="T30" fmla="*/ 24 w 27"/>
                <a:gd name="T31" fmla="*/ 3 h 26"/>
                <a:gd name="T32" fmla="*/ 21 w 27"/>
                <a:gd name="T33" fmla="*/ 3 h 26"/>
                <a:gd name="T34" fmla="*/ 21 w 27"/>
                <a:gd name="T35" fmla="*/ 0 h 26"/>
                <a:gd name="T36" fmla="*/ 18 w 27"/>
                <a:gd name="T37" fmla="*/ 0 h 26"/>
                <a:gd name="T38" fmla="*/ 15 w 27"/>
                <a:gd name="T39" fmla="*/ 0 h 26"/>
                <a:gd name="T40" fmla="*/ 12 w 27"/>
                <a:gd name="T41" fmla="*/ 0 h 26"/>
                <a:gd name="T42" fmla="*/ 12 w 27"/>
                <a:gd name="T43" fmla="*/ 0 h 26"/>
                <a:gd name="T44" fmla="*/ 9 w 27"/>
                <a:gd name="T45" fmla="*/ 0 h 26"/>
                <a:gd name="T46" fmla="*/ 6 w 27"/>
                <a:gd name="T47" fmla="*/ 0 h 26"/>
                <a:gd name="T48" fmla="*/ 6 w 27"/>
                <a:gd name="T49" fmla="*/ 3 h 26"/>
                <a:gd name="T50" fmla="*/ 3 w 27"/>
                <a:gd name="T51" fmla="*/ 3 h 26"/>
                <a:gd name="T52" fmla="*/ 0 w 27"/>
                <a:gd name="T53" fmla="*/ 6 h 26"/>
                <a:gd name="T54" fmla="*/ 0 w 27"/>
                <a:gd name="T55" fmla="*/ 6 h 26"/>
                <a:gd name="T56" fmla="*/ 0 w 27"/>
                <a:gd name="T57" fmla="*/ 9 h 26"/>
                <a:gd name="T58" fmla="*/ 0 w 27"/>
                <a:gd name="T59" fmla="*/ 12 h 26"/>
                <a:gd name="T60" fmla="*/ 0 w 27"/>
                <a:gd name="T61" fmla="*/ 15 h 26"/>
                <a:gd name="T62" fmla="*/ 0 w 27"/>
                <a:gd name="T63" fmla="*/ 15 h 26"/>
                <a:gd name="T64" fmla="*/ 0 w 27"/>
                <a:gd name="T65" fmla="*/ 17 h 26"/>
                <a:gd name="T66" fmla="*/ 0 w 27"/>
                <a:gd name="T67" fmla="*/ 20 h 26"/>
                <a:gd name="T68" fmla="*/ 0 w 27"/>
                <a:gd name="T69" fmla="*/ 20 h 26"/>
                <a:gd name="T70" fmla="*/ 3 w 27"/>
                <a:gd name="T71" fmla="*/ 23 h 26"/>
                <a:gd name="T72" fmla="*/ 6 w 27"/>
                <a:gd name="T73" fmla="*/ 26 h 26"/>
                <a:gd name="T74" fmla="*/ 6 w 27"/>
                <a:gd name="T75" fmla="*/ 26 h 26"/>
                <a:gd name="T76" fmla="*/ 9 w 27"/>
                <a:gd name="T77" fmla="*/ 26 h 26"/>
                <a:gd name="T78" fmla="*/ 12 w 27"/>
                <a:gd name="T79" fmla="*/ 26 h 26"/>
                <a:gd name="T80" fmla="*/ 12 w 27"/>
                <a:gd name="T81" fmla="*/ 26 h 26"/>
                <a:gd name="T82" fmla="*/ 12 w 27"/>
                <a:gd name="T83" fmla="*/ 26 h 2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7"/>
                <a:gd name="T127" fmla="*/ 0 h 26"/>
                <a:gd name="T128" fmla="*/ 27 w 27"/>
                <a:gd name="T129" fmla="*/ 26 h 2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7" h="26">
                  <a:moveTo>
                    <a:pt x="12" y="26"/>
                  </a:moveTo>
                  <a:lnTo>
                    <a:pt x="15" y="26"/>
                  </a:lnTo>
                  <a:lnTo>
                    <a:pt x="18" y="26"/>
                  </a:lnTo>
                  <a:lnTo>
                    <a:pt x="21" y="26"/>
                  </a:lnTo>
                  <a:lnTo>
                    <a:pt x="24" y="23"/>
                  </a:lnTo>
                  <a:lnTo>
                    <a:pt x="24" y="20"/>
                  </a:lnTo>
                  <a:lnTo>
                    <a:pt x="27" y="20"/>
                  </a:lnTo>
                  <a:lnTo>
                    <a:pt x="27" y="17"/>
                  </a:lnTo>
                  <a:lnTo>
                    <a:pt x="27" y="15"/>
                  </a:lnTo>
                  <a:lnTo>
                    <a:pt x="27" y="12"/>
                  </a:lnTo>
                  <a:lnTo>
                    <a:pt x="27" y="9"/>
                  </a:lnTo>
                  <a:lnTo>
                    <a:pt x="27" y="6"/>
                  </a:lnTo>
                  <a:lnTo>
                    <a:pt x="24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6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22"/>
            <p:cNvSpPr>
              <a:spLocks noChangeArrowheads="1"/>
            </p:cNvSpPr>
            <p:nvPr/>
          </p:nvSpPr>
          <p:spPr bwMode="auto">
            <a:xfrm>
              <a:off x="3355" y="1343"/>
              <a:ext cx="30" cy="30"/>
            </a:xfrm>
            <a:custGeom>
              <a:avLst/>
              <a:gdLst>
                <a:gd name="T0" fmla="*/ 15 w 30"/>
                <a:gd name="T1" fmla="*/ 30 h 30"/>
                <a:gd name="T2" fmla="*/ 18 w 30"/>
                <a:gd name="T3" fmla="*/ 30 h 30"/>
                <a:gd name="T4" fmla="*/ 21 w 30"/>
                <a:gd name="T5" fmla="*/ 30 h 30"/>
                <a:gd name="T6" fmla="*/ 21 w 30"/>
                <a:gd name="T7" fmla="*/ 30 h 30"/>
                <a:gd name="T8" fmla="*/ 24 w 30"/>
                <a:gd name="T9" fmla="*/ 27 h 30"/>
                <a:gd name="T10" fmla="*/ 24 w 30"/>
                <a:gd name="T11" fmla="*/ 27 h 30"/>
                <a:gd name="T12" fmla="*/ 27 w 30"/>
                <a:gd name="T13" fmla="*/ 24 h 30"/>
                <a:gd name="T14" fmla="*/ 27 w 30"/>
                <a:gd name="T15" fmla="*/ 24 h 30"/>
                <a:gd name="T16" fmla="*/ 30 w 30"/>
                <a:gd name="T17" fmla="*/ 21 h 30"/>
                <a:gd name="T18" fmla="*/ 30 w 30"/>
                <a:gd name="T19" fmla="*/ 18 h 30"/>
                <a:gd name="T20" fmla="*/ 30 w 30"/>
                <a:gd name="T21" fmla="*/ 15 h 30"/>
                <a:gd name="T22" fmla="*/ 30 w 30"/>
                <a:gd name="T23" fmla="*/ 15 h 30"/>
                <a:gd name="T24" fmla="*/ 30 w 30"/>
                <a:gd name="T25" fmla="*/ 12 h 30"/>
                <a:gd name="T26" fmla="*/ 27 w 30"/>
                <a:gd name="T27" fmla="*/ 9 h 30"/>
                <a:gd name="T28" fmla="*/ 27 w 30"/>
                <a:gd name="T29" fmla="*/ 6 h 30"/>
                <a:gd name="T30" fmla="*/ 24 w 30"/>
                <a:gd name="T31" fmla="*/ 6 h 30"/>
                <a:gd name="T32" fmla="*/ 24 w 30"/>
                <a:gd name="T33" fmla="*/ 3 h 30"/>
                <a:gd name="T34" fmla="*/ 21 w 30"/>
                <a:gd name="T35" fmla="*/ 3 h 30"/>
                <a:gd name="T36" fmla="*/ 21 w 30"/>
                <a:gd name="T37" fmla="*/ 3 h 30"/>
                <a:gd name="T38" fmla="*/ 18 w 30"/>
                <a:gd name="T39" fmla="*/ 3 h 30"/>
                <a:gd name="T40" fmla="*/ 15 w 30"/>
                <a:gd name="T41" fmla="*/ 0 h 30"/>
                <a:gd name="T42" fmla="*/ 12 w 30"/>
                <a:gd name="T43" fmla="*/ 3 h 30"/>
                <a:gd name="T44" fmla="*/ 9 w 30"/>
                <a:gd name="T45" fmla="*/ 3 h 30"/>
                <a:gd name="T46" fmla="*/ 9 w 30"/>
                <a:gd name="T47" fmla="*/ 3 h 30"/>
                <a:gd name="T48" fmla="*/ 6 w 30"/>
                <a:gd name="T49" fmla="*/ 3 h 30"/>
                <a:gd name="T50" fmla="*/ 3 w 30"/>
                <a:gd name="T51" fmla="*/ 6 h 30"/>
                <a:gd name="T52" fmla="*/ 3 w 30"/>
                <a:gd name="T53" fmla="*/ 6 h 30"/>
                <a:gd name="T54" fmla="*/ 3 w 30"/>
                <a:gd name="T55" fmla="*/ 9 h 30"/>
                <a:gd name="T56" fmla="*/ 0 w 30"/>
                <a:gd name="T57" fmla="*/ 12 h 30"/>
                <a:gd name="T58" fmla="*/ 0 w 30"/>
                <a:gd name="T59" fmla="*/ 15 h 30"/>
                <a:gd name="T60" fmla="*/ 0 w 30"/>
                <a:gd name="T61" fmla="*/ 15 h 30"/>
                <a:gd name="T62" fmla="*/ 0 w 30"/>
                <a:gd name="T63" fmla="*/ 18 h 30"/>
                <a:gd name="T64" fmla="*/ 0 w 30"/>
                <a:gd name="T65" fmla="*/ 21 h 30"/>
                <a:gd name="T66" fmla="*/ 3 w 30"/>
                <a:gd name="T67" fmla="*/ 24 h 30"/>
                <a:gd name="T68" fmla="*/ 3 w 30"/>
                <a:gd name="T69" fmla="*/ 24 h 30"/>
                <a:gd name="T70" fmla="*/ 3 w 30"/>
                <a:gd name="T71" fmla="*/ 27 h 30"/>
                <a:gd name="T72" fmla="*/ 6 w 30"/>
                <a:gd name="T73" fmla="*/ 27 h 30"/>
                <a:gd name="T74" fmla="*/ 9 w 30"/>
                <a:gd name="T75" fmla="*/ 30 h 30"/>
                <a:gd name="T76" fmla="*/ 9 w 30"/>
                <a:gd name="T77" fmla="*/ 30 h 30"/>
                <a:gd name="T78" fmla="*/ 12 w 30"/>
                <a:gd name="T79" fmla="*/ 30 h 30"/>
                <a:gd name="T80" fmla="*/ 15 w 30"/>
                <a:gd name="T81" fmla="*/ 30 h 30"/>
                <a:gd name="T82" fmla="*/ 15 w 30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30"/>
                <a:gd name="T128" fmla="*/ 30 w 30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30">
                  <a:moveTo>
                    <a:pt x="15" y="30"/>
                  </a:moveTo>
                  <a:lnTo>
                    <a:pt x="18" y="30"/>
                  </a:lnTo>
                  <a:lnTo>
                    <a:pt x="21" y="30"/>
                  </a:lnTo>
                  <a:lnTo>
                    <a:pt x="24" y="27"/>
                  </a:lnTo>
                  <a:lnTo>
                    <a:pt x="27" y="24"/>
                  </a:lnTo>
                  <a:lnTo>
                    <a:pt x="30" y="21"/>
                  </a:lnTo>
                  <a:lnTo>
                    <a:pt x="30" y="18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7" y="9"/>
                  </a:lnTo>
                  <a:lnTo>
                    <a:pt x="27" y="6"/>
                  </a:lnTo>
                  <a:lnTo>
                    <a:pt x="24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3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2" y="30"/>
                  </a:lnTo>
                  <a:lnTo>
                    <a:pt x="15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Freeform 23"/>
            <p:cNvSpPr>
              <a:spLocks noChangeArrowheads="1"/>
            </p:cNvSpPr>
            <p:nvPr/>
          </p:nvSpPr>
          <p:spPr bwMode="auto">
            <a:xfrm>
              <a:off x="3355" y="1343"/>
              <a:ext cx="30" cy="30"/>
            </a:xfrm>
            <a:custGeom>
              <a:avLst/>
              <a:gdLst>
                <a:gd name="T0" fmla="*/ 15 w 30"/>
                <a:gd name="T1" fmla="*/ 30 h 30"/>
                <a:gd name="T2" fmla="*/ 18 w 30"/>
                <a:gd name="T3" fmla="*/ 30 h 30"/>
                <a:gd name="T4" fmla="*/ 21 w 30"/>
                <a:gd name="T5" fmla="*/ 30 h 30"/>
                <a:gd name="T6" fmla="*/ 21 w 30"/>
                <a:gd name="T7" fmla="*/ 30 h 30"/>
                <a:gd name="T8" fmla="*/ 24 w 30"/>
                <a:gd name="T9" fmla="*/ 27 h 30"/>
                <a:gd name="T10" fmla="*/ 24 w 30"/>
                <a:gd name="T11" fmla="*/ 27 h 30"/>
                <a:gd name="T12" fmla="*/ 27 w 30"/>
                <a:gd name="T13" fmla="*/ 24 h 30"/>
                <a:gd name="T14" fmla="*/ 27 w 30"/>
                <a:gd name="T15" fmla="*/ 24 h 30"/>
                <a:gd name="T16" fmla="*/ 30 w 30"/>
                <a:gd name="T17" fmla="*/ 21 h 30"/>
                <a:gd name="T18" fmla="*/ 30 w 30"/>
                <a:gd name="T19" fmla="*/ 18 h 30"/>
                <a:gd name="T20" fmla="*/ 30 w 30"/>
                <a:gd name="T21" fmla="*/ 15 h 30"/>
                <a:gd name="T22" fmla="*/ 30 w 30"/>
                <a:gd name="T23" fmla="*/ 15 h 30"/>
                <a:gd name="T24" fmla="*/ 30 w 30"/>
                <a:gd name="T25" fmla="*/ 12 h 30"/>
                <a:gd name="T26" fmla="*/ 27 w 30"/>
                <a:gd name="T27" fmla="*/ 9 h 30"/>
                <a:gd name="T28" fmla="*/ 27 w 30"/>
                <a:gd name="T29" fmla="*/ 6 h 30"/>
                <a:gd name="T30" fmla="*/ 24 w 30"/>
                <a:gd name="T31" fmla="*/ 6 h 30"/>
                <a:gd name="T32" fmla="*/ 24 w 30"/>
                <a:gd name="T33" fmla="*/ 3 h 30"/>
                <a:gd name="T34" fmla="*/ 21 w 30"/>
                <a:gd name="T35" fmla="*/ 3 h 30"/>
                <a:gd name="T36" fmla="*/ 21 w 30"/>
                <a:gd name="T37" fmla="*/ 3 h 30"/>
                <a:gd name="T38" fmla="*/ 18 w 30"/>
                <a:gd name="T39" fmla="*/ 3 h 30"/>
                <a:gd name="T40" fmla="*/ 15 w 30"/>
                <a:gd name="T41" fmla="*/ 0 h 30"/>
                <a:gd name="T42" fmla="*/ 12 w 30"/>
                <a:gd name="T43" fmla="*/ 3 h 30"/>
                <a:gd name="T44" fmla="*/ 9 w 30"/>
                <a:gd name="T45" fmla="*/ 3 h 30"/>
                <a:gd name="T46" fmla="*/ 9 w 30"/>
                <a:gd name="T47" fmla="*/ 3 h 30"/>
                <a:gd name="T48" fmla="*/ 6 w 30"/>
                <a:gd name="T49" fmla="*/ 3 h 30"/>
                <a:gd name="T50" fmla="*/ 3 w 30"/>
                <a:gd name="T51" fmla="*/ 6 h 30"/>
                <a:gd name="T52" fmla="*/ 3 w 30"/>
                <a:gd name="T53" fmla="*/ 6 h 30"/>
                <a:gd name="T54" fmla="*/ 3 w 30"/>
                <a:gd name="T55" fmla="*/ 9 h 30"/>
                <a:gd name="T56" fmla="*/ 0 w 30"/>
                <a:gd name="T57" fmla="*/ 12 h 30"/>
                <a:gd name="T58" fmla="*/ 0 w 30"/>
                <a:gd name="T59" fmla="*/ 15 h 30"/>
                <a:gd name="T60" fmla="*/ 0 w 30"/>
                <a:gd name="T61" fmla="*/ 15 h 30"/>
                <a:gd name="T62" fmla="*/ 0 w 30"/>
                <a:gd name="T63" fmla="*/ 18 h 30"/>
                <a:gd name="T64" fmla="*/ 0 w 30"/>
                <a:gd name="T65" fmla="*/ 21 h 30"/>
                <a:gd name="T66" fmla="*/ 3 w 30"/>
                <a:gd name="T67" fmla="*/ 24 h 30"/>
                <a:gd name="T68" fmla="*/ 3 w 30"/>
                <a:gd name="T69" fmla="*/ 24 h 30"/>
                <a:gd name="T70" fmla="*/ 3 w 30"/>
                <a:gd name="T71" fmla="*/ 27 h 30"/>
                <a:gd name="T72" fmla="*/ 6 w 30"/>
                <a:gd name="T73" fmla="*/ 27 h 30"/>
                <a:gd name="T74" fmla="*/ 9 w 30"/>
                <a:gd name="T75" fmla="*/ 30 h 30"/>
                <a:gd name="T76" fmla="*/ 9 w 30"/>
                <a:gd name="T77" fmla="*/ 30 h 30"/>
                <a:gd name="T78" fmla="*/ 12 w 30"/>
                <a:gd name="T79" fmla="*/ 30 h 30"/>
                <a:gd name="T80" fmla="*/ 15 w 30"/>
                <a:gd name="T81" fmla="*/ 30 h 30"/>
                <a:gd name="T82" fmla="*/ 15 w 30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30"/>
                <a:gd name="T128" fmla="*/ 30 w 30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30">
                  <a:moveTo>
                    <a:pt x="15" y="30"/>
                  </a:moveTo>
                  <a:lnTo>
                    <a:pt x="18" y="30"/>
                  </a:lnTo>
                  <a:lnTo>
                    <a:pt x="21" y="30"/>
                  </a:lnTo>
                  <a:lnTo>
                    <a:pt x="24" y="27"/>
                  </a:lnTo>
                  <a:lnTo>
                    <a:pt x="27" y="24"/>
                  </a:lnTo>
                  <a:lnTo>
                    <a:pt x="30" y="21"/>
                  </a:lnTo>
                  <a:lnTo>
                    <a:pt x="30" y="18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7" y="9"/>
                  </a:lnTo>
                  <a:lnTo>
                    <a:pt x="27" y="6"/>
                  </a:lnTo>
                  <a:lnTo>
                    <a:pt x="24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3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2" y="30"/>
                  </a:lnTo>
                  <a:lnTo>
                    <a:pt x="15" y="3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Freeform 24"/>
            <p:cNvSpPr>
              <a:spLocks noChangeArrowheads="1"/>
            </p:cNvSpPr>
            <p:nvPr/>
          </p:nvSpPr>
          <p:spPr bwMode="auto">
            <a:xfrm>
              <a:off x="3303" y="1193"/>
              <a:ext cx="29" cy="30"/>
            </a:xfrm>
            <a:custGeom>
              <a:avLst/>
              <a:gdLst>
                <a:gd name="T0" fmla="*/ 14 w 29"/>
                <a:gd name="T1" fmla="*/ 27 h 30"/>
                <a:gd name="T2" fmla="*/ 17 w 29"/>
                <a:gd name="T3" fmla="*/ 30 h 30"/>
                <a:gd name="T4" fmla="*/ 20 w 29"/>
                <a:gd name="T5" fmla="*/ 30 h 30"/>
                <a:gd name="T6" fmla="*/ 23 w 29"/>
                <a:gd name="T7" fmla="*/ 27 h 30"/>
                <a:gd name="T8" fmla="*/ 23 w 29"/>
                <a:gd name="T9" fmla="*/ 27 h 30"/>
                <a:gd name="T10" fmla="*/ 26 w 29"/>
                <a:gd name="T11" fmla="*/ 24 h 30"/>
                <a:gd name="T12" fmla="*/ 26 w 29"/>
                <a:gd name="T13" fmla="*/ 24 h 30"/>
                <a:gd name="T14" fmla="*/ 29 w 29"/>
                <a:gd name="T15" fmla="*/ 21 h 30"/>
                <a:gd name="T16" fmla="*/ 29 w 29"/>
                <a:gd name="T17" fmla="*/ 21 h 30"/>
                <a:gd name="T18" fmla="*/ 29 w 29"/>
                <a:gd name="T19" fmla="*/ 18 h 30"/>
                <a:gd name="T20" fmla="*/ 29 w 29"/>
                <a:gd name="T21" fmla="*/ 15 h 30"/>
                <a:gd name="T22" fmla="*/ 29 w 29"/>
                <a:gd name="T23" fmla="*/ 12 h 30"/>
                <a:gd name="T24" fmla="*/ 29 w 29"/>
                <a:gd name="T25" fmla="*/ 9 h 30"/>
                <a:gd name="T26" fmla="*/ 29 w 29"/>
                <a:gd name="T27" fmla="*/ 9 h 30"/>
                <a:gd name="T28" fmla="*/ 26 w 29"/>
                <a:gd name="T29" fmla="*/ 6 h 30"/>
                <a:gd name="T30" fmla="*/ 26 w 29"/>
                <a:gd name="T31" fmla="*/ 6 h 30"/>
                <a:gd name="T32" fmla="*/ 23 w 29"/>
                <a:gd name="T33" fmla="*/ 3 h 30"/>
                <a:gd name="T34" fmla="*/ 23 w 29"/>
                <a:gd name="T35" fmla="*/ 3 h 30"/>
                <a:gd name="T36" fmla="*/ 20 w 29"/>
                <a:gd name="T37" fmla="*/ 0 h 30"/>
                <a:gd name="T38" fmla="*/ 17 w 29"/>
                <a:gd name="T39" fmla="*/ 0 h 30"/>
                <a:gd name="T40" fmla="*/ 14 w 29"/>
                <a:gd name="T41" fmla="*/ 0 h 30"/>
                <a:gd name="T42" fmla="*/ 11 w 29"/>
                <a:gd name="T43" fmla="*/ 0 h 30"/>
                <a:gd name="T44" fmla="*/ 11 w 29"/>
                <a:gd name="T45" fmla="*/ 0 h 30"/>
                <a:gd name="T46" fmla="*/ 8 w 29"/>
                <a:gd name="T47" fmla="*/ 3 h 30"/>
                <a:gd name="T48" fmla="*/ 5 w 29"/>
                <a:gd name="T49" fmla="*/ 3 h 30"/>
                <a:gd name="T50" fmla="*/ 5 w 29"/>
                <a:gd name="T51" fmla="*/ 6 h 30"/>
                <a:gd name="T52" fmla="*/ 3 w 29"/>
                <a:gd name="T53" fmla="*/ 6 h 30"/>
                <a:gd name="T54" fmla="*/ 3 w 29"/>
                <a:gd name="T55" fmla="*/ 9 h 30"/>
                <a:gd name="T56" fmla="*/ 3 w 29"/>
                <a:gd name="T57" fmla="*/ 9 h 30"/>
                <a:gd name="T58" fmla="*/ 0 w 29"/>
                <a:gd name="T59" fmla="*/ 12 h 30"/>
                <a:gd name="T60" fmla="*/ 0 w 29"/>
                <a:gd name="T61" fmla="*/ 15 h 30"/>
                <a:gd name="T62" fmla="*/ 0 w 29"/>
                <a:gd name="T63" fmla="*/ 18 h 30"/>
                <a:gd name="T64" fmla="*/ 3 w 29"/>
                <a:gd name="T65" fmla="*/ 21 h 30"/>
                <a:gd name="T66" fmla="*/ 3 w 29"/>
                <a:gd name="T67" fmla="*/ 21 h 30"/>
                <a:gd name="T68" fmla="*/ 3 w 29"/>
                <a:gd name="T69" fmla="*/ 24 h 30"/>
                <a:gd name="T70" fmla="*/ 5 w 29"/>
                <a:gd name="T71" fmla="*/ 24 h 30"/>
                <a:gd name="T72" fmla="*/ 5 w 29"/>
                <a:gd name="T73" fmla="*/ 27 h 30"/>
                <a:gd name="T74" fmla="*/ 8 w 29"/>
                <a:gd name="T75" fmla="*/ 27 h 30"/>
                <a:gd name="T76" fmla="*/ 11 w 29"/>
                <a:gd name="T77" fmla="*/ 30 h 30"/>
                <a:gd name="T78" fmla="*/ 11 w 29"/>
                <a:gd name="T79" fmla="*/ 30 h 30"/>
                <a:gd name="T80" fmla="*/ 14 w 29"/>
                <a:gd name="T81" fmla="*/ 30 h 30"/>
                <a:gd name="T82" fmla="*/ 14 w 29"/>
                <a:gd name="T83" fmla="*/ 30 h 30"/>
                <a:gd name="T84" fmla="*/ 14 w 29"/>
                <a:gd name="T85" fmla="*/ 27 h 3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30"/>
                <a:gd name="T131" fmla="*/ 29 w 29"/>
                <a:gd name="T132" fmla="*/ 30 h 3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30">
                  <a:moveTo>
                    <a:pt x="14" y="27"/>
                  </a:moveTo>
                  <a:lnTo>
                    <a:pt x="17" y="30"/>
                  </a:lnTo>
                  <a:lnTo>
                    <a:pt x="20" y="30"/>
                  </a:lnTo>
                  <a:lnTo>
                    <a:pt x="23" y="27"/>
                  </a:lnTo>
                  <a:lnTo>
                    <a:pt x="26" y="24"/>
                  </a:lnTo>
                  <a:lnTo>
                    <a:pt x="29" y="21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8" y="3"/>
                  </a:lnTo>
                  <a:lnTo>
                    <a:pt x="5" y="3"/>
                  </a:lnTo>
                  <a:lnTo>
                    <a:pt x="5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1"/>
                  </a:lnTo>
                  <a:lnTo>
                    <a:pt x="3" y="24"/>
                  </a:lnTo>
                  <a:lnTo>
                    <a:pt x="5" y="24"/>
                  </a:lnTo>
                  <a:lnTo>
                    <a:pt x="5" y="27"/>
                  </a:lnTo>
                  <a:lnTo>
                    <a:pt x="8" y="27"/>
                  </a:lnTo>
                  <a:lnTo>
                    <a:pt x="11" y="30"/>
                  </a:lnTo>
                  <a:lnTo>
                    <a:pt x="14" y="30"/>
                  </a:lnTo>
                  <a:lnTo>
                    <a:pt x="14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Freeform 25"/>
            <p:cNvSpPr>
              <a:spLocks noChangeArrowheads="1"/>
            </p:cNvSpPr>
            <p:nvPr/>
          </p:nvSpPr>
          <p:spPr bwMode="auto">
            <a:xfrm>
              <a:off x="3303" y="1193"/>
              <a:ext cx="29" cy="30"/>
            </a:xfrm>
            <a:custGeom>
              <a:avLst/>
              <a:gdLst>
                <a:gd name="T0" fmla="*/ 14 w 29"/>
                <a:gd name="T1" fmla="*/ 27 h 30"/>
                <a:gd name="T2" fmla="*/ 17 w 29"/>
                <a:gd name="T3" fmla="*/ 30 h 30"/>
                <a:gd name="T4" fmla="*/ 20 w 29"/>
                <a:gd name="T5" fmla="*/ 30 h 30"/>
                <a:gd name="T6" fmla="*/ 23 w 29"/>
                <a:gd name="T7" fmla="*/ 27 h 30"/>
                <a:gd name="T8" fmla="*/ 23 w 29"/>
                <a:gd name="T9" fmla="*/ 27 h 30"/>
                <a:gd name="T10" fmla="*/ 26 w 29"/>
                <a:gd name="T11" fmla="*/ 24 h 30"/>
                <a:gd name="T12" fmla="*/ 26 w 29"/>
                <a:gd name="T13" fmla="*/ 24 h 30"/>
                <a:gd name="T14" fmla="*/ 29 w 29"/>
                <a:gd name="T15" fmla="*/ 21 h 30"/>
                <a:gd name="T16" fmla="*/ 29 w 29"/>
                <a:gd name="T17" fmla="*/ 21 h 30"/>
                <a:gd name="T18" fmla="*/ 29 w 29"/>
                <a:gd name="T19" fmla="*/ 18 h 30"/>
                <a:gd name="T20" fmla="*/ 29 w 29"/>
                <a:gd name="T21" fmla="*/ 15 h 30"/>
                <a:gd name="T22" fmla="*/ 29 w 29"/>
                <a:gd name="T23" fmla="*/ 12 h 30"/>
                <a:gd name="T24" fmla="*/ 29 w 29"/>
                <a:gd name="T25" fmla="*/ 9 h 30"/>
                <a:gd name="T26" fmla="*/ 29 w 29"/>
                <a:gd name="T27" fmla="*/ 9 h 30"/>
                <a:gd name="T28" fmla="*/ 26 w 29"/>
                <a:gd name="T29" fmla="*/ 6 h 30"/>
                <a:gd name="T30" fmla="*/ 26 w 29"/>
                <a:gd name="T31" fmla="*/ 6 h 30"/>
                <a:gd name="T32" fmla="*/ 23 w 29"/>
                <a:gd name="T33" fmla="*/ 3 h 30"/>
                <a:gd name="T34" fmla="*/ 23 w 29"/>
                <a:gd name="T35" fmla="*/ 3 h 30"/>
                <a:gd name="T36" fmla="*/ 20 w 29"/>
                <a:gd name="T37" fmla="*/ 0 h 30"/>
                <a:gd name="T38" fmla="*/ 17 w 29"/>
                <a:gd name="T39" fmla="*/ 0 h 30"/>
                <a:gd name="T40" fmla="*/ 14 w 29"/>
                <a:gd name="T41" fmla="*/ 0 h 30"/>
                <a:gd name="T42" fmla="*/ 11 w 29"/>
                <a:gd name="T43" fmla="*/ 0 h 30"/>
                <a:gd name="T44" fmla="*/ 11 w 29"/>
                <a:gd name="T45" fmla="*/ 0 h 30"/>
                <a:gd name="T46" fmla="*/ 8 w 29"/>
                <a:gd name="T47" fmla="*/ 3 h 30"/>
                <a:gd name="T48" fmla="*/ 5 w 29"/>
                <a:gd name="T49" fmla="*/ 3 h 30"/>
                <a:gd name="T50" fmla="*/ 5 w 29"/>
                <a:gd name="T51" fmla="*/ 6 h 30"/>
                <a:gd name="T52" fmla="*/ 3 w 29"/>
                <a:gd name="T53" fmla="*/ 6 h 30"/>
                <a:gd name="T54" fmla="*/ 3 w 29"/>
                <a:gd name="T55" fmla="*/ 9 h 30"/>
                <a:gd name="T56" fmla="*/ 3 w 29"/>
                <a:gd name="T57" fmla="*/ 9 h 30"/>
                <a:gd name="T58" fmla="*/ 0 w 29"/>
                <a:gd name="T59" fmla="*/ 12 h 30"/>
                <a:gd name="T60" fmla="*/ 0 w 29"/>
                <a:gd name="T61" fmla="*/ 15 h 30"/>
                <a:gd name="T62" fmla="*/ 0 w 29"/>
                <a:gd name="T63" fmla="*/ 18 h 30"/>
                <a:gd name="T64" fmla="*/ 3 w 29"/>
                <a:gd name="T65" fmla="*/ 21 h 30"/>
                <a:gd name="T66" fmla="*/ 3 w 29"/>
                <a:gd name="T67" fmla="*/ 21 h 30"/>
                <a:gd name="T68" fmla="*/ 3 w 29"/>
                <a:gd name="T69" fmla="*/ 24 h 30"/>
                <a:gd name="T70" fmla="*/ 5 w 29"/>
                <a:gd name="T71" fmla="*/ 24 h 30"/>
                <a:gd name="T72" fmla="*/ 5 w 29"/>
                <a:gd name="T73" fmla="*/ 27 h 30"/>
                <a:gd name="T74" fmla="*/ 8 w 29"/>
                <a:gd name="T75" fmla="*/ 27 h 30"/>
                <a:gd name="T76" fmla="*/ 11 w 29"/>
                <a:gd name="T77" fmla="*/ 30 h 30"/>
                <a:gd name="T78" fmla="*/ 11 w 29"/>
                <a:gd name="T79" fmla="*/ 30 h 30"/>
                <a:gd name="T80" fmla="*/ 14 w 29"/>
                <a:gd name="T81" fmla="*/ 30 h 30"/>
                <a:gd name="T82" fmla="*/ 14 w 29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30"/>
                <a:gd name="T128" fmla="*/ 29 w 29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30">
                  <a:moveTo>
                    <a:pt x="14" y="27"/>
                  </a:moveTo>
                  <a:lnTo>
                    <a:pt x="17" y="30"/>
                  </a:lnTo>
                  <a:lnTo>
                    <a:pt x="20" y="30"/>
                  </a:lnTo>
                  <a:lnTo>
                    <a:pt x="23" y="27"/>
                  </a:lnTo>
                  <a:lnTo>
                    <a:pt x="26" y="24"/>
                  </a:lnTo>
                  <a:lnTo>
                    <a:pt x="29" y="21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8" y="3"/>
                  </a:lnTo>
                  <a:lnTo>
                    <a:pt x="5" y="3"/>
                  </a:lnTo>
                  <a:lnTo>
                    <a:pt x="5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1"/>
                  </a:lnTo>
                  <a:lnTo>
                    <a:pt x="3" y="24"/>
                  </a:lnTo>
                  <a:lnTo>
                    <a:pt x="5" y="24"/>
                  </a:lnTo>
                  <a:lnTo>
                    <a:pt x="5" y="27"/>
                  </a:lnTo>
                  <a:lnTo>
                    <a:pt x="8" y="27"/>
                  </a:lnTo>
                  <a:lnTo>
                    <a:pt x="11" y="30"/>
                  </a:lnTo>
                  <a:lnTo>
                    <a:pt x="14" y="3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 noChangeArrowheads="1"/>
            </p:cNvSpPr>
            <p:nvPr/>
          </p:nvSpPr>
          <p:spPr bwMode="auto">
            <a:xfrm>
              <a:off x="3241" y="1041"/>
              <a:ext cx="29" cy="29"/>
            </a:xfrm>
            <a:custGeom>
              <a:avLst/>
              <a:gdLst>
                <a:gd name="T0" fmla="*/ 15 w 29"/>
                <a:gd name="T1" fmla="*/ 29 h 29"/>
                <a:gd name="T2" fmla="*/ 18 w 29"/>
                <a:gd name="T3" fmla="*/ 29 h 29"/>
                <a:gd name="T4" fmla="*/ 21 w 29"/>
                <a:gd name="T5" fmla="*/ 29 h 29"/>
                <a:gd name="T6" fmla="*/ 21 w 29"/>
                <a:gd name="T7" fmla="*/ 29 h 29"/>
                <a:gd name="T8" fmla="*/ 23 w 29"/>
                <a:gd name="T9" fmla="*/ 26 h 29"/>
                <a:gd name="T10" fmla="*/ 26 w 29"/>
                <a:gd name="T11" fmla="*/ 26 h 29"/>
                <a:gd name="T12" fmla="*/ 26 w 29"/>
                <a:gd name="T13" fmla="*/ 23 h 29"/>
                <a:gd name="T14" fmla="*/ 26 w 29"/>
                <a:gd name="T15" fmla="*/ 20 h 29"/>
                <a:gd name="T16" fmla="*/ 29 w 29"/>
                <a:gd name="T17" fmla="*/ 20 h 29"/>
                <a:gd name="T18" fmla="*/ 29 w 29"/>
                <a:gd name="T19" fmla="*/ 17 h 29"/>
                <a:gd name="T20" fmla="*/ 29 w 29"/>
                <a:gd name="T21" fmla="*/ 14 h 29"/>
                <a:gd name="T22" fmla="*/ 29 w 29"/>
                <a:gd name="T23" fmla="*/ 11 h 29"/>
                <a:gd name="T24" fmla="*/ 29 w 29"/>
                <a:gd name="T25" fmla="*/ 11 h 29"/>
                <a:gd name="T26" fmla="*/ 26 w 29"/>
                <a:gd name="T27" fmla="*/ 9 h 29"/>
                <a:gd name="T28" fmla="*/ 26 w 29"/>
                <a:gd name="T29" fmla="*/ 6 h 29"/>
                <a:gd name="T30" fmla="*/ 26 w 29"/>
                <a:gd name="T31" fmla="*/ 6 h 29"/>
                <a:gd name="T32" fmla="*/ 23 w 29"/>
                <a:gd name="T33" fmla="*/ 3 h 29"/>
                <a:gd name="T34" fmla="*/ 21 w 29"/>
                <a:gd name="T35" fmla="*/ 3 h 29"/>
                <a:gd name="T36" fmla="*/ 21 w 29"/>
                <a:gd name="T37" fmla="*/ 3 h 29"/>
                <a:gd name="T38" fmla="*/ 18 w 29"/>
                <a:gd name="T39" fmla="*/ 0 h 29"/>
                <a:gd name="T40" fmla="*/ 15 w 29"/>
                <a:gd name="T41" fmla="*/ 0 h 29"/>
                <a:gd name="T42" fmla="*/ 12 w 29"/>
                <a:gd name="T43" fmla="*/ 0 h 29"/>
                <a:gd name="T44" fmla="*/ 12 w 29"/>
                <a:gd name="T45" fmla="*/ 3 h 29"/>
                <a:gd name="T46" fmla="*/ 9 w 29"/>
                <a:gd name="T47" fmla="*/ 3 h 29"/>
                <a:gd name="T48" fmla="*/ 6 w 29"/>
                <a:gd name="T49" fmla="*/ 3 h 29"/>
                <a:gd name="T50" fmla="*/ 6 w 29"/>
                <a:gd name="T51" fmla="*/ 6 h 29"/>
                <a:gd name="T52" fmla="*/ 3 w 29"/>
                <a:gd name="T53" fmla="*/ 6 h 29"/>
                <a:gd name="T54" fmla="*/ 3 w 29"/>
                <a:gd name="T55" fmla="*/ 9 h 29"/>
                <a:gd name="T56" fmla="*/ 0 w 29"/>
                <a:gd name="T57" fmla="*/ 11 h 29"/>
                <a:gd name="T58" fmla="*/ 0 w 29"/>
                <a:gd name="T59" fmla="*/ 11 h 29"/>
                <a:gd name="T60" fmla="*/ 0 w 29"/>
                <a:gd name="T61" fmla="*/ 14 h 29"/>
                <a:gd name="T62" fmla="*/ 0 w 29"/>
                <a:gd name="T63" fmla="*/ 17 h 29"/>
                <a:gd name="T64" fmla="*/ 0 w 29"/>
                <a:gd name="T65" fmla="*/ 20 h 29"/>
                <a:gd name="T66" fmla="*/ 3 w 29"/>
                <a:gd name="T67" fmla="*/ 20 h 29"/>
                <a:gd name="T68" fmla="*/ 3 w 29"/>
                <a:gd name="T69" fmla="*/ 23 h 29"/>
                <a:gd name="T70" fmla="*/ 6 w 29"/>
                <a:gd name="T71" fmla="*/ 26 h 29"/>
                <a:gd name="T72" fmla="*/ 6 w 29"/>
                <a:gd name="T73" fmla="*/ 26 h 29"/>
                <a:gd name="T74" fmla="*/ 9 w 29"/>
                <a:gd name="T75" fmla="*/ 29 h 29"/>
                <a:gd name="T76" fmla="*/ 12 w 29"/>
                <a:gd name="T77" fmla="*/ 29 h 29"/>
                <a:gd name="T78" fmla="*/ 12 w 29"/>
                <a:gd name="T79" fmla="*/ 29 h 29"/>
                <a:gd name="T80" fmla="*/ 15 w 29"/>
                <a:gd name="T81" fmla="*/ 29 h 29"/>
                <a:gd name="T82" fmla="*/ 15 w 29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9"/>
                <a:gd name="T128" fmla="*/ 29 w 29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9">
                  <a:moveTo>
                    <a:pt x="15" y="29"/>
                  </a:moveTo>
                  <a:lnTo>
                    <a:pt x="18" y="29"/>
                  </a:lnTo>
                  <a:lnTo>
                    <a:pt x="21" y="29"/>
                  </a:lnTo>
                  <a:lnTo>
                    <a:pt x="23" y="26"/>
                  </a:lnTo>
                  <a:lnTo>
                    <a:pt x="26" y="26"/>
                  </a:lnTo>
                  <a:lnTo>
                    <a:pt x="26" y="23"/>
                  </a:lnTo>
                  <a:lnTo>
                    <a:pt x="26" y="20"/>
                  </a:lnTo>
                  <a:lnTo>
                    <a:pt x="29" y="20"/>
                  </a:lnTo>
                  <a:lnTo>
                    <a:pt x="29" y="17"/>
                  </a:lnTo>
                  <a:lnTo>
                    <a:pt x="29" y="14"/>
                  </a:lnTo>
                  <a:lnTo>
                    <a:pt x="29" y="11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5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Freeform 27"/>
            <p:cNvSpPr>
              <a:spLocks noChangeArrowheads="1"/>
            </p:cNvSpPr>
            <p:nvPr/>
          </p:nvSpPr>
          <p:spPr bwMode="auto">
            <a:xfrm>
              <a:off x="3241" y="1041"/>
              <a:ext cx="29" cy="29"/>
            </a:xfrm>
            <a:custGeom>
              <a:avLst/>
              <a:gdLst>
                <a:gd name="T0" fmla="*/ 15 w 29"/>
                <a:gd name="T1" fmla="*/ 29 h 29"/>
                <a:gd name="T2" fmla="*/ 18 w 29"/>
                <a:gd name="T3" fmla="*/ 29 h 29"/>
                <a:gd name="T4" fmla="*/ 21 w 29"/>
                <a:gd name="T5" fmla="*/ 29 h 29"/>
                <a:gd name="T6" fmla="*/ 21 w 29"/>
                <a:gd name="T7" fmla="*/ 29 h 29"/>
                <a:gd name="T8" fmla="*/ 23 w 29"/>
                <a:gd name="T9" fmla="*/ 26 h 29"/>
                <a:gd name="T10" fmla="*/ 26 w 29"/>
                <a:gd name="T11" fmla="*/ 26 h 29"/>
                <a:gd name="T12" fmla="*/ 26 w 29"/>
                <a:gd name="T13" fmla="*/ 23 h 29"/>
                <a:gd name="T14" fmla="*/ 26 w 29"/>
                <a:gd name="T15" fmla="*/ 20 h 29"/>
                <a:gd name="T16" fmla="*/ 29 w 29"/>
                <a:gd name="T17" fmla="*/ 20 h 29"/>
                <a:gd name="T18" fmla="*/ 29 w 29"/>
                <a:gd name="T19" fmla="*/ 17 h 29"/>
                <a:gd name="T20" fmla="*/ 29 w 29"/>
                <a:gd name="T21" fmla="*/ 14 h 29"/>
                <a:gd name="T22" fmla="*/ 29 w 29"/>
                <a:gd name="T23" fmla="*/ 11 h 29"/>
                <a:gd name="T24" fmla="*/ 29 w 29"/>
                <a:gd name="T25" fmla="*/ 11 h 29"/>
                <a:gd name="T26" fmla="*/ 26 w 29"/>
                <a:gd name="T27" fmla="*/ 9 h 29"/>
                <a:gd name="T28" fmla="*/ 26 w 29"/>
                <a:gd name="T29" fmla="*/ 6 h 29"/>
                <a:gd name="T30" fmla="*/ 26 w 29"/>
                <a:gd name="T31" fmla="*/ 6 h 29"/>
                <a:gd name="T32" fmla="*/ 23 w 29"/>
                <a:gd name="T33" fmla="*/ 3 h 29"/>
                <a:gd name="T34" fmla="*/ 21 w 29"/>
                <a:gd name="T35" fmla="*/ 3 h 29"/>
                <a:gd name="T36" fmla="*/ 21 w 29"/>
                <a:gd name="T37" fmla="*/ 3 h 29"/>
                <a:gd name="T38" fmla="*/ 18 w 29"/>
                <a:gd name="T39" fmla="*/ 0 h 29"/>
                <a:gd name="T40" fmla="*/ 15 w 29"/>
                <a:gd name="T41" fmla="*/ 0 h 29"/>
                <a:gd name="T42" fmla="*/ 12 w 29"/>
                <a:gd name="T43" fmla="*/ 0 h 29"/>
                <a:gd name="T44" fmla="*/ 12 w 29"/>
                <a:gd name="T45" fmla="*/ 3 h 29"/>
                <a:gd name="T46" fmla="*/ 9 w 29"/>
                <a:gd name="T47" fmla="*/ 3 h 29"/>
                <a:gd name="T48" fmla="*/ 6 w 29"/>
                <a:gd name="T49" fmla="*/ 3 h 29"/>
                <a:gd name="T50" fmla="*/ 6 w 29"/>
                <a:gd name="T51" fmla="*/ 6 h 29"/>
                <a:gd name="T52" fmla="*/ 3 w 29"/>
                <a:gd name="T53" fmla="*/ 6 h 29"/>
                <a:gd name="T54" fmla="*/ 3 w 29"/>
                <a:gd name="T55" fmla="*/ 9 h 29"/>
                <a:gd name="T56" fmla="*/ 0 w 29"/>
                <a:gd name="T57" fmla="*/ 11 h 29"/>
                <a:gd name="T58" fmla="*/ 0 w 29"/>
                <a:gd name="T59" fmla="*/ 11 h 29"/>
                <a:gd name="T60" fmla="*/ 0 w 29"/>
                <a:gd name="T61" fmla="*/ 14 h 29"/>
                <a:gd name="T62" fmla="*/ 0 w 29"/>
                <a:gd name="T63" fmla="*/ 17 h 29"/>
                <a:gd name="T64" fmla="*/ 0 w 29"/>
                <a:gd name="T65" fmla="*/ 20 h 29"/>
                <a:gd name="T66" fmla="*/ 3 w 29"/>
                <a:gd name="T67" fmla="*/ 20 h 29"/>
                <a:gd name="T68" fmla="*/ 3 w 29"/>
                <a:gd name="T69" fmla="*/ 23 h 29"/>
                <a:gd name="T70" fmla="*/ 6 w 29"/>
                <a:gd name="T71" fmla="*/ 26 h 29"/>
                <a:gd name="T72" fmla="*/ 6 w 29"/>
                <a:gd name="T73" fmla="*/ 26 h 29"/>
                <a:gd name="T74" fmla="*/ 9 w 29"/>
                <a:gd name="T75" fmla="*/ 29 h 29"/>
                <a:gd name="T76" fmla="*/ 12 w 29"/>
                <a:gd name="T77" fmla="*/ 29 h 29"/>
                <a:gd name="T78" fmla="*/ 12 w 29"/>
                <a:gd name="T79" fmla="*/ 29 h 29"/>
                <a:gd name="T80" fmla="*/ 15 w 29"/>
                <a:gd name="T81" fmla="*/ 29 h 29"/>
                <a:gd name="T82" fmla="*/ 15 w 29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9"/>
                <a:gd name="T128" fmla="*/ 29 w 29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9">
                  <a:moveTo>
                    <a:pt x="15" y="29"/>
                  </a:moveTo>
                  <a:lnTo>
                    <a:pt x="18" y="29"/>
                  </a:lnTo>
                  <a:lnTo>
                    <a:pt x="21" y="29"/>
                  </a:lnTo>
                  <a:lnTo>
                    <a:pt x="23" y="26"/>
                  </a:lnTo>
                  <a:lnTo>
                    <a:pt x="26" y="26"/>
                  </a:lnTo>
                  <a:lnTo>
                    <a:pt x="26" y="23"/>
                  </a:lnTo>
                  <a:lnTo>
                    <a:pt x="26" y="20"/>
                  </a:lnTo>
                  <a:lnTo>
                    <a:pt x="29" y="20"/>
                  </a:lnTo>
                  <a:lnTo>
                    <a:pt x="29" y="17"/>
                  </a:lnTo>
                  <a:lnTo>
                    <a:pt x="29" y="14"/>
                  </a:lnTo>
                  <a:lnTo>
                    <a:pt x="29" y="11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5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Freeform 28"/>
            <p:cNvSpPr>
              <a:spLocks noChangeArrowheads="1"/>
            </p:cNvSpPr>
            <p:nvPr/>
          </p:nvSpPr>
          <p:spPr bwMode="auto">
            <a:xfrm>
              <a:off x="3176" y="894"/>
              <a:ext cx="30" cy="29"/>
            </a:xfrm>
            <a:custGeom>
              <a:avLst/>
              <a:gdLst>
                <a:gd name="T0" fmla="*/ 12 w 30"/>
                <a:gd name="T1" fmla="*/ 26 h 29"/>
                <a:gd name="T2" fmla="*/ 18 w 30"/>
                <a:gd name="T3" fmla="*/ 29 h 29"/>
                <a:gd name="T4" fmla="*/ 18 w 30"/>
                <a:gd name="T5" fmla="*/ 29 h 29"/>
                <a:gd name="T6" fmla="*/ 21 w 30"/>
                <a:gd name="T7" fmla="*/ 26 h 29"/>
                <a:gd name="T8" fmla="*/ 24 w 30"/>
                <a:gd name="T9" fmla="*/ 26 h 29"/>
                <a:gd name="T10" fmla="*/ 24 w 30"/>
                <a:gd name="T11" fmla="*/ 23 h 29"/>
                <a:gd name="T12" fmla="*/ 27 w 30"/>
                <a:gd name="T13" fmla="*/ 23 h 29"/>
                <a:gd name="T14" fmla="*/ 27 w 30"/>
                <a:gd name="T15" fmla="*/ 20 h 29"/>
                <a:gd name="T16" fmla="*/ 30 w 30"/>
                <a:gd name="T17" fmla="*/ 18 h 29"/>
                <a:gd name="T18" fmla="*/ 30 w 30"/>
                <a:gd name="T19" fmla="*/ 18 h 29"/>
                <a:gd name="T20" fmla="*/ 30 w 30"/>
                <a:gd name="T21" fmla="*/ 15 h 29"/>
                <a:gd name="T22" fmla="*/ 30 w 30"/>
                <a:gd name="T23" fmla="*/ 12 h 29"/>
                <a:gd name="T24" fmla="*/ 30 w 30"/>
                <a:gd name="T25" fmla="*/ 9 h 29"/>
                <a:gd name="T26" fmla="*/ 27 w 30"/>
                <a:gd name="T27" fmla="*/ 9 h 29"/>
                <a:gd name="T28" fmla="*/ 27 w 30"/>
                <a:gd name="T29" fmla="*/ 6 h 29"/>
                <a:gd name="T30" fmla="*/ 24 w 30"/>
                <a:gd name="T31" fmla="*/ 3 h 29"/>
                <a:gd name="T32" fmla="*/ 24 w 30"/>
                <a:gd name="T33" fmla="*/ 3 h 29"/>
                <a:gd name="T34" fmla="*/ 21 w 30"/>
                <a:gd name="T35" fmla="*/ 0 h 29"/>
                <a:gd name="T36" fmla="*/ 18 w 30"/>
                <a:gd name="T37" fmla="*/ 0 h 29"/>
                <a:gd name="T38" fmla="*/ 18 w 30"/>
                <a:gd name="T39" fmla="*/ 0 h 29"/>
                <a:gd name="T40" fmla="*/ 15 w 30"/>
                <a:gd name="T41" fmla="*/ 0 h 29"/>
                <a:gd name="T42" fmla="*/ 12 w 30"/>
                <a:gd name="T43" fmla="*/ 0 h 29"/>
                <a:gd name="T44" fmla="*/ 9 w 30"/>
                <a:gd name="T45" fmla="*/ 0 h 29"/>
                <a:gd name="T46" fmla="*/ 9 w 30"/>
                <a:gd name="T47" fmla="*/ 0 h 29"/>
                <a:gd name="T48" fmla="*/ 6 w 30"/>
                <a:gd name="T49" fmla="*/ 3 h 29"/>
                <a:gd name="T50" fmla="*/ 3 w 30"/>
                <a:gd name="T51" fmla="*/ 3 h 29"/>
                <a:gd name="T52" fmla="*/ 3 w 30"/>
                <a:gd name="T53" fmla="*/ 6 h 29"/>
                <a:gd name="T54" fmla="*/ 0 w 30"/>
                <a:gd name="T55" fmla="*/ 9 h 29"/>
                <a:gd name="T56" fmla="*/ 0 w 30"/>
                <a:gd name="T57" fmla="*/ 9 h 29"/>
                <a:gd name="T58" fmla="*/ 0 w 30"/>
                <a:gd name="T59" fmla="*/ 12 h 29"/>
                <a:gd name="T60" fmla="*/ 0 w 30"/>
                <a:gd name="T61" fmla="*/ 15 h 29"/>
                <a:gd name="T62" fmla="*/ 0 w 30"/>
                <a:gd name="T63" fmla="*/ 18 h 29"/>
                <a:gd name="T64" fmla="*/ 0 w 30"/>
                <a:gd name="T65" fmla="*/ 18 h 29"/>
                <a:gd name="T66" fmla="*/ 0 w 30"/>
                <a:gd name="T67" fmla="*/ 20 h 29"/>
                <a:gd name="T68" fmla="*/ 3 w 30"/>
                <a:gd name="T69" fmla="*/ 23 h 29"/>
                <a:gd name="T70" fmla="*/ 3 w 30"/>
                <a:gd name="T71" fmla="*/ 23 h 29"/>
                <a:gd name="T72" fmla="*/ 6 w 30"/>
                <a:gd name="T73" fmla="*/ 26 h 29"/>
                <a:gd name="T74" fmla="*/ 9 w 30"/>
                <a:gd name="T75" fmla="*/ 26 h 29"/>
                <a:gd name="T76" fmla="*/ 9 w 30"/>
                <a:gd name="T77" fmla="*/ 29 h 29"/>
                <a:gd name="T78" fmla="*/ 12 w 30"/>
                <a:gd name="T79" fmla="*/ 29 h 29"/>
                <a:gd name="T80" fmla="*/ 15 w 30"/>
                <a:gd name="T81" fmla="*/ 29 h 29"/>
                <a:gd name="T82" fmla="*/ 15 w 30"/>
                <a:gd name="T83" fmla="*/ 29 h 29"/>
                <a:gd name="T84" fmla="*/ 12 w 30"/>
                <a:gd name="T85" fmla="*/ 26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0"/>
                <a:gd name="T130" fmla="*/ 0 h 29"/>
                <a:gd name="T131" fmla="*/ 30 w 30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0" h="29">
                  <a:moveTo>
                    <a:pt x="12" y="26"/>
                  </a:moveTo>
                  <a:lnTo>
                    <a:pt x="18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4" y="23"/>
                  </a:lnTo>
                  <a:lnTo>
                    <a:pt x="27" y="23"/>
                  </a:lnTo>
                  <a:lnTo>
                    <a:pt x="27" y="20"/>
                  </a:lnTo>
                  <a:lnTo>
                    <a:pt x="30" y="18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30" y="9"/>
                  </a:lnTo>
                  <a:lnTo>
                    <a:pt x="27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2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Freeform 29"/>
            <p:cNvSpPr>
              <a:spLocks noChangeArrowheads="1"/>
            </p:cNvSpPr>
            <p:nvPr/>
          </p:nvSpPr>
          <p:spPr bwMode="auto">
            <a:xfrm>
              <a:off x="3176" y="894"/>
              <a:ext cx="30" cy="29"/>
            </a:xfrm>
            <a:custGeom>
              <a:avLst/>
              <a:gdLst>
                <a:gd name="T0" fmla="*/ 12 w 30"/>
                <a:gd name="T1" fmla="*/ 26 h 29"/>
                <a:gd name="T2" fmla="*/ 18 w 30"/>
                <a:gd name="T3" fmla="*/ 29 h 29"/>
                <a:gd name="T4" fmla="*/ 18 w 30"/>
                <a:gd name="T5" fmla="*/ 29 h 29"/>
                <a:gd name="T6" fmla="*/ 21 w 30"/>
                <a:gd name="T7" fmla="*/ 26 h 29"/>
                <a:gd name="T8" fmla="*/ 24 w 30"/>
                <a:gd name="T9" fmla="*/ 26 h 29"/>
                <a:gd name="T10" fmla="*/ 24 w 30"/>
                <a:gd name="T11" fmla="*/ 23 h 29"/>
                <a:gd name="T12" fmla="*/ 27 w 30"/>
                <a:gd name="T13" fmla="*/ 23 h 29"/>
                <a:gd name="T14" fmla="*/ 27 w 30"/>
                <a:gd name="T15" fmla="*/ 20 h 29"/>
                <a:gd name="T16" fmla="*/ 30 w 30"/>
                <a:gd name="T17" fmla="*/ 18 h 29"/>
                <a:gd name="T18" fmla="*/ 30 w 30"/>
                <a:gd name="T19" fmla="*/ 18 h 29"/>
                <a:gd name="T20" fmla="*/ 30 w 30"/>
                <a:gd name="T21" fmla="*/ 15 h 29"/>
                <a:gd name="T22" fmla="*/ 30 w 30"/>
                <a:gd name="T23" fmla="*/ 12 h 29"/>
                <a:gd name="T24" fmla="*/ 30 w 30"/>
                <a:gd name="T25" fmla="*/ 9 h 29"/>
                <a:gd name="T26" fmla="*/ 27 w 30"/>
                <a:gd name="T27" fmla="*/ 9 h 29"/>
                <a:gd name="T28" fmla="*/ 27 w 30"/>
                <a:gd name="T29" fmla="*/ 6 h 29"/>
                <a:gd name="T30" fmla="*/ 24 w 30"/>
                <a:gd name="T31" fmla="*/ 3 h 29"/>
                <a:gd name="T32" fmla="*/ 24 w 30"/>
                <a:gd name="T33" fmla="*/ 3 h 29"/>
                <a:gd name="T34" fmla="*/ 21 w 30"/>
                <a:gd name="T35" fmla="*/ 0 h 29"/>
                <a:gd name="T36" fmla="*/ 18 w 30"/>
                <a:gd name="T37" fmla="*/ 0 h 29"/>
                <a:gd name="T38" fmla="*/ 18 w 30"/>
                <a:gd name="T39" fmla="*/ 0 h 29"/>
                <a:gd name="T40" fmla="*/ 15 w 30"/>
                <a:gd name="T41" fmla="*/ 0 h 29"/>
                <a:gd name="T42" fmla="*/ 12 w 30"/>
                <a:gd name="T43" fmla="*/ 0 h 29"/>
                <a:gd name="T44" fmla="*/ 9 w 30"/>
                <a:gd name="T45" fmla="*/ 0 h 29"/>
                <a:gd name="T46" fmla="*/ 9 w 30"/>
                <a:gd name="T47" fmla="*/ 0 h 29"/>
                <a:gd name="T48" fmla="*/ 6 w 30"/>
                <a:gd name="T49" fmla="*/ 3 h 29"/>
                <a:gd name="T50" fmla="*/ 3 w 30"/>
                <a:gd name="T51" fmla="*/ 3 h 29"/>
                <a:gd name="T52" fmla="*/ 3 w 30"/>
                <a:gd name="T53" fmla="*/ 6 h 29"/>
                <a:gd name="T54" fmla="*/ 0 w 30"/>
                <a:gd name="T55" fmla="*/ 9 h 29"/>
                <a:gd name="T56" fmla="*/ 0 w 30"/>
                <a:gd name="T57" fmla="*/ 9 h 29"/>
                <a:gd name="T58" fmla="*/ 0 w 30"/>
                <a:gd name="T59" fmla="*/ 12 h 29"/>
                <a:gd name="T60" fmla="*/ 0 w 30"/>
                <a:gd name="T61" fmla="*/ 15 h 29"/>
                <a:gd name="T62" fmla="*/ 0 w 30"/>
                <a:gd name="T63" fmla="*/ 18 h 29"/>
                <a:gd name="T64" fmla="*/ 0 w 30"/>
                <a:gd name="T65" fmla="*/ 18 h 29"/>
                <a:gd name="T66" fmla="*/ 0 w 30"/>
                <a:gd name="T67" fmla="*/ 20 h 29"/>
                <a:gd name="T68" fmla="*/ 3 w 30"/>
                <a:gd name="T69" fmla="*/ 23 h 29"/>
                <a:gd name="T70" fmla="*/ 3 w 30"/>
                <a:gd name="T71" fmla="*/ 23 h 29"/>
                <a:gd name="T72" fmla="*/ 6 w 30"/>
                <a:gd name="T73" fmla="*/ 26 h 29"/>
                <a:gd name="T74" fmla="*/ 9 w 30"/>
                <a:gd name="T75" fmla="*/ 26 h 29"/>
                <a:gd name="T76" fmla="*/ 9 w 30"/>
                <a:gd name="T77" fmla="*/ 29 h 29"/>
                <a:gd name="T78" fmla="*/ 12 w 30"/>
                <a:gd name="T79" fmla="*/ 29 h 29"/>
                <a:gd name="T80" fmla="*/ 15 w 30"/>
                <a:gd name="T81" fmla="*/ 29 h 29"/>
                <a:gd name="T82" fmla="*/ 15 w 30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9"/>
                <a:gd name="T128" fmla="*/ 30 w 30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9">
                  <a:moveTo>
                    <a:pt x="12" y="26"/>
                  </a:moveTo>
                  <a:lnTo>
                    <a:pt x="18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4" y="23"/>
                  </a:lnTo>
                  <a:lnTo>
                    <a:pt x="27" y="23"/>
                  </a:lnTo>
                  <a:lnTo>
                    <a:pt x="27" y="20"/>
                  </a:lnTo>
                  <a:lnTo>
                    <a:pt x="30" y="18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30" y="9"/>
                  </a:lnTo>
                  <a:lnTo>
                    <a:pt x="27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5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Freeform 30"/>
            <p:cNvSpPr>
              <a:spLocks noChangeArrowheads="1"/>
            </p:cNvSpPr>
            <p:nvPr/>
          </p:nvSpPr>
          <p:spPr bwMode="auto">
            <a:xfrm>
              <a:off x="2724" y="1810"/>
              <a:ext cx="364" cy="379"/>
            </a:xfrm>
            <a:custGeom>
              <a:avLst/>
              <a:gdLst>
                <a:gd name="T0" fmla="*/ 0 w 364"/>
                <a:gd name="T1" fmla="*/ 0 h 379"/>
                <a:gd name="T2" fmla="*/ 0 w 364"/>
                <a:gd name="T3" fmla="*/ 6 h 379"/>
                <a:gd name="T4" fmla="*/ 0 w 364"/>
                <a:gd name="T5" fmla="*/ 15 h 379"/>
                <a:gd name="T6" fmla="*/ 0 w 364"/>
                <a:gd name="T7" fmla="*/ 29 h 379"/>
                <a:gd name="T8" fmla="*/ 0 w 364"/>
                <a:gd name="T9" fmla="*/ 47 h 379"/>
                <a:gd name="T10" fmla="*/ 0 w 364"/>
                <a:gd name="T11" fmla="*/ 71 h 379"/>
                <a:gd name="T12" fmla="*/ 0 w 364"/>
                <a:gd name="T13" fmla="*/ 94 h 379"/>
                <a:gd name="T14" fmla="*/ 0 w 364"/>
                <a:gd name="T15" fmla="*/ 117 h 379"/>
                <a:gd name="T16" fmla="*/ 0 w 364"/>
                <a:gd name="T17" fmla="*/ 138 h 379"/>
                <a:gd name="T18" fmla="*/ 0 w 364"/>
                <a:gd name="T19" fmla="*/ 162 h 379"/>
                <a:gd name="T20" fmla="*/ 0 w 364"/>
                <a:gd name="T21" fmla="*/ 179 h 379"/>
                <a:gd name="T22" fmla="*/ 0 w 364"/>
                <a:gd name="T23" fmla="*/ 194 h 379"/>
                <a:gd name="T24" fmla="*/ 0 w 364"/>
                <a:gd name="T25" fmla="*/ 209 h 379"/>
                <a:gd name="T26" fmla="*/ 0 w 364"/>
                <a:gd name="T27" fmla="*/ 223 h 379"/>
                <a:gd name="T28" fmla="*/ 3 w 364"/>
                <a:gd name="T29" fmla="*/ 238 h 379"/>
                <a:gd name="T30" fmla="*/ 3 w 364"/>
                <a:gd name="T31" fmla="*/ 250 h 379"/>
                <a:gd name="T32" fmla="*/ 6 w 364"/>
                <a:gd name="T33" fmla="*/ 261 h 379"/>
                <a:gd name="T34" fmla="*/ 12 w 364"/>
                <a:gd name="T35" fmla="*/ 276 h 379"/>
                <a:gd name="T36" fmla="*/ 18 w 364"/>
                <a:gd name="T37" fmla="*/ 288 h 379"/>
                <a:gd name="T38" fmla="*/ 24 w 364"/>
                <a:gd name="T39" fmla="*/ 300 h 379"/>
                <a:gd name="T40" fmla="*/ 35 w 364"/>
                <a:gd name="T41" fmla="*/ 314 h 379"/>
                <a:gd name="T42" fmla="*/ 41 w 364"/>
                <a:gd name="T43" fmla="*/ 320 h 379"/>
                <a:gd name="T44" fmla="*/ 47 w 364"/>
                <a:gd name="T45" fmla="*/ 329 h 379"/>
                <a:gd name="T46" fmla="*/ 56 w 364"/>
                <a:gd name="T47" fmla="*/ 338 h 379"/>
                <a:gd name="T48" fmla="*/ 68 w 364"/>
                <a:gd name="T49" fmla="*/ 347 h 379"/>
                <a:gd name="T50" fmla="*/ 79 w 364"/>
                <a:gd name="T51" fmla="*/ 355 h 379"/>
                <a:gd name="T52" fmla="*/ 94 w 364"/>
                <a:gd name="T53" fmla="*/ 364 h 379"/>
                <a:gd name="T54" fmla="*/ 109 w 364"/>
                <a:gd name="T55" fmla="*/ 370 h 379"/>
                <a:gd name="T56" fmla="*/ 129 w 364"/>
                <a:gd name="T57" fmla="*/ 376 h 379"/>
                <a:gd name="T58" fmla="*/ 150 w 364"/>
                <a:gd name="T59" fmla="*/ 379 h 379"/>
                <a:gd name="T60" fmla="*/ 173 w 364"/>
                <a:gd name="T61" fmla="*/ 379 h 379"/>
                <a:gd name="T62" fmla="*/ 197 w 364"/>
                <a:gd name="T63" fmla="*/ 379 h 379"/>
                <a:gd name="T64" fmla="*/ 217 w 364"/>
                <a:gd name="T65" fmla="*/ 376 h 379"/>
                <a:gd name="T66" fmla="*/ 235 w 364"/>
                <a:gd name="T67" fmla="*/ 373 h 379"/>
                <a:gd name="T68" fmla="*/ 250 w 364"/>
                <a:gd name="T69" fmla="*/ 370 h 379"/>
                <a:gd name="T70" fmla="*/ 261 w 364"/>
                <a:gd name="T71" fmla="*/ 364 h 379"/>
                <a:gd name="T72" fmla="*/ 273 w 364"/>
                <a:gd name="T73" fmla="*/ 358 h 379"/>
                <a:gd name="T74" fmla="*/ 282 w 364"/>
                <a:gd name="T75" fmla="*/ 349 h 379"/>
                <a:gd name="T76" fmla="*/ 291 w 364"/>
                <a:gd name="T77" fmla="*/ 344 h 379"/>
                <a:gd name="T78" fmla="*/ 300 w 364"/>
                <a:gd name="T79" fmla="*/ 335 h 379"/>
                <a:gd name="T80" fmla="*/ 308 w 364"/>
                <a:gd name="T81" fmla="*/ 329 h 379"/>
                <a:gd name="T82" fmla="*/ 317 w 364"/>
                <a:gd name="T83" fmla="*/ 317 h 379"/>
                <a:gd name="T84" fmla="*/ 326 w 364"/>
                <a:gd name="T85" fmla="*/ 305 h 379"/>
                <a:gd name="T86" fmla="*/ 335 w 364"/>
                <a:gd name="T87" fmla="*/ 297 h 379"/>
                <a:gd name="T88" fmla="*/ 344 w 364"/>
                <a:gd name="T89" fmla="*/ 285 h 379"/>
                <a:gd name="T90" fmla="*/ 350 w 364"/>
                <a:gd name="T91" fmla="*/ 273 h 379"/>
                <a:gd name="T92" fmla="*/ 353 w 364"/>
                <a:gd name="T93" fmla="*/ 261 h 379"/>
                <a:gd name="T94" fmla="*/ 355 w 364"/>
                <a:gd name="T95" fmla="*/ 247 h 379"/>
                <a:gd name="T96" fmla="*/ 358 w 364"/>
                <a:gd name="T97" fmla="*/ 232 h 379"/>
                <a:gd name="T98" fmla="*/ 361 w 364"/>
                <a:gd name="T99" fmla="*/ 217 h 379"/>
                <a:gd name="T100" fmla="*/ 361 w 364"/>
                <a:gd name="T101" fmla="*/ 200 h 379"/>
                <a:gd name="T102" fmla="*/ 364 w 364"/>
                <a:gd name="T103" fmla="*/ 179 h 379"/>
                <a:gd name="T104" fmla="*/ 364 w 364"/>
                <a:gd name="T105" fmla="*/ 156 h 379"/>
                <a:gd name="T106" fmla="*/ 364 w 364"/>
                <a:gd name="T107" fmla="*/ 129 h 379"/>
                <a:gd name="T108" fmla="*/ 364 w 364"/>
                <a:gd name="T109" fmla="*/ 103 h 379"/>
                <a:gd name="T110" fmla="*/ 364 w 364"/>
                <a:gd name="T111" fmla="*/ 76 h 379"/>
                <a:gd name="T112" fmla="*/ 364 w 364"/>
                <a:gd name="T113" fmla="*/ 53 h 379"/>
                <a:gd name="T114" fmla="*/ 364 w 364"/>
                <a:gd name="T115" fmla="*/ 32 h 379"/>
                <a:gd name="T116" fmla="*/ 361 w 364"/>
                <a:gd name="T117" fmla="*/ 18 h 379"/>
                <a:gd name="T118" fmla="*/ 361 w 364"/>
                <a:gd name="T119" fmla="*/ 6 h 379"/>
                <a:gd name="T120" fmla="*/ 361 w 364"/>
                <a:gd name="T121" fmla="*/ 3 h 379"/>
                <a:gd name="T122" fmla="*/ 0 w 364"/>
                <a:gd name="T123" fmla="*/ 3 h 379"/>
                <a:gd name="T124" fmla="*/ 0 w 364"/>
                <a:gd name="T125" fmla="*/ 3 h 37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64"/>
                <a:gd name="T190" fmla="*/ 0 h 379"/>
                <a:gd name="T191" fmla="*/ 364 w 364"/>
                <a:gd name="T192" fmla="*/ 379 h 37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64" h="379">
                  <a:moveTo>
                    <a:pt x="0" y="0"/>
                  </a:moveTo>
                  <a:lnTo>
                    <a:pt x="0" y="6"/>
                  </a:lnTo>
                  <a:lnTo>
                    <a:pt x="0" y="15"/>
                  </a:lnTo>
                  <a:lnTo>
                    <a:pt x="0" y="29"/>
                  </a:lnTo>
                  <a:lnTo>
                    <a:pt x="0" y="47"/>
                  </a:lnTo>
                  <a:lnTo>
                    <a:pt x="0" y="71"/>
                  </a:lnTo>
                  <a:lnTo>
                    <a:pt x="0" y="94"/>
                  </a:lnTo>
                  <a:lnTo>
                    <a:pt x="0" y="117"/>
                  </a:lnTo>
                  <a:lnTo>
                    <a:pt x="0" y="138"/>
                  </a:lnTo>
                  <a:lnTo>
                    <a:pt x="0" y="162"/>
                  </a:lnTo>
                  <a:lnTo>
                    <a:pt x="0" y="179"/>
                  </a:lnTo>
                  <a:lnTo>
                    <a:pt x="0" y="194"/>
                  </a:lnTo>
                  <a:lnTo>
                    <a:pt x="0" y="209"/>
                  </a:lnTo>
                  <a:lnTo>
                    <a:pt x="0" y="223"/>
                  </a:lnTo>
                  <a:lnTo>
                    <a:pt x="3" y="238"/>
                  </a:lnTo>
                  <a:lnTo>
                    <a:pt x="3" y="250"/>
                  </a:lnTo>
                  <a:lnTo>
                    <a:pt x="6" y="261"/>
                  </a:lnTo>
                  <a:lnTo>
                    <a:pt x="12" y="276"/>
                  </a:lnTo>
                  <a:lnTo>
                    <a:pt x="18" y="288"/>
                  </a:lnTo>
                  <a:lnTo>
                    <a:pt x="24" y="300"/>
                  </a:lnTo>
                  <a:lnTo>
                    <a:pt x="35" y="314"/>
                  </a:lnTo>
                  <a:lnTo>
                    <a:pt x="41" y="320"/>
                  </a:lnTo>
                  <a:lnTo>
                    <a:pt x="47" y="329"/>
                  </a:lnTo>
                  <a:lnTo>
                    <a:pt x="56" y="338"/>
                  </a:lnTo>
                  <a:lnTo>
                    <a:pt x="68" y="347"/>
                  </a:lnTo>
                  <a:lnTo>
                    <a:pt x="79" y="355"/>
                  </a:lnTo>
                  <a:lnTo>
                    <a:pt x="94" y="364"/>
                  </a:lnTo>
                  <a:lnTo>
                    <a:pt x="109" y="370"/>
                  </a:lnTo>
                  <a:lnTo>
                    <a:pt x="129" y="376"/>
                  </a:lnTo>
                  <a:lnTo>
                    <a:pt x="150" y="379"/>
                  </a:lnTo>
                  <a:lnTo>
                    <a:pt x="173" y="379"/>
                  </a:lnTo>
                  <a:lnTo>
                    <a:pt x="197" y="379"/>
                  </a:lnTo>
                  <a:lnTo>
                    <a:pt x="217" y="376"/>
                  </a:lnTo>
                  <a:lnTo>
                    <a:pt x="235" y="373"/>
                  </a:lnTo>
                  <a:lnTo>
                    <a:pt x="250" y="370"/>
                  </a:lnTo>
                  <a:lnTo>
                    <a:pt x="261" y="364"/>
                  </a:lnTo>
                  <a:lnTo>
                    <a:pt x="273" y="358"/>
                  </a:lnTo>
                  <a:lnTo>
                    <a:pt x="282" y="349"/>
                  </a:lnTo>
                  <a:lnTo>
                    <a:pt x="291" y="344"/>
                  </a:lnTo>
                  <a:lnTo>
                    <a:pt x="300" y="335"/>
                  </a:lnTo>
                  <a:lnTo>
                    <a:pt x="308" y="329"/>
                  </a:lnTo>
                  <a:lnTo>
                    <a:pt x="317" y="317"/>
                  </a:lnTo>
                  <a:lnTo>
                    <a:pt x="326" y="305"/>
                  </a:lnTo>
                  <a:lnTo>
                    <a:pt x="335" y="297"/>
                  </a:lnTo>
                  <a:lnTo>
                    <a:pt x="344" y="285"/>
                  </a:lnTo>
                  <a:lnTo>
                    <a:pt x="350" y="273"/>
                  </a:lnTo>
                  <a:lnTo>
                    <a:pt x="353" y="261"/>
                  </a:lnTo>
                  <a:lnTo>
                    <a:pt x="355" y="247"/>
                  </a:lnTo>
                  <a:lnTo>
                    <a:pt x="358" y="232"/>
                  </a:lnTo>
                  <a:lnTo>
                    <a:pt x="361" y="217"/>
                  </a:lnTo>
                  <a:lnTo>
                    <a:pt x="361" y="200"/>
                  </a:lnTo>
                  <a:lnTo>
                    <a:pt x="364" y="179"/>
                  </a:lnTo>
                  <a:lnTo>
                    <a:pt x="364" y="156"/>
                  </a:lnTo>
                  <a:lnTo>
                    <a:pt x="364" y="129"/>
                  </a:lnTo>
                  <a:lnTo>
                    <a:pt x="364" y="103"/>
                  </a:lnTo>
                  <a:lnTo>
                    <a:pt x="364" y="76"/>
                  </a:lnTo>
                  <a:lnTo>
                    <a:pt x="364" y="53"/>
                  </a:lnTo>
                  <a:lnTo>
                    <a:pt x="364" y="32"/>
                  </a:lnTo>
                  <a:lnTo>
                    <a:pt x="361" y="18"/>
                  </a:lnTo>
                  <a:lnTo>
                    <a:pt x="361" y="6"/>
                  </a:lnTo>
                  <a:lnTo>
                    <a:pt x="361" y="3"/>
                  </a:lnTo>
                  <a:lnTo>
                    <a:pt x="0" y="3"/>
                  </a:lnTo>
                </a:path>
              </a:pathLst>
            </a:custGeom>
            <a:solidFill>
              <a:srgbClr val="FFFFFF"/>
            </a:solidFill>
            <a:ln w="1908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3" name="Freeform 31"/>
            <p:cNvSpPr>
              <a:spLocks noChangeArrowheads="1"/>
            </p:cNvSpPr>
            <p:nvPr/>
          </p:nvSpPr>
          <p:spPr bwMode="auto">
            <a:xfrm>
              <a:off x="2912" y="1748"/>
              <a:ext cx="47" cy="47"/>
            </a:xfrm>
            <a:custGeom>
              <a:avLst/>
              <a:gdLst>
                <a:gd name="T0" fmla="*/ 21 w 47"/>
                <a:gd name="T1" fmla="*/ 47 h 47"/>
                <a:gd name="T2" fmla="*/ 27 w 47"/>
                <a:gd name="T3" fmla="*/ 47 h 47"/>
                <a:gd name="T4" fmla="*/ 29 w 47"/>
                <a:gd name="T5" fmla="*/ 47 h 47"/>
                <a:gd name="T6" fmla="*/ 32 w 47"/>
                <a:gd name="T7" fmla="*/ 44 h 47"/>
                <a:gd name="T8" fmla="*/ 38 w 47"/>
                <a:gd name="T9" fmla="*/ 44 h 47"/>
                <a:gd name="T10" fmla="*/ 38 w 47"/>
                <a:gd name="T11" fmla="*/ 41 h 47"/>
                <a:gd name="T12" fmla="*/ 41 w 47"/>
                <a:gd name="T13" fmla="*/ 39 h 47"/>
                <a:gd name="T14" fmla="*/ 44 w 47"/>
                <a:gd name="T15" fmla="*/ 36 h 47"/>
                <a:gd name="T16" fmla="*/ 44 w 47"/>
                <a:gd name="T17" fmla="*/ 33 h 47"/>
                <a:gd name="T18" fmla="*/ 47 w 47"/>
                <a:gd name="T19" fmla="*/ 27 h 47"/>
                <a:gd name="T20" fmla="*/ 47 w 47"/>
                <a:gd name="T21" fmla="*/ 24 h 47"/>
                <a:gd name="T22" fmla="*/ 47 w 47"/>
                <a:gd name="T23" fmla="*/ 21 h 47"/>
                <a:gd name="T24" fmla="*/ 44 w 47"/>
                <a:gd name="T25" fmla="*/ 15 h 47"/>
                <a:gd name="T26" fmla="*/ 44 w 47"/>
                <a:gd name="T27" fmla="*/ 12 h 47"/>
                <a:gd name="T28" fmla="*/ 41 w 47"/>
                <a:gd name="T29" fmla="*/ 9 h 47"/>
                <a:gd name="T30" fmla="*/ 38 w 47"/>
                <a:gd name="T31" fmla="*/ 6 h 47"/>
                <a:gd name="T32" fmla="*/ 38 w 47"/>
                <a:gd name="T33" fmla="*/ 3 h 47"/>
                <a:gd name="T34" fmla="*/ 32 w 47"/>
                <a:gd name="T35" fmla="*/ 3 h 47"/>
                <a:gd name="T36" fmla="*/ 29 w 47"/>
                <a:gd name="T37" fmla="*/ 0 h 47"/>
                <a:gd name="T38" fmla="*/ 27 w 47"/>
                <a:gd name="T39" fmla="*/ 0 h 47"/>
                <a:gd name="T40" fmla="*/ 24 w 47"/>
                <a:gd name="T41" fmla="*/ 0 h 47"/>
                <a:gd name="T42" fmla="*/ 21 w 47"/>
                <a:gd name="T43" fmla="*/ 0 h 47"/>
                <a:gd name="T44" fmla="*/ 15 w 47"/>
                <a:gd name="T45" fmla="*/ 0 h 47"/>
                <a:gd name="T46" fmla="*/ 12 w 47"/>
                <a:gd name="T47" fmla="*/ 3 h 47"/>
                <a:gd name="T48" fmla="*/ 9 w 47"/>
                <a:gd name="T49" fmla="*/ 3 h 47"/>
                <a:gd name="T50" fmla="*/ 6 w 47"/>
                <a:gd name="T51" fmla="*/ 6 h 47"/>
                <a:gd name="T52" fmla="*/ 6 w 47"/>
                <a:gd name="T53" fmla="*/ 9 h 47"/>
                <a:gd name="T54" fmla="*/ 3 w 47"/>
                <a:gd name="T55" fmla="*/ 12 h 47"/>
                <a:gd name="T56" fmla="*/ 0 w 47"/>
                <a:gd name="T57" fmla="*/ 15 h 47"/>
                <a:gd name="T58" fmla="*/ 0 w 47"/>
                <a:gd name="T59" fmla="*/ 21 h 47"/>
                <a:gd name="T60" fmla="*/ 0 w 47"/>
                <a:gd name="T61" fmla="*/ 24 h 47"/>
                <a:gd name="T62" fmla="*/ 0 w 47"/>
                <a:gd name="T63" fmla="*/ 27 h 47"/>
                <a:gd name="T64" fmla="*/ 0 w 47"/>
                <a:gd name="T65" fmla="*/ 33 h 47"/>
                <a:gd name="T66" fmla="*/ 3 w 47"/>
                <a:gd name="T67" fmla="*/ 36 h 47"/>
                <a:gd name="T68" fmla="*/ 6 w 47"/>
                <a:gd name="T69" fmla="*/ 39 h 47"/>
                <a:gd name="T70" fmla="*/ 6 w 47"/>
                <a:gd name="T71" fmla="*/ 41 h 47"/>
                <a:gd name="T72" fmla="*/ 9 w 47"/>
                <a:gd name="T73" fmla="*/ 44 h 47"/>
                <a:gd name="T74" fmla="*/ 12 w 47"/>
                <a:gd name="T75" fmla="*/ 44 h 47"/>
                <a:gd name="T76" fmla="*/ 15 w 47"/>
                <a:gd name="T77" fmla="*/ 47 h 47"/>
                <a:gd name="T78" fmla="*/ 21 w 47"/>
                <a:gd name="T79" fmla="*/ 47 h 47"/>
                <a:gd name="T80" fmla="*/ 24 w 47"/>
                <a:gd name="T81" fmla="*/ 47 h 47"/>
                <a:gd name="T82" fmla="*/ 24 w 47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7"/>
                <a:gd name="T127" fmla="*/ 0 h 47"/>
                <a:gd name="T128" fmla="*/ 47 w 47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7" h="47">
                  <a:moveTo>
                    <a:pt x="21" y="47"/>
                  </a:moveTo>
                  <a:lnTo>
                    <a:pt x="27" y="47"/>
                  </a:lnTo>
                  <a:lnTo>
                    <a:pt x="29" y="47"/>
                  </a:lnTo>
                  <a:lnTo>
                    <a:pt x="32" y="44"/>
                  </a:lnTo>
                  <a:lnTo>
                    <a:pt x="38" y="44"/>
                  </a:lnTo>
                  <a:lnTo>
                    <a:pt x="38" y="41"/>
                  </a:lnTo>
                  <a:lnTo>
                    <a:pt x="41" y="39"/>
                  </a:lnTo>
                  <a:lnTo>
                    <a:pt x="44" y="36"/>
                  </a:lnTo>
                  <a:lnTo>
                    <a:pt x="44" y="33"/>
                  </a:lnTo>
                  <a:lnTo>
                    <a:pt x="47" y="27"/>
                  </a:lnTo>
                  <a:lnTo>
                    <a:pt x="47" y="24"/>
                  </a:lnTo>
                  <a:lnTo>
                    <a:pt x="47" y="21"/>
                  </a:lnTo>
                  <a:lnTo>
                    <a:pt x="44" y="15"/>
                  </a:lnTo>
                  <a:lnTo>
                    <a:pt x="44" y="12"/>
                  </a:lnTo>
                  <a:lnTo>
                    <a:pt x="41" y="9"/>
                  </a:lnTo>
                  <a:lnTo>
                    <a:pt x="38" y="6"/>
                  </a:lnTo>
                  <a:lnTo>
                    <a:pt x="38" y="3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5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6"/>
                  </a:lnTo>
                  <a:lnTo>
                    <a:pt x="6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33"/>
                  </a:lnTo>
                  <a:lnTo>
                    <a:pt x="3" y="36"/>
                  </a:lnTo>
                  <a:lnTo>
                    <a:pt x="6" y="39"/>
                  </a:lnTo>
                  <a:lnTo>
                    <a:pt x="6" y="41"/>
                  </a:lnTo>
                  <a:lnTo>
                    <a:pt x="9" y="44"/>
                  </a:lnTo>
                  <a:lnTo>
                    <a:pt x="12" y="44"/>
                  </a:lnTo>
                  <a:lnTo>
                    <a:pt x="15" y="47"/>
                  </a:lnTo>
                  <a:lnTo>
                    <a:pt x="21" y="47"/>
                  </a:lnTo>
                  <a:lnTo>
                    <a:pt x="24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4" name="Freeform 32"/>
            <p:cNvSpPr>
              <a:spLocks noChangeArrowheads="1"/>
            </p:cNvSpPr>
            <p:nvPr/>
          </p:nvSpPr>
          <p:spPr bwMode="auto">
            <a:xfrm>
              <a:off x="2798" y="1748"/>
              <a:ext cx="44" cy="47"/>
            </a:xfrm>
            <a:custGeom>
              <a:avLst/>
              <a:gdLst>
                <a:gd name="T0" fmla="*/ 20 w 44"/>
                <a:gd name="T1" fmla="*/ 47 h 47"/>
                <a:gd name="T2" fmla="*/ 26 w 44"/>
                <a:gd name="T3" fmla="*/ 47 h 47"/>
                <a:gd name="T4" fmla="*/ 29 w 44"/>
                <a:gd name="T5" fmla="*/ 47 h 47"/>
                <a:gd name="T6" fmla="*/ 32 w 44"/>
                <a:gd name="T7" fmla="*/ 44 h 47"/>
                <a:gd name="T8" fmla="*/ 35 w 44"/>
                <a:gd name="T9" fmla="*/ 44 h 47"/>
                <a:gd name="T10" fmla="*/ 38 w 44"/>
                <a:gd name="T11" fmla="*/ 41 h 47"/>
                <a:gd name="T12" fmla="*/ 41 w 44"/>
                <a:gd name="T13" fmla="*/ 39 h 47"/>
                <a:gd name="T14" fmla="*/ 41 w 44"/>
                <a:gd name="T15" fmla="*/ 36 h 47"/>
                <a:gd name="T16" fmla="*/ 44 w 44"/>
                <a:gd name="T17" fmla="*/ 33 h 47"/>
                <a:gd name="T18" fmla="*/ 44 w 44"/>
                <a:gd name="T19" fmla="*/ 27 h 47"/>
                <a:gd name="T20" fmla="*/ 44 w 44"/>
                <a:gd name="T21" fmla="*/ 24 h 47"/>
                <a:gd name="T22" fmla="*/ 44 w 44"/>
                <a:gd name="T23" fmla="*/ 21 h 47"/>
                <a:gd name="T24" fmla="*/ 44 w 44"/>
                <a:gd name="T25" fmla="*/ 15 h 47"/>
                <a:gd name="T26" fmla="*/ 41 w 44"/>
                <a:gd name="T27" fmla="*/ 12 h 47"/>
                <a:gd name="T28" fmla="*/ 41 w 44"/>
                <a:gd name="T29" fmla="*/ 9 h 47"/>
                <a:gd name="T30" fmla="*/ 38 w 44"/>
                <a:gd name="T31" fmla="*/ 6 h 47"/>
                <a:gd name="T32" fmla="*/ 35 w 44"/>
                <a:gd name="T33" fmla="*/ 3 h 47"/>
                <a:gd name="T34" fmla="*/ 32 w 44"/>
                <a:gd name="T35" fmla="*/ 3 h 47"/>
                <a:gd name="T36" fmla="*/ 29 w 44"/>
                <a:gd name="T37" fmla="*/ 0 h 47"/>
                <a:gd name="T38" fmla="*/ 26 w 44"/>
                <a:gd name="T39" fmla="*/ 0 h 47"/>
                <a:gd name="T40" fmla="*/ 20 w 44"/>
                <a:gd name="T41" fmla="*/ 0 h 47"/>
                <a:gd name="T42" fmla="*/ 17 w 44"/>
                <a:gd name="T43" fmla="*/ 0 h 47"/>
                <a:gd name="T44" fmla="*/ 14 w 44"/>
                <a:gd name="T45" fmla="*/ 0 h 47"/>
                <a:gd name="T46" fmla="*/ 11 w 44"/>
                <a:gd name="T47" fmla="*/ 3 h 47"/>
                <a:gd name="T48" fmla="*/ 8 w 44"/>
                <a:gd name="T49" fmla="*/ 3 h 47"/>
                <a:gd name="T50" fmla="*/ 5 w 44"/>
                <a:gd name="T51" fmla="*/ 6 h 47"/>
                <a:gd name="T52" fmla="*/ 2 w 44"/>
                <a:gd name="T53" fmla="*/ 9 h 47"/>
                <a:gd name="T54" fmla="*/ 0 w 44"/>
                <a:gd name="T55" fmla="*/ 12 h 47"/>
                <a:gd name="T56" fmla="*/ 0 w 44"/>
                <a:gd name="T57" fmla="*/ 15 h 47"/>
                <a:gd name="T58" fmla="*/ 0 w 44"/>
                <a:gd name="T59" fmla="*/ 21 h 47"/>
                <a:gd name="T60" fmla="*/ 0 w 44"/>
                <a:gd name="T61" fmla="*/ 24 h 47"/>
                <a:gd name="T62" fmla="*/ 0 w 44"/>
                <a:gd name="T63" fmla="*/ 27 h 47"/>
                <a:gd name="T64" fmla="*/ 0 w 44"/>
                <a:gd name="T65" fmla="*/ 33 h 47"/>
                <a:gd name="T66" fmla="*/ 0 w 44"/>
                <a:gd name="T67" fmla="*/ 36 h 47"/>
                <a:gd name="T68" fmla="*/ 2 w 44"/>
                <a:gd name="T69" fmla="*/ 39 h 47"/>
                <a:gd name="T70" fmla="*/ 5 w 44"/>
                <a:gd name="T71" fmla="*/ 41 h 47"/>
                <a:gd name="T72" fmla="*/ 8 w 44"/>
                <a:gd name="T73" fmla="*/ 44 h 47"/>
                <a:gd name="T74" fmla="*/ 11 w 44"/>
                <a:gd name="T75" fmla="*/ 44 h 47"/>
                <a:gd name="T76" fmla="*/ 14 w 44"/>
                <a:gd name="T77" fmla="*/ 47 h 47"/>
                <a:gd name="T78" fmla="*/ 17 w 44"/>
                <a:gd name="T79" fmla="*/ 47 h 47"/>
                <a:gd name="T80" fmla="*/ 20 w 44"/>
                <a:gd name="T81" fmla="*/ 47 h 47"/>
                <a:gd name="T82" fmla="*/ 20 w 44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4"/>
                <a:gd name="T127" fmla="*/ 0 h 47"/>
                <a:gd name="T128" fmla="*/ 44 w 44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4" h="47">
                  <a:moveTo>
                    <a:pt x="20" y="47"/>
                  </a:moveTo>
                  <a:lnTo>
                    <a:pt x="26" y="47"/>
                  </a:lnTo>
                  <a:lnTo>
                    <a:pt x="29" y="47"/>
                  </a:lnTo>
                  <a:lnTo>
                    <a:pt x="32" y="44"/>
                  </a:lnTo>
                  <a:lnTo>
                    <a:pt x="35" y="44"/>
                  </a:lnTo>
                  <a:lnTo>
                    <a:pt x="38" y="41"/>
                  </a:lnTo>
                  <a:lnTo>
                    <a:pt x="41" y="39"/>
                  </a:lnTo>
                  <a:lnTo>
                    <a:pt x="41" y="36"/>
                  </a:lnTo>
                  <a:lnTo>
                    <a:pt x="44" y="33"/>
                  </a:lnTo>
                  <a:lnTo>
                    <a:pt x="44" y="27"/>
                  </a:lnTo>
                  <a:lnTo>
                    <a:pt x="44" y="24"/>
                  </a:lnTo>
                  <a:lnTo>
                    <a:pt x="44" y="21"/>
                  </a:lnTo>
                  <a:lnTo>
                    <a:pt x="44" y="15"/>
                  </a:lnTo>
                  <a:lnTo>
                    <a:pt x="41" y="12"/>
                  </a:lnTo>
                  <a:lnTo>
                    <a:pt x="41" y="9"/>
                  </a:lnTo>
                  <a:lnTo>
                    <a:pt x="38" y="6"/>
                  </a:lnTo>
                  <a:lnTo>
                    <a:pt x="35" y="3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3"/>
                  </a:lnTo>
                  <a:lnTo>
                    <a:pt x="8" y="3"/>
                  </a:lnTo>
                  <a:lnTo>
                    <a:pt x="5" y="6"/>
                  </a:lnTo>
                  <a:lnTo>
                    <a:pt x="2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33"/>
                  </a:lnTo>
                  <a:lnTo>
                    <a:pt x="0" y="36"/>
                  </a:lnTo>
                  <a:lnTo>
                    <a:pt x="2" y="39"/>
                  </a:lnTo>
                  <a:lnTo>
                    <a:pt x="5" y="41"/>
                  </a:lnTo>
                  <a:lnTo>
                    <a:pt x="8" y="44"/>
                  </a:lnTo>
                  <a:lnTo>
                    <a:pt x="11" y="44"/>
                  </a:lnTo>
                  <a:lnTo>
                    <a:pt x="14" y="47"/>
                  </a:lnTo>
                  <a:lnTo>
                    <a:pt x="17" y="47"/>
                  </a:lnTo>
                  <a:lnTo>
                    <a:pt x="20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33"/>
            <p:cNvSpPr>
              <a:spLocks noChangeShapeType="1"/>
            </p:cNvSpPr>
            <p:nvPr/>
          </p:nvSpPr>
          <p:spPr bwMode="auto">
            <a:xfrm flipV="1">
              <a:off x="2754" y="922"/>
              <a:ext cx="1" cy="880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Line 34"/>
            <p:cNvSpPr>
              <a:spLocks noChangeShapeType="1"/>
            </p:cNvSpPr>
            <p:nvPr/>
          </p:nvSpPr>
          <p:spPr bwMode="auto">
            <a:xfrm flipV="1">
              <a:off x="2818" y="1060"/>
              <a:ext cx="1" cy="686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Line 35"/>
            <p:cNvSpPr>
              <a:spLocks noChangeShapeType="1"/>
            </p:cNvSpPr>
            <p:nvPr/>
          </p:nvSpPr>
          <p:spPr bwMode="auto">
            <a:xfrm flipV="1">
              <a:off x="2880" y="1207"/>
              <a:ext cx="3" cy="598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Line 36"/>
            <p:cNvSpPr>
              <a:spLocks noChangeShapeType="1"/>
            </p:cNvSpPr>
            <p:nvPr/>
          </p:nvSpPr>
          <p:spPr bwMode="auto">
            <a:xfrm flipV="1">
              <a:off x="2933" y="1363"/>
              <a:ext cx="1" cy="38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Line 37"/>
            <p:cNvSpPr>
              <a:spLocks noChangeShapeType="1"/>
            </p:cNvSpPr>
            <p:nvPr/>
          </p:nvSpPr>
          <p:spPr bwMode="auto">
            <a:xfrm flipV="1">
              <a:off x="2991" y="1504"/>
              <a:ext cx="1" cy="298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 flipV="1">
              <a:off x="3056" y="1653"/>
              <a:ext cx="1" cy="149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9"/>
            <p:cNvSpPr>
              <a:spLocks noChangeArrowheads="1"/>
            </p:cNvSpPr>
            <p:nvPr/>
          </p:nvSpPr>
          <p:spPr bwMode="auto">
            <a:xfrm>
              <a:off x="3044" y="1640"/>
              <a:ext cx="27" cy="29"/>
            </a:xfrm>
            <a:custGeom>
              <a:avLst/>
              <a:gdLst>
                <a:gd name="T0" fmla="*/ 12 w 27"/>
                <a:gd name="T1" fmla="*/ 29 h 29"/>
                <a:gd name="T2" fmla="*/ 15 w 27"/>
                <a:gd name="T3" fmla="*/ 29 h 29"/>
                <a:gd name="T4" fmla="*/ 18 w 27"/>
                <a:gd name="T5" fmla="*/ 29 h 29"/>
                <a:gd name="T6" fmla="*/ 21 w 27"/>
                <a:gd name="T7" fmla="*/ 26 h 29"/>
                <a:gd name="T8" fmla="*/ 21 w 27"/>
                <a:gd name="T9" fmla="*/ 26 h 29"/>
                <a:gd name="T10" fmla="*/ 24 w 27"/>
                <a:gd name="T11" fmla="*/ 26 h 29"/>
                <a:gd name="T12" fmla="*/ 24 w 27"/>
                <a:gd name="T13" fmla="*/ 23 h 29"/>
                <a:gd name="T14" fmla="*/ 27 w 27"/>
                <a:gd name="T15" fmla="*/ 20 h 29"/>
                <a:gd name="T16" fmla="*/ 27 w 27"/>
                <a:gd name="T17" fmla="*/ 20 h 29"/>
                <a:gd name="T18" fmla="*/ 27 w 27"/>
                <a:gd name="T19" fmla="*/ 17 h 29"/>
                <a:gd name="T20" fmla="*/ 27 w 27"/>
                <a:gd name="T21" fmla="*/ 14 h 29"/>
                <a:gd name="T22" fmla="*/ 27 w 27"/>
                <a:gd name="T23" fmla="*/ 11 h 29"/>
                <a:gd name="T24" fmla="*/ 27 w 27"/>
                <a:gd name="T25" fmla="*/ 11 h 29"/>
                <a:gd name="T26" fmla="*/ 27 w 27"/>
                <a:gd name="T27" fmla="*/ 9 h 29"/>
                <a:gd name="T28" fmla="*/ 24 w 27"/>
                <a:gd name="T29" fmla="*/ 6 h 29"/>
                <a:gd name="T30" fmla="*/ 24 w 27"/>
                <a:gd name="T31" fmla="*/ 6 h 29"/>
                <a:gd name="T32" fmla="*/ 21 w 27"/>
                <a:gd name="T33" fmla="*/ 3 h 29"/>
                <a:gd name="T34" fmla="*/ 21 w 27"/>
                <a:gd name="T35" fmla="*/ 3 h 29"/>
                <a:gd name="T36" fmla="*/ 18 w 27"/>
                <a:gd name="T37" fmla="*/ 0 h 29"/>
                <a:gd name="T38" fmla="*/ 15 w 27"/>
                <a:gd name="T39" fmla="*/ 0 h 29"/>
                <a:gd name="T40" fmla="*/ 15 w 27"/>
                <a:gd name="T41" fmla="*/ 0 h 29"/>
                <a:gd name="T42" fmla="*/ 12 w 27"/>
                <a:gd name="T43" fmla="*/ 0 h 29"/>
                <a:gd name="T44" fmla="*/ 9 w 27"/>
                <a:gd name="T45" fmla="*/ 0 h 29"/>
                <a:gd name="T46" fmla="*/ 6 w 27"/>
                <a:gd name="T47" fmla="*/ 3 h 29"/>
                <a:gd name="T48" fmla="*/ 6 w 27"/>
                <a:gd name="T49" fmla="*/ 3 h 29"/>
                <a:gd name="T50" fmla="*/ 3 w 27"/>
                <a:gd name="T51" fmla="*/ 6 h 29"/>
                <a:gd name="T52" fmla="*/ 3 w 27"/>
                <a:gd name="T53" fmla="*/ 6 h 29"/>
                <a:gd name="T54" fmla="*/ 0 w 27"/>
                <a:gd name="T55" fmla="*/ 9 h 29"/>
                <a:gd name="T56" fmla="*/ 0 w 27"/>
                <a:gd name="T57" fmla="*/ 11 h 29"/>
                <a:gd name="T58" fmla="*/ 0 w 27"/>
                <a:gd name="T59" fmla="*/ 11 h 29"/>
                <a:gd name="T60" fmla="*/ 0 w 27"/>
                <a:gd name="T61" fmla="*/ 14 h 29"/>
                <a:gd name="T62" fmla="*/ 0 w 27"/>
                <a:gd name="T63" fmla="*/ 17 h 29"/>
                <a:gd name="T64" fmla="*/ 0 w 27"/>
                <a:gd name="T65" fmla="*/ 20 h 29"/>
                <a:gd name="T66" fmla="*/ 0 w 27"/>
                <a:gd name="T67" fmla="*/ 20 h 29"/>
                <a:gd name="T68" fmla="*/ 3 w 27"/>
                <a:gd name="T69" fmla="*/ 23 h 29"/>
                <a:gd name="T70" fmla="*/ 3 w 27"/>
                <a:gd name="T71" fmla="*/ 26 h 29"/>
                <a:gd name="T72" fmla="*/ 6 w 27"/>
                <a:gd name="T73" fmla="*/ 26 h 29"/>
                <a:gd name="T74" fmla="*/ 6 w 27"/>
                <a:gd name="T75" fmla="*/ 26 h 29"/>
                <a:gd name="T76" fmla="*/ 9 w 27"/>
                <a:gd name="T77" fmla="*/ 29 h 29"/>
                <a:gd name="T78" fmla="*/ 12 w 27"/>
                <a:gd name="T79" fmla="*/ 29 h 29"/>
                <a:gd name="T80" fmla="*/ 15 w 27"/>
                <a:gd name="T81" fmla="*/ 29 h 29"/>
                <a:gd name="T82" fmla="*/ 15 w 27"/>
                <a:gd name="T83" fmla="*/ 29 h 29"/>
                <a:gd name="T84" fmla="*/ 12 w 27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7"/>
                <a:gd name="T130" fmla="*/ 0 h 29"/>
                <a:gd name="T131" fmla="*/ 27 w 27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7" h="29">
                  <a:moveTo>
                    <a:pt x="12" y="29"/>
                  </a:moveTo>
                  <a:lnTo>
                    <a:pt x="15" y="29"/>
                  </a:lnTo>
                  <a:lnTo>
                    <a:pt x="18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4" y="23"/>
                  </a:lnTo>
                  <a:lnTo>
                    <a:pt x="27" y="20"/>
                  </a:lnTo>
                  <a:lnTo>
                    <a:pt x="27" y="17"/>
                  </a:lnTo>
                  <a:lnTo>
                    <a:pt x="27" y="14"/>
                  </a:lnTo>
                  <a:lnTo>
                    <a:pt x="27" y="11"/>
                  </a:lnTo>
                  <a:lnTo>
                    <a:pt x="27" y="9"/>
                  </a:lnTo>
                  <a:lnTo>
                    <a:pt x="24" y="6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3" y="26"/>
                  </a:lnTo>
                  <a:lnTo>
                    <a:pt x="6" y="26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2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Freeform 40"/>
            <p:cNvSpPr>
              <a:spLocks noChangeArrowheads="1"/>
            </p:cNvSpPr>
            <p:nvPr/>
          </p:nvSpPr>
          <p:spPr bwMode="auto">
            <a:xfrm>
              <a:off x="3044" y="1640"/>
              <a:ext cx="27" cy="29"/>
            </a:xfrm>
            <a:custGeom>
              <a:avLst/>
              <a:gdLst>
                <a:gd name="T0" fmla="*/ 12 w 27"/>
                <a:gd name="T1" fmla="*/ 29 h 29"/>
                <a:gd name="T2" fmla="*/ 15 w 27"/>
                <a:gd name="T3" fmla="*/ 29 h 29"/>
                <a:gd name="T4" fmla="*/ 18 w 27"/>
                <a:gd name="T5" fmla="*/ 29 h 29"/>
                <a:gd name="T6" fmla="*/ 21 w 27"/>
                <a:gd name="T7" fmla="*/ 26 h 29"/>
                <a:gd name="T8" fmla="*/ 21 w 27"/>
                <a:gd name="T9" fmla="*/ 26 h 29"/>
                <a:gd name="T10" fmla="*/ 24 w 27"/>
                <a:gd name="T11" fmla="*/ 26 h 29"/>
                <a:gd name="T12" fmla="*/ 24 w 27"/>
                <a:gd name="T13" fmla="*/ 23 h 29"/>
                <a:gd name="T14" fmla="*/ 27 w 27"/>
                <a:gd name="T15" fmla="*/ 20 h 29"/>
                <a:gd name="T16" fmla="*/ 27 w 27"/>
                <a:gd name="T17" fmla="*/ 20 h 29"/>
                <a:gd name="T18" fmla="*/ 27 w 27"/>
                <a:gd name="T19" fmla="*/ 17 h 29"/>
                <a:gd name="T20" fmla="*/ 27 w 27"/>
                <a:gd name="T21" fmla="*/ 14 h 29"/>
                <a:gd name="T22" fmla="*/ 27 w 27"/>
                <a:gd name="T23" fmla="*/ 11 h 29"/>
                <a:gd name="T24" fmla="*/ 27 w 27"/>
                <a:gd name="T25" fmla="*/ 11 h 29"/>
                <a:gd name="T26" fmla="*/ 27 w 27"/>
                <a:gd name="T27" fmla="*/ 9 h 29"/>
                <a:gd name="T28" fmla="*/ 24 w 27"/>
                <a:gd name="T29" fmla="*/ 6 h 29"/>
                <a:gd name="T30" fmla="*/ 24 w 27"/>
                <a:gd name="T31" fmla="*/ 6 h 29"/>
                <a:gd name="T32" fmla="*/ 21 w 27"/>
                <a:gd name="T33" fmla="*/ 3 h 29"/>
                <a:gd name="T34" fmla="*/ 21 w 27"/>
                <a:gd name="T35" fmla="*/ 3 h 29"/>
                <a:gd name="T36" fmla="*/ 18 w 27"/>
                <a:gd name="T37" fmla="*/ 0 h 29"/>
                <a:gd name="T38" fmla="*/ 15 w 27"/>
                <a:gd name="T39" fmla="*/ 0 h 29"/>
                <a:gd name="T40" fmla="*/ 15 w 27"/>
                <a:gd name="T41" fmla="*/ 0 h 29"/>
                <a:gd name="T42" fmla="*/ 12 w 27"/>
                <a:gd name="T43" fmla="*/ 0 h 29"/>
                <a:gd name="T44" fmla="*/ 9 w 27"/>
                <a:gd name="T45" fmla="*/ 0 h 29"/>
                <a:gd name="T46" fmla="*/ 6 w 27"/>
                <a:gd name="T47" fmla="*/ 3 h 29"/>
                <a:gd name="T48" fmla="*/ 6 w 27"/>
                <a:gd name="T49" fmla="*/ 3 h 29"/>
                <a:gd name="T50" fmla="*/ 3 w 27"/>
                <a:gd name="T51" fmla="*/ 6 h 29"/>
                <a:gd name="T52" fmla="*/ 3 w 27"/>
                <a:gd name="T53" fmla="*/ 6 h 29"/>
                <a:gd name="T54" fmla="*/ 0 w 27"/>
                <a:gd name="T55" fmla="*/ 9 h 29"/>
                <a:gd name="T56" fmla="*/ 0 w 27"/>
                <a:gd name="T57" fmla="*/ 11 h 29"/>
                <a:gd name="T58" fmla="*/ 0 w 27"/>
                <a:gd name="T59" fmla="*/ 11 h 29"/>
                <a:gd name="T60" fmla="*/ 0 w 27"/>
                <a:gd name="T61" fmla="*/ 14 h 29"/>
                <a:gd name="T62" fmla="*/ 0 w 27"/>
                <a:gd name="T63" fmla="*/ 17 h 29"/>
                <a:gd name="T64" fmla="*/ 0 w 27"/>
                <a:gd name="T65" fmla="*/ 20 h 29"/>
                <a:gd name="T66" fmla="*/ 0 w 27"/>
                <a:gd name="T67" fmla="*/ 20 h 29"/>
                <a:gd name="T68" fmla="*/ 3 w 27"/>
                <a:gd name="T69" fmla="*/ 23 h 29"/>
                <a:gd name="T70" fmla="*/ 3 w 27"/>
                <a:gd name="T71" fmla="*/ 26 h 29"/>
                <a:gd name="T72" fmla="*/ 6 w 27"/>
                <a:gd name="T73" fmla="*/ 26 h 29"/>
                <a:gd name="T74" fmla="*/ 6 w 27"/>
                <a:gd name="T75" fmla="*/ 26 h 29"/>
                <a:gd name="T76" fmla="*/ 9 w 27"/>
                <a:gd name="T77" fmla="*/ 29 h 29"/>
                <a:gd name="T78" fmla="*/ 12 w 27"/>
                <a:gd name="T79" fmla="*/ 29 h 29"/>
                <a:gd name="T80" fmla="*/ 15 w 27"/>
                <a:gd name="T81" fmla="*/ 29 h 29"/>
                <a:gd name="T82" fmla="*/ 15 w 27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7"/>
                <a:gd name="T127" fmla="*/ 0 h 29"/>
                <a:gd name="T128" fmla="*/ 27 w 27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7" h="29">
                  <a:moveTo>
                    <a:pt x="12" y="29"/>
                  </a:moveTo>
                  <a:lnTo>
                    <a:pt x="15" y="29"/>
                  </a:lnTo>
                  <a:lnTo>
                    <a:pt x="18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4" y="23"/>
                  </a:lnTo>
                  <a:lnTo>
                    <a:pt x="27" y="20"/>
                  </a:lnTo>
                  <a:lnTo>
                    <a:pt x="27" y="17"/>
                  </a:lnTo>
                  <a:lnTo>
                    <a:pt x="27" y="14"/>
                  </a:lnTo>
                  <a:lnTo>
                    <a:pt x="27" y="11"/>
                  </a:lnTo>
                  <a:lnTo>
                    <a:pt x="27" y="9"/>
                  </a:lnTo>
                  <a:lnTo>
                    <a:pt x="24" y="6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3" y="26"/>
                  </a:lnTo>
                  <a:lnTo>
                    <a:pt x="6" y="26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5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Freeform 41"/>
            <p:cNvSpPr>
              <a:spLocks noChangeArrowheads="1"/>
            </p:cNvSpPr>
            <p:nvPr/>
          </p:nvSpPr>
          <p:spPr bwMode="auto">
            <a:xfrm>
              <a:off x="2980" y="1496"/>
              <a:ext cx="29" cy="26"/>
            </a:xfrm>
            <a:custGeom>
              <a:avLst/>
              <a:gdLst>
                <a:gd name="T0" fmla="*/ 11 w 29"/>
                <a:gd name="T1" fmla="*/ 26 h 26"/>
                <a:gd name="T2" fmla="*/ 17 w 29"/>
                <a:gd name="T3" fmla="*/ 26 h 26"/>
                <a:gd name="T4" fmla="*/ 17 w 29"/>
                <a:gd name="T5" fmla="*/ 26 h 26"/>
                <a:gd name="T6" fmla="*/ 20 w 29"/>
                <a:gd name="T7" fmla="*/ 26 h 26"/>
                <a:gd name="T8" fmla="*/ 23 w 29"/>
                <a:gd name="T9" fmla="*/ 26 h 26"/>
                <a:gd name="T10" fmla="*/ 23 w 29"/>
                <a:gd name="T11" fmla="*/ 23 h 26"/>
                <a:gd name="T12" fmla="*/ 26 w 29"/>
                <a:gd name="T13" fmla="*/ 20 h 26"/>
                <a:gd name="T14" fmla="*/ 26 w 29"/>
                <a:gd name="T15" fmla="*/ 20 h 26"/>
                <a:gd name="T16" fmla="*/ 26 w 29"/>
                <a:gd name="T17" fmla="*/ 17 h 26"/>
                <a:gd name="T18" fmla="*/ 29 w 29"/>
                <a:gd name="T19" fmla="*/ 15 h 26"/>
                <a:gd name="T20" fmla="*/ 29 w 29"/>
                <a:gd name="T21" fmla="*/ 15 h 26"/>
                <a:gd name="T22" fmla="*/ 29 w 29"/>
                <a:gd name="T23" fmla="*/ 12 h 26"/>
                <a:gd name="T24" fmla="*/ 26 w 29"/>
                <a:gd name="T25" fmla="*/ 9 h 26"/>
                <a:gd name="T26" fmla="*/ 26 w 29"/>
                <a:gd name="T27" fmla="*/ 6 h 26"/>
                <a:gd name="T28" fmla="*/ 26 w 29"/>
                <a:gd name="T29" fmla="*/ 6 h 26"/>
                <a:gd name="T30" fmla="*/ 23 w 29"/>
                <a:gd name="T31" fmla="*/ 3 h 26"/>
                <a:gd name="T32" fmla="*/ 23 w 29"/>
                <a:gd name="T33" fmla="*/ 3 h 26"/>
                <a:gd name="T34" fmla="*/ 20 w 29"/>
                <a:gd name="T35" fmla="*/ 0 h 26"/>
                <a:gd name="T36" fmla="*/ 17 w 29"/>
                <a:gd name="T37" fmla="*/ 0 h 26"/>
                <a:gd name="T38" fmla="*/ 17 w 29"/>
                <a:gd name="T39" fmla="*/ 0 h 26"/>
                <a:gd name="T40" fmla="*/ 14 w 29"/>
                <a:gd name="T41" fmla="*/ 0 h 26"/>
                <a:gd name="T42" fmla="*/ 11 w 29"/>
                <a:gd name="T43" fmla="*/ 0 h 26"/>
                <a:gd name="T44" fmla="*/ 8 w 29"/>
                <a:gd name="T45" fmla="*/ 0 h 26"/>
                <a:gd name="T46" fmla="*/ 8 w 29"/>
                <a:gd name="T47" fmla="*/ 0 h 26"/>
                <a:gd name="T48" fmla="*/ 5 w 29"/>
                <a:gd name="T49" fmla="*/ 3 h 26"/>
                <a:gd name="T50" fmla="*/ 3 w 29"/>
                <a:gd name="T51" fmla="*/ 3 h 26"/>
                <a:gd name="T52" fmla="*/ 3 w 29"/>
                <a:gd name="T53" fmla="*/ 6 h 26"/>
                <a:gd name="T54" fmla="*/ 0 w 29"/>
                <a:gd name="T55" fmla="*/ 6 h 26"/>
                <a:gd name="T56" fmla="*/ 0 w 29"/>
                <a:gd name="T57" fmla="*/ 9 h 26"/>
                <a:gd name="T58" fmla="*/ 0 w 29"/>
                <a:gd name="T59" fmla="*/ 12 h 26"/>
                <a:gd name="T60" fmla="*/ 0 w 29"/>
                <a:gd name="T61" fmla="*/ 15 h 26"/>
                <a:gd name="T62" fmla="*/ 0 w 29"/>
                <a:gd name="T63" fmla="*/ 15 h 26"/>
                <a:gd name="T64" fmla="*/ 0 w 29"/>
                <a:gd name="T65" fmla="*/ 17 h 26"/>
                <a:gd name="T66" fmla="*/ 0 w 29"/>
                <a:gd name="T67" fmla="*/ 20 h 26"/>
                <a:gd name="T68" fmla="*/ 3 w 29"/>
                <a:gd name="T69" fmla="*/ 20 h 26"/>
                <a:gd name="T70" fmla="*/ 3 w 29"/>
                <a:gd name="T71" fmla="*/ 23 h 26"/>
                <a:gd name="T72" fmla="*/ 5 w 29"/>
                <a:gd name="T73" fmla="*/ 26 h 26"/>
                <a:gd name="T74" fmla="*/ 8 w 29"/>
                <a:gd name="T75" fmla="*/ 26 h 26"/>
                <a:gd name="T76" fmla="*/ 8 w 29"/>
                <a:gd name="T77" fmla="*/ 26 h 26"/>
                <a:gd name="T78" fmla="*/ 11 w 29"/>
                <a:gd name="T79" fmla="*/ 26 h 26"/>
                <a:gd name="T80" fmla="*/ 14 w 29"/>
                <a:gd name="T81" fmla="*/ 26 h 26"/>
                <a:gd name="T82" fmla="*/ 14 w 29"/>
                <a:gd name="T83" fmla="*/ 26 h 26"/>
                <a:gd name="T84" fmla="*/ 11 w 29"/>
                <a:gd name="T85" fmla="*/ 26 h 2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26"/>
                <a:gd name="T131" fmla="*/ 29 w 29"/>
                <a:gd name="T132" fmla="*/ 26 h 2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26">
                  <a:moveTo>
                    <a:pt x="11" y="26"/>
                  </a:moveTo>
                  <a:lnTo>
                    <a:pt x="17" y="26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3" y="23"/>
                  </a:lnTo>
                  <a:lnTo>
                    <a:pt x="26" y="20"/>
                  </a:lnTo>
                  <a:lnTo>
                    <a:pt x="26" y="17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11" y="26"/>
                  </a:lnTo>
                  <a:lnTo>
                    <a:pt x="14" y="26"/>
                  </a:lnTo>
                  <a:lnTo>
                    <a:pt x="11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Freeform 42"/>
            <p:cNvSpPr>
              <a:spLocks noChangeArrowheads="1"/>
            </p:cNvSpPr>
            <p:nvPr/>
          </p:nvSpPr>
          <p:spPr bwMode="auto">
            <a:xfrm>
              <a:off x="2980" y="1496"/>
              <a:ext cx="29" cy="26"/>
            </a:xfrm>
            <a:custGeom>
              <a:avLst/>
              <a:gdLst>
                <a:gd name="T0" fmla="*/ 11 w 29"/>
                <a:gd name="T1" fmla="*/ 26 h 26"/>
                <a:gd name="T2" fmla="*/ 17 w 29"/>
                <a:gd name="T3" fmla="*/ 26 h 26"/>
                <a:gd name="T4" fmla="*/ 17 w 29"/>
                <a:gd name="T5" fmla="*/ 26 h 26"/>
                <a:gd name="T6" fmla="*/ 20 w 29"/>
                <a:gd name="T7" fmla="*/ 26 h 26"/>
                <a:gd name="T8" fmla="*/ 23 w 29"/>
                <a:gd name="T9" fmla="*/ 26 h 26"/>
                <a:gd name="T10" fmla="*/ 23 w 29"/>
                <a:gd name="T11" fmla="*/ 23 h 26"/>
                <a:gd name="T12" fmla="*/ 26 w 29"/>
                <a:gd name="T13" fmla="*/ 20 h 26"/>
                <a:gd name="T14" fmla="*/ 26 w 29"/>
                <a:gd name="T15" fmla="*/ 20 h 26"/>
                <a:gd name="T16" fmla="*/ 26 w 29"/>
                <a:gd name="T17" fmla="*/ 17 h 26"/>
                <a:gd name="T18" fmla="*/ 29 w 29"/>
                <a:gd name="T19" fmla="*/ 15 h 26"/>
                <a:gd name="T20" fmla="*/ 29 w 29"/>
                <a:gd name="T21" fmla="*/ 15 h 26"/>
                <a:gd name="T22" fmla="*/ 29 w 29"/>
                <a:gd name="T23" fmla="*/ 12 h 26"/>
                <a:gd name="T24" fmla="*/ 26 w 29"/>
                <a:gd name="T25" fmla="*/ 9 h 26"/>
                <a:gd name="T26" fmla="*/ 26 w 29"/>
                <a:gd name="T27" fmla="*/ 6 h 26"/>
                <a:gd name="T28" fmla="*/ 26 w 29"/>
                <a:gd name="T29" fmla="*/ 6 h 26"/>
                <a:gd name="T30" fmla="*/ 23 w 29"/>
                <a:gd name="T31" fmla="*/ 3 h 26"/>
                <a:gd name="T32" fmla="*/ 23 w 29"/>
                <a:gd name="T33" fmla="*/ 3 h 26"/>
                <a:gd name="T34" fmla="*/ 20 w 29"/>
                <a:gd name="T35" fmla="*/ 0 h 26"/>
                <a:gd name="T36" fmla="*/ 17 w 29"/>
                <a:gd name="T37" fmla="*/ 0 h 26"/>
                <a:gd name="T38" fmla="*/ 17 w 29"/>
                <a:gd name="T39" fmla="*/ 0 h 26"/>
                <a:gd name="T40" fmla="*/ 14 w 29"/>
                <a:gd name="T41" fmla="*/ 0 h 26"/>
                <a:gd name="T42" fmla="*/ 11 w 29"/>
                <a:gd name="T43" fmla="*/ 0 h 26"/>
                <a:gd name="T44" fmla="*/ 8 w 29"/>
                <a:gd name="T45" fmla="*/ 0 h 26"/>
                <a:gd name="T46" fmla="*/ 8 w 29"/>
                <a:gd name="T47" fmla="*/ 0 h 26"/>
                <a:gd name="T48" fmla="*/ 5 w 29"/>
                <a:gd name="T49" fmla="*/ 3 h 26"/>
                <a:gd name="T50" fmla="*/ 3 w 29"/>
                <a:gd name="T51" fmla="*/ 3 h 26"/>
                <a:gd name="T52" fmla="*/ 3 w 29"/>
                <a:gd name="T53" fmla="*/ 6 h 26"/>
                <a:gd name="T54" fmla="*/ 0 w 29"/>
                <a:gd name="T55" fmla="*/ 6 h 26"/>
                <a:gd name="T56" fmla="*/ 0 w 29"/>
                <a:gd name="T57" fmla="*/ 9 h 26"/>
                <a:gd name="T58" fmla="*/ 0 w 29"/>
                <a:gd name="T59" fmla="*/ 12 h 26"/>
                <a:gd name="T60" fmla="*/ 0 w 29"/>
                <a:gd name="T61" fmla="*/ 15 h 26"/>
                <a:gd name="T62" fmla="*/ 0 w 29"/>
                <a:gd name="T63" fmla="*/ 15 h 26"/>
                <a:gd name="T64" fmla="*/ 0 w 29"/>
                <a:gd name="T65" fmla="*/ 17 h 26"/>
                <a:gd name="T66" fmla="*/ 0 w 29"/>
                <a:gd name="T67" fmla="*/ 20 h 26"/>
                <a:gd name="T68" fmla="*/ 3 w 29"/>
                <a:gd name="T69" fmla="*/ 20 h 26"/>
                <a:gd name="T70" fmla="*/ 3 w 29"/>
                <a:gd name="T71" fmla="*/ 23 h 26"/>
                <a:gd name="T72" fmla="*/ 5 w 29"/>
                <a:gd name="T73" fmla="*/ 26 h 26"/>
                <a:gd name="T74" fmla="*/ 8 w 29"/>
                <a:gd name="T75" fmla="*/ 26 h 26"/>
                <a:gd name="T76" fmla="*/ 8 w 29"/>
                <a:gd name="T77" fmla="*/ 26 h 26"/>
                <a:gd name="T78" fmla="*/ 11 w 29"/>
                <a:gd name="T79" fmla="*/ 26 h 26"/>
                <a:gd name="T80" fmla="*/ 14 w 29"/>
                <a:gd name="T81" fmla="*/ 26 h 26"/>
                <a:gd name="T82" fmla="*/ 14 w 29"/>
                <a:gd name="T83" fmla="*/ 26 h 2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6"/>
                <a:gd name="T128" fmla="*/ 29 w 29"/>
                <a:gd name="T129" fmla="*/ 26 h 2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6">
                  <a:moveTo>
                    <a:pt x="11" y="26"/>
                  </a:moveTo>
                  <a:lnTo>
                    <a:pt x="17" y="26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3" y="23"/>
                  </a:lnTo>
                  <a:lnTo>
                    <a:pt x="26" y="20"/>
                  </a:lnTo>
                  <a:lnTo>
                    <a:pt x="26" y="17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11" y="26"/>
                  </a:lnTo>
                  <a:lnTo>
                    <a:pt x="14" y="26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Freeform 43"/>
            <p:cNvSpPr>
              <a:spLocks noChangeArrowheads="1"/>
            </p:cNvSpPr>
            <p:nvPr/>
          </p:nvSpPr>
          <p:spPr bwMode="auto">
            <a:xfrm>
              <a:off x="2918" y="1343"/>
              <a:ext cx="29" cy="30"/>
            </a:xfrm>
            <a:custGeom>
              <a:avLst/>
              <a:gdLst>
                <a:gd name="T0" fmla="*/ 15 w 29"/>
                <a:gd name="T1" fmla="*/ 30 h 30"/>
                <a:gd name="T2" fmla="*/ 18 w 29"/>
                <a:gd name="T3" fmla="*/ 30 h 30"/>
                <a:gd name="T4" fmla="*/ 21 w 29"/>
                <a:gd name="T5" fmla="*/ 30 h 30"/>
                <a:gd name="T6" fmla="*/ 23 w 29"/>
                <a:gd name="T7" fmla="*/ 30 h 30"/>
                <a:gd name="T8" fmla="*/ 23 w 29"/>
                <a:gd name="T9" fmla="*/ 27 h 30"/>
                <a:gd name="T10" fmla="*/ 26 w 29"/>
                <a:gd name="T11" fmla="*/ 27 h 30"/>
                <a:gd name="T12" fmla="*/ 26 w 29"/>
                <a:gd name="T13" fmla="*/ 24 h 30"/>
                <a:gd name="T14" fmla="*/ 29 w 29"/>
                <a:gd name="T15" fmla="*/ 24 h 30"/>
                <a:gd name="T16" fmla="*/ 29 w 29"/>
                <a:gd name="T17" fmla="*/ 21 h 30"/>
                <a:gd name="T18" fmla="*/ 29 w 29"/>
                <a:gd name="T19" fmla="*/ 18 h 30"/>
                <a:gd name="T20" fmla="*/ 29 w 29"/>
                <a:gd name="T21" fmla="*/ 15 h 30"/>
                <a:gd name="T22" fmla="*/ 29 w 29"/>
                <a:gd name="T23" fmla="*/ 15 h 30"/>
                <a:gd name="T24" fmla="*/ 29 w 29"/>
                <a:gd name="T25" fmla="*/ 12 h 30"/>
                <a:gd name="T26" fmla="*/ 29 w 29"/>
                <a:gd name="T27" fmla="*/ 9 h 30"/>
                <a:gd name="T28" fmla="*/ 26 w 29"/>
                <a:gd name="T29" fmla="*/ 6 h 30"/>
                <a:gd name="T30" fmla="*/ 26 w 29"/>
                <a:gd name="T31" fmla="*/ 6 h 30"/>
                <a:gd name="T32" fmla="*/ 23 w 29"/>
                <a:gd name="T33" fmla="*/ 3 h 30"/>
                <a:gd name="T34" fmla="*/ 23 w 29"/>
                <a:gd name="T35" fmla="*/ 3 h 30"/>
                <a:gd name="T36" fmla="*/ 21 w 29"/>
                <a:gd name="T37" fmla="*/ 3 h 30"/>
                <a:gd name="T38" fmla="*/ 18 w 29"/>
                <a:gd name="T39" fmla="*/ 3 h 30"/>
                <a:gd name="T40" fmla="*/ 15 w 29"/>
                <a:gd name="T41" fmla="*/ 0 h 30"/>
                <a:gd name="T42" fmla="*/ 15 w 29"/>
                <a:gd name="T43" fmla="*/ 3 h 30"/>
                <a:gd name="T44" fmla="*/ 12 w 29"/>
                <a:gd name="T45" fmla="*/ 3 h 30"/>
                <a:gd name="T46" fmla="*/ 9 w 29"/>
                <a:gd name="T47" fmla="*/ 3 h 30"/>
                <a:gd name="T48" fmla="*/ 6 w 29"/>
                <a:gd name="T49" fmla="*/ 3 h 30"/>
                <a:gd name="T50" fmla="*/ 6 w 29"/>
                <a:gd name="T51" fmla="*/ 6 h 30"/>
                <a:gd name="T52" fmla="*/ 3 w 29"/>
                <a:gd name="T53" fmla="*/ 6 h 30"/>
                <a:gd name="T54" fmla="*/ 3 w 29"/>
                <a:gd name="T55" fmla="*/ 9 h 30"/>
                <a:gd name="T56" fmla="*/ 3 w 29"/>
                <a:gd name="T57" fmla="*/ 12 h 30"/>
                <a:gd name="T58" fmla="*/ 0 w 29"/>
                <a:gd name="T59" fmla="*/ 15 h 30"/>
                <a:gd name="T60" fmla="*/ 0 w 29"/>
                <a:gd name="T61" fmla="*/ 15 h 30"/>
                <a:gd name="T62" fmla="*/ 0 w 29"/>
                <a:gd name="T63" fmla="*/ 18 h 30"/>
                <a:gd name="T64" fmla="*/ 3 w 29"/>
                <a:gd name="T65" fmla="*/ 21 h 30"/>
                <a:gd name="T66" fmla="*/ 3 w 29"/>
                <a:gd name="T67" fmla="*/ 24 h 30"/>
                <a:gd name="T68" fmla="*/ 3 w 29"/>
                <a:gd name="T69" fmla="*/ 24 h 30"/>
                <a:gd name="T70" fmla="*/ 6 w 29"/>
                <a:gd name="T71" fmla="*/ 27 h 30"/>
                <a:gd name="T72" fmla="*/ 6 w 29"/>
                <a:gd name="T73" fmla="*/ 27 h 30"/>
                <a:gd name="T74" fmla="*/ 9 w 29"/>
                <a:gd name="T75" fmla="*/ 30 h 30"/>
                <a:gd name="T76" fmla="*/ 12 w 29"/>
                <a:gd name="T77" fmla="*/ 30 h 30"/>
                <a:gd name="T78" fmla="*/ 15 w 29"/>
                <a:gd name="T79" fmla="*/ 30 h 30"/>
                <a:gd name="T80" fmla="*/ 15 w 29"/>
                <a:gd name="T81" fmla="*/ 30 h 30"/>
                <a:gd name="T82" fmla="*/ 15 w 29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30"/>
                <a:gd name="T128" fmla="*/ 29 w 29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30">
                  <a:moveTo>
                    <a:pt x="15" y="30"/>
                  </a:moveTo>
                  <a:lnTo>
                    <a:pt x="18" y="30"/>
                  </a:lnTo>
                  <a:lnTo>
                    <a:pt x="21" y="30"/>
                  </a:lnTo>
                  <a:lnTo>
                    <a:pt x="23" y="30"/>
                  </a:lnTo>
                  <a:lnTo>
                    <a:pt x="23" y="27"/>
                  </a:lnTo>
                  <a:lnTo>
                    <a:pt x="26" y="27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15" y="3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1"/>
                  </a:lnTo>
                  <a:lnTo>
                    <a:pt x="3" y="24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2" y="30"/>
                  </a:lnTo>
                  <a:lnTo>
                    <a:pt x="15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Freeform 44"/>
            <p:cNvSpPr>
              <a:spLocks noChangeArrowheads="1"/>
            </p:cNvSpPr>
            <p:nvPr/>
          </p:nvSpPr>
          <p:spPr bwMode="auto">
            <a:xfrm>
              <a:off x="2918" y="1343"/>
              <a:ext cx="29" cy="30"/>
            </a:xfrm>
            <a:custGeom>
              <a:avLst/>
              <a:gdLst>
                <a:gd name="T0" fmla="*/ 15 w 29"/>
                <a:gd name="T1" fmla="*/ 30 h 30"/>
                <a:gd name="T2" fmla="*/ 18 w 29"/>
                <a:gd name="T3" fmla="*/ 30 h 30"/>
                <a:gd name="T4" fmla="*/ 21 w 29"/>
                <a:gd name="T5" fmla="*/ 30 h 30"/>
                <a:gd name="T6" fmla="*/ 23 w 29"/>
                <a:gd name="T7" fmla="*/ 30 h 30"/>
                <a:gd name="T8" fmla="*/ 23 w 29"/>
                <a:gd name="T9" fmla="*/ 27 h 30"/>
                <a:gd name="T10" fmla="*/ 26 w 29"/>
                <a:gd name="T11" fmla="*/ 27 h 30"/>
                <a:gd name="T12" fmla="*/ 26 w 29"/>
                <a:gd name="T13" fmla="*/ 24 h 30"/>
                <a:gd name="T14" fmla="*/ 29 w 29"/>
                <a:gd name="T15" fmla="*/ 24 h 30"/>
                <a:gd name="T16" fmla="*/ 29 w 29"/>
                <a:gd name="T17" fmla="*/ 21 h 30"/>
                <a:gd name="T18" fmla="*/ 29 w 29"/>
                <a:gd name="T19" fmla="*/ 18 h 30"/>
                <a:gd name="T20" fmla="*/ 29 w 29"/>
                <a:gd name="T21" fmla="*/ 15 h 30"/>
                <a:gd name="T22" fmla="*/ 29 w 29"/>
                <a:gd name="T23" fmla="*/ 15 h 30"/>
                <a:gd name="T24" fmla="*/ 29 w 29"/>
                <a:gd name="T25" fmla="*/ 12 h 30"/>
                <a:gd name="T26" fmla="*/ 29 w 29"/>
                <a:gd name="T27" fmla="*/ 9 h 30"/>
                <a:gd name="T28" fmla="*/ 26 w 29"/>
                <a:gd name="T29" fmla="*/ 6 h 30"/>
                <a:gd name="T30" fmla="*/ 26 w 29"/>
                <a:gd name="T31" fmla="*/ 6 h 30"/>
                <a:gd name="T32" fmla="*/ 23 w 29"/>
                <a:gd name="T33" fmla="*/ 3 h 30"/>
                <a:gd name="T34" fmla="*/ 23 w 29"/>
                <a:gd name="T35" fmla="*/ 3 h 30"/>
                <a:gd name="T36" fmla="*/ 21 w 29"/>
                <a:gd name="T37" fmla="*/ 3 h 30"/>
                <a:gd name="T38" fmla="*/ 18 w 29"/>
                <a:gd name="T39" fmla="*/ 3 h 30"/>
                <a:gd name="T40" fmla="*/ 15 w 29"/>
                <a:gd name="T41" fmla="*/ 0 h 30"/>
                <a:gd name="T42" fmla="*/ 15 w 29"/>
                <a:gd name="T43" fmla="*/ 3 h 30"/>
                <a:gd name="T44" fmla="*/ 12 w 29"/>
                <a:gd name="T45" fmla="*/ 3 h 30"/>
                <a:gd name="T46" fmla="*/ 9 w 29"/>
                <a:gd name="T47" fmla="*/ 3 h 30"/>
                <a:gd name="T48" fmla="*/ 6 w 29"/>
                <a:gd name="T49" fmla="*/ 3 h 30"/>
                <a:gd name="T50" fmla="*/ 6 w 29"/>
                <a:gd name="T51" fmla="*/ 6 h 30"/>
                <a:gd name="T52" fmla="*/ 3 w 29"/>
                <a:gd name="T53" fmla="*/ 6 h 30"/>
                <a:gd name="T54" fmla="*/ 3 w 29"/>
                <a:gd name="T55" fmla="*/ 9 h 30"/>
                <a:gd name="T56" fmla="*/ 3 w 29"/>
                <a:gd name="T57" fmla="*/ 12 h 30"/>
                <a:gd name="T58" fmla="*/ 0 w 29"/>
                <a:gd name="T59" fmla="*/ 15 h 30"/>
                <a:gd name="T60" fmla="*/ 0 w 29"/>
                <a:gd name="T61" fmla="*/ 15 h 30"/>
                <a:gd name="T62" fmla="*/ 0 w 29"/>
                <a:gd name="T63" fmla="*/ 18 h 30"/>
                <a:gd name="T64" fmla="*/ 3 w 29"/>
                <a:gd name="T65" fmla="*/ 21 h 30"/>
                <a:gd name="T66" fmla="*/ 3 w 29"/>
                <a:gd name="T67" fmla="*/ 24 h 30"/>
                <a:gd name="T68" fmla="*/ 3 w 29"/>
                <a:gd name="T69" fmla="*/ 24 h 30"/>
                <a:gd name="T70" fmla="*/ 6 w 29"/>
                <a:gd name="T71" fmla="*/ 27 h 30"/>
                <a:gd name="T72" fmla="*/ 6 w 29"/>
                <a:gd name="T73" fmla="*/ 27 h 30"/>
                <a:gd name="T74" fmla="*/ 9 w 29"/>
                <a:gd name="T75" fmla="*/ 30 h 30"/>
                <a:gd name="T76" fmla="*/ 12 w 29"/>
                <a:gd name="T77" fmla="*/ 30 h 30"/>
                <a:gd name="T78" fmla="*/ 15 w 29"/>
                <a:gd name="T79" fmla="*/ 30 h 30"/>
                <a:gd name="T80" fmla="*/ 15 w 29"/>
                <a:gd name="T81" fmla="*/ 30 h 30"/>
                <a:gd name="T82" fmla="*/ 15 w 29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30"/>
                <a:gd name="T128" fmla="*/ 29 w 29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30">
                  <a:moveTo>
                    <a:pt x="15" y="30"/>
                  </a:moveTo>
                  <a:lnTo>
                    <a:pt x="18" y="30"/>
                  </a:lnTo>
                  <a:lnTo>
                    <a:pt x="21" y="30"/>
                  </a:lnTo>
                  <a:lnTo>
                    <a:pt x="23" y="30"/>
                  </a:lnTo>
                  <a:lnTo>
                    <a:pt x="23" y="27"/>
                  </a:lnTo>
                  <a:lnTo>
                    <a:pt x="26" y="27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1" y="3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15" y="3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1"/>
                  </a:lnTo>
                  <a:lnTo>
                    <a:pt x="3" y="24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2" y="30"/>
                  </a:lnTo>
                  <a:lnTo>
                    <a:pt x="15" y="3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Freeform 45"/>
            <p:cNvSpPr>
              <a:spLocks noChangeArrowheads="1"/>
            </p:cNvSpPr>
            <p:nvPr/>
          </p:nvSpPr>
          <p:spPr bwMode="auto">
            <a:xfrm>
              <a:off x="2868" y="1193"/>
              <a:ext cx="29" cy="30"/>
            </a:xfrm>
            <a:custGeom>
              <a:avLst/>
              <a:gdLst>
                <a:gd name="T0" fmla="*/ 12 w 29"/>
                <a:gd name="T1" fmla="*/ 27 h 30"/>
                <a:gd name="T2" fmla="*/ 15 w 29"/>
                <a:gd name="T3" fmla="*/ 30 h 30"/>
                <a:gd name="T4" fmla="*/ 18 w 29"/>
                <a:gd name="T5" fmla="*/ 30 h 30"/>
                <a:gd name="T6" fmla="*/ 21 w 29"/>
                <a:gd name="T7" fmla="*/ 27 h 30"/>
                <a:gd name="T8" fmla="*/ 24 w 29"/>
                <a:gd name="T9" fmla="*/ 27 h 30"/>
                <a:gd name="T10" fmla="*/ 24 w 29"/>
                <a:gd name="T11" fmla="*/ 24 h 30"/>
                <a:gd name="T12" fmla="*/ 26 w 29"/>
                <a:gd name="T13" fmla="*/ 24 h 30"/>
                <a:gd name="T14" fmla="*/ 26 w 29"/>
                <a:gd name="T15" fmla="*/ 21 h 30"/>
                <a:gd name="T16" fmla="*/ 26 w 29"/>
                <a:gd name="T17" fmla="*/ 21 h 30"/>
                <a:gd name="T18" fmla="*/ 26 w 29"/>
                <a:gd name="T19" fmla="*/ 18 h 30"/>
                <a:gd name="T20" fmla="*/ 29 w 29"/>
                <a:gd name="T21" fmla="*/ 15 h 30"/>
                <a:gd name="T22" fmla="*/ 26 w 29"/>
                <a:gd name="T23" fmla="*/ 12 h 30"/>
                <a:gd name="T24" fmla="*/ 26 w 29"/>
                <a:gd name="T25" fmla="*/ 9 h 30"/>
                <a:gd name="T26" fmla="*/ 26 w 29"/>
                <a:gd name="T27" fmla="*/ 9 h 30"/>
                <a:gd name="T28" fmla="*/ 26 w 29"/>
                <a:gd name="T29" fmla="*/ 6 h 30"/>
                <a:gd name="T30" fmla="*/ 24 w 29"/>
                <a:gd name="T31" fmla="*/ 6 h 30"/>
                <a:gd name="T32" fmla="*/ 24 w 29"/>
                <a:gd name="T33" fmla="*/ 3 h 30"/>
                <a:gd name="T34" fmla="*/ 21 w 29"/>
                <a:gd name="T35" fmla="*/ 3 h 30"/>
                <a:gd name="T36" fmla="*/ 18 w 29"/>
                <a:gd name="T37" fmla="*/ 0 h 30"/>
                <a:gd name="T38" fmla="*/ 15 w 29"/>
                <a:gd name="T39" fmla="*/ 0 h 30"/>
                <a:gd name="T40" fmla="*/ 15 w 29"/>
                <a:gd name="T41" fmla="*/ 0 h 30"/>
                <a:gd name="T42" fmla="*/ 12 w 29"/>
                <a:gd name="T43" fmla="*/ 0 h 30"/>
                <a:gd name="T44" fmla="*/ 9 w 29"/>
                <a:gd name="T45" fmla="*/ 0 h 30"/>
                <a:gd name="T46" fmla="*/ 6 w 29"/>
                <a:gd name="T47" fmla="*/ 3 h 30"/>
                <a:gd name="T48" fmla="*/ 6 w 29"/>
                <a:gd name="T49" fmla="*/ 3 h 30"/>
                <a:gd name="T50" fmla="*/ 3 w 29"/>
                <a:gd name="T51" fmla="*/ 6 h 30"/>
                <a:gd name="T52" fmla="*/ 3 w 29"/>
                <a:gd name="T53" fmla="*/ 6 h 30"/>
                <a:gd name="T54" fmla="*/ 0 w 29"/>
                <a:gd name="T55" fmla="*/ 9 h 30"/>
                <a:gd name="T56" fmla="*/ 0 w 29"/>
                <a:gd name="T57" fmla="*/ 9 h 30"/>
                <a:gd name="T58" fmla="*/ 0 w 29"/>
                <a:gd name="T59" fmla="*/ 12 h 30"/>
                <a:gd name="T60" fmla="*/ 0 w 29"/>
                <a:gd name="T61" fmla="*/ 15 h 30"/>
                <a:gd name="T62" fmla="*/ 0 w 29"/>
                <a:gd name="T63" fmla="*/ 18 h 30"/>
                <a:gd name="T64" fmla="*/ 0 w 29"/>
                <a:gd name="T65" fmla="*/ 21 h 30"/>
                <a:gd name="T66" fmla="*/ 0 w 29"/>
                <a:gd name="T67" fmla="*/ 21 h 30"/>
                <a:gd name="T68" fmla="*/ 3 w 29"/>
                <a:gd name="T69" fmla="*/ 24 h 30"/>
                <a:gd name="T70" fmla="*/ 3 w 29"/>
                <a:gd name="T71" fmla="*/ 24 h 30"/>
                <a:gd name="T72" fmla="*/ 6 w 29"/>
                <a:gd name="T73" fmla="*/ 27 h 30"/>
                <a:gd name="T74" fmla="*/ 6 w 29"/>
                <a:gd name="T75" fmla="*/ 27 h 30"/>
                <a:gd name="T76" fmla="*/ 9 w 29"/>
                <a:gd name="T77" fmla="*/ 30 h 30"/>
                <a:gd name="T78" fmla="*/ 12 w 29"/>
                <a:gd name="T79" fmla="*/ 30 h 30"/>
                <a:gd name="T80" fmla="*/ 15 w 29"/>
                <a:gd name="T81" fmla="*/ 30 h 30"/>
                <a:gd name="T82" fmla="*/ 15 w 29"/>
                <a:gd name="T83" fmla="*/ 30 h 30"/>
                <a:gd name="T84" fmla="*/ 12 w 29"/>
                <a:gd name="T85" fmla="*/ 27 h 3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30"/>
                <a:gd name="T131" fmla="*/ 29 w 29"/>
                <a:gd name="T132" fmla="*/ 30 h 3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30">
                  <a:moveTo>
                    <a:pt x="12" y="27"/>
                  </a:moveTo>
                  <a:lnTo>
                    <a:pt x="15" y="30"/>
                  </a:lnTo>
                  <a:lnTo>
                    <a:pt x="18" y="30"/>
                  </a:lnTo>
                  <a:lnTo>
                    <a:pt x="21" y="27"/>
                  </a:lnTo>
                  <a:lnTo>
                    <a:pt x="24" y="27"/>
                  </a:lnTo>
                  <a:lnTo>
                    <a:pt x="24" y="24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6" y="18"/>
                  </a:lnTo>
                  <a:lnTo>
                    <a:pt x="29" y="15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3" y="24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2" y="30"/>
                  </a:lnTo>
                  <a:lnTo>
                    <a:pt x="15" y="30"/>
                  </a:lnTo>
                  <a:lnTo>
                    <a:pt x="12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Freeform 46"/>
            <p:cNvSpPr>
              <a:spLocks noChangeArrowheads="1"/>
            </p:cNvSpPr>
            <p:nvPr/>
          </p:nvSpPr>
          <p:spPr bwMode="auto">
            <a:xfrm>
              <a:off x="2868" y="1193"/>
              <a:ext cx="29" cy="30"/>
            </a:xfrm>
            <a:custGeom>
              <a:avLst/>
              <a:gdLst>
                <a:gd name="T0" fmla="*/ 12 w 29"/>
                <a:gd name="T1" fmla="*/ 27 h 30"/>
                <a:gd name="T2" fmla="*/ 15 w 29"/>
                <a:gd name="T3" fmla="*/ 30 h 30"/>
                <a:gd name="T4" fmla="*/ 18 w 29"/>
                <a:gd name="T5" fmla="*/ 30 h 30"/>
                <a:gd name="T6" fmla="*/ 21 w 29"/>
                <a:gd name="T7" fmla="*/ 27 h 30"/>
                <a:gd name="T8" fmla="*/ 24 w 29"/>
                <a:gd name="T9" fmla="*/ 27 h 30"/>
                <a:gd name="T10" fmla="*/ 24 w 29"/>
                <a:gd name="T11" fmla="*/ 24 h 30"/>
                <a:gd name="T12" fmla="*/ 26 w 29"/>
                <a:gd name="T13" fmla="*/ 24 h 30"/>
                <a:gd name="T14" fmla="*/ 26 w 29"/>
                <a:gd name="T15" fmla="*/ 21 h 30"/>
                <a:gd name="T16" fmla="*/ 26 w 29"/>
                <a:gd name="T17" fmla="*/ 21 h 30"/>
                <a:gd name="T18" fmla="*/ 26 w 29"/>
                <a:gd name="T19" fmla="*/ 18 h 30"/>
                <a:gd name="T20" fmla="*/ 29 w 29"/>
                <a:gd name="T21" fmla="*/ 15 h 30"/>
                <a:gd name="T22" fmla="*/ 26 w 29"/>
                <a:gd name="T23" fmla="*/ 12 h 30"/>
                <a:gd name="T24" fmla="*/ 26 w 29"/>
                <a:gd name="T25" fmla="*/ 9 h 30"/>
                <a:gd name="T26" fmla="*/ 26 w 29"/>
                <a:gd name="T27" fmla="*/ 9 h 30"/>
                <a:gd name="T28" fmla="*/ 26 w 29"/>
                <a:gd name="T29" fmla="*/ 6 h 30"/>
                <a:gd name="T30" fmla="*/ 24 w 29"/>
                <a:gd name="T31" fmla="*/ 6 h 30"/>
                <a:gd name="T32" fmla="*/ 24 w 29"/>
                <a:gd name="T33" fmla="*/ 3 h 30"/>
                <a:gd name="T34" fmla="*/ 21 w 29"/>
                <a:gd name="T35" fmla="*/ 3 h 30"/>
                <a:gd name="T36" fmla="*/ 18 w 29"/>
                <a:gd name="T37" fmla="*/ 0 h 30"/>
                <a:gd name="T38" fmla="*/ 15 w 29"/>
                <a:gd name="T39" fmla="*/ 0 h 30"/>
                <a:gd name="T40" fmla="*/ 15 w 29"/>
                <a:gd name="T41" fmla="*/ 0 h 30"/>
                <a:gd name="T42" fmla="*/ 12 w 29"/>
                <a:gd name="T43" fmla="*/ 0 h 30"/>
                <a:gd name="T44" fmla="*/ 9 w 29"/>
                <a:gd name="T45" fmla="*/ 0 h 30"/>
                <a:gd name="T46" fmla="*/ 6 w 29"/>
                <a:gd name="T47" fmla="*/ 3 h 30"/>
                <a:gd name="T48" fmla="*/ 6 w 29"/>
                <a:gd name="T49" fmla="*/ 3 h 30"/>
                <a:gd name="T50" fmla="*/ 3 w 29"/>
                <a:gd name="T51" fmla="*/ 6 h 30"/>
                <a:gd name="T52" fmla="*/ 3 w 29"/>
                <a:gd name="T53" fmla="*/ 6 h 30"/>
                <a:gd name="T54" fmla="*/ 0 w 29"/>
                <a:gd name="T55" fmla="*/ 9 h 30"/>
                <a:gd name="T56" fmla="*/ 0 w 29"/>
                <a:gd name="T57" fmla="*/ 9 h 30"/>
                <a:gd name="T58" fmla="*/ 0 w 29"/>
                <a:gd name="T59" fmla="*/ 12 h 30"/>
                <a:gd name="T60" fmla="*/ 0 w 29"/>
                <a:gd name="T61" fmla="*/ 15 h 30"/>
                <a:gd name="T62" fmla="*/ 0 w 29"/>
                <a:gd name="T63" fmla="*/ 18 h 30"/>
                <a:gd name="T64" fmla="*/ 0 w 29"/>
                <a:gd name="T65" fmla="*/ 21 h 30"/>
                <a:gd name="T66" fmla="*/ 0 w 29"/>
                <a:gd name="T67" fmla="*/ 21 h 30"/>
                <a:gd name="T68" fmla="*/ 3 w 29"/>
                <a:gd name="T69" fmla="*/ 24 h 30"/>
                <a:gd name="T70" fmla="*/ 3 w 29"/>
                <a:gd name="T71" fmla="*/ 24 h 30"/>
                <a:gd name="T72" fmla="*/ 6 w 29"/>
                <a:gd name="T73" fmla="*/ 27 h 30"/>
                <a:gd name="T74" fmla="*/ 6 w 29"/>
                <a:gd name="T75" fmla="*/ 27 h 30"/>
                <a:gd name="T76" fmla="*/ 9 w 29"/>
                <a:gd name="T77" fmla="*/ 30 h 30"/>
                <a:gd name="T78" fmla="*/ 12 w 29"/>
                <a:gd name="T79" fmla="*/ 30 h 30"/>
                <a:gd name="T80" fmla="*/ 15 w 29"/>
                <a:gd name="T81" fmla="*/ 30 h 30"/>
                <a:gd name="T82" fmla="*/ 15 w 29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30"/>
                <a:gd name="T128" fmla="*/ 29 w 29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30">
                  <a:moveTo>
                    <a:pt x="12" y="27"/>
                  </a:moveTo>
                  <a:lnTo>
                    <a:pt x="15" y="30"/>
                  </a:lnTo>
                  <a:lnTo>
                    <a:pt x="18" y="30"/>
                  </a:lnTo>
                  <a:lnTo>
                    <a:pt x="21" y="27"/>
                  </a:lnTo>
                  <a:lnTo>
                    <a:pt x="24" y="27"/>
                  </a:lnTo>
                  <a:lnTo>
                    <a:pt x="24" y="24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6" y="18"/>
                  </a:lnTo>
                  <a:lnTo>
                    <a:pt x="29" y="15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3" y="24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2" y="30"/>
                  </a:lnTo>
                  <a:lnTo>
                    <a:pt x="15" y="3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" name="Freeform 47"/>
            <p:cNvSpPr>
              <a:spLocks noChangeArrowheads="1"/>
            </p:cNvSpPr>
            <p:nvPr/>
          </p:nvSpPr>
          <p:spPr bwMode="auto">
            <a:xfrm>
              <a:off x="2806" y="1041"/>
              <a:ext cx="30" cy="29"/>
            </a:xfrm>
            <a:custGeom>
              <a:avLst/>
              <a:gdLst>
                <a:gd name="T0" fmla="*/ 12 w 30"/>
                <a:gd name="T1" fmla="*/ 26 h 29"/>
                <a:gd name="T2" fmla="*/ 18 w 30"/>
                <a:gd name="T3" fmla="*/ 29 h 29"/>
                <a:gd name="T4" fmla="*/ 18 w 30"/>
                <a:gd name="T5" fmla="*/ 29 h 29"/>
                <a:gd name="T6" fmla="*/ 21 w 30"/>
                <a:gd name="T7" fmla="*/ 26 h 29"/>
                <a:gd name="T8" fmla="*/ 24 w 30"/>
                <a:gd name="T9" fmla="*/ 26 h 29"/>
                <a:gd name="T10" fmla="*/ 24 w 30"/>
                <a:gd name="T11" fmla="*/ 23 h 29"/>
                <a:gd name="T12" fmla="*/ 27 w 30"/>
                <a:gd name="T13" fmla="*/ 23 h 29"/>
                <a:gd name="T14" fmla="*/ 27 w 30"/>
                <a:gd name="T15" fmla="*/ 20 h 29"/>
                <a:gd name="T16" fmla="*/ 27 w 30"/>
                <a:gd name="T17" fmla="*/ 17 h 29"/>
                <a:gd name="T18" fmla="*/ 30 w 30"/>
                <a:gd name="T19" fmla="*/ 17 h 29"/>
                <a:gd name="T20" fmla="*/ 30 w 30"/>
                <a:gd name="T21" fmla="*/ 14 h 29"/>
                <a:gd name="T22" fmla="*/ 30 w 30"/>
                <a:gd name="T23" fmla="*/ 11 h 29"/>
                <a:gd name="T24" fmla="*/ 27 w 30"/>
                <a:gd name="T25" fmla="*/ 9 h 29"/>
                <a:gd name="T26" fmla="*/ 27 w 30"/>
                <a:gd name="T27" fmla="*/ 9 h 29"/>
                <a:gd name="T28" fmla="*/ 27 w 30"/>
                <a:gd name="T29" fmla="*/ 6 h 29"/>
                <a:gd name="T30" fmla="*/ 24 w 30"/>
                <a:gd name="T31" fmla="*/ 3 h 29"/>
                <a:gd name="T32" fmla="*/ 24 w 30"/>
                <a:gd name="T33" fmla="*/ 3 h 29"/>
                <a:gd name="T34" fmla="*/ 21 w 30"/>
                <a:gd name="T35" fmla="*/ 3 h 29"/>
                <a:gd name="T36" fmla="*/ 18 w 30"/>
                <a:gd name="T37" fmla="*/ 0 h 29"/>
                <a:gd name="T38" fmla="*/ 18 w 30"/>
                <a:gd name="T39" fmla="*/ 0 h 29"/>
                <a:gd name="T40" fmla="*/ 15 w 30"/>
                <a:gd name="T41" fmla="*/ 0 h 29"/>
                <a:gd name="T42" fmla="*/ 12 w 30"/>
                <a:gd name="T43" fmla="*/ 0 h 29"/>
                <a:gd name="T44" fmla="*/ 9 w 30"/>
                <a:gd name="T45" fmla="*/ 0 h 29"/>
                <a:gd name="T46" fmla="*/ 9 w 30"/>
                <a:gd name="T47" fmla="*/ 3 h 29"/>
                <a:gd name="T48" fmla="*/ 6 w 30"/>
                <a:gd name="T49" fmla="*/ 3 h 29"/>
                <a:gd name="T50" fmla="*/ 3 w 30"/>
                <a:gd name="T51" fmla="*/ 3 h 29"/>
                <a:gd name="T52" fmla="*/ 3 w 30"/>
                <a:gd name="T53" fmla="*/ 6 h 29"/>
                <a:gd name="T54" fmla="*/ 0 w 30"/>
                <a:gd name="T55" fmla="*/ 9 h 29"/>
                <a:gd name="T56" fmla="*/ 0 w 30"/>
                <a:gd name="T57" fmla="*/ 9 h 29"/>
                <a:gd name="T58" fmla="*/ 0 w 30"/>
                <a:gd name="T59" fmla="*/ 11 h 29"/>
                <a:gd name="T60" fmla="*/ 0 w 30"/>
                <a:gd name="T61" fmla="*/ 14 h 29"/>
                <a:gd name="T62" fmla="*/ 0 w 30"/>
                <a:gd name="T63" fmla="*/ 17 h 29"/>
                <a:gd name="T64" fmla="*/ 0 w 30"/>
                <a:gd name="T65" fmla="*/ 17 h 29"/>
                <a:gd name="T66" fmla="*/ 0 w 30"/>
                <a:gd name="T67" fmla="*/ 20 h 29"/>
                <a:gd name="T68" fmla="*/ 3 w 30"/>
                <a:gd name="T69" fmla="*/ 23 h 29"/>
                <a:gd name="T70" fmla="*/ 3 w 30"/>
                <a:gd name="T71" fmla="*/ 23 h 29"/>
                <a:gd name="T72" fmla="*/ 6 w 30"/>
                <a:gd name="T73" fmla="*/ 26 h 29"/>
                <a:gd name="T74" fmla="*/ 9 w 30"/>
                <a:gd name="T75" fmla="*/ 26 h 29"/>
                <a:gd name="T76" fmla="*/ 9 w 30"/>
                <a:gd name="T77" fmla="*/ 29 h 29"/>
                <a:gd name="T78" fmla="*/ 12 w 30"/>
                <a:gd name="T79" fmla="*/ 29 h 29"/>
                <a:gd name="T80" fmla="*/ 15 w 30"/>
                <a:gd name="T81" fmla="*/ 29 h 29"/>
                <a:gd name="T82" fmla="*/ 15 w 30"/>
                <a:gd name="T83" fmla="*/ 29 h 29"/>
                <a:gd name="T84" fmla="*/ 12 w 30"/>
                <a:gd name="T85" fmla="*/ 26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0"/>
                <a:gd name="T130" fmla="*/ 0 h 29"/>
                <a:gd name="T131" fmla="*/ 30 w 30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0" h="29">
                  <a:moveTo>
                    <a:pt x="12" y="26"/>
                  </a:moveTo>
                  <a:lnTo>
                    <a:pt x="18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4" y="23"/>
                  </a:lnTo>
                  <a:lnTo>
                    <a:pt x="27" y="23"/>
                  </a:lnTo>
                  <a:lnTo>
                    <a:pt x="27" y="20"/>
                  </a:lnTo>
                  <a:lnTo>
                    <a:pt x="27" y="17"/>
                  </a:lnTo>
                  <a:lnTo>
                    <a:pt x="30" y="17"/>
                  </a:lnTo>
                  <a:lnTo>
                    <a:pt x="30" y="14"/>
                  </a:lnTo>
                  <a:lnTo>
                    <a:pt x="30" y="11"/>
                  </a:lnTo>
                  <a:lnTo>
                    <a:pt x="27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2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Freeform 48"/>
            <p:cNvSpPr>
              <a:spLocks noChangeArrowheads="1"/>
            </p:cNvSpPr>
            <p:nvPr/>
          </p:nvSpPr>
          <p:spPr bwMode="auto">
            <a:xfrm>
              <a:off x="2806" y="1041"/>
              <a:ext cx="30" cy="29"/>
            </a:xfrm>
            <a:custGeom>
              <a:avLst/>
              <a:gdLst>
                <a:gd name="T0" fmla="*/ 12 w 30"/>
                <a:gd name="T1" fmla="*/ 26 h 29"/>
                <a:gd name="T2" fmla="*/ 18 w 30"/>
                <a:gd name="T3" fmla="*/ 29 h 29"/>
                <a:gd name="T4" fmla="*/ 18 w 30"/>
                <a:gd name="T5" fmla="*/ 29 h 29"/>
                <a:gd name="T6" fmla="*/ 21 w 30"/>
                <a:gd name="T7" fmla="*/ 26 h 29"/>
                <a:gd name="T8" fmla="*/ 24 w 30"/>
                <a:gd name="T9" fmla="*/ 26 h 29"/>
                <a:gd name="T10" fmla="*/ 24 w 30"/>
                <a:gd name="T11" fmla="*/ 23 h 29"/>
                <a:gd name="T12" fmla="*/ 27 w 30"/>
                <a:gd name="T13" fmla="*/ 23 h 29"/>
                <a:gd name="T14" fmla="*/ 27 w 30"/>
                <a:gd name="T15" fmla="*/ 20 h 29"/>
                <a:gd name="T16" fmla="*/ 27 w 30"/>
                <a:gd name="T17" fmla="*/ 17 h 29"/>
                <a:gd name="T18" fmla="*/ 30 w 30"/>
                <a:gd name="T19" fmla="*/ 17 h 29"/>
                <a:gd name="T20" fmla="*/ 30 w 30"/>
                <a:gd name="T21" fmla="*/ 14 h 29"/>
                <a:gd name="T22" fmla="*/ 30 w 30"/>
                <a:gd name="T23" fmla="*/ 11 h 29"/>
                <a:gd name="T24" fmla="*/ 27 w 30"/>
                <a:gd name="T25" fmla="*/ 9 h 29"/>
                <a:gd name="T26" fmla="*/ 27 w 30"/>
                <a:gd name="T27" fmla="*/ 9 h 29"/>
                <a:gd name="T28" fmla="*/ 27 w 30"/>
                <a:gd name="T29" fmla="*/ 6 h 29"/>
                <a:gd name="T30" fmla="*/ 24 w 30"/>
                <a:gd name="T31" fmla="*/ 3 h 29"/>
                <a:gd name="T32" fmla="*/ 24 w 30"/>
                <a:gd name="T33" fmla="*/ 3 h 29"/>
                <a:gd name="T34" fmla="*/ 21 w 30"/>
                <a:gd name="T35" fmla="*/ 3 h 29"/>
                <a:gd name="T36" fmla="*/ 18 w 30"/>
                <a:gd name="T37" fmla="*/ 0 h 29"/>
                <a:gd name="T38" fmla="*/ 18 w 30"/>
                <a:gd name="T39" fmla="*/ 0 h 29"/>
                <a:gd name="T40" fmla="*/ 15 w 30"/>
                <a:gd name="T41" fmla="*/ 0 h 29"/>
                <a:gd name="T42" fmla="*/ 12 w 30"/>
                <a:gd name="T43" fmla="*/ 0 h 29"/>
                <a:gd name="T44" fmla="*/ 9 w 30"/>
                <a:gd name="T45" fmla="*/ 0 h 29"/>
                <a:gd name="T46" fmla="*/ 9 w 30"/>
                <a:gd name="T47" fmla="*/ 3 h 29"/>
                <a:gd name="T48" fmla="*/ 6 w 30"/>
                <a:gd name="T49" fmla="*/ 3 h 29"/>
                <a:gd name="T50" fmla="*/ 3 w 30"/>
                <a:gd name="T51" fmla="*/ 3 h 29"/>
                <a:gd name="T52" fmla="*/ 3 w 30"/>
                <a:gd name="T53" fmla="*/ 6 h 29"/>
                <a:gd name="T54" fmla="*/ 0 w 30"/>
                <a:gd name="T55" fmla="*/ 9 h 29"/>
                <a:gd name="T56" fmla="*/ 0 w 30"/>
                <a:gd name="T57" fmla="*/ 9 h 29"/>
                <a:gd name="T58" fmla="*/ 0 w 30"/>
                <a:gd name="T59" fmla="*/ 11 h 29"/>
                <a:gd name="T60" fmla="*/ 0 w 30"/>
                <a:gd name="T61" fmla="*/ 14 h 29"/>
                <a:gd name="T62" fmla="*/ 0 w 30"/>
                <a:gd name="T63" fmla="*/ 17 h 29"/>
                <a:gd name="T64" fmla="*/ 0 w 30"/>
                <a:gd name="T65" fmla="*/ 17 h 29"/>
                <a:gd name="T66" fmla="*/ 0 w 30"/>
                <a:gd name="T67" fmla="*/ 20 h 29"/>
                <a:gd name="T68" fmla="*/ 3 w 30"/>
                <a:gd name="T69" fmla="*/ 23 h 29"/>
                <a:gd name="T70" fmla="*/ 3 w 30"/>
                <a:gd name="T71" fmla="*/ 23 h 29"/>
                <a:gd name="T72" fmla="*/ 6 w 30"/>
                <a:gd name="T73" fmla="*/ 26 h 29"/>
                <a:gd name="T74" fmla="*/ 9 w 30"/>
                <a:gd name="T75" fmla="*/ 26 h 29"/>
                <a:gd name="T76" fmla="*/ 9 w 30"/>
                <a:gd name="T77" fmla="*/ 29 h 29"/>
                <a:gd name="T78" fmla="*/ 12 w 30"/>
                <a:gd name="T79" fmla="*/ 29 h 29"/>
                <a:gd name="T80" fmla="*/ 15 w 30"/>
                <a:gd name="T81" fmla="*/ 29 h 29"/>
                <a:gd name="T82" fmla="*/ 15 w 30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9"/>
                <a:gd name="T128" fmla="*/ 30 w 30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9">
                  <a:moveTo>
                    <a:pt x="12" y="26"/>
                  </a:moveTo>
                  <a:lnTo>
                    <a:pt x="18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4" y="23"/>
                  </a:lnTo>
                  <a:lnTo>
                    <a:pt x="27" y="23"/>
                  </a:lnTo>
                  <a:lnTo>
                    <a:pt x="27" y="20"/>
                  </a:lnTo>
                  <a:lnTo>
                    <a:pt x="27" y="17"/>
                  </a:lnTo>
                  <a:lnTo>
                    <a:pt x="30" y="17"/>
                  </a:lnTo>
                  <a:lnTo>
                    <a:pt x="30" y="14"/>
                  </a:lnTo>
                  <a:lnTo>
                    <a:pt x="30" y="11"/>
                  </a:lnTo>
                  <a:lnTo>
                    <a:pt x="27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5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Freeform 49"/>
            <p:cNvSpPr>
              <a:spLocks noChangeArrowheads="1"/>
            </p:cNvSpPr>
            <p:nvPr/>
          </p:nvSpPr>
          <p:spPr bwMode="auto">
            <a:xfrm>
              <a:off x="2739" y="894"/>
              <a:ext cx="29" cy="29"/>
            </a:xfrm>
            <a:custGeom>
              <a:avLst/>
              <a:gdLst>
                <a:gd name="T0" fmla="*/ 15 w 29"/>
                <a:gd name="T1" fmla="*/ 26 h 29"/>
                <a:gd name="T2" fmla="*/ 17 w 29"/>
                <a:gd name="T3" fmla="*/ 29 h 29"/>
                <a:gd name="T4" fmla="*/ 20 w 29"/>
                <a:gd name="T5" fmla="*/ 29 h 29"/>
                <a:gd name="T6" fmla="*/ 23 w 29"/>
                <a:gd name="T7" fmla="*/ 26 h 29"/>
                <a:gd name="T8" fmla="*/ 23 w 29"/>
                <a:gd name="T9" fmla="*/ 26 h 29"/>
                <a:gd name="T10" fmla="*/ 26 w 29"/>
                <a:gd name="T11" fmla="*/ 23 h 29"/>
                <a:gd name="T12" fmla="*/ 26 w 29"/>
                <a:gd name="T13" fmla="*/ 23 h 29"/>
                <a:gd name="T14" fmla="*/ 29 w 29"/>
                <a:gd name="T15" fmla="*/ 20 h 29"/>
                <a:gd name="T16" fmla="*/ 29 w 29"/>
                <a:gd name="T17" fmla="*/ 18 h 29"/>
                <a:gd name="T18" fmla="*/ 29 w 29"/>
                <a:gd name="T19" fmla="*/ 18 h 29"/>
                <a:gd name="T20" fmla="*/ 29 w 29"/>
                <a:gd name="T21" fmla="*/ 15 h 29"/>
                <a:gd name="T22" fmla="*/ 29 w 29"/>
                <a:gd name="T23" fmla="*/ 12 h 29"/>
                <a:gd name="T24" fmla="*/ 29 w 29"/>
                <a:gd name="T25" fmla="*/ 9 h 29"/>
                <a:gd name="T26" fmla="*/ 29 w 29"/>
                <a:gd name="T27" fmla="*/ 9 h 29"/>
                <a:gd name="T28" fmla="*/ 26 w 29"/>
                <a:gd name="T29" fmla="*/ 6 h 29"/>
                <a:gd name="T30" fmla="*/ 26 w 29"/>
                <a:gd name="T31" fmla="*/ 3 h 29"/>
                <a:gd name="T32" fmla="*/ 23 w 29"/>
                <a:gd name="T33" fmla="*/ 3 h 29"/>
                <a:gd name="T34" fmla="*/ 23 w 29"/>
                <a:gd name="T35" fmla="*/ 0 h 29"/>
                <a:gd name="T36" fmla="*/ 20 w 29"/>
                <a:gd name="T37" fmla="*/ 0 h 29"/>
                <a:gd name="T38" fmla="*/ 17 w 29"/>
                <a:gd name="T39" fmla="*/ 0 h 29"/>
                <a:gd name="T40" fmla="*/ 15 w 29"/>
                <a:gd name="T41" fmla="*/ 0 h 29"/>
                <a:gd name="T42" fmla="*/ 12 w 29"/>
                <a:gd name="T43" fmla="*/ 0 h 29"/>
                <a:gd name="T44" fmla="*/ 12 w 29"/>
                <a:gd name="T45" fmla="*/ 0 h 29"/>
                <a:gd name="T46" fmla="*/ 9 w 29"/>
                <a:gd name="T47" fmla="*/ 0 h 29"/>
                <a:gd name="T48" fmla="*/ 6 w 29"/>
                <a:gd name="T49" fmla="*/ 3 h 29"/>
                <a:gd name="T50" fmla="*/ 6 w 29"/>
                <a:gd name="T51" fmla="*/ 3 h 29"/>
                <a:gd name="T52" fmla="*/ 3 w 29"/>
                <a:gd name="T53" fmla="*/ 6 h 29"/>
                <a:gd name="T54" fmla="*/ 3 w 29"/>
                <a:gd name="T55" fmla="*/ 9 h 29"/>
                <a:gd name="T56" fmla="*/ 3 w 29"/>
                <a:gd name="T57" fmla="*/ 9 h 29"/>
                <a:gd name="T58" fmla="*/ 0 w 29"/>
                <a:gd name="T59" fmla="*/ 12 h 29"/>
                <a:gd name="T60" fmla="*/ 0 w 29"/>
                <a:gd name="T61" fmla="*/ 15 h 29"/>
                <a:gd name="T62" fmla="*/ 0 w 29"/>
                <a:gd name="T63" fmla="*/ 18 h 29"/>
                <a:gd name="T64" fmla="*/ 3 w 29"/>
                <a:gd name="T65" fmla="*/ 18 h 29"/>
                <a:gd name="T66" fmla="*/ 3 w 29"/>
                <a:gd name="T67" fmla="*/ 20 h 29"/>
                <a:gd name="T68" fmla="*/ 3 w 29"/>
                <a:gd name="T69" fmla="*/ 23 h 29"/>
                <a:gd name="T70" fmla="*/ 6 w 29"/>
                <a:gd name="T71" fmla="*/ 23 h 29"/>
                <a:gd name="T72" fmla="*/ 6 w 29"/>
                <a:gd name="T73" fmla="*/ 26 h 29"/>
                <a:gd name="T74" fmla="*/ 9 w 29"/>
                <a:gd name="T75" fmla="*/ 26 h 29"/>
                <a:gd name="T76" fmla="*/ 12 w 29"/>
                <a:gd name="T77" fmla="*/ 29 h 29"/>
                <a:gd name="T78" fmla="*/ 12 w 29"/>
                <a:gd name="T79" fmla="*/ 29 h 29"/>
                <a:gd name="T80" fmla="*/ 15 w 29"/>
                <a:gd name="T81" fmla="*/ 29 h 29"/>
                <a:gd name="T82" fmla="*/ 15 w 29"/>
                <a:gd name="T83" fmla="*/ 29 h 29"/>
                <a:gd name="T84" fmla="*/ 15 w 29"/>
                <a:gd name="T85" fmla="*/ 26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29"/>
                <a:gd name="T131" fmla="*/ 29 w 29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29">
                  <a:moveTo>
                    <a:pt x="15" y="26"/>
                  </a:moveTo>
                  <a:lnTo>
                    <a:pt x="17" y="29"/>
                  </a:lnTo>
                  <a:lnTo>
                    <a:pt x="20" y="29"/>
                  </a:lnTo>
                  <a:lnTo>
                    <a:pt x="23" y="26"/>
                  </a:lnTo>
                  <a:lnTo>
                    <a:pt x="26" y="23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6"/>
                  </a:lnTo>
                  <a:lnTo>
                    <a:pt x="26" y="3"/>
                  </a:lnTo>
                  <a:lnTo>
                    <a:pt x="23" y="3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2" name="Freeform 50"/>
            <p:cNvSpPr>
              <a:spLocks noChangeArrowheads="1"/>
            </p:cNvSpPr>
            <p:nvPr/>
          </p:nvSpPr>
          <p:spPr bwMode="auto">
            <a:xfrm>
              <a:off x="2739" y="894"/>
              <a:ext cx="29" cy="29"/>
            </a:xfrm>
            <a:custGeom>
              <a:avLst/>
              <a:gdLst>
                <a:gd name="T0" fmla="*/ 15 w 29"/>
                <a:gd name="T1" fmla="*/ 26 h 29"/>
                <a:gd name="T2" fmla="*/ 17 w 29"/>
                <a:gd name="T3" fmla="*/ 29 h 29"/>
                <a:gd name="T4" fmla="*/ 20 w 29"/>
                <a:gd name="T5" fmla="*/ 29 h 29"/>
                <a:gd name="T6" fmla="*/ 23 w 29"/>
                <a:gd name="T7" fmla="*/ 26 h 29"/>
                <a:gd name="T8" fmla="*/ 23 w 29"/>
                <a:gd name="T9" fmla="*/ 26 h 29"/>
                <a:gd name="T10" fmla="*/ 26 w 29"/>
                <a:gd name="T11" fmla="*/ 23 h 29"/>
                <a:gd name="T12" fmla="*/ 26 w 29"/>
                <a:gd name="T13" fmla="*/ 23 h 29"/>
                <a:gd name="T14" fmla="*/ 29 w 29"/>
                <a:gd name="T15" fmla="*/ 20 h 29"/>
                <a:gd name="T16" fmla="*/ 29 w 29"/>
                <a:gd name="T17" fmla="*/ 18 h 29"/>
                <a:gd name="T18" fmla="*/ 29 w 29"/>
                <a:gd name="T19" fmla="*/ 18 h 29"/>
                <a:gd name="T20" fmla="*/ 29 w 29"/>
                <a:gd name="T21" fmla="*/ 15 h 29"/>
                <a:gd name="T22" fmla="*/ 29 w 29"/>
                <a:gd name="T23" fmla="*/ 12 h 29"/>
                <a:gd name="T24" fmla="*/ 29 w 29"/>
                <a:gd name="T25" fmla="*/ 9 h 29"/>
                <a:gd name="T26" fmla="*/ 29 w 29"/>
                <a:gd name="T27" fmla="*/ 9 h 29"/>
                <a:gd name="T28" fmla="*/ 26 w 29"/>
                <a:gd name="T29" fmla="*/ 6 h 29"/>
                <a:gd name="T30" fmla="*/ 26 w 29"/>
                <a:gd name="T31" fmla="*/ 3 h 29"/>
                <a:gd name="T32" fmla="*/ 23 w 29"/>
                <a:gd name="T33" fmla="*/ 3 h 29"/>
                <a:gd name="T34" fmla="*/ 23 w 29"/>
                <a:gd name="T35" fmla="*/ 0 h 29"/>
                <a:gd name="T36" fmla="*/ 20 w 29"/>
                <a:gd name="T37" fmla="*/ 0 h 29"/>
                <a:gd name="T38" fmla="*/ 17 w 29"/>
                <a:gd name="T39" fmla="*/ 0 h 29"/>
                <a:gd name="T40" fmla="*/ 15 w 29"/>
                <a:gd name="T41" fmla="*/ 0 h 29"/>
                <a:gd name="T42" fmla="*/ 12 w 29"/>
                <a:gd name="T43" fmla="*/ 0 h 29"/>
                <a:gd name="T44" fmla="*/ 12 w 29"/>
                <a:gd name="T45" fmla="*/ 0 h 29"/>
                <a:gd name="T46" fmla="*/ 9 w 29"/>
                <a:gd name="T47" fmla="*/ 0 h 29"/>
                <a:gd name="T48" fmla="*/ 6 w 29"/>
                <a:gd name="T49" fmla="*/ 3 h 29"/>
                <a:gd name="T50" fmla="*/ 6 w 29"/>
                <a:gd name="T51" fmla="*/ 3 h 29"/>
                <a:gd name="T52" fmla="*/ 3 w 29"/>
                <a:gd name="T53" fmla="*/ 6 h 29"/>
                <a:gd name="T54" fmla="*/ 3 w 29"/>
                <a:gd name="T55" fmla="*/ 9 h 29"/>
                <a:gd name="T56" fmla="*/ 3 w 29"/>
                <a:gd name="T57" fmla="*/ 9 h 29"/>
                <a:gd name="T58" fmla="*/ 0 w 29"/>
                <a:gd name="T59" fmla="*/ 12 h 29"/>
                <a:gd name="T60" fmla="*/ 0 w 29"/>
                <a:gd name="T61" fmla="*/ 15 h 29"/>
                <a:gd name="T62" fmla="*/ 0 w 29"/>
                <a:gd name="T63" fmla="*/ 18 h 29"/>
                <a:gd name="T64" fmla="*/ 3 w 29"/>
                <a:gd name="T65" fmla="*/ 18 h 29"/>
                <a:gd name="T66" fmla="*/ 3 w 29"/>
                <a:gd name="T67" fmla="*/ 20 h 29"/>
                <a:gd name="T68" fmla="*/ 3 w 29"/>
                <a:gd name="T69" fmla="*/ 23 h 29"/>
                <a:gd name="T70" fmla="*/ 6 w 29"/>
                <a:gd name="T71" fmla="*/ 23 h 29"/>
                <a:gd name="T72" fmla="*/ 6 w 29"/>
                <a:gd name="T73" fmla="*/ 26 h 29"/>
                <a:gd name="T74" fmla="*/ 9 w 29"/>
                <a:gd name="T75" fmla="*/ 26 h 29"/>
                <a:gd name="T76" fmla="*/ 12 w 29"/>
                <a:gd name="T77" fmla="*/ 29 h 29"/>
                <a:gd name="T78" fmla="*/ 12 w 29"/>
                <a:gd name="T79" fmla="*/ 29 h 29"/>
                <a:gd name="T80" fmla="*/ 15 w 29"/>
                <a:gd name="T81" fmla="*/ 29 h 29"/>
                <a:gd name="T82" fmla="*/ 15 w 29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9"/>
                <a:gd name="T128" fmla="*/ 29 w 29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9">
                  <a:moveTo>
                    <a:pt x="15" y="26"/>
                  </a:moveTo>
                  <a:lnTo>
                    <a:pt x="17" y="29"/>
                  </a:lnTo>
                  <a:lnTo>
                    <a:pt x="20" y="29"/>
                  </a:lnTo>
                  <a:lnTo>
                    <a:pt x="23" y="26"/>
                  </a:lnTo>
                  <a:lnTo>
                    <a:pt x="26" y="23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6"/>
                  </a:lnTo>
                  <a:lnTo>
                    <a:pt x="26" y="3"/>
                  </a:lnTo>
                  <a:lnTo>
                    <a:pt x="23" y="3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9"/>
                  </a:lnTo>
                  <a:lnTo>
                    <a:pt x="15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" name="Freeform 51"/>
            <p:cNvSpPr>
              <a:spLocks noChangeArrowheads="1"/>
            </p:cNvSpPr>
            <p:nvPr/>
          </p:nvSpPr>
          <p:spPr bwMode="auto">
            <a:xfrm>
              <a:off x="2284" y="1810"/>
              <a:ext cx="364" cy="379"/>
            </a:xfrm>
            <a:custGeom>
              <a:avLst/>
              <a:gdLst>
                <a:gd name="T0" fmla="*/ 0 w 364"/>
                <a:gd name="T1" fmla="*/ 0 h 379"/>
                <a:gd name="T2" fmla="*/ 0 w 364"/>
                <a:gd name="T3" fmla="*/ 6 h 379"/>
                <a:gd name="T4" fmla="*/ 0 w 364"/>
                <a:gd name="T5" fmla="*/ 15 h 379"/>
                <a:gd name="T6" fmla="*/ 0 w 364"/>
                <a:gd name="T7" fmla="*/ 29 h 379"/>
                <a:gd name="T8" fmla="*/ 0 w 364"/>
                <a:gd name="T9" fmla="*/ 47 h 379"/>
                <a:gd name="T10" fmla="*/ 0 w 364"/>
                <a:gd name="T11" fmla="*/ 71 h 379"/>
                <a:gd name="T12" fmla="*/ 0 w 364"/>
                <a:gd name="T13" fmla="*/ 94 h 379"/>
                <a:gd name="T14" fmla="*/ 0 w 364"/>
                <a:gd name="T15" fmla="*/ 117 h 379"/>
                <a:gd name="T16" fmla="*/ 0 w 364"/>
                <a:gd name="T17" fmla="*/ 138 h 379"/>
                <a:gd name="T18" fmla="*/ 0 w 364"/>
                <a:gd name="T19" fmla="*/ 162 h 379"/>
                <a:gd name="T20" fmla="*/ 0 w 364"/>
                <a:gd name="T21" fmla="*/ 179 h 379"/>
                <a:gd name="T22" fmla="*/ 0 w 364"/>
                <a:gd name="T23" fmla="*/ 194 h 379"/>
                <a:gd name="T24" fmla="*/ 0 w 364"/>
                <a:gd name="T25" fmla="*/ 209 h 379"/>
                <a:gd name="T26" fmla="*/ 0 w 364"/>
                <a:gd name="T27" fmla="*/ 223 h 379"/>
                <a:gd name="T28" fmla="*/ 3 w 364"/>
                <a:gd name="T29" fmla="*/ 238 h 379"/>
                <a:gd name="T30" fmla="*/ 3 w 364"/>
                <a:gd name="T31" fmla="*/ 250 h 379"/>
                <a:gd name="T32" fmla="*/ 6 w 364"/>
                <a:gd name="T33" fmla="*/ 261 h 379"/>
                <a:gd name="T34" fmla="*/ 11 w 364"/>
                <a:gd name="T35" fmla="*/ 276 h 379"/>
                <a:gd name="T36" fmla="*/ 17 w 364"/>
                <a:gd name="T37" fmla="*/ 288 h 379"/>
                <a:gd name="T38" fmla="*/ 23 w 364"/>
                <a:gd name="T39" fmla="*/ 300 h 379"/>
                <a:gd name="T40" fmla="*/ 35 w 364"/>
                <a:gd name="T41" fmla="*/ 314 h 379"/>
                <a:gd name="T42" fmla="*/ 41 w 364"/>
                <a:gd name="T43" fmla="*/ 320 h 379"/>
                <a:gd name="T44" fmla="*/ 47 w 364"/>
                <a:gd name="T45" fmla="*/ 329 h 379"/>
                <a:gd name="T46" fmla="*/ 55 w 364"/>
                <a:gd name="T47" fmla="*/ 338 h 379"/>
                <a:gd name="T48" fmla="*/ 67 w 364"/>
                <a:gd name="T49" fmla="*/ 347 h 379"/>
                <a:gd name="T50" fmla="*/ 79 w 364"/>
                <a:gd name="T51" fmla="*/ 355 h 379"/>
                <a:gd name="T52" fmla="*/ 94 w 364"/>
                <a:gd name="T53" fmla="*/ 364 h 379"/>
                <a:gd name="T54" fmla="*/ 108 w 364"/>
                <a:gd name="T55" fmla="*/ 370 h 379"/>
                <a:gd name="T56" fmla="*/ 129 w 364"/>
                <a:gd name="T57" fmla="*/ 376 h 379"/>
                <a:gd name="T58" fmla="*/ 149 w 364"/>
                <a:gd name="T59" fmla="*/ 379 h 379"/>
                <a:gd name="T60" fmla="*/ 173 w 364"/>
                <a:gd name="T61" fmla="*/ 379 h 379"/>
                <a:gd name="T62" fmla="*/ 196 w 364"/>
                <a:gd name="T63" fmla="*/ 379 h 379"/>
                <a:gd name="T64" fmla="*/ 217 w 364"/>
                <a:gd name="T65" fmla="*/ 376 h 379"/>
                <a:gd name="T66" fmla="*/ 235 w 364"/>
                <a:gd name="T67" fmla="*/ 373 h 379"/>
                <a:gd name="T68" fmla="*/ 249 w 364"/>
                <a:gd name="T69" fmla="*/ 370 h 379"/>
                <a:gd name="T70" fmla="*/ 261 w 364"/>
                <a:gd name="T71" fmla="*/ 364 h 379"/>
                <a:gd name="T72" fmla="*/ 273 w 364"/>
                <a:gd name="T73" fmla="*/ 358 h 379"/>
                <a:gd name="T74" fmla="*/ 282 w 364"/>
                <a:gd name="T75" fmla="*/ 349 h 379"/>
                <a:gd name="T76" fmla="*/ 290 w 364"/>
                <a:gd name="T77" fmla="*/ 344 h 379"/>
                <a:gd name="T78" fmla="*/ 299 w 364"/>
                <a:gd name="T79" fmla="*/ 335 h 379"/>
                <a:gd name="T80" fmla="*/ 308 w 364"/>
                <a:gd name="T81" fmla="*/ 329 h 379"/>
                <a:gd name="T82" fmla="*/ 317 w 364"/>
                <a:gd name="T83" fmla="*/ 317 h 379"/>
                <a:gd name="T84" fmla="*/ 326 w 364"/>
                <a:gd name="T85" fmla="*/ 305 h 379"/>
                <a:gd name="T86" fmla="*/ 334 w 364"/>
                <a:gd name="T87" fmla="*/ 297 h 379"/>
                <a:gd name="T88" fmla="*/ 343 w 364"/>
                <a:gd name="T89" fmla="*/ 285 h 379"/>
                <a:gd name="T90" fmla="*/ 349 w 364"/>
                <a:gd name="T91" fmla="*/ 273 h 379"/>
                <a:gd name="T92" fmla="*/ 352 w 364"/>
                <a:gd name="T93" fmla="*/ 261 h 379"/>
                <a:gd name="T94" fmla="*/ 355 w 364"/>
                <a:gd name="T95" fmla="*/ 247 h 379"/>
                <a:gd name="T96" fmla="*/ 358 w 364"/>
                <a:gd name="T97" fmla="*/ 232 h 379"/>
                <a:gd name="T98" fmla="*/ 361 w 364"/>
                <a:gd name="T99" fmla="*/ 217 h 379"/>
                <a:gd name="T100" fmla="*/ 361 w 364"/>
                <a:gd name="T101" fmla="*/ 200 h 379"/>
                <a:gd name="T102" fmla="*/ 364 w 364"/>
                <a:gd name="T103" fmla="*/ 179 h 379"/>
                <a:gd name="T104" fmla="*/ 364 w 364"/>
                <a:gd name="T105" fmla="*/ 156 h 379"/>
                <a:gd name="T106" fmla="*/ 364 w 364"/>
                <a:gd name="T107" fmla="*/ 129 h 379"/>
                <a:gd name="T108" fmla="*/ 364 w 364"/>
                <a:gd name="T109" fmla="*/ 103 h 379"/>
                <a:gd name="T110" fmla="*/ 364 w 364"/>
                <a:gd name="T111" fmla="*/ 76 h 379"/>
                <a:gd name="T112" fmla="*/ 364 w 364"/>
                <a:gd name="T113" fmla="*/ 53 h 379"/>
                <a:gd name="T114" fmla="*/ 364 w 364"/>
                <a:gd name="T115" fmla="*/ 32 h 379"/>
                <a:gd name="T116" fmla="*/ 361 w 364"/>
                <a:gd name="T117" fmla="*/ 18 h 379"/>
                <a:gd name="T118" fmla="*/ 361 w 364"/>
                <a:gd name="T119" fmla="*/ 6 h 379"/>
                <a:gd name="T120" fmla="*/ 361 w 364"/>
                <a:gd name="T121" fmla="*/ 3 h 379"/>
                <a:gd name="T122" fmla="*/ 0 w 364"/>
                <a:gd name="T123" fmla="*/ 3 h 379"/>
                <a:gd name="T124" fmla="*/ 0 w 364"/>
                <a:gd name="T125" fmla="*/ 3 h 37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64"/>
                <a:gd name="T190" fmla="*/ 0 h 379"/>
                <a:gd name="T191" fmla="*/ 364 w 364"/>
                <a:gd name="T192" fmla="*/ 379 h 37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64" h="379">
                  <a:moveTo>
                    <a:pt x="0" y="0"/>
                  </a:moveTo>
                  <a:lnTo>
                    <a:pt x="0" y="6"/>
                  </a:lnTo>
                  <a:lnTo>
                    <a:pt x="0" y="15"/>
                  </a:lnTo>
                  <a:lnTo>
                    <a:pt x="0" y="29"/>
                  </a:lnTo>
                  <a:lnTo>
                    <a:pt x="0" y="47"/>
                  </a:lnTo>
                  <a:lnTo>
                    <a:pt x="0" y="71"/>
                  </a:lnTo>
                  <a:lnTo>
                    <a:pt x="0" y="94"/>
                  </a:lnTo>
                  <a:lnTo>
                    <a:pt x="0" y="117"/>
                  </a:lnTo>
                  <a:lnTo>
                    <a:pt x="0" y="138"/>
                  </a:lnTo>
                  <a:lnTo>
                    <a:pt x="0" y="162"/>
                  </a:lnTo>
                  <a:lnTo>
                    <a:pt x="0" y="179"/>
                  </a:lnTo>
                  <a:lnTo>
                    <a:pt x="0" y="194"/>
                  </a:lnTo>
                  <a:lnTo>
                    <a:pt x="0" y="209"/>
                  </a:lnTo>
                  <a:lnTo>
                    <a:pt x="0" y="223"/>
                  </a:lnTo>
                  <a:lnTo>
                    <a:pt x="3" y="238"/>
                  </a:lnTo>
                  <a:lnTo>
                    <a:pt x="3" y="250"/>
                  </a:lnTo>
                  <a:lnTo>
                    <a:pt x="6" y="261"/>
                  </a:lnTo>
                  <a:lnTo>
                    <a:pt x="11" y="276"/>
                  </a:lnTo>
                  <a:lnTo>
                    <a:pt x="17" y="288"/>
                  </a:lnTo>
                  <a:lnTo>
                    <a:pt x="23" y="300"/>
                  </a:lnTo>
                  <a:lnTo>
                    <a:pt x="35" y="314"/>
                  </a:lnTo>
                  <a:lnTo>
                    <a:pt x="41" y="320"/>
                  </a:lnTo>
                  <a:lnTo>
                    <a:pt x="47" y="329"/>
                  </a:lnTo>
                  <a:lnTo>
                    <a:pt x="55" y="338"/>
                  </a:lnTo>
                  <a:lnTo>
                    <a:pt x="67" y="347"/>
                  </a:lnTo>
                  <a:lnTo>
                    <a:pt x="79" y="355"/>
                  </a:lnTo>
                  <a:lnTo>
                    <a:pt x="94" y="364"/>
                  </a:lnTo>
                  <a:lnTo>
                    <a:pt x="108" y="370"/>
                  </a:lnTo>
                  <a:lnTo>
                    <a:pt x="129" y="376"/>
                  </a:lnTo>
                  <a:lnTo>
                    <a:pt x="149" y="379"/>
                  </a:lnTo>
                  <a:lnTo>
                    <a:pt x="173" y="379"/>
                  </a:lnTo>
                  <a:lnTo>
                    <a:pt x="196" y="379"/>
                  </a:lnTo>
                  <a:lnTo>
                    <a:pt x="217" y="376"/>
                  </a:lnTo>
                  <a:lnTo>
                    <a:pt x="235" y="373"/>
                  </a:lnTo>
                  <a:lnTo>
                    <a:pt x="249" y="370"/>
                  </a:lnTo>
                  <a:lnTo>
                    <a:pt x="261" y="364"/>
                  </a:lnTo>
                  <a:lnTo>
                    <a:pt x="273" y="358"/>
                  </a:lnTo>
                  <a:lnTo>
                    <a:pt x="282" y="349"/>
                  </a:lnTo>
                  <a:lnTo>
                    <a:pt x="290" y="344"/>
                  </a:lnTo>
                  <a:lnTo>
                    <a:pt x="299" y="335"/>
                  </a:lnTo>
                  <a:lnTo>
                    <a:pt x="308" y="329"/>
                  </a:lnTo>
                  <a:lnTo>
                    <a:pt x="317" y="317"/>
                  </a:lnTo>
                  <a:lnTo>
                    <a:pt x="326" y="305"/>
                  </a:lnTo>
                  <a:lnTo>
                    <a:pt x="334" y="297"/>
                  </a:lnTo>
                  <a:lnTo>
                    <a:pt x="343" y="285"/>
                  </a:lnTo>
                  <a:lnTo>
                    <a:pt x="349" y="273"/>
                  </a:lnTo>
                  <a:lnTo>
                    <a:pt x="352" y="261"/>
                  </a:lnTo>
                  <a:lnTo>
                    <a:pt x="355" y="247"/>
                  </a:lnTo>
                  <a:lnTo>
                    <a:pt x="358" y="232"/>
                  </a:lnTo>
                  <a:lnTo>
                    <a:pt x="361" y="217"/>
                  </a:lnTo>
                  <a:lnTo>
                    <a:pt x="361" y="200"/>
                  </a:lnTo>
                  <a:lnTo>
                    <a:pt x="364" y="179"/>
                  </a:lnTo>
                  <a:lnTo>
                    <a:pt x="364" y="156"/>
                  </a:lnTo>
                  <a:lnTo>
                    <a:pt x="364" y="129"/>
                  </a:lnTo>
                  <a:lnTo>
                    <a:pt x="364" y="103"/>
                  </a:lnTo>
                  <a:lnTo>
                    <a:pt x="364" y="76"/>
                  </a:lnTo>
                  <a:lnTo>
                    <a:pt x="364" y="53"/>
                  </a:lnTo>
                  <a:lnTo>
                    <a:pt x="364" y="32"/>
                  </a:lnTo>
                  <a:lnTo>
                    <a:pt x="361" y="18"/>
                  </a:lnTo>
                  <a:lnTo>
                    <a:pt x="361" y="6"/>
                  </a:lnTo>
                  <a:lnTo>
                    <a:pt x="361" y="3"/>
                  </a:lnTo>
                  <a:lnTo>
                    <a:pt x="0" y="3"/>
                  </a:lnTo>
                </a:path>
              </a:pathLst>
            </a:custGeom>
            <a:solidFill>
              <a:srgbClr val="FFFFFF"/>
            </a:solidFill>
            <a:ln w="1908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4" name="Freeform 52"/>
            <p:cNvSpPr>
              <a:spLocks noChangeArrowheads="1"/>
            </p:cNvSpPr>
            <p:nvPr/>
          </p:nvSpPr>
          <p:spPr bwMode="auto">
            <a:xfrm>
              <a:off x="2477" y="1748"/>
              <a:ext cx="47" cy="47"/>
            </a:xfrm>
            <a:custGeom>
              <a:avLst/>
              <a:gdLst>
                <a:gd name="T0" fmla="*/ 24 w 47"/>
                <a:gd name="T1" fmla="*/ 47 h 47"/>
                <a:gd name="T2" fmla="*/ 27 w 47"/>
                <a:gd name="T3" fmla="*/ 47 h 47"/>
                <a:gd name="T4" fmla="*/ 30 w 47"/>
                <a:gd name="T5" fmla="*/ 47 h 47"/>
                <a:gd name="T6" fmla="*/ 36 w 47"/>
                <a:gd name="T7" fmla="*/ 44 h 47"/>
                <a:gd name="T8" fmla="*/ 39 w 47"/>
                <a:gd name="T9" fmla="*/ 44 h 47"/>
                <a:gd name="T10" fmla="*/ 42 w 47"/>
                <a:gd name="T11" fmla="*/ 41 h 47"/>
                <a:gd name="T12" fmla="*/ 42 w 47"/>
                <a:gd name="T13" fmla="*/ 39 h 47"/>
                <a:gd name="T14" fmla="*/ 45 w 47"/>
                <a:gd name="T15" fmla="*/ 36 h 47"/>
                <a:gd name="T16" fmla="*/ 45 w 47"/>
                <a:gd name="T17" fmla="*/ 33 h 47"/>
                <a:gd name="T18" fmla="*/ 47 w 47"/>
                <a:gd name="T19" fmla="*/ 27 h 47"/>
                <a:gd name="T20" fmla="*/ 47 w 47"/>
                <a:gd name="T21" fmla="*/ 24 h 47"/>
                <a:gd name="T22" fmla="*/ 47 w 47"/>
                <a:gd name="T23" fmla="*/ 21 h 47"/>
                <a:gd name="T24" fmla="*/ 45 w 47"/>
                <a:gd name="T25" fmla="*/ 15 h 47"/>
                <a:gd name="T26" fmla="*/ 45 w 47"/>
                <a:gd name="T27" fmla="*/ 12 h 47"/>
                <a:gd name="T28" fmla="*/ 42 w 47"/>
                <a:gd name="T29" fmla="*/ 9 h 47"/>
                <a:gd name="T30" fmla="*/ 42 w 47"/>
                <a:gd name="T31" fmla="*/ 6 h 47"/>
                <a:gd name="T32" fmla="*/ 39 w 47"/>
                <a:gd name="T33" fmla="*/ 3 h 47"/>
                <a:gd name="T34" fmla="*/ 36 w 47"/>
                <a:gd name="T35" fmla="*/ 3 h 47"/>
                <a:gd name="T36" fmla="*/ 30 w 47"/>
                <a:gd name="T37" fmla="*/ 0 h 47"/>
                <a:gd name="T38" fmla="*/ 27 w 47"/>
                <a:gd name="T39" fmla="*/ 0 h 47"/>
                <a:gd name="T40" fmla="*/ 24 w 47"/>
                <a:gd name="T41" fmla="*/ 0 h 47"/>
                <a:gd name="T42" fmla="*/ 21 w 47"/>
                <a:gd name="T43" fmla="*/ 0 h 47"/>
                <a:gd name="T44" fmla="*/ 15 w 47"/>
                <a:gd name="T45" fmla="*/ 0 h 47"/>
                <a:gd name="T46" fmla="*/ 12 w 47"/>
                <a:gd name="T47" fmla="*/ 3 h 47"/>
                <a:gd name="T48" fmla="*/ 9 w 47"/>
                <a:gd name="T49" fmla="*/ 3 h 47"/>
                <a:gd name="T50" fmla="*/ 6 w 47"/>
                <a:gd name="T51" fmla="*/ 6 h 47"/>
                <a:gd name="T52" fmla="*/ 6 w 47"/>
                <a:gd name="T53" fmla="*/ 9 h 47"/>
                <a:gd name="T54" fmla="*/ 3 w 47"/>
                <a:gd name="T55" fmla="*/ 12 h 47"/>
                <a:gd name="T56" fmla="*/ 0 w 47"/>
                <a:gd name="T57" fmla="*/ 15 h 47"/>
                <a:gd name="T58" fmla="*/ 0 w 47"/>
                <a:gd name="T59" fmla="*/ 21 h 47"/>
                <a:gd name="T60" fmla="*/ 0 w 47"/>
                <a:gd name="T61" fmla="*/ 24 h 47"/>
                <a:gd name="T62" fmla="*/ 0 w 47"/>
                <a:gd name="T63" fmla="*/ 27 h 47"/>
                <a:gd name="T64" fmla="*/ 0 w 47"/>
                <a:gd name="T65" fmla="*/ 33 h 47"/>
                <a:gd name="T66" fmla="*/ 3 w 47"/>
                <a:gd name="T67" fmla="*/ 36 h 47"/>
                <a:gd name="T68" fmla="*/ 6 w 47"/>
                <a:gd name="T69" fmla="*/ 39 h 47"/>
                <a:gd name="T70" fmla="*/ 6 w 47"/>
                <a:gd name="T71" fmla="*/ 41 h 47"/>
                <a:gd name="T72" fmla="*/ 9 w 47"/>
                <a:gd name="T73" fmla="*/ 44 h 47"/>
                <a:gd name="T74" fmla="*/ 12 w 47"/>
                <a:gd name="T75" fmla="*/ 44 h 47"/>
                <a:gd name="T76" fmla="*/ 15 w 47"/>
                <a:gd name="T77" fmla="*/ 47 h 47"/>
                <a:gd name="T78" fmla="*/ 21 w 47"/>
                <a:gd name="T79" fmla="*/ 47 h 47"/>
                <a:gd name="T80" fmla="*/ 24 w 47"/>
                <a:gd name="T81" fmla="*/ 47 h 47"/>
                <a:gd name="T82" fmla="*/ 24 w 47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7"/>
                <a:gd name="T127" fmla="*/ 0 h 47"/>
                <a:gd name="T128" fmla="*/ 47 w 47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7" h="47">
                  <a:moveTo>
                    <a:pt x="24" y="47"/>
                  </a:moveTo>
                  <a:lnTo>
                    <a:pt x="27" y="47"/>
                  </a:lnTo>
                  <a:lnTo>
                    <a:pt x="30" y="47"/>
                  </a:lnTo>
                  <a:lnTo>
                    <a:pt x="36" y="44"/>
                  </a:lnTo>
                  <a:lnTo>
                    <a:pt x="39" y="44"/>
                  </a:lnTo>
                  <a:lnTo>
                    <a:pt x="42" y="41"/>
                  </a:lnTo>
                  <a:lnTo>
                    <a:pt x="42" y="39"/>
                  </a:lnTo>
                  <a:lnTo>
                    <a:pt x="45" y="36"/>
                  </a:lnTo>
                  <a:lnTo>
                    <a:pt x="45" y="33"/>
                  </a:lnTo>
                  <a:lnTo>
                    <a:pt x="47" y="27"/>
                  </a:lnTo>
                  <a:lnTo>
                    <a:pt x="47" y="24"/>
                  </a:lnTo>
                  <a:lnTo>
                    <a:pt x="47" y="21"/>
                  </a:lnTo>
                  <a:lnTo>
                    <a:pt x="45" y="15"/>
                  </a:lnTo>
                  <a:lnTo>
                    <a:pt x="45" y="12"/>
                  </a:lnTo>
                  <a:lnTo>
                    <a:pt x="42" y="9"/>
                  </a:lnTo>
                  <a:lnTo>
                    <a:pt x="42" y="6"/>
                  </a:lnTo>
                  <a:lnTo>
                    <a:pt x="39" y="3"/>
                  </a:lnTo>
                  <a:lnTo>
                    <a:pt x="36" y="3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5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6"/>
                  </a:lnTo>
                  <a:lnTo>
                    <a:pt x="6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33"/>
                  </a:lnTo>
                  <a:lnTo>
                    <a:pt x="3" y="36"/>
                  </a:lnTo>
                  <a:lnTo>
                    <a:pt x="6" y="39"/>
                  </a:lnTo>
                  <a:lnTo>
                    <a:pt x="6" y="41"/>
                  </a:lnTo>
                  <a:lnTo>
                    <a:pt x="9" y="44"/>
                  </a:lnTo>
                  <a:lnTo>
                    <a:pt x="12" y="44"/>
                  </a:lnTo>
                  <a:lnTo>
                    <a:pt x="15" y="47"/>
                  </a:lnTo>
                  <a:lnTo>
                    <a:pt x="21" y="47"/>
                  </a:lnTo>
                  <a:lnTo>
                    <a:pt x="24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Freeform 53"/>
            <p:cNvSpPr>
              <a:spLocks noChangeArrowheads="1"/>
            </p:cNvSpPr>
            <p:nvPr/>
          </p:nvSpPr>
          <p:spPr bwMode="auto">
            <a:xfrm>
              <a:off x="2419" y="1748"/>
              <a:ext cx="44" cy="47"/>
            </a:xfrm>
            <a:custGeom>
              <a:avLst/>
              <a:gdLst>
                <a:gd name="T0" fmla="*/ 20 w 44"/>
                <a:gd name="T1" fmla="*/ 47 h 47"/>
                <a:gd name="T2" fmla="*/ 26 w 44"/>
                <a:gd name="T3" fmla="*/ 47 h 47"/>
                <a:gd name="T4" fmla="*/ 29 w 44"/>
                <a:gd name="T5" fmla="*/ 47 h 47"/>
                <a:gd name="T6" fmla="*/ 32 w 44"/>
                <a:gd name="T7" fmla="*/ 44 h 47"/>
                <a:gd name="T8" fmla="*/ 35 w 44"/>
                <a:gd name="T9" fmla="*/ 44 h 47"/>
                <a:gd name="T10" fmla="*/ 38 w 44"/>
                <a:gd name="T11" fmla="*/ 41 h 47"/>
                <a:gd name="T12" fmla="*/ 41 w 44"/>
                <a:gd name="T13" fmla="*/ 39 h 47"/>
                <a:gd name="T14" fmla="*/ 44 w 44"/>
                <a:gd name="T15" fmla="*/ 36 h 47"/>
                <a:gd name="T16" fmla="*/ 44 w 44"/>
                <a:gd name="T17" fmla="*/ 33 h 47"/>
                <a:gd name="T18" fmla="*/ 44 w 44"/>
                <a:gd name="T19" fmla="*/ 27 h 47"/>
                <a:gd name="T20" fmla="*/ 44 w 44"/>
                <a:gd name="T21" fmla="*/ 24 h 47"/>
                <a:gd name="T22" fmla="*/ 44 w 44"/>
                <a:gd name="T23" fmla="*/ 21 h 47"/>
                <a:gd name="T24" fmla="*/ 44 w 44"/>
                <a:gd name="T25" fmla="*/ 15 h 47"/>
                <a:gd name="T26" fmla="*/ 44 w 44"/>
                <a:gd name="T27" fmla="*/ 12 h 47"/>
                <a:gd name="T28" fmla="*/ 41 w 44"/>
                <a:gd name="T29" fmla="*/ 9 h 47"/>
                <a:gd name="T30" fmla="*/ 38 w 44"/>
                <a:gd name="T31" fmla="*/ 6 h 47"/>
                <a:gd name="T32" fmla="*/ 35 w 44"/>
                <a:gd name="T33" fmla="*/ 3 h 47"/>
                <a:gd name="T34" fmla="*/ 32 w 44"/>
                <a:gd name="T35" fmla="*/ 3 h 47"/>
                <a:gd name="T36" fmla="*/ 29 w 44"/>
                <a:gd name="T37" fmla="*/ 0 h 47"/>
                <a:gd name="T38" fmla="*/ 26 w 44"/>
                <a:gd name="T39" fmla="*/ 0 h 47"/>
                <a:gd name="T40" fmla="*/ 23 w 44"/>
                <a:gd name="T41" fmla="*/ 0 h 47"/>
                <a:gd name="T42" fmla="*/ 17 w 44"/>
                <a:gd name="T43" fmla="*/ 0 h 47"/>
                <a:gd name="T44" fmla="*/ 14 w 44"/>
                <a:gd name="T45" fmla="*/ 0 h 47"/>
                <a:gd name="T46" fmla="*/ 11 w 44"/>
                <a:gd name="T47" fmla="*/ 3 h 47"/>
                <a:gd name="T48" fmla="*/ 9 w 44"/>
                <a:gd name="T49" fmla="*/ 3 h 47"/>
                <a:gd name="T50" fmla="*/ 6 w 44"/>
                <a:gd name="T51" fmla="*/ 6 h 47"/>
                <a:gd name="T52" fmla="*/ 3 w 44"/>
                <a:gd name="T53" fmla="*/ 9 h 47"/>
                <a:gd name="T54" fmla="*/ 3 w 44"/>
                <a:gd name="T55" fmla="*/ 12 h 47"/>
                <a:gd name="T56" fmla="*/ 0 w 44"/>
                <a:gd name="T57" fmla="*/ 15 h 47"/>
                <a:gd name="T58" fmla="*/ 0 w 44"/>
                <a:gd name="T59" fmla="*/ 21 h 47"/>
                <a:gd name="T60" fmla="*/ 0 w 44"/>
                <a:gd name="T61" fmla="*/ 24 h 47"/>
                <a:gd name="T62" fmla="*/ 0 w 44"/>
                <a:gd name="T63" fmla="*/ 27 h 47"/>
                <a:gd name="T64" fmla="*/ 0 w 44"/>
                <a:gd name="T65" fmla="*/ 33 h 47"/>
                <a:gd name="T66" fmla="*/ 3 w 44"/>
                <a:gd name="T67" fmla="*/ 36 h 47"/>
                <a:gd name="T68" fmla="*/ 3 w 44"/>
                <a:gd name="T69" fmla="*/ 39 h 47"/>
                <a:gd name="T70" fmla="*/ 6 w 44"/>
                <a:gd name="T71" fmla="*/ 41 h 47"/>
                <a:gd name="T72" fmla="*/ 9 w 44"/>
                <a:gd name="T73" fmla="*/ 44 h 47"/>
                <a:gd name="T74" fmla="*/ 11 w 44"/>
                <a:gd name="T75" fmla="*/ 44 h 47"/>
                <a:gd name="T76" fmla="*/ 14 w 44"/>
                <a:gd name="T77" fmla="*/ 47 h 47"/>
                <a:gd name="T78" fmla="*/ 17 w 44"/>
                <a:gd name="T79" fmla="*/ 47 h 47"/>
                <a:gd name="T80" fmla="*/ 23 w 44"/>
                <a:gd name="T81" fmla="*/ 47 h 47"/>
                <a:gd name="T82" fmla="*/ 23 w 44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4"/>
                <a:gd name="T127" fmla="*/ 0 h 47"/>
                <a:gd name="T128" fmla="*/ 44 w 44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4" h="47">
                  <a:moveTo>
                    <a:pt x="20" y="47"/>
                  </a:moveTo>
                  <a:lnTo>
                    <a:pt x="26" y="47"/>
                  </a:lnTo>
                  <a:lnTo>
                    <a:pt x="29" y="47"/>
                  </a:lnTo>
                  <a:lnTo>
                    <a:pt x="32" y="44"/>
                  </a:lnTo>
                  <a:lnTo>
                    <a:pt x="35" y="44"/>
                  </a:lnTo>
                  <a:lnTo>
                    <a:pt x="38" y="41"/>
                  </a:lnTo>
                  <a:lnTo>
                    <a:pt x="41" y="39"/>
                  </a:lnTo>
                  <a:lnTo>
                    <a:pt x="44" y="36"/>
                  </a:lnTo>
                  <a:lnTo>
                    <a:pt x="44" y="33"/>
                  </a:lnTo>
                  <a:lnTo>
                    <a:pt x="44" y="27"/>
                  </a:lnTo>
                  <a:lnTo>
                    <a:pt x="44" y="24"/>
                  </a:lnTo>
                  <a:lnTo>
                    <a:pt x="44" y="21"/>
                  </a:lnTo>
                  <a:lnTo>
                    <a:pt x="44" y="15"/>
                  </a:lnTo>
                  <a:lnTo>
                    <a:pt x="44" y="12"/>
                  </a:lnTo>
                  <a:lnTo>
                    <a:pt x="41" y="9"/>
                  </a:lnTo>
                  <a:lnTo>
                    <a:pt x="38" y="6"/>
                  </a:lnTo>
                  <a:lnTo>
                    <a:pt x="35" y="3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3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3"/>
                  </a:lnTo>
                  <a:lnTo>
                    <a:pt x="9" y="3"/>
                  </a:lnTo>
                  <a:lnTo>
                    <a:pt x="6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33"/>
                  </a:lnTo>
                  <a:lnTo>
                    <a:pt x="3" y="36"/>
                  </a:lnTo>
                  <a:lnTo>
                    <a:pt x="3" y="39"/>
                  </a:lnTo>
                  <a:lnTo>
                    <a:pt x="6" y="41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4" y="47"/>
                  </a:lnTo>
                  <a:lnTo>
                    <a:pt x="17" y="47"/>
                  </a:lnTo>
                  <a:lnTo>
                    <a:pt x="23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Freeform 54"/>
            <p:cNvSpPr>
              <a:spLocks noChangeArrowheads="1"/>
            </p:cNvSpPr>
            <p:nvPr/>
          </p:nvSpPr>
          <p:spPr bwMode="auto">
            <a:xfrm>
              <a:off x="2357" y="1748"/>
              <a:ext cx="44" cy="47"/>
            </a:xfrm>
            <a:custGeom>
              <a:avLst/>
              <a:gdLst>
                <a:gd name="T0" fmla="*/ 21 w 44"/>
                <a:gd name="T1" fmla="*/ 47 h 47"/>
                <a:gd name="T2" fmla="*/ 27 w 44"/>
                <a:gd name="T3" fmla="*/ 47 h 47"/>
                <a:gd name="T4" fmla="*/ 29 w 44"/>
                <a:gd name="T5" fmla="*/ 47 h 47"/>
                <a:gd name="T6" fmla="*/ 32 w 44"/>
                <a:gd name="T7" fmla="*/ 44 h 47"/>
                <a:gd name="T8" fmla="*/ 35 w 44"/>
                <a:gd name="T9" fmla="*/ 44 h 47"/>
                <a:gd name="T10" fmla="*/ 38 w 44"/>
                <a:gd name="T11" fmla="*/ 41 h 47"/>
                <a:gd name="T12" fmla="*/ 41 w 44"/>
                <a:gd name="T13" fmla="*/ 39 h 47"/>
                <a:gd name="T14" fmla="*/ 41 w 44"/>
                <a:gd name="T15" fmla="*/ 36 h 47"/>
                <a:gd name="T16" fmla="*/ 44 w 44"/>
                <a:gd name="T17" fmla="*/ 33 h 47"/>
                <a:gd name="T18" fmla="*/ 44 w 44"/>
                <a:gd name="T19" fmla="*/ 27 h 47"/>
                <a:gd name="T20" fmla="*/ 44 w 44"/>
                <a:gd name="T21" fmla="*/ 24 h 47"/>
                <a:gd name="T22" fmla="*/ 44 w 44"/>
                <a:gd name="T23" fmla="*/ 21 h 47"/>
                <a:gd name="T24" fmla="*/ 44 w 44"/>
                <a:gd name="T25" fmla="*/ 15 h 47"/>
                <a:gd name="T26" fmla="*/ 41 w 44"/>
                <a:gd name="T27" fmla="*/ 12 h 47"/>
                <a:gd name="T28" fmla="*/ 41 w 44"/>
                <a:gd name="T29" fmla="*/ 9 h 47"/>
                <a:gd name="T30" fmla="*/ 38 w 44"/>
                <a:gd name="T31" fmla="*/ 6 h 47"/>
                <a:gd name="T32" fmla="*/ 35 w 44"/>
                <a:gd name="T33" fmla="*/ 3 h 47"/>
                <a:gd name="T34" fmla="*/ 32 w 44"/>
                <a:gd name="T35" fmla="*/ 3 h 47"/>
                <a:gd name="T36" fmla="*/ 29 w 44"/>
                <a:gd name="T37" fmla="*/ 0 h 47"/>
                <a:gd name="T38" fmla="*/ 27 w 44"/>
                <a:gd name="T39" fmla="*/ 0 h 47"/>
                <a:gd name="T40" fmla="*/ 21 w 44"/>
                <a:gd name="T41" fmla="*/ 0 h 47"/>
                <a:gd name="T42" fmla="*/ 18 w 44"/>
                <a:gd name="T43" fmla="*/ 0 h 47"/>
                <a:gd name="T44" fmla="*/ 15 w 44"/>
                <a:gd name="T45" fmla="*/ 0 h 47"/>
                <a:gd name="T46" fmla="*/ 12 w 44"/>
                <a:gd name="T47" fmla="*/ 3 h 47"/>
                <a:gd name="T48" fmla="*/ 9 w 44"/>
                <a:gd name="T49" fmla="*/ 3 h 47"/>
                <a:gd name="T50" fmla="*/ 6 w 44"/>
                <a:gd name="T51" fmla="*/ 6 h 47"/>
                <a:gd name="T52" fmla="*/ 3 w 44"/>
                <a:gd name="T53" fmla="*/ 9 h 47"/>
                <a:gd name="T54" fmla="*/ 0 w 44"/>
                <a:gd name="T55" fmla="*/ 12 h 47"/>
                <a:gd name="T56" fmla="*/ 0 w 44"/>
                <a:gd name="T57" fmla="*/ 15 h 47"/>
                <a:gd name="T58" fmla="*/ 0 w 44"/>
                <a:gd name="T59" fmla="*/ 21 h 47"/>
                <a:gd name="T60" fmla="*/ 0 w 44"/>
                <a:gd name="T61" fmla="*/ 24 h 47"/>
                <a:gd name="T62" fmla="*/ 0 w 44"/>
                <a:gd name="T63" fmla="*/ 27 h 47"/>
                <a:gd name="T64" fmla="*/ 0 w 44"/>
                <a:gd name="T65" fmla="*/ 33 h 47"/>
                <a:gd name="T66" fmla="*/ 0 w 44"/>
                <a:gd name="T67" fmla="*/ 36 h 47"/>
                <a:gd name="T68" fmla="*/ 3 w 44"/>
                <a:gd name="T69" fmla="*/ 39 h 47"/>
                <a:gd name="T70" fmla="*/ 6 w 44"/>
                <a:gd name="T71" fmla="*/ 41 h 47"/>
                <a:gd name="T72" fmla="*/ 9 w 44"/>
                <a:gd name="T73" fmla="*/ 44 h 47"/>
                <a:gd name="T74" fmla="*/ 12 w 44"/>
                <a:gd name="T75" fmla="*/ 44 h 47"/>
                <a:gd name="T76" fmla="*/ 15 w 44"/>
                <a:gd name="T77" fmla="*/ 47 h 47"/>
                <a:gd name="T78" fmla="*/ 18 w 44"/>
                <a:gd name="T79" fmla="*/ 47 h 47"/>
                <a:gd name="T80" fmla="*/ 21 w 44"/>
                <a:gd name="T81" fmla="*/ 47 h 47"/>
                <a:gd name="T82" fmla="*/ 21 w 44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4"/>
                <a:gd name="T127" fmla="*/ 0 h 47"/>
                <a:gd name="T128" fmla="*/ 44 w 44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4" h="47">
                  <a:moveTo>
                    <a:pt x="21" y="47"/>
                  </a:moveTo>
                  <a:lnTo>
                    <a:pt x="27" y="47"/>
                  </a:lnTo>
                  <a:lnTo>
                    <a:pt x="29" y="47"/>
                  </a:lnTo>
                  <a:lnTo>
                    <a:pt x="32" y="44"/>
                  </a:lnTo>
                  <a:lnTo>
                    <a:pt x="35" y="44"/>
                  </a:lnTo>
                  <a:lnTo>
                    <a:pt x="38" y="41"/>
                  </a:lnTo>
                  <a:lnTo>
                    <a:pt x="41" y="39"/>
                  </a:lnTo>
                  <a:lnTo>
                    <a:pt x="41" y="36"/>
                  </a:lnTo>
                  <a:lnTo>
                    <a:pt x="44" y="33"/>
                  </a:lnTo>
                  <a:lnTo>
                    <a:pt x="44" y="27"/>
                  </a:lnTo>
                  <a:lnTo>
                    <a:pt x="44" y="24"/>
                  </a:lnTo>
                  <a:lnTo>
                    <a:pt x="44" y="21"/>
                  </a:lnTo>
                  <a:lnTo>
                    <a:pt x="44" y="15"/>
                  </a:lnTo>
                  <a:lnTo>
                    <a:pt x="41" y="12"/>
                  </a:lnTo>
                  <a:lnTo>
                    <a:pt x="41" y="9"/>
                  </a:lnTo>
                  <a:lnTo>
                    <a:pt x="38" y="6"/>
                  </a:lnTo>
                  <a:lnTo>
                    <a:pt x="35" y="3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6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33"/>
                  </a:lnTo>
                  <a:lnTo>
                    <a:pt x="0" y="36"/>
                  </a:lnTo>
                  <a:lnTo>
                    <a:pt x="3" y="39"/>
                  </a:lnTo>
                  <a:lnTo>
                    <a:pt x="6" y="41"/>
                  </a:lnTo>
                  <a:lnTo>
                    <a:pt x="9" y="44"/>
                  </a:lnTo>
                  <a:lnTo>
                    <a:pt x="12" y="44"/>
                  </a:lnTo>
                  <a:lnTo>
                    <a:pt x="15" y="47"/>
                  </a:lnTo>
                  <a:lnTo>
                    <a:pt x="18" y="47"/>
                  </a:lnTo>
                  <a:lnTo>
                    <a:pt x="21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7" name="Line 55"/>
            <p:cNvSpPr>
              <a:spLocks noChangeShapeType="1"/>
            </p:cNvSpPr>
            <p:nvPr/>
          </p:nvSpPr>
          <p:spPr bwMode="auto">
            <a:xfrm flipV="1">
              <a:off x="2313" y="922"/>
              <a:ext cx="1" cy="88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Line 56"/>
            <p:cNvSpPr>
              <a:spLocks noChangeShapeType="1"/>
            </p:cNvSpPr>
            <p:nvPr/>
          </p:nvSpPr>
          <p:spPr bwMode="auto">
            <a:xfrm flipV="1">
              <a:off x="2378" y="1060"/>
              <a:ext cx="1" cy="686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Line 57"/>
            <p:cNvSpPr>
              <a:spLocks noChangeShapeType="1"/>
            </p:cNvSpPr>
            <p:nvPr/>
          </p:nvSpPr>
          <p:spPr bwMode="auto">
            <a:xfrm flipV="1">
              <a:off x="2439" y="1207"/>
              <a:ext cx="3" cy="539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Line 58"/>
            <p:cNvSpPr>
              <a:spLocks noChangeShapeType="1"/>
            </p:cNvSpPr>
            <p:nvPr/>
          </p:nvSpPr>
          <p:spPr bwMode="auto">
            <a:xfrm flipV="1">
              <a:off x="2495" y="1363"/>
              <a:ext cx="1" cy="38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Line 59"/>
            <p:cNvSpPr>
              <a:spLocks noChangeShapeType="1"/>
            </p:cNvSpPr>
            <p:nvPr/>
          </p:nvSpPr>
          <p:spPr bwMode="auto">
            <a:xfrm flipV="1">
              <a:off x="2551" y="1504"/>
              <a:ext cx="1" cy="30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Line 60"/>
            <p:cNvSpPr>
              <a:spLocks noChangeShapeType="1"/>
            </p:cNvSpPr>
            <p:nvPr/>
          </p:nvSpPr>
          <p:spPr bwMode="auto">
            <a:xfrm flipV="1">
              <a:off x="2615" y="1653"/>
              <a:ext cx="1" cy="15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61"/>
            <p:cNvSpPr>
              <a:spLocks noChangeArrowheads="1"/>
            </p:cNvSpPr>
            <p:nvPr/>
          </p:nvSpPr>
          <p:spPr bwMode="auto">
            <a:xfrm>
              <a:off x="2604" y="1640"/>
              <a:ext cx="26" cy="29"/>
            </a:xfrm>
            <a:custGeom>
              <a:avLst/>
              <a:gdLst>
                <a:gd name="T0" fmla="*/ 11 w 26"/>
                <a:gd name="T1" fmla="*/ 29 h 29"/>
                <a:gd name="T2" fmla="*/ 14 w 26"/>
                <a:gd name="T3" fmla="*/ 29 h 29"/>
                <a:gd name="T4" fmla="*/ 17 w 26"/>
                <a:gd name="T5" fmla="*/ 29 h 29"/>
                <a:gd name="T6" fmla="*/ 20 w 26"/>
                <a:gd name="T7" fmla="*/ 26 h 29"/>
                <a:gd name="T8" fmla="*/ 20 w 26"/>
                <a:gd name="T9" fmla="*/ 26 h 29"/>
                <a:gd name="T10" fmla="*/ 23 w 26"/>
                <a:gd name="T11" fmla="*/ 26 h 29"/>
                <a:gd name="T12" fmla="*/ 23 w 26"/>
                <a:gd name="T13" fmla="*/ 23 h 29"/>
                <a:gd name="T14" fmla="*/ 26 w 26"/>
                <a:gd name="T15" fmla="*/ 20 h 29"/>
                <a:gd name="T16" fmla="*/ 26 w 26"/>
                <a:gd name="T17" fmla="*/ 20 h 29"/>
                <a:gd name="T18" fmla="*/ 26 w 26"/>
                <a:gd name="T19" fmla="*/ 17 h 29"/>
                <a:gd name="T20" fmla="*/ 26 w 26"/>
                <a:gd name="T21" fmla="*/ 14 h 29"/>
                <a:gd name="T22" fmla="*/ 26 w 26"/>
                <a:gd name="T23" fmla="*/ 11 h 29"/>
                <a:gd name="T24" fmla="*/ 26 w 26"/>
                <a:gd name="T25" fmla="*/ 11 h 29"/>
                <a:gd name="T26" fmla="*/ 26 w 26"/>
                <a:gd name="T27" fmla="*/ 9 h 29"/>
                <a:gd name="T28" fmla="*/ 23 w 26"/>
                <a:gd name="T29" fmla="*/ 6 h 29"/>
                <a:gd name="T30" fmla="*/ 23 w 26"/>
                <a:gd name="T31" fmla="*/ 6 h 29"/>
                <a:gd name="T32" fmla="*/ 20 w 26"/>
                <a:gd name="T33" fmla="*/ 3 h 29"/>
                <a:gd name="T34" fmla="*/ 20 w 26"/>
                <a:gd name="T35" fmla="*/ 3 h 29"/>
                <a:gd name="T36" fmla="*/ 17 w 26"/>
                <a:gd name="T37" fmla="*/ 0 h 29"/>
                <a:gd name="T38" fmla="*/ 14 w 26"/>
                <a:gd name="T39" fmla="*/ 0 h 29"/>
                <a:gd name="T40" fmla="*/ 14 w 26"/>
                <a:gd name="T41" fmla="*/ 0 h 29"/>
                <a:gd name="T42" fmla="*/ 11 w 26"/>
                <a:gd name="T43" fmla="*/ 0 h 29"/>
                <a:gd name="T44" fmla="*/ 9 w 26"/>
                <a:gd name="T45" fmla="*/ 0 h 29"/>
                <a:gd name="T46" fmla="*/ 6 w 26"/>
                <a:gd name="T47" fmla="*/ 3 h 29"/>
                <a:gd name="T48" fmla="*/ 6 w 26"/>
                <a:gd name="T49" fmla="*/ 3 h 29"/>
                <a:gd name="T50" fmla="*/ 3 w 26"/>
                <a:gd name="T51" fmla="*/ 6 h 29"/>
                <a:gd name="T52" fmla="*/ 3 w 26"/>
                <a:gd name="T53" fmla="*/ 6 h 29"/>
                <a:gd name="T54" fmla="*/ 0 w 26"/>
                <a:gd name="T55" fmla="*/ 9 h 29"/>
                <a:gd name="T56" fmla="*/ 0 w 26"/>
                <a:gd name="T57" fmla="*/ 11 h 29"/>
                <a:gd name="T58" fmla="*/ 0 w 26"/>
                <a:gd name="T59" fmla="*/ 11 h 29"/>
                <a:gd name="T60" fmla="*/ 0 w 26"/>
                <a:gd name="T61" fmla="*/ 14 h 29"/>
                <a:gd name="T62" fmla="*/ 0 w 26"/>
                <a:gd name="T63" fmla="*/ 17 h 29"/>
                <a:gd name="T64" fmla="*/ 0 w 26"/>
                <a:gd name="T65" fmla="*/ 20 h 29"/>
                <a:gd name="T66" fmla="*/ 0 w 26"/>
                <a:gd name="T67" fmla="*/ 20 h 29"/>
                <a:gd name="T68" fmla="*/ 3 w 26"/>
                <a:gd name="T69" fmla="*/ 23 h 29"/>
                <a:gd name="T70" fmla="*/ 3 w 26"/>
                <a:gd name="T71" fmla="*/ 26 h 29"/>
                <a:gd name="T72" fmla="*/ 6 w 26"/>
                <a:gd name="T73" fmla="*/ 26 h 29"/>
                <a:gd name="T74" fmla="*/ 6 w 26"/>
                <a:gd name="T75" fmla="*/ 26 h 29"/>
                <a:gd name="T76" fmla="*/ 9 w 26"/>
                <a:gd name="T77" fmla="*/ 29 h 29"/>
                <a:gd name="T78" fmla="*/ 11 w 26"/>
                <a:gd name="T79" fmla="*/ 29 h 29"/>
                <a:gd name="T80" fmla="*/ 14 w 26"/>
                <a:gd name="T81" fmla="*/ 29 h 29"/>
                <a:gd name="T82" fmla="*/ 14 w 26"/>
                <a:gd name="T83" fmla="*/ 29 h 29"/>
                <a:gd name="T84" fmla="*/ 11 w 26"/>
                <a:gd name="T85" fmla="*/ 29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6"/>
                <a:gd name="T130" fmla="*/ 0 h 29"/>
                <a:gd name="T131" fmla="*/ 26 w 26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6" h="29">
                  <a:moveTo>
                    <a:pt x="11" y="29"/>
                  </a:moveTo>
                  <a:lnTo>
                    <a:pt x="14" y="29"/>
                  </a:lnTo>
                  <a:lnTo>
                    <a:pt x="17" y="29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3" y="23"/>
                  </a:lnTo>
                  <a:lnTo>
                    <a:pt x="26" y="20"/>
                  </a:lnTo>
                  <a:lnTo>
                    <a:pt x="26" y="17"/>
                  </a:lnTo>
                  <a:lnTo>
                    <a:pt x="26" y="14"/>
                  </a:lnTo>
                  <a:lnTo>
                    <a:pt x="26" y="11"/>
                  </a:lnTo>
                  <a:lnTo>
                    <a:pt x="26" y="9"/>
                  </a:lnTo>
                  <a:lnTo>
                    <a:pt x="23" y="6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3" y="26"/>
                  </a:lnTo>
                  <a:lnTo>
                    <a:pt x="6" y="26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4" y="29"/>
                  </a:lnTo>
                  <a:lnTo>
                    <a:pt x="11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Freeform 62"/>
            <p:cNvSpPr>
              <a:spLocks noChangeArrowheads="1"/>
            </p:cNvSpPr>
            <p:nvPr/>
          </p:nvSpPr>
          <p:spPr bwMode="auto">
            <a:xfrm>
              <a:off x="2604" y="1640"/>
              <a:ext cx="26" cy="29"/>
            </a:xfrm>
            <a:custGeom>
              <a:avLst/>
              <a:gdLst>
                <a:gd name="T0" fmla="*/ 11 w 26"/>
                <a:gd name="T1" fmla="*/ 29 h 29"/>
                <a:gd name="T2" fmla="*/ 14 w 26"/>
                <a:gd name="T3" fmla="*/ 29 h 29"/>
                <a:gd name="T4" fmla="*/ 17 w 26"/>
                <a:gd name="T5" fmla="*/ 29 h 29"/>
                <a:gd name="T6" fmla="*/ 20 w 26"/>
                <a:gd name="T7" fmla="*/ 26 h 29"/>
                <a:gd name="T8" fmla="*/ 20 w 26"/>
                <a:gd name="T9" fmla="*/ 26 h 29"/>
                <a:gd name="T10" fmla="*/ 23 w 26"/>
                <a:gd name="T11" fmla="*/ 26 h 29"/>
                <a:gd name="T12" fmla="*/ 23 w 26"/>
                <a:gd name="T13" fmla="*/ 23 h 29"/>
                <a:gd name="T14" fmla="*/ 26 w 26"/>
                <a:gd name="T15" fmla="*/ 20 h 29"/>
                <a:gd name="T16" fmla="*/ 26 w 26"/>
                <a:gd name="T17" fmla="*/ 20 h 29"/>
                <a:gd name="T18" fmla="*/ 26 w 26"/>
                <a:gd name="T19" fmla="*/ 17 h 29"/>
                <a:gd name="T20" fmla="*/ 26 w 26"/>
                <a:gd name="T21" fmla="*/ 14 h 29"/>
                <a:gd name="T22" fmla="*/ 26 w 26"/>
                <a:gd name="T23" fmla="*/ 11 h 29"/>
                <a:gd name="T24" fmla="*/ 26 w 26"/>
                <a:gd name="T25" fmla="*/ 11 h 29"/>
                <a:gd name="T26" fmla="*/ 26 w 26"/>
                <a:gd name="T27" fmla="*/ 9 h 29"/>
                <a:gd name="T28" fmla="*/ 23 w 26"/>
                <a:gd name="T29" fmla="*/ 6 h 29"/>
                <a:gd name="T30" fmla="*/ 23 w 26"/>
                <a:gd name="T31" fmla="*/ 6 h 29"/>
                <a:gd name="T32" fmla="*/ 20 w 26"/>
                <a:gd name="T33" fmla="*/ 3 h 29"/>
                <a:gd name="T34" fmla="*/ 20 w 26"/>
                <a:gd name="T35" fmla="*/ 3 h 29"/>
                <a:gd name="T36" fmla="*/ 17 w 26"/>
                <a:gd name="T37" fmla="*/ 0 h 29"/>
                <a:gd name="T38" fmla="*/ 14 w 26"/>
                <a:gd name="T39" fmla="*/ 0 h 29"/>
                <a:gd name="T40" fmla="*/ 14 w 26"/>
                <a:gd name="T41" fmla="*/ 0 h 29"/>
                <a:gd name="T42" fmla="*/ 11 w 26"/>
                <a:gd name="T43" fmla="*/ 0 h 29"/>
                <a:gd name="T44" fmla="*/ 9 w 26"/>
                <a:gd name="T45" fmla="*/ 0 h 29"/>
                <a:gd name="T46" fmla="*/ 6 w 26"/>
                <a:gd name="T47" fmla="*/ 3 h 29"/>
                <a:gd name="T48" fmla="*/ 6 w 26"/>
                <a:gd name="T49" fmla="*/ 3 h 29"/>
                <a:gd name="T50" fmla="*/ 3 w 26"/>
                <a:gd name="T51" fmla="*/ 6 h 29"/>
                <a:gd name="T52" fmla="*/ 3 w 26"/>
                <a:gd name="T53" fmla="*/ 6 h 29"/>
                <a:gd name="T54" fmla="*/ 0 w 26"/>
                <a:gd name="T55" fmla="*/ 9 h 29"/>
                <a:gd name="T56" fmla="*/ 0 w 26"/>
                <a:gd name="T57" fmla="*/ 11 h 29"/>
                <a:gd name="T58" fmla="*/ 0 w 26"/>
                <a:gd name="T59" fmla="*/ 11 h 29"/>
                <a:gd name="T60" fmla="*/ 0 w 26"/>
                <a:gd name="T61" fmla="*/ 14 h 29"/>
                <a:gd name="T62" fmla="*/ 0 w 26"/>
                <a:gd name="T63" fmla="*/ 17 h 29"/>
                <a:gd name="T64" fmla="*/ 0 w 26"/>
                <a:gd name="T65" fmla="*/ 20 h 29"/>
                <a:gd name="T66" fmla="*/ 0 w 26"/>
                <a:gd name="T67" fmla="*/ 20 h 29"/>
                <a:gd name="T68" fmla="*/ 3 w 26"/>
                <a:gd name="T69" fmla="*/ 23 h 29"/>
                <a:gd name="T70" fmla="*/ 3 w 26"/>
                <a:gd name="T71" fmla="*/ 26 h 29"/>
                <a:gd name="T72" fmla="*/ 6 w 26"/>
                <a:gd name="T73" fmla="*/ 26 h 29"/>
                <a:gd name="T74" fmla="*/ 6 w 26"/>
                <a:gd name="T75" fmla="*/ 26 h 29"/>
                <a:gd name="T76" fmla="*/ 9 w 26"/>
                <a:gd name="T77" fmla="*/ 29 h 29"/>
                <a:gd name="T78" fmla="*/ 11 w 26"/>
                <a:gd name="T79" fmla="*/ 29 h 29"/>
                <a:gd name="T80" fmla="*/ 14 w 26"/>
                <a:gd name="T81" fmla="*/ 29 h 29"/>
                <a:gd name="T82" fmla="*/ 14 w 26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9"/>
                <a:gd name="T128" fmla="*/ 26 w 26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9">
                  <a:moveTo>
                    <a:pt x="11" y="29"/>
                  </a:moveTo>
                  <a:lnTo>
                    <a:pt x="14" y="29"/>
                  </a:lnTo>
                  <a:lnTo>
                    <a:pt x="17" y="29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3" y="23"/>
                  </a:lnTo>
                  <a:lnTo>
                    <a:pt x="26" y="20"/>
                  </a:lnTo>
                  <a:lnTo>
                    <a:pt x="26" y="17"/>
                  </a:lnTo>
                  <a:lnTo>
                    <a:pt x="26" y="14"/>
                  </a:lnTo>
                  <a:lnTo>
                    <a:pt x="26" y="11"/>
                  </a:lnTo>
                  <a:lnTo>
                    <a:pt x="26" y="9"/>
                  </a:lnTo>
                  <a:lnTo>
                    <a:pt x="23" y="6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3" y="26"/>
                  </a:lnTo>
                  <a:lnTo>
                    <a:pt x="6" y="26"/>
                  </a:lnTo>
                  <a:lnTo>
                    <a:pt x="9" y="29"/>
                  </a:lnTo>
                  <a:lnTo>
                    <a:pt x="11" y="29"/>
                  </a:lnTo>
                  <a:lnTo>
                    <a:pt x="14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Freeform 63"/>
            <p:cNvSpPr>
              <a:spLocks noChangeArrowheads="1"/>
            </p:cNvSpPr>
            <p:nvPr/>
          </p:nvSpPr>
          <p:spPr bwMode="auto">
            <a:xfrm>
              <a:off x="2539" y="1496"/>
              <a:ext cx="30" cy="26"/>
            </a:xfrm>
            <a:custGeom>
              <a:avLst/>
              <a:gdLst>
                <a:gd name="T0" fmla="*/ 12 w 30"/>
                <a:gd name="T1" fmla="*/ 26 h 26"/>
                <a:gd name="T2" fmla="*/ 18 w 30"/>
                <a:gd name="T3" fmla="*/ 26 h 26"/>
                <a:gd name="T4" fmla="*/ 18 w 30"/>
                <a:gd name="T5" fmla="*/ 26 h 26"/>
                <a:gd name="T6" fmla="*/ 21 w 30"/>
                <a:gd name="T7" fmla="*/ 26 h 26"/>
                <a:gd name="T8" fmla="*/ 24 w 30"/>
                <a:gd name="T9" fmla="*/ 26 h 26"/>
                <a:gd name="T10" fmla="*/ 24 w 30"/>
                <a:gd name="T11" fmla="*/ 23 h 26"/>
                <a:gd name="T12" fmla="*/ 27 w 30"/>
                <a:gd name="T13" fmla="*/ 20 h 26"/>
                <a:gd name="T14" fmla="*/ 27 w 30"/>
                <a:gd name="T15" fmla="*/ 20 h 26"/>
                <a:gd name="T16" fmla="*/ 27 w 30"/>
                <a:gd name="T17" fmla="*/ 17 h 26"/>
                <a:gd name="T18" fmla="*/ 30 w 30"/>
                <a:gd name="T19" fmla="*/ 15 h 26"/>
                <a:gd name="T20" fmla="*/ 30 w 30"/>
                <a:gd name="T21" fmla="*/ 15 h 26"/>
                <a:gd name="T22" fmla="*/ 30 w 30"/>
                <a:gd name="T23" fmla="*/ 12 h 26"/>
                <a:gd name="T24" fmla="*/ 27 w 30"/>
                <a:gd name="T25" fmla="*/ 9 h 26"/>
                <a:gd name="T26" fmla="*/ 27 w 30"/>
                <a:gd name="T27" fmla="*/ 6 h 26"/>
                <a:gd name="T28" fmla="*/ 27 w 30"/>
                <a:gd name="T29" fmla="*/ 6 h 26"/>
                <a:gd name="T30" fmla="*/ 24 w 30"/>
                <a:gd name="T31" fmla="*/ 3 h 26"/>
                <a:gd name="T32" fmla="*/ 24 w 30"/>
                <a:gd name="T33" fmla="*/ 3 h 26"/>
                <a:gd name="T34" fmla="*/ 21 w 30"/>
                <a:gd name="T35" fmla="*/ 0 h 26"/>
                <a:gd name="T36" fmla="*/ 18 w 30"/>
                <a:gd name="T37" fmla="*/ 0 h 26"/>
                <a:gd name="T38" fmla="*/ 18 w 30"/>
                <a:gd name="T39" fmla="*/ 0 h 26"/>
                <a:gd name="T40" fmla="*/ 15 w 30"/>
                <a:gd name="T41" fmla="*/ 0 h 26"/>
                <a:gd name="T42" fmla="*/ 12 w 30"/>
                <a:gd name="T43" fmla="*/ 0 h 26"/>
                <a:gd name="T44" fmla="*/ 9 w 30"/>
                <a:gd name="T45" fmla="*/ 0 h 26"/>
                <a:gd name="T46" fmla="*/ 9 w 30"/>
                <a:gd name="T47" fmla="*/ 0 h 26"/>
                <a:gd name="T48" fmla="*/ 6 w 30"/>
                <a:gd name="T49" fmla="*/ 3 h 26"/>
                <a:gd name="T50" fmla="*/ 3 w 30"/>
                <a:gd name="T51" fmla="*/ 3 h 26"/>
                <a:gd name="T52" fmla="*/ 3 w 30"/>
                <a:gd name="T53" fmla="*/ 6 h 26"/>
                <a:gd name="T54" fmla="*/ 0 w 30"/>
                <a:gd name="T55" fmla="*/ 6 h 26"/>
                <a:gd name="T56" fmla="*/ 0 w 30"/>
                <a:gd name="T57" fmla="*/ 9 h 26"/>
                <a:gd name="T58" fmla="*/ 0 w 30"/>
                <a:gd name="T59" fmla="*/ 12 h 26"/>
                <a:gd name="T60" fmla="*/ 0 w 30"/>
                <a:gd name="T61" fmla="*/ 15 h 26"/>
                <a:gd name="T62" fmla="*/ 0 w 30"/>
                <a:gd name="T63" fmla="*/ 15 h 26"/>
                <a:gd name="T64" fmla="*/ 0 w 30"/>
                <a:gd name="T65" fmla="*/ 17 h 26"/>
                <a:gd name="T66" fmla="*/ 0 w 30"/>
                <a:gd name="T67" fmla="*/ 20 h 26"/>
                <a:gd name="T68" fmla="*/ 3 w 30"/>
                <a:gd name="T69" fmla="*/ 20 h 26"/>
                <a:gd name="T70" fmla="*/ 3 w 30"/>
                <a:gd name="T71" fmla="*/ 23 h 26"/>
                <a:gd name="T72" fmla="*/ 6 w 30"/>
                <a:gd name="T73" fmla="*/ 26 h 26"/>
                <a:gd name="T74" fmla="*/ 9 w 30"/>
                <a:gd name="T75" fmla="*/ 26 h 26"/>
                <a:gd name="T76" fmla="*/ 9 w 30"/>
                <a:gd name="T77" fmla="*/ 26 h 26"/>
                <a:gd name="T78" fmla="*/ 12 w 30"/>
                <a:gd name="T79" fmla="*/ 26 h 26"/>
                <a:gd name="T80" fmla="*/ 15 w 30"/>
                <a:gd name="T81" fmla="*/ 26 h 26"/>
                <a:gd name="T82" fmla="*/ 15 w 30"/>
                <a:gd name="T83" fmla="*/ 26 h 26"/>
                <a:gd name="T84" fmla="*/ 12 w 30"/>
                <a:gd name="T85" fmla="*/ 26 h 2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0"/>
                <a:gd name="T130" fmla="*/ 0 h 26"/>
                <a:gd name="T131" fmla="*/ 30 w 30"/>
                <a:gd name="T132" fmla="*/ 26 h 2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0" h="26">
                  <a:moveTo>
                    <a:pt x="12" y="26"/>
                  </a:moveTo>
                  <a:lnTo>
                    <a:pt x="18" y="26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4" y="23"/>
                  </a:lnTo>
                  <a:lnTo>
                    <a:pt x="27" y="20"/>
                  </a:lnTo>
                  <a:lnTo>
                    <a:pt x="27" y="17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7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5" y="26"/>
                  </a:lnTo>
                  <a:lnTo>
                    <a:pt x="12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6" name="Freeform 64"/>
            <p:cNvSpPr>
              <a:spLocks noChangeArrowheads="1"/>
            </p:cNvSpPr>
            <p:nvPr/>
          </p:nvSpPr>
          <p:spPr bwMode="auto">
            <a:xfrm>
              <a:off x="2539" y="1496"/>
              <a:ext cx="30" cy="26"/>
            </a:xfrm>
            <a:custGeom>
              <a:avLst/>
              <a:gdLst>
                <a:gd name="T0" fmla="*/ 12 w 30"/>
                <a:gd name="T1" fmla="*/ 26 h 26"/>
                <a:gd name="T2" fmla="*/ 18 w 30"/>
                <a:gd name="T3" fmla="*/ 26 h 26"/>
                <a:gd name="T4" fmla="*/ 18 w 30"/>
                <a:gd name="T5" fmla="*/ 26 h 26"/>
                <a:gd name="T6" fmla="*/ 21 w 30"/>
                <a:gd name="T7" fmla="*/ 26 h 26"/>
                <a:gd name="T8" fmla="*/ 24 w 30"/>
                <a:gd name="T9" fmla="*/ 26 h 26"/>
                <a:gd name="T10" fmla="*/ 24 w 30"/>
                <a:gd name="T11" fmla="*/ 23 h 26"/>
                <a:gd name="T12" fmla="*/ 27 w 30"/>
                <a:gd name="T13" fmla="*/ 20 h 26"/>
                <a:gd name="T14" fmla="*/ 27 w 30"/>
                <a:gd name="T15" fmla="*/ 20 h 26"/>
                <a:gd name="T16" fmla="*/ 27 w 30"/>
                <a:gd name="T17" fmla="*/ 17 h 26"/>
                <a:gd name="T18" fmla="*/ 30 w 30"/>
                <a:gd name="T19" fmla="*/ 15 h 26"/>
                <a:gd name="T20" fmla="*/ 30 w 30"/>
                <a:gd name="T21" fmla="*/ 15 h 26"/>
                <a:gd name="T22" fmla="*/ 30 w 30"/>
                <a:gd name="T23" fmla="*/ 12 h 26"/>
                <a:gd name="T24" fmla="*/ 27 w 30"/>
                <a:gd name="T25" fmla="*/ 9 h 26"/>
                <a:gd name="T26" fmla="*/ 27 w 30"/>
                <a:gd name="T27" fmla="*/ 6 h 26"/>
                <a:gd name="T28" fmla="*/ 27 w 30"/>
                <a:gd name="T29" fmla="*/ 6 h 26"/>
                <a:gd name="T30" fmla="*/ 24 w 30"/>
                <a:gd name="T31" fmla="*/ 3 h 26"/>
                <a:gd name="T32" fmla="*/ 24 w 30"/>
                <a:gd name="T33" fmla="*/ 3 h 26"/>
                <a:gd name="T34" fmla="*/ 21 w 30"/>
                <a:gd name="T35" fmla="*/ 0 h 26"/>
                <a:gd name="T36" fmla="*/ 18 w 30"/>
                <a:gd name="T37" fmla="*/ 0 h 26"/>
                <a:gd name="T38" fmla="*/ 18 w 30"/>
                <a:gd name="T39" fmla="*/ 0 h 26"/>
                <a:gd name="T40" fmla="*/ 15 w 30"/>
                <a:gd name="T41" fmla="*/ 0 h 26"/>
                <a:gd name="T42" fmla="*/ 12 w 30"/>
                <a:gd name="T43" fmla="*/ 0 h 26"/>
                <a:gd name="T44" fmla="*/ 9 w 30"/>
                <a:gd name="T45" fmla="*/ 0 h 26"/>
                <a:gd name="T46" fmla="*/ 9 w 30"/>
                <a:gd name="T47" fmla="*/ 0 h 26"/>
                <a:gd name="T48" fmla="*/ 6 w 30"/>
                <a:gd name="T49" fmla="*/ 3 h 26"/>
                <a:gd name="T50" fmla="*/ 3 w 30"/>
                <a:gd name="T51" fmla="*/ 3 h 26"/>
                <a:gd name="T52" fmla="*/ 3 w 30"/>
                <a:gd name="T53" fmla="*/ 6 h 26"/>
                <a:gd name="T54" fmla="*/ 0 w 30"/>
                <a:gd name="T55" fmla="*/ 6 h 26"/>
                <a:gd name="T56" fmla="*/ 0 w 30"/>
                <a:gd name="T57" fmla="*/ 9 h 26"/>
                <a:gd name="T58" fmla="*/ 0 w 30"/>
                <a:gd name="T59" fmla="*/ 12 h 26"/>
                <a:gd name="T60" fmla="*/ 0 w 30"/>
                <a:gd name="T61" fmla="*/ 15 h 26"/>
                <a:gd name="T62" fmla="*/ 0 w 30"/>
                <a:gd name="T63" fmla="*/ 15 h 26"/>
                <a:gd name="T64" fmla="*/ 0 w 30"/>
                <a:gd name="T65" fmla="*/ 17 h 26"/>
                <a:gd name="T66" fmla="*/ 0 w 30"/>
                <a:gd name="T67" fmla="*/ 20 h 26"/>
                <a:gd name="T68" fmla="*/ 3 w 30"/>
                <a:gd name="T69" fmla="*/ 20 h 26"/>
                <a:gd name="T70" fmla="*/ 3 w 30"/>
                <a:gd name="T71" fmla="*/ 23 h 26"/>
                <a:gd name="T72" fmla="*/ 6 w 30"/>
                <a:gd name="T73" fmla="*/ 26 h 26"/>
                <a:gd name="T74" fmla="*/ 9 w 30"/>
                <a:gd name="T75" fmla="*/ 26 h 26"/>
                <a:gd name="T76" fmla="*/ 9 w 30"/>
                <a:gd name="T77" fmla="*/ 26 h 26"/>
                <a:gd name="T78" fmla="*/ 12 w 30"/>
                <a:gd name="T79" fmla="*/ 26 h 26"/>
                <a:gd name="T80" fmla="*/ 15 w 30"/>
                <a:gd name="T81" fmla="*/ 26 h 26"/>
                <a:gd name="T82" fmla="*/ 15 w 30"/>
                <a:gd name="T83" fmla="*/ 26 h 2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6"/>
                <a:gd name="T128" fmla="*/ 30 w 30"/>
                <a:gd name="T129" fmla="*/ 26 h 2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6">
                  <a:moveTo>
                    <a:pt x="12" y="26"/>
                  </a:moveTo>
                  <a:lnTo>
                    <a:pt x="18" y="26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4" y="23"/>
                  </a:lnTo>
                  <a:lnTo>
                    <a:pt x="27" y="20"/>
                  </a:lnTo>
                  <a:lnTo>
                    <a:pt x="27" y="17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27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5" y="26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7" name="Freeform 65"/>
            <p:cNvSpPr>
              <a:spLocks noChangeArrowheads="1"/>
            </p:cNvSpPr>
            <p:nvPr/>
          </p:nvSpPr>
          <p:spPr bwMode="auto">
            <a:xfrm>
              <a:off x="2480" y="1343"/>
              <a:ext cx="30" cy="30"/>
            </a:xfrm>
            <a:custGeom>
              <a:avLst/>
              <a:gdLst>
                <a:gd name="T0" fmla="*/ 15 w 30"/>
                <a:gd name="T1" fmla="*/ 30 h 30"/>
                <a:gd name="T2" fmla="*/ 18 w 30"/>
                <a:gd name="T3" fmla="*/ 30 h 30"/>
                <a:gd name="T4" fmla="*/ 21 w 30"/>
                <a:gd name="T5" fmla="*/ 30 h 30"/>
                <a:gd name="T6" fmla="*/ 24 w 30"/>
                <a:gd name="T7" fmla="*/ 30 h 30"/>
                <a:gd name="T8" fmla="*/ 24 w 30"/>
                <a:gd name="T9" fmla="*/ 27 h 30"/>
                <a:gd name="T10" fmla="*/ 27 w 30"/>
                <a:gd name="T11" fmla="*/ 27 h 30"/>
                <a:gd name="T12" fmla="*/ 27 w 30"/>
                <a:gd name="T13" fmla="*/ 24 h 30"/>
                <a:gd name="T14" fmla="*/ 30 w 30"/>
                <a:gd name="T15" fmla="*/ 24 h 30"/>
                <a:gd name="T16" fmla="*/ 30 w 30"/>
                <a:gd name="T17" fmla="*/ 21 h 30"/>
                <a:gd name="T18" fmla="*/ 30 w 30"/>
                <a:gd name="T19" fmla="*/ 18 h 30"/>
                <a:gd name="T20" fmla="*/ 30 w 30"/>
                <a:gd name="T21" fmla="*/ 15 h 30"/>
                <a:gd name="T22" fmla="*/ 30 w 30"/>
                <a:gd name="T23" fmla="*/ 15 h 30"/>
                <a:gd name="T24" fmla="*/ 30 w 30"/>
                <a:gd name="T25" fmla="*/ 12 h 30"/>
                <a:gd name="T26" fmla="*/ 30 w 30"/>
                <a:gd name="T27" fmla="*/ 9 h 30"/>
                <a:gd name="T28" fmla="*/ 27 w 30"/>
                <a:gd name="T29" fmla="*/ 6 h 30"/>
                <a:gd name="T30" fmla="*/ 27 w 30"/>
                <a:gd name="T31" fmla="*/ 6 h 30"/>
                <a:gd name="T32" fmla="*/ 24 w 30"/>
                <a:gd name="T33" fmla="*/ 3 h 30"/>
                <a:gd name="T34" fmla="*/ 24 w 30"/>
                <a:gd name="T35" fmla="*/ 3 h 30"/>
                <a:gd name="T36" fmla="*/ 21 w 30"/>
                <a:gd name="T37" fmla="*/ 3 h 30"/>
                <a:gd name="T38" fmla="*/ 18 w 30"/>
                <a:gd name="T39" fmla="*/ 3 h 30"/>
                <a:gd name="T40" fmla="*/ 15 w 30"/>
                <a:gd name="T41" fmla="*/ 0 h 30"/>
                <a:gd name="T42" fmla="*/ 15 w 30"/>
                <a:gd name="T43" fmla="*/ 3 h 30"/>
                <a:gd name="T44" fmla="*/ 12 w 30"/>
                <a:gd name="T45" fmla="*/ 3 h 30"/>
                <a:gd name="T46" fmla="*/ 9 w 30"/>
                <a:gd name="T47" fmla="*/ 3 h 30"/>
                <a:gd name="T48" fmla="*/ 6 w 30"/>
                <a:gd name="T49" fmla="*/ 3 h 30"/>
                <a:gd name="T50" fmla="*/ 6 w 30"/>
                <a:gd name="T51" fmla="*/ 6 h 30"/>
                <a:gd name="T52" fmla="*/ 3 w 30"/>
                <a:gd name="T53" fmla="*/ 6 h 30"/>
                <a:gd name="T54" fmla="*/ 3 w 30"/>
                <a:gd name="T55" fmla="*/ 9 h 30"/>
                <a:gd name="T56" fmla="*/ 3 w 30"/>
                <a:gd name="T57" fmla="*/ 12 h 30"/>
                <a:gd name="T58" fmla="*/ 3 w 30"/>
                <a:gd name="T59" fmla="*/ 15 h 30"/>
                <a:gd name="T60" fmla="*/ 0 w 30"/>
                <a:gd name="T61" fmla="*/ 15 h 30"/>
                <a:gd name="T62" fmla="*/ 3 w 30"/>
                <a:gd name="T63" fmla="*/ 18 h 30"/>
                <a:gd name="T64" fmla="*/ 3 w 30"/>
                <a:gd name="T65" fmla="*/ 21 h 30"/>
                <a:gd name="T66" fmla="*/ 3 w 30"/>
                <a:gd name="T67" fmla="*/ 24 h 30"/>
                <a:gd name="T68" fmla="*/ 3 w 30"/>
                <a:gd name="T69" fmla="*/ 24 h 30"/>
                <a:gd name="T70" fmla="*/ 6 w 30"/>
                <a:gd name="T71" fmla="*/ 27 h 30"/>
                <a:gd name="T72" fmla="*/ 6 w 30"/>
                <a:gd name="T73" fmla="*/ 27 h 30"/>
                <a:gd name="T74" fmla="*/ 9 w 30"/>
                <a:gd name="T75" fmla="*/ 30 h 30"/>
                <a:gd name="T76" fmla="*/ 12 w 30"/>
                <a:gd name="T77" fmla="*/ 30 h 30"/>
                <a:gd name="T78" fmla="*/ 15 w 30"/>
                <a:gd name="T79" fmla="*/ 30 h 30"/>
                <a:gd name="T80" fmla="*/ 15 w 30"/>
                <a:gd name="T81" fmla="*/ 30 h 30"/>
                <a:gd name="T82" fmla="*/ 15 w 30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30"/>
                <a:gd name="T128" fmla="*/ 30 w 30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30">
                  <a:moveTo>
                    <a:pt x="15" y="30"/>
                  </a:moveTo>
                  <a:lnTo>
                    <a:pt x="18" y="30"/>
                  </a:lnTo>
                  <a:lnTo>
                    <a:pt x="21" y="30"/>
                  </a:lnTo>
                  <a:lnTo>
                    <a:pt x="24" y="30"/>
                  </a:lnTo>
                  <a:lnTo>
                    <a:pt x="24" y="27"/>
                  </a:lnTo>
                  <a:lnTo>
                    <a:pt x="27" y="27"/>
                  </a:lnTo>
                  <a:lnTo>
                    <a:pt x="27" y="24"/>
                  </a:lnTo>
                  <a:lnTo>
                    <a:pt x="30" y="24"/>
                  </a:lnTo>
                  <a:lnTo>
                    <a:pt x="30" y="21"/>
                  </a:lnTo>
                  <a:lnTo>
                    <a:pt x="30" y="18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30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15" y="3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0" y="15"/>
                  </a:lnTo>
                  <a:lnTo>
                    <a:pt x="3" y="18"/>
                  </a:lnTo>
                  <a:lnTo>
                    <a:pt x="3" y="21"/>
                  </a:lnTo>
                  <a:lnTo>
                    <a:pt x="3" y="24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2" y="30"/>
                  </a:lnTo>
                  <a:lnTo>
                    <a:pt x="15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8" name="Freeform 66"/>
            <p:cNvSpPr>
              <a:spLocks noChangeArrowheads="1"/>
            </p:cNvSpPr>
            <p:nvPr/>
          </p:nvSpPr>
          <p:spPr bwMode="auto">
            <a:xfrm>
              <a:off x="2480" y="1343"/>
              <a:ext cx="30" cy="30"/>
            </a:xfrm>
            <a:custGeom>
              <a:avLst/>
              <a:gdLst>
                <a:gd name="T0" fmla="*/ 15 w 30"/>
                <a:gd name="T1" fmla="*/ 30 h 30"/>
                <a:gd name="T2" fmla="*/ 18 w 30"/>
                <a:gd name="T3" fmla="*/ 30 h 30"/>
                <a:gd name="T4" fmla="*/ 21 w 30"/>
                <a:gd name="T5" fmla="*/ 30 h 30"/>
                <a:gd name="T6" fmla="*/ 24 w 30"/>
                <a:gd name="T7" fmla="*/ 30 h 30"/>
                <a:gd name="T8" fmla="*/ 24 w 30"/>
                <a:gd name="T9" fmla="*/ 27 h 30"/>
                <a:gd name="T10" fmla="*/ 27 w 30"/>
                <a:gd name="T11" fmla="*/ 27 h 30"/>
                <a:gd name="T12" fmla="*/ 27 w 30"/>
                <a:gd name="T13" fmla="*/ 24 h 30"/>
                <a:gd name="T14" fmla="*/ 30 w 30"/>
                <a:gd name="T15" fmla="*/ 24 h 30"/>
                <a:gd name="T16" fmla="*/ 30 w 30"/>
                <a:gd name="T17" fmla="*/ 21 h 30"/>
                <a:gd name="T18" fmla="*/ 30 w 30"/>
                <a:gd name="T19" fmla="*/ 18 h 30"/>
                <a:gd name="T20" fmla="*/ 30 w 30"/>
                <a:gd name="T21" fmla="*/ 15 h 30"/>
                <a:gd name="T22" fmla="*/ 30 w 30"/>
                <a:gd name="T23" fmla="*/ 15 h 30"/>
                <a:gd name="T24" fmla="*/ 30 w 30"/>
                <a:gd name="T25" fmla="*/ 12 h 30"/>
                <a:gd name="T26" fmla="*/ 30 w 30"/>
                <a:gd name="T27" fmla="*/ 9 h 30"/>
                <a:gd name="T28" fmla="*/ 27 w 30"/>
                <a:gd name="T29" fmla="*/ 6 h 30"/>
                <a:gd name="T30" fmla="*/ 27 w 30"/>
                <a:gd name="T31" fmla="*/ 6 h 30"/>
                <a:gd name="T32" fmla="*/ 24 w 30"/>
                <a:gd name="T33" fmla="*/ 3 h 30"/>
                <a:gd name="T34" fmla="*/ 24 w 30"/>
                <a:gd name="T35" fmla="*/ 3 h 30"/>
                <a:gd name="T36" fmla="*/ 21 w 30"/>
                <a:gd name="T37" fmla="*/ 3 h 30"/>
                <a:gd name="T38" fmla="*/ 18 w 30"/>
                <a:gd name="T39" fmla="*/ 3 h 30"/>
                <a:gd name="T40" fmla="*/ 15 w 30"/>
                <a:gd name="T41" fmla="*/ 0 h 30"/>
                <a:gd name="T42" fmla="*/ 15 w 30"/>
                <a:gd name="T43" fmla="*/ 3 h 30"/>
                <a:gd name="T44" fmla="*/ 12 w 30"/>
                <a:gd name="T45" fmla="*/ 3 h 30"/>
                <a:gd name="T46" fmla="*/ 9 w 30"/>
                <a:gd name="T47" fmla="*/ 3 h 30"/>
                <a:gd name="T48" fmla="*/ 6 w 30"/>
                <a:gd name="T49" fmla="*/ 3 h 30"/>
                <a:gd name="T50" fmla="*/ 6 w 30"/>
                <a:gd name="T51" fmla="*/ 6 h 30"/>
                <a:gd name="T52" fmla="*/ 3 w 30"/>
                <a:gd name="T53" fmla="*/ 6 h 30"/>
                <a:gd name="T54" fmla="*/ 3 w 30"/>
                <a:gd name="T55" fmla="*/ 9 h 30"/>
                <a:gd name="T56" fmla="*/ 3 w 30"/>
                <a:gd name="T57" fmla="*/ 12 h 30"/>
                <a:gd name="T58" fmla="*/ 3 w 30"/>
                <a:gd name="T59" fmla="*/ 15 h 30"/>
                <a:gd name="T60" fmla="*/ 0 w 30"/>
                <a:gd name="T61" fmla="*/ 15 h 30"/>
                <a:gd name="T62" fmla="*/ 3 w 30"/>
                <a:gd name="T63" fmla="*/ 18 h 30"/>
                <a:gd name="T64" fmla="*/ 3 w 30"/>
                <a:gd name="T65" fmla="*/ 21 h 30"/>
                <a:gd name="T66" fmla="*/ 3 w 30"/>
                <a:gd name="T67" fmla="*/ 24 h 30"/>
                <a:gd name="T68" fmla="*/ 3 w 30"/>
                <a:gd name="T69" fmla="*/ 24 h 30"/>
                <a:gd name="T70" fmla="*/ 6 w 30"/>
                <a:gd name="T71" fmla="*/ 27 h 30"/>
                <a:gd name="T72" fmla="*/ 6 w 30"/>
                <a:gd name="T73" fmla="*/ 27 h 30"/>
                <a:gd name="T74" fmla="*/ 9 w 30"/>
                <a:gd name="T75" fmla="*/ 30 h 30"/>
                <a:gd name="T76" fmla="*/ 12 w 30"/>
                <a:gd name="T77" fmla="*/ 30 h 30"/>
                <a:gd name="T78" fmla="*/ 15 w 30"/>
                <a:gd name="T79" fmla="*/ 30 h 30"/>
                <a:gd name="T80" fmla="*/ 15 w 30"/>
                <a:gd name="T81" fmla="*/ 30 h 30"/>
                <a:gd name="T82" fmla="*/ 15 w 30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30"/>
                <a:gd name="T128" fmla="*/ 30 w 30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30">
                  <a:moveTo>
                    <a:pt x="15" y="30"/>
                  </a:moveTo>
                  <a:lnTo>
                    <a:pt x="18" y="30"/>
                  </a:lnTo>
                  <a:lnTo>
                    <a:pt x="21" y="30"/>
                  </a:lnTo>
                  <a:lnTo>
                    <a:pt x="24" y="30"/>
                  </a:lnTo>
                  <a:lnTo>
                    <a:pt x="24" y="27"/>
                  </a:lnTo>
                  <a:lnTo>
                    <a:pt x="27" y="27"/>
                  </a:lnTo>
                  <a:lnTo>
                    <a:pt x="27" y="24"/>
                  </a:lnTo>
                  <a:lnTo>
                    <a:pt x="30" y="24"/>
                  </a:lnTo>
                  <a:lnTo>
                    <a:pt x="30" y="21"/>
                  </a:lnTo>
                  <a:lnTo>
                    <a:pt x="30" y="18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30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15" y="3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0" y="15"/>
                  </a:lnTo>
                  <a:lnTo>
                    <a:pt x="3" y="18"/>
                  </a:lnTo>
                  <a:lnTo>
                    <a:pt x="3" y="21"/>
                  </a:lnTo>
                  <a:lnTo>
                    <a:pt x="3" y="24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2" y="30"/>
                  </a:lnTo>
                  <a:lnTo>
                    <a:pt x="15" y="3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" name="Freeform 67"/>
            <p:cNvSpPr>
              <a:spLocks noChangeArrowheads="1"/>
            </p:cNvSpPr>
            <p:nvPr/>
          </p:nvSpPr>
          <p:spPr bwMode="auto">
            <a:xfrm>
              <a:off x="2428" y="1193"/>
              <a:ext cx="29" cy="30"/>
            </a:xfrm>
            <a:custGeom>
              <a:avLst/>
              <a:gdLst>
                <a:gd name="T0" fmla="*/ 11 w 29"/>
                <a:gd name="T1" fmla="*/ 27 h 30"/>
                <a:gd name="T2" fmla="*/ 14 w 29"/>
                <a:gd name="T3" fmla="*/ 30 h 30"/>
                <a:gd name="T4" fmla="*/ 17 w 29"/>
                <a:gd name="T5" fmla="*/ 30 h 30"/>
                <a:gd name="T6" fmla="*/ 20 w 29"/>
                <a:gd name="T7" fmla="*/ 27 h 30"/>
                <a:gd name="T8" fmla="*/ 23 w 29"/>
                <a:gd name="T9" fmla="*/ 27 h 30"/>
                <a:gd name="T10" fmla="*/ 23 w 29"/>
                <a:gd name="T11" fmla="*/ 24 h 30"/>
                <a:gd name="T12" fmla="*/ 26 w 29"/>
                <a:gd name="T13" fmla="*/ 24 h 30"/>
                <a:gd name="T14" fmla="*/ 26 w 29"/>
                <a:gd name="T15" fmla="*/ 21 h 30"/>
                <a:gd name="T16" fmla="*/ 26 w 29"/>
                <a:gd name="T17" fmla="*/ 21 h 30"/>
                <a:gd name="T18" fmla="*/ 26 w 29"/>
                <a:gd name="T19" fmla="*/ 18 h 30"/>
                <a:gd name="T20" fmla="*/ 29 w 29"/>
                <a:gd name="T21" fmla="*/ 15 h 30"/>
                <a:gd name="T22" fmla="*/ 26 w 29"/>
                <a:gd name="T23" fmla="*/ 12 h 30"/>
                <a:gd name="T24" fmla="*/ 26 w 29"/>
                <a:gd name="T25" fmla="*/ 9 h 30"/>
                <a:gd name="T26" fmla="*/ 26 w 29"/>
                <a:gd name="T27" fmla="*/ 9 h 30"/>
                <a:gd name="T28" fmla="*/ 26 w 29"/>
                <a:gd name="T29" fmla="*/ 6 h 30"/>
                <a:gd name="T30" fmla="*/ 23 w 29"/>
                <a:gd name="T31" fmla="*/ 6 h 30"/>
                <a:gd name="T32" fmla="*/ 23 w 29"/>
                <a:gd name="T33" fmla="*/ 3 h 30"/>
                <a:gd name="T34" fmla="*/ 20 w 29"/>
                <a:gd name="T35" fmla="*/ 3 h 30"/>
                <a:gd name="T36" fmla="*/ 17 w 29"/>
                <a:gd name="T37" fmla="*/ 0 h 30"/>
                <a:gd name="T38" fmla="*/ 14 w 29"/>
                <a:gd name="T39" fmla="*/ 0 h 30"/>
                <a:gd name="T40" fmla="*/ 14 w 29"/>
                <a:gd name="T41" fmla="*/ 0 h 30"/>
                <a:gd name="T42" fmla="*/ 11 w 29"/>
                <a:gd name="T43" fmla="*/ 0 h 30"/>
                <a:gd name="T44" fmla="*/ 8 w 29"/>
                <a:gd name="T45" fmla="*/ 0 h 30"/>
                <a:gd name="T46" fmla="*/ 5 w 29"/>
                <a:gd name="T47" fmla="*/ 3 h 30"/>
                <a:gd name="T48" fmla="*/ 5 w 29"/>
                <a:gd name="T49" fmla="*/ 3 h 30"/>
                <a:gd name="T50" fmla="*/ 2 w 29"/>
                <a:gd name="T51" fmla="*/ 6 h 30"/>
                <a:gd name="T52" fmla="*/ 2 w 29"/>
                <a:gd name="T53" fmla="*/ 6 h 30"/>
                <a:gd name="T54" fmla="*/ 0 w 29"/>
                <a:gd name="T55" fmla="*/ 9 h 30"/>
                <a:gd name="T56" fmla="*/ 0 w 29"/>
                <a:gd name="T57" fmla="*/ 9 h 30"/>
                <a:gd name="T58" fmla="*/ 0 w 29"/>
                <a:gd name="T59" fmla="*/ 12 h 30"/>
                <a:gd name="T60" fmla="*/ 0 w 29"/>
                <a:gd name="T61" fmla="*/ 15 h 30"/>
                <a:gd name="T62" fmla="*/ 0 w 29"/>
                <a:gd name="T63" fmla="*/ 18 h 30"/>
                <a:gd name="T64" fmla="*/ 0 w 29"/>
                <a:gd name="T65" fmla="*/ 21 h 30"/>
                <a:gd name="T66" fmla="*/ 0 w 29"/>
                <a:gd name="T67" fmla="*/ 21 h 30"/>
                <a:gd name="T68" fmla="*/ 2 w 29"/>
                <a:gd name="T69" fmla="*/ 24 h 30"/>
                <a:gd name="T70" fmla="*/ 2 w 29"/>
                <a:gd name="T71" fmla="*/ 24 h 30"/>
                <a:gd name="T72" fmla="*/ 5 w 29"/>
                <a:gd name="T73" fmla="*/ 27 h 30"/>
                <a:gd name="T74" fmla="*/ 5 w 29"/>
                <a:gd name="T75" fmla="*/ 27 h 30"/>
                <a:gd name="T76" fmla="*/ 8 w 29"/>
                <a:gd name="T77" fmla="*/ 30 h 30"/>
                <a:gd name="T78" fmla="*/ 11 w 29"/>
                <a:gd name="T79" fmla="*/ 30 h 30"/>
                <a:gd name="T80" fmla="*/ 14 w 29"/>
                <a:gd name="T81" fmla="*/ 30 h 30"/>
                <a:gd name="T82" fmla="*/ 14 w 29"/>
                <a:gd name="T83" fmla="*/ 30 h 30"/>
                <a:gd name="T84" fmla="*/ 11 w 29"/>
                <a:gd name="T85" fmla="*/ 27 h 3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30"/>
                <a:gd name="T131" fmla="*/ 29 w 29"/>
                <a:gd name="T132" fmla="*/ 30 h 3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30">
                  <a:moveTo>
                    <a:pt x="11" y="27"/>
                  </a:moveTo>
                  <a:lnTo>
                    <a:pt x="14" y="30"/>
                  </a:lnTo>
                  <a:lnTo>
                    <a:pt x="17" y="30"/>
                  </a:lnTo>
                  <a:lnTo>
                    <a:pt x="20" y="27"/>
                  </a:lnTo>
                  <a:lnTo>
                    <a:pt x="23" y="27"/>
                  </a:lnTo>
                  <a:lnTo>
                    <a:pt x="23" y="24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6" y="18"/>
                  </a:lnTo>
                  <a:lnTo>
                    <a:pt x="29" y="15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6"/>
                  </a:lnTo>
                  <a:lnTo>
                    <a:pt x="23" y="3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5" y="3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2" y="24"/>
                  </a:lnTo>
                  <a:lnTo>
                    <a:pt x="5" y="27"/>
                  </a:lnTo>
                  <a:lnTo>
                    <a:pt x="8" y="30"/>
                  </a:lnTo>
                  <a:lnTo>
                    <a:pt x="11" y="30"/>
                  </a:lnTo>
                  <a:lnTo>
                    <a:pt x="14" y="30"/>
                  </a:lnTo>
                  <a:lnTo>
                    <a:pt x="11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0" name="Freeform 68"/>
            <p:cNvSpPr>
              <a:spLocks noChangeArrowheads="1"/>
            </p:cNvSpPr>
            <p:nvPr/>
          </p:nvSpPr>
          <p:spPr bwMode="auto">
            <a:xfrm>
              <a:off x="2428" y="1193"/>
              <a:ext cx="29" cy="30"/>
            </a:xfrm>
            <a:custGeom>
              <a:avLst/>
              <a:gdLst>
                <a:gd name="T0" fmla="*/ 11 w 29"/>
                <a:gd name="T1" fmla="*/ 27 h 30"/>
                <a:gd name="T2" fmla="*/ 14 w 29"/>
                <a:gd name="T3" fmla="*/ 30 h 30"/>
                <a:gd name="T4" fmla="*/ 17 w 29"/>
                <a:gd name="T5" fmla="*/ 30 h 30"/>
                <a:gd name="T6" fmla="*/ 20 w 29"/>
                <a:gd name="T7" fmla="*/ 27 h 30"/>
                <a:gd name="T8" fmla="*/ 23 w 29"/>
                <a:gd name="T9" fmla="*/ 27 h 30"/>
                <a:gd name="T10" fmla="*/ 23 w 29"/>
                <a:gd name="T11" fmla="*/ 24 h 30"/>
                <a:gd name="T12" fmla="*/ 26 w 29"/>
                <a:gd name="T13" fmla="*/ 24 h 30"/>
                <a:gd name="T14" fmla="*/ 26 w 29"/>
                <a:gd name="T15" fmla="*/ 21 h 30"/>
                <a:gd name="T16" fmla="*/ 26 w 29"/>
                <a:gd name="T17" fmla="*/ 21 h 30"/>
                <a:gd name="T18" fmla="*/ 26 w 29"/>
                <a:gd name="T19" fmla="*/ 18 h 30"/>
                <a:gd name="T20" fmla="*/ 29 w 29"/>
                <a:gd name="T21" fmla="*/ 15 h 30"/>
                <a:gd name="T22" fmla="*/ 26 w 29"/>
                <a:gd name="T23" fmla="*/ 12 h 30"/>
                <a:gd name="T24" fmla="*/ 26 w 29"/>
                <a:gd name="T25" fmla="*/ 9 h 30"/>
                <a:gd name="T26" fmla="*/ 26 w 29"/>
                <a:gd name="T27" fmla="*/ 9 h 30"/>
                <a:gd name="T28" fmla="*/ 26 w 29"/>
                <a:gd name="T29" fmla="*/ 6 h 30"/>
                <a:gd name="T30" fmla="*/ 23 w 29"/>
                <a:gd name="T31" fmla="*/ 6 h 30"/>
                <a:gd name="T32" fmla="*/ 23 w 29"/>
                <a:gd name="T33" fmla="*/ 3 h 30"/>
                <a:gd name="T34" fmla="*/ 20 w 29"/>
                <a:gd name="T35" fmla="*/ 3 h 30"/>
                <a:gd name="T36" fmla="*/ 17 w 29"/>
                <a:gd name="T37" fmla="*/ 0 h 30"/>
                <a:gd name="T38" fmla="*/ 14 w 29"/>
                <a:gd name="T39" fmla="*/ 0 h 30"/>
                <a:gd name="T40" fmla="*/ 14 w 29"/>
                <a:gd name="T41" fmla="*/ 0 h 30"/>
                <a:gd name="T42" fmla="*/ 11 w 29"/>
                <a:gd name="T43" fmla="*/ 0 h 30"/>
                <a:gd name="T44" fmla="*/ 8 w 29"/>
                <a:gd name="T45" fmla="*/ 0 h 30"/>
                <a:gd name="T46" fmla="*/ 5 w 29"/>
                <a:gd name="T47" fmla="*/ 3 h 30"/>
                <a:gd name="T48" fmla="*/ 5 w 29"/>
                <a:gd name="T49" fmla="*/ 3 h 30"/>
                <a:gd name="T50" fmla="*/ 2 w 29"/>
                <a:gd name="T51" fmla="*/ 6 h 30"/>
                <a:gd name="T52" fmla="*/ 2 w 29"/>
                <a:gd name="T53" fmla="*/ 6 h 30"/>
                <a:gd name="T54" fmla="*/ 0 w 29"/>
                <a:gd name="T55" fmla="*/ 9 h 30"/>
                <a:gd name="T56" fmla="*/ 0 w 29"/>
                <a:gd name="T57" fmla="*/ 9 h 30"/>
                <a:gd name="T58" fmla="*/ 0 w 29"/>
                <a:gd name="T59" fmla="*/ 12 h 30"/>
                <a:gd name="T60" fmla="*/ 0 w 29"/>
                <a:gd name="T61" fmla="*/ 15 h 30"/>
                <a:gd name="T62" fmla="*/ 0 w 29"/>
                <a:gd name="T63" fmla="*/ 18 h 30"/>
                <a:gd name="T64" fmla="*/ 0 w 29"/>
                <a:gd name="T65" fmla="*/ 21 h 30"/>
                <a:gd name="T66" fmla="*/ 0 w 29"/>
                <a:gd name="T67" fmla="*/ 21 h 30"/>
                <a:gd name="T68" fmla="*/ 2 w 29"/>
                <a:gd name="T69" fmla="*/ 24 h 30"/>
                <a:gd name="T70" fmla="*/ 2 w 29"/>
                <a:gd name="T71" fmla="*/ 24 h 30"/>
                <a:gd name="T72" fmla="*/ 5 w 29"/>
                <a:gd name="T73" fmla="*/ 27 h 30"/>
                <a:gd name="T74" fmla="*/ 5 w 29"/>
                <a:gd name="T75" fmla="*/ 27 h 30"/>
                <a:gd name="T76" fmla="*/ 8 w 29"/>
                <a:gd name="T77" fmla="*/ 30 h 30"/>
                <a:gd name="T78" fmla="*/ 11 w 29"/>
                <a:gd name="T79" fmla="*/ 30 h 30"/>
                <a:gd name="T80" fmla="*/ 14 w 29"/>
                <a:gd name="T81" fmla="*/ 30 h 30"/>
                <a:gd name="T82" fmla="*/ 14 w 29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30"/>
                <a:gd name="T128" fmla="*/ 29 w 29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30">
                  <a:moveTo>
                    <a:pt x="11" y="27"/>
                  </a:moveTo>
                  <a:lnTo>
                    <a:pt x="14" y="30"/>
                  </a:lnTo>
                  <a:lnTo>
                    <a:pt x="17" y="30"/>
                  </a:lnTo>
                  <a:lnTo>
                    <a:pt x="20" y="27"/>
                  </a:lnTo>
                  <a:lnTo>
                    <a:pt x="23" y="27"/>
                  </a:lnTo>
                  <a:lnTo>
                    <a:pt x="23" y="24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6" y="18"/>
                  </a:lnTo>
                  <a:lnTo>
                    <a:pt x="29" y="15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6"/>
                  </a:lnTo>
                  <a:lnTo>
                    <a:pt x="23" y="3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5" y="3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2" y="24"/>
                  </a:lnTo>
                  <a:lnTo>
                    <a:pt x="5" y="27"/>
                  </a:lnTo>
                  <a:lnTo>
                    <a:pt x="8" y="30"/>
                  </a:lnTo>
                  <a:lnTo>
                    <a:pt x="11" y="30"/>
                  </a:lnTo>
                  <a:lnTo>
                    <a:pt x="14" y="3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" name="Freeform 69"/>
            <p:cNvSpPr>
              <a:spLocks noChangeArrowheads="1"/>
            </p:cNvSpPr>
            <p:nvPr/>
          </p:nvSpPr>
          <p:spPr bwMode="auto">
            <a:xfrm>
              <a:off x="2366" y="1041"/>
              <a:ext cx="29" cy="29"/>
            </a:xfrm>
            <a:custGeom>
              <a:avLst/>
              <a:gdLst>
                <a:gd name="T0" fmla="*/ 12 w 29"/>
                <a:gd name="T1" fmla="*/ 26 h 29"/>
                <a:gd name="T2" fmla="*/ 18 w 29"/>
                <a:gd name="T3" fmla="*/ 29 h 29"/>
                <a:gd name="T4" fmla="*/ 18 w 29"/>
                <a:gd name="T5" fmla="*/ 29 h 29"/>
                <a:gd name="T6" fmla="*/ 20 w 29"/>
                <a:gd name="T7" fmla="*/ 26 h 29"/>
                <a:gd name="T8" fmla="*/ 23 w 29"/>
                <a:gd name="T9" fmla="*/ 26 h 29"/>
                <a:gd name="T10" fmla="*/ 23 w 29"/>
                <a:gd name="T11" fmla="*/ 23 h 29"/>
                <a:gd name="T12" fmla="*/ 26 w 29"/>
                <a:gd name="T13" fmla="*/ 23 h 29"/>
                <a:gd name="T14" fmla="*/ 26 w 29"/>
                <a:gd name="T15" fmla="*/ 20 h 29"/>
                <a:gd name="T16" fmla="*/ 26 w 29"/>
                <a:gd name="T17" fmla="*/ 17 h 29"/>
                <a:gd name="T18" fmla="*/ 29 w 29"/>
                <a:gd name="T19" fmla="*/ 17 h 29"/>
                <a:gd name="T20" fmla="*/ 29 w 29"/>
                <a:gd name="T21" fmla="*/ 14 h 29"/>
                <a:gd name="T22" fmla="*/ 29 w 29"/>
                <a:gd name="T23" fmla="*/ 11 h 29"/>
                <a:gd name="T24" fmla="*/ 26 w 29"/>
                <a:gd name="T25" fmla="*/ 9 h 29"/>
                <a:gd name="T26" fmla="*/ 26 w 29"/>
                <a:gd name="T27" fmla="*/ 9 h 29"/>
                <a:gd name="T28" fmla="*/ 26 w 29"/>
                <a:gd name="T29" fmla="*/ 6 h 29"/>
                <a:gd name="T30" fmla="*/ 23 w 29"/>
                <a:gd name="T31" fmla="*/ 3 h 29"/>
                <a:gd name="T32" fmla="*/ 23 w 29"/>
                <a:gd name="T33" fmla="*/ 3 h 29"/>
                <a:gd name="T34" fmla="*/ 20 w 29"/>
                <a:gd name="T35" fmla="*/ 3 h 29"/>
                <a:gd name="T36" fmla="*/ 18 w 29"/>
                <a:gd name="T37" fmla="*/ 0 h 29"/>
                <a:gd name="T38" fmla="*/ 18 w 29"/>
                <a:gd name="T39" fmla="*/ 0 h 29"/>
                <a:gd name="T40" fmla="*/ 15 w 29"/>
                <a:gd name="T41" fmla="*/ 0 h 29"/>
                <a:gd name="T42" fmla="*/ 12 w 29"/>
                <a:gd name="T43" fmla="*/ 0 h 29"/>
                <a:gd name="T44" fmla="*/ 9 w 29"/>
                <a:gd name="T45" fmla="*/ 0 h 29"/>
                <a:gd name="T46" fmla="*/ 9 w 29"/>
                <a:gd name="T47" fmla="*/ 3 h 29"/>
                <a:gd name="T48" fmla="*/ 6 w 29"/>
                <a:gd name="T49" fmla="*/ 3 h 29"/>
                <a:gd name="T50" fmla="*/ 3 w 29"/>
                <a:gd name="T51" fmla="*/ 3 h 29"/>
                <a:gd name="T52" fmla="*/ 3 w 29"/>
                <a:gd name="T53" fmla="*/ 6 h 29"/>
                <a:gd name="T54" fmla="*/ 0 w 29"/>
                <a:gd name="T55" fmla="*/ 9 h 29"/>
                <a:gd name="T56" fmla="*/ 0 w 29"/>
                <a:gd name="T57" fmla="*/ 9 h 29"/>
                <a:gd name="T58" fmla="*/ 0 w 29"/>
                <a:gd name="T59" fmla="*/ 11 h 29"/>
                <a:gd name="T60" fmla="*/ 0 w 29"/>
                <a:gd name="T61" fmla="*/ 14 h 29"/>
                <a:gd name="T62" fmla="*/ 0 w 29"/>
                <a:gd name="T63" fmla="*/ 17 h 29"/>
                <a:gd name="T64" fmla="*/ 0 w 29"/>
                <a:gd name="T65" fmla="*/ 17 h 29"/>
                <a:gd name="T66" fmla="*/ 0 w 29"/>
                <a:gd name="T67" fmla="*/ 20 h 29"/>
                <a:gd name="T68" fmla="*/ 3 w 29"/>
                <a:gd name="T69" fmla="*/ 23 h 29"/>
                <a:gd name="T70" fmla="*/ 3 w 29"/>
                <a:gd name="T71" fmla="*/ 23 h 29"/>
                <a:gd name="T72" fmla="*/ 6 w 29"/>
                <a:gd name="T73" fmla="*/ 26 h 29"/>
                <a:gd name="T74" fmla="*/ 9 w 29"/>
                <a:gd name="T75" fmla="*/ 26 h 29"/>
                <a:gd name="T76" fmla="*/ 9 w 29"/>
                <a:gd name="T77" fmla="*/ 29 h 29"/>
                <a:gd name="T78" fmla="*/ 12 w 29"/>
                <a:gd name="T79" fmla="*/ 29 h 29"/>
                <a:gd name="T80" fmla="*/ 15 w 29"/>
                <a:gd name="T81" fmla="*/ 29 h 29"/>
                <a:gd name="T82" fmla="*/ 15 w 29"/>
                <a:gd name="T83" fmla="*/ 29 h 29"/>
                <a:gd name="T84" fmla="*/ 12 w 29"/>
                <a:gd name="T85" fmla="*/ 26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29"/>
                <a:gd name="T131" fmla="*/ 29 w 29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29">
                  <a:moveTo>
                    <a:pt x="12" y="26"/>
                  </a:moveTo>
                  <a:lnTo>
                    <a:pt x="18" y="29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3" y="23"/>
                  </a:lnTo>
                  <a:lnTo>
                    <a:pt x="26" y="23"/>
                  </a:lnTo>
                  <a:lnTo>
                    <a:pt x="26" y="20"/>
                  </a:lnTo>
                  <a:lnTo>
                    <a:pt x="26" y="17"/>
                  </a:lnTo>
                  <a:lnTo>
                    <a:pt x="29" y="17"/>
                  </a:lnTo>
                  <a:lnTo>
                    <a:pt x="29" y="14"/>
                  </a:lnTo>
                  <a:lnTo>
                    <a:pt x="29" y="11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2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" name="Freeform 70"/>
            <p:cNvSpPr>
              <a:spLocks noChangeArrowheads="1"/>
            </p:cNvSpPr>
            <p:nvPr/>
          </p:nvSpPr>
          <p:spPr bwMode="auto">
            <a:xfrm>
              <a:off x="2366" y="1041"/>
              <a:ext cx="29" cy="29"/>
            </a:xfrm>
            <a:custGeom>
              <a:avLst/>
              <a:gdLst>
                <a:gd name="T0" fmla="*/ 12 w 29"/>
                <a:gd name="T1" fmla="*/ 26 h 29"/>
                <a:gd name="T2" fmla="*/ 18 w 29"/>
                <a:gd name="T3" fmla="*/ 29 h 29"/>
                <a:gd name="T4" fmla="*/ 18 w 29"/>
                <a:gd name="T5" fmla="*/ 29 h 29"/>
                <a:gd name="T6" fmla="*/ 20 w 29"/>
                <a:gd name="T7" fmla="*/ 26 h 29"/>
                <a:gd name="T8" fmla="*/ 23 w 29"/>
                <a:gd name="T9" fmla="*/ 26 h 29"/>
                <a:gd name="T10" fmla="*/ 23 w 29"/>
                <a:gd name="T11" fmla="*/ 23 h 29"/>
                <a:gd name="T12" fmla="*/ 26 w 29"/>
                <a:gd name="T13" fmla="*/ 23 h 29"/>
                <a:gd name="T14" fmla="*/ 26 w 29"/>
                <a:gd name="T15" fmla="*/ 20 h 29"/>
                <a:gd name="T16" fmla="*/ 26 w 29"/>
                <a:gd name="T17" fmla="*/ 17 h 29"/>
                <a:gd name="T18" fmla="*/ 29 w 29"/>
                <a:gd name="T19" fmla="*/ 17 h 29"/>
                <a:gd name="T20" fmla="*/ 29 w 29"/>
                <a:gd name="T21" fmla="*/ 14 h 29"/>
                <a:gd name="T22" fmla="*/ 29 w 29"/>
                <a:gd name="T23" fmla="*/ 11 h 29"/>
                <a:gd name="T24" fmla="*/ 26 w 29"/>
                <a:gd name="T25" fmla="*/ 9 h 29"/>
                <a:gd name="T26" fmla="*/ 26 w 29"/>
                <a:gd name="T27" fmla="*/ 9 h 29"/>
                <a:gd name="T28" fmla="*/ 26 w 29"/>
                <a:gd name="T29" fmla="*/ 6 h 29"/>
                <a:gd name="T30" fmla="*/ 23 w 29"/>
                <a:gd name="T31" fmla="*/ 3 h 29"/>
                <a:gd name="T32" fmla="*/ 23 w 29"/>
                <a:gd name="T33" fmla="*/ 3 h 29"/>
                <a:gd name="T34" fmla="*/ 20 w 29"/>
                <a:gd name="T35" fmla="*/ 3 h 29"/>
                <a:gd name="T36" fmla="*/ 18 w 29"/>
                <a:gd name="T37" fmla="*/ 0 h 29"/>
                <a:gd name="T38" fmla="*/ 18 w 29"/>
                <a:gd name="T39" fmla="*/ 0 h 29"/>
                <a:gd name="T40" fmla="*/ 15 w 29"/>
                <a:gd name="T41" fmla="*/ 0 h 29"/>
                <a:gd name="T42" fmla="*/ 12 w 29"/>
                <a:gd name="T43" fmla="*/ 0 h 29"/>
                <a:gd name="T44" fmla="*/ 9 w 29"/>
                <a:gd name="T45" fmla="*/ 0 h 29"/>
                <a:gd name="T46" fmla="*/ 9 w 29"/>
                <a:gd name="T47" fmla="*/ 3 h 29"/>
                <a:gd name="T48" fmla="*/ 6 w 29"/>
                <a:gd name="T49" fmla="*/ 3 h 29"/>
                <a:gd name="T50" fmla="*/ 3 w 29"/>
                <a:gd name="T51" fmla="*/ 3 h 29"/>
                <a:gd name="T52" fmla="*/ 3 w 29"/>
                <a:gd name="T53" fmla="*/ 6 h 29"/>
                <a:gd name="T54" fmla="*/ 0 w 29"/>
                <a:gd name="T55" fmla="*/ 9 h 29"/>
                <a:gd name="T56" fmla="*/ 0 w 29"/>
                <a:gd name="T57" fmla="*/ 9 h 29"/>
                <a:gd name="T58" fmla="*/ 0 w 29"/>
                <a:gd name="T59" fmla="*/ 11 h 29"/>
                <a:gd name="T60" fmla="*/ 0 w 29"/>
                <a:gd name="T61" fmla="*/ 14 h 29"/>
                <a:gd name="T62" fmla="*/ 0 w 29"/>
                <a:gd name="T63" fmla="*/ 17 h 29"/>
                <a:gd name="T64" fmla="*/ 0 w 29"/>
                <a:gd name="T65" fmla="*/ 17 h 29"/>
                <a:gd name="T66" fmla="*/ 0 w 29"/>
                <a:gd name="T67" fmla="*/ 20 h 29"/>
                <a:gd name="T68" fmla="*/ 3 w 29"/>
                <a:gd name="T69" fmla="*/ 23 h 29"/>
                <a:gd name="T70" fmla="*/ 3 w 29"/>
                <a:gd name="T71" fmla="*/ 23 h 29"/>
                <a:gd name="T72" fmla="*/ 6 w 29"/>
                <a:gd name="T73" fmla="*/ 26 h 29"/>
                <a:gd name="T74" fmla="*/ 9 w 29"/>
                <a:gd name="T75" fmla="*/ 26 h 29"/>
                <a:gd name="T76" fmla="*/ 9 w 29"/>
                <a:gd name="T77" fmla="*/ 29 h 29"/>
                <a:gd name="T78" fmla="*/ 12 w 29"/>
                <a:gd name="T79" fmla="*/ 29 h 29"/>
                <a:gd name="T80" fmla="*/ 15 w 29"/>
                <a:gd name="T81" fmla="*/ 29 h 29"/>
                <a:gd name="T82" fmla="*/ 15 w 29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9"/>
                <a:gd name="T128" fmla="*/ 29 w 29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9">
                  <a:moveTo>
                    <a:pt x="12" y="26"/>
                  </a:moveTo>
                  <a:lnTo>
                    <a:pt x="18" y="29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3" y="23"/>
                  </a:lnTo>
                  <a:lnTo>
                    <a:pt x="26" y="23"/>
                  </a:lnTo>
                  <a:lnTo>
                    <a:pt x="26" y="20"/>
                  </a:lnTo>
                  <a:lnTo>
                    <a:pt x="26" y="17"/>
                  </a:lnTo>
                  <a:lnTo>
                    <a:pt x="29" y="17"/>
                  </a:lnTo>
                  <a:lnTo>
                    <a:pt x="29" y="14"/>
                  </a:lnTo>
                  <a:lnTo>
                    <a:pt x="29" y="11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0" y="3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9" y="29"/>
                  </a:lnTo>
                  <a:lnTo>
                    <a:pt x="12" y="29"/>
                  </a:lnTo>
                  <a:lnTo>
                    <a:pt x="15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Freeform 71"/>
            <p:cNvSpPr>
              <a:spLocks noChangeArrowheads="1"/>
            </p:cNvSpPr>
            <p:nvPr/>
          </p:nvSpPr>
          <p:spPr bwMode="auto">
            <a:xfrm>
              <a:off x="2298" y="894"/>
              <a:ext cx="30" cy="29"/>
            </a:xfrm>
            <a:custGeom>
              <a:avLst/>
              <a:gdLst>
                <a:gd name="T0" fmla="*/ 15 w 30"/>
                <a:gd name="T1" fmla="*/ 26 h 29"/>
                <a:gd name="T2" fmla="*/ 18 w 30"/>
                <a:gd name="T3" fmla="*/ 29 h 29"/>
                <a:gd name="T4" fmla="*/ 21 w 30"/>
                <a:gd name="T5" fmla="*/ 29 h 29"/>
                <a:gd name="T6" fmla="*/ 24 w 30"/>
                <a:gd name="T7" fmla="*/ 26 h 29"/>
                <a:gd name="T8" fmla="*/ 24 w 30"/>
                <a:gd name="T9" fmla="*/ 26 h 29"/>
                <a:gd name="T10" fmla="*/ 27 w 30"/>
                <a:gd name="T11" fmla="*/ 23 h 29"/>
                <a:gd name="T12" fmla="*/ 27 w 30"/>
                <a:gd name="T13" fmla="*/ 23 h 29"/>
                <a:gd name="T14" fmla="*/ 30 w 30"/>
                <a:gd name="T15" fmla="*/ 20 h 29"/>
                <a:gd name="T16" fmla="*/ 30 w 30"/>
                <a:gd name="T17" fmla="*/ 18 h 29"/>
                <a:gd name="T18" fmla="*/ 30 w 30"/>
                <a:gd name="T19" fmla="*/ 18 h 29"/>
                <a:gd name="T20" fmla="*/ 30 w 30"/>
                <a:gd name="T21" fmla="*/ 15 h 29"/>
                <a:gd name="T22" fmla="*/ 30 w 30"/>
                <a:gd name="T23" fmla="*/ 12 h 29"/>
                <a:gd name="T24" fmla="*/ 30 w 30"/>
                <a:gd name="T25" fmla="*/ 9 h 29"/>
                <a:gd name="T26" fmla="*/ 30 w 30"/>
                <a:gd name="T27" fmla="*/ 9 h 29"/>
                <a:gd name="T28" fmla="*/ 27 w 30"/>
                <a:gd name="T29" fmla="*/ 6 h 29"/>
                <a:gd name="T30" fmla="*/ 27 w 30"/>
                <a:gd name="T31" fmla="*/ 3 h 29"/>
                <a:gd name="T32" fmla="*/ 24 w 30"/>
                <a:gd name="T33" fmla="*/ 3 h 29"/>
                <a:gd name="T34" fmla="*/ 24 w 30"/>
                <a:gd name="T35" fmla="*/ 0 h 29"/>
                <a:gd name="T36" fmla="*/ 21 w 30"/>
                <a:gd name="T37" fmla="*/ 0 h 29"/>
                <a:gd name="T38" fmla="*/ 18 w 30"/>
                <a:gd name="T39" fmla="*/ 0 h 29"/>
                <a:gd name="T40" fmla="*/ 15 w 30"/>
                <a:gd name="T41" fmla="*/ 0 h 29"/>
                <a:gd name="T42" fmla="*/ 12 w 30"/>
                <a:gd name="T43" fmla="*/ 0 h 29"/>
                <a:gd name="T44" fmla="*/ 12 w 30"/>
                <a:gd name="T45" fmla="*/ 0 h 29"/>
                <a:gd name="T46" fmla="*/ 9 w 30"/>
                <a:gd name="T47" fmla="*/ 0 h 29"/>
                <a:gd name="T48" fmla="*/ 6 w 30"/>
                <a:gd name="T49" fmla="*/ 3 h 29"/>
                <a:gd name="T50" fmla="*/ 6 w 30"/>
                <a:gd name="T51" fmla="*/ 3 h 29"/>
                <a:gd name="T52" fmla="*/ 3 w 30"/>
                <a:gd name="T53" fmla="*/ 6 h 29"/>
                <a:gd name="T54" fmla="*/ 3 w 30"/>
                <a:gd name="T55" fmla="*/ 9 h 29"/>
                <a:gd name="T56" fmla="*/ 3 w 30"/>
                <a:gd name="T57" fmla="*/ 9 h 29"/>
                <a:gd name="T58" fmla="*/ 0 w 30"/>
                <a:gd name="T59" fmla="*/ 12 h 29"/>
                <a:gd name="T60" fmla="*/ 0 w 30"/>
                <a:gd name="T61" fmla="*/ 15 h 29"/>
                <a:gd name="T62" fmla="*/ 0 w 30"/>
                <a:gd name="T63" fmla="*/ 18 h 29"/>
                <a:gd name="T64" fmla="*/ 3 w 30"/>
                <a:gd name="T65" fmla="*/ 18 h 29"/>
                <a:gd name="T66" fmla="*/ 3 w 30"/>
                <a:gd name="T67" fmla="*/ 20 h 29"/>
                <a:gd name="T68" fmla="*/ 3 w 30"/>
                <a:gd name="T69" fmla="*/ 23 h 29"/>
                <a:gd name="T70" fmla="*/ 6 w 30"/>
                <a:gd name="T71" fmla="*/ 23 h 29"/>
                <a:gd name="T72" fmla="*/ 6 w 30"/>
                <a:gd name="T73" fmla="*/ 26 h 29"/>
                <a:gd name="T74" fmla="*/ 9 w 30"/>
                <a:gd name="T75" fmla="*/ 26 h 29"/>
                <a:gd name="T76" fmla="*/ 12 w 30"/>
                <a:gd name="T77" fmla="*/ 29 h 29"/>
                <a:gd name="T78" fmla="*/ 12 w 30"/>
                <a:gd name="T79" fmla="*/ 29 h 29"/>
                <a:gd name="T80" fmla="*/ 15 w 30"/>
                <a:gd name="T81" fmla="*/ 29 h 29"/>
                <a:gd name="T82" fmla="*/ 15 w 30"/>
                <a:gd name="T83" fmla="*/ 29 h 29"/>
                <a:gd name="T84" fmla="*/ 15 w 30"/>
                <a:gd name="T85" fmla="*/ 26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0"/>
                <a:gd name="T130" fmla="*/ 0 h 29"/>
                <a:gd name="T131" fmla="*/ 30 w 30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0" h="29">
                  <a:moveTo>
                    <a:pt x="15" y="26"/>
                  </a:moveTo>
                  <a:lnTo>
                    <a:pt x="18" y="29"/>
                  </a:lnTo>
                  <a:lnTo>
                    <a:pt x="21" y="29"/>
                  </a:lnTo>
                  <a:lnTo>
                    <a:pt x="24" y="26"/>
                  </a:lnTo>
                  <a:lnTo>
                    <a:pt x="27" y="23"/>
                  </a:lnTo>
                  <a:lnTo>
                    <a:pt x="30" y="20"/>
                  </a:lnTo>
                  <a:lnTo>
                    <a:pt x="30" y="18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30" y="9"/>
                  </a:lnTo>
                  <a:lnTo>
                    <a:pt x="27" y="6"/>
                  </a:lnTo>
                  <a:lnTo>
                    <a:pt x="27" y="3"/>
                  </a:lnTo>
                  <a:lnTo>
                    <a:pt x="24" y="3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4" name="Freeform 72"/>
            <p:cNvSpPr>
              <a:spLocks noChangeArrowheads="1"/>
            </p:cNvSpPr>
            <p:nvPr/>
          </p:nvSpPr>
          <p:spPr bwMode="auto">
            <a:xfrm>
              <a:off x="2298" y="894"/>
              <a:ext cx="30" cy="29"/>
            </a:xfrm>
            <a:custGeom>
              <a:avLst/>
              <a:gdLst>
                <a:gd name="T0" fmla="*/ 15 w 30"/>
                <a:gd name="T1" fmla="*/ 26 h 29"/>
                <a:gd name="T2" fmla="*/ 18 w 30"/>
                <a:gd name="T3" fmla="*/ 29 h 29"/>
                <a:gd name="T4" fmla="*/ 21 w 30"/>
                <a:gd name="T5" fmla="*/ 29 h 29"/>
                <a:gd name="T6" fmla="*/ 24 w 30"/>
                <a:gd name="T7" fmla="*/ 26 h 29"/>
                <a:gd name="T8" fmla="*/ 24 w 30"/>
                <a:gd name="T9" fmla="*/ 26 h 29"/>
                <a:gd name="T10" fmla="*/ 27 w 30"/>
                <a:gd name="T11" fmla="*/ 23 h 29"/>
                <a:gd name="T12" fmla="*/ 27 w 30"/>
                <a:gd name="T13" fmla="*/ 23 h 29"/>
                <a:gd name="T14" fmla="*/ 30 w 30"/>
                <a:gd name="T15" fmla="*/ 20 h 29"/>
                <a:gd name="T16" fmla="*/ 30 w 30"/>
                <a:gd name="T17" fmla="*/ 18 h 29"/>
                <a:gd name="T18" fmla="*/ 30 w 30"/>
                <a:gd name="T19" fmla="*/ 18 h 29"/>
                <a:gd name="T20" fmla="*/ 30 w 30"/>
                <a:gd name="T21" fmla="*/ 15 h 29"/>
                <a:gd name="T22" fmla="*/ 30 w 30"/>
                <a:gd name="T23" fmla="*/ 12 h 29"/>
                <a:gd name="T24" fmla="*/ 30 w 30"/>
                <a:gd name="T25" fmla="*/ 9 h 29"/>
                <a:gd name="T26" fmla="*/ 30 w 30"/>
                <a:gd name="T27" fmla="*/ 9 h 29"/>
                <a:gd name="T28" fmla="*/ 27 w 30"/>
                <a:gd name="T29" fmla="*/ 6 h 29"/>
                <a:gd name="T30" fmla="*/ 27 w 30"/>
                <a:gd name="T31" fmla="*/ 3 h 29"/>
                <a:gd name="T32" fmla="*/ 24 w 30"/>
                <a:gd name="T33" fmla="*/ 3 h 29"/>
                <a:gd name="T34" fmla="*/ 24 w 30"/>
                <a:gd name="T35" fmla="*/ 0 h 29"/>
                <a:gd name="T36" fmla="*/ 21 w 30"/>
                <a:gd name="T37" fmla="*/ 0 h 29"/>
                <a:gd name="T38" fmla="*/ 18 w 30"/>
                <a:gd name="T39" fmla="*/ 0 h 29"/>
                <a:gd name="T40" fmla="*/ 15 w 30"/>
                <a:gd name="T41" fmla="*/ 0 h 29"/>
                <a:gd name="T42" fmla="*/ 12 w 30"/>
                <a:gd name="T43" fmla="*/ 0 h 29"/>
                <a:gd name="T44" fmla="*/ 12 w 30"/>
                <a:gd name="T45" fmla="*/ 0 h 29"/>
                <a:gd name="T46" fmla="*/ 9 w 30"/>
                <a:gd name="T47" fmla="*/ 0 h 29"/>
                <a:gd name="T48" fmla="*/ 6 w 30"/>
                <a:gd name="T49" fmla="*/ 3 h 29"/>
                <a:gd name="T50" fmla="*/ 6 w 30"/>
                <a:gd name="T51" fmla="*/ 3 h 29"/>
                <a:gd name="T52" fmla="*/ 3 w 30"/>
                <a:gd name="T53" fmla="*/ 6 h 29"/>
                <a:gd name="T54" fmla="*/ 3 w 30"/>
                <a:gd name="T55" fmla="*/ 9 h 29"/>
                <a:gd name="T56" fmla="*/ 3 w 30"/>
                <a:gd name="T57" fmla="*/ 9 h 29"/>
                <a:gd name="T58" fmla="*/ 0 w 30"/>
                <a:gd name="T59" fmla="*/ 12 h 29"/>
                <a:gd name="T60" fmla="*/ 0 w 30"/>
                <a:gd name="T61" fmla="*/ 15 h 29"/>
                <a:gd name="T62" fmla="*/ 0 w 30"/>
                <a:gd name="T63" fmla="*/ 18 h 29"/>
                <a:gd name="T64" fmla="*/ 3 w 30"/>
                <a:gd name="T65" fmla="*/ 18 h 29"/>
                <a:gd name="T66" fmla="*/ 3 w 30"/>
                <a:gd name="T67" fmla="*/ 20 h 29"/>
                <a:gd name="T68" fmla="*/ 3 w 30"/>
                <a:gd name="T69" fmla="*/ 23 h 29"/>
                <a:gd name="T70" fmla="*/ 6 w 30"/>
                <a:gd name="T71" fmla="*/ 23 h 29"/>
                <a:gd name="T72" fmla="*/ 6 w 30"/>
                <a:gd name="T73" fmla="*/ 26 h 29"/>
                <a:gd name="T74" fmla="*/ 9 w 30"/>
                <a:gd name="T75" fmla="*/ 26 h 29"/>
                <a:gd name="T76" fmla="*/ 12 w 30"/>
                <a:gd name="T77" fmla="*/ 29 h 29"/>
                <a:gd name="T78" fmla="*/ 12 w 30"/>
                <a:gd name="T79" fmla="*/ 29 h 29"/>
                <a:gd name="T80" fmla="*/ 15 w 30"/>
                <a:gd name="T81" fmla="*/ 29 h 29"/>
                <a:gd name="T82" fmla="*/ 15 w 30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9"/>
                <a:gd name="T128" fmla="*/ 30 w 30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9">
                  <a:moveTo>
                    <a:pt x="15" y="26"/>
                  </a:moveTo>
                  <a:lnTo>
                    <a:pt x="18" y="29"/>
                  </a:lnTo>
                  <a:lnTo>
                    <a:pt x="21" y="29"/>
                  </a:lnTo>
                  <a:lnTo>
                    <a:pt x="24" y="26"/>
                  </a:lnTo>
                  <a:lnTo>
                    <a:pt x="27" y="23"/>
                  </a:lnTo>
                  <a:lnTo>
                    <a:pt x="30" y="20"/>
                  </a:lnTo>
                  <a:lnTo>
                    <a:pt x="30" y="18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30" y="9"/>
                  </a:lnTo>
                  <a:lnTo>
                    <a:pt x="27" y="6"/>
                  </a:lnTo>
                  <a:lnTo>
                    <a:pt x="27" y="3"/>
                  </a:lnTo>
                  <a:lnTo>
                    <a:pt x="24" y="3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9"/>
                  </a:lnTo>
                  <a:lnTo>
                    <a:pt x="15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5" name="Freeform 73"/>
            <p:cNvSpPr>
              <a:spLocks noChangeArrowheads="1"/>
            </p:cNvSpPr>
            <p:nvPr/>
          </p:nvSpPr>
          <p:spPr bwMode="auto">
            <a:xfrm>
              <a:off x="1846" y="1810"/>
              <a:ext cx="364" cy="379"/>
            </a:xfrm>
            <a:custGeom>
              <a:avLst/>
              <a:gdLst>
                <a:gd name="T0" fmla="*/ 0 w 364"/>
                <a:gd name="T1" fmla="*/ 0 h 379"/>
                <a:gd name="T2" fmla="*/ 0 w 364"/>
                <a:gd name="T3" fmla="*/ 6 h 379"/>
                <a:gd name="T4" fmla="*/ 0 w 364"/>
                <a:gd name="T5" fmla="*/ 15 h 379"/>
                <a:gd name="T6" fmla="*/ 0 w 364"/>
                <a:gd name="T7" fmla="*/ 29 h 379"/>
                <a:gd name="T8" fmla="*/ 0 w 364"/>
                <a:gd name="T9" fmla="*/ 47 h 379"/>
                <a:gd name="T10" fmla="*/ 0 w 364"/>
                <a:gd name="T11" fmla="*/ 71 h 379"/>
                <a:gd name="T12" fmla="*/ 0 w 364"/>
                <a:gd name="T13" fmla="*/ 94 h 379"/>
                <a:gd name="T14" fmla="*/ 0 w 364"/>
                <a:gd name="T15" fmla="*/ 117 h 379"/>
                <a:gd name="T16" fmla="*/ 0 w 364"/>
                <a:gd name="T17" fmla="*/ 138 h 379"/>
                <a:gd name="T18" fmla="*/ 0 w 364"/>
                <a:gd name="T19" fmla="*/ 162 h 379"/>
                <a:gd name="T20" fmla="*/ 0 w 364"/>
                <a:gd name="T21" fmla="*/ 179 h 379"/>
                <a:gd name="T22" fmla="*/ 0 w 364"/>
                <a:gd name="T23" fmla="*/ 194 h 379"/>
                <a:gd name="T24" fmla="*/ 0 w 364"/>
                <a:gd name="T25" fmla="*/ 209 h 379"/>
                <a:gd name="T26" fmla="*/ 0 w 364"/>
                <a:gd name="T27" fmla="*/ 223 h 379"/>
                <a:gd name="T28" fmla="*/ 0 w 364"/>
                <a:gd name="T29" fmla="*/ 238 h 379"/>
                <a:gd name="T30" fmla="*/ 3 w 364"/>
                <a:gd name="T31" fmla="*/ 250 h 379"/>
                <a:gd name="T32" fmla="*/ 6 w 364"/>
                <a:gd name="T33" fmla="*/ 261 h 379"/>
                <a:gd name="T34" fmla="*/ 12 w 364"/>
                <a:gd name="T35" fmla="*/ 276 h 379"/>
                <a:gd name="T36" fmla="*/ 18 w 364"/>
                <a:gd name="T37" fmla="*/ 288 h 379"/>
                <a:gd name="T38" fmla="*/ 24 w 364"/>
                <a:gd name="T39" fmla="*/ 300 h 379"/>
                <a:gd name="T40" fmla="*/ 32 w 364"/>
                <a:gd name="T41" fmla="*/ 314 h 379"/>
                <a:gd name="T42" fmla="*/ 41 w 364"/>
                <a:gd name="T43" fmla="*/ 320 h 379"/>
                <a:gd name="T44" fmla="*/ 47 w 364"/>
                <a:gd name="T45" fmla="*/ 329 h 379"/>
                <a:gd name="T46" fmla="*/ 56 w 364"/>
                <a:gd name="T47" fmla="*/ 338 h 379"/>
                <a:gd name="T48" fmla="*/ 68 w 364"/>
                <a:gd name="T49" fmla="*/ 347 h 379"/>
                <a:gd name="T50" fmla="*/ 79 w 364"/>
                <a:gd name="T51" fmla="*/ 355 h 379"/>
                <a:gd name="T52" fmla="*/ 94 w 364"/>
                <a:gd name="T53" fmla="*/ 364 h 379"/>
                <a:gd name="T54" fmla="*/ 109 w 364"/>
                <a:gd name="T55" fmla="*/ 370 h 379"/>
                <a:gd name="T56" fmla="*/ 126 w 364"/>
                <a:gd name="T57" fmla="*/ 376 h 379"/>
                <a:gd name="T58" fmla="*/ 150 w 364"/>
                <a:gd name="T59" fmla="*/ 379 h 379"/>
                <a:gd name="T60" fmla="*/ 173 w 364"/>
                <a:gd name="T61" fmla="*/ 379 h 379"/>
                <a:gd name="T62" fmla="*/ 197 w 364"/>
                <a:gd name="T63" fmla="*/ 379 h 379"/>
                <a:gd name="T64" fmla="*/ 214 w 364"/>
                <a:gd name="T65" fmla="*/ 376 h 379"/>
                <a:gd name="T66" fmla="*/ 232 w 364"/>
                <a:gd name="T67" fmla="*/ 373 h 379"/>
                <a:gd name="T68" fmla="*/ 247 w 364"/>
                <a:gd name="T69" fmla="*/ 370 h 379"/>
                <a:gd name="T70" fmla="*/ 261 w 364"/>
                <a:gd name="T71" fmla="*/ 364 h 379"/>
                <a:gd name="T72" fmla="*/ 273 w 364"/>
                <a:gd name="T73" fmla="*/ 358 h 379"/>
                <a:gd name="T74" fmla="*/ 282 w 364"/>
                <a:gd name="T75" fmla="*/ 349 h 379"/>
                <a:gd name="T76" fmla="*/ 291 w 364"/>
                <a:gd name="T77" fmla="*/ 344 h 379"/>
                <a:gd name="T78" fmla="*/ 300 w 364"/>
                <a:gd name="T79" fmla="*/ 335 h 379"/>
                <a:gd name="T80" fmla="*/ 308 w 364"/>
                <a:gd name="T81" fmla="*/ 329 h 379"/>
                <a:gd name="T82" fmla="*/ 317 w 364"/>
                <a:gd name="T83" fmla="*/ 317 h 379"/>
                <a:gd name="T84" fmla="*/ 326 w 364"/>
                <a:gd name="T85" fmla="*/ 305 h 379"/>
                <a:gd name="T86" fmla="*/ 335 w 364"/>
                <a:gd name="T87" fmla="*/ 297 h 379"/>
                <a:gd name="T88" fmla="*/ 341 w 364"/>
                <a:gd name="T89" fmla="*/ 285 h 379"/>
                <a:gd name="T90" fmla="*/ 347 w 364"/>
                <a:gd name="T91" fmla="*/ 273 h 379"/>
                <a:gd name="T92" fmla="*/ 353 w 364"/>
                <a:gd name="T93" fmla="*/ 261 h 379"/>
                <a:gd name="T94" fmla="*/ 355 w 364"/>
                <a:gd name="T95" fmla="*/ 247 h 379"/>
                <a:gd name="T96" fmla="*/ 358 w 364"/>
                <a:gd name="T97" fmla="*/ 232 h 379"/>
                <a:gd name="T98" fmla="*/ 361 w 364"/>
                <a:gd name="T99" fmla="*/ 217 h 379"/>
                <a:gd name="T100" fmla="*/ 361 w 364"/>
                <a:gd name="T101" fmla="*/ 200 h 379"/>
                <a:gd name="T102" fmla="*/ 361 w 364"/>
                <a:gd name="T103" fmla="*/ 179 h 379"/>
                <a:gd name="T104" fmla="*/ 364 w 364"/>
                <a:gd name="T105" fmla="*/ 156 h 379"/>
                <a:gd name="T106" fmla="*/ 364 w 364"/>
                <a:gd name="T107" fmla="*/ 129 h 379"/>
                <a:gd name="T108" fmla="*/ 364 w 364"/>
                <a:gd name="T109" fmla="*/ 103 h 379"/>
                <a:gd name="T110" fmla="*/ 364 w 364"/>
                <a:gd name="T111" fmla="*/ 76 h 379"/>
                <a:gd name="T112" fmla="*/ 361 w 364"/>
                <a:gd name="T113" fmla="*/ 53 h 379"/>
                <a:gd name="T114" fmla="*/ 361 w 364"/>
                <a:gd name="T115" fmla="*/ 32 h 379"/>
                <a:gd name="T116" fmla="*/ 361 w 364"/>
                <a:gd name="T117" fmla="*/ 18 h 379"/>
                <a:gd name="T118" fmla="*/ 361 w 364"/>
                <a:gd name="T119" fmla="*/ 6 h 379"/>
                <a:gd name="T120" fmla="*/ 361 w 364"/>
                <a:gd name="T121" fmla="*/ 3 h 379"/>
                <a:gd name="T122" fmla="*/ 0 w 364"/>
                <a:gd name="T123" fmla="*/ 3 h 379"/>
                <a:gd name="T124" fmla="*/ 0 w 364"/>
                <a:gd name="T125" fmla="*/ 3 h 379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  <a:gd name="T189" fmla="*/ 0 w 364"/>
                <a:gd name="T190" fmla="*/ 0 h 379"/>
                <a:gd name="T191" fmla="*/ 364 w 364"/>
                <a:gd name="T192" fmla="*/ 379 h 379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T189" t="T190" r="T191" b="T192"/>
              <a:pathLst>
                <a:path w="364" h="379">
                  <a:moveTo>
                    <a:pt x="0" y="0"/>
                  </a:moveTo>
                  <a:lnTo>
                    <a:pt x="0" y="6"/>
                  </a:lnTo>
                  <a:lnTo>
                    <a:pt x="0" y="15"/>
                  </a:lnTo>
                  <a:lnTo>
                    <a:pt x="0" y="29"/>
                  </a:lnTo>
                  <a:lnTo>
                    <a:pt x="0" y="47"/>
                  </a:lnTo>
                  <a:lnTo>
                    <a:pt x="0" y="71"/>
                  </a:lnTo>
                  <a:lnTo>
                    <a:pt x="0" y="94"/>
                  </a:lnTo>
                  <a:lnTo>
                    <a:pt x="0" y="117"/>
                  </a:lnTo>
                  <a:lnTo>
                    <a:pt x="0" y="138"/>
                  </a:lnTo>
                  <a:lnTo>
                    <a:pt x="0" y="162"/>
                  </a:lnTo>
                  <a:lnTo>
                    <a:pt x="0" y="179"/>
                  </a:lnTo>
                  <a:lnTo>
                    <a:pt x="0" y="194"/>
                  </a:lnTo>
                  <a:lnTo>
                    <a:pt x="0" y="209"/>
                  </a:lnTo>
                  <a:lnTo>
                    <a:pt x="0" y="223"/>
                  </a:lnTo>
                  <a:lnTo>
                    <a:pt x="0" y="238"/>
                  </a:lnTo>
                  <a:lnTo>
                    <a:pt x="3" y="250"/>
                  </a:lnTo>
                  <a:lnTo>
                    <a:pt x="6" y="261"/>
                  </a:lnTo>
                  <a:lnTo>
                    <a:pt x="12" y="276"/>
                  </a:lnTo>
                  <a:lnTo>
                    <a:pt x="18" y="288"/>
                  </a:lnTo>
                  <a:lnTo>
                    <a:pt x="24" y="300"/>
                  </a:lnTo>
                  <a:lnTo>
                    <a:pt x="32" y="314"/>
                  </a:lnTo>
                  <a:lnTo>
                    <a:pt x="41" y="320"/>
                  </a:lnTo>
                  <a:lnTo>
                    <a:pt x="47" y="329"/>
                  </a:lnTo>
                  <a:lnTo>
                    <a:pt x="56" y="338"/>
                  </a:lnTo>
                  <a:lnTo>
                    <a:pt x="68" y="347"/>
                  </a:lnTo>
                  <a:lnTo>
                    <a:pt x="79" y="355"/>
                  </a:lnTo>
                  <a:lnTo>
                    <a:pt x="94" y="364"/>
                  </a:lnTo>
                  <a:lnTo>
                    <a:pt x="109" y="370"/>
                  </a:lnTo>
                  <a:lnTo>
                    <a:pt x="126" y="376"/>
                  </a:lnTo>
                  <a:lnTo>
                    <a:pt x="150" y="379"/>
                  </a:lnTo>
                  <a:lnTo>
                    <a:pt x="173" y="379"/>
                  </a:lnTo>
                  <a:lnTo>
                    <a:pt x="197" y="379"/>
                  </a:lnTo>
                  <a:lnTo>
                    <a:pt x="214" y="376"/>
                  </a:lnTo>
                  <a:lnTo>
                    <a:pt x="232" y="373"/>
                  </a:lnTo>
                  <a:lnTo>
                    <a:pt x="247" y="370"/>
                  </a:lnTo>
                  <a:lnTo>
                    <a:pt x="261" y="364"/>
                  </a:lnTo>
                  <a:lnTo>
                    <a:pt x="273" y="358"/>
                  </a:lnTo>
                  <a:lnTo>
                    <a:pt x="282" y="349"/>
                  </a:lnTo>
                  <a:lnTo>
                    <a:pt x="291" y="344"/>
                  </a:lnTo>
                  <a:lnTo>
                    <a:pt x="300" y="335"/>
                  </a:lnTo>
                  <a:lnTo>
                    <a:pt x="308" y="329"/>
                  </a:lnTo>
                  <a:lnTo>
                    <a:pt x="317" y="317"/>
                  </a:lnTo>
                  <a:lnTo>
                    <a:pt x="326" y="305"/>
                  </a:lnTo>
                  <a:lnTo>
                    <a:pt x="335" y="297"/>
                  </a:lnTo>
                  <a:lnTo>
                    <a:pt x="341" y="285"/>
                  </a:lnTo>
                  <a:lnTo>
                    <a:pt x="347" y="273"/>
                  </a:lnTo>
                  <a:lnTo>
                    <a:pt x="353" y="261"/>
                  </a:lnTo>
                  <a:lnTo>
                    <a:pt x="355" y="247"/>
                  </a:lnTo>
                  <a:lnTo>
                    <a:pt x="358" y="232"/>
                  </a:lnTo>
                  <a:lnTo>
                    <a:pt x="361" y="217"/>
                  </a:lnTo>
                  <a:lnTo>
                    <a:pt x="361" y="200"/>
                  </a:lnTo>
                  <a:lnTo>
                    <a:pt x="361" y="179"/>
                  </a:lnTo>
                  <a:lnTo>
                    <a:pt x="364" y="156"/>
                  </a:lnTo>
                  <a:lnTo>
                    <a:pt x="364" y="129"/>
                  </a:lnTo>
                  <a:lnTo>
                    <a:pt x="364" y="103"/>
                  </a:lnTo>
                  <a:lnTo>
                    <a:pt x="364" y="76"/>
                  </a:lnTo>
                  <a:lnTo>
                    <a:pt x="361" y="53"/>
                  </a:lnTo>
                  <a:lnTo>
                    <a:pt x="361" y="32"/>
                  </a:lnTo>
                  <a:lnTo>
                    <a:pt x="361" y="18"/>
                  </a:lnTo>
                  <a:lnTo>
                    <a:pt x="361" y="6"/>
                  </a:lnTo>
                  <a:lnTo>
                    <a:pt x="361" y="3"/>
                  </a:lnTo>
                  <a:lnTo>
                    <a:pt x="0" y="3"/>
                  </a:lnTo>
                </a:path>
              </a:pathLst>
            </a:custGeom>
            <a:solidFill>
              <a:srgbClr val="FFFFFF"/>
            </a:solidFill>
            <a:ln w="1908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6" name="Freeform 74"/>
            <p:cNvSpPr>
              <a:spLocks noChangeArrowheads="1"/>
            </p:cNvSpPr>
            <p:nvPr/>
          </p:nvSpPr>
          <p:spPr bwMode="auto">
            <a:xfrm>
              <a:off x="2154" y="1748"/>
              <a:ext cx="47" cy="47"/>
            </a:xfrm>
            <a:custGeom>
              <a:avLst/>
              <a:gdLst>
                <a:gd name="T0" fmla="*/ 21 w 47"/>
                <a:gd name="T1" fmla="*/ 47 h 47"/>
                <a:gd name="T2" fmla="*/ 27 w 47"/>
                <a:gd name="T3" fmla="*/ 47 h 47"/>
                <a:gd name="T4" fmla="*/ 30 w 47"/>
                <a:gd name="T5" fmla="*/ 47 h 47"/>
                <a:gd name="T6" fmla="*/ 33 w 47"/>
                <a:gd name="T7" fmla="*/ 44 h 47"/>
                <a:gd name="T8" fmla="*/ 39 w 47"/>
                <a:gd name="T9" fmla="*/ 44 h 47"/>
                <a:gd name="T10" fmla="*/ 39 w 47"/>
                <a:gd name="T11" fmla="*/ 41 h 47"/>
                <a:gd name="T12" fmla="*/ 42 w 47"/>
                <a:gd name="T13" fmla="*/ 39 h 47"/>
                <a:gd name="T14" fmla="*/ 45 w 47"/>
                <a:gd name="T15" fmla="*/ 36 h 47"/>
                <a:gd name="T16" fmla="*/ 45 w 47"/>
                <a:gd name="T17" fmla="*/ 33 h 47"/>
                <a:gd name="T18" fmla="*/ 47 w 47"/>
                <a:gd name="T19" fmla="*/ 27 h 47"/>
                <a:gd name="T20" fmla="*/ 47 w 47"/>
                <a:gd name="T21" fmla="*/ 24 h 47"/>
                <a:gd name="T22" fmla="*/ 47 w 47"/>
                <a:gd name="T23" fmla="*/ 21 h 47"/>
                <a:gd name="T24" fmla="*/ 45 w 47"/>
                <a:gd name="T25" fmla="*/ 15 h 47"/>
                <a:gd name="T26" fmla="*/ 45 w 47"/>
                <a:gd name="T27" fmla="*/ 12 h 47"/>
                <a:gd name="T28" fmla="*/ 42 w 47"/>
                <a:gd name="T29" fmla="*/ 9 h 47"/>
                <a:gd name="T30" fmla="*/ 39 w 47"/>
                <a:gd name="T31" fmla="*/ 6 h 47"/>
                <a:gd name="T32" fmla="*/ 39 w 47"/>
                <a:gd name="T33" fmla="*/ 3 h 47"/>
                <a:gd name="T34" fmla="*/ 33 w 47"/>
                <a:gd name="T35" fmla="*/ 3 h 47"/>
                <a:gd name="T36" fmla="*/ 30 w 47"/>
                <a:gd name="T37" fmla="*/ 0 h 47"/>
                <a:gd name="T38" fmla="*/ 27 w 47"/>
                <a:gd name="T39" fmla="*/ 0 h 47"/>
                <a:gd name="T40" fmla="*/ 24 w 47"/>
                <a:gd name="T41" fmla="*/ 0 h 47"/>
                <a:gd name="T42" fmla="*/ 21 w 47"/>
                <a:gd name="T43" fmla="*/ 0 h 47"/>
                <a:gd name="T44" fmla="*/ 15 w 47"/>
                <a:gd name="T45" fmla="*/ 0 h 47"/>
                <a:gd name="T46" fmla="*/ 12 w 47"/>
                <a:gd name="T47" fmla="*/ 3 h 47"/>
                <a:gd name="T48" fmla="*/ 9 w 47"/>
                <a:gd name="T49" fmla="*/ 3 h 47"/>
                <a:gd name="T50" fmla="*/ 6 w 47"/>
                <a:gd name="T51" fmla="*/ 6 h 47"/>
                <a:gd name="T52" fmla="*/ 6 w 47"/>
                <a:gd name="T53" fmla="*/ 9 h 47"/>
                <a:gd name="T54" fmla="*/ 3 w 47"/>
                <a:gd name="T55" fmla="*/ 12 h 47"/>
                <a:gd name="T56" fmla="*/ 0 w 47"/>
                <a:gd name="T57" fmla="*/ 15 h 47"/>
                <a:gd name="T58" fmla="*/ 0 w 47"/>
                <a:gd name="T59" fmla="*/ 21 h 47"/>
                <a:gd name="T60" fmla="*/ 0 w 47"/>
                <a:gd name="T61" fmla="*/ 24 h 47"/>
                <a:gd name="T62" fmla="*/ 0 w 47"/>
                <a:gd name="T63" fmla="*/ 27 h 47"/>
                <a:gd name="T64" fmla="*/ 0 w 47"/>
                <a:gd name="T65" fmla="*/ 33 h 47"/>
                <a:gd name="T66" fmla="*/ 3 w 47"/>
                <a:gd name="T67" fmla="*/ 36 h 47"/>
                <a:gd name="T68" fmla="*/ 6 w 47"/>
                <a:gd name="T69" fmla="*/ 39 h 47"/>
                <a:gd name="T70" fmla="*/ 6 w 47"/>
                <a:gd name="T71" fmla="*/ 41 h 47"/>
                <a:gd name="T72" fmla="*/ 9 w 47"/>
                <a:gd name="T73" fmla="*/ 44 h 47"/>
                <a:gd name="T74" fmla="*/ 12 w 47"/>
                <a:gd name="T75" fmla="*/ 44 h 47"/>
                <a:gd name="T76" fmla="*/ 15 w 47"/>
                <a:gd name="T77" fmla="*/ 47 h 47"/>
                <a:gd name="T78" fmla="*/ 21 w 47"/>
                <a:gd name="T79" fmla="*/ 47 h 47"/>
                <a:gd name="T80" fmla="*/ 24 w 47"/>
                <a:gd name="T81" fmla="*/ 47 h 47"/>
                <a:gd name="T82" fmla="*/ 24 w 47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7"/>
                <a:gd name="T127" fmla="*/ 0 h 47"/>
                <a:gd name="T128" fmla="*/ 47 w 47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7" h="47">
                  <a:moveTo>
                    <a:pt x="21" y="47"/>
                  </a:moveTo>
                  <a:lnTo>
                    <a:pt x="27" y="47"/>
                  </a:lnTo>
                  <a:lnTo>
                    <a:pt x="30" y="47"/>
                  </a:lnTo>
                  <a:lnTo>
                    <a:pt x="33" y="44"/>
                  </a:lnTo>
                  <a:lnTo>
                    <a:pt x="39" y="44"/>
                  </a:lnTo>
                  <a:lnTo>
                    <a:pt x="39" y="41"/>
                  </a:lnTo>
                  <a:lnTo>
                    <a:pt x="42" y="39"/>
                  </a:lnTo>
                  <a:lnTo>
                    <a:pt x="45" y="36"/>
                  </a:lnTo>
                  <a:lnTo>
                    <a:pt x="45" y="33"/>
                  </a:lnTo>
                  <a:lnTo>
                    <a:pt x="47" y="27"/>
                  </a:lnTo>
                  <a:lnTo>
                    <a:pt x="47" y="24"/>
                  </a:lnTo>
                  <a:lnTo>
                    <a:pt x="47" y="21"/>
                  </a:lnTo>
                  <a:lnTo>
                    <a:pt x="45" y="15"/>
                  </a:lnTo>
                  <a:lnTo>
                    <a:pt x="45" y="12"/>
                  </a:lnTo>
                  <a:lnTo>
                    <a:pt x="42" y="9"/>
                  </a:lnTo>
                  <a:lnTo>
                    <a:pt x="39" y="6"/>
                  </a:lnTo>
                  <a:lnTo>
                    <a:pt x="39" y="3"/>
                  </a:lnTo>
                  <a:lnTo>
                    <a:pt x="33" y="3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5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6"/>
                  </a:lnTo>
                  <a:lnTo>
                    <a:pt x="6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33"/>
                  </a:lnTo>
                  <a:lnTo>
                    <a:pt x="3" y="36"/>
                  </a:lnTo>
                  <a:lnTo>
                    <a:pt x="6" y="39"/>
                  </a:lnTo>
                  <a:lnTo>
                    <a:pt x="6" y="41"/>
                  </a:lnTo>
                  <a:lnTo>
                    <a:pt x="9" y="44"/>
                  </a:lnTo>
                  <a:lnTo>
                    <a:pt x="12" y="44"/>
                  </a:lnTo>
                  <a:lnTo>
                    <a:pt x="15" y="47"/>
                  </a:lnTo>
                  <a:lnTo>
                    <a:pt x="21" y="47"/>
                  </a:lnTo>
                  <a:lnTo>
                    <a:pt x="24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" name="Freeform 75"/>
            <p:cNvSpPr>
              <a:spLocks noChangeArrowheads="1"/>
            </p:cNvSpPr>
            <p:nvPr/>
          </p:nvSpPr>
          <p:spPr bwMode="auto">
            <a:xfrm>
              <a:off x="2034" y="1748"/>
              <a:ext cx="47" cy="47"/>
            </a:xfrm>
            <a:custGeom>
              <a:avLst/>
              <a:gdLst>
                <a:gd name="T0" fmla="*/ 21 w 47"/>
                <a:gd name="T1" fmla="*/ 47 h 47"/>
                <a:gd name="T2" fmla="*/ 26 w 47"/>
                <a:gd name="T3" fmla="*/ 47 h 47"/>
                <a:gd name="T4" fmla="*/ 29 w 47"/>
                <a:gd name="T5" fmla="*/ 47 h 47"/>
                <a:gd name="T6" fmla="*/ 32 w 47"/>
                <a:gd name="T7" fmla="*/ 44 h 47"/>
                <a:gd name="T8" fmla="*/ 35 w 47"/>
                <a:gd name="T9" fmla="*/ 44 h 47"/>
                <a:gd name="T10" fmla="*/ 38 w 47"/>
                <a:gd name="T11" fmla="*/ 41 h 47"/>
                <a:gd name="T12" fmla="*/ 41 w 47"/>
                <a:gd name="T13" fmla="*/ 39 h 47"/>
                <a:gd name="T14" fmla="*/ 44 w 47"/>
                <a:gd name="T15" fmla="*/ 36 h 47"/>
                <a:gd name="T16" fmla="*/ 44 w 47"/>
                <a:gd name="T17" fmla="*/ 33 h 47"/>
                <a:gd name="T18" fmla="*/ 44 w 47"/>
                <a:gd name="T19" fmla="*/ 27 h 47"/>
                <a:gd name="T20" fmla="*/ 47 w 47"/>
                <a:gd name="T21" fmla="*/ 24 h 47"/>
                <a:gd name="T22" fmla="*/ 44 w 47"/>
                <a:gd name="T23" fmla="*/ 21 h 47"/>
                <a:gd name="T24" fmla="*/ 44 w 47"/>
                <a:gd name="T25" fmla="*/ 15 h 47"/>
                <a:gd name="T26" fmla="*/ 44 w 47"/>
                <a:gd name="T27" fmla="*/ 12 h 47"/>
                <a:gd name="T28" fmla="*/ 41 w 47"/>
                <a:gd name="T29" fmla="*/ 9 h 47"/>
                <a:gd name="T30" fmla="*/ 38 w 47"/>
                <a:gd name="T31" fmla="*/ 6 h 47"/>
                <a:gd name="T32" fmla="*/ 35 w 47"/>
                <a:gd name="T33" fmla="*/ 3 h 47"/>
                <a:gd name="T34" fmla="*/ 32 w 47"/>
                <a:gd name="T35" fmla="*/ 3 h 47"/>
                <a:gd name="T36" fmla="*/ 29 w 47"/>
                <a:gd name="T37" fmla="*/ 0 h 47"/>
                <a:gd name="T38" fmla="*/ 26 w 47"/>
                <a:gd name="T39" fmla="*/ 0 h 47"/>
                <a:gd name="T40" fmla="*/ 24 w 47"/>
                <a:gd name="T41" fmla="*/ 0 h 47"/>
                <a:gd name="T42" fmla="*/ 18 w 47"/>
                <a:gd name="T43" fmla="*/ 0 h 47"/>
                <a:gd name="T44" fmla="*/ 15 w 47"/>
                <a:gd name="T45" fmla="*/ 0 h 47"/>
                <a:gd name="T46" fmla="*/ 12 w 47"/>
                <a:gd name="T47" fmla="*/ 3 h 47"/>
                <a:gd name="T48" fmla="*/ 9 w 47"/>
                <a:gd name="T49" fmla="*/ 3 h 47"/>
                <a:gd name="T50" fmla="*/ 6 w 47"/>
                <a:gd name="T51" fmla="*/ 6 h 47"/>
                <a:gd name="T52" fmla="*/ 3 w 47"/>
                <a:gd name="T53" fmla="*/ 9 h 47"/>
                <a:gd name="T54" fmla="*/ 3 w 47"/>
                <a:gd name="T55" fmla="*/ 12 h 47"/>
                <a:gd name="T56" fmla="*/ 0 w 47"/>
                <a:gd name="T57" fmla="*/ 15 h 47"/>
                <a:gd name="T58" fmla="*/ 0 w 47"/>
                <a:gd name="T59" fmla="*/ 21 h 47"/>
                <a:gd name="T60" fmla="*/ 0 w 47"/>
                <a:gd name="T61" fmla="*/ 24 h 47"/>
                <a:gd name="T62" fmla="*/ 0 w 47"/>
                <a:gd name="T63" fmla="*/ 27 h 47"/>
                <a:gd name="T64" fmla="*/ 0 w 47"/>
                <a:gd name="T65" fmla="*/ 33 h 47"/>
                <a:gd name="T66" fmla="*/ 3 w 47"/>
                <a:gd name="T67" fmla="*/ 36 h 47"/>
                <a:gd name="T68" fmla="*/ 3 w 47"/>
                <a:gd name="T69" fmla="*/ 39 h 47"/>
                <a:gd name="T70" fmla="*/ 6 w 47"/>
                <a:gd name="T71" fmla="*/ 41 h 47"/>
                <a:gd name="T72" fmla="*/ 9 w 47"/>
                <a:gd name="T73" fmla="*/ 44 h 47"/>
                <a:gd name="T74" fmla="*/ 12 w 47"/>
                <a:gd name="T75" fmla="*/ 44 h 47"/>
                <a:gd name="T76" fmla="*/ 15 w 47"/>
                <a:gd name="T77" fmla="*/ 47 h 47"/>
                <a:gd name="T78" fmla="*/ 18 w 47"/>
                <a:gd name="T79" fmla="*/ 47 h 47"/>
                <a:gd name="T80" fmla="*/ 24 w 47"/>
                <a:gd name="T81" fmla="*/ 47 h 47"/>
                <a:gd name="T82" fmla="*/ 24 w 47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7"/>
                <a:gd name="T127" fmla="*/ 0 h 47"/>
                <a:gd name="T128" fmla="*/ 47 w 47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7" h="47">
                  <a:moveTo>
                    <a:pt x="21" y="47"/>
                  </a:moveTo>
                  <a:lnTo>
                    <a:pt x="26" y="47"/>
                  </a:lnTo>
                  <a:lnTo>
                    <a:pt x="29" y="47"/>
                  </a:lnTo>
                  <a:lnTo>
                    <a:pt x="32" y="44"/>
                  </a:lnTo>
                  <a:lnTo>
                    <a:pt x="35" y="44"/>
                  </a:lnTo>
                  <a:lnTo>
                    <a:pt x="38" y="41"/>
                  </a:lnTo>
                  <a:lnTo>
                    <a:pt x="41" y="39"/>
                  </a:lnTo>
                  <a:lnTo>
                    <a:pt x="44" y="36"/>
                  </a:lnTo>
                  <a:lnTo>
                    <a:pt x="44" y="33"/>
                  </a:lnTo>
                  <a:lnTo>
                    <a:pt x="44" y="27"/>
                  </a:lnTo>
                  <a:lnTo>
                    <a:pt x="47" y="24"/>
                  </a:lnTo>
                  <a:lnTo>
                    <a:pt x="44" y="21"/>
                  </a:lnTo>
                  <a:lnTo>
                    <a:pt x="44" y="15"/>
                  </a:lnTo>
                  <a:lnTo>
                    <a:pt x="44" y="12"/>
                  </a:lnTo>
                  <a:lnTo>
                    <a:pt x="41" y="9"/>
                  </a:lnTo>
                  <a:lnTo>
                    <a:pt x="38" y="6"/>
                  </a:lnTo>
                  <a:lnTo>
                    <a:pt x="35" y="3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33"/>
                  </a:lnTo>
                  <a:lnTo>
                    <a:pt x="3" y="36"/>
                  </a:lnTo>
                  <a:lnTo>
                    <a:pt x="3" y="39"/>
                  </a:lnTo>
                  <a:lnTo>
                    <a:pt x="6" y="41"/>
                  </a:lnTo>
                  <a:lnTo>
                    <a:pt x="9" y="44"/>
                  </a:lnTo>
                  <a:lnTo>
                    <a:pt x="12" y="44"/>
                  </a:lnTo>
                  <a:lnTo>
                    <a:pt x="15" y="47"/>
                  </a:lnTo>
                  <a:lnTo>
                    <a:pt x="18" y="47"/>
                  </a:lnTo>
                  <a:lnTo>
                    <a:pt x="24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8" name="Freeform 76"/>
            <p:cNvSpPr>
              <a:spLocks noChangeArrowheads="1"/>
            </p:cNvSpPr>
            <p:nvPr/>
          </p:nvSpPr>
          <p:spPr bwMode="auto">
            <a:xfrm>
              <a:off x="2090" y="1748"/>
              <a:ext cx="47" cy="47"/>
            </a:xfrm>
            <a:custGeom>
              <a:avLst/>
              <a:gdLst>
                <a:gd name="T0" fmla="*/ 23 w 47"/>
                <a:gd name="T1" fmla="*/ 47 h 47"/>
                <a:gd name="T2" fmla="*/ 29 w 47"/>
                <a:gd name="T3" fmla="*/ 47 h 47"/>
                <a:gd name="T4" fmla="*/ 32 w 47"/>
                <a:gd name="T5" fmla="*/ 47 h 47"/>
                <a:gd name="T6" fmla="*/ 35 w 47"/>
                <a:gd name="T7" fmla="*/ 44 h 47"/>
                <a:gd name="T8" fmla="*/ 38 w 47"/>
                <a:gd name="T9" fmla="*/ 44 h 47"/>
                <a:gd name="T10" fmla="*/ 41 w 47"/>
                <a:gd name="T11" fmla="*/ 41 h 47"/>
                <a:gd name="T12" fmla="*/ 44 w 47"/>
                <a:gd name="T13" fmla="*/ 39 h 47"/>
                <a:gd name="T14" fmla="*/ 44 w 47"/>
                <a:gd name="T15" fmla="*/ 36 h 47"/>
                <a:gd name="T16" fmla="*/ 47 w 47"/>
                <a:gd name="T17" fmla="*/ 33 h 47"/>
                <a:gd name="T18" fmla="*/ 47 w 47"/>
                <a:gd name="T19" fmla="*/ 27 h 47"/>
                <a:gd name="T20" fmla="*/ 47 w 47"/>
                <a:gd name="T21" fmla="*/ 24 h 47"/>
                <a:gd name="T22" fmla="*/ 47 w 47"/>
                <a:gd name="T23" fmla="*/ 21 h 47"/>
                <a:gd name="T24" fmla="*/ 47 w 47"/>
                <a:gd name="T25" fmla="*/ 15 h 47"/>
                <a:gd name="T26" fmla="*/ 44 w 47"/>
                <a:gd name="T27" fmla="*/ 12 h 47"/>
                <a:gd name="T28" fmla="*/ 44 w 47"/>
                <a:gd name="T29" fmla="*/ 9 h 47"/>
                <a:gd name="T30" fmla="*/ 41 w 47"/>
                <a:gd name="T31" fmla="*/ 6 h 47"/>
                <a:gd name="T32" fmla="*/ 38 w 47"/>
                <a:gd name="T33" fmla="*/ 3 h 47"/>
                <a:gd name="T34" fmla="*/ 35 w 47"/>
                <a:gd name="T35" fmla="*/ 3 h 47"/>
                <a:gd name="T36" fmla="*/ 32 w 47"/>
                <a:gd name="T37" fmla="*/ 0 h 47"/>
                <a:gd name="T38" fmla="*/ 29 w 47"/>
                <a:gd name="T39" fmla="*/ 0 h 47"/>
                <a:gd name="T40" fmla="*/ 23 w 47"/>
                <a:gd name="T41" fmla="*/ 0 h 47"/>
                <a:gd name="T42" fmla="*/ 20 w 47"/>
                <a:gd name="T43" fmla="*/ 0 h 47"/>
                <a:gd name="T44" fmla="*/ 17 w 47"/>
                <a:gd name="T45" fmla="*/ 0 h 47"/>
                <a:gd name="T46" fmla="*/ 15 w 47"/>
                <a:gd name="T47" fmla="*/ 3 h 47"/>
                <a:gd name="T48" fmla="*/ 12 w 47"/>
                <a:gd name="T49" fmla="*/ 3 h 47"/>
                <a:gd name="T50" fmla="*/ 9 w 47"/>
                <a:gd name="T51" fmla="*/ 6 h 47"/>
                <a:gd name="T52" fmla="*/ 6 w 47"/>
                <a:gd name="T53" fmla="*/ 9 h 47"/>
                <a:gd name="T54" fmla="*/ 3 w 47"/>
                <a:gd name="T55" fmla="*/ 12 h 47"/>
                <a:gd name="T56" fmla="*/ 3 w 47"/>
                <a:gd name="T57" fmla="*/ 15 h 47"/>
                <a:gd name="T58" fmla="*/ 3 w 47"/>
                <a:gd name="T59" fmla="*/ 21 h 47"/>
                <a:gd name="T60" fmla="*/ 0 w 47"/>
                <a:gd name="T61" fmla="*/ 24 h 47"/>
                <a:gd name="T62" fmla="*/ 3 w 47"/>
                <a:gd name="T63" fmla="*/ 27 h 47"/>
                <a:gd name="T64" fmla="*/ 3 w 47"/>
                <a:gd name="T65" fmla="*/ 33 h 47"/>
                <a:gd name="T66" fmla="*/ 3 w 47"/>
                <a:gd name="T67" fmla="*/ 36 h 47"/>
                <a:gd name="T68" fmla="*/ 6 w 47"/>
                <a:gd name="T69" fmla="*/ 39 h 47"/>
                <a:gd name="T70" fmla="*/ 9 w 47"/>
                <a:gd name="T71" fmla="*/ 41 h 47"/>
                <a:gd name="T72" fmla="*/ 12 w 47"/>
                <a:gd name="T73" fmla="*/ 44 h 47"/>
                <a:gd name="T74" fmla="*/ 15 w 47"/>
                <a:gd name="T75" fmla="*/ 44 h 47"/>
                <a:gd name="T76" fmla="*/ 17 w 47"/>
                <a:gd name="T77" fmla="*/ 47 h 47"/>
                <a:gd name="T78" fmla="*/ 20 w 47"/>
                <a:gd name="T79" fmla="*/ 47 h 47"/>
                <a:gd name="T80" fmla="*/ 23 w 47"/>
                <a:gd name="T81" fmla="*/ 47 h 47"/>
                <a:gd name="T82" fmla="*/ 23 w 47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7"/>
                <a:gd name="T127" fmla="*/ 0 h 47"/>
                <a:gd name="T128" fmla="*/ 47 w 47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7" h="47">
                  <a:moveTo>
                    <a:pt x="23" y="47"/>
                  </a:moveTo>
                  <a:lnTo>
                    <a:pt x="29" y="47"/>
                  </a:lnTo>
                  <a:lnTo>
                    <a:pt x="32" y="47"/>
                  </a:lnTo>
                  <a:lnTo>
                    <a:pt x="35" y="44"/>
                  </a:lnTo>
                  <a:lnTo>
                    <a:pt x="38" y="44"/>
                  </a:lnTo>
                  <a:lnTo>
                    <a:pt x="41" y="41"/>
                  </a:lnTo>
                  <a:lnTo>
                    <a:pt x="44" y="39"/>
                  </a:lnTo>
                  <a:lnTo>
                    <a:pt x="44" y="36"/>
                  </a:lnTo>
                  <a:lnTo>
                    <a:pt x="47" y="33"/>
                  </a:lnTo>
                  <a:lnTo>
                    <a:pt x="47" y="27"/>
                  </a:lnTo>
                  <a:lnTo>
                    <a:pt x="47" y="24"/>
                  </a:lnTo>
                  <a:lnTo>
                    <a:pt x="47" y="21"/>
                  </a:lnTo>
                  <a:lnTo>
                    <a:pt x="47" y="15"/>
                  </a:lnTo>
                  <a:lnTo>
                    <a:pt x="44" y="12"/>
                  </a:lnTo>
                  <a:lnTo>
                    <a:pt x="44" y="9"/>
                  </a:lnTo>
                  <a:lnTo>
                    <a:pt x="41" y="6"/>
                  </a:lnTo>
                  <a:lnTo>
                    <a:pt x="38" y="3"/>
                  </a:lnTo>
                  <a:lnTo>
                    <a:pt x="35" y="3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5" y="3"/>
                  </a:lnTo>
                  <a:lnTo>
                    <a:pt x="12" y="3"/>
                  </a:lnTo>
                  <a:lnTo>
                    <a:pt x="9" y="6"/>
                  </a:lnTo>
                  <a:lnTo>
                    <a:pt x="6" y="9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3" y="21"/>
                  </a:lnTo>
                  <a:lnTo>
                    <a:pt x="0" y="24"/>
                  </a:lnTo>
                  <a:lnTo>
                    <a:pt x="3" y="27"/>
                  </a:lnTo>
                  <a:lnTo>
                    <a:pt x="3" y="33"/>
                  </a:lnTo>
                  <a:lnTo>
                    <a:pt x="3" y="36"/>
                  </a:lnTo>
                  <a:lnTo>
                    <a:pt x="6" y="39"/>
                  </a:lnTo>
                  <a:lnTo>
                    <a:pt x="9" y="41"/>
                  </a:lnTo>
                  <a:lnTo>
                    <a:pt x="12" y="44"/>
                  </a:lnTo>
                  <a:lnTo>
                    <a:pt x="15" y="44"/>
                  </a:lnTo>
                  <a:lnTo>
                    <a:pt x="17" y="47"/>
                  </a:lnTo>
                  <a:lnTo>
                    <a:pt x="20" y="47"/>
                  </a:lnTo>
                  <a:lnTo>
                    <a:pt x="23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9" name="Freeform 77"/>
            <p:cNvSpPr>
              <a:spLocks noChangeArrowheads="1"/>
            </p:cNvSpPr>
            <p:nvPr/>
          </p:nvSpPr>
          <p:spPr bwMode="auto">
            <a:xfrm>
              <a:off x="1981" y="1748"/>
              <a:ext cx="44" cy="47"/>
            </a:xfrm>
            <a:custGeom>
              <a:avLst/>
              <a:gdLst>
                <a:gd name="T0" fmla="*/ 21 w 44"/>
                <a:gd name="T1" fmla="*/ 47 h 47"/>
                <a:gd name="T2" fmla="*/ 27 w 44"/>
                <a:gd name="T3" fmla="*/ 47 h 47"/>
                <a:gd name="T4" fmla="*/ 30 w 44"/>
                <a:gd name="T5" fmla="*/ 47 h 47"/>
                <a:gd name="T6" fmla="*/ 33 w 44"/>
                <a:gd name="T7" fmla="*/ 44 h 47"/>
                <a:gd name="T8" fmla="*/ 35 w 44"/>
                <a:gd name="T9" fmla="*/ 44 h 47"/>
                <a:gd name="T10" fmla="*/ 38 w 44"/>
                <a:gd name="T11" fmla="*/ 41 h 47"/>
                <a:gd name="T12" fmla="*/ 41 w 44"/>
                <a:gd name="T13" fmla="*/ 39 h 47"/>
                <a:gd name="T14" fmla="*/ 41 w 44"/>
                <a:gd name="T15" fmla="*/ 36 h 47"/>
                <a:gd name="T16" fmla="*/ 44 w 44"/>
                <a:gd name="T17" fmla="*/ 33 h 47"/>
                <a:gd name="T18" fmla="*/ 44 w 44"/>
                <a:gd name="T19" fmla="*/ 27 h 47"/>
                <a:gd name="T20" fmla="*/ 44 w 44"/>
                <a:gd name="T21" fmla="*/ 24 h 47"/>
                <a:gd name="T22" fmla="*/ 44 w 44"/>
                <a:gd name="T23" fmla="*/ 21 h 47"/>
                <a:gd name="T24" fmla="*/ 44 w 44"/>
                <a:gd name="T25" fmla="*/ 15 h 47"/>
                <a:gd name="T26" fmla="*/ 41 w 44"/>
                <a:gd name="T27" fmla="*/ 12 h 47"/>
                <a:gd name="T28" fmla="*/ 41 w 44"/>
                <a:gd name="T29" fmla="*/ 9 h 47"/>
                <a:gd name="T30" fmla="*/ 38 w 44"/>
                <a:gd name="T31" fmla="*/ 6 h 47"/>
                <a:gd name="T32" fmla="*/ 35 w 44"/>
                <a:gd name="T33" fmla="*/ 3 h 47"/>
                <a:gd name="T34" fmla="*/ 33 w 44"/>
                <a:gd name="T35" fmla="*/ 3 h 47"/>
                <a:gd name="T36" fmla="*/ 30 w 44"/>
                <a:gd name="T37" fmla="*/ 0 h 47"/>
                <a:gd name="T38" fmla="*/ 27 w 44"/>
                <a:gd name="T39" fmla="*/ 0 h 47"/>
                <a:gd name="T40" fmla="*/ 24 w 44"/>
                <a:gd name="T41" fmla="*/ 0 h 47"/>
                <a:gd name="T42" fmla="*/ 18 w 44"/>
                <a:gd name="T43" fmla="*/ 0 h 47"/>
                <a:gd name="T44" fmla="*/ 15 w 44"/>
                <a:gd name="T45" fmla="*/ 0 h 47"/>
                <a:gd name="T46" fmla="*/ 12 w 44"/>
                <a:gd name="T47" fmla="*/ 3 h 47"/>
                <a:gd name="T48" fmla="*/ 9 w 44"/>
                <a:gd name="T49" fmla="*/ 3 h 47"/>
                <a:gd name="T50" fmla="*/ 6 w 44"/>
                <a:gd name="T51" fmla="*/ 6 h 47"/>
                <a:gd name="T52" fmla="*/ 3 w 44"/>
                <a:gd name="T53" fmla="*/ 9 h 47"/>
                <a:gd name="T54" fmla="*/ 3 w 44"/>
                <a:gd name="T55" fmla="*/ 12 h 47"/>
                <a:gd name="T56" fmla="*/ 0 w 44"/>
                <a:gd name="T57" fmla="*/ 15 h 47"/>
                <a:gd name="T58" fmla="*/ 0 w 44"/>
                <a:gd name="T59" fmla="*/ 21 h 47"/>
                <a:gd name="T60" fmla="*/ 0 w 44"/>
                <a:gd name="T61" fmla="*/ 24 h 47"/>
                <a:gd name="T62" fmla="*/ 0 w 44"/>
                <a:gd name="T63" fmla="*/ 27 h 47"/>
                <a:gd name="T64" fmla="*/ 0 w 44"/>
                <a:gd name="T65" fmla="*/ 33 h 47"/>
                <a:gd name="T66" fmla="*/ 3 w 44"/>
                <a:gd name="T67" fmla="*/ 36 h 47"/>
                <a:gd name="T68" fmla="*/ 3 w 44"/>
                <a:gd name="T69" fmla="*/ 39 h 47"/>
                <a:gd name="T70" fmla="*/ 6 w 44"/>
                <a:gd name="T71" fmla="*/ 41 h 47"/>
                <a:gd name="T72" fmla="*/ 9 w 44"/>
                <a:gd name="T73" fmla="*/ 44 h 47"/>
                <a:gd name="T74" fmla="*/ 12 w 44"/>
                <a:gd name="T75" fmla="*/ 44 h 47"/>
                <a:gd name="T76" fmla="*/ 15 w 44"/>
                <a:gd name="T77" fmla="*/ 47 h 47"/>
                <a:gd name="T78" fmla="*/ 18 w 44"/>
                <a:gd name="T79" fmla="*/ 47 h 47"/>
                <a:gd name="T80" fmla="*/ 24 w 44"/>
                <a:gd name="T81" fmla="*/ 47 h 47"/>
                <a:gd name="T82" fmla="*/ 24 w 44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4"/>
                <a:gd name="T127" fmla="*/ 0 h 47"/>
                <a:gd name="T128" fmla="*/ 44 w 44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4" h="47">
                  <a:moveTo>
                    <a:pt x="21" y="47"/>
                  </a:moveTo>
                  <a:lnTo>
                    <a:pt x="27" y="47"/>
                  </a:lnTo>
                  <a:lnTo>
                    <a:pt x="30" y="47"/>
                  </a:lnTo>
                  <a:lnTo>
                    <a:pt x="33" y="44"/>
                  </a:lnTo>
                  <a:lnTo>
                    <a:pt x="35" y="44"/>
                  </a:lnTo>
                  <a:lnTo>
                    <a:pt x="38" y="41"/>
                  </a:lnTo>
                  <a:lnTo>
                    <a:pt x="41" y="39"/>
                  </a:lnTo>
                  <a:lnTo>
                    <a:pt x="41" y="36"/>
                  </a:lnTo>
                  <a:lnTo>
                    <a:pt x="44" y="33"/>
                  </a:lnTo>
                  <a:lnTo>
                    <a:pt x="44" y="27"/>
                  </a:lnTo>
                  <a:lnTo>
                    <a:pt x="44" y="24"/>
                  </a:lnTo>
                  <a:lnTo>
                    <a:pt x="44" y="21"/>
                  </a:lnTo>
                  <a:lnTo>
                    <a:pt x="44" y="15"/>
                  </a:lnTo>
                  <a:lnTo>
                    <a:pt x="41" y="12"/>
                  </a:lnTo>
                  <a:lnTo>
                    <a:pt x="41" y="9"/>
                  </a:lnTo>
                  <a:lnTo>
                    <a:pt x="38" y="6"/>
                  </a:lnTo>
                  <a:lnTo>
                    <a:pt x="35" y="3"/>
                  </a:lnTo>
                  <a:lnTo>
                    <a:pt x="33" y="3"/>
                  </a:lnTo>
                  <a:lnTo>
                    <a:pt x="30" y="0"/>
                  </a:lnTo>
                  <a:lnTo>
                    <a:pt x="27" y="0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33"/>
                  </a:lnTo>
                  <a:lnTo>
                    <a:pt x="3" y="36"/>
                  </a:lnTo>
                  <a:lnTo>
                    <a:pt x="3" y="39"/>
                  </a:lnTo>
                  <a:lnTo>
                    <a:pt x="6" y="41"/>
                  </a:lnTo>
                  <a:lnTo>
                    <a:pt x="9" y="44"/>
                  </a:lnTo>
                  <a:lnTo>
                    <a:pt x="12" y="44"/>
                  </a:lnTo>
                  <a:lnTo>
                    <a:pt x="15" y="47"/>
                  </a:lnTo>
                  <a:lnTo>
                    <a:pt x="18" y="47"/>
                  </a:lnTo>
                  <a:lnTo>
                    <a:pt x="24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0" name="Freeform 78"/>
            <p:cNvSpPr>
              <a:spLocks noChangeArrowheads="1"/>
            </p:cNvSpPr>
            <p:nvPr/>
          </p:nvSpPr>
          <p:spPr bwMode="auto">
            <a:xfrm>
              <a:off x="1917" y="1748"/>
              <a:ext cx="47" cy="47"/>
            </a:xfrm>
            <a:custGeom>
              <a:avLst/>
              <a:gdLst>
                <a:gd name="T0" fmla="*/ 23 w 47"/>
                <a:gd name="T1" fmla="*/ 47 h 47"/>
                <a:gd name="T2" fmla="*/ 29 w 47"/>
                <a:gd name="T3" fmla="*/ 47 h 47"/>
                <a:gd name="T4" fmla="*/ 32 w 47"/>
                <a:gd name="T5" fmla="*/ 47 h 47"/>
                <a:gd name="T6" fmla="*/ 35 w 47"/>
                <a:gd name="T7" fmla="*/ 44 h 47"/>
                <a:gd name="T8" fmla="*/ 38 w 47"/>
                <a:gd name="T9" fmla="*/ 44 h 47"/>
                <a:gd name="T10" fmla="*/ 41 w 47"/>
                <a:gd name="T11" fmla="*/ 41 h 47"/>
                <a:gd name="T12" fmla="*/ 44 w 47"/>
                <a:gd name="T13" fmla="*/ 39 h 47"/>
                <a:gd name="T14" fmla="*/ 44 w 47"/>
                <a:gd name="T15" fmla="*/ 36 h 47"/>
                <a:gd name="T16" fmla="*/ 47 w 47"/>
                <a:gd name="T17" fmla="*/ 33 h 47"/>
                <a:gd name="T18" fmla="*/ 47 w 47"/>
                <a:gd name="T19" fmla="*/ 27 h 47"/>
                <a:gd name="T20" fmla="*/ 47 w 47"/>
                <a:gd name="T21" fmla="*/ 24 h 47"/>
                <a:gd name="T22" fmla="*/ 47 w 47"/>
                <a:gd name="T23" fmla="*/ 21 h 47"/>
                <a:gd name="T24" fmla="*/ 47 w 47"/>
                <a:gd name="T25" fmla="*/ 15 h 47"/>
                <a:gd name="T26" fmla="*/ 44 w 47"/>
                <a:gd name="T27" fmla="*/ 12 h 47"/>
                <a:gd name="T28" fmla="*/ 44 w 47"/>
                <a:gd name="T29" fmla="*/ 9 h 47"/>
                <a:gd name="T30" fmla="*/ 41 w 47"/>
                <a:gd name="T31" fmla="*/ 6 h 47"/>
                <a:gd name="T32" fmla="*/ 38 w 47"/>
                <a:gd name="T33" fmla="*/ 3 h 47"/>
                <a:gd name="T34" fmla="*/ 35 w 47"/>
                <a:gd name="T35" fmla="*/ 3 h 47"/>
                <a:gd name="T36" fmla="*/ 32 w 47"/>
                <a:gd name="T37" fmla="*/ 0 h 47"/>
                <a:gd name="T38" fmla="*/ 29 w 47"/>
                <a:gd name="T39" fmla="*/ 0 h 47"/>
                <a:gd name="T40" fmla="*/ 23 w 47"/>
                <a:gd name="T41" fmla="*/ 0 h 47"/>
                <a:gd name="T42" fmla="*/ 20 w 47"/>
                <a:gd name="T43" fmla="*/ 0 h 47"/>
                <a:gd name="T44" fmla="*/ 17 w 47"/>
                <a:gd name="T45" fmla="*/ 0 h 47"/>
                <a:gd name="T46" fmla="*/ 14 w 47"/>
                <a:gd name="T47" fmla="*/ 3 h 47"/>
                <a:gd name="T48" fmla="*/ 11 w 47"/>
                <a:gd name="T49" fmla="*/ 3 h 47"/>
                <a:gd name="T50" fmla="*/ 8 w 47"/>
                <a:gd name="T51" fmla="*/ 6 h 47"/>
                <a:gd name="T52" fmla="*/ 5 w 47"/>
                <a:gd name="T53" fmla="*/ 9 h 47"/>
                <a:gd name="T54" fmla="*/ 3 w 47"/>
                <a:gd name="T55" fmla="*/ 12 h 47"/>
                <a:gd name="T56" fmla="*/ 3 w 47"/>
                <a:gd name="T57" fmla="*/ 15 h 47"/>
                <a:gd name="T58" fmla="*/ 3 w 47"/>
                <a:gd name="T59" fmla="*/ 21 h 47"/>
                <a:gd name="T60" fmla="*/ 0 w 47"/>
                <a:gd name="T61" fmla="*/ 24 h 47"/>
                <a:gd name="T62" fmla="*/ 3 w 47"/>
                <a:gd name="T63" fmla="*/ 27 h 47"/>
                <a:gd name="T64" fmla="*/ 3 w 47"/>
                <a:gd name="T65" fmla="*/ 33 h 47"/>
                <a:gd name="T66" fmla="*/ 3 w 47"/>
                <a:gd name="T67" fmla="*/ 36 h 47"/>
                <a:gd name="T68" fmla="*/ 5 w 47"/>
                <a:gd name="T69" fmla="*/ 39 h 47"/>
                <a:gd name="T70" fmla="*/ 8 w 47"/>
                <a:gd name="T71" fmla="*/ 41 h 47"/>
                <a:gd name="T72" fmla="*/ 11 w 47"/>
                <a:gd name="T73" fmla="*/ 44 h 47"/>
                <a:gd name="T74" fmla="*/ 14 w 47"/>
                <a:gd name="T75" fmla="*/ 44 h 47"/>
                <a:gd name="T76" fmla="*/ 17 w 47"/>
                <a:gd name="T77" fmla="*/ 47 h 47"/>
                <a:gd name="T78" fmla="*/ 20 w 47"/>
                <a:gd name="T79" fmla="*/ 47 h 47"/>
                <a:gd name="T80" fmla="*/ 23 w 47"/>
                <a:gd name="T81" fmla="*/ 47 h 47"/>
                <a:gd name="T82" fmla="*/ 23 w 47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7"/>
                <a:gd name="T127" fmla="*/ 0 h 47"/>
                <a:gd name="T128" fmla="*/ 47 w 47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7" h="47">
                  <a:moveTo>
                    <a:pt x="23" y="47"/>
                  </a:moveTo>
                  <a:lnTo>
                    <a:pt x="29" y="47"/>
                  </a:lnTo>
                  <a:lnTo>
                    <a:pt x="32" y="47"/>
                  </a:lnTo>
                  <a:lnTo>
                    <a:pt x="35" y="44"/>
                  </a:lnTo>
                  <a:lnTo>
                    <a:pt x="38" y="44"/>
                  </a:lnTo>
                  <a:lnTo>
                    <a:pt x="41" y="41"/>
                  </a:lnTo>
                  <a:lnTo>
                    <a:pt x="44" y="39"/>
                  </a:lnTo>
                  <a:lnTo>
                    <a:pt x="44" y="36"/>
                  </a:lnTo>
                  <a:lnTo>
                    <a:pt x="47" y="33"/>
                  </a:lnTo>
                  <a:lnTo>
                    <a:pt x="47" y="27"/>
                  </a:lnTo>
                  <a:lnTo>
                    <a:pt x="47" y="24"/>
                  </a:lnTo>
                  <a:lnTo>
                    <a:pt x="47" y="21"/>
                  </a:lnTo>
                  <a:lnTo>
                    <a:pt x="47" y="15"/>
                  </a:lnTo>
                  <a:lnTo>
                    <a:pt x="44" y="12"/>
                  </a:lnTo>
                  <a:lnTo>
                    <a:pt x="44" y="9"/>
                  </a:lnTo>
                  <a:lnTo>
                    <a:pt x="41" y="6"/>
                  </a:lnTo>
                  <a:lnTo>
                    <a:pt x="38" y="3"/>
                  </a:lnTo>
                  <a:lnTo>
                    <a:pt x="35" y="3"/>
                  </a:lnTo>
                  <a:lnTo>
                    <a:pt x="32" y="0"/>
                  </a:lnTo>
                  <a:lnTo>
                    <a:pt x="29" y="0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3"/>
                  </a:lnTo>
                  <a:lnTo>
                    <a:pt x="11" y="3"/>
                  </a:lnTo>
                  <a:lnTo>
                    <a:pt x="8" y="6"/>
                  </a:lnTo>
                  <a:lnTo>
                    <a:pt x="5" y="9"/>
                  </a:lnTo>
                  <a:lnTo>
                    <a:pt x="3" y="12"/>
                  </a:lnTo>
                  <a:lnTo>
                    <a:pt x="3" y="15"/>
                  </a:lnTo>
                  <a:lnTo>
                    <a:pt x="3" y="21"/>
                  </a:lnTo>
                  <a:lnTo>
                    <a:pt x="0" y="24"/>
                  </a:lnTo>
                  <a:lnTo>
                    <a:pt x="3" y="27"/>
                  </a:lnTo>
                  <a:lnTo>
                    <a:pt x="3" y="33"/>
                  </a:lnTo>
                  <a:lnTo>
                    <a:pt x="3" y="36"/>
                  </a:lnTo>
                  <a:lnTo>
                    <a:pt x="5" y="39"/>
                  </a:lnTo>
                  <a:lnTo>
                    <a:pt x="8" y="41"/>
                  </a:lnTo>
                  <a:lnTo>
                    <a:pt x="11" y="44"/>
                  </a:lnTo>
                  <a:lnTo>
                    <a:pt x="14" y="44"/>
                  </a:lnTo>
                  <a:lnTo>
                    <a:pt x="17" y="47"/>
                  </a:lnTo>
                  <a:lnTo>
                    <a:pt x="20" y="47"/>
                  </a:lnTo>
                  <a:lnTo>
                    <a:pt x="23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1" name="Freeform 79"/>
            <p:cNvSpPr>
              <a:spLocks noChangeArrowheads="1"/>
            </p:cNvSpPr>
            <p:nvPr/>
          </p:nvSpPr>
          <p:spPr bwMode="auto">
            <a:xfrm>
              <a:off x="1855" y="1748"/>
              <a:ext cx="47" cy="47"/>
            </a:xfrm>
            <a:custGeom>
              <a:avLst/>
              <a:gdLst>
                <a:gd name="T0" fmla="*/ 20 w 47"/>
                <a:gd name="T1" fmla="*/ 47 h 47"/>
                <a:gd name="T2" fmla="*/ 26 w 47"/>
                <a:gd name="T3" fmla="*/ 47 h 47"/>
                <a:gd name="T4" fmla="*/ 29 w 47"/>
                <a:gd name="T5" fmla="*/ 47 h 47"/>
                <a:gd name="T6" fmla="*/ 32 w 47"/>
                <a:gd name="T7" fmla="*/ 44 h 47"/>
                <a:gd name="T8" fmla="*/ 35 w 47"/>
                <a:gd name="T9" fmla="*/ 44 h 47"/>
                <a:gd name="T10" fmla="*/ 38 w 47"/>
                <a:gd name="T11" fmla="*/ 41 h 47"/>
                <a:gd name="T12" fmla="*/ 41 w 47"/>
                <a:gd name="T13" fmla="*/ 39 h 47"/>
                <a:gd name="T14" fmla="*/ 44 w 47"/>
                <a:gd name="T15" fmla="*/ 36 h 47"/>
                <a:gd name="T16" fmla="*/ 44 w 47"/>
                <a:gd name="T17" fmla="*/ 33 h 47"/>
                <a:gd name="T18" fmla="*/ 47 w 47"/>
                <a:gd name="T19" fmla="*/ 27 h 47"/>
                <a:gd name="T20" fmla="*/ 47 w 47"/>
                <a:gd name="T21" fmla="*/ 24 h 47"/>
                <a:gd name="T22" fmla="*/ 47 w 47"/>
                <a:gd name="T23" fmla="*/ 21 h 47"/>
                <a:gd name="T24" fmla="*/ 44 w 47"/>
                <a:gd name="T25" fmla="*/ 15 h 47"/>
                <a:gd name="T26" fmla="*/ 44 w 47"/>
                <a:gd name="T27" fmla="*/ 12 h 47"/>
                <a:gd name="T28" fmla="*/ 41 w 47"/>
                <a:gd name="T29" fmla="*/ 9 h 47"/>
                <a:gd name="T30" fmla="*/ 38 w 47"/>
                <a:gd name="T31" fmla="*/ 6 h 47"/>
                <a:gd name="T32" fmla="*/ 35 w 47"/>
                <a:gd name="T33" fmla="*/ 3 h 47"/>
                <a:gd name="T34" fmla="*/ 32 w 47"/>
                <a:gd name="T35" fmla="*/ 3 h 47"/>
                <a:gd name="T36" fmla="*/ 29 w 47"/>
                <a:gd name="T37" fmla="*/ 0 h 47"/>
                <a:gd name="T38" fmla="*/ 26 w 47"/>
                <a:gd name="T39" fmla="*/ 0 h 47"/>
                <a:gd name="T40" fmla="*/ 23 w 47"/>
                <a:gd name="T41" fmla="*/ 0 h 47"/>
                <a:gd name="T42" fmla="*/ 20 w 47"/>
                <a:gd name="T43" fmla="*/ 0 h 47"/>
                <a:gd name="T44" fmla="*/ 15 w 47"/>
                <a:gd name="T45" fmla="*/ 0 h 47"/>
                <a:gd name="T46" fmla="*/ 12 w 47"/>
                <a:gd name="T47" fmla="*/ 3 h 47"/>
                <a:gd name="T48" fmla="*/ 9 w 47"/>
                <a:gd name="T49" fmla="*/ 3 h 47"/>
                <a:gd name="T50" fmla="*/ 6 w 47"/>
                <a:gd name="T51" fmla="*/ 6 h 47"/>
                <a:gd name="T52" fmla="*/ 3 w 47"/>
                <a:gd name="T53" fmla="*/ 9 h 47"/>
                <a:gd name="T54" fmla="*/ 3 w 47"/>
                <a:gd name="T55" fmla="*/ 12 h 47"/>
                <a:gd name="T56" fmla="*/ 0 w 47"/>
                <a:gd name="T57" fmla="*/ 15 h 47"/>
                <a:gd name="T58" fmla="*/ 0 w 47"/>
                <a:gd name="T59" fmla="*/ 21 h 47"/>
                <a:gd name="T60" fmla="*/ 0 w 47"/>
                <a:gd name="T61" fmla="*/ 24 h 47"/>
                <a:gd name="T62" fmla="*/ 0 w 47"/>
                <a:gd name="T63" fmla="*/ 27 h 47"/>
                <a:gd name="T64" fmla="*/ 0 w 47"/>
                <a:gd name="T65" fmla="*/ 33 h 47"/>
                <a:gd name="T66" fmla="*/ 3 w 47"/>
                <a:gd name="T67" fmla="*/ 36 h 47"/>
                <a:gd name="T68" fmla="*/ 3 w 47"/>
                <a:gd name="T69" fmla="*/ 39 h 47"/>
                <a:gd name="T70" fmla="*/ 6 w 47"/>
                <a:gd name="T71" fmla="*/ 41 h 47"/>
                <a:gd name="T72" fmla="*/ 9 w 47"/>
                <a:gd name="T73" fmla="*/ 44 h 47"/>
                <a:gd name="T74" fmla="*/ 12 w 47"/>
                <a:gd name="T75" fmla="*/ 44 h 47"/>
                <a:gd name="T76" fmla="*/ 15 w 47"/>
                <a:gd name="T77" fmla="*/ 47 h 47"/>
                <a:gd name="T78" fmla="*/ 20 w 47"/>
                <a:gd name="T79" fmla="*/ 47 h 47"/>
                <a:gd name="T80" fmla="*/ 23 w 47"/>
                <a:gd name="T81" fmla="*/ 47 h 47"/>
                <a:gd name="T82" fmla="*/ 23 w 47"/>
                <a:gd name="T83" fmla="*/ 47 h 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47"/>
                <a:gd name="T127" fmla="*/ 0 h 47"/>
                <a:gd name="T128" fmla="*/ 47 w 47"/>
                <a:gd name="T129" fmla="*/ 47 h 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47" h="47">
                  <a:moveTo>
                    <a:pt x="20" y="47"/>
                  </a:moveTo>
                  <a:lnTo>
                    <a:pt x="26" y="47"/>
                  </a:lnTo>
                  <a:lnTo>
                    <a:pt x="29" y="47"/>
                  </a:lnTo>
                  <a:lnTo>
                    <a:pt x="32" y="44"/>
                  </a:lnTo>
                  <a:lnTo>
                    <a:pt x="35" y="44"/>
                  </a:lnTo>
                  <a:lnTo>
                    <a:pt x="38" y="41"/>
                  </a:lnTo>
                  <a:lnTo>
                    <a:pt x="41" y="39"/>
                  </a:lnTo>
                  <a:lnTo>
                    <a:pt x="44" y="36"/>
                  </a:lnTo>
                  <a:lnTo>
                    <a:pt x="44" y="33"/>
                  </a:lnTo>
                  <a:lnTo>
                    <a:pt x="47" y="27"/>
                  </a:lnTo>
                  <a:lnTo>
                    <a:pt x="47" y="24"/>
                  </a:lnTo>
                  <a:lnTo>
                    <a:pt x="47" y="21"/>
                  </a:lnTo>
                  <a:lnTo>
                    <a:pt x="44" y="15"/>
                  </a:lnTo>
                  <a:lnTo>
                    <a:pt x="44" y="12"/>
                  </a:lnTo>
                  <a:lnTo>
                    <a:pt x="41" y="9"/>
                  </a:lnTo>
                  <a:lnTo>
                    <a:pt x="38" y="6"/>
                  </a:lnTo>
                  <a:lnTo>
                    <a:pt x="35" y="3"/>
                  </a:lnTo>
                  <a:lnTo>
                    <a:pt x="32" y="3"/>
                  </a:lnTo>
                  <a:lnTo>
                    <a:pt x="29" y="0"/>
                  </a:lnTo>
                  <a:lnTo>
                    <a:pt x="26" y="0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15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21"/>
                  </a:lnTo>
                  <a:lnTo>
                    <a:pt x="0" y="24"/>
                  </a:lnTo>
                  <a:lnTo>
                    <a:pt x="0" y="27"/>
                  </a:lnTo>
                  <a:lnTo>
                    <a:pt x="0" y="33"/>
                  </a:lnTo>
                  <a:lnTo>
                    <a:pt x="3" y="36"/>
                  </a:lnTo>
                  <a:lnTo>
                    <a:pt x="3" y="39"/>
                  </a:lnTo>
                  <a:lnTo>
                    <a:pt x="6" y="41"/>
                  </a:lnTo>
                  <a:lnTo>
                    <a:pt x="9" y="44"/>
                  </a:lnTo>
                  <a:lnTo>
                    <a:pt x="12" y="44"/>
                  </a:lnTo>
                  <a:lnTo>
                    <a:pt x="15" y="47"/>
                  </a:lnTo>
                  <a:lnTo>
                    <a:pt x="20" y="47"/>
                  </a:lnTo>
                  <a:lnTo>
                    <a:pt x="23" y="47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" name="Line 80"/>
            <p:cNvSpPr>
              <a:spLocks noChangeShapeType="1"/>
            </p:cNvSpPr>
            <p:nvPr/>
          </p:nvSpPr>
          <p:spPr bwMode="auto">
            <a:xfrm flipV="1">
              <a:off x="1875" y="922"/>
              <a:ext cx="1" cy="819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Line 81"/>
            <p:cNvSpPr>
              <a:spLocks noChangeShapeType="1"/>
            </p:cNvSpPr>
            <p:nvPr/>
          </p:nvSpPr>
          <p:spPr bwMode="auto">
            <a:xfrm flipV="1">
              <a:off x="1940" y="1060"/>
              <a:ext cx="1" cy="686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Line 82"/>
            <p:cNvSpPr>
              <a:spLocks noChangeShapeType="1"/>
            </p:cNvSpPr>
            <p:nvPr/>
          </p:nvSpPr>
          <p:spPr bwMode="auto">
            <a:xfrm flipV="1">
              <a:off x="2002" y="1207"/>
              <a:ext cx="3" cy="539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Line 83"/>
            <p:cNvSpPr>
              <a:spLocks noChangeShapeType="1"/>
            </p:cNvSpPr>
            <p:nvPr/>
          </p:nvSpPr>
          <p:spPr bwMode="auto">
            <a:xfrm flipV="1">
              <a:off x="2055" y="1363"/>
              <a:ext cx="1" cy="38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84"/>
            <p:cNvSpPr>
              <a:spLocks noChangeShapeType="1"/>
            </p:cNvSpPr>
            <p:nvPr/>
          </p:nvSpPr>
          <p:spPr bwMode="auto">
            <a:xfrm flipV="1">
              <a:off x="2113" y="1504"/>
              <a:ext cx="1" cy="24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Line 85"/>
            <p:cNvSpPr>
              <a:spLocks noChangeShapeType="1"/>
            </p:cNvSpPr>
            <p:nvPr/>
          </p:nvSpPr>
          <p:spPr bwMode="auto">
            <a:xfrm flipV="1">
              <a:off x="2175" y="1653"/>
              <a:ext cx="3" cy="9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86"/>
            <p:cNvSpPr>
              <a:spLocks noChangeArrowheads="1"/>
            </p:cNvSpPr>
            <p:nvPr/>
          </p:nvSpPr>
          <p:spPr bwMode="auto">
            <a:xfrm>
              <a:off x="2163" y="1640"/>
              <a:ext cx="30" cy="29"/>
            </a:xfrm>
            <a:custGeom>
              <a:avLst/>
              <a:gdLst>
                <a:gd name="T0" fmla="*/ 15 w 30"/>
                <a:gd name="T1" fmla="*/ 29 h 29"/>
                <a:gd name="T2" fmla="*/ 18 w 30"/>
                <a:gd name="T3" fmla="*/ 29 h 29"/>
                <a:gd name="T4" fmla="*/ 21 w 30"/>
                <a:gd name="T5" fmla="*/ 29 h 29"/>
                <a:gd name="T6" fmla="*/ 24 w 30"/>
                <a:gd name="T7" fmla="*/ 26 h 29"/>
                <a:gd name="T8" fmla="*/ 24 w 30"/>
                <a:gd name="T9" fmla="*/ 26 h 29"/>
                <a:gd name="T10" fmla="*/ 27 w 30"/>
                <a:gd name="T11" fmla="*/ 26 h 29"/>
                <a:gd name="T12" fmla="*/ 27 w 30"/>
                <a:gd name="T13" fmla="*/ 23 h 29"/>
                <a:gd name="T14" fmla="*/ 30 w 30"/>
                <a:gd name="T15" fmla="*/ 20 h 29"/>
                <a:gd name="T16" fmla="*/ 30 w 30"/>
                <a:gd name="T17" fmla="*/ 20 h 29"/>
                <a:gd name="T18" fmla="*/ 30 w 30"/>
                <a:gd name="T19" fmla="*/ 17 h 29"/>
                <a:gd name="T20" fmla="*/ 30 w 30"/>
                <a:gd name="T21" fmla="*/ 14 h 29"/>
                <a:gd name="T22" fmla="*/ 30 w 30"/>
                <a:gd name="T23" fmla="*/ 11 h 29"/>
                <a:gd name="T24" fmla="*/ 30 w 30"/>
                <a:gd name="T25" fmla="*/ 11 h 29"/>
                <a:gd name="T26" fmla="*/ 30 w 30"/>
                <a:gd name="T27" fmla="*/ 9 h 29"/>
                <a:gd name="T28" fmla="*/ 27 w 30"/>
                <a:gd name="T29" fmla="*/ 6 h 29"/>
                <a:gd name="T30" fmla="*/ 27 w 30"/>
                <a:gd name="T31" fmla="*/ 6 h 29"/>
                <a:gd name="T32" fmla="*/ 24 w 30"/>
                <a:gd name="T33" fmla="*/ 3 h 29"/>
                <a:gd name="T34" fmla="*/ 24 w 30"/>
                <a:gd name="T35" fmla="*/ 3 h 29"/>
                <a:gd name="T36" fmla="*/ 21 w 30"/>
                <a:gd name="T37" fmla="*/ 0 h 29"/>
                <a:gd name="T38" fmla="*/ 18 w 30"/>
                <a:gd name="T39" fmla="*/ 0 h 29"/>
                <a:gd name="T40" fmla="*/ 15 w 30"/>
                <a:gd name="T41" fmla="*/ 0 h 29"/>
                <a:gd name="T42" fmla="*/ 15 w 30"/>
                <a:gd name="T43" fmla="*/ 0 h 29"/>
                <a:gd name="T44" fmla="*/ 12 w 30"/>
                <a:gd name="T45" fmla="*/ 0 h 29"/>
                <a:gd name="T46" fmla="*/ 9 w 30"/>
                <a:gd name="T47" fmla="*/ 3 h 29"/>
                <a:gd name="T48" fmla="*/ 9 w 30"/>
                <a:gd name="T49" fmla="*/ 3 h 29"/>
                <a:gd name="T50" fmla="*/ 6 w 30"/>
                <a:gd name="T51" fmla="*/ 6 h 29"/>
                <a:gd name="T52" fmla="*/ 3 w 30"/>
                <a:gd name="T53" fmla="*/ 6 h 29"/>
                <a:gd name="T54" fmla="*/ 3 w 30"/>
                <a:gd name="T55" fmla="*/ 9 h 29"/>
                <a:gd name="T56" fmla="*/ 3 w 30"/>
                <a:gd name="T57" fmla="*/ 11 h 29"/>
                <a:gd name="T58" fmla="*/ 3 w 30"/>
                <a:gd name="T59" fmla="*/ 11 h 29"/>
                <a:gd name="T60" fmla="*/ 0 w 30"/>
                <a:gd name="T61" fmla="*/ 14 h 29"/>
                <a:gd name="T62" fmla="*/ 3 w 30"/>
                <a:gd name="T63" fmla="*/ 17 h 29"/>
                <a:gd name="T64" fmla="*/ 3 w 30"/>
                <a:gd name="T65" fmla="*/ 20 h 29"/>
                <a:gd name="T66" fmla="*/ 3 w 30"/>
                <a:gd name="T67" fmla="*/ 20 h 29"/>
                <a:gd name="T68" fmla="*/ 3 w 30"/>
                <a:gd name="T69" fmla="*/ 23 h 29"/>
                <a:gd name="T70" fmla="*/ 6 w 30"/>
                <a:gd name="T71" fmla="*/ 26 h 29"/>
                <a:gd name="T72" fmla="*/ 9 w 30"/>
                <a:gd name="T73" fmla="*/ 26 h 29"/>
                <a:gd name="T74" fmla="*/ 9 w 30"/>
                <a:gd name="T75" fmla="*/ 26 h 29"/>
                <a:gd name="T76" fmla="*/ 12 w 30"/>
                <a:gd name="T77" fmla="*/ 29 h 29"/>
                <a:gd name="T78" fmla="*/ 15 w 30"/>
                <a:gd name="T79" fmla="*/ 29 h 29"/>
                <a:gd name="T80" fmla="*/ 15 w 30"/>
                <a:gd name="T81" fmla="*/ 29 h 29"/>
                <a:gd name="T82" fmla="*/ 15 w 30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9"/>
                <a:gd name="T128" fmla="*/ 30 w 30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9">
                  <a:moveTo>
                    <a:pt x="15" y="29"/>
                  </a:moveTo>
                  <a:lnTo>
                    <a:pt x="18" y="29"/>
                  </a:lnTo>
                  <a:lnTo>
                    <a:pt x="21" y="29"/>
                  </a:lnTo>
                  <a:lnTo>
                    <a:pt x="24" y="26"/>
                  </a:lnTo>
                  <a:lnTo>
                    <a:pt x="27" y="26"/>
                  </a:lnTo>
                  <a:lnTo>
                    <a:pt x="27" y="23"/>
                  </a:lnTo>
                  <a:lnTo>
                    <a:pt x="30" y="20"/>
                  </a:lnTo>
                  <a:lnTo>
                    <a:pt x="30" y="17"/>
                  </a:lnTo>
                  <a:lnTo>
                    <a:pt x="30" y="14"/>
                  </a:lnTo>
                  <a:lnTo>
                    <a:pt x="30" y="11"/>
                  </a:lnTo>
                  <a:lnTo>
                    <a:pt x="30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3"/>
                  </a:lnTo>
                  <a:lnTo>
                    <a:pt x="6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3" y="11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9"/>
                  </a:lnTo>
                  <a:lnTo>
                    <a:pt x="15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9" name="Freeform 87"/>
            <p:cNvSpPr>
              <a:spLocks noChangeArrowheads="1"/>
            </p:cNvSpPr>
            <p:nvPr/>
          </p:nvSpPr>
          <p:spPr bwMode="auto">
            <a:xfrm>
              <a:off x="2163" y="1640"/>
              <a:ext cx="30" cy="29"/>
            </a:xfrm>
            <a:custGeom>
              <a:avLst/>
              <a:gdLst>
                <a:gd name="T0" fmla="*/ 15 w 30"/>
                <a:gd name="T1" fmla="*/ 29 h 29"/>
                <a:gd name="T2" fmla="*/ 18 w 30"/>
                <a:gd name="T3" fmla="*/ 29 h 29"/>
                <a:gd name="T4" fmla="*/ 21 w 30"/>
                <a:gd name="T5" fmla="*/ 29 h 29"/>
                <a:gd name="T6" fmla="*/ 24 w 30"/>
                <a:gd name="T7" fmla="*/ 26 h 29"/>
                <a:gd name="T8" fmla="*/ 24 w 30"/>
                <a:gd name="T9" fmla="*/ 26 h 29"/>
                <a:gd name="T10" fmla="*/ 27 w 30"/>
                <a:gd name="T11" fmla="*/ 26 h 29"/>
                <a:gd name="T12" fmla="*/ 27 w 30"/>
                <a:gd name="T13" fmla="*/ 23 h 29"/>
                <a:gd name="T14" fmla="*/ 30 w 30"/>
                <a:gd name="T15" fmla="*/ 20 h 29"/>
                <a:gd name="T16" fmla="*/ 30 w 30"/>
                <a:gd name="T17" fmla="*/ 20 h 29"/>
                <a:gd name="T18" fmla="*/ 30 w 30"/>
                <a:gd name="T19" fmla="*/ 17 h 29"/>
                <a:gd name="T20" fmla="*/ 30 w 30"/>
                <a:gd name="T21" fmla="*/ 14 h 29"/>
                <a:gd name="T22" fmla="*/ 30 w 30"/>
                <a:gd name="T23" fmla="*/ 11 h 29"/>
                <a:gd name="T24" fmla="*/ 30 w 30"/>
                <a:gd name="T25" fmla="*/ 11 h 29"/>
                <a:gd name="T26" fmla="*/ 30 w 30"/>
                <a:gd name="T27" fmla="*/ 9 h 29"/>
                <a:gd name="T28" fmla="*/ 27 w 30"/>
                <a:gd name="T29" fmla="*/ 6 h 29"/>
                <a:gd name="T30" fmla="*/ 27 w 30"/>
                <a:gd name="T31" fmla="*/ 6 h 29"/>
                <a:gd name="T32" fmla="*/ 24 w 30"/>
                <a:gd name="T33" fmla="*/ 3 h 29"/>
                <a:gd name="T34" fmla="*/ 24 w 30"/>
                <a:gd name="T35" fmla="*/ 3 h 29"/>
                <a:gd name="T36" fmla="*/ 21 w 30"/>
                <a:gd name="T37" fmla="*/ 0 h 29"/>
                <a:gd name="T38" fmla="*/ 18 w 30"/>
                <a:gd name="T39" fmla="*/ 0 h 29"/>
                <a:gd name="T40" fmla="*/ 15 w 30"/>
                <a:gd name="T41" fmla="*/ 0 h 29"/>
                <a:gd name="T42" fmla="*/ 15 w 30"/>
                <a:gd name="T43" fmla="*/ 0 h 29"/>
                <a:gd name="T44" fmla="*/ 12 w 30"/>
                <a:gd name="T45" fmla="*/ 0 h 29"/>
                <a:gd name="T46" fmla="*/ 9 w 30"/>
                <a:gd name="T47" fmla="*/ 3 h 29"/>
                <a:gd name="T48" fmla="*/ 9 w 30"/>
                <a:gd name="T49" fmla="*/ 3 h 29"/>
                <a:gd name="T50" fmla="*/ 6 w 30"/>
                <a:gd name="T51" fmla="*/ 6 h 29"/>
                <a:gd name="T52" fmla="*/ 3 w 30"/>
                <a:gd name="T53" fmla="*/ 6 h 29"/>
                <a:gd name="T54" fmla="*/ 3 w 30"/>
                <a:gd name="T55" fmla="*/ 9 h 29"/>
                <a:gd name="T56" fmla="*/ 3 w 30"/>
                <a:gd name="T57" fmla="*/ 11 h 29"/>
                <a:gd name="T58" fmla="*/ 3 w 30"/>
                <a:gd name="T59" fmla="*/ 11 h 29"/>
                <a:gd name="T60" fmla="*/ 0 w 30"/>
                <a:gd name="T61" fmla="*/ 14 h 29"/>
                <a:gd name="T62" fmla="*/ 3 w 30"/>
                <a:gd name="T63" fmla="*/ 17 h 29"/>
                <a:gd name="T64" fmla="*/ 3 w 30"/>
                <a:gd name="T65" fmla="*/ 20 h 29"/>
                <a:gd name="T66" fmla="*/ 3 w 30"/>
                <a:gd name="T67" fmla="*/ 20 h 29"/>
                <a:gd name="T68" fmla="*/ 3 w 30"/>
                <a:gd name="T69" fmla="*/ 23 h 29"/>
                <a:gd name="T70" fmla="*/ 6 w 30"/>
                <a:gd name="T71" fmla="*/ 26 h 29"/>
                <a:gd name="T72" fmla="*/ 9 w 30"/>
                <a:gd name="T73" fmla="*/ 26 h 29"/>
                <a:gd name="T74" fmla="*/ 9 w 30"/>
                <a:gd name="T75" fmla="*/ 26 h 29"/>
                <a:gd name="T76" fmla="*/ 12 w 30"/>
                <a:gd name="T77" fmla="*/ 29 h 29"/>
                <a:gd name="T78" fmla="*/ 15 w 30"/>
                <a:gd name="T79" fmla="*/ 29 h 29"/>
                <a:gd name="T80" fmla="*/ 15 w 30"/>
                <a:gd name="T81" fmla="*/ 29 h 29"/>
                <a:gd name="T82" fmla="*/ 15 w 30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9"/>
                <a:gd name="T128" fmla="*/ 30 w 30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9">
                  <a:moveTo>
                    <a:pt x="15" y="29"/>
                  </a:moveTo>
                  <a:lnTo>
                    <a:pt x="18" y="29"/>
                  </a:lnTo>
                  <a:lnTo>
                    <a:pt x="21" y="29"/>
                  </a:lnTo>
                  <a:lnTo>
                    <a:pt x="24" y="26"/>
                  </a:lnTo>
                  <a:lnTo>
                    <a:pt x="27" y="26"/>
                  </a:lnTo>
                  <a:lnTo>
                    <a:pt x="27" y="23"/>
                  </a:lnTo>
                  <a:lnTo>
                    <a:pt x="30" y="20"/>
                  </a:lnTo>
                  <a:lnTo>
                    <a:pt x="30" y="17"/>
                  </a:lnTo>
                  <a:lnTo>
                    <a:pt x="30" y="14"/>
                  </a:lnTo>
                  <a:lnTo>
                    <a:pt x="30" y="11"/>
                  </a:lnTo>
                  <a:lnTo>
                    <a:pt x="30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3"/>
                  </a:lnTo>
                  <a:lnTo>
                    <a:pt x="6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3" y="11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9"/>
                  </a:lnTo>
                  <a:lnTo>
                    <a:pt x="15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0" name="Freeform 88"/>
            <p:cNvSpPr>
              <a:spLocks noChangeArrowheads="1"/>
            </p:cNvSpPr>
            <p:nvPr/>
          </p:nvSpPr>
          <p:spPr bwMode="auto">
            <a:xfrm>
              <a:off x="2102" y="1496"/>
              <a:ext cx="29" cy="26"/>
            </a:xfrm>
            <a:custGeom>
              <a:avLst/>
              <a:gdLst>
                <a:gd name="T0" fmla="*/ 11 w 29"/>
                <a:gd name="T1" fmla="*/ 26 h 26"/>
                <a:gd name="T2" fmla="*/ 14 w 29"/>
                <a:gd name="T3" fmla="*/ 26 h 26"/>
                <a:gd name="T4" fmla="*/ 17 w 29"/>
                <a:gd name="T5" fmla="*/ 26 h 26"/>
                <a:gd name="T6" fmla="*/ 20 w 29"/>
                <a:gd name="T7" fmla="*/ 26 h 26"/>
                <a:gd name="T8" fmla="*/ 23 w 29"/>
                <a:gd name="T9" fmla="*/ 26 h 26"/>
                <a:gd name="T10" fmla="*/ 23 w 29"/>
                <a:gd name="T11" fmla="*/ 23 h 26"/>
                <a:gd name="T12" fmla="*/ 26 w 29"/>
                <a:gd name="T13" fmla="*/ 20 h 26"/>
                <a:gd name="T14" fmla="*/ 26 w 29"/>
                <a:gd name="T15" fmla="*/ 20 h 26"/>
                <a:gd name="T16" fmla="*/ 26 w 29"/>
                <a:gd name="T17" fmla="*/ 17 h 26"/>
                <a:gd name="T18" fmla="*/ 29 w 29"/>
                <a:gd name="T19" fmla="*/ 15 h 26"/>
                <a:gd name="T20" fmla="*/ 29 w 29"/>
                <a:gd name="T21" fmla="*/ 15 h 26"/>
                <a:gd name="T22" fmla="*/ 29 w 29"/>
                <a:gd name="T23" fmla="*/ 12 h 26"/>
                <a:gd name="T24" fmla="*/ 26 w 29"/>
                <a:gd name="T25" fmla="*/ 9 h 26"/>
                <a:gd name="T26" fmla="*/ 26 w 29"/>
                <a:gd name="T27" fmla="*/ 6 h 26"/>
                <a:gd name="T28" fmla="*/ 26 w 29"/>
                <a:gd name="T29" fmla="*/ 6 h 26"/>
                <a:gd name="T30" fmla="*/ 23 w 29"/>
                <a:gd name="T31" fmla="*/ 3 h 26"/>
                <a:gd name="T32" fmla="*/ 23 w 29"/>
                <a:gd name="T33" fmla="*/ 3 h 26"/>
                <a:gd name="T34" fmla="*/ 20 w 29"/>
                <a:gd name="T35" fmla="*/ 0 h 26"/>
                <a:gd name="T36" fmla="*/ 17 w 29"/>
                <a:gd name="T37" fmla="*/ 0 h 26"/>
                <a:gd name="T38" fmla="*/ 14 w 29"/>
                <a:gd name="T39" fmla="*/ 0 h 26"/>
                <a:gd name="T40" fmla="*/ 14 w 29"/>
                <a:gd name="T41" fmla="*/ 0 h 26"/>
                <a:gd name="T42" fmla="*/ 11 w 29"/>
                <a:gd name="T43" fmla="*/ 0 h 26"/>
                <a:gd name="T44" fmla="*/ 8 w 29"/>
                <a:gd name="T45" fmla="*/ 0 h 26"/>
                <a:gd name="T46" fmla="*/ 5 w 29"/>
                <a:gd name="T47" fmla="*/ 0 h 26"/>
                <a:gd name="T48" fmla="*/ 5 w 29"/>
                <a:gd name="T49" fmla="*/ 3 h 26"/>
                <a:gd name="T50" fmla="*/ 3 w 29"/>
                <a:gd name="T51" fmla="*/ 3 h 26"/>
                <a:gd name="T52" fmla="*/ 3 w 29"/>
                <a:gd name="T53" fmla="*/ 6 h 26"/>
                <a:gd name="T54" fmla="*/ 0 w 29"/>
                <a:gd name="T55" fmla="*/ 6 h 26"/>
                <a:gd name="T56" fmla="*/ 0 w 29"/>
                <a:gd name="T57" fmla="*/ 9 h 26"/>
                <a:gd name="T58" fmla="*/ 0 w 29"/>
                <a:gd name="T59" fmla="*/ 12 h 26"/>
                <a:gd name="T60" fmla="*/ 0 w 29"/>
                <a:gd name="T61" fmla="*/ 15 h 26"/>
                <a:gd name="T62" fmla="*/ 0 w 29"/>
                <a:gd name="T63" fmla="*/ 15 h 26"/>
                <a:gd name="T64" fmla="*/ 0 w 29"/>
                <a:gd name="T65" fmla="*/ 17 h 26"/>
                <a:gd name="T66" fmla="*/ 0 w 29"/>
                <a:gd name="T67" fmla="*/ 20 h 26"/>
                <a:gd name="T68" fmla="*/ 3 w 29"/>
                <a:gd name="T69" fmla="*/ 20 h 26"/>
                <a:gd name="T70" fmla="*/ 3 w 29"/>
                <a:gd name="T71" fmla="*/ 23 h 26"/>
                <a:gd name="T72" fmla="*/ 5 w 29"/>
                <a:gd name="T73" fmla="*/ 26 h 26"/>
                <a:gd name="T74" fmla="*/ 5 w 29"/>
                <a:gd name="T75" fmla="*/ 26 h 26"/>
                <a:gd name="T76" fmla="*/ 8 w 29"/>
                <a:gd name="T77" fmla="*/ 26 h 26"/>
                <a:gd name="T78" fmla="*/ 11 w 29"/>
                <a:gd name="T79" fmla="*/ 26 h 26"/>
                <a:gd name="T80" fmla="*/ 14 w 29"/>
                <a:gd name="T81" fmla="*/ 26 h 26"/>
                <a:gd name="T82" fmla="*/ 14 w 29"/>
                <a:gd name="T83" fmla="*/ 26 h 26"/>
                <a:gd name="T84" fmla="*/ 11 w 29"/>
                <a:gd name="T85" fmla="*/ 26 h 2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26"/>
                <a:gd name="T131" fmla="*/ 29 w 29"/>
                <a:gd name="T132" fmla="*/ 26 h 2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26">
                  <a:moveTo>
                    <a:pt x="11" y="26"/>
                  </a:moveTo>
                  <a:lnTo>
                    <a:pt x="14" y="26"/>
                  </a:lnTo>
                  <a:lnTo>
                    <a:pt x="17" y="26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3" y="23"/>
                  </a:lnTo>
                  <a:lnTo>
                    <a:pt x="26" y="20"/>
                  </a:lnTo>
                  <a:lnTo>
                    <a:pt x="26" y="17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11" y="26"/>
                  </a:lnTo>
                  <a:lnTo>
                    <a:pt x="14" y="26"/>
                  </a:lnTo>
                  <a:lnTo>
                    <a:pt x="11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1" name="Freeform 89"/>
            <p:cNvSpPr>
              <a:spLocks noChangeArrowheads="1"/>
            </p:cNvSpPr>
            <p:nvPr/>
          </p:nvSpPr>
          <p:spPr bwMode="auto">
            <a:xfrm>
              <a:off x="2102" y="1496"/>
              <a:ext cx="29" cy="26"/>
            </a:xfrm>
            <a:custGeom>
              <a:avLst/>
              <a:gdLst>
                <a:gd name="T0" fmla="*/ 11 w 29"/>
                <a:gd name="T1" fmla="*/ 26 h 26"/>
                <a:gd name="T2" fmla="*/ 14 w 29"/>
                <a:gd name="T3" fmla="*/ 26 h 26"/>
                <a:gd name="T4" fmla="*/ 17 w 29"/>
                <a:gd name="T5" fmla="*/ 26 h 26"/>
                <a:gd name="T6" fmla="*/ 20 w 29"/>
                <a:gd name="T7" fmla="*/ 26 h 26"/>
                <a:gd name="T8" fmla="*/ 23 w 29"/>
                <a:gd name="T9" fmla="*/ 26 h 26"/>
                <a:gd name="T10" fmla="*/ 23 w 29"/>
                <a:gd name="T11" fmla="*/ 23 h 26"/>
                <a:gd name="T12" fmla="*/ 26 w 29"/>
                <a:gd name="T13" fmla="*/ 20 h 26"/>
                <a:gd name="T14" fmla="*/ 26 w 29"/>
                <a:gd name="T15" fmla="*/ 20 h 26"/>
                <a:gd name="T16" fmla="*/ 26 w 29"/>
                <a:gd name="T17" fmla="*/ 17 h 26"/>
                <a:gd name="T18" fmla="*/ 29 w 29"/>
                <a:gd name="T19" fmla="*/ 15 h 26"/>
                <a:gd name="T20" fmla="*/ 29 w 29"/>
                <a:gd name="T21" fmla="*/ 15 h 26"/>
                <a:gd name="T22" fmla="*/ 29 w 29"/>
                <a:gd name="T23" fmla="*/ 12 h 26"/>
                <a:gd name="T24" fmla="*/ 26 w 29"/>
                <a:gd name="T25" fmla="*/ 9 h 26"/>
                <a:gd name="T26" fmla="*/ 26 w 29"/>
                <a:gd name="T27" fmla="*/ 6 h 26"/>
                <a:gd name="T28" fmla="*/ 26 w 29"/>
                <a:gd name="T29" fmla="*/ 6 h 26"/>
                <a:gd name="T30" fmla="*/ 23 w 29"/>
                <a:gd name="T31" fmla="*/ 3 h 26"/>
                <a:gd name="T32" fmla="*/ 23 w 29"/>
                <a:gd name="T33" fmla="*/ 3 h 26"/>
                <a:gd name="T34" fmla="*/ 20 w 29"/>
                <a:gd name="T35" fmla="*/ 0 h 26"/>
                <a:gd name="T36" fmla="*/ 17 w 29"/>
                <a:gd name="T37" fmla="*/ 0 h 26"/>
                <a:gd name="T38" fmla="*/ 14 w 29"/>
                <a:gd name="T39" fmla="*/ 0 h 26"/>
                <a:gd name="T40" fmla="*/ 14 w 29"/>
                <a:gd name="T41" fmla="*/ 0 h 26"/>
                <a:gd name="T42" fmla="*/ 11 w 29"/>
                <a:gd name="T43" fmla="*/ 0 h 26"/>
                <a:gd name="T44" fmla="*/ 8 w 29"/>
                <a:gd name="T45" fmla="*/ 0 h 26"/>
                <a:gd name="T46" fmla="*/ 5 w 29"/>
                <a:gd name="T47" fmla="*/ 0 h 26"/>
                <a:gd name="T48" fmla="*/ 5 w 29"/>
                <a:gd name="T49" fmla="*/ 3 h 26"/>
                <a:gd name="T50" fmla="*/ 3 w 29"/>
                <a:gd name="T51" fmla="*/ 3 h 26"/>
                <a:gd name="T52" fmla="*/ 3 w 29"/>
                <a:gd name="T53" fmla="*/ 6 h 26"/>
                <a:gd name="T54" fmla="*/ 0 w 29"/>
                <a:gd name="T55" fmla="*/ 6 h 26"/>
                <a:gd name="T56" fmla="*/ 0 w 29"/>
                <a:gd name="T57" fmla="*/ 9 h 26"/>
                <a:gd name="T58" fmla="*/ 0 w 29"/>
                <a:gd name="T59" fmla="*/ 12 h 26"/>
                <a:gd name="T60" fmla="*/ 0 w 29"/>
                <a:gd name="T61" fmla="*/ 15 h 26"/>
                <a:gd name="T62" fmla="*/ 0 w 29"/>
                <a:gd name="T63" fmla="*/ 15 h 26"/>
                <a:gd name="T64" fmla="*/ 0 w 29"/>
                <a:gd name="T65" fmla="*/ 17 h 26"/>
                <a:gd name="T66" fmla="*/ 0 w 29"/>
                <a:gd name="T67" fmla="*/ 20 h 26"/>
                <a:gd name="T68" fmla="*/ 3 w 29"/>
                <a:gd name="T69" fmla="*/ 20 h 26"/>
                <a:gd name="T70" fmla="*/ 3 w 29"/>
                <a:gd name="T71" fmla="*/ 23 h 26"/>
                <a:gd name="T72" fmla="*/ 5 w 29"/>
                <a:gd name="T73" fmla="*/ 26 h 26"/>
                <a:gd name="T74" fmla="*/ 5 w 29"/>
                <a:gd name="T75" fmla="*/ 26 h 26"/>
                <a:gd name="T76" fmla="*/ 8 w 29"/>
                <a:gd name="T77" fmla="*/ 26 h 26"/>
                <a:gd name="T78" fmla="*/ 11 w 29"/>
                <a:gd name="T79" fmla="*/ 26 h 26"/>
                <a:gd name="T80" fmla="*/ 14 w 29"/>
                <a:gd name="T81" fmla="*/ 26 h 26"/>
                <a:gd name="T82" fmla="*/ 14 w 29"/>
                <a:gd name="T83" fmla="*/ 26 h 2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6"/>
                <a:gd name="T128" fmla="*/ 29 w 29"/>
                <a:gd name="T129" fmla="*/ 26 h 2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6">
                  <a:moveTo>
                    <a:pt x="11" y="26"/>
                  </a:moveTo>
                  <a:lnTo>
                    <a:pt x="14" y="26"/>
                  </a:lnTo>
                  <a:lnTo>
                    <a:pt x="17" y="26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3" y="23"/>
                  </a:lnTo>
                  <a:lnTo>
                    <a:pt x="26" y="20"/>
                  </a:lnTo>
                  <a:lnTo>
                    <a:pt x="26" y="17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5" y="0"/>
                  </a:lnTo>
                  <a:lnTo>
                    <a:pt x="5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5" y="26"/>
                  </a:lnTo>
                  <a:lnTo>
                    <a:pt x="8" y="26"/>
                  </a:lnTo>
                  <a:lnTo>
                    <a:pt x="11" y="26"/>
                  </a:lnTo>
                  <a:lnTo>
                    <a:pt x="14" y="26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2" name="Freeform 90"/>
            <p:cNvSpPr>
              <a:spLocks noChangeArrowheads="1"/>
            </p:cNvSpPr>
            <p:nvPr/>
          </p:nvSpPr>
          <p:spPr bwMode="auto">
            <a:xfrm>
              <a:off x="2040" y="1343"/>
              <a:ext cx="29" cy="30"/>
            </a:xfrm>
            <a:custGeom>
              <a:avLst/>
              <a:gdLst>
                <a:gd name="T0" fmla="*/ 15 w 29"/>
                <a:gd name="T1" fmla="*/ 30 h 30"/>
                <a:gd name="T2" fmla="*/ 18 w 29"/>
                <a:gd name="T3" fmla="*/ 30 h 30"/>
                <a:gd name="T4" fmla="*/ 20 w 29"/>
                <a:gd name="T5" fmla="*/ 30 h 30"/>
                <a:gd name="T6" fmla="*/ 20 w 29"/>
                <a:gd name="T7" fmla="*/ 30 h 30"/>
                <a:gd name="T8" fmla="*/ 23 w 29"/>
                <a:gd name="T9" fmla="*/ 27 h 30"/>
                <a:gd name="T10" fmla="*/ 26 w 29"/>
                <a:gd name="T11" fmla="*/ 27 h 30"/>
                <a:gd name="T12" fmla="*/ 26 w 29"/>
                <a:gd name="T13" fmla="*/ 24 h 30"/>
                <a:gd name="T14" fmla="*/ 29 w 29"/>
                <a:gd name="T15" fmla="*/ 24 h 30"/>
                <a:gd name="T16" fmla="*/ 29 w 29"/>
                <a:gd name="T17" fmla="*/ 21 h 30"/>
                <a:gd name="T18" fmla="*/ 29 w 29"/>
                <a:gd name="T19" fmla="*/ 18 h 30"/>
                <a:gd name="T20" fmla="*/ 29 w 29"/>
                <a:gd name="T21" fmla="*/ 15 h 30"/>
                <a:gd name="T22" fmla="*/ 29 w 29"/>
                <a:gd name="T23" fmla="*/ 15 h 30"/>
                <a:gd name="T24" fmla="*/ 29 w 29"/>
                <a:gd name="T25" fmla="*/ 12 h 30"/>
                <a:gd name="T26" fmla="*/ 29 w 29"/>
                <a:gd name="T27" fmla="*/ 9 h 30"/>
                <a:gd name="T28" fmla="*/ 26 w 29"/>
                <a:gd name="T29" fmla="*/ 6 h 30"/>
                <a:gd name="T30" fmla="*/ 26 w 29"/>
                <a:gd name="T31" fmla="*/ 6 h 30"/>
                <a:gd name="T32" fmla="*/ 23 w 29"/>
                <a:gd name="T33" fmla="*/ 3 h 30"/>
                <a:gd name="T34" fmla="*/ 20 w 29"/>
                <a:gd name="T35" fmla="*/ 3 h 30"/>
                <a:gd name="T36" fmla="*/ 20 w 29"/>
                <a:gd name="T37" fmla="*/ 3 h 30"/>
                <a:gd name="T38" fmla="*/ 18 w 29"/>
                <a:gd name="T39" fmla="*/ 3 h 30"/>
                <a:gd name="T40" fmla="*/ 15 w 29"/>
                <a:gd name="T41" fmla="*/ 0 h 30"/>
                <a:gd name="T42" fmla="*/ 12 w 29"/>
                <a:gd name="T43" fmla="*/ 3 h 30"/>
                <a:gd name="T44" fmla="*/ 12 w 29"/>
                <a:gd name="T45" fmla="*/ 3 h 30"/>
                <a:gd name="T46" fmla="*/ 9 w 29"/>
                <a:gd name="T47" fmla="*/ 3 h 30"/>
                <a:gd name="T48" fmla="*/ 6 w 29"/>
                <a:gd name="T49" fmla="*/ 3 h 30"/>
                <a:gd name="T50" fmla="*/ 6 w 29"/>
                <a:gd name="T51" fmla="*/ 6 h 30"/>
                <a:gd name="T52" fmla="*/ 3 w 29"/>
                <a:gd name="T53" fmla="*/ 6 h 30"/>
                <a:gd name="T54" fmla="*/ 3 w 29"/>
                <a:gd name="T55" fmla="*/ 9 h 30"/>
                <a:gd name="T56" fmla="*/ 3 w 29"/>
                <a:gd name="T57" fmla="*/ 12 h 30"/>
                <a:gd name="T58" fmla="*/ 0 w 29"/>
                <a:gd name="T59" fmla="*/ 15 h 30"/>
                <a:gd name="T60" fmla="*/ 0 w 29"/>
                <a:gd name="T61" fmla="*/ 15 h 30"/>
                <a:gd name="T62" fmla="*/ 0 w 29"/>
                <a:gd name="T63" fmla="*/ 18 h 30"/>
                <a:gd name="T64" fmla="*/ 3 w 29"/>
                <a:gd name="T65" fmla="*/ 21 h 30"/>
                <a:gd name="T66" fmla="*/ 3 w 29"/>
                <a:gd name="T67" fmla="*/ 24 h 30"/>
                <a:gd name="T68" fmla="*/ 3 w 29"/>
                <a:gd name="T69" fmla="*/ 24 h 30"/>
                <a:gd name="T70" fmla="*/ 6 w 29"/>
                <a:gd name="T71" fmla="*/ 27 h 30"/>
                <a:gd name="T72" fmla="*/ 6 w 29"/>
                <a:gd name="T73" fmla="*/ 27 h 30"/>
                <a:gd name="T74" fmla="*/ 9 w 29"/>
                <a:gd name="T75" fmla="*/ 30 h 30"/>
                <a:gd name="T76" fmla="*/ 12 w 29"/>
                <a:gd name="T77" fmla="*/ 30 h 30"/>
                <a:gd name="T78" fmla="*/ 12 w 29"/>
                <a:gd name="T79" fmla="*/ 30 h 30"/>
                <a:gd name="T80" fmla="*/ 15 w 29"/>
                <a:gd name="T81" fmla="*/ 30 h 30"/>
                <a:gd name="T82" fmla="*/ 15 w 29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30"/>
                <a:gd name="T128" fmla="*/ 29 w 29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30">
                  <a:moveTo>
                    <a:pt x="15" y="30"/>
                  </a:moveTo>
                  <a:lnTo>
                    <a:pt x="18" y="30"/>
                  </a:lnTo>
                  <a:lnTo>
                    <a:pt x="20" y="30"/>
                  </a:lnTo>
                  <a:lnTo>
                    <a:pt x="23" y="27"/>
                  </a:lnTo>
                  <a:lnTo>
                    <a:pt x="26" y="27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0" y="3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1"/>
                  </a:lnTo>
                  <a:lnTo>
                    <a:pt x="3" y="24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2" y="30"/>
                  </a:lnTo>
                  <a:lnTo>
                    <a:pt x="15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" name="Freeform 91"/>
            <p:cNvSpPr>
              <a:spLocks noChangeArrowheads="1"/>
            </p:cNvSpPr>
            <p:nvPr/>
          </p:nvSpPr>
          <p:spPr bwMode="auto">
            <a:xfrm>
              <a:off x="2040" y="1343"/>
              <a:ext cx="29" cy="30"/>
            </a:xfrm>
            <a:custGeom>
              <a:avLst/>
              <a:gdLst>
                <a:gd name="T0" fmla="*/ 15 w 29"/>
                <a:gd name="T1" fmla="*/ 30 h 30"/>
                <a:gd name="T2" fmla="*/ 18 w 29"/>
                <a:gd name="T3" fmla="*/ 30 h 30"/>
                <a:gd name="T4" fmla="*/ 20 w 29"/>
                <a:gd name="T5" fmla="*/ 30 h 30"/>
                <a:gd name="T6" fmla="*/ 20 w 29"/>
                <a:gd name="T7" fmla="*/ 30 h 30"/>
                <a:gd name="T8" fmla="*/ 23 w 29"/>
                <a:gd name="T9" fmla="*/ 27 h 30"/>
                <a:gd name="T10" fmla="*/ 26 w 29"/>
                <a:gd name="T11" fmla="*/ 27 h 30"/>
                <a:gd name="T12" fmla="*/ 26 w 29"/>
                <a:gd name="T13" fmla="*/ 24 h 30"/>
                <a:gd name="T14" fmla="*/ 29 w 29"/>
                <a:gd name="T15" fmla="*/ 24 h 30"/>
                <a:gd name="T16" fmla="*/ 29 w 29"/>
                <a:gd name="T17" fmla="*/ 21 h 30"/>
                <a:gd name="T18" fmla="*/ 29 w 29"/>
                <a:gd name="T19" fmla="*/ 18 h 30"/>
                <a:gd name="T20" fmla="*/ 29 w 29"/>
                <a:gd name="T21" fmla="*/ 15 h 30"/>
                <a:gd name="T22" fmla="*/ 29 w 29"/>
                <a:gd name="T23" fmla="*/ 15 h 30"/>
                <a:gd name="T24" fmla="*/ 29 w 29"/>
                <a:gd name="T25" fmla="*/ 12 h 30"/>
                <a:gd name="T26" fmla="*/ 29 w 29"/>
                <a:gd name="T27" fmla="*/ 9 h 30"/>
                <a:gd name="T28" fmla="*/ 26 w 29"/>
                <a:gd name="T29" fmla="*/ 6 h 30"/>
                <a:gd name="T30" fmla="*/ 26 w 29"/>
                <a:gd name="T31" fmla="*/ 6 h 30"/>
                <a:gd name="T32" fmla="*/ 23 w 29"/>
                <a:gd name="T33" fmla="*/ 3 h 30"/>
                <a:gd name="T34" fmla="*/ 20 w 29"/>
                <a:gd name="T35" fmla="*/ 3 h 30"/>
                <a:gd name="T36" fmla="*/ 20 w 29"/>
                <a:gd name="T37" fmla="*/ 3 h 30"/>
                <a:gd name="T38" fmla="*/ 18 w 29"/>
                <a:gd name="T39" fmla="*/ 3 h 30"/>
                <a:gd name="T40" fmla="*/ 15 w 29"/>
                <a:gd name="T41" fmla="*/ 0 h 30"/>
                <a:gd name="T42" fmla="*/ 12 w 29"/>
                <a:gd name="T43" fmla="*/ 3 h 30"/>
                <a:gd name="T44" fmla="*/ 12 w 29"/>
                <a:gd name="T45" fmla="*/ 3 h 30"/>
                <a:gd name="T46" fmla="*/ 9 w 29"/>
                <a:gd name="T47" fmla="*/ 3 h 30"/>
                <a:gd name="T48" fmla="*/ 6 w 29"/>
                <a:gd name="T49" fmla="*/ 3 h 30"/>
                <a:gd name="T50" fmla="*/ 6 w 29"/>
                <a:gd name="T51" fmla="*/ 6 h 30"/>
                <a:gd name="T52" fmla="*/ 3 w 29"/>
                <a:gd name="T53" fmla="*/ 6 h 30"/>
                <a:gd name="T54" fmla="*/ 3 w 29"/>
                <a:gd name="T55" fmla="*/ 9 h 30"/>
                <a:gd name="T56" fmla="*/ 3 w 29"/>
                <a:gd name="T57" fmla="*/ 12 h 30"/>
                <a:gd name="T58" fmla="*/ 0 w 29"/>
                <a:gd name="T59" fmla="*/ 15 h 30"/>
                <a:gd name="T60" fmla="*/ 0 w 29"/>
                <a:gd name="T61" fmla="*/ 15 h 30"/>
                <a:gd name="T62" fmla="*/ 0 w 29"/>
                <a:gd name="T63" fmla="*/ 18 h 30"/>
                <a:gd name="T64" fmla="*/ 3 w 29"/>
                <a:gd name="T65" fmla="*/ 21 h 30"/>
                <a:gd name="T66" fmla="*/ 3 w 29"/>
                <a:gd name="T67" fmla="*/ 24 h 30"/>
                <a:gd name="T68" fmla="*/ 3 w 29"/>
                <a:gd name="T69" fmla="*/ 24 h 30"/>
                <a:gd name="T70" fmla="*/ 6 w 29"/>
                <a:gd name="T71" fmla="*/ 27 h 30"/>
                <a:gd name="T72" fmla="*/ 6 w 29"/>
                <a:gd name="T73" fmla="*/ 27 h 30"/>
                <a:gd name="T74" fmla="*/ 9 w 29"/>
                <a:gd name="T75" fmla="*/ 30 h 30"/>
                <a:gd name="T76" fmla="*/ 12 w 29"/>
                <a:gd name="T77" fmla="*/ 30 h 30"/>
                <a:gd name="T78" fmla="*/ 12 w 29"/>
                <a:gd name="T79" fmla="*/ 30 h 30"/>
                <a:gd name="T80" fmla="*/ 15 w 29"/>
                <a:gd name="T81" fmla="*/ 30 h 30"/>
                <a:gd name="T82" fmla="*/ 15 w 29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30"/>
                <a:gd name="T128" fmla="*/ 29 w 29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30">
                  <a:moveTo>
                    <a:pt x="15" y="30"/>
                  </a:moveTo>
                  <a:lnTo>
                    <a:pt x="18" y="30"/>
                  </a:lnTo>
                  <a:lnTo>
                    <a:pt x="20" y="30"/>
                  </a:lnTo>
                  <a:lnTo>
                    <a:pt x="23" y="27"/>
                  </a:lnTo>
                  <a:lnTo>
                    <a:pt x="26" y="27"/>
                  </a:lnTo>
                  <a:lnTo>
                    <a:pt x="26" y="24"/>
                  </a:lnTo>
                  <a:lnTo>
                    <a:pt x="29" y="24"/>
                  </a:lnTo>
                  <a:lnTo>
                    <a:pt x="29" y="21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0" y="3"/>
                  </a:lnTo>
                  <a:lnTo>
                    <a:pt x="18" y="3"/>
                  </a:lnTo>
                  <a:lnTo>
                    <a:pt x="15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1"/>
                  </a:lnTo>
                  <a:lnTo>
                    <a:pt x="3" y="24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2" y="30"/>
                  </a:lnTo>
                  <a:lnTo>
                    <a:pt x="15" y="3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4" name="Freeform 92"/>
            <p:cNvSpPr>
              <a:spLocks noChangeArrowheads="1"/>
            </p:cNvSpPr>
            <p:nvPr/>
          </p:nvSpPr>
          <p:spPr bwMode="auto">
            <a:xfrm>
              <a:off x="1990" y="1193"/>
              <a:ext cx="26" cy="30"/>
            </a:xfrm>
            <a:custGeom>
              <a:avLst/>
              <a:gdLst>
                <a:gd name="T0" fmla="*/ 12 w 26"/>
                <a:gd name="T1" fmla="*/ 27 h 30"/>
                <a:gd name="T2" fmla="*/ 15 w 26"/>
                <a:gd name="T3" fmla="*/ 30 h 30"/>
                <a:gd name="T4" fmla="*/ 18 w 26"/>
                <a:gd name="T5" fmla="*/ 30 h 30"/>
                <a:gd name="T6" fmla="*/ 21 w 26"/>
                <a:gd name="T7" fmla="*/ 27 h 30"/>
                <a:gd name="T8" fmla="*/ 21 w 26"/>
                <a:gd name="T9" fmla="*/ 27 h 30"/>
                <a:gd name="T10" fmla="*/ 24 w 26"/>
                <a:gd name="T11" fmla="*/ 24 h 30"/>
                <a:gd name="T12" fmla="*/ 24 w 26"/>
                <a:gd name="T13" fmla="*/ 24 h 30"/>
                <a:gd name="T14" fmla="*/ 26 w 26"/>
                <a:gd name="T15" fmla="*/ 21 h 30"/>
                <a:gd name="T16" fmla="*/ 26 w 26"/>
                <a:gd name="T17" fmla="*/ 21 h 30"/>
                <a:gd name="T18" fmla="*/ 26 w 26"/>
                <a:gd name="T19" fmla="*/ 18 h 30"/>
                <a:gd name="T20" fmla="*/ 26 w 26"/>
                <a:gd name="T21" fmla="*/ 15 h 30"/>
                <a:gd name="T22" fmla="*/ 26 w 26"/>
                <a:gd name="T23" fmla="*/ 12 h 30"/>
                <a:gd name="T24" fmla="*/ 26 w 26"/>
                <a:gd name="T25" fmla="*/ 9 h 30"/>
                <a:gd name="T26" fmla="*/ 26 w 26"/>
                <a:gd name="T27" fmla="*/ 9 h 30"/>
                <a:gd name="T28" fmla="*/ 24 w 26"/>
                <a:gd name="T29" fmla="*/ 6 h 30"/>
                <a:gd name="T30" fmla="*/ 24 w 26"/>
                <a:gd name="T31" fmla="*/ 6 h 30"/>
                <a:gd name="T32" fmla="*/ 21 w 26"/>
                <a:gd name="T33" fmla="*/ 3 h 30"/>
                <a:gd name="T34" fmla="*/ 21 w 26"/>
                <a:gd name="T35" fmla="*/ 3 h 30"/>
                <a:gd name="T36" fmla="*/ 18 w 26"/>
                <a:gd name="T37" fmla="*/ 0 h 30"/>
                <a:gd name="T38" fmla="*/ 15 w 26"/>
                <a:gd name="T39" fmla="*/ 0 h 30"/>
                <a:gd name="T40" fmla="*/ 15 w 26"/>
                <a:gd name="T41" fmla="*/ 0 h 30"/>
                <a:gd name="T42" fmla="*/ 12 w 26"/>
                <a:gd name="T43" fmla="*/ 0 h 30"/>
                <a:gd name="T44" fmla="*/ 9 w 26"/>
                <a:gd name="T45" fmla="*/ 0 h 30"/>
                <a:gd name="T46" fmla="*/ 6 w 26"/>
                <a:gd name="T47" fmla="*/ 3 h 30"/>
                <a:gd name="T48" fmla="*/ 6 w 26"/>
                <a:gd name="T49" fmla="*/ 3 h 30"/>
                <a:gd name="T50" fmla="*/ 3 w 26"/>
                <a:gd name="T51" fmla="*/ 6 h 30"/>
                <a:gd name="T52" fmla="*/ 3 w 26"/>
                <a:gd name="T53" fmla="*/ 6 h 30"/>
                <a:gd name="T54" fmla="*/ 0 w 26"/>
                <a:gd name="T55" fmla="*/ 9 h 30"/>
                <a:gd name="T56" fmla="*/ 0 w 26"/>
                <a:gd name="T57" fmla="*/ 9 h 30"/>
                <a:gd name="T58" fmla="*/ 0 w 26"/>
                <a:gd name="T59" fmla="*/ 12 h 30"/>
                <a:gd name="T60" fmla="*/ 0 w 26"/>
                <a:gd name="T61" fmla="*/ 15 h 30"/>
                <a:gd name="T62" fmla="*/ 0 w 26"/>
                <a:gd name="T63" fmla="*/ 18 h 30"/>
                <a:gd name="T64" fmla="*/ 0 w 26"/>
                <a:gd name="T65" fmla="*/ 21 h 30"/>
                <a:gd name="T66" fmla="*/ 0 w 26"/>
                <a:gd name="T67" fmla="*/ 21 h 30"/>
                <a:gd name="T68" fmla="*/ 3 w 26"/>
                <a:gd name="T69" fmla="*/ 24 h 30"/>
                <a:gd name="T70" fmla="*/ 3 w 26"/>
                <a:gd name="T71" fmla="*/ 24 h 30"/>
                <a:gd name="T72" fmla="*/ 6 w 26"/>
                <a:gd name="T73" fmla="*/ 27 h 30"/>
                <a:gd name="T74" fmla="*/ 6 w 26"/>
                <a:gd name="T75" fmla="*/ 27 h 30"/>
                <a:gd name="T76" fmla="*/ 9 w 26"/>
                <a:gd name="T77" fmla="*/ 30 h 30"/>
                <a:gd name="T78" fmla="*/ 12 w 26"/>
                <a:gd name="T79" fmla="*/ 30 h 30"/>
                <a:gd name="T80" fmla="*/ 15 w 26"/>
                <a:gd name="T81" fmla="*/ 30 h 30"/>
                <a:gd name="T82" fmla="*/ 15 w 26"/>
                <a:gd name="T83" fmla="*/ 30 h 30"/>
                <a:gd name="T84" fmla="*/ 12 w 26"/>
                <a:gd name="T85" fmla="*/ 27 h 3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6"/>
                <a:gd name="T130" fmla="*/ 0 h 30"/>
                <a:gd name="T131" fmla="*/ 26 w 26"/>
                <a:gd name="T132" fmla="*/ 30 h 3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6" h="30">
                  <a:moveTo>
                    <a:pt x="12" y="27"/>
                  </a:moveTo>
                  <a:lnTo>
                    <a:pt x="15" y="30"/>
                  </a:lnTo>
                  <a:lnTo>
                    <a:pt x="18" y="30"/>
                  </a:lnTo>
                  <a:lnTo>
                    <a:pt x="21" y="27"/>
                  </a:lnTo>
                  <a:lnTo>
                    <a:pt x="24" y="24"/>
                  </a:lnTo>
                  <a:lnTo>
                    <a:pt x="26" y="21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4" y="6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3" y="24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2" y="30"/>
                  </a:lnTo>
                  <a:lnTo>
                    <a:pt x="15" y="30"/>
                  </a:lnTo>
                  <a:lnTo>
                    <a:pt x="12" y="2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5" name="Freeform 93"/>
            <p:cNvSpPr>
              <a:spLocks noChangeArrowheads="1"/>
            </p:cNvSpPr>
            <p:nvPr/>
          </p:nvSpPr>
          <p:spPr bwMode="auto">
            <a:xfrm>
              <a:off x="1990" y="1193"/>
              <a:ext cx="26" cy="30"/>
            </a:xfrm>
            <a:custGeom>
              <a:avLst/>
              <a:gdLst>
                <a:gd name="T0" fmla="*/ 12 w 26"/>
                <a:gd name="T1" fmla="*/ 27 h 30"/>
                <a:gd name="T2" fmla="*/ 15 w 26"/>
                <a:gd name="T3" fmla="*/ 30 h 30"/>
                <a:gd name="T4" fmla="*/ 18 w 26"/>
                <a:gd name="T5" fmla="*/ 30 h 30"/>
                <a:gd name="T6" fmla="*/ 21 w 26"/>
                <a:gd name="T7" fmla="*/ 27 h 30"/>
                <a:gd name="T8" fmla="*/ 21 w 26"/>
                <a:gd name="T9" fmla="*/ 27 h 30"/>
                <a:gd name="T10" fmla="*/ 24 w 26"/>
                <a:gd name="T11" fmla="*/ 24 h 30"/>
                <a:gd name="T12" fmla="*/ 24 w 26"/>
                <a:gd name="T13" fmla="*/ 24 h 30"/>
                <a:gd name="T14" fmla="*/ 26 w 26"/>
                <a:gd name="T15" fmla="*/ 21 h 30"/>
                <a:gd name="T16" fmla="*/ 26 w 26"/>
                <a:gd name="T17" fmla="*/ 21 h 30"/>
                <a:gd name="T18" fmla="*/ 26 w 26"/>
                <a:gd name="T19" fmla="*/ 18 h 30"/>
                <a:gd name="T20" fmla="*/ 26 w 26"/>
                <a:gd name="T21" fmla="*/ 15 h 30"/>
                <a:gd name="T22" fmla="*/ 26 w 26"/>
                <a:gd name="T23" fmla="*/ 12 h 30"/>
                <a:gd name="T24" fmla="*/ 26 w 26"/>
                <a:gd name="T25" fmla="*/ 9 h 30"/>
                <a:gd name="T26" fmla="*/ 26 w 26"/>
                <a:gd name="T27" fmla="*/ 9 h 30"/>
                <a:gd name="T28" fmla="*/ 24 w 26"/>
                <a:gd name="T29" fmla="*/ 6 h 30"/>
                <a:gd name="T30" fmla="*/ 24 w 26"/>
                <a:gd name="T31" fmla="*/ 6 h 30"/>
                <a:gd name="T32" fmla="*/ 21 w 26"/>
                <a:gd name="T33" fmla="*/ 3 h 30"/>
                <a:gd name="T34" fmla="*/ 21 w 26"/>
                <a:gd name="T35" fmla="*/ 3 h 30"/>
                <a:gd name="T36" fmla="*/ 18 w 26"/>
                <a:gd name="T37" fmla="*/ 0 h 30"/>
                <a:gd name="T38" fmla="*/ 15 w 26"/>
                <a:gd name="T39" fmla="*/ 0 h 30"/>
                <a:gd name="T40" fmla="*/ 15 w 26"/>
                <a:gd name="T41" fmla="*/ 0 h 30"/>
                <a:gd name="T42" fmla="*/ 12 w 26"/>
                <a:gd name="T43" fmla="*/ 0 h 30"/>
                <a:gd name="T44" fmla="*/ 9 w 26"/>
                <a:gd name="T45" fmla="*/ 0 h 30"/>
                <a:gd name="T46" fmla="*/ 6 w 26"/>
                <a:gd name="T47" fmla="*/ 3 h 30"/>
                <a:gd name="T48" fmla="*/ 6 w 26"/>
                <a:gd name="T49" fmla="*/ 3 h 30"/>
                <a:gd name="T50" fmla="*/ 3 w 26"/>
                <a:gd name="T51" fmla="*/ 6 h 30"/>
                <a:gd name="T52" fmla="*/ 3 w 26"/>
                <a:gd name="T53" fmla="*/ 6 h 30"/>
                <a:gd name="T54" fmla="*/ 0 w 26"/>
                <a:gd name="T55" fmla="*/ 9 h 30"/>
                <a:gd name="T56" fmla="*/ 0 w 26"/>
                <a:gd name="T57" fmla="*/ 9 h 30"/>
                <a:gd name="T58" fmla="*/ 0 w 26"/>
                <a:gd name="T59" fmla="*/ 12 h 30"/>
                <a:gd name="T60" fmla="*/ 0 w 26"/>
                <a:gd name="T61" fmla="*/ 15 h 30"/>
                <a:gd name="T62" fmla="*/ 0 w 26"/>
                <a:gd name="T63" fmla="*/ 18 h 30"/>
                <a:gd name="T64" fmla="*/ 0 w 26"/>
                <a:gd name="T65" fmla="*/ 21 h 30"/>
                <a:gd name="T66" fmla="*/ 0 w 26"/>
                <a:gd name="T67" fmla="*/ 21 h 30"/>
                <a:gd name="T68" fmla="*/ 3 w 26"/>
                <a:gd name="T69" fmla="*/ 24 h 30"/>
                <a:gd name="T70" fmla="*/ 3 w 26"/>
                <a:gd name="T71" fmla="*/ 24 h 30"/>
                <a:gd name="T72" fmla="*/ 6 w 26"/>
                <a:gd name="T73" fmla="*/ 27 h 30"/>
                <a:gd name="T74" fmla="*/ 6 w 26"/>
                <a:gd name="T75" fmla="*/ 27 h 30"/>
                <a:gd name="T76" fmla="*/ 9 w 26"/>
                <a:gd name="T77" fmla="*/ 30 h 30"/>
                <a:gd name="T78" fmla="*/ 12 w 26"/>
                <a:gd name="T79" fmla="*/ 30 h 30"/>
                <a:gd name="T80" fmla="*/ 15 w 26"/>
                <a:gd name="T81" fmla="*/ 30 h 30"/>
                <a:gd name="T82" fmla="*/ 15 w 26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30"/>
                <a:gd name="T128" fmla="*/ 26 w 26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30">
                  <a:moveTo>
                    <a:pt x="12" y="27"/>
                  </a:moveTo>
                  <a:lnTo>
                    <a:pt x="15" y="30"/>
                  </a:lnTo>
                  <a:lnTo>
                    <a:pt x="18" y="30"/>
                  </a:lnTo>
                  <a:lnTo>
                    <a:pt x="21" y="27"/>
                  </a:lnTo>
                  <a:lnTo>
                    <a:pt x="24" y="24"/>
                  </a:lnTo>
                  <a:lnTo>
                    <a:pt x="26" y="21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4" y="6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3" y="24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2" y="30"/>
                  </a:lnTo>
                  <a:lnTo>
                    <a:pt x="15" y="3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6" name="Freeform 94"/>
            <p:cNvSpPr>
              <a:spLocks noChangeArrowheads="1"/>
            </p:cNvSpPr>
            <p:nvPr/>
          </p:nvSpPr>
          <p:spPr bwMode="auto">
            <a:xfrm>
              <a:off x="1925" y="1041"/>
              <a:ext cx="30" cy="29"/>
            </a:xfrm>
            <a:custGeom>
              <a:avLst/>
              <a:gdLst>
                <a:gd name="T0" fmla="*/ 15 w 30"/>
                <a:gd name="T1" fmla="*/ 26 h 29"/>
                <a:gd name="T2" fmla="*/ 18 w 30"/>
                <a:gd name="T3" fmla="*/ 29 h 29"/>
                <a:gd name="T4" fmla="*/ 21 w 30"/>
                <a:gd name="T5" fmla="*/ 29 h 29"/>
                <a:gd name="T6" fmla="*/ 24 w 30"/>
                <a:gd name="T7" fmla="*/ 26 h 29"/>
                <a:gd name="T8" fmla="*/ 24 w 30"/>
                <a:gd name="T9" fmla="*/ 26 h 29"/>
                <a:gd name="T10" fmla="*/ 27 w 30"/>
                <a:gd name="T11" fmla="*/ 23 h 29"/>
                <a:gd name="T12" fmla="*/ 27 w 30"/>
                <a:gd name="T13" fmla="*/ 23 h 29"/>
                <a:gd name="T14" fmla="*/ 30 w 30"/>
                <a:gd name="T15" fmla="*/ 20 h 29"/>
                <a:gd name="T16" fmla="*/ 30 w 30"/>
                <a:gd name="T17" fmla="*/ 17 h 29"/>
                <a:gd name="T18" fmla="*/ 30 w 30"/>
                <a:gd name="T19" fmla="*/ 17 h 29"/>
                <a:gd name="T20" fmla="*/ 30 w 30"/>
                <a:gd name="T21" fmla="*/ 14 h 29"/>
                <a:gd name="T22" fmla="*/ 30 w 30"/>
                <a:gd name="T23" fmla="*/ 11 h 29"/>
                <a:gd name="T24" fmla="*/ 30 w 30"/>
                <a:gd name="T25" fmla="*/ 9 h 29"/>
                <a:gd name="T26" fmla="*/ 30 w 30"/>
                <a:gd name="T27" fmla="*/ 9 h 29"/>
                <a:gd name="T28" fmla="*/ 27 w 30"/>
                <a:gd name="T29" fmla="*/ 6 h 29"/>
                <a:gd name="T30" fmla="*/ 27 w 30"/>
                <a:gd name="T31" fmla="*/ 3 h 29"/>
                <a:gd name="T32" fmla="*/ 24 w 30"/>
                <a:gd name="T33" fmla="*/ 3 h 29"/>
                <a:gd name="T34" fmla="*/ 24 w 30"/>
                <a:gd name="T35" fmla="*/ 3 h 29"/>
                <a:gd name="T36" fmla="*/ 21 w 30"/>
                <a:gd name="T37" fmla="*/ 0 h 29"/>
                <a:gd name="T38" fmla="*/ 18 w 30"/>
                <a:gd name="T39" fmla="*/ 0 h 29"/>
                <a:gd name="T40" fmla="*/ 15 w 30"/>
                <a:gd name="T41" fmla="*/ 0 h 29"/>
                <a:gd name="T42" fmla="*/ 15 w 30"/>
                <a:gd name="T43" fmla="*/ 0 h 29"/>
                <a:gd name="T44" fmla="*/ 12 w 30"/>
                <a:gd name="T45" fmla="*/ 0 h 29"/>
                <a:gd name="T46" fmla="*/ 9 w 30"/>
                <a:gd name="T47" fmla="*/ 3 h 29"/>
                <a:gd name="T48" fmla="*/ 6 w 30"/>
                <a:gd name="T49" fmla="*/ 3 h 29"/>
                <a:gd name="T50" fmla="*/ 6 w 30"/>
                <a:gd name="T51" fmla="*/ 3 h 29"/>
                <a:gd name="T52" fmla="*/ 3 w 30"/>
                <a:gd name="T53" fmla="*/ 6 h 29"/>
                <a:gd name="T54" fmla="*/ 3 w 30"/>
                <a:gd name="T55" fmla="*/ 9 h 29"/>
                <a:gd name="T56" fmla="*/ 3 w 30"/>
                <a:gd name="T57" fmla="*/ 9 h 29"/>
                <a:gd name="T58" fmla="*/ 0 w 30"/>
                <a:gd name="T59" fmla="*/ 11 h 29"/>
                <a:gd name="T60" fmla="*/ 0 w 30"/>
                <a:gd name="T61" fmla="*/ 14 h 29"/>
                <a:gd name="T62" fmla="*/ 0 w 30"/>
                <a:gd name="T63" fmla="*/ 17 h 29"/>
                <a:gd name="T64" fmla="*/ 3 w 30"/>
                <a:gd name="T65" fmla="*/ 17 h 29"/>
                <a:gd name="T66" fmla="*/ 3 w 30"/>
                <a:gd name="T67" fmla="*/ 20 h 29"/>
                <a:gd name="T68" fmla="*/ 3 w 30"/>
                <a:gd name="T69" fmla="*/ 23 h 29"/>
                <a:gd name="T70" fmla="*/ 6 w 30"/>
                <a:gd name="T71" fmla="*/ 23 h 29"/>
                <a:gd name="T72" fmla="*/ 6 w 30"/>
                <a:gd name="T73" fmla="*/ 26 h 29"/>
                <a:gd name="T74" fmla="*/ 9 w 30"/>
                <a:gd name="T75" fmla="*/ 26 h 29"/>
                <a:gd name="T76" fmla="*/ 12 w 30"/>
                <a:gd name="T77" fmla="*/ 29 h 29"/>
                <a:gd name="T78" fmla="*/ 15 w 30"/>
                <a:gd name="T79" fmla="*/ 29 h 29"/>
                <a:gd name="T80" fmla="*/ 15 w 30"/>
                <a:gd name="T81" fmla="*/ 29 h 29"/>
                <a:gd name="T82" fmla="*/ 15 w 30"/>
                <a:gd name="T83" fmla="*/ 29 h 29"/>
                <a:gd name="T84" fmla="*/ 15 w 30"/>
                <a:gd name="T85" fmla="*/ 26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0"/>
                <a:gd name="T130" fmla="*/ 0 h 29"/>
                <a:gd name="T131" fmla="*/ 30 w 30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0" h="29">
                  <a:moveTo>
                    <a:pt x="15" y="26"/>
                  </a:moveTo>
                  <a:lnTo>
                    <a:pt x="18" y="29"/>
                  </a:lnTo>
                  <a:lnTo>
                    <a:pt x="21" y="29"/>
                  </a:lnTo>
                  <a:lnTo>
                    <a:pt x="24" y="26"/>
                  </a:lnTo>
                  <a:lnTo>
                    <a:pt x="27" y="23"/>
                  </a:lnTo>
                  <a:lnTo>
                    <a:pt x="30" y="20"/>
                  </a:lnTo>
                  <a:lnTo>
                    <a:pt x="30" y="17"/>
                  </a:lnTo>
                  <a:lnTo>
                    <a:pt x="30" y="14"/>
                  </a:lnTo>
                  <a:lnTo>
                    <a:pt x="30" y="11"/>
                  </a:lnTo>
                  <a:lnTo>
                    <a:pt x="30" y="9"/>
                  </a:lnTo>
                  <a:lnTo>
                    <a:pt x="27" y="6"/>
                  </a:lnTo>
                  <a:lnTo>
                    <a:pt x="27" y="3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9"/>
                  </a:lnTo>
                  <a:lnTo>
                    <a:pt x="15" y="29"/>
                  </a:lnTo>
                  <a:lnTo>
                    <a:pt x="15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" name="Freeform 95"/>
            <p:cNvSpPr>
              <a:spLocks noChangeArrowheads="1"/>
            </p:cNvSpPr>
            <p:nvPr/>
          </p:nvSpPr>
          <p:spPr bwMode="auto">
            <a:xfrm>
              <a:off x="1925" y="1041"/>
              <a:ext cx="30" cy="29"/>
            </a:xfrm>
            <a:custGeom>
              <a:avLst/>
              <a:gdLst>
                <a:gd name="T0" fmla="*/ 15 w 30"/>
                <a:gd name="T1" fmla="*/ 26 h 29"/>
                <a:gd name="T2" fmla="*/ 18 w 30"/>
                <a:gd name="T3" fmla="*/ 29 h 29"/>
                <a:gd name="T4" fmla="*/ 21 w 30"/>
                <a:gd name="T5" fmla="*/ 29 h 29"/>
                <a:gd name="T6" fmla="*/ 24 w 30"/>
                <a:gd name="T7" fmla="*/ 26 h 29"/>
                <a:gd name="T8" fmla="*/ 24 w 30"/>
                <a:gd name="T9" fmla="*/ 26 h 29"/>
                <a:gd name="T10" fmla="*/ 27 w 30"/>
                <a:gd name="T11" fmla="*/ 23 h 29"/>
                <a:gd name="T12" fmla="*/ 27 w 30"/>
                <a:gd name="T13" fmla="*/ 23 h 29"/>
                <a:gd name="T14" fmla="*/ 30 w 30"/>
                <a:gd name="T15" fmla="*/ 20 h 29"/>
                <a:gd name="T16" fmla="*/ 30 w 30"/>
                <a:gd name="T17" fmla="*/ 17 h 29"/>
                <a:gd name="T18" fmla="*/ 30 w 30"/>
                <a:gd name="T19" fmla="*/ 17 h 29"/>
                <a:gd name="T20" fmla="*/ 30 w 30"/>
                <a:gd name="T21" fmla="*/ 14 h 29"/>
                <a:gd name="T22" fmla="*/ 30 w 30"/>
                <a:gd name="T23" fmla="*/ 11 h 29"/>
                <a:gd name="T24" fmla="*/ 30 w 30"/>
                <a:gd name="T25" fmla="*/ 9 h 29"/>
                <a:gd name="T26" fmla="*/ 30 w 30"/>
                <a:gd name="T27" fmla="*/ 9 h 29"/>
                <a:gd name="T28" fmla="*/ 27 w 30"/>
                <a:gd name="T29" fmla="*/ 6 h 29"/>
                <a:gd name="T30" fmla="*/ 27 w 30"/>
                <a:gd name="T31" fmla="*/ 3 h 29"/>
                <a:gd name="T32" fmla="*/ 24 w 30"/>
                <a:gd name="T33" fmla="*/ 3 h 29"/>
                <a:gd name="T34" fmla="*/ 24 w 30"/>
                <a:gd name="T35" fmla="*/ 3 h 29"/>
                <a:gd name="T36" fmla="*/ 21 w 30"/>
                <a:gd name="T37" fmla="*/ 0 h 29"/>
                <a:gd name="T38" fmla="*/ 18 w 30"/>
                <a:gd name="T39" fmla="*/ 0 h 29"/>
                <a:gd name="T40" fmla="*/ 15 w 30"/>
                <a:gd name="T41" fmla="*/ 0 h 29"/>
                <a:gd name="T42" fmla="*/ 15 w 30"/>
                <a:gd name="T43" fmla="*/ 0 h 29"/>
                <a:gd name="T44" fmla="*/ 12 w 30"/>
                <a:gd name="T45" fmla="*/ 0 h 29"/>
                <a:gd name="T46" fmla="*/ 9 w 30"/>
                <a:gd name="T47" fmla="*/ 3 h 29"/>
                <a:gd name="T48" fmla="*/ 6 w 30"/>
                <a:gd name="T49" fmla="*/ 3 h 29"/>
                <a:gd name="T50" fmla="*/ 6 w 30"/>
                <a:gd name="T51" fmla="*/ 3 h 29"/>
                <a:gd name="T52" fmla="*/ 3 w 30"/>
                <a:gd name="T53" fmla="*/ 6 h 29"/>
                <a:gd name="T54" fmla="*/ 3 w 30"/>
                <a:gd name="T55" fmla="*/ 9 h 29"/>
                <a:gd name="T56" fmla="*/ 3 w 30"/>
                <a:gd name="T57" fmla="*/ 9 h 29"/>
                <a:gd name="T58" fmla="*/ 0 w 30"/>
                <a:gd name="T59" fmla="*/ 11 h 29"/>
                <a:gd name="T60" fmla="*/ 0 w 30"/>
                <a:gd name="T61" fmla="*/ 14 h 29"/>
                <a:gd name="T62" fmla="*/ 0 w 30"/>
                <a:gd name="T63" fmla="*/ 17 h 29"/>
                <a:gd name="T64" fmla="*/ 3 w 30"/>
                <a:gd name="T65" fmla="*/ 17 h 29"/>
                <a:gd name="T66" fmla="*/ 3 w 30"/>
                <a:gd name="T67" fmla="*/ 20 h 29"/>
                <a:gd name="T68" fmla="*/ 3 w 30"/>
                <a:gd name="T69" fmla="*/ 23 h 29"/>
                <a:gd name="T70" fmla="*/ 6 w 30"/>
                <a:gd name="T71" fmla="*/ 23 h 29"/>
                <a:gd name="T72" fmla="*/ 6 w 30"/>
                <a:gd name="T73" fmla="*/ 26 h 29"/>
                <a:gd name="T74" fmla="*/ 9 w 30"/>
                <a:gd name="T75" fmla="*/ 26 h 29"/>
                <a:gd name="T76" fmla="*/ 12 w 30"/>
                <a:gd name="T77" fmla="*/ 29 h 29"/>
                <a:gd name="T78" fmla="*/ 15 w 30"/>
                <a:gd name="T79" fmla="*/ 29 h 29"/>
                <a:gd name="T80" fmla="*/ 15 w 30"/>
                <a:gd name="T81" fmla="*/ 29 h 29"/>
                <a:gd name="T82" fmla="*/ 15 w 30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9"/>
                <a:gd name="T128" fmla="*/ 30 w 30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9">
                  <a:moveTo>
                    <a:pt x="15" y="26"/>
                  </a:moveTo>
                  <a:lnTo>
                    <a:pt x="18" y="29"/>
                  </a:lnTo>
                  <a:lnTo>
                    <a:pt x="21" y="29"/>
                  </a:lnTo>
                  <a:lnTo>
                    <a:pt x="24" y="26"/>
                  </a:lnTo>
                  <a:lnTo>
                    <a:pt x="27" y="23"/>
                  </a:lnTo>
                  <a:lnTo>
                    <a:pt x="30" y="20"/>
                  </a:lnTo>
                  <a:lnTo>
                    <a:pt x="30" y="17"/>
                  </a:lnTo>
                  <a:lnTo>
                    <a:pt x="30" y="14"/>
                  </a:lnTo>
                  <a:lnTo>
                    <a:pt x="30" y="11"/>
                  </a:lnTo>
                  <a:lnTo>
                    <a:pt x="30" y="9"/>
                  </a:lnTo>
                  <a:lnTo>
                    <a:pt x="27" y="6"/>
                  </a:lnTo>
                  <a:lnTo>
                    <a:pt x="27" y="3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9"/>
                  </a:lnTo>
                  <a:lnTo>
                    <a:pt x="15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8" name="Freeform 96"/>
            <p:cNvSpPr>
              <a:spLocks noChangeArrowheads="1"/>
            </p:cNvSpPr>
            <p:nvPr/>
          </p:nvSpPr>
          <p:spPr bwMode="auto">
            <a:xfrm>
              <a:off x="1861" y="894"/>
              <a:ext cx="29" cy="29"/>
            </a:xfrm>
            <a:custGeom>
              <a:avLst/>
              <a:gdLst>
                <a:gd name="T0" fmla="*/ 14 w 29"/>
                <a:gd name="T1" fmla="*/ 26 h 29"/>
                <a:gd name="T2" fmla="*/ 17 w 29"/>
                <a:gd name="T3" fmla="*/ 29 h 29"/>
                <a:gd name="T4" fmla="*/ 20 w 29"/>
                <a:gd name="T5" fmla="*/ 29 h 29"/>
                <a:gd name="T6" fmla="*/ 20 w 29"/>
                <a:gd name="T7" fmla="*/ 26 h 29"/>
                <a:gd name="T8" fmla="*/ 23 w 29"/>
                <a:gd name="T9" fmla="*/ 26 h 29"/>
                <a:gd name="T10" fmla="*/ 26 w 29"/>
                <a:gd name="T11" fmla="*/ 23 h 29"/>
                <a:gd name="T12" fmla="*/ 26 w 29"/>
                <a:gd name="T13" fmla="*/ 23 h 29"/>
                <a:gd name="T14" fmla="*/ 26 w 29"/>
                <a:gd name="T15" fmla="*/ 20 h 29"/>
                <a:gd name="T16" fmla="*/ 29 w 29"/>
                <a:gd name="T17" fmla="*/ 18 h 29"/>
                <a:gd name="T18" fmla="*/ 29 w 29"/>
                <a:gd name="T19" fmla="*/ 18 h 29"/>
                <a:gd name="T20" fmla="*/ 29 w 29"/>
                <a:gd name="T21" fmla="*/ 15 h 29"/>
                <a:gd name="T22" fmla="*/ 29 w 29"/>
                <a:gd name="T23" fmla="*/ 12 h 29"/>
                <a:gd name="T24" fmla="*/ 29 w 29"/>
                <a:gd name="T25" fmla="*/ 9 h 29"/>
                <a:gd name="T26" fmla="*/ 26 w 29"/>
                <a:gd name="T27" fmla="*/ 9 h 29"/>
                <a:gd name="T28" fmla="*/ 26 w 29"/>
                <a:gd name="T29" fmla="*/ 6 h 29"/>
                <a:gd name="T30" fmla="*/ 26 w 29"/>
                <a:gd name="T31" fmla="*/ 3 h 29"/>
                <a:gd name="T32" fmla="*/ 23 w 29"/>
                <a:gd name="T33" fmla="*/ 3 h 29"/>
                <a:gd name="T34" fmla="*/ 20 w 29"/>
                <a:gd name="T35" fmla="*/ 0 h 29"/>
                <a:gd name="T36" fmla="*/ 20 w 29"/>
                <a:gd name="T37" fmla="*/ 0 h 29"/>
                <a:gd name="T38" fmla="*/ 17 w 29"/>
                <a:gd name="T39" fmla="*/ 0 h 29"/>
                <a:gd name="T40" fmla="*/ 14 w 29"/>
                <a:gd name="T41" fmla="*/ 0 h 29"/>
                <a:gd name="T42" fmla="*/ 12 w 29"/>
                <a:gd name="T43" fmla="*/ 0 h 29"/>
                <a:gd name="T44" fmla="*/ 12 w 29"/>
                <a:gd name="T45" fmla="*/ 0 h 29"/>
                <a:gd name="T46" fmla="*/ 9 w 29"/>
                <a:gd name="T47" fmla="*/ 0 h 29"/>
                <a:gd name="T48" fmla="*/ 6 w 29"/>
                <a:gd name="T49" fmla="*/ 3 h 29"/>
                <a:gd name="T50" fmla="*/ 6 w 29"/>
                <a:gd name="T51" fmla="*/ 3 h 29"/>
                <a:gd name="T52" fmla="*/ 3 w 29"/>
                <a:gd name="T53" fmla="*/ 6 h 29"/>
                <a:gd name="T54" fmla="*/ 3 w 29"/>
                <a:gd name="T55" fmla="*/ 9 h 29"/>
                <a:gd name="T56" fmla="*/ 0 w 29"/>
                <a:gd name="T57" fmla="*/ 9 h 29"/>
                <a:gd name="T58" fmla="*/ 0 w 29"/>
                <a:gd name="T59" fmla="*/ 12 h 29"/>
                <a:gd name="T60" fmla="*/ 0 w 29"/>
                <a:gd name="T61" fmla="*/ 15 h 29"/>
                <a:gd name="T62" fmla="*/ 0 w 29"/>
                <a:gd name="T63" fmla="*/ 18 h 29"/>
                <a:gd name="T64" fmla="*/ 0 w 29"/>
                <a:gd name="T65" fmla="*/ 18 h 29"/>
                <a:gd name="T66" fmla="*/ 3 w 29"/>
                <a:gd name="T67" fmla="*/ 20 h 29"/>
                <a:gd name="T68" fmla="*/ 3 w 29"/>
                <a:gd name="T69" fmla="*/ 23 h 29"/>
                <a:gd name="T70" fmla="*/ 6 w 29"/>
                <a:gd name="T71" fmla="*/ 23 h 29"/>
                <a:gd name="T72" fmla="*/ 6 w 29"/>
                <a:gd name="T73" fmla="*/ 26 h 29"/>
                <a:gd name="T74" fmla="*/ 9 w 29"/>
                <a:gd name="T75" fmla="*/ 26 h 29"/>
                <a:gd name="T76" fmla="*/ 12 w 29"/>
                <a:gd name="T77" fmla="*/ 29 h 29"/>
                <a:gd name="T78" fmla="*/ 12 w 29"/>
                <a:gd name="T79" fmla="*/ 29 h 29"/>
                <a:gd name="T80" fmla="*/ 14 w 29"/>
                <a:gd name="T81" fmla="*/ 29 h 29"/>
                <a:gd name="T82" fmla="*/ 14 w 29"/>
                <a:gd name="T83" fmla="*/ 29 h 29"/>
                <a:gd name="T84" fmla="*/ 14 w 29"/>
                <a:gd name="T85" fmla="*/ 26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29"/>
                <a:gd name="T131" fmla="*/ 29 w 29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29">
                  <a:moveTo>
                    <a:pt x="14" y="26"/>
                  </a:moveTo>
                  <a:lnTo>
                    <a:pt x="17" y="29"/>
                  </a:lnTo>
                  <a:lnTo>
                    <a:pt x="20" y="29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6" y="23"/>
                  </a:lnTo>
                  <a:lnTo>
                    <a:pt x="26" y="20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6" y="3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9"/>
                  </a:lnTo>
                  <a:lnTo>
                    <a:pt x="14" y="29"/>
                  </a:lnTo>
                  <a:lnTo>
                    <a:pt x="14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" name="Freeform 97"/>
            <p:cNvSpPr>
              <a:spLocks noChangeArrowheads="1"/>
            </p:cNvSpPr>
            <p:nvPr/>
          </p:nvSpPr>
          <p:spPr bwMode="auto">
            <a:xfrm>
              <a:off x="1861" y="894"/>
              <a:ext cx="29" cy="29"/>
            </a:xfrm>
            <a:custGeom>
              <a:avLst/>
              <a:gdLst>
                <a:gd name="T0" fmla="*/ 14 w 29"/>
                <a:gd name="T1" fmla="*/ 26 h 29"/>
                <a:gd name="T2" fmla="*/ 17 w 29"/>
                <a:gd name="T3" fmla="*/ 29 h 29"/>
                <a:gd name="T4" fmla="*/ 20 w 29"/>
                <a:gd name="T5" fmla="*/ 29 h 29"/>
                <a:gd name="T6" fmla="*/ 20 w 29"/>
                <a:gd name="T7" fmla="*/ 26 h 29"/>
                <a:gd name="T8" fmla="*/ 23 w 29"/>
                <a:gd name="T9" fmla="*/ 26 h 29"/>
                <a:gd name="T10" fmla="*/ 26 w 29"/>
                <a:gd name="T11" fmla="*/ 23 h 29"/>
                <a:gd name="T12" fmla="*/ 26 w 29"/>
                <a:gd name="T13" fmla="*/ 23 h 29"/>
                <a:gd name="T14" fmla="*/ 26 w 29"/>
                <a:gd name="T15" fmla="*/ 20 h 29"/>
                <a:gd name="T16" fmla="*/ 29 w 29"/>
                <a:gd name="T17" fmla="*/ 18 h 29"/>
                <a:gd name="T18" fmla="*/ 29 w 29"/>
                <a:gd name="T19" fmla="*/ 18 h 29"/>
                <a:gd name="T20" fmla="*/ 29 w 29"/>
                <a:gd name="T21" fmla="*/ 15 h 29"/>
                <a:gd name="T22" fmla="*/ 29 w 29"/>
                <a:gd name="T23" fmla="*/ 12 h 29"/>
                <a:gd name="T24" fmla="*/ 29 w 29"/>
                <a:gd name="T25" fmla="*/ 9 h 29"/>
                <a:gd name="T26" fmla="*/ 26 w 29"/>
                <a:gd name="T27" fmla="*/ 9 h 29"/>
                <a:gd name="T28" fmla="*/ 26 w 29"/>
                <a:gd name="T29" fmla="*/ 6 h 29"/>
                <a:gd name="T30" fmla="*/ 26 w 29"/>
                <a:gd name="T31" fmla="*/ 3 h 29"/>
                <a:gd name="T32" fmla="*/ 23 w 29"/>
                <a:gd name="T33" fmla="*/ 3 h 29"/>
                <a:gd name="T34" fmla="*/ 20 w 29"/>
                <a:gd name="T35" fmla="*/ 0 h 29"/>
                <a:gd name="T36" fmla="*/ 20 w 29"/>
                <a:gd name="T37" fmla="*/ 0 h 29"/>
                <a:gd name="T38" fmla="*/ 17 w 29"/>
                <a:gd name="T39" fmla="*/ 0 h 29"/>
                <a:gd name="T40" fmla="*/ 14 w 29"/>
                <a:gd name="T41" fmla="*/ 0 h 29"/>
                <a:gd name="T42" fmla="*/ 12 w 29"/>
                <a:gd name="T43" fmla="*/ 0 h 29"/>
                <a:gd name="T44" fmla="*/ 12 w 29"/>
                <a:gd name="T45" fmla="*/ 0 h 29"/>
                <a:gd name="T46" fmla="*/ 9 w 29"/>
                <a:gd name="T47" fmla="*/ 0 h 29"/>
                <a:gd name="T48" fmla="*/ 6 w 29"/>
                <a:gd name="T49" fmla="*/ 3 h 29"/>
                <a:gd name="T50" fmla="*/ 6 w 29"/>
                <a:gd name="T51" fmla="*/ 3 h 29"/>
                <a:gd name="T52" fmla="*/ 3 w 29"/>
                <a:gd name="T53" fmla="*/ 6 h 29"/>
                <a:gd name="T54" fmla="*/ 3 w 29"/>
                <a:gd name="T55" fmla="*/ 9 h 29"/>
                <a:gd name="T56" fmla="*/ 0 w 29"/>
                <a:gd name="T57" fmla="*/ 9 h 29"/>
                <a:gd name="T58" fmla="*/ 0 w 29"/>
                <a:gd name="T59" fmla="*/ 12 h 29"/>
                <a:gd name="T60" fmla="*/ 0 w 29"/>
                <a:gd name="T61" fmla="*/ 15 h 29"/>
                <a:gd name="T62" fmla="*/ 0 w 29"/>
                <a:gd name="T63" fmla="*/ 18 h 29"/>
                <a:gd name="T64" fmla="*/ 0 w 29"/>
                <a:gd name="T65" fmla="*/ 18 h 29"/>
                <a:gd name="T66" fmla="*/ 3 w 29"/>
                <a:gd name="T67" fmla="*/ 20 h 29"/>
                <a:gd name="T68" fmla="*/ 3 w 29"/>
                <a:gd name="T69" fmla="*/ 23 h 29"/>
                <a:gd name="T70" fmla="*/ 6 w 29"/>
                <a:gd name="T71" fmla="*/ 23 h 29"/>
                <a:gd name="T72" fmla="*/ 6 w 29"/>
                <a:gd name="T73" fmla="*/ 26 h 29"/>
                <a:gd name="T74" fmla="*/ 9 w 29"/>
                <a:gd name="T75" fmla="*/ 26 h 29"/>
                <a:gd name="T76" fmla="*/ 12 w 29"/>
                <a:gd name="T77" fmla="*/ 29 h 29"/>
                <a:gd name="T78" fmla="*/ 12 w 29"/>
                <a:gd name="T79" fmla="*/ 29 h 29"/>
                <a:gd name="T80" fmla="*/ 14 w 29"/>
                <a:gd name="T81" fmla="*/ 29 h 29"/>
                <a:gd name="T82" fmla="*/ 14 w 29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9"/>
                <a:gd name="T128" fmla="*/ 29 w 29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9">
                  <a:moveTo>
                    <a:pt x="14" y="26"/>
                  </a:moveTo>
                  <a:lnTo>
                    <a:pt x="17" y="29"/>
                  </a:lnTo>
                  <a:lnTo>
                    <a:pt x="20" y="29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6" y="23"/>
                  </a:lnTo>
                  <a:lnTo>
                    <a:pt x="26" y="20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6" y="3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9"/>
                  </a:lnTo>
                  <a:lnTo>
                    <a:pt x="14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" name="Freeform 98"/>
            <p:cNvSpPr>
              <a:spLocks noChangeArrowheads="1"/>
            </p:cNvSpPr>
            <p:nvPr/>
          </p:nvSpPr>
          <p:spPr bwMode="auto">
            <a:xfrm>
              <a:off x="2002" y="2321"/>
              <a:ext cx="29" cy="29"/>
            </a:xfrm>
            <a:custGeom>
              <a:avLst/>
              <a:gdLst>
                <a:gd name="T0" fmla="*/ 14 w 29"/>
                <a:gd name="T1" fmla="*/ 26 h 29"/>
                <a:gd name="T2" fmla="*/ 17 w 29"/>
                <a:gd name="T3" fmla="*/ 29 h 29"/>
                <a:gd name="T4" fmla="*/ 20 w 29"/>
                <a:gd name="T5" fmla="*/ 26 h 29"/>
                <a:gd name="T6" fmla="*/ 23 w 29"/>
                <a:gd name="T7" fmla="*/ 26 h 29"/>
                <a:gd name="T8" fmla="*/ 23 w 29"/>
                <a:gd name="T9" fmla="*/ 26 h 29"/>
                <a:gd name="T10" fmla="*/ 26 w 29"/>
                <a:gd name="T11" fmla="*/ 23 h 29"/>
                <a:gd name="T12" fmla="*/ 26 w 29"/>
                <a:gd name="T13" fmla="*/ 23 h 29"/>
                <a:gd name="T14" fmla="*/ 29 w 29"/>
                <a:gd name="T15" fmla="*/ 20 h 29"/>
                <a:gd name="T16" fmla="*/ 29 w 29"/>
                <a:gd name="T17" fmla="*/ 18 h 29"/>
                <a:gd name="T18" fmla="*/ 29 w 29"/>
                <a:gd name="T19" fmla="*/ 18 h 29"/>
                <a:gd name="T20" fmla="*/ 29 w 29"/>
                <a:gd name="T21" fmla="*/ 15 h 29"/>
                <a:gd name="T22" fmla="*/ 29 w 29"/>
                <a:gd name="T23" fmla="*/ 12 h 29"/>
                <a:gd name="T24" fmla="*/ 29 w 29"/>
                <a:gd name="T25" fmla="*/ 9 h 29"/>
                <a:gd name="T26" fmla="*/ 29 w 29"/>
                <a:gd name="T27" fmla="*/ 9 h 29"/>
                <a:gd name="T28" fmla="*/ 26 w 29"/>
                <a:gd name="T29" fmla="*/ 6 h 29"/>
                <a:gd name="T30" fmla="*/ 26 w 29"/>
                <a:gd name="T31" fmla="*/ 3 h 29"/>
                <a:gd name="T32" fmla="*/ 23 w 29"/>
                <a:gd name="T33" fmla="*/ 3 h 29"/>
                <a:gd name="T34" fmla="*/ 23 w 29"/>
                <a:gd name="T35" fmla="*/ 0 h 29"/>
                <a:gd name="T36" fmla="*/ 20 w 29"/>
                <a:gd name="T37" fmla="*/ 0 h 29"/>
                <a:gd name="T38" fmla="*/ 17 w 29"/>
                <a:gd name="T39" fmla="*/ 0 h 29"/>
                <a:gd name="T40" fmla="*/ 14 w 29"/>
                <a:gd name="T41" fmla="*/ 0 h 29"/>
                <a:gd name="T42" fmla="*/ 14 w 29"/>
                <a:gd name="T43" fmla="*/ 0 h 29"/>
                <a:gd name="T44" fmla="*/ 12 w 29"/>
                <a:gd name="T45" fmla="*/ 0 h 29"/>
                <a:gd name="T46" fmla="*/ 9 w 29"/>
                <a:gd name="T47" fmla="*/ 0 h 29"/>
                <a:gd name="T48" fmla="*/ 6 w 29"/>
                <a:gd name="T49" fmla="*/ 3 h 29"/>
                <a:gd name="T50" fmla="*/ 6 w 29"/>
                <a:gd name="T51" fmla="*/ 3 h 29"/>
                <a:gd name="T52" fmla="*/ 3 w 29"/>
                <a:gd name="T53" fmla="*/ 6 h 29"/>
                <a:gd name="T54" fmla="*/ 3 w 29"/>
                <a:gd name="T55" fmla="*/ 9 h 29"/>
                <a:gd name="T56" fmla="*/ 3 w 29"/>
                <a:gd name="T57" fmla="*/ 9 h 29"/>
                <a:gd name="T58" fmla="*/ 3 w 29"/>
                <a:gd name="T59" fmla="*/ 12 h 29"/>
                <a:gd name="T60" fmla="*/ 0 w 29"/>
                <a:gd name="T61" fmla="*/ 15 h 29"/>
                <a:gd name="T62" fmla="*/ 3 w 29"/>
                <a:gd name="T63" fmla="*/ 18 h 29"/>
                <a:gd name="T64" fmla="*/ 3 w 29"/>
                <a:gd name="T65" fmla="*/ 18 h 29"/>
                <a:gd name="T66" fmla="*/ 3 w 29"/>
                <a:gd name="T67" fmla="*/ 20 h 29"/>
                <a:gd name="T68" fmla="*/ 3 w 29"/>
                <a:gd name="T69" fmla="*/ 23 h 29"/>
                <a:gd name="T70" fmla="*/ 6 w 29"/>
                <a:gd name="T71" fmla="*/ 23 h 29"/>
                <a:gd name="T72" fmla="*/ 6 w 29"/>
                <a:gd name="T73" fmla="*/ 26 h 29"/>
                <a:gd name="T74" fmla="*/ 9 w 29"/>
                <a:gd name="T75" fmla="*/ 26 h 29"/>
                <a:gd name="T76" fmla="*/ 12 w 29"/>
                <a:gd name="T77" fmla="*/ 26 h 29"/>
                <a:gd name="T78" fmla="*/ 14 w 29"/>
                <a:gd name="T79" fmla="*/ 29 h 29"/>
                <a:gd name="T80" fmla="*/ 14 w 29"/>
                <a:gd name="T81" fmla="*/ 29 h 29"/>
                <a:gd name="T82" fmla="*/ 14 w 29"/>
                <a:gd name="T83" fmla="*/ 29 h 29"/>
                <a:gd name="T84" fmla="*/ 14 w 29"/>
                <a:gd name="T85" fmla="*/ 26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29"/>
                <a:gd name="T131" fmla="*/ 29 w 29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29">
                  <a:moveTo>
                    <a:pt x="14" y="26"/>
                  </a:moveTo>
                  <a:lnTo>
                    <a:pt x="17" y="29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6" y="23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6"/>
                  </a:lnTo>
                  <a:lnTo>
                    <a:pt x="26" y="3"/>
                  </a:lnTo>
                  <a:lnTo>
                    <a:pt x="23" y="3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4" y="29"/>
                  </a:lnTo>
                  <a:lnTo>
                    <a:pt x="14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Freeform 99"/>
            <p:cNvSpPr>
              <a:spLocks noChangeArrowheads="1"/>
            </p:cNvSpPr>
            <p:nvPr/>
          </p:nvSpPr>
          <p:spPr bwMode="auto">
            <a:xfrm>
              <a:off x="2002" y="2321"/>
              <a:ext cx="29" cy="29"/>
            </a:xfrm>
            <a:custGeom>
              <a:avLst/>
              <a:gdLst>
                <a:gd name="T0" fmla="*/ 14 w 29"/>
                <a:gd name="T1" fmla="*/ 26 h 29"/>
                <a:gd name="T2" fmla="*/ 17 w 29"/>
                <a:gd name="T3" fmla="*/ 29 h 29"/>
                <a:gd name="T4" fmla="*/ 20 w 29"/>
                <a:gd name="T5" fmla="*/ 26 h 29"/>
                <a:gd name="T6" fmla="*/ 23 w 29"/>
                <a:gd name="T7" fmla="*/ 26 h 29"/>
                <a:gd name="T8" fmla="*/ 23 w 29"/>
                <a:gd name="T9" fmla="*/ 26 h 29"/>
                <a:gd name="T10" fmla="*/ 26 w 29"/>
                <a:gd name="T11" fmla="*/ 23 h 29"/>
                <a:gd name="T12" fmla="*/ 26 w 29"/>
                <a:gd name="T13" fmla="*/ 23 h 29"/>
                <a:gd name="T14" fmla="*/ 29 w 29"/>
                <a:gd name="T15" fmla="*/ 20 h 29"/>
                <a:gd name="T16" fmla="*/ 29 w 29"/>
                <a:gd name="T17" fmla="*/ 18 h 29"/>
                <a:gd name="T18" fmla="*/ 29 w 29"/>
                <a:gd name="T19" fmla="*/ 18 h 29"/>
                <a:gd name="T20" fmla="*/ 29 w 29"/>
                <a:gd name="T21" fmla="*/ 15 h 29"/>
                <a:gd name="T22" fmla="*/ 29 w 29"/>
                <a:gd name="T23" fmla="*/ 12 h 29"/>
                <a:gd name="T24" fmla="*/ 29 w 29"/>
                <a:gd name="T25" fmla="*/ 9 h 29"/>
                <a:gd name="T26" fmla="*/ 29 w 29"/>
                <a:gd name="T27" fmla="*/ 9 h 29"/>
                <a:gd name="T28" fmla="*/ 26 w 29"/>
                <a:gd name="T29" fmla="*/ 6 h 29"/>
                <a:gd name="T30" fmla="*/ 26 w 29"/>
                <a:gd name="T31" fmla="*/ 3 h 29"/>
                <a:gd name="T32" fmla="*/ 23 w 29"/>
                <a:gd name="T33" fmla="*/ 3 h 29"/>
                <a:gd name="T34" fmla="*/ 23 w 29"/>
                <a:gd name="T35" fmla="*/ 0 h 29"/>
                <a:gd name="T36" fmla="*/ 20 w 29"/>
                <a:gd name="T37" fmla="*/ 0 h 29"/>
                <a:gd name="T38" fmla="*/ 17 w 29"/>
                <a:gd name="T39" fmla="*/ 0 h 29"/>
                <a:gd name="T40" fmla="*/ 14 w 29"/>
                <a:gd name="T41" fmla="*/ 0 h 29"/>
                <a:gd name="T42" fmla="*/ 14 w 29"/>
                <a:gd name="T43" fmla="*/ 0 h 29"/>
                <a:gd name="T44" fmla="*/ 12 w 29"/>
                <a:gd name="T45" fmla="*/ 0 h 29"/>
                <a:gd name="T46" fmla="*/ 9 w 29"/>
                <a:gd name="T47" fmla="*/ 0 h 29"/>
                <a:gd name="T48" fmla="*/ 6 w 29"/>
                <a:gd name="T49" fmla="*/ 3 h 29"/>
                <a:gd name="T50" fmla="*/ 6 w 29"/>
                <a:gd name="T51" fmla="*/ 3 h 29"/>
                <a:gd name="T52" fmla="*/ 3 w 29"/>
                <a:gd name="T53" fmla="*/ 6 h 29"/>
                <a:gd name="T54" fmla="*/ 3 w 29"/>
                <a:gd name="T55" fmla="*/ 9 h 29"/>
                <a:gd name="T56" fmla="*/ 3 w 29"/>
                <a:gd name="T57" fmla="*/ 9 h 29"/>
                <a:gd name="T58" fmla="*/ 3 w 29"/>
                <a:gd name="T59" fmla="*/ 12 h 29"/>
                <a:gd name="T60" fmla="*/ 0 w 29"/>
                <a:gd name="T61" fmla="*/ 15 h 29"/>
                <a:gd name="T62" fmla="*/ 3 w 29"/>
                <a:gd name="T63" fmla="*/ 18 h 29"/>
                <a:gd name="T64" fmla="*/ 3 w 29"/>
                <a:gd name="T65" fmla="*/ 18 h 29"/>
                <a:gd name="T66" fmla="*/ 3 w 29"/>
                <a:gd name="T67" fmla="*/ 20 h 29"/>
                <a:gd name="T68" fmla="*/ 3 w 29"/>
                <a:gd name="T69" fmla="*/ 23 h 29"/>
                <a:gd name="T70" fmla="*/ 6 w 29"/>
                <a:gd name="T71" fmla="*/ 23 h 29"/>
                <a:gd name="T72" fmla="*/ 6 w 29"/>
                <a:gd name="T73" fmla="*/ 26 h 29"/>
                <a:gd name="T74" fmla="*/ 9 w 29"/>
                <a:gd name="T75" fmla="*/ 26 h 29"/>
                <a:gd name="T76" fmla="*/ 12 w 29"/>
                <a:gd name="T77" fmla="*/ 26 h 29"/>
                <a:gd name="T78" fmla="*/ 14 w 29"/>
                <a:gd name="T79" fmla="*/ 29 h 29"/>
                <a:gd name="T80" fmla="*/ 14 w 29"/>
                <a:gd name="T81" fmla="*/ 29 h 29"/>
                <a:gd name="T82" fmla="*/ 14 w 29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9"/>
                <a:gd name="T128" fmla="*/ 29 w 29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9">
                  <a:moveTo>
                    <a:pt x="14" y="26"/>
                  </a:moveTo>
                  <a:lnTo>
                    <a:pt x="17" y="29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6" y="23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6"/>
                  </a:lnTo>
                  <a:lnTo>
                    <a:pt x="26" y="3"/>
                  </a:lnTo>
                  <a:lnTo>
                    <a:pt x="23" y="3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5"/>
                  </a:lnTo>
                  <a:lnTo>
                    <a:pt x="3" y="18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4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2" name="Freeform 100"/>
            <p:cNvSpPr>
              <a:spLocks noChangeArrowheads="1"/>
            </p:cNvSpPr>
            <p:nvPr/>
          </p:nvSpPr>
          <p:spPr bwMode="auto">
            <a:xfrm>
              <a:off x="2002" y="2797"/>
              <a:ext cx="29" cy="29"/>
            </a:xfrm>
            <a:custGeom>
              <a:avLst/>
              <a:gdLst>
                <a:gd name="T0" fmla="*/ 14 w 29"/>
                <a:gd name="T1" fmla="*/ 26 h 29"/>
                <a:gd name="T2" fmla="*/ 17 w 29"/>
                <a:gd name="T3" fmla="*/ 29 h 29"/>
                <a:gd name="T4" fmla="*/ 20 w 29"/>
                <a:gd name="T5" fmla="*/ 26 h 29"/>
                <a:gd name="T6" fmla="*/ 23 w 29"/>
                <a:gd name="T7" fmla="*/ 26 h 29"/>
                <a:gd name="T8" fmla="*/ 23 w 29"/>
                <a:gd name="T9" fmla="*/ 26 h 29"/>
                <a:gd name="T10" fmla="*/ 26 w 29"/>
                <a:gd name="T11" fmla="*/ 23 h 29"/>
                <a:gd name="T12" fmla="*/ 26 w 29"/>
                <a:gd name="T13" fmla="*/ 23 h 29"/>
                <a:gd name="T14" fmla="*/ 29 w 29"/>
                <a:gd name="T15" fmla="*/ 20 h 29"/>
                <a:gd name="T16" fmla="*/ 29 w 29"/>
                <a:gd name="T17" fmla="*/ 17 h 29"/>
                <a:gd name="T18" fmla="*/ 29 w 29"/>
                <a:gd name="T19" fmla="*/ 17 h 29"/>
                <a:gd name="T20" fmla="*/ 29 w 29"/>
                <a:gd name="T21" fmla="*/ 14 h 29"/>
                <a:gd name="T22" fmla="*/ 29 w 29"/>
                <a:gd name="T23" fmla="*/ 11 h 29"/>
                <a:gd name="T24" fmla="*/ 29 w 29"/>
                <a:gd name="T25" fmla="*/ 8 h 29"/>
                <a:gd name="T26" fmla="*/ 29 w 29"/>
                <a:gd name="T27" fmla="*/ 8 h 29"/>
                <a:gd name="T28" fmla="*/ 26 w 29"/>
                <a:gd name="T29" fmla="*/ 5 h 29"/>
                <a:gd name="T30" fmla="*/ 26 w 29"/>
                <a:gd name="T31" fmla="*/ 3 h 29"/>
                <a:gd name="T32" fmla="*/ 23 w 29"/>
                <a:gd name="T33" fmla="*/ 3 h 29"/>
                <a:gd name="T34" fmla="*/ 23 w 29"/>
                <a:gd name="T35" fmla="*/ 0 h 29"/>
                <a:gd name="T36" fmla="*/ 20 w 29"/>
                <a:gd name="T37" fmla="*/ 0 h 29"/>
                <a:gd name="T38" fmla="*/ 17 w 29"/>
                <a:gd name="T39" fmla="*/ 0 h 29"/>
                <a:gd name="T40" fmla="*/ 14 w 29"/>
                <a:gd name="T41" fmla="*/ 0 h 29"/>
                <a:gd name="T42" fmla="*/ 14 w 29"/>
                <a:gd name="T43" fmla="*/ 0 h 29"/>
                <a:gd name="T44" fmla="*/ 12 w 29"/>
                <a:gd name="T45" fmla="*/ 0 h 29"/>
                <a:gd name="T46" fmla="*/ 9 w 29"/>
                <a:gd name="T47" fmla="*/ 0 h 29"/>
                <a:gd name="T48" fmla="*/ 6 w 29"/>
                <a:gd name="T49" fmla="*/ 3 h 29"/>
                <a:gd name="T50" fmla="*/ 6 w 29"/>
                <a:gd name="T51" fmla="*/ 3 h 29"/>
                <a:gd name="T52" fmla="*/ 3 w 29"/>
                <a:gd name="T53" fmla="*/ 5 h 29"/>
                <a:gd name="T54" fmla="*/ 3 w 29"/>
                <a:gd name="T55" fmla="*/ 8 h 29"/>
                <a:gd name="T56" fmla="*/ 3 w 29"/>
                <a:gd name="T57" fmla="*/ 8 h 29"/>
                <a:gd name="T58" fmla="*/ 3 w 29"/>
                <a:gd name="T59" fmla="*/ 11 h 29"/>
                <a:gd name="T60" fmla="*/ 0 w 29"/>
                <a:gd name="T61" fmla="*/ 14 h 29"/>
                <a:gd name="T62" fmla="*/ 3 w 29"/>
                <a:gd name="T63" fmla="*/ 17 h 29"/>
                <a:gd name="T64" fmla="*/ 3 w 29"/>
                <a:gd name="T65" fmla="*/ 17 h 29"/>
                <a:gd name="T66" fmla="*/ 3 w 29"/>
                <a:gd name="T67" fmla="*/ 20 h 29"/>
                <a:gd name="T68" fmla="*/ 3 w 29"/>
                <a:gd name="T69" fmla="*/ 23 h 29"/>
                <a:gd name="T70" fmla="*/ 6 w 29"/>
                <a:gd name="T71" fmla="*/ 23 h 29"/>
                <a:gd name="T72" fmla="*/ 6 w 29"/>
                <a:gd name="T73" fmla="*/ 26 h 29"/>
                <a:gd name="T74" fmla="*/ 9 w 29"/>
                <a:gd name="T75" fmla="*/ 26 h 29"/>
                <a:gd name="T76" fmla="*/ 12 w 29"/>
                <a:gd name="T77" fmla="*/ 26 h 29"/>
                <a:gd name="T78" fmla="*/ 14 w 29"/>
                <a:gd name="T79" fmla="*/ 29 h 29"/>
                <a:gd name="T80" fmla="*/ 14 w 29"/>
                <a:gd name="T81" fmla="*/ 29 h 29"/>
                <a:gd name="T82" fmla="*/ 14 w 29"/>
                <a:gd name="T83" fmla="*/ 29 h 29"/>
                <a:gd name="T84" fmla="*/ 14 w 29"/>
                <a:gd name="T85" fmla="*/ 26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29"/>
                <a:gd name="T131" fmla="*/ 29 w 29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29">
                  <a:moveTo>
                    <a:pt x="14" y="26"/>
                  </a:moveTo>
                  <a:lnTo>
                    <a:pt x="17" y="29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6" y="23"/>
                  </a:lnTo>
                  <a:lnTo>
                    <a:pt x="29" y="20"/>
                  </a:lnTo>
                  <a:lnTo>
                    <a:pt x="29" y="17"/>
                  </a:lnTo>
                  <a:lnTo>
                    <a:pt x="29" y="14"/>
                  </a:lnTo>
                  <a:lnTo>
                    <a:pt x="29" y="11"/>
                  </a:lnTo>
                  <a:lnTo>
                    <a:pt x="29" y="8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3" y="3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5"/>
                  </a:lnTo>
                  <a:lnTo>
                    <a:pt x="3" y="8"/>
                  </a:lnTo>
                  <a:lnTo>
                    <a:pt x="3" y="11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4" y="29"/>
                  </a:lnTo>
                  <a:lnTo>
                    <a:pt x="14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Freeform 101"/>
            <p:cNvSpPr>
              <a:spLocks noChangeArrowheads="1"/>
            </p:cNvSpPr>
            <p:nvPr/>
          </p:nvSpPr>
          <p:spPr bwMode="auto">
            <a:xfrm>
              <a:off x="2002" y="2797"/>
              <a:ext cx="29" cy="29"/>
            </a:xfrm>
            <a:custGeom>
              <a:avLst/>
              <a:gdLst>
                <a:gd name="T0" fmla="*/ 14 w 29"/>
                <a:gd name="T1" fmla="*/ 26 h 29"/>
                <a:gd name="T2" fmla="*/ 17 w 29"/>
                <a:gd name="T3" fmla="*/ 29 h 29"/>
                <a:gd name="T4" fmla="*/ 20 w 29"/>
                <a:gd name="T5" fmla="*/ 26 h 29"/>
                <a:gd name="T6" fmla="*/ 23 w 29"/>
                <a:gd name="T7" fmla="*/ 26 h 29"/>
                <a:gd name="T8" fmla="*/ 23 w 29"/>
                <a:gd name="T9" fmla="*/ 26 h 29"/>
                <a:gd name="T10" fmla="*/ 26 w 29"/>
                <a:gd name="T11" fmla="*/ 23 h 29"/>
                <a:gd name="T12" fmla="*/ 26 w 29"/>
                <a:gd name="T13" fmla="*/ 23 h 29"/>
                <a:gd name="T14" fmla="*/ 29 w 29"/>
                <a:gd name="T15" fmla="*/ 20 h 29"/>
                <a:gd name="T16" fmla="*/ 29 w 29"/>
                <a:gd name="T17" fmla="*/ 17 h 29"/>
                <a:gd name="T18" fmla="*/ 29 w 29"/>
                <a:gd name="T19" fmla="*/ 17 h 29"/>
                <a:gd name="T20" fmla="*/ 29 w 29"/>
                <a:gd name="T21" fmla="*/ 14 h 29"/>
                <a:gd name="T22" fmla="*/ 29 w 29"/>
                <a:gd name="T23" fmla="*/ 11 h 29"/>
                <a:gd name="T24" fmla="*/ 29 w 29"/>
                <a:gd name="T25" fmla="*/ 8 h 29"/>
                <a:gd name="T26" fmla="*/ 29 w 29"/>
                <a:gd name="T27" fmla="*/ 8 h 29"/>
                <a:gd name="T28" fmla="*/ 26 w 29"/>
                <a:gd name="T29" fmla="*/ 5 h 29"/>
                <a:gd name="T30" fmla="*/ 26 w 29"/>
                <a:gd name="T31" fmla="*/ 3 h 29"/>
                <a:gd name="T32" fmla="*/ 23 w 29"/>
                <a:gd name="T33" fmla="*/ 3 h 29"/>
                <a:gd name="T34" fmla="*/ 23 w 29"/>
                <a:gd name="T35" fmla="*/ 0 h 29"/>
                <a:gd name="T36" fmla="*/ 20 w 29"/>
                <a:gd name="T37" fmla="*/ 0 h 29"/>
                <a:gd name="T38" fmla="*/ 17 w 29"/>
                <a:gd name="T39" fmla="*/ 0 h 29"/>
                <a:gd name="T40" fmla="*/ 14 w 29"/>
                <a:gd name="T41" fmla="*/ 0 h 29"/>
                <a:gd name="T42" fmla="*/ 14 w 29"/>
                <a:gd name="T43" fmla="*/ 0 h 29"/>
                <a:gd name="T44" fmla="*/ 12 w 29"/>
                <a:gd name="T45" fmla="*/ 0 h 29"/>
                <a:gd name="T46" fmla="*/ 9 w 29"/>
                <a:gd name="T47" fmla="*/ 0 h 29"/>
                <a:gd name="T48" fmla="*/ 6 w 29"/>
                <a:gd name="T49" fmla="*/ 3 h 29"/>
                <a:gd name="T50" fmla="*/ 6 w 29"/>
                <a:gd name="T51" fmla="*/ 3 h 29"/>
                <a:gd name="T52" fmla="*/ 3 w 29"/>
                <a:gd name="T53" fmla="*/ 5 h 29"/>
                <a:gd name="T54" fmla="*/ 3 w 29"/>
                <a:gd name="T55" fmla="*/ 8 h 29"/>
                <a:gd name="T56" fmla="*/ 3 w 29"/>
                <a:gd name="T57" fmla="*/ 8 h 29"/>
                <a:gd name="T58" fmla="*/ 3 w 29"/>
                <a:gd name="T59" fmla="*/ 11 h 29"/>
                <a:gd name="T60" fmla="*/ 0 w 29"/>
                <a:gd name="T61" fmla="*/ 14 h 29"/>
                <a:gd name="T62" fmla="*/ 3 w 29"/>
                <a:gd name="T63" fmla="*/ 17 h 29"/>
                <a:gd name="T64" fmla="*/ 3 w 29"/>
                <a:gd name="T65" fmla="*/ 17 h 29"/>
                <a:gd name="T66" fmla="*/ 3 w 29"/>
                <a:gd name="T67" fmla="*/ 20 h 29"/>
                <a:gd name="T68" fmla="*/ 3 w 29"/>
                <a:gd name="T69" fmla="*/ 23 h 29"/>
                <a:gd name="T70" fmla="*/ 6 w 29"/>
                <a:gd name="T71" fmla="*/ 23 h 29"/>
                <a:gd name="T72" fmla="*/ 6 w 29"/>
                <a:gd name="T73" fmla="*/ 26 h 29"/>
                <a:gd name="T74" fmla="*/ 9 w 29"/>
                <a:gd name="T75" fmla="*/ 26 h 29"/>
                <a:gd name="T76" fmla="*/ 12 w 29"/>
                <a:gd name="T77" fmla="*/ 26 h 29"/>
                <a:gd name="T78" fmla="*/ 14 w 29"/>
                <a:gd name="T79" fmla="*/ 29 h 29"/>
                <a:gd name="T80" fmla="*/ 14 w 29"/>
                <a:gd name="T81" fmla="*/ 29 h 29"/>
                <a:gd name="T82" fmla="*/ 14 w 29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9"/>
                <a:gd name="T128" fmla="*/ 29 w 29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9">
                  <a:moveTo>
                    <a:pt x="14" y="26"/>
                  </a:moveTo>
                  <a:lnTo>
                    <a:pt x="17" y="29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6" y="23"/>
                  </a:lnTo>
                  <a:lnTo>
                    <a:pt x="29" y="20"/>
                  </a:lnTo>
                  <a:lnTo>
                    <a:pt x="29" y="17"/>
                  </a:lnTo>
                  <a:lnTo>
                    <a:pt x="29" y="14"/>
                  </a:lnTo>
                  <a:lnTo>
                    <a:pt x="29" y="11"/>
                  </a:lnTo>
                  <a:lnTo>
                    <a:pt x="29" y="8"/>
                  </a:lnTo>
                  <a:lnTo>
                    <a:pt x="26" y="5"/>
                  </a:lnTo>
                  <a:lnTo>
                    <a:pt x="26" y="3"/>
                  </a:lnTo>
                  <a:lnTo>
                    <a:pt x="23" y="3"/>
                  </a:lnTo>
                  <a:lnTo>
                    <a:pt x="23" y="0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5"/>
                  </a:lnTo>
                  <a:lnTo>
                    <a:pt x="3" y="8"/>
                  </a:lnTo>
                  <a:lnTo>
                    <a:pt x="3" y="11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4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" name="Freeform 102"/>
            <p:cNvSpPr>
              <a:spLocks noChangeArrowheads="1"/>
            </p:cNvSpPr>
            <p:nvPr/>
          </p:nvSpPr>
          <p:spPr bwMode="auto">
            <a:xfrm>
              <a:off x="2002" y="3607"/>
              <a:ext cx="29" cy="29"/>
            </a:xfrm>
            <a:custGeom>
              <a:avLst/>
              <a:gdLst>
                <a:gd name="T0" fmla="*/ 12 w 29"/>
                <a:gd name="T1" fmla="*/ 26 h 29"/>
                <a:gd name="T2" fmla="*/ 17 w 29"/>
                <a:gd name="T3" fmla="*/ 26 h 29"/>
                <a:gd name="T4" fmla="*/ 17 w 29"/>
                <a:gd name="T5" fmla="*/ 26 h 29"/>
                <a:gd name="T6" fmla="*/ 20 w 29"/>
                <a:gd name="T7" fmla="*/ 26 h 29"/>
                <a:gd name="T8" fmla="*/ 23 w 29"/>
                <a:gd name="T9" fmla="*/ 26 h 29"/>
                <a:gd name="T10" fmla="*/ 23 w 29"/>
                <a:gd name="T11" fmla="*/ 23 h 29"/>
                <a:gd name="T12" fmla="*/ 26 w 29"/>
                <a:gd name="T13" fmla="*/ 23 h 29"/>
                <a:gd name="T14" fmla="*/ 26 w 29"/>
                <a:gd name="T15" fmla="*/ 21 h 29"/>
                <a:gd name="T16" fmla="*/ 29 w 29"/>
                <a:gd name="T17" fmla="*/ 18 h 29"/>
                <a:gd name="T18" fmla="*/ 29 w 29"/>
                <a:gd name="T19" fmla="*/ 15 h 29"/>
                <a:gd name="T20" fmla="*/ 29 w 29"/>
                <a:gd name="T21" fmla="*/ 15 h 29"/>
                <a:gd name="T22" fmla="*/ 29 w 29"/>
                <a:gd name="T23" fmla="*/ 12 h 29"/>
                <a:gd name="T24" fmla="*/ 29 w 29"/>
                <a:gd name="T25" fmla="*/ 9 h 29"/>
                <a:gd name="T26" fmla="*/ 26 w 29"/>
                <a:gd name="T27" fmla="*/ 6 h 29"/>
                <a:gd name="T28" fmla="*/ 26 w 29"/>
                <a:gd name="T29" fmla="*/ 6 h 29"/>
                <a:gd name="T30" fmla="*/ 23 w 29"/>
                <a:gd name="T31" fmla="*/ 3 h 29"/>
                <a:gd name="T32" fmla="*/ 23 w 29"/>
                <a:gd name="T33" fmla="*/ 3 h 29"/>
                <a:gd name="T34" fmla="*/ 20 w 29"/>
                <a:gd name="T35" fmla="*/ 0 h 29"/>
                <a:gd name="T36" fmla="*/ 17 w 29"/>
                <a:gd name="T37" fmla="*/ 0 h 29"/>
                <a:gd name="T38" fmla="*/ 17 w 29"/>
                <a:gd name="T39" fmla="*/ 0 h 29"/>
                <a:gd name="T40" fmla="*/ 14 w 29"/>
                <a:gd name="T41" fmla="*/ 0 h 29"/>
                <a:gd name="T42" fmla="*/ 12 w 29"/>
                <a:gd name="T43" fmla="*/ 0 h 29"/>
                <a:gd name="T44" fmla="*/ 9 w 29"/>
                <a:gd name="T45" fmla="*/ 0 h 29"/>
                <a:gd name="T46" fmla="*/ 9 w 29"/>
                <a:gd name="T47" fmla="*/ 0 h 29"/>
                <a:gd name="T48" fmla="*/ 6 w 29"/>
                <a:gd name="T49" fmla="*/ 3 h 29"/>
                <a:gd name="T50" fmla="*/ 3 w 29"/>
                <a:gd name="T51" fmla="*/ 3 h 29"/>
                <a:gd name="T52" fmla="*/ 3 w 29"/>
                <a:gd name="T53" fmla="*/ 6 h 29"/>
                <a:gd name="T54" fmla="*/ 0 w 29"/>
                <a:gd name="T55" fmla="*/ 6 h 29"/>
                <a:gd name="T56" fmla="*/ 0 w 29"/>
                <a:gd name="T57" fmla="*/ 9 h 29"/>
                <a:gd name="T58" fmla="*/ 0 w 29"/>
                <a:gd name="T59" fmla="*/ 12 h 29"/>
                <a:gd name="T60" fmla="*/ 0 w 29"/>
                <a:gd name="T61" fmla="*/ 15 h 29"/>
                <a:gd name="T62" fmla="*/ 0 w 29"/>
                <a:gd name="T63" fmla="*/ 15 h 29"/>
                <a:gd name="T64" fmla="*/ 0 w 29"/>
                <a:gd name="T65" fmla="*/ 18 h 29"/>
                <a:gd name="T66" fmla="*/ 0 w 29"/>
                <a:gd name="T67" fmla="*/ 21 h 29"/>
                <a:gd name="T68" fmla="*/ 3 w 29"/>
                <a:gd name="T69" fmla="*/ 23 h 29"/>
                <a:gd name="T70" fmla="*/ 3 w 29"/>
                <a:gd name="T71" fmla="*/ 23 h 29"/>
                <a:gd name="T72" fmla="*/ 6 w 29"/>
                <a:gd name="T73" fmla="*/ 26 h 29"/>
                <a:gd name="T74" fmla="*/ 9 w 29"/>
                <a:gd name="T75" fmla="*/ 26 h 29"/>
                <a:gd name="T76" fmla="*/ 9 w 29"/>
                <a:gd name="T77" fmla="*/ 26 h 29"/>
                <a:gd name="T78" fmla="*/ 12 w 29"/>
                <a:gd name="T79" fmla="*/ 26 h 29"/>
                <a:gd name="T80" fmla="*/ 14 w 29"/>
                <a:gd name="T81" fmla="*/ 29 h 29"/>
                <a:gd name="T82" fmla="*/ 14 w 29"/>
                <a:gd name="T83" fmla="*/ 29 h 29"/>
                <a:gd name="T84" fmla="*/ 12 w 29"/>
                <a:gd name="T85" fmla="*/ 26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29"/>
                <a:gd name="T131" fmla="*/ 29 w 29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29">
                  <a:moveTo>
                    <a:pt x="12" y="26"/>
                  </a:moveTo>
                  <a:lnTo>
                    <a:pt x="17" y="26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3" y="23"/>
                  </a:lnTo>
                  <a:lnTo>
                    <a:pt x="26" y="23"/>
                  </a:lnTo>
                  <a:lnTo>
                    <a:pt x="26" y="21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4" y="29"/>
                  </a:lnTo>
                  <a:lnTo>
                    <a:pt x="12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Freeform 103"/>
            <p:cNvSpPr>
              <a:spLocks noChangeArrowheads="1"/>
            </p:cNvSpPr>
            <p:nvPr/>
          </p:nvSpPr>
          <p:spPr bwMode="auto">
            <a:xfrm>
              <a:off x="2002" y="3607"/>
              <a:ext cx="29" cy="29"/>
            </a:xfrm>
            <a:custGeom>
              <a:avLst/>
              <a:gdLst>
                <a:gd name="T0" fmla="*/ 12 w 29"/>
                <a:gd name="T1" fmla="*/ 26 h 29"/>
                <a:gd name="T2" fmla="*/ 17 w 29"/>
                <a:gd name="T3" fmla="*/ 26 h 29"/>
                <a:gd name="T4" fmla="*/ 17 w 29"/>
                <a:gd name="T5" fmla="*/ 26 h 29"/>
                <a:gd name="T6" fmla="*/ 20 w 29"/>
                <a:gd name="T7" fmla="*/ 26 h 29"/>
                <a:gd name="T8" fmla="*/ 23 w 29"/>
                <a:gd name="T9" fmla="*/ 26 h 29"/>
                <a:gd name="T10" fmla="*/ 23 w 29"/>
                <a:gd name="T11" fmla="*/ 23 h 29"/>
                <a:gd name="T12" fmla="*/ 26 w 29"/>
                <a:gd name="T13" fmla="*/ 23 h 29"/>
                <a:gd name="T14" fmla="*/ 26 w 29"/>
                <a:gd name="T15" fmla="*/ 21 h 29"/>
                <a:gd name="T16" fmla="*/ 29 w 29"/>
                <a:gd name="T17" fmla="*/ 18 h 29"/>
                <a:gd name="T18" fmla="*/ 29 w 29"/>
                <a:gd name="T19" fmla="*/ 15 h 29"/>
                <a:gd name="T20" fmla="*/ 29 w 29"/>
                <a:gd name="T21" fmla="*/ 15 h 29"/>
                <a:gd name="T22" fmla="*/ 29 w 29"/>
                <a:gd name="T23" fmla="*/ 12 h 29"/>
                <a:gd name="T24" fmla="*/ 29 w 29"/>
                <a:gd name="T25" fmla="*/ 9 h 29"/>
                <a:gd name="T26" fmla="*/ 26 w 29"/>
                <a:gd name="T27" fmla="*/ 6 h 29"/>
                <a:gd name="T28" fmla="*/ 26 w 29"/>
                <a:gd name="T29" fmla="*/ 6 h 29"/>
                <a:gd name="T30" fmla="*/ 23 w 29"/>
                <a:gd name="T31" fmla="*/ 3 h 29"/>
                <a:gd name="T32" fmla="*/ 23 w 29"/>
                <a:gd name="T33" fmla="*/ 3 h 29"/>
                <a:gd name="T34" fmla="*/ 20 w 29"/>
                <a:gd name="T35" fmla="*/ 0 h 29"/>
                <a:gd name="T36" fmla="*/ 17 w 29"/>
                <a:gd name="T37" fmla="*/ 0 h 29"/>
                <a:gd name="T38" fmla="*/ 17 w 29"/>
                <a:gd name="T39" fmla="*/ 0 h 29"/>
                <a:gd name="T40" fmla="*/ 14 w 29"/>
                <a:gd name="T41" fmla="*/ 0 h 29"/>
                <a:gd name="T42" fmla="*/ 12 w 29"/>
                <a:gd name="T43" fmla="*/ 0 h 29"/>
                <a:gd name="T44" fmla="*/ 9 w 29"/>
                <a:gd name="T45" fmla="*/ 0 h 29"/>
                <a:gd name="T46" fmla="*/ 9 w 29"/>
                <a:gd name="T47" fmla="*/ 0 h 29"/>
                <a:gd name="T48" fmla="*/ 6 w 29"/>
                <a:gd name="T49" fmla="*/ 3 h 29"/>
                <a:gd name="T50" fmla="*/ 3 w 29"/>
                <a:gd name="T51" fmla="*/ 3 h 29"/>
                <a:gd name="T52" fmla="*/ 3 w 29"/>
                <a:gd name="T53" fmla="*/ 6 h 29"/>
                <a:gd name="T54" fmla="*/ 0 w 29"/>
                <a:gd name="T55" fmla="*/ 6 h 29"/>
                <a:gd name="T56" fmla="*/ 0 w 29"/>
                <a:gd name="T57" fmla="*/ 9 h 29"/>
                <a:gd name="T58" fmla="*/ 0 w 29"/>
                <a:gd name="T59" fmla="*/ 12 h 29"/>
                <a:gd name="T60" fmla="*/ 0 w 29"/>
                <a:gd name="T61" fmla="*/ 15 h 29"/>
                <a:gd name="T62" fmla="*/ 0 w 29"/>
                <a:gd name="T63" fmla="*/ 15 h 29"/>
                <a:gd name="T64" fmla="*/ 0 w 29"/>
                <a:gd name="T65" fmla="*/ 18 h 29"/>
                <a:gd name="T66" fmla="*/ 0 w 29"/>
                <a:gd name="T67" fmla="*/ 21 h 29"/>
                <a:gd name="T68" fmla="*/ 3 w 29"/>
                <a:gd name="T69" fmla="*/ 23 h 29"/>
                <a:gd name="T70" fmla="*/ 3 w 29"/>
                <a:gd name="T71" fmla="*/ 23 h 29"/>
                <a:gd name="T72" fmla="*/ 6 w 29"/>
                <a:gd name="T73" fmla="*/ 26 h 29"/>
                <a:gd name="T74" fmla="*/ 9 w 29"/>
                <a:gd name="T75" fmla="*/ 26 h 29"/>
                <a:gd name="T76" fmla="*/ 9 w 29"/>
                <a:gd name="T77" fmla="*/ 26 h 29"/>
                <a:gd name="T78" fmla="*/ 12 w 29"/>
                <a:gd name="T79" fmla="*/ 26 h 29"/>
                <a:gd name="T80" fmla="*/ 14 w 29"/>
                <a:gd name="T81" fmla="*/ 29 h 29"/>
                <a:gd name="T82" fmla="*/ 14 w 29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29"/>
                <a:gd name="T128" fmla="*/ 29 w 29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29">
                  <a:moveTo>
                    <a:pt x="12" y="26"/>
                  </a:moveTo>
                  <a:lnTo>
                    <a:pt x="17" y="26"/>
                  </a:lnTo>
                  <a:lnTo>
                    <a:pt x="20" y="26"/>
                  </a:lnTo>
                  <a:lnTo>
                    <a:pt x="23" y="26"/>
                  </a:lnTo>
                  <a:lnTo>
                    <a:pt x="23" y="23"/>
                  </a:lnTo>
                  <a:lnTo>
                    <a:pt x="26" y="23"/>
                  </a:lnTo>
                  <a:lnTo>
                    <a:pt x="26" y="21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9" y="9"/>
                  </a:lnTo>
                  <a:lnTo>
                    <a:pt x="26" y="6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4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6" name="Freeform 104"/>
            <p:cNvSpPr>
              <a:spLocks noChangeArrowheads="1"/>
            </p:cNvSpPr>
            <p:nvPr/>
          </p:nvSpPr>
          <p:spPr bwMode="auto">
            <a:xfrm>
              <a:off x="2442" y="2433"/>
              <a:ext cx="30" cy="29"/>
            </a:xfrm>
            <a:custGeom>
              <a:avLst/>
              <a:gdLst>
                <a:gd name="T0" fmla="*/ 15 w 30"/>
                <a:gd name="T1" fmla="*/ 26 h 29"/>
                <a:gd name="T2" fmla="*/ 18 w 30"/>
                <a:gd name="T3" fmla="*/ 26 h 29"/>
                <a:gd name="T4" fmla="*/ 21 w 30"/>
                <a:gd name="T5" fmla="*/ 26 h 29"/>
                <a:gd name="T6" fmla="*/ 21 w 30"/>
                <a:gd name="T7" fmla="*/ 26 h 29"/>
                <a:gd name="T8" fmla="*/ 24 w 30"/>
                <a:gd name="T9" fmla="*/ 26 h 29"/>
                <a:gd name="T10" fmla="*/ 27 w 30"/>
                <a:gd name="T11" fmla="*/ 23 h 29"/>
                <a:gd name="T12" fmla="*/ 27 w 30"/>
                <a:gd name="T13" fmla="*/ 23 h 29"/>
                <a:gd name="T14" fmla="*/ 30 w 30"/>
                <a:gd name="T15" fmla="*/ 20 h 29"/>
                <a:gd name="T16" fmla="*/ 30 w 30"/>
                <a:gd name="T17" fmla="*/ 17 h 29"/>
                <a:gd name="T18" fmla="*/ 30 w 30"/>
                <a:gd name="T19" fmla="*/ 14 h 29"/>
                <a:gd name="T20" fmla="*/ 30 w 30"/>
                <a:gd name="T21" fmla="*/ 14 h 29"/>
                <a:gd name="T22" fmla="*/ 30 w 30"/>
                <a:gd name="T23" fmla="*/ 11 h 29"/>
                <a:gd name="T24" fmla="*/ 30 w 30"/>
                <a:gd name="T25" fmla="*/ 8 h 29"/>
                <a:gd name="T26" fmla="*/ 30 w 30"/>
                <a:gd name="T27" fmla="*/ 5 h 29"/>
                <a:gd name="T28" fmla="*/ 27 w 30"/>
                <a:gd name="T29" fmla="*/ 5 h 29"/>
                <a:gd name="T30" fmla="*/ 27 w 30"/>
                <a:gd name="T31" fmla="*/ 2 h 29"/>
                <a:gd name="T32" fmla="*/ 24 w 30"/>
                <a:gd name="T33" fmla="*/ 2 h 29"/>
                <a:gd name="T34" fmla="*/ 21 w 30"/>
                <a:gd name="T35" fmla="*/ 0 h 29"/>
                <a:gd name="T36" fmla="*/ 21 w 30"/>
                <a:gd name="T37" fmla="*/ 0 h 29"/>
                <a:gd name="T38" fmla="*/ 18 w 30"/>
                <a:gd name="T39" fmla="*/ 0 h 29"/>
                <a:gd name="T40" fmla="*/ 15 w 30"/>
                <a:gd name="T41" fmla="*/ 0 h 29"/>
                <a:gd name="T42" fmla="*/ 12 w 30"/>
                <a:gd name="T43" fmla="*/ 0 h 29"/>
                <a:gd name="T44" fmla="*/ 12 w 30"/>
                <a:gd name="T45" fmla="*/ 0 h 29"/>
                <a:gd name="T46" fmla="*/ 9 w 30"/>
                <a:gd name="T47" fmla="*/ 0 h 29"/>
                <a:gd name="T48" fmla="*/ 6 w 30"/>
                <a:gd name="T49" fmla="*/ 2 h 29"/>
                <a:gd name="T50" fmla="*/ 6 w 30"/>
                <a:gd name="T51" fmla="*/ 2 h 29"/>
                <a:gd name="T52" fmla="*/ 3 w 30"/>
                <a:gd name="T53" fmla="*/ 5 h 29"/>
                <a:gd name="T54" fmla="*/ 3 w 30"/>
                <a:gd name="T55" fmla="*/ 5 h 29"/>
                <a:gd name="T56" fmla="*/ 3 w 30"/>
                <a:gd name="T57" fmla="*/ 8 h 29"/>
                <a:gd name="T58" fmla="*/ 0 w 30"/>
                <a:gd name="T59" fmla="*/ 11 h 29"/>
                <a:gd name="T60" fmla="*/ 0 w 30"/>
                <a:gd name="T61" fmla="*/ 14 h 29"/>
                <a:gd name="T62" fmla="*/ 0 w 30"/>
                <a:gd name="T63" fmla="*/ 14 h 29"/>
                <a:gd name="T64" fmla="*/ 3 w 30"/>
                <a:gd name="T65" fmla="*/ 17 h 29"/>
                <a:gd name="T66" fmla="*/ 3 w 30"/>
                <a:gd name="T67" fmla="*/ 20 h 29"/>
                <a:gd name="T68" fmla="*/ 3 w 30"/>
                <a:gd name="T69" fmla="*/ 23 h 29"/>
                <a:gd name="T70" fmla="*/ 6 w 30"/>
                <a:gd name="T71" fmla="*/ 23 h 29"/>
                <a:gd name="T72" fmla="*/ 6 w 30"/>
                <a:gd name="T73" fmla="*/ 26 h 29"/>
                <a:gd name="T74" fmla="*/ 9 w 30"/>
                <a:gd name="T75" fmla="*/ 26 h 29"/>
                <a:gd name="T76" fmla="*/ 12 w 30"/>
                <a:gd name="T77" fmla="*/ 26 h 29"/>
                <a:gd name="T78" fmla="*/ 12 w 30"/>
                <a:gd name="T79" fmla="*/ 26 h 29"/>
                <a:gd name="T80" fmla="*/ 15 w 30"/>
                <a:gd name="T81" fmla="*/ 29 h 29"/>
                <a:gd name="T82" fmla="*/ 15 w 30"/>
                <a:gd name="T83" fmla="*/ 29 h 29"/>
                <a:gd name="T84" fmla="*/ 15 w 30"/>
                <a:gd name="T85" fmla="*/ 26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30"/>
                <a:gd name="T130" fmla="*/ 0 h 29"/>
                <a:gd name="T131" fmla="*/ 30 w 30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30" h="29">
                  <a:moveTo>
                    <a:pt x="15" y="26"/>
                  </a:moveTo>
                  <a:lnTo>
                    <a:pt x="18" y="26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7" y="23"/>
                  </a:lnTo>
                  <a:lnTo>
                    <a:pt x="30" y="20"/>
                  </a:lnTo>
                  <a:lnTo>
                    <a:pt x="30" y="17"/>
                  </a:lnTo>
                  <a:lnTo>
                    <a:pt x="30" y="14"/>
                  </a:lnTo>
                  <a:lnTo>
                    <a:pt x="30" y="11"/>
                  </a:lnTo>
                  <a:lnTo>
                    <a:pt x="30" y="8"/>
                  </a:lnTo>
                  <a:lnTo>
                    <a:pt x="30" y="5"/>
                  </a:lnTo>
                  <a:lnTo>
                    <a:pt x="27" y="5"/>
                  </a:lnTo>
                  <a:lnTo>
                    <a:pt x="27" y="2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2"/>
                  </a:lnTo>
                  <a:lnTo>
                    <a:pt x="3" y="5"/>
                  </a:lnTo>
                  <a:lnTo>
                    <a:pt x="3" y="8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5" y="29"/>
                  </a:lnTo>
                  <a:lnTo>
                    <a:pt x="15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" name="Freeform 105"/>
            <p:cNvSpPr>
              <a:spLocks noChangeArrowheads="1"/>
            </p:cNvSpPr>
            <p:nvPr/>
          </p:nvSpPr>
          <p:spPr bwMode="auto">
            <a:xfrm>
              <a:off x="2442" y="2433"/>
              <a:ext cx="30" cy="29"/>
            </a:xfrm>
            <a:custGeom>
              <a:avLst/>
              <a:gdLst>
                <a:gd name="T0" fmla="*/ 15 w 30"/>
                <a:gd name="T1" fmla="*/ 26 h 29"/>
                <a:gd name="T2" fmla="*/ 18 w 30"/>
                <a:gd name="T3" fmla="*/ 26 h 29"/>
                <a:gd name="T4" fmla="*/ 21 w 30"/>
                <a:gd name="T5" fmla="*/ 26 h 29"/>
                <a:gd name="T6" fmla="*/ 21 w 30"/>
                <a:gd name="T7" fmla="*/ 26 h 29"/>
                <a:gd name="T8" fmla="*/ 24 w 30"/>
                <a:gd name="T9" fmla="*/ 26 h 29"/>
                <a:gd name="T10" fmla="*/ 27 w 30"/>
                <a:gd name="T11" fmla="*/ 23 h 29"/>
                <a:gd name="T12" fmla="*/ 27 w 30"/>
                <a:gd name="T13" fmla="*/ 23 h 29"/>
                <a:gd name="T14" fmla="*/ 30 w 30"/>
                <a:gd name="T15" fmla="*/ 20 h 29"/>
                <a:gd name="T16" fmla="*/ 30 w 30"/>
                <a:gd name="T17" fmla="*/ 17 h 29"/>
                <a:gd name="T18" fmla="*/ 30 w 30"/>
                <a:gd name="T19" fmla="*/ 14 h 29"/>
                <a:gd name="T20" fmla="*/ 30 w 30"/>
                <a:gd name="T21" fmla="*/ 14 h 29"/>
                <a:gd name="T22" fmla="*/ 30 w 30"/>
                <a:gd name="T23" fmla="*/ 11 h 29"/>
                <a:gd name="T24" fmla="*/ 30 w 30"/>
                <a:gd name="T25" fmla="*/ 8 h 29"/>
                <a:gd name="T26" fmla="*/ 30 w 30"/>
                <a:gd name="T27" fmla="*/ 5 h 29"/>
                <a:gd name="T28" fmla="*/ 27 w 30"/>
                <a:gd name="T29" fmla="*/ 5 h 29"/>
                <a:gd name="T30" fmla="*/ 27 w 30"/>
                <a:gd name="T31" fmla="*/ 2 h 29"/>
                <a:gd name="T32" fmla="*/ 24 w 30"/>
                <a:gd name="T33" fmla="*/ 2 h 29"/>
                <a:gd name="T34" fmla="*/ 21 w 30"/>
                <a:gd name="T35" fmla="*/ 0 h 29"/>
                <a:gd name="T36" fmla="*/ 21 w 30"/>
                <a:gd name="T37" fmla="*/ 0 h 29"/>
                <a:gd name="T38" fmla="*/ 18 w 30"/>
                <a:gd name="T39" fmla="*/ 0 h 29"/>
                <a:gd name="T40" fmla="*/ 15 w 30"/>
                <a:gd name="T41" fmla="*/ 0 h 29"/>
                <a:gd name="T42" fmla="*/ 12 w 30"/>
                <a:gd name="T43" fmla="*/ 0 h 29"/>
                <a:gd name="T44" fmla="*/ 12 w 30"/>
                <a:gd name="T45" fmla="*/ 0 h 29"/>
                <a:gd name="T46" fmla="*/ 9 w 30"/>
                <a:gd name="T47" fmla="*/ 0 h 29"/>
                <a:gd name="T48" fmla="*/ 6 w 30"/>
                <a:gd name="T49" fmla="*/ 2 h 29"/>
                <a:gd name="T50" fmla="*/ 6 w 30"/>
                <a:gd name="T51" fmla="*/ 2 h 29"/>
                <a:gd name="T52" fmla="*/ 3 w 30"/>
                <a:gd name="T53" fmla="*/ 5 h 29"/>
                <a:gd name="T54" fmla="*/ 3 w 30"/>
                <a:gd name="T55" fmla="*/ 5 h 29"/>
                <a:gd name="T56" fmla="*/ 3 w 30"/>
                <a:gd name="T57" fmla="*/ 8 h 29"/>
                <a:gd name="T58" fmla="*/ 0 w 30"/>
                <a:gd name="T59" fmla="*/ 11 h 29"/>
                <a:gd name="T60" fmla="*/ 0 w 30"/>
                <a:gd name="T61" fmla="*/ 14 h 29"/>
                <a:gd name="T62" fmla="*/ 0 w 30"/>
                <a:gd name="T63" fmla="*/ 14 h 29"/>
                <a:gd name="T64" fmla="*/ 3 w 30"/>
                <a:gd name="T65" fmla="*/ 17 h 29"/>
                <a:gd name="T66" fmla="*/ 3 w 30"/>
                <a:gd name="T67" fmla="*/ 20 h 29"/>
                <a:gd name="T68" fmla="*/ 3 w 30"/>
                <a:gd name="T69" fmla="*/ 23 h 29"/>
                <a:gd name="T70" fmla="*/ 6 w 30"/>
                <a:gd name="T71" fmla="*/ 23 h 29"/>
                <a:gd name="T72" fmla="*/ 6 w 30"/>
                <a:gd name="T73" fmla="*/ 26 h 29"/>
                <a:gd name="T74" fmla="*/ 9 w 30"/>
                <a:gd name="T75" fmla="*/ 26 h 29"/>
                <a:gd name="T76" fmla="*/ 12 w 30"/>
                <a:gd name="T77" fmla="*/ 26 h 29"/>
                <a:gd name="T78" fmla="*/ 12 w 30"/>
                <a:gd name="T79" fmla="*/ 26 h 29"/>
                <a:gd name="T80" fmla="*/ 15 w 30"/>
                <a:gd name="T81" fmla="*/ 29 h 29"/>
                <a:gd name="T82" fmla="*/ 15 w 30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9"/>
                <a:gd name="T128" fmla="*/ 30 w 30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9">
                  <a:moveTo>
                    <a:pt x="15" y="26"/>
                  </a:moveTo>
                  <a:lnTo>
                    <a:pt x="18" y="26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7" y="23"/>
                  </a:lnTo>
                  <a:lnTo>
                    <a:pt x="30" y="20"/>
                  </a:lnTo>
                  <a:lnTo>
                    <a:pt x="30" y="17"/>
                  </a:lnTo>
                  <a:lnTo>
                    <a:pt x="30" y="14"/>
                  </a:lnTo>
                  <a:lnTo>
                    <a:pt x="30" y="11"/>
                  </a:lnTo>
                  <a:lnTo>
                    <a:pt x="30" y="8"/>
                  </a:lnTo>
                  <a:lnTo>
                    <a:pt x="30" y="5"/>
                  </a:lnTo>
                  <a:lnTo>
                    <a:pt x="27" y="5"/>
                  </a:lnTo>
                  <a:lnTo>
                    <a:pt x="27" y="2"/>
                  </a:lnTo>
                  <a:lnTo>
                    <a:pt x="24" y="2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2"/>
                  </a:lnTo>
                  <a:lnTo>
                    <a:pt x="3" y="5"/>
                  </a:lnTo>
                  <a:lnTo>
                    <a:pt x="3" y="8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5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8" name="Freeform 106"/>
            <p:cNvSpPr>
              <a:spLocks noChangeArrowheads="1"/>
            </p:cNvSpPr>
            <p:nvPr/>
          </p:nvSpPr>
          <p:spPr bwMode="auto">
            <a:xfrm>
              <a:off x="2442" y="2691"/>
              <a:ext cx="30" cy="29"/>
            </a:xfrm>
            <a:custGeom>
              <a:avLst/>
              <a:gdLst>
                <a:gd name="T0" fmla="*/ 15 w 30"/>
                <a:gd name="T1" fmla="*/ 29 h 29"/>
                <a:gd name="T2" fmla="*/ 18 w 30"/>
                <a:gd name="T3" fmla="*/ 29 h 29"/>
                <a:gd name="T4" fmla="*/ 21 w 30"/>
                <a:gd name="T5" fmla="*/ 29 h 29"/>
                <a:gd name="T6" fmla="*/ 21 w 30"/>
                <a:gd name="T7" fmla="*/ 26 h 29"/>
                <a:gd name="T8" fmla="*/ 24 w 30"/>
                <a:gd name="T9" fmla="*/ 26 h 29"/>
                <a:gd name="T10" fmla="*/ 27 w 30"/>
                <a:gd name="T11" fmla="*/ 26 h 29"/>
                <a:gd name="T12" fmla="*/ 27 w 30"/>
                <a:gd name="T13" fmla="*/ 23 h 29"/>
                <a:gd name="T14" fmla="*/ 30 w 30"/>
                <a:gd name="T15" fmla="*/ 20 h 29"/>
                <a:gd name="T16" fmla="*/ 30 w 30"/>
                <a:gd name="T17" fmla="*/ 20 h 29"/>
                <a:gd name="T18" fmla="*/ 30 w 30"/>
                <a:gd name="T19" fmla="*/ 18 h 29"/>
                <a:gd name="T20" fmla="*/ 30 w 30"/>
                <a:gd name="T21" fmla="*/ 15 h 29"/>
                <a:gd name="T22" fmla="*/ 30 w 30"/>
                <a:gd name="T23" fmla="*/ 12 h 29"/>
                <a:gd name="T24" fmla="*/ 30 w 30"/>
                <a:gd name="T25" fmla="*/ 12 h 29"/>
                <a:gd name="T26" fmla="*/ 30 w 30"/>
                <a:gd name="T27" fmla="*/ 9 h 29"/>
                <a:gd name="T28" fmla="*/ 27 w 30"/>
                <a:gd name="T29" fmla="*/ 6 h 29"/>
                <a:gd name="T30" fmla="*/ 27 w 30"/>
                <a:gd name="T31" fmla="*/ 6 h 29"/>
                <a:gd name="T32" fmla="*/ 24 w 30"/>
                <a:gd name="T33" fmla="*/ 3 h 29"/>
                <a:gd name="T34" fmla="*/ 21 w 30"/>
                <a:gd name="T35" fmla="*/ 3 h 29"/>
                <a:gd name="T36" fmla="*/ 21 w 30"/>
                <a:gd name="T37" fmla="*/ 0 h 29"/>
                <a:gd name="T38" fmla="*/ 18 w 30"/>
                <a:gd name="T39" fmla="*/ 0 h 29"/>
                <a:gd name="T40" fmla="*/ 15 w 30"/>
                <a:gd name="T41" fmla="*/ 0 h 29"/>
                <a:gd name="T42" fmla="*/ 12 w 30"/>
                <a:gd name="T43" fmla="*/ 0 h 29"/>
                <a:gd name="T44" fmla="*/ 12 w 30"/>
                <a:gd name="T45" fmla="*/ 0 h 29"/>
                <a:gd name="T46" fmla="*/ 9 w 30"/>
                <a:gd name="T47" fmla="*/ 3 h 29"/>
                <a:gd name="T48" fmla="*/ 6 w 30"/>
                <a:gd name="T49" fmla="*/ 3 h 29"/>
                <a:gd name="T50" fmla="*/ 6 w 30"/>
                <a:gd name="T51" fmla="*/ 6 h 29"/>
                <a:gd name="T52" fmla="*/ 3 w 30"/>
                <a:gd name="T53" fmla="*/ 6 h 29"/>
                <a:gd name="T54" fmla="*/ 3 w 30"/>
                <a:gd name="T55" fmla="*/ 9 h 29"/>
                <a:gd name="T56" fmla="*/ 3 w 30"/>
                <a:gd name="T57" fmla="*/ 12 h 29"/>
                <a:gd name="T58" fmla="*/ 0 w 30"/>
                <a:gd name="T59" fmla="*/ 12 h 29"/>
                <a:gd name="T60" fmla="*/ 0 w 30"/>
                <a:gd name="T61" fmla="*/ 15 h 29"/>
                <a:gd name="T62" fmla="*/ 0 w 30"/>
                <a:gd name="T63" fmla="*/ 18 h 29"/>
                <a:gd name="T64" fmla="*/ 3 w 30"/>
                <a:gd name="T65" fmla="*/ 20 h 29"/>
                <a:gd name="T66" fmla="*/ 3 w 30"/>
                <a:gd name="T67" fmla="*/ 20 h 29"/>
                <a:gd name="T68" fmla="*/ 3 w 30"/>
                <a:gd name="T69" fmla="*/ 23 h 29"/>
                <a:gd name="T70" fmla="*/ 6 w 30"/>
                <a:gd name="T71" fmla="*/ 26 h 29"/>
                <a:gd name="T72" fmla="*/ 6 w 30"/>
                <a:gd name="T73" fmla="*/ 26 h 29"/>
                <a:gd name="T74" fmla="*/ 9 w 30"/>
                <a:gd name="T75" fmla="*/ 26 h 29"/>
                <a:gd name="T76" fmla="*/ 12 w 30"/>
                <a:gd name="T77" fmla="*/ 29 h 29"/>
                <a:gd name="T78" fmla="*/ 12 w 30"/>
                <a:gd name="T79" fmla="*/ 29 h 29"/>
                <a:gd name="T80" fmla="*/ 15 w 30"/>
                <a:gd name="T81" fmla="*/ 29 h 29"/>
                <a:gd name="T82" fmla="*/ 15 w 30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9"/>
                <a:gd name="T128" fmla="*/ 30 w 30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9">
                  <a:moveTo>
                    <a:pt x="15" y="29"/>
                  </a:moveTo>
                  <a:lnTo>
                    <a:pt x="18" y="29"/>
                  </a:lnTo>
                  <a:lnTo>
                    <a:pt x="21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7" y="26"/>
                  </a:lnTo>
                  <a:lnTo>
                    <a:pt x="27" y="23"/>
                  </a:lnTo>
                  <a:lnTo>
                    <a:pt x="30" y="20"/>
                  </a:lnTo>
                  <a:lnTo>
                    <a:pt x="30" y="18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30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9"/>
                  </a:lnTo>
                  <a:lnTo>
                    <a:pt x="15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Freeform 107"/>
            <p:cNvSpPr>
              <a:spLocks noChangeArrowheads="1"/>
            </p:cNvSpPr>
            <p:nvPr/>
          </p:nvSpPr>
          <p:spPr bwMode="auto">
            <a:xfrm>
              <a:off x="2442" y="2691"/>
              <a:ext cx="30" cy="29"/>
            </a:xfrm>
            <a:custGeom>
              <a:avLst/>
              <a:gdLst>
                <a:gd name="T0" fmla="*/ 15 w 30"/>
                <a:gd name="T1" fmla="*/ 29 h 29"/>
                <a:gd name="T2" fmla="*/ 18 w 30"/>
                <a:gd name="T3" fmla="*/ 29 h 29"/>
                <a:gd name="T4" fmla="*/ 21 w 30"/>
                <a:gd name="T5" fmla="*/ 29 h 29"/>
                <a:gd name="T6" fmla="*/ 21 w 30"/>
                <a:gd name="T7" fmla="*/ 26 h 29"/>
                <a:gd name="T8" fmla="*/ 24 w 30"/>
                <a:gd name="T9" fmla="*/ 26 h 29"/>
                <a:gd name="T10" fmla="*/ 27 w 30"/>
                <a:gd name="T11" fmla="*/ 26 h 29"/>
                <a:gd name="T12" fmla="*/ 27 w 30"/>
                <a:gd name="T13" fmla="*/ 23 h 29"/>
                <a:gd name="T14" fmla="*/ 30 w 30"/>
                <a:gd name="T15" fmla="*/ 20 h 29"/>
                <a:gd name="T16" fmla="*/ 30 w 30"/>
                <a:gd name="T17" fmla="*/ 20 h 29"/>
                <a:gd name="T18" fmla="*/ 30 w 30"/>
                <a:gd name="T19" fmla="*/ 18 h 29"/>
                <a:gd name="T20" fmla="*/ 30 w 30"/>
                <a:gd name="T21" fmla="*/ 15 h 29"/>
                <a:gd name="T22" fmla="*/ 30 w 30"/>
                <a:gd name="T23" fmla="*/ 12 h 29"/>
                <a:gd name="T24" fmla="*/ 30 w 30"/>
                <a:gd name="T25" fmla="*/ 12 h 29"/>
                <a:gd name="T26" fmla="*/ 30 w 30"/>
                <a:gd name="T27" fmla="*/ 9 h 29"/>
                <a:gd name="T28" fmla="*/ 27 w 30"/>
                <a:gd name="T29" fmla="*/ 6 h 29"/>
                <a:gd name="T30" fmla="*/ 27 w 30"/>
                <a:gd name="T31" fmla="*/ 6 h 29"/>
                <a:gd name="T32" fmla="*/ 24 w 30"/>
                <a:gd name="T33" fmla="*/ 3 h 29"/>
                <a:gd name="T34" fmla="*/ 21 w 30"/>
                <a:gd name="T35" fmla="*/ 3 h 29"/>
                <a:gd name="T36" fmla="*/ 21 w 30"/>
                <a:gd name="T37" fmla="*/ 0 h 29"/>
                <a:gd name="T38" fmla="*/ 18 w 30"/>
                <a:gd name="T39" fmla="*/ 0 h 29"/>
                <a:gd name="T40" fmla="*/ 15 w 30"/>
                <a:gd name="T41" fmla="*/ 0 h 29"/>
                <a:gd name="T42" fmla="*/ 12 w 30"/>
                <a:gd name="T43" fmla="*/ 0 h 29"/>
                <a:gd name="T44" fmla="*/ 12 w 30"/>
                <a:gd name="T45" fmla="*/ 0 h 29"/>
                <a:gd name="T46" fmla="*/ 9 w 30"/>
                <a:gd name="T47" fmla="*/ 3 h 29"/>
                <a:gd name="T48" fmla="*/ 6 w 30"/>
                <a:gd name="T49" fmla="*/ 3 h 29"/>
                <a:gd name="T50" fmla="*/ 6 w 30"/>
                <a:gd name="T51" fmla="*/ 6 h 29"/>
                <a:gd name="T52" fmla="*/ 3 w 30"/>
                <a:gd name="T53" fmla="*/ 6 h 29"/>
                <a:gd name="T54" fmla="*/ 3 w 30"/>
                <a:gd name="T55" fmla="*/ 9 h 29"/>
                <a:gd name="T56" fmla="*/ 3 w 30"/>
                <a:gd name="T57" fmla="*/ 12 h 29"/>
                <a:gd name="T58" fmla="*/ 0 w 30"/>
                <a:gd name="T59" fmla="*/ 12 h 29"/>
                <a:gd name="T60" fmla="*/ 0 w 30"/>
                <a:gd name="T61" fmla="*/ 15 h 29"/>
                <a:gd name="T62" fmla="*/ 0 w 30"/>
                <a:gd name="T63" fmla="*/ 18 h 29"/>
                <a:gd name="T64" fmla="*/ 3 w 30"/>
                <a:gd name="T65" fmla="*/ 20 h 29"/>
                <a:gd name="T66" fmla="*/ 3 w 30"/>
                <a:gd name="T67" fmla="*/ 20 h 29"/>
                <a:gd name="T68" fmla="*/ 3 w 30"/>
                <a:gd name="T69" fmla="*/ 23 h 29"/>
                <a:gd name="T70" fmla="*/ 6 w 30"/>
                <a:gd name="T71" fmla="*/ 26 h 29"/>
                <a:gd name="T72" fmla="*/ 6 w 30"/>
                <a:gd name="T73" fmla="*/ 26 h 29"/>
                <a:gd name="T74" fmla="*/ 9 w 30"/>
                <a:gd name="T75" fmla="*/ 26 h 29"/>
                <a:gd name="T76" fmla="*/ 12 w 30"/>
                <a:gd name="T77" fmla="*/ 29 h 29"/>
                <a:gd name="T78" fmla="*/ 12 w 30"/>
                <a:gd name="T79" fmla="*/ 29 h 29"/>
                <a:gd name="T80" fmla="*/ 15 w 30"/>
                <a:gd name="T81" fmla="*/ 29 h 29"/>
                <a:gd name="T82" fmla="*/ 15 w 30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9"/>
                <a:gd name="T128" fmla="*/ 30 w 30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9">
                  <a:moveTo>
                    <a:pt x="15" y="29"/>
                  </a:moveTo>
                  <a:lnTo>
                    <a:pt x="18" y="29"/>
                  </a:lnTo>
                  <a:lnTo>
                    <a:pt x="21" y="29"/>
                  </a:lnTo>
                  <a:lnTo>
                    <a:pt x="21" y="26"/>
                  </a:lnTo>
                  <a:lnTo>
                    <a:pt x="24" y="26"/>
                  </a:lnTo>
                  <a:lnTo>
                    <a:pt x="27" y="26"/>
                  </a:lnTo>
                  <a:lnTo>
                    <a:pt x="27" y="23"/>
                  </a:lnTo>
                  <a:lnTo>
                    <a:pt x="30" y="20"/>
                  </a:lnTo>
                  <a:lnTo>
                    <a:pt x="30" y="18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30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9"/>
                  </a:lnTo>
                  <a:lnTo>
                    <a:pt x="15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" name="Freeform 108"/>
            <p:cNvSpPr>
              <a:spLocks noChangeArrowheads="1"/>
            </p:cNvSpPr>
            <p:nvPr/>
          </p:nvSpPr>
          <p:spPr bwMode="auto">
            <a:xfrm>
              <a:off x="2442" y="2952"/>
              <a:ext cx="30" cy="30"/>
            </a:xfrm>
            <a:custGeom>
              <a:avLst/>
              <a:gdLst>
                <a:gd name="T0" fmla="*/ 15 w 30"/>
                <a:gd name="T1" fmla="*/ 30 h 30"/>
                <a:gd name="T2" fmla="*/ 18 w 30"/>
                <a:gd name="T3" fmla="*/ 30 h 30"/>
                <a:gd name="T4" fmla="*/ 21 w 30"/>
                <a:gd name="T5" fmla="*/ 30 h 30"/>
                <a:gd name="T6" fmla="*/ 21 w 30"/>
                <a:gd name="T7" fmla="*/ 30 h 30"/>
                <a:gd name="T8" fmla="*/ 24 w 30"/>
                <a:gd name="T9" fmla="*/ 27 h 30"/>
                <a:gd name="T10" fmla="*/ 27 w 30"/>
                <a:gd name="T11" fmla="*/ 27 h 30"/>
                <a:gd name="T12" fmla="*/ 27 w 30"/>
                <a:gd name="T13" fmla="*/ 24 h 30"/>
                <a:gd name="T14" fmla="*/ 30 w 30"/>
                <a:gd name="T15" fmla="*/ 24 h 30"/>
                <a:gd name="T16" fmla="*/ 30 w 30"/>
                <a:gd name="T17" fmla="*/ 21 h 30"/>
                <a:gd name="T18" fmla="*/ 30 w 30"/>
                <a:gd name="T19" fmla="*/ 18 h 30"/>
                <a:gd name="T20" fmla="*/ 30 w 30"/>
                <a:gd name="T21" fmla="*/ 15 h 30"/>
                <a:gd name="T22" fmla="*/ 30 w 30"/>
                <a:gd name="T23" fmla="*/ 12 h 30"/>
                <a:gd name="T24" fmla="*/ 30 w 30"/>
                <a:gd name="T25" fmla="*/ 12 h 30"/>
                <a:gd name="T26" fmla="*/ 30 w 30"/>
                <a:gd name="T27" fmla="*/ 9 h 30"/>
                <a:gd name="T28" fmla="*/ 27 w 30"/>
                <a:gd name="T29" fmla="*/ 6 h 30"/>
                <a:gd name="T30" fmla="*/ 27 w 30"/>
                <a:gd name="T31" fmla="*/ 6 h 30"/>
                <a:gd name="T32" fmla="*/ 24 w 30"/>
                <a:gd name="T33" fmla="*/ 3 h 30"/>
                <a:gd name="T34" fmla="*/ 21 w 30"/>
                <a:gd name="T35" fmla="*/ 3 h 30"/>
                <a:gd name="T36" fmla="*/ 21 w 30"/>
                <a:gd name="T37" fmla="*/ 3 h 30"/>
                <a:gd name="T38" fmla="*/ 18 w 30"/>
                <a:gd name="T39" fmla="*/ 0 h 30"/>
                <a:gd name="T40" fmla="*/ 15 w 30"/>
                <a:gd name="T41" fmla="*/ 0 h 30"/>
                <a:gd name="T42" fmla="*/ 12 w 30"/>
                <a:gd name="T43" fmla="*/ 0 h 30"/>
                <a:gd name="T44" fmla="*/ 12 w 30"/>
                <a:gd name="T45" fmla="*/ 3 h 30"/>
                <a:gd name="T46" fmla="*/ 9 w 30"/>
                <a:gd name="T47" fmla="*/ 3 h 30"/>
                <a:gd name="T48" fmla="*/ 6 w 30"/>
                <a:gd name="T49" fmla="*/ 3 h 30"/>
                <a:gd name="T50" fmla="*/ 6 w 30"/>
                <a:gd name="T51" fmla="*/ 6 h 30"/>
                <a:gd name="T52" fmla="*/ 3 w 30"/>
                <a:gd name="T53" fmla="*/ 6 h 30"/>
                <a:gd name="T54" fmla="*/ 3 w 30"/>
                <a:gd name="T55" fmla="*/ 9 h 30"/>
                <a:gd name="T56" fmla="*/ 3 w 30"/>
                <a:gd name="T57" fmla="*/ 12 h 30"/>
                <a:gd name="T58" fmla="*/ 0 w 30"/>
                <a:gd name="T59" fmla="*/ 12 h 30"/>
                <a:gd name="T60" fmla="*/ 0 w 30"/>
                <a:gd name="T61" fmla="*/ 15 h 30"/>
                <a:gd name="T62" fmla="*/ 0 w 30"/>
                <a:gd name="T63" fmla="*/ 18 h 30"/>
                <a:gd name="T64" fmla="*/ 3 w 30"/>
                <a:gd name="T65" fmla="*/ 21 h 30"/>
                <a:gd name="T66" fmla="*/ 3 w 30"/>
                <a:gd name="T67" fmla="*/ 24 h 30"/>
                <a:gd name="T68" fmla="*/ 3 w 30"/>
                <a:gd name="T69" fmla="*/ 24 h 30"/>
                <a:gd name="T70" fmla="*/ 6 w 30"/>
                <a:gd name="T71" fmla="*/ 27 h 30"/>
                <a:gd name="T72" fmla="*/ 6 w 30"/>
                <a:gd name="T73" fmla="*/ 27 h 30"/>
                <a:gd name="T74" fmla="*/ 9 w 30"/>
                <a:gd name="T75" fmla="*/ 30 h 30"/>
                <a:gd name="T76" fmla="*/ 12 w 30"/>
                <a:gd name="T77" fmla="*/ 30 h 30"/>
                <a:gd name="T78" fmla="*/ 12 w 30"/>
                <a:gd name="T79" fmla="*/ 30 h 30"/>
                <a:gd name="T80" fmla="*/ 15 w 30"/>
                <a:gd name="T81" fmla="*/ 30 h 30"/>
                <a:gd name="T82" fmla="*/ 15 w 30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30"/>
                <a:gd name="T128" fmla="*/ 30 w 30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30">
                  <a:moveTo>
                    <a:pt x="15" y="30"/>
                  </a:moveTo>
                  <a:lnTo>
                    <a:pt x="18" y="30"/>
                  </a:lnTo>
                  <a:lnTo>
                    <a:pt x="21" y="30"/>
                  </a:lnTo>
                  <a:lnTo>
                    <a:pt x="24" y="27"/>
                  </a:lnTo>
                  <a:lnTo>
                    <a:pt x="27" y="27"/>
                  </a:lnTo>
                  <a:lnTo>
                    <a:pt x="27" y="24"/>
                  </a:lnTo>
                  <a:lnTo>
                    <a:pt x="30" y="24"/>
                  </a:lnTo>
                  <a:lnTo>
                    <a:pt x="30" y="21"/>
                  </a:lnTo>
                  <a:lnTo>
                    <a:pt x="30" y="18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30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1"/>
                  </a:lnTo>
                  <a:lnTo>
                    <a:pt x="3" y="24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2" y="30"/>
                  </a:lnTo>
                  <a:lnTo>
                    <a:pt x="15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Freeform 109"/>
            <p:cNvSpPr>
              <a:spLocks noChangeArrowheads="1"/>
            </p:cNvSpPr>
            <p:nvPr/>
          </p:nvSpPr>
          <p:spPr bwMode="auto">
            <a:xfrm>
              <a:off x="2442" y="2952"/>
              <a:ext cx="30" cy="30"/>
            </a:xfrm>
            <a:custGeom>
              <a:avLst/>
              <a:gdLst>
                <a:gd name="T0" fmla="*/ 15 w 30"/>
                <a:gd name="T1" fmla="*/ 30 h 30"/>
                <a:gd name="T2" fmla="*/ 18 w 30"/>
                <a:gd name="T3" fmla="*/ 30 h 30"/>
                <a:gd name="T4" fmla="*/ 21 w 30"/>
                <a:gd name="T5" fmla="*/ 30 h 30"/>
                <a:gd name="T6" fmla="*/ 21 w 30"/>
                <a:gd name="T7" fmla="*/ 30 h 30"/>
                <a:gd name="T8" fmla="*/ 24 w 30"/>
                <a:gd name="T9" fmla="*/ 27 h 30"/>
                <a:gd name="T10" fmla="*/ 27 w 30"/>
                <a:gd name="T11" fmla="*/ 27 h 30"/>
                <a:gd name="T12" fmla="*/ 27 w 30"/>
                <a:gd name="T13" fmla="*/ 24 h 30"/>
                <a:gd name="T14" fmla="*/ 30 w 30"/>
                <a:gd name="T15" fmla="*/ 24 h 30"/>
                <a:gd name="T16" fmla="*/ 30 w 30"/>
                <a:gd name="T17" fmla="*/ 21 h 30"/>
                <a:gd name="T18" fmla="*/ 30 w 30"/>
                <a:gd name="T19" fmla="*/ 18 h 30"/>
                <a:gd name="T20" fmla="*/ 30 w 30"/>
                <a:gd name="T21" fmla="*/ 15 h 30"/>
                <a:gd name="T22" fmla="*/ 30 w 30"/>
                <a:gd name="T23" fmla="*/ 12 h 30"/>
                <a:gd name="T24" fmla="*/ 30 w 30"/>
                <a:gd name="T25" fmla="*/ 12 h 30"/>
                <a:gd name="T26" fmla="*/ 30 w 30"/>
                <a:gd name="T27" fmla="*/ 9 h 30"/>
                <a:gd name="T28" fmla="*/ 27 w 30"/>
                <a:gd name="T29" fmla="*/ 6 h 30"/>
                <a:gd name="T30" fmla="*/ 27 w 30"/>
                <a:gd name="T31" fmla="*/ 6 h 30"/>
                <a:gd name="T32" fmla="*/ 24 w 30"/>
                <a:gd name="T33" fmla="*/ 3 h 30"/>
                <a:gd name="T34" fmla="*/ 21 w 30"/>
                <a:gd name="T35" fmla="*/ 3 h 30"/>
                <a:gd name="T36" fmla="*/ 21 w 30"/>
                <a:gd name="T37" fmla="*/ 3 h 30"/>
                <a:gd name="T38" fmla="*/ 18 w 30"/>
                <a:gd name="T39" fmla="*/ 0 h 30"/>
                <a:gd name="T40" fmla="*/ 15 w 30"/>
                <a:gd name="T41" fmla="*/ 0 h 30"/>
                <a:gd name="T42" fmla="*/ 12 w 30"/>
                <a:gd name="T43" fmla="*/ 0 h 30"/>
                <a:gd name="T44" fmla="*/ 12 w 30"/>
                <a:gd name="T45" fmla="*/ 3 h 30"/>
                <a:gd name="T46" fmla="*/ 9 w 30"/>
                <a:gd name="T47" fmla="*/ 3 h 30"/>
                <a:gd name="T48" fmla="*/ 6 w 30"/>
                <a:gd name="T49" fmla="*/ 3 h 30"/>
                <a:gd name="T50" fmla="*/ 6 w 30"/>
                <a:gd name="T51" fmla="*/ 6 h 30"/>
                <a:gd name="T52" fmla="*/ 3 w 30"/>
                <a:gd name="T53" fmla="*/ 6 h 30"/>
                <a:gd name="T54" fmla="*/ 3 w 30"/>
                <a:gd name="T55" fmla="*/ 9 h 30"/>
                <a:gd name="T56" fmla="*/ 3 w 30"/>
                <a:gd name="T57" fmla="*/ 12 h 30"/>
                <a:gd name="T58" fmla="*/ 0 w 30"/>
                <a:gd name="T59" fmla="*/ 12 h 30"/>
                <a:gd name="T60" fmla="*/ 0 w 30"/>
                <a:gd name="T61" fmla="*/ 15 h 30"/>
                <a:gd name="T62" fmla="*/ 0 w 30"/>
                <a:gd name="T63" fmla="*/ 18 h 30"/>
                <a:gd name="T64" fmla="*/ 3 w 30"/>
                <a:gd name="T65" fmla="*/ 21 h 30"/>
                <a:gd name="T66" fmla="*/ 3 w 30"/>
                <a:gd name="T67" fmla="*/ 24 h 30"/>
                <a:gd name="T68" fmla="*/ 3 w 30"/>
                <a:gd name="T69" fmla="*/ 24 h 30"/>
                <a:gd name="T70" fmla="*/ 6 w 30"/>
                <a:gd name="T71" fmla="*/ 27 h 30"/>
                <a:gd name="T72" fmla="*/ 6 w 30"/>
                <a:gd name="T73" fmla="*/ 27 h 30"/>
                <a:gd name="T74" fmla="*/ 9 w 30"/>
                <a:gd name="T75" fmla="*/ 30 h 30"/>
                <a:gd name="T76" fmla="*/ 12 w 30"/>
                <a:gd name="T77" fmla="*/ 30 h 30"/>
                <a:gd name="T78" fmla="*/ 12 w 30"/>
                <a:gd name="T79" fmla="*/ 30 h 30"/>
                <a:gd name="T80" fmla="*/ 15 w 30"/>
                <a:gd name="T81" fmla="*/ 30 h 30"/>
                <a:gd name="T82" fmla="*/ 15 w 30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30"/>
                <a:gd name="T128" fmla="*/ 30 w 30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30">
                  <a:moveTo>
                    <a:pt x="15" y="30"/>
                  </a:moveTo>
                  <a:lnTo>
                    <a:pt x="18" y="30"/>
                  </a:lnTo>
                  <a:lnTo>
                    <a:pt x="21" y="30"/>
                  </a:lnTo>
                  <a:lnTo>
                    <a:pt x="24" y="27"/>
                  </a:lnTo>
                  <a:lnTo>
                    <a:pt x="27" y="27"/>
                  </a:lnTo>
                  <a:lnTo>
                    <a:pt x="27" y="24"/>
                  </a:lnTo>
                  <a:lnTo>
                    <a:pt x="30" y="24"/>
                  </a:lnTo>
                  <a:lnTo>
                    <a:pt x="30" y="21"/>
                  </a:lnTo>
                  <a:lnTo>
                    <a:pt x="30" y="18"/>
                  </a:lnTo>
                  <a:lnTo>
                    <a:pt x="30" y="15"/>
                  </a:lnTo>
                  <a:lnTo>
                    <a:pt x="30" y="12"/>
                  </a:lnTo>
                  <a:lnTo>
                    <a:pt x="30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12" y="3"/>
                  </a:lnTo>
                  <a:lnTo>
                    <a:pt x="9" y="3"/>
                  </a:lnTo>
                  <a:lnTo>
                    <a:pt x="6" y="3"/>
                  </a:lnTo>
                  <a:lnTo>
                    <a:pt x="6" y="6"/>
                  </a:lnTo>
                  <a:lnTo>
                    <a:pt x="3" y="6"/>
                  </a:lnTo>
                  <a:lnTo>
                    <a:pt x="3" y="9"/>
                  </a:lnTo>
                  <a:lnTo>
                    <a:pt x="3" y="12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1"/>
                  </a:lnTo>
                  <a:lnTo>
                    <a:pt x="3" y="24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2" y="30"/>
                  </a:lnTo>
                  <a:lnTo>
                    <a:pt x="15" y="3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2" name="Freeform 110"/>
            <p:cNvSpPr>
              <a:spLocks noChangeArrowheads="1"/>
            </p:cNvSpPr>
            <p:nvPr/>
          </p:nvSpPr>
          <p:spPr bwMode="auto">
            <a:xfrm>
              <a:off x="2442" y="3064"/>
              <a:ext cx="30" cy="26"/>
            </a:xfrm>
            <a:custGeom>
              <a:avLst/>
              <a:gdLst>
                <a:gd name="T0" fmla="*/ 15 w 30"/>
                <a:gd name="T1" fmla="*/ 26 h 26"/>
                <a:gd name="T2" fmla="*/ 18 w 30"/>
                <a:gd name="T3" fmla="*/ 26 h 26"/>
                <a:gd name="T4" fmla="*/ 21 w 30"/>
                <a:gd name="T5" fmla="*/ 26 h 26"/>
                <a:gd name="T6" fmla="*/ 21 w 30"/>
                <a:gd name="T7" fmla="*/ 26 h 26"/>
                <a:gd name="T8" fmla="*/ 24 w 30"/>
                <a:gd name="T9" fmla="*/ 23 h 26"/>
                <a:gd name="T10" fmla="*/ 27 w 30"/>
                <a:gd name="T11" fmla="*/ 23 h 26"/>
                <a:gd name="T12" fmla="*/ 27 w 30"/>
                <a:gd name="T13" fmla="*/ 20 h 26"/>
                <a:gd name="T14" fmla="*/ 30 w 30"/>
                <a:gd name="T15" fmla="*/ 20 h 26"/>
                <a:gd name="T16" fmla="*/ 30 w 30"/>
                <a:gd name="T17" fmla="*/ 17 h 26"/>
                <a:gd name="T18" fmla="*/ 30 w 30"/>
                <a:gd name="T19" fmla="*/ 14 h 26"/>
                <a:gd name="T20" fmla="*/ 30 w 30"/>
                <a:gd name="T21" fmla="*/ 12 h 26"/>
                <a:gd name="T22" fmla="*/ 30 w 30"/>
                <a:gd name="T23" fmla="*/ 12 h 26"/>
                <a:gd name="T24" fmla="*/ 30 w 30"/>
                <a:gd name="T25" fmla="*/ 9 h 26"/>
                <a:gd name="T26" fmla="*/ 30 w 30"/>
                <a:gd name="T27" fmla="*/ 6 h 26"/>
                <a:gd name="T28" fmla="*/ 27 w 30"/>
                <a:gd name="T29" fmla="*/ 6 h 26"/>
                <a:gd name="T30" fmla="*/ 27 w 30"/>
                <a:gd name="T31" fmla="*/ 3 h 26"/>
                <a:gd name="T32" fmla="*/ 24 w 30"/>
                <a:gd name="T33" fmla="*/ 0 h 26"/>
                <a:gd name="T34" fmla="*/ 21 w 30"/>
                <a:gd name="T35" fmla="*/ 0 h 26"/>
                <a:gd name="T36" fmla="*/ 21 w 30"/>
                <a:gd name="T37" fmla="*/ 0 h 26"/>
                <a:gd name="T38" fmla="*/ 18 w 30"/>
                <a:gd name="T39" fmla="*/ 0 h 26"/>
                <a:gd name="T40" fmla="*/ 15 w 30"/>
                <a:gd name="T41" fmla="*/ 0 h 26"/>
                <a:gd name="T42" fmla="*/ 12 w 30"/>
                <a:gd name="T43" fmla="*/ 0 h 26"/>
                <a:gd name="T44" fmla="*/ 12 w 30"/>
                <a:gd name="T45" fmla="*/ 0 h 26"/>
                <a:gd name="T46" fmla="*/ 9 w 30"/>
                <a:gd name="T47" fmla="*/ 0 h 26"/>
                <a:gd name="T48" fmla="*/ 6 w 30"/>
                <a:gd name="T49" fmla="*/ 0 h 26"/>
                <a:gd name="T50" fmla="*/ 6 w 30"/>
                <a:gd name="T51" fmla="*/ 3 h 26"/>
                <a:gd name="T52" fmla="*/ 3 w 30"/>
                <a:gd name="T53" fmla="*/ 6 h 26"/>
                <a:gd name="T54" fmla="*/ 3 w 30"/>
                <a:gd name="T55" fmla="*/ 6 h 26"/>
                <a:gd name="T56" fmla="*/ 3 w 30"/>
                <a:gd name="T57" fmla="*/ 9 h 26"/>
                <a:gd name="T58" fmla="*/ 0 w 30"/>
                <a:gd name="T59" fmla="*/ 12 h 26"/>
                <a:gd name="T60" fmla="*/ 0 w 30"/>
                <a:gd name="T61" fmla="*/ 12 h 26"/>
                <a:gd name="T62" fmla="*/ 0 w 30"/>
                <a:gd name="T63" fmla="*/ 14 h 26"/>
                <a:gd name="T64" fmla="*/ 3 w 30"/>
                <a:gd name="T65" fmla="*/ 17 h 26"/>
                <a:gd name="T66" fmla="*/ 3 w 30"/>
                <a:gd name="T67" fmla="*/ 20 h 26"/>
                <a:gd name="T68" fmla="*/ 3 w 30"/>
                <a:gd name="T69" fmla="*/ 20 h 26"/>
                <a:gd name="T70" fmla="*/ 6 w 30"/>
                <a:gd name="T71" fmla="*/ 23 h 26"/>
                <a:gd name="T72" fmla="*/ 6 w 30"/>
                <a:gd name="T73" fmla="*/ 23 h 26"/>
                <a:gd name="T74" fmla="*/ 9 w 30"/>
                <a:gd name="T75" fmla="*/ 26 h 26"/>
                <a:gd name="T76" fmla="*/ 12 w 30"/>
                <a:gd name="T77" fmla="*/ 26 h 26"/>
                <a:gd name="T78" fmla="*/ 12 w 30"/>
                <a:gd name="T79" fmla="*/ 26 h 26"/>
                <a:gd name="T80" fmla="*/ 15 w 30"/>
                <a:gd name="T81" fmla="*/ 26 h 26"/>
                <a:gd name="T82" fmla="*/ 15 w 30"/>
                <a:gd name="T83" fmla="*/ 26 h 2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6"/>
                <a:gd name="T128" fmla="*/ 30 w 30"/>
                <a:gd name="T129" fmla="*/ 26 h 2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6">
                  <a:moveTo>
                    <a:pt x="15" y="26"/>
                  </a:moveTo>
                  <a:lnTo>
                    <a:pt x="18" y="26"/>
                  </a:lnTo>
                  <a:lnTo>
                    <a:pt x="21" y="26"/>
                  </a:lnTo>
                  <a:lnTo>
                    <a:pt x="24" y="23"/>
                  </a:lnTo>
                  <a:lnTo>
                    <a:pt x="27" y="23"/>
                  </a:lnTo>
                  <a:lnTo>
                    <a:pt x="27" y="20"/>
                  </a:lnTo>
                  <a:lnTo>
                    <a:pt x="30" y="20"/>
                  </a:lnTo>
                  <a:lnTo>
                    <a:pt x="30" y="17"/>
                  </a:lnTo>
                  <a:lnTo>
                    <a:pt x="30" y="14"/>
                  </a:lnTo>
                  <a:lnTo>
                    <a:pt x="30" y="12"/>
                  </a:lnTo>
                  <a:lnTo>
                    <a:pt x="30" y="9"/>
                  </a:lnTo>
                  <a:lnTo>
                    <a:pt x="30" y="6"/>
                  </a:lnTo>
                  <a:lnTo>
                    <a:pt x="27" y="6"/>
                  </a:lnTo>
                  <a:lnTo>
                    <a:pt x="27" y="3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6" y="23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5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" name="Freeform 111"/>
            <p:cNvSpPr>
              <a:spLocks noChangeArrowheads="1"/>
            </p:cNvSpPr>
            <p:nvPr/>
          </p:nvSpPr>
          <p:spPr bwMode="auto">
            <a:xfrm>
              <a:off x="2442" y="3064"/>
              <a:ext cx="30" cy="26"/>
            </a:xfrm>
            <a:custGeom>
              <a:avLst/>
              <a:gdLst>
                <a:gd name="T0" fmla="*/ 15 w 30"/>
                <a:gd name="T1" fmla="*/ 26 h 26"/>
                <a:gd name="T2" fmla="*/ 18 w 30"/>
                <a:gd name="T3" fmla="*/ 26 h 26"/>
                <a:gd name="T4" fmla="*/ 21 w 30"/>
                <a:gd name="T5" fmla="*/ 26 h 26"/>
                <a:gd name="T6" fmla="*/ 21 w 30"/>
                <a:gd name="T7" fmla="*/ 26 h 26"/>
                <a:gd name="T8" fmla="*/ 24 w 30"/>
                <a:gd name="T9" fmla="*/ 23 h 26"/>
                <a:gd name="T10" fmla="*/ 27 w 30"/>
                <a:gd name="T11" fmla="*/ 23 h 26"/>
                <a:gd name="T12" fmla="*/ 27 w 30"/>
                <a:gd name="T13" fmla="*/ 20 h 26"/>
                <a:gd name="T14" fmla="*/ 30 w 30"/>
                <a:gd name="T15" fmla="*/ 20 h 26"/>
                <a:gd name="T16" fmla="*/ 30 w 30"/>
                <a:gd name="T17" fmla="*/ 17 h 26"/>
                <a:gd name="T18" fmla="*/ 30 w 30"/>
                <a:gd name="T19" fmla="*/ 14 h 26"/>
                <a:gd name="T20" fmla="*/ 30 w 30"/>
                <a:gd name="T21" fmla="*/ 12 h 26"/>
                <a:gd name="T22" fmla="*/ 30 w 30"/>
                <a:gd name="T23" fmla="*/ 12 h 26"/>
                <a:gd name="T24" fmla="*/ 30 w 30"/>
                <a:gd name="T25" fmla="*/ 9 h 26"/>
                <a:gd name="T26" fmla="*/ 30 w 30"/>
                <a:gd name="T27" fmla="*/ 6 h 26"/>
                <a:gd name="T28" fmla="*/ 27 w 30"/>
                <a:gd name="T29" fmla="*/ 6 h 26"/>
                <a:gd name="T30" fmla="*/ 27 w 30"/>
                <a:gd name="T31" fmla="*/ 3 h 26"/>
                <a:gd name="T32" fmla="*/ 24 w 30"/>
                <a:gd name="T33" fmla="*/ 0 h 26"/>
                <a:gd name="T34" fmla="*/ 21 w 30"/>
                <a:gd name="T35" fmla="*/ 0 h 26"/>
                <a:gd name="T36" fmla="*/ 21 w 30"/>
                <a:gd name="T37" fmla="*/ 0 h 26"/>
                <a:gd name="T38" fmla="*/ 18 w 30"/>
                <a:gd name="T39" fmla="*/ 0 h 26"/>
                <a:gd name="T40" fmla="*/ 15 w 30"/>
                <a:gd name="T41" fmla="*/ 0 h 26"/>
                <a:gd name="T42" fmla="*/ 12 w 30"/>
                <a:gd name="T43" fmla="*/ 0 h 26"/>
                <a:gd name="T44" fmla="*/ 12 w 30"/>
                <a:gd name="T45" fmla="*/ 0 h 26"/>
                <a:gd name="T46" fmla="*/ 9 w 30"/>
                <a:gd name="T47" fmla="*/ 0 h 26"/>
                <a:gd name="T48" fmla="*/ 6 w 30"/>
                <a:gd name="T49" fmla="*/ 0 h 26"/>
                <a:gd name="T50" fmla="*/ 6 w 30"/>
                <a:gd name="T51" fmla="*/ 3 h 26"/>
                <a:gd name="T52" fmla="*/ 3 w 30"/>
                <a:gd name="T53" fmla="*/ 6 h 26"/>
                <a:gd name="T54" fmla="*/ 3 w 30"/>
                <a:gd name="T55" fmla="*/ 6 h 26"/>
                <a:gd name="T56" fmla="*/ 3 w 30"/>
                <a:gd name="T57" fmla="*/ 9 h 26"/>
                <a:gd name="T58" fmla="*/ 0 w 30"/>
                <a:gd name="T59" fmla="*/ 12 h 26"/>
                <a:gd name="T60" fmla="*/ 0 w 30"/>
                <a:gd name="T61" fmla="*/ 12 h 26"/>
                <a:gd name="T62" fmla="*/ 0 w 30"/>
                <a:gd name="T63" fmla="*/ 14 h 26"/>
                <a:gd name="T64" fmla="*/ 3 w 30"/>
                <a:gd name="T65" fmla="*/ 17 h 26"/>
                <a:gd name="T66" fmla="*/ 3 w 30"/>
                <a:gd name="T67" fmla="*/ 20 h 26"/>
                <a:gd name="T68" fmla="*/ 3 w 30"/>
                <a:gd name="T69" fmla="*/ 20 h 26"/>
                <a:gd name="T70" fmla="*/ 6 w 30"/>
                <a:gd name="T71" fmla="*/ 23 h 26"/>
                <a:gd name="T72" fmla="*/ 6 w 30"/>
                <a:gd name="T73" fmla="*/ 23 h 26"/>
                <a:gd name="T74" fmla="*/ 9 w 30"/>
                <a:gd name="T75" fmla="*/ 26 h 26"/>
                <a:gd name="T76" fmla="*/ 12 w 30"/>
                <a:gd name="T77" fmla="*/ 26 h 26"/>
                <a:gd name="T78" fmla="*/ 12 w 30"/>
                <a:gd name="T79" fmla="*/ 26 h 26"/>
                <a:gd name="T80" fmla="*/ 15 w 30"/>
                <a:gd name="T81" fmla="*/ 26 h 26"/>
                <a:gd name="T82" fmla="*/ 15 w 30"/>
                <a:gd name="T83" fmla="*/ 26 h 2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6"/>
                <a:gd name="T128" fmla="*/ 30 w 30"/>
                <a:gd name="T129" fmla="*/ 26 h 2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6">
                  <a:moveTo>
                    <a:pt x="15" y="26"/>
                  </a:moveTo>
                  <a:lnTo>
                    <a:pt x="18" y="26"/>
                  </a:lnTo>
                  <a:lnTo>
                    <a:pt x="21" y="26"/>
                  </a:lnTo>
                  <a:lnTo>
                    <a:pt x="24" y="23"/>
                  </a:lnTo>
                  <a:lnTo>
                    <a:pt x="27" y="23"/>
                  </a:lnTo>
                  <a:lnTo>
                    <a:pt x="27" y="20"/>
                  </a:lnTo>
                  <a:lnTo>
                    <a:pt x="30" y="20"/>
                  </a:lnTo>
                  <a:lnTo>
                    <a:pt x="30" y="17"/>
                  </a:lnTo>
                  <a:lnTo>
                    <a:pt x="30" y="14"/>
                  </a:lnTo>
                  <a:lnTo>
                    <a:pt x="30" y="12"/>
                  </a:lnTo>
                  <a:lnTo>
                    <a:pt x="30" y="9"/>
                  </a:lnTo>
                  <a:lnTo>
                    <a:pt x="30" y="6"/>
                  </a:lnTo>
                  <a:lnTo>
                    <a:pt x="27" y="6"/>
                  </a:lnTo>
                  <a:lnTo>
                    <a:pt x="27" y="3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3" y="17"/>
                  </a:lnTo>
                  <a:lnTo>
                    <a:pt x="3" y="20"/>
                  </a:lnTo>
                  <a:lnTo>
                    <a:pt x="6" y="23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5" y="26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4" name="Freeform 112"/>
            <p:cNvSpPr>
              <a:spLocks noChangeArrowheads="1"/>
            </p:cNvSpPr>
            <p:nvPr/>
          </p:nvSpPr>
          <p:spPr bwMode="auto">
            <a:xfrm>
              <a:off x="2883" y="3240"/>
              <a:ext cx="26" cy="26"/>
            </a:xfrm>
            <a:custGeom>
              <a:avLst/>
              <a:gdLst>
                <a:gd name="T0" fmla="*/ 11 w 26"/>
                <a:gd name="T1" fmla="*/ 26 h 26"/>
                <a:gd name="T2" fmla="*/ 14 w 26"/>
                <a:gd name="T3" fmla="*/ 26 h 26"/>
                <a:gd name="T4" fmla="*/ 17 w 26"/>
                <a:gd name="T5" fmla="*/ 26 h 26"/>
                <a:gd name="T6" fmla="*/ 20 w 26"/>
                <a:gd name="T7" fmla="*/ 26 h 26"/>
                <a:gd name="T8" fmla="*/ 20 w 26"/>
                <a:gd name="T9" fmla="*/ 23 h 26"/>
                <a:gd name="T10" fmla="*/ 23 w 26"/>
                <a:gd name="T11" fmla="*/ 23 h 26"/>
                <a:gd name="T12" fmla="*/ 23 w 26"/>
                <a:gd name="T13" fmla="*/ 21 h 26"/>
                <a:gd name="T14" fmla="*/ 26 w 26"/>
                <a:gd name="T15" fmla="*/ 21 h 26"/>
                <a:gd name="T16" fmla="*/ 26 w 26"/>
                <a:gd name="T17" fmla="*/ 18 h 26"/>
                <a:gd name="T18" fmla="*/ 26 w 26"/>
                <a:gd name="T19" fmla="*/ 15 h 26"/>
                <a:gd name="T20" fmla="*/ 26 w 26"/>
                <a:gd name="T21" fmla="*/ 15 h 26"/>
                <a:gd name="T22" fmla="*/ 26 w 26"/>
                <a:gd name="T23" fmla="*/ 12 h 26"/>
                <a:gd name="T24" fmla="*/ 26 w 26"/>
                <a:gd name="T25" fmla="*/ 9 h 26"/>
                <a:gd name="T26" fmla="*/ 26 w 26"/>
                <a:gd name="T27" fmla="*/ 6 h 26"/>
                <a:gd name="T28" fmla="*/ 23 w 26"/>
                <a:gd name="T29" fmla="*/ 6 h 26"/>
                <a:gd name="T30" fmla="*/ 23 w 26"/>
                <a:gd name="T31" fmla="*/ 3 h 26"/>
                <a:gd name="T32" fmla="*/ 20 w 26"/>
                <a:gd name="T33" fmla="*/ 3 h 26"/>
                <a:gd name="T34" fmla="*/ 20 w 26"/>
                <a:gd name="T35" fmla="*/ 0 h 26"/>
                <a:gd name="T36" fmla="*/ 17 w 26"/>
                <a:gd name="T37" fmla="*/ 0 h 26"/>
                <a:gd name="T38" fmla="*/ 14 w 26"/>
                <a:gd name="T39" fmla="*/ 0 h 26"/>
                <a:gd name="T40" fmla="*/ 11 w 26"/>
                <a:gd name="T41" fmla="*/ 0 h 26"/>
                <a:gd name="T42" fmla="*/ 11 w 26"/>
                <a:gd name="T43" fmla="*/ 0 h 26"/>
                <a:gd name="T44" fmla="*/ 9 w 26"/>
                <a:gd name="T45" fmla="*/ 0 h 26"/>
                <a:gd name="T46" fmla="*/ 6 w 26"/>
                <a:gd name="T47" fmla="*/ 0 h 26"/>
                <a:gd name="T48" fmla="*/ 6 w 26"/>
                <a:gd name="T49" fmla="*/ 3 h 26"/>
                <a:gd name="T50" fmla="*/ 3 w 26"/>
                <a:gd name="T51" fmla="*/ 3 h 26"/>
                <a:gd name="T52" fmla="*/ 3 w 26"/>
                <a:gd name="T53" fmla="*/ 6 h 26"/>
                <a:gd name="T54" fmla="*/ 0 w 26"/>
                <a:gd name="T55" fmla="*/ 6 h 26"/>
                <a:gd name="T56" fmla="*/ 0 w 26"/>
                <a:gd name="T57" fmla="*/ 9 h 26"/>
                <a:gd name="T58" fmla="*/ 0 w 26"/>
                <a:gd name="T59" fmla="*/ 12 h 26"/>
                <a:gd name="T60" fmla="*/ 0 w 26"/>
                <a:gd name="T61" fmla="*/ 15 h 26"/>
                <a:gd name="T62" fmla="*/ 0 w 26"/>
                <a:gd name="T63" fmla="*/ 15 h 26"/>
                <a:gd name="T64" fmla="*/ 0 w 26"/>
                <a:gd name="T65" fmla="*/ 18 h 26"/>
                <a:gd name="T66" fmla="*/ 0 w 26"/>
                <a:gd name="T67" fmla="*/ 21 h 26"/>
                <a:gd name="T68" fmla="*/ 3 w 26"/>
                <a:gd name="T69" fmla="*/ 21 h 26"/>
                <a:gd name="T70" fmla="*/ 3 w 26"/>
                <a:gd name="T71" fmla="*/ 23 h 26"/>
                <a:gd name="T72" fmla="*/ 6 w 26"/>
                <a:gd name="T73" fmla="*/ 23 h 26"/>
                <a:gd name="T74" fmla="*/ 6 w 26"/>
                <a:gd name="T75" fmla="*/ 26 h 26"/>
                <a:gd name="T76" fmla="*/ 9 w 26"/>
                <a:gd name="T77" fmla="*/ 26 h 26"/>
                <a:gd name="T78" fmla="*/ 11 w 26"/>
                <a:gd name="T79" fmla="*/ 26 h 26"/>
                <a:gd name="T80" fmla="*/ 11 w 26"/>
                <a:gd name="T81" fmla="*/ 26 h 26"/>
                <a:gd name="T82" fmla="*/ 11 w 26"/>
                <a:gd name="T83" fmla="*/ 26 h 2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6"/>
                <a:gd name="T128" fmla="*/ 26 w 26"/>
                <a:gd name="T129" fmla="*/ 26 h 2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6">
                  <a:moveTo>
                    <a:pt x="11" y="26"/>
                  </a:moveTo>
                  <a:lnTo>
                    <a:pt x="14" y="26"/>
                  </a:lnTo>
                  <a:lnTo>
                    <a:pt x="17" y="26"/>
                  </a:lnTo>
                  <a:lnTo>
                    <a:pt x="20" y="26"/>
                  </a:lnTo>
                  <a:lnTo>
                    <a:pt x="20" y="23"/>
                  </a:lnTo>
                  <a:lnTo>
                    <a:pt x="23" y="23"/>
                  </a:lnTo>
                  <a:lnTo>
                    <a:pt x="23" y="21"/>
                  </a:lnTo>
                  <a:lnTo>
                    <a:pt x="26" y="21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6"/>
                  </a:lnTo>
                  <a:lnTo>
                    <a:pt x="23" y="3"/>
                  </a:lnTo>
                  <a:lnTo>
                    <a:pt x="20" y="3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1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" name="Freeform 113"/>
            <p:cNvSpPr>
              <a:spLocks noChangeArrowheads="1"/>
            </p:cNvSpPr>
            <p:nvPr/>
          </p:nvSpPr>
          <p:spPr bwMode="auto">
            <a:xfrm>
              <a:off x="2883" y="3240"/>
              <a:ext cx="26" cy="26"/>
            </a:xfrm>
            <a:custGeom>
              <a:avLst/>
              <a:gdLst>
                <a:gd name="T0" fmla="*/ 11 w 26"/>
                <a:gd name="T1" fmla="*/ 26 h 26"/>
                <a:gd name="T2" fmla="*/ 14 w 26"/>
                <a:gd name="T3" fmla="*/ 26 h 26"/>
                <a:gd name="T4" fmla="*/ 17 w 26"/>
                <a:gd name="T5" fmla="*/ 26 h 26"/>
                <a:gd name="T6" fmla="*/ 20 w 26"/>
                <a:gd name="T7" fmla="*/ 26 h 26"/>
                <a:gd name="T8" fmla="*/ 20 w 26"/>
                <a:gd name="T9" fmla="*/ 23 h 26"/>
                <a:gd name="T10" fmla="*/ 23 w 26"/>
                <a:gd name="T11" fmla="*/ 23 h 26"/>
                <a:gd name="T12" fmla="*/ 23 w 26"/>
                <a:gd name="T13" fmla="*/ 21 h 26"/>
                <a:gd name="T14" fmla="*/ 26 w 26"/>
                <a:gd name="T15" fmla="*/ 21 h 26"/>
                <a:gd name="T16" fmla="*/ 26 w 26"/>
                <a:gd name="T17" fmla="*/ 18 h 26"/>
                <a:gd name="T18" fmla="*/ 26 w 26"/>
                <a:gd name="T19" fmla="*/ 15 h 26"/>
                <a:gd name="T20" fmla="*/ 26 w 26"/>
                <a:gd name="T21" fmla="*/ 15 h 26"/>
                <a:gd name="T22" fmla="*/ 26 w 26"/>
                <a:gd name="T23" fmla="*/ 12 h 26"/>
                <a:gd name="T24" fmla="*/ 26 w 26"/>
                <a:gd name="T25" fmla="*/ 9 h 26"/>
                <a:gd name="T26" fmla="*/ 26 w 26"/>
                <a:gd name="T27" fmla="*/ 6 h 26"/>
                <a:gd name="T28" fmla="*/ 23 w 26"/>
                <a:gd name="T29" fmla="*/ 6 h 26"/>
                <a:gd name="T30" fmla="*/ 23 w 26"/>
                <a:gd name="T31" fmla="*/ 3 h 26"/>
                <a:gd name="T32" fmla="*/ 20 w 26"/>
                <a:gd name="T33" fmla="*/ 3 h 26"/>
                <a:gd name="T34" fmla="*/ 20 w 26"/>
                <a:gd name="T35" fmla="*/ 0 h 26"/>
                <a:gd name="T36" fmla="*/ 17 w 26"/>
                <a:gd name="T37" fmla="*/ 0 h 26"/>
                <a:gd name="T38" fmla="*/ 14 w 26"/>
                <a:gd name="T39" fmla="*/ 0 h 26"/>
                <a:gd name="T40" fmla="*/ 11 w 26"/>
                <a:gd name="T41" fmla="*/ 0 h 26"/>
                <a:gd name="T42" fmla="*/ 11 w 26"/>
                <a:gd name="T43" fmla="*/ 0 h 26"/>
                <a:gd name="T44" fmla="*/ 9 w 26"/>
                <a:gd name="T45" fmla="*/ 0 h 26"/>
                <a:gd name="T46" fmla="*/ 6 w 26"/>
                <a:gd name="T47" fmla="*/ 0 h 26"/>
                <a:gd name="T48" fmla="*/ 6 w 26"/>
                <a:gd name="T49" fmla="*/ 3 h 26"/>
                <a:gd name="T50" fmla="*/ 3 w 26"/>
                <a:gd name="T51" fmla="*/ 3 h 26"/>
                <a:gd name="T52" fmla="*/ 3 w 26"/>
                <a:gd name="T53" fmla="*/ 6 h 26"/>
                <a:gd name="T54" fmla="*/ 0 w 26"/>
                <a:gd name="T55" fmla="*/ 6 h 26"/>
                <a:gd name="T56" fmla="*/ 0 w 26"/>
                <a:gd name="T57" fmla="*/ 9 h 26"/>
                <a:gd name="T58" fmla="*/ 0 w 26"/>
                <a:gd name="T59" fmla="*/ 12 h 26"/>
                <a:gd name="T60" fmla="*/ 0 w 26"/>
                <a:gd name="T61" fmla="*/ 15 h 26"/>
                <a:gd name="T62" fmla="*/ 0 w 26"/>
                <a:gd name="T63" fmla="*/ 15 h 26"/>
                <a:gd name="T64" fmla="*/ 0 w 26"/>
                <a:gd name="T65" fmla="*/ 18 h 26"/>
                <a:gd name="T66" fmla="*/ 0 w 26"/>
                <a:gd name="T67" fmla="*/ 21 h 26"/>
                <a:gd name="T68" fmla="*/ 3 w 26"/>
                <a:gd name="T69" fmla="*/ 21 h 26"/>
                <a:gd name="T70" fmla="*/ 3 w 26"/>
                <a:gd name="T71" fmla="*/ 23 h 26"/>
                <a:gd name="T72" fmla="*/ 6 w 26"/>
                <a:gd name="T73" fmla="*/ 23 h 26"/>
                <a:gd name="T74" fmla="*/ 6 w 26"/>
                <a:gd name="T75" fmla="*/ 26 h 26"/>
                <a:gd name="T76" fmla="*/ 9 w 26"/>
                <a:gd name="T77" fmla="*/ 26 h 26"/>
                <a:gd name="T78" fmla="*/ 11 w 26"/>
                <a:gd name="T79" fmla="*/ 26 h 26"/>
                <a:gd name="T80" fmla="*/ 11 w 26"/>
                <a:gd name="T81" fmla="*/ 26 h 26"/>
                <a:gd name="T82" fmla="*/ 11 w 26"/>
                <a:gd name="T83" fmla="*/ 26 h 2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6"/>
                <a:gd name="T127" fmla="*/ 0 h 26"/>
                <a:gd name="T128" fmla="*/ 26 w 26"/>
                <a:gd name="T129" fmla="*/ 26 h 2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6" h="26">
                  <a:moveTo>
                    <a:pt x="11" y="26"/>
                  </a:moveTo>
                  <a:lnTo>
                    <a:pt x="14" y="26"/>
                  </a:lnTo>
                  <a:lnTo>
                    <a:pt x="17" y="26"/>
                  </a:lnTo>
                  <a:lnTo>
                    <a:pt x="20" y="26"/>
                  </a:lnTo>
                  <a:lnTo>
                    <a:pt x="20" y="23"/>
                  </a:lnTo>
                  <a:lnTo>
                    <a:pt x="23" y="23"/>
                  </a:lnTo>
                  <a:lnTo>
                    <a:pt x="23" y="21"/>
                  </a:lnTo>
                  <a:lnTo>
                    <a:pt x="26" y="21"/>
                  </a:lnTo>
                  <a:lnTo>
                    <a:pt x="26" y="18"/>
                  </a:lnTo>
                  <a:lnTo>
                    <a:pt x="26" y="15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6"/>
                  </a:lnTo>
                  <a:lnTo>
                    <a:pt x="23" y="3"/>
                  </a:lnTo>
                  <a:lnTo>
                    <a:pt x="20" y="3"/>
                  </a:lnTo>
                  <a:lnTo>
                    <a:pt x="20" y="0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3" y="21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1" y="26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" name="Freeform 114"/>
            <p:cNvSpPr>
              <a:spLocks noChangeArrowheads="1"/>
            </p:cNvSpPr>
            <p:nvPr/>
          </p:nvSpPr>
          <p:spPr bwMode="auto">
            <a:xfrm>
              <a:off x="3323" y="3804"/>
              <a:ext cx="30" cy="26"/>
            </a:xfrm>
            <a:custGeom>
              <a:avLst/>
              <a:gdLst>
                <a:gd name="T0" fmla="*/ 15 w 30"/>
                <a:gd name="T1" fmla="*/ 26 h 26"/>
                <a:gd name="T2" fmla="*/ 18 w 30"/>
                <a:gd name="T3" fmla="*/ 26 h 26"/>
                <a:gd name="T4" fmla="*/ 21 w 30"/>
                <a:gd name="T5" fmla="*/ 26 h 26"/>
                <a:gd name="T6" fmla="*/ 21 w 30"/>
                <a:gd name="T7" fmla="*/ 26 h 26"/>
                <a:gd name="T8" fmla="*/ 24 w 30"/>
                <a:gd name="T9" fmla="*/ 23 h 26"/>
                <a:gd name="T10" fmla="*/ 24 w 30"/>
                <a:gd name="T11" fmla="*/ 23 h 26"/>
                <a:gd name="T12" fmla="*/ 27 w 30"/>
                <a:gd name="T13" fmla="*/ 20 h 26"/>
                <a:gd name="T14" fmla="*/ 27 w 30"/>
                <a:gd name="T15" fmla="*/ 20 h 26"/>
                <a:gd name="T16" fmla="*/ 30 w 30"/>
                <a:gd name="T17" fmla="*/ 17 h 26"/>
                <a:gd name="T18" fmla="*/ 30 w 30"/>
                <a:gd name="T19" fmla="*/ 14 h 26"/>
                <a:gd name="T20" fmla="*/ 30 w 30"/>
                <a:gd name="T21" fmla="*/ 14 h 26"/>
                <a:gd name="T22" fmla="*/ 30 w 30"/>
                <a:gd name="T23" fmla="*/ 11 h 26"/>
                <a:gd name="T24" fmla="*/ 30 w 30"/>
                <a:gd name="T25" fmla="*/ 9 h 26"/>
                <a:gd name="T26" fmla="*/ 27 w 30"/>
                <a:gd name="T27" fmla="*/ 6 h 26"/>
                <a:gd name="T28" fmla="*/ 27 w 30"/>
                <a:gd name="T29" fmla="*/ 6 h 26"/>
                <a:gd name="T30" fmla="*/ 24 w 30"/>
                <a:gd name="T31" fmla="*/ 3 h 26"/>
                <a:gd name="T32" fmla="*/ 24 w 30"/>
                <a:gd name="T33" fmla="*/ 3 h 26"/>
                <a:gd name="T34" fmla="*/ 21 w 30"/>
                <a:gd name="T35" fmla="*/ 0 h 26"/>
                <a:gd name="T36" fmla="*/ 21 w 30"/>
                <a:gd name="T37" fmla="*/ 0 h 26"/>
                <a:gd name="T38" fmla="*/ 18 w 30"/>
                <a:gd name="T39" fmla="*/ 0 h 26"/>
                <a:gd name="T40" fmla="*/ 15 w 30"/>
                <a:gd name="T41" fmla="*/ 0 h 26"/>
                <a:gd name="T42" fmla="*/ 12 w 30"/>
                <a:gd name="T43" fmla="*/ 0 h 26"/>
                <a:gd name="T44" fmla="*/ 9 w 30"/>
                <a:gd name="T45" fmla="*/ 0 h 26"/>
                <a:gd name="T46" fmla="*/ 9 w 30"/>
                <a:gd name="T47" fmla="*/ 0 h 26"/>
                <a:gd name="T48" fmla="*/ 6 w 30"/>
                <a:gd name="T49" fmla="*/ 3 h 26"/>
                <a:gd name="T50" fmla="*/ 3 w 30"/>
                <a:gd name="T51" fmla="*/ 3 h 26"/>
                <a:gd name="T52" fmla="*/ 3 w 30"/>
                <a:gd name="T53" fmla="*/ 6 h 26"/>
                <a:gd name="T54" fmla="*/ 3 w 30"/>
                <a:gd name="T55" fmla="*/ 6 h 26"/>
                <a:gd name="T56" fmla="*/ 0 w 30"/>
                <a:gd name="T57" fmla="*/ 9 h 26"/>
                <a:gd name="T58" fmla="*/ 0 w 30"/>
                <a:gd name="T59" fmla="*/ 11 h 26"/>
                <a:gd name="T60" fmla="*/ 0 w 30"/>
                <a:gd name="T61" fmla="*/ 14 h 26"/>
                <a:gd name="T62" fmla="*/ 0 w 30"/>
                <a:gd name="T63" fmla="*/ 14 h 26"/>
                <a:gd name="T64" fmla="*/ 0 w 30"/>
                <a:gd name="T65" fmla="*/ 17 h 26"/>
                <a:gd name="T66" fmla="*/ 3 w 30"/>
                <a:gd name="T67" fmla="*/ 20 h 26"/>
                <a:gd name="T68" fmla="*/ 3 w 30"/>
                <a:gd name="T69" fmla="*/ 20 h 26"/>
                <a:gd name="T70" fmla="*/ 3 w 30"/>
                <a:gd name="T71" fmla="*/ 23 h 26"/>
                <a:gd name="T72" fmla="*/ 6 w 30"/>
                <a:gd name="T73" fmla="*/ 23 h 26"/>
                <a:gd name="T74" fmla="*/ 9 w 30"/>
                <a:gd name="T75" fmla="*/ 26 h 26"/>
                <a:gd name="T76" fmla="*/ 9 w 30"/>
                <a:gd name="T77" fmla="*/ 26 h 26"/>
                <a:gd name="T78" fmla="*/ 12 w 30"/>
                <a:gd name="T79" fmla="*/ 26 h 26"/>
                <a:gd name="T80" fmla="*/ 15 w 30"/>
                <a:gd name="T81" fmla="*/ 26 h 26"/>
                <a:gd name="T82" fmla="*/ 15 w 30"/>
                <a:gd name="T83" fmla="*/ 26 h 2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6"/>
                <a:gd name="T128" fmla="*/ 30 w 30"/>
                <a:gd name="T129" fmla="*/ 26 h 2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6">
                  <a:moveTo>
                    <a:pt x="15" y="26"/>
                  </a:moveTo>
                  <a:lnTo>
                    <a:pt x="18" y="26"/>
                  </a:lnTo>
                  <a:lnTo>
                    <a:pt x="21" y="26"/>
                  </a:lnTo>
                  <a:lnTo>
                    <a:pt x="24" y="23"/>
                  </a:lnTo>
                  <a:lnTo>
                    <a:pt x="27" y="20"/>
                  </a:lnTo>
                  <a:lnTo>
                    <a:pt x="30" y="17"/>
                  </a:lnTo>
                  <a:lnTo>
                    <a:pt x="30" y="14"/>
                  </a:lnTo>
                  <a:lnTo>
                    <a:pt x="30" y="11"/>
                  </a:lnTo>
                  <a:lnTo>
                    <a:pt x="30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5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7" name="Freeform 115"/>
            <p:cNvSpPr>
              <a:spLocks noChangeArrowheads="1"/>
            </p:cNvSpPr>
            <p:nvPr/>
          </p:nvSpPr>
          <p:spPr bwMode="auto">
            <a:xfrm>
              <a:off x="3323" y="3804"/>
              <a:ext cx="30" cy="26"/>
            </a:xfrm>
            <a:custGeom>
              <a:avLst/>
              <a:gdLst>
                <a:gd name="T0" fmla="*/ 15 w 30"/>
                <a:gd name="T1" fmla="*/ 26 h 26"/>
                <a:gd name="T2" fmla="*/ 18 w 30"/>
                <a:gd name="T3" fmla="*/ 26 h 26"/>
                <a:gd name="T4" fmla="*/ 21 w 30"/>
                <a:gd name="T5" fmla="*/ 26 h 26"/>
                <a:gd name="T6" fmla="*/ 21 w 30"/>
                <a:gd name="T7" fmla="*/ 26 h 26"/>
                <a:gd name="T8" fmla="*/ 24 w 30"/>
                <a:gd name="T9" fmla="*/ 23 h 26"/>
                <a:gd name="T10" fmla="*/ 24 w 30"/>
                <a:gd name="T11" fmla="*/ 23 h 26"/>
                <a:gd name="T12" fmla="*/ 27 w 30"/>
                <a:gd name="T13" fmla="*/ 20 h 26"/>
                <a:gd name="T14" fmla="*/ 27 w 30"/>
                <a:gd name="T15" fmla="*/ 20 h 26"/>
                <a:gd name="T16" fmla="*/ 30 w 30"/>
                <a:gd name="T17" fmla="*/ 17 h 26"/>
                <a:gd name="T18" fmla="*/ 30 w 30"/>
                <a:gd name="T19" fmla="*/ 14 h 26"/>
                <a:gd name="T20" fmla="*/ 30 w 30"/>
                <a:gd name="T21" fmla="*/ 14 h 26"/>
                <a:gd name="T22" fmla="*/ 30 w 30"/>
                <a:gd name="T23" fmla="*/ 11 h 26"/>
                <a:gd name="T24" fmla="*/ 30 w 30"/>
                <a:gd name="T25" fmla="*/ 9 h 26"/>
                <a:gd name="T26" fmla="*/ 27 w 30"/>
                <a:gd name="T27" fmla="*/ 6 h 26"/>
                <a:gd name="T28" fmla="*/ 27 w 30"/>
                <a:gd name="T29" fmla="*/ 6 h 26"/>
                <a:gd name="T30" fmla="*/ 24 w 30"/>
                <a:gd name="T31" fmla="*/ 3 h 26"/>
                <a:gd name="T32" fmla="*/ 24 w 30"/>
                <a:gd name="T33" fmla="*/ 3 h 26"/>
                <a:gd name="T34" fmla="*/ 21 w 30"/>
                <a:gd name="T35" fmla="*/ 0 h 26"/>
                <a:gd name="T36" fmla="*/ 21 w 30"/>
                <a:gd name="T37" fmla="*/ 0 h 26"/>
                <a:gd name="T38" fmla="*/ 18 w 30"/>
                <a:gd name="T39" fmla="*/ 0 h 26"/>
                <a:gd name="T40" fmla="*/ 15 w 30"/>
                <a:gd name="T41" fmla="*/ 0 h 26"/>
                <a:gd name="T42" fmla="*/ 12 w 30"/>
                <a:gd name="T43" fmla="*/ 0 h 26"/>
                <a:gd name="T44" fmla="*/ 9 w 30"/>
                <a:gd name="T45" fmla="*/ 0 h 26"/>
                <a:gd name="T46" fmla="*/ 9 w 30"/>
                <a:gd name="T47" fmla="*/ 0 h 26"/>
                <a:gd name="T48" fmla="*/ 6 w 30"/>
                <a:gd name="T49" fmla="*/ 3 h 26"/>
                <a:gd name="T50" fmla="*/ 3 w 30"/>
                <a:gd name="T51" fmla="*/ 3 h 26"/>
                <a:gd name="T52" fmla="*/ 3 w 30"/>
                <a:gd name="T53" fmla="*/ 6 h 26"/>
                <a:gd name="T54" fmla="*/ 3 w 30"/>
                <a:gd name="T55" fmla="*/ 6 h 26"/>
                <a:gd name="T56" fmla="*/ 0 w 30"/>
                <a:gd name="T57" fmla="*/ 9 h 26"/>
                <a:gd name="T58" fmla="*/ 0 w 30"/>
                <a:gd name="T59" fmla="*/ 11 h 26"/>
                <a:gd name="T60" fmla="*/ 0 w 30"/>
                <a:gd name="T61" fmla="*/ 14 h 26"/>
                <a:gd name="T62" fmla="*/ 0 w 30"/>
                <a:gd name="T63" fmla="*/ 14 h 26"/>
                <a:gd name="T64" fmla="*/ 0 w 30"/>
                <a:gd name="T65" fmla="*/ 17 h 26"/>
                <a:gd name="T66" fmla="*/ 3 w 30"/>
                <a:gd name="T67" fmla="*/ 20 h 26"/>
                <a:gd name="T68" fmla="*/ 3 w 30"/>
                <a:gd name="T69" fmla="*/ 20 h 26"/>
                <a:gd name="T70" fmla="*/ 3 w 30"/>
                <a:gd name="T71" fmla="*/ 23 h 26"/>
                <a:gd name="T72" fmla="*/ 6 w 30"/>
                <a:gd name="T73" fmla="*/ 23 h 26"/>
                <a:gd name="T74" fmla="*/ 9 w 30"/>
                <a:gd name="T75" fmla="*/ 26 h 26"/>
                <a:gd name="T76" fmla="*/ 9 w 30"/>
                <a:gd name="T77" fmla="*/ 26 h 26"/>
                <a:gd name="T78" fmla="*/ 12 w 30"/>
                <a:gd name="T79" fmla="*/ 26 h 26"/>
                <a:gd name="T80" fmla="*/ 15 w 30"/>
                <a:gd name="T81" fmla="*/ 26 h 26"/>
                <a:gd name="T82" fmla="*/ 15 w 30"/>
                <a:gd name="T83" fmla="*/ 26 h 2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30"/>
                <a:gd name="T127" fmla="*/ 0 h 26"/>
                <a:gd name="T128" fmla="*/ 30 w 30"/>
                <a:gd name="T129" fmla="*/ 26 h 2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30" h="26">
                  <a:moveTo>
                    <a:pt x="15" y="26"/>
                  </a:moveTo>
                  <a:lnTo>
                    <a:pt x="18" y="26"/>
                  </a:lnTo>
                  <a:lnTo>
                    <a:pt x="21" y="26"/>
                  </a:lnTo>
                  <a:lnTo>
                    <a:pt x="24" y="23"/>
                  </a:lnTo>
                  <a:lnTo>
                    <a:pt x="27" y="20"/>
                  </a:lnTo>
                  <a:lnTo>
                    <a:pt x="30" y="17"/>
                  </a:lnTo>
                  <a:lnTo>
                    <a:pt x="30" y="14"/>
                  </a:lnTo>
                  <a:lnTo>
                    <a:pt x="30" y="11"/>
                  </a:lnTo>
                  <a:lnTo>
                    <a:pt x="30" y="9"/>
                  </a:lnTo>
                  <a:lnTo>
                    <a:pt x="27" y="6"/>
                  </a:lnTo>
                  <a:lnTo>
                    <a:pt x="24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0" y="14"/>
                  </a:lnTo>
                  <a:lnTo>
                    <a:pt x="0" y="17"/>
                  </a:lnTo>
                  <a:lnTo>
                    <a:pt x="3" y="20"/>
                  </a:lnTo>
                  <a:lnTo>
                    <a:pt x="3" y="23"/>
                  </a:lnTo>
                  <a:lnTo>
                    <a:pt x="6" y="23"/>
                  </a:lnTo>
                  <a:lnTo>
                    <a:pt x="9" y="26"/>
                  </a:lnTo>
                  <a:lnTo>
                    <a:pt x="12" y="26"/>
                  </a:lnTo>
                  <a:lnTo>
                    <a:pt x="15" y="26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8" name="Freeform 116"/>
            <p:cNvSpPr>
              <a:spLocks noChangeArrowheads="1"/>
            </p:cNvSpPr>
            <p:nvPr/>
          </p:nvSpPr>
          <p:spPr bwMode="auto">
            <a:xfrm>
              <a:off x="3326" y="3431"/>
              <a:ext cx="27" cy="29"/>
            </a:xfrm>
            <a:custGeom>
              <a:avLst/>
              <a:gdLst>
                <a:gd name="T0" fmla="*/ 12 w 27"/>
                <a:gd name="T1" fmla="*/ 26 h 29"/>
                <a:gd name="T2" fmla="*/ 15 w 27"/>
                <a:gd name="T3" fmla="*/ 29 h 29"/>
                <a:gd name="T4" fmla="*/ 18 w 27"/>
                <a:gd name="T5" fmla="*/ 26 h 29"/>
                <a:gd name="T6" fmla="*/ 21 w 27"/>
                <a:gd name="T7" fmla="*/ 26 h 29"/>
                <a:gd name="T8" fmla="*/ 21 w 27"/>
                <a:gd name="T9" fmla="*/ 26 h 29"/>
                <a:gd name="T10" fmla="*/ 24 w 27"/>
                <a:gd name="T11" fmla="*/ 23 h 29"/>
                <a:gd name="T12" fmla="*/ 24 w 27"/>
                <a:gd name="T13" fmla="*/ 23 h 29"/>
                <a:gd name="T14" fmla="*/ 27 w 27"/>
                <a:gd name="T15" fmla="*/ 20 h 29"/>
                <a:gd name="T16" fmla="*/ 27 w 27"/>
                <a:gd name="T17" fmla="*/ 17 h 29"/>
                <a:gd name="T18" fmla="*/ 27 w 27"/>
                <a:gd name="T19" fmla="*/ 17 h 29"/>
                <a:gd name="T20" fmla="*/ 27 w 27"/>
                <a:gd name="T21" fmla="*/ 15 h 29"/>
                <a:gd name="T22" fmla="*/ 27 w 27"/>
                <a:gd name="T23" fmla="*/ 12 h 29"/>
                <a:gd name="T24" fmla="*/ 27 w 27"/>
                <a:gd name="T25" fmla="*/ 9 h 29"/>
                <a:gd name="T26" fmla="*/ 27 w 27"/>
                <a:gd name="T27" fmla="*/ 9 h 29"/>
                <a:gd name="T28" fmla="*/ 24 w 27"/>
                <a:gd name="T29" fmla="*/ 6 h 29"/>
                <a:gd name="T30" fmla="*/ 24 w 27"/>
                <a:gd name="T31" fmla="*/ 3 h 29"/>
                <a:gd name="T32" fmla="*/ 21 w 27"/>
                <a:gd name="T33" fmla="*/ 3 h 29"/>
                <a:gd name="T34" fmla="*/ 21 w 27"/>
                <a:gd name="T35" fmla="*/ 0 h 29"/>
                <a:gd name="T36" fmla="*/ 18 w 27"/>
                <a:gd name="T37" fmla="*/ 0 h 29"/>
                <a:gd name="T38" fmla="*/ 15 w 27"/>
                <a:gd name="T39" fmla="*/ 0 h 29"/>
                <a:gd name="T40" fmla="*/ 12 w 27"/>
                <a:gd name="T41" fmla="*/ 0 h 29"/>
                <a:gd name="T42" fmla="*/ 12 w 27"/>
                <a:gd name="T43" fmla="*/ 0 h 29"/>
                <a:gd name="T44" fmla="*/ 9 w 27"/>
                <a:gd name="T45" fmla="*/ 0 h 29"/>
                <a:gd name="T46" fmla="*/ 6 w 27"/>
                <a:gd name="T47" fmla="*/ 0 h 29"/>
                <a:gd name="T48" fmla="*/ 6 w 27"/>
                <a:gd name="T49" fmla="*/ 3 h 29"/>
                <a:gd name="T50" fmla="*/ 3 w 27"/>
                <a:gd name="T51" fmla="*/ 3 h 29"/>
                <a:gd name="T52" fmla="*/ 3 w 27"/>
                <a:gd name="T53" fmla="*/ 6 h 29"/>
                <a:gd name="T54" fmla="*/ 0 w 27"/>
                <a:gd name="T55" fmla="*/ 9 h 29"/>
                <a:gd name="T56" fmla="*/ 0 w 27"/>
                <a:gd name="T57" fmla="*/ 9 h 29"/>
                <a:gd name="T58" fmla="*/ 0 w 27"/>
                <a:gd name="T59" fmla="*/ 12 h 29"/>
                <a:gd name="T60" fmla="*/ 0 w 27"/>
                <a:gd name="T61" fmla="*/ 15 h 29"/>
                <a:gd name="T62" fmla="*/ 0 w 27"/>
                <a:gd name="T63" fmla="*/ 17 h 29"/>
                <a:gd name="T64" fmla="*/ 0 w 27"/>
                <a:gd name="T65" fmla="*/ 17 h 29"/>
                <a:gd name="T66" fmla="*/ 0 w 27"/>
                <a:gd name="T67" fmla="*/ 20 h 29"/>
                <a:gd name="T68" fmla="*/ 3 w 27"/>
                <a:gd name="T69" fmla="*/ 23 h 29"/>
                <a:gd name="T70" fmla="*/ 3 w 27"/>
                <a:gd name="T71" fmla="*/ 23 h 29"/>
                <a:gd name="T72" fmla="*/ 6 w 27"/>
                <a:gd name="T73" fmla="*/ 26 h 29"/>
                <a:gd name="T74" fmla="*/ 6 w 27"/>
                <a:gd name="T75" fmla="*/ 26 h 29"/>
                <a:gd name="T76" fmla="*/ 9 w 27"/>
                <a:gd name="T77" fmla="*/ 26 h 29"/>
                <a:gd name="T78" fmla="*/ 12 w 27"/>
                <a:gd name="T79" fmla="*/ 29 h 29"/>
                <a:gd name="T80" fmla="*/ 12 w 27"/>
                <a:gd name="T81" fmla="*/ 29 h 29"/>
                <a:gd name="T82" fmla="*/ 12 w 27"/>
                <a:gd name="T83" fmla="*/ 29 h 29"/>
                <a:gd name="T84" fmla="*/ 12 w 27"/>
                <a:gd name="T85" fmla="*/ 26 h 2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7"/>
                <a:gd name="T130" fmla="*/ 0 h 29"/>
                <a:gd name="T131" fmla="*/ 27 w 27"/>
                <a:gd name="T132" fmla="*/ 29 h 29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7" h="29">
                  <a:moveTo>
                    <a:pt x="12" y="26"/>
                  </a:moveTo>
                  <a:lnTo>
                    <a:pt x="15" y="29"/>
                  </a:lnTo>
                  <a:lnTo>
                    <a:pt x="18" y="26"/>
                  </a:lnTo>
                  <a:lnTo>
                    <a:pt x="21" y="26"/>
                  </a:lnTo>
                  <a:lnTo>
                    <a:pt x="24" y="23"/>
                  </a:lnTo>
                  <a:lnTo>
                    <a:pt x="27" y="20"/>
                  </a:lnTo>
                  <a:lnTo>
                    <a:pt x="27" y="17"/>
                  </a:lnTo>
                  <a:lnTo>
                    <a:pt x="27" y="15"/>
                  </a:lnTo>
                  <a:lnTo>
                    <a:pt x="27" y="12"/>
                  </a:lnTo>
                  <a:lnTo>
                    <a:pt x="27" y="9"/>
                  </a:lnTo>
                  <a:lnTo>
                    <a:pt x="24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9"/>
                  </a:lnTo>
                  <a:lnTo>
                    <a:pt x="12" y="2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9" name="Freeform 117"/>
            <p:cNvSpPr>
              <a:spLocks noChangeArrowheads="1"/>
            </p:cNvSpPr>
            <p:nvPr/>
          </p:nvSpPr>
          <p:spPr bwMode="auto">
            <a:xfrm>
              <a:off x="3326" y="3431"/>
              <a:ext cx="27" cy="29"/>
            </a:xfrm>
            <a:custGeom>
              <a:avLst/>
              <a:gdLst>
                <a:gd name="T0" fmla="*/ 12 w 27"/>
                <a:gd name="T1" fmla="*/ 26 h 29"/>
                <a:gd name="T2" fmla="*/ 15 w 27"/>
                <a:gd name="T3" fmla="*/ 29 h 29"/>
                <a:gd name="T4" fmla="*/ 18 w 27"/>
                <a:gd name="T5" fmla="*/ 26 h 29"/>
                <a:gd name="T6" fmla="*/ 21 w 27"/>
                <a:gd name="T7" fmla="*/ 26 h 29"/>
                <a:gd name="T8" fmla="*/ 21 w 27"/>
                <a:gd name="T9" fmla="*/ 26 h 29"/>
                <a:gd name="T10" fmla="*/ 24 w 27"/>
                <a:gd name="T11" fmla="*/ 23 h 29"/>
                <a:gd name="T12" fmla="*/ 24 w 27"/>
                <a:gd name="T13" fmla="*/ 23 h 29"/>
                <a:gd name="T14" fmla="*/ 27 w 27"/>
                <a:gd name="T15" fmla="*/ 20 h 29"/>
                <a:gd name="T16" fmla="*/ 27 w 27"/>
                <a:gd name="T17" fmla="*/ 17 h 29"/>
                <a:gd name="T18" fmla="*/ 27 w 27"/>
                <a:gd name="T19" fmla="*/ 17 h 29"/>
                <a:gd name="T20" fmla="*/ 27 w 27"/>
                <a:gd name="T21" fmla="*/ 15 h 29"/>
                <a:gd name="T22" fmla="*/ 27 w 27"/>
                <a:gd name="T23" fmla="*/ 12 h 29"/>
                <a:gd name="T24" fmla="*/ 27 w 27"/>
                <a:gd name="T25" fmla="*/ 9 h 29"/>
                <a:gd name="T26" fmla="*/ 27 w 27"/>
                <a:gd name="T27" fmla="*/ 9 h 29"/>
                <a:gd name="T28" fmla="*/ 24 w 27"/>
                <a:gd name="T29" fmla="*/ 6 h 29"/>
                <a:gd name="T30" fmla="*/ 24 w 27"/>
                <a:gd name="T31" fmla="*/ 3 h 29"/>
                <a:gd name="T32" fmla="*/ 21 w 27"/>
                <a:gd name="T33" fmla="*/ 3 h 29"/>
                <a:gd name="T34" fmla="*/ 21 w 27"/>
                <a:gd name="T35" fmla="*/ 0 h 29"/>
                <a:gd name="T36" fmla="*/ 18 w 27"/>
                <a:gd name="T37" fmla="*/ 0 h 29"/>
                <a:gd name="T38" fmla="*/ 15 w 27"/>
                <a:gd name="T39" fmla="*/ 0 h 29"/>
                <a:gd name="T40" fmla="*/ 12 w 27"/>
                <a:gd name="T41" fmla="*/ 0 h 29"/>
                <a:gd name="T42" fmla="*/ 12 w 27"/>
                <a:gd name="T43" fmla="*/ 0 h 29"/>
                <a:gd name="T44" fmla="*/ 9 w 27"/>
                <a:gd name="T45" fmla="*/ 0 h 29"/>
                <a:gd name="T46" fmla="*/ 6 w 27"/>
                <a:gd name="T47" fmla="*/ 0 h 29"/>
                <a:gd name="T48" fmla="*/ 6 w 27"/>
                <a:gd name="T49" fmla="*/ 3 h 29"/>
                <a:gd name="T50" fmla="*/ 3 w 27"/>
                <a:gd name="T51" fmla="*/ 3 h 29"/>
                <a:gd name="T52" fmla="*/ 3 w 27"/>
                <a:gd name="T53" fmla="*/ 6 h 29"/>
                <a:gd name="T54" fmla="*/ 0 w 27"/>
                <a:gd name="T55" fmla="*/ 9 h 29"/>
                <a:gd name="T56" fmla="*/ 0 w 27"/>
                <a:gd name="T57" fmla="*/ 9 h 29"/>
                <a:gd name="T58" fmla="*/ 0 w 27"/>
                <a:gd name="T59" fmla="*/ 12 h 29"/>
                <a:gd name="T60" fmla="*/ 0 w 27"/>
                <a:gd name="T61" fmla="*/ 15 h 29"/>
                <a:gd name="T62" fmla="*/ 0 w 27"/>
                <a:gd name="T63" fmla="*/ 17 h 29"/>
                <a:gd name="T64" fmla="*/ 0 w 27"/>
                <a:gd name="T65" fmla="*/ 17 h 29"/>
                <a:gd name="T66" fmla="*/ 0 w 27"/>
                <a:gd name="T67" fmla="*/ 20 h 29"/>
                <a:gd name="T68" fmla="*/ 3 w 27"/>
                <a:gd name="T69" fmla="*/ 23 h 29"/>
                <a:gd name="T70" fmla="*/ 3 w 27"/>
                <a:gd name="T71" fmla="*/ 23 h 29"/>
                <a:gd name="T72" fmla="*/ 6 w 27"/>
                <a:gd name="T73" fmla="*/ 26 h 29"/>
                <a:gd name="T74" fmla="*/ 6 w 27"/>
                <a:gd name="T75" fmla="*/ 26 h 29"/>
                <a:gd name="T76" fmla="*/ 9 w 27"/>
                <a:gd name="T77" fmla="*/ 26 h 29"/>
                <a:gd name="T78" fmla="*/ 12 w 27"/>
                <a:gd name="T79" fmla="*/ 29 h 29"/>
                <a:gd name="T80" fmla="*/ 12 w 27"/>
                <a:gd name="T81" fmla="*/ 29 h 29"/>
                <a:gd name="T82" fmla="*/ 12 w 27"/>
                <a:gd name="T83" fmla="*/ 29 h 2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7"/>
                <a:gd name="T127" fmla="*/ 0 h 29"/>
                <a:gd name="T128" fmla="*/ 27 w 27"/>
                <a:gd name="T129" fmla="*/ 29 h 29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7" h="29">
                  <a:moveTo>
                    <a:pt x="12" y="26"/>
                  </a:moveTo>
                  <a:lnTo>
                    <a:pt x="15" y="29"/>
                  </a:lnTo>
                  <a:lnTo>
                    <a:pt x="18" y="26"/>
                  </a:lnTo>
                  <a:lnTo>
                    <a:pt x="21" y="26"/>
                  </a:lnTo>
                  <a:lnTo>
                    <a:pt x="24" y="23"/>
                  </a:lnTo>
                  <a:lnTo>
                    <a:pt x="27" y="20"/>
                  </a:lnTo>
                  <a:lnTo>
                    <a:pt x="27" y="17"/>
                  </a:lnTo>
                  <a:lnTo>
                    <a:pt x="27" y="15"/>
                  </a:lnTo>
                  <a:lnTo>
                    <a:pt x="27" y="12"/>
                  </a:lnTo>
                  <a:lnTo>
                    <a:pt x="27" y="9"/>
                  </a:lnTo>
                  <a:lnTo>
                    <a:pt x="24" y="6"/>
                  </a:lnTo>
                  <a:lnTo>
                    <a:pt x="24" y="3"/>
                  </a:lnTo>
                  <a:lnTo>
                    <a:pt x="21" y="3"/>
                  </a:lnTo>
                  <a:lnTo>
                    <a:pt x="21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2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3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7"/>
                  </a:lnTo>
                  <a:lnTo>
                    <a:pt x="0" y="20"/>
                  </a:lnTo>
                  <a:lnTo>
                    <a:pt x="3" y="23"/>
                  </a:lnTo>
                  <a:lnTo>
                    <a:pt x="6" y="26"/>
                  </a:lnTo>
                  <a:lnTo>
                    <a:pt x="9" y="26"/>
                  </a:lnTo>
                  <a:lnTo>
                    <a:pt x="12" y="29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0" name="Freeform 118"/>
            <p:cNvSpPr>
              <a:spLocks noChangeArrowheads="1"/>
            </p:cNvSpPr>
            <p:nvPr/>
          </p:nvSpPr>
          <p:spPr bwMode="auto">
            <a:xfrm>
              <a:off x="2883" y="2585"/>
              <a:ext cx="29" cy="30"/>
            </a:xfrm>
            <a:custGeom>
              <a:avLst/>
              <a:gdLst>
                <a:gd name="T0" fmla="*/ 11 w 29"/>
                <a:gd name="T1" fmla="*/ 30 h 30"/>
                <a:gd name="T2" fmla="*/ 14 w 29"/>
                <a:gd name="T3" fmla="*/ 30 h 30"/>
                <a:gd name="T4" fmla="*/ 17 w 29"/>
                <a:gd name="T5" fmla="*/ 30 h 30"/>
                <a:gd name="T6" fmla="*/ 20 w 29"/>
                <a:gd name="T7" fmla="*/ 27 h 30"/>
                <a:gd name="T8" fmla="*/ 23 w 29"/>
                <a:gd name="T9" fmla="*/ 27 h 30"/>
                <a:gd name="T10" fmla="*/ 23 w 29"/>
                <a:gd name="T11" fmla="*/ 27 h 30"/>
                <a:gd name="T12" fmla="*/ 26 w 29"/>
                <a:gd name="T13" fmla="*/ 24 h 30"/>
                <a:gd name="T14" fmla="*/ 26 w 29"/>
                <a:gd name="T15" fmla="*/ 21 h 30"/>
                <a:gd name="T16" fmla="*/ 26 w 29"/>
                <a:gd name="T17" fmla="*/ 21 h 30"/>
                <a:gd name="T18" fmla="*/ 29 w 29"/>
                <a:gd name="T19" fmla="*/ 18 h 30"/>
                <a:gd name="T20" fmla="*/ 29 w 29"/>
                <a:gd name="T21" fmla="*/ 15 h 30"/>
                <a:gd name="T22" fmla="*/ 29 w 29"/>
                <a:gd name="T23" fmla="*/ 12 h 30"/>
                <a:gd name="T24" fmla="*/ 26 w 29"/>
                <a:gd name="T25" fmla="*/ 12 h 30"/>
                <a:gd name="T26" fmla="*/ 26 w 29"/>
                <a:gd name="T27" fmla="*/ 9 h 30"/>
                <a:gd name="T28" fmla="*/ 26 w 29"/>
                <a:gd name="T29" fmla="*/ 6 h 30"/>
                <a:gd name="T30" fmla="*/ 23 w 29"/>
                <a:gd name="T31" fmla="*/ 6 h 30"/>
                <a:gd name="T32" fmla="*/ 23 w 29"/>
                <a:gd name="T33" fmla="*/ 3 h 30"/>
                <a:gd name="T34" fmla="*/ 20 w 29"/>
                <a:gd name="T35" fmla="*/ 3 h 30"/>
                <a:gd name="T36" fmla="*/ 17 w 29"/>
                <a:gd name="T37" fmla="*/ 0 h 30"/>
                <a:gd name="T38" fmla="*/ 14 w 29"/>
                <a:gd name="T39" fmla="*/ 0 h 30"/>
                <a:gd name="T40" fmla="*/ 14 w 29"/>
                <a:gd name="T41" fmla="*/ 0 h 30"/>
                <a:gd name="T42" fmla="*/ 11 w 29"/>
                <a:gd name="T43" fmla="*/ 0 h 30"/>
                <a:gd name="T44" fmla="*/ 9 w 29"/>
                <a:gd name="T45" fmla="*/ 0 h 30"/>
                <a:gd name="T46" fmla="*/ 6 w 29"/>
                <a:gd name="T47" fmla="*/ 3 h 30"/>
                <a:gd name="T48" fmla="*/ 6 w 29"/>
                <a:gd name="T49" fmla="*/ 3 h 30"/>
                <a:gd name="T50" fmla="*/ 3 w 29"/>
                <a:gd name="T51" fmla="*/ 6 h 30"/>
                <a:gd name="T52" fmla="*/ 3 w 29"/>
                <a:gd name="T53" fmla="*/ 6 h 30"/>
                <a:gd name="T54" fmla="*/ 0 w 29"/>
                <a:gd name="T55" fmla="*/ 9 h 30"/>
                <a:gd name="T56" fmla="*/ 0 w 29"/>
                <a:gd name="T57" fmla="*/ 12 h 30"/>
                <a:gd name="T58" fmla="*/ 0 w 29"/>
                <a:gd name="T59" fmla="*/ 12 h 30"/>
                <a:gd name="T60" fmla="*/ 0 w 29"/>
                <a:gd name="T61" fmla="*/ 15 h 30"/>
                <a:gd name="T62" fmla="*/ 0 w 29"/>
                <a:gd name="T63" fmla="*/ 18 h 30"/>
                <a:gd name="T64" fmla="*/ 0 w 29"/>
                <a:gd name="T65" fmla="*/ 21 h 30"/>
                <a:gd name="T66" fmla="*/ 0 w 29"/>
                <a:gd name="T67" fmla="*/ 21 h 30"/>
                <a:gd name="T68" fmla="*/ 3 w 29"/>
                <a:gd name="T69" fmla="*/ 24 h 30"/>
                <a:gd name="T70" fmla="*/ 3 w 29"/>
                <a:gd name="T71" fmla="*/ 27 h 30"/>
                <a:gd name="T72" fmla="*/ 6 w 29"/>
                <a:gd name="T73" fmla="*/ 27 h 30"/>
                <a:gd name="T74" fmla="*/ 6 w 29"/>
                <a:gd name="T75" fmla="*/ 27 h 30"/>
                <a:gd name="T76" fmla="*/ 9 w 29"/>
                <a:gd name="T77" fmla="*/ 30 h 30"/>
                <a:gd name="T78" fmla="*/ 11 w 29"/>
                <a:gd name="T79" fmla="*/ 30 h 30"/>
                <a:gd name="T80" fmla="*/ 14 w 29"/>
                <a:gd name="T81" fmla="*/ 30 h 30"/>
                <a:gd name="T82" fmla="*/ 14 w 29"/>
                <a:gd name="T83" fmla="*/ 30 h 30"/>
                <a:gd name="T84" fmla="*/ 11 w 29"/>
                <a:gd name="T85" fmla="*/ 30 h 3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29"/>
                <a:gd name="T130" fmla="*/ 0 h 30"/>
                <a:gd name="T131" fmla="*/ 29 w 29"/>
                <a:gd name="T132" fmla="*/ 30 h 30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29" h="30">
                  <a:moveTo>
                    <a:pt x="11" y="30"/>
                  </a:moveTo>
                  <a:lnTo>
                    <a:pt x="14" y="30"/>
                  </a:lnTo>
                  <a:lnTo>
                    <a:pt x="17" y="30"/>
                  </a:lnTo>
                  <a:lnTo>
                    <a:pt x="20" y="27"/>
                  </a:lnTo>
                  <a:lnTo>
                    <a:pt x="23" y="27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6"/>
                  </a:lnTo>
                  <a:lnTo>
                    <a:pt x="23" y="3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1" y="30"/>
                  </a:lnTo>
                  <a:lnTo>
                    <a:pt x="14" y="30"/>
                  </a:lnTo>
                  <a:lnTo>
                    <a:pt x="11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1" name="Freeform 119"/>
            <p:cNvSpPr>
              <a:spLocks noChangeArrowheads="1"/>
            </p:cNvSpPr>
            <p:nvPr/>
          </p:nvSpPr>
          <p:spPr bwMode="auto">
            <a:xfrm>
              <a:off x="2883" y="2585"/>
              <a:ext cx="29" cy="30"/>
            </a:xfrm>
            <a:custGeom>
              <a:avLst/>
              <a:gdLst>
                <a:gd name="T0" fmla="*/ 11 w 29"/>
                <a:gd name="T1" fmla="*/ 30 h 30"/>
                <a:gd name="T2" fmla="*/ 14 w 29"/>
                <a:gd name="T3" fmla="*/ 30 h 30"/>
                <a:gd name="T4" fmla="*/ 17 w 29"/>
                <a:gd name="T5" fmla="*/ 30 h 30"/>
                <a:gd name="T6" fmla="*/ 20 w 29"/>
                <a:gd name="T7" fmla="*/ 27 h 30"/>
                <a:gd name="T8" fmla="*/ 23 w 29"/>
                <a:gd name="T9" fmla="*/ 27 h 30"/>
                <a:gd name="T10" fmla="*/ 23 w 29"/>
                <a:gd name="T11" fmla="*/ 27 h 30"/>
                <a:gd name="T12" fmla="*/ 26 w 29"/>
                <a:gd name="T13" fmla="*/ 24 h 30"/>
                <a:gd name="T14" fmla="*/ 26 w 29"/>
                <a:gd name="T15" fmla="*/ 21 h 30"/>
                <a:gd name="T16" fmla="*/ 26 w 29"/>
                <a:gd name="T17" fmla="*/ 21 h 30"/>
                <a:gd name="T18" fmla="*/ 29 w 29"/>
                <a:gd name="T19" fmla="*/ 18 h 30"/>
                <a:gd name="T20" fmla="*/ 29 w 29"/>
                <a:gd name="T21" fmla="*/ 15 h 30"/>
                <a:gd name="T22" fmla="*/ 29 w 29"/>
                <a:gd name="T23" fmla="*/ 12 h 30"/>
                <a:gd name="T24" fmla="*/ 26 w 29"/>
                <a:gd name="T25" fmla="*/ 12 h 30"/>
                <a:gd name="T26" fmla="*/ 26 w 29"/>
                <a:gd name="T27" fmla="*/ 9 h 30"/>
                <a:gd name="T28" fmla="*/ 26 w 29"/>
                <a:gd name="T29" fmla="*/ 6 h 30"/>
                <a:gd name="T30" fmla="*/ 23 w 29"/>
                <a:gd name="T31" fmla="*/ 6 h 30"/>
                <a:gd name="T32" fmla="*/ 23 w 29"/>
                <a:gd name="T33" fmla="*/ 3 h 30"/>
                <a:gd name="T34" fmla="*/ 20 w 29"/>
                <a:gd name="T35" fmla="*/ 3 h 30"/>
                <a:gd name="T36" fmla="*/ 17 w 29"/>
                <a:gd name="T37" fmla="*/ 0 h 30"/>
                <a:gd name="T38" fmla="*/ 14 w 29"/>
                <a:gd name="T39" fmla="*/ 0 h 30"/>
                <a:gd name="T40" fmla="*/ 14 w 29"/>
                <a:gd name="T41" fmla="*/ 0 h 30"/>
                <a:gd name="T42" fmla="*/ 11 w 29"/>
                <a:gd name="T43" fmla="*/ 0 h 30"/>
                <a:gd name="T44" fmla="*/ 9 w 29"/>
                <a:gd name="T45" fmla="*/ 0 h 30"/>
                <a:gd name="T46" fmla="*/ 6 w 29"/>
                <a:gd name="T47" fmla="*/ 3 h 30"/>
                <a:gd name="T48" fmla="*/ 6 w 29"/>
                <a:gd name="T49" fmla="*/ 3 h 30"/>
                <a:gd name="T50" fmla="*/ 3 w 29"/>
                <a:gd name="T51" fmla="*/ 6 h 30"/>
                <a:gd name="T52" fmla="*/ 3 w 29"/>
                <a:gd name="T53" fmla="*/ 6 h 30"/>
                <a:gd name="T54" fmla="*/ 0 w 29"/>
                <a:gd name="T55" fmla="*/ 9 h 30"/>
                <a:gd name="T56" fmla="*/ 0 w 29"/>
                <a:gd name="T57" fmla="*/ 12 h 30"/>
                <a:gd name="T58" fmla="*/ 0 w 29"/>
                <a:gd name="T59" fmla="*/ 12 h 30"/>
                <a:gd name="T60" fmla="*/ 0 w 29"/>
                <a:gd name="T61" fmla="*/ 15 h 30"/>
                <a:gd name="T62" fmla="*/ 0 w 29"/>
                <a:gd name="T63" fmla="*/ 18 h 30"/>
                <a:gd name="T64" fmla="*/ 0 w 29"/>
                <a:gd name="T65" fmla="*/ 21 h 30"/>
                <a:gd name="T66" fmla="*/ 0 w 29"/>
                <a:gd name="T67" fmla="*/ 21 h 30"/>
                <a:gd name="T68" fmla="*/ 3 w 29"/>
                <a:gd name="T69" fmla="*/ 24 h 30"/>
                <a:gd name="T70" fmla="*/ 3 w 29"/>
                <a:gd name="T71" fmla="*/ 27 h 30"/>
                <a:gd name="T72" fmla="*/ 6 w 29"/>
                <a:gd name="T73" fmla="*/ 27 h 30"/>
                <a:gd name="T74" fmla="*/ 6 w 29"/>
                <a:gd name="T75" fmla="*/ 27 h 30"/>
                <a:gd name="T76" fmla="*/ 9 w 29"/>
                <a:gd name="T77" fmla="*/ 30 h 30"/>
                <a:gd name="T78" fmla="*/ 11 w 29"/>
                <a:gd name="T79" fmla="*/ 30 h 30"/>
                <a:gd name="T80" fmla="*/ 14 w 29"/>
                <a:gd name="T81" fmla="*/ 30 h 30"/>
                <a:gd name="T82" fmla="*/ 14 w 29"/>
                <a:gd name="T83" fmla="*/ 30 h 30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29"/>
                <a:gd name="T127" fmla="*/ 0 h 30"/>
                <a:gd name="T128" fmla="*/ 29 w 29"/>
                <a:gd name="T129" fmla="*/ 30 h 30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29" h="30">
                  <a:moveTo>
                    <a:pt x="11" y="30"/>
                  </a:moveTo>
                  <a:lnTo>
                    <a:pt x="14" y="30"/>
                  </a:lnTo>
                  <a:lnTo>
                    <a:pt x="17" y="30"/>
                  </a:lnTo>
                  <a:lnTo>
                    <a:pt x="20" y="27"/>
                  </a:lnTo>
                  <a:lnTo>
                    <a:pt x="23" y="27"/>
                  </a:lnTo>
                  <a:lnTo>
                    <a:pt x="26" y="24"/>
                  </a:lnTo>
                  <a:lnTo>
                    <a:pt x="26" y="21"/>
                  </a:lnTo>
                  <a:lnTo>
                    <a:pt x="29" y="18"/>
                  </a:lnTo>
                  <a:lnTo>
                    <a:pt x="29" y="15"/>
                  </a:lnTo>
                  <a:lnTo>
                    <a:pt x="29" y="12"/>
                  </a:lnTo>
                  <a:lnTo>
                    <a:pt x="26" y="12"/>
                  </a:lnTo>
                  <a:lnTo>
                    <a:pt x="26" y="9"/>
                  </a:lnTo>
                  <a:lnTo>
                    <a:pt x="26" y="6"/>
                  </a:lnTo>
                  <a:lnTo>
                    <a:pt x="23" y="6"/>
                  </a:lnTo>
                  <a:lnTo>
                    <a:pt x="23" y="3"/>
                  </a:lnTo>
                  <a:lnTo>
                    <a:pt x="20" y="3"/>
                  </a:lnTo>
                  <a:lnTo>
                    <a:pt x="17" y="0"/>
                  </a:lnTo>
                  <a:lnTo>
                    <a:pt x="14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6" y="3"/>
                  </a:lnTo>
                  <a:lnTo>
                    <a:pt x="3" y="6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0" y="21"/>
                  </a:lnTo>
                  <a:lnTo>
                    <a:pt x="3" y="24"/>
                  </a:lnTo>
                  <a:lnTo>
                    <a:pt x="3" y="27"/>
                  </a:lnTo>
                  <a:lnTo>
                    <a:pt x="6" y="27"/>
                  </a:lnTo>
                  <a:lnTo>
                    <a:pt x="9" y="30"/>
                  </a:lnTo>
                  <a:lnTo>
                    <a:pt x="11" y="30"/>
                  </a:lnTo>
                  <a:lnTo>
                    <a:pt x="14" y="3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2" name="Line 120"/>
            <p:cNvSpPr>
              <a:spLocks noChangeShapeType="1"/>
            </p:cNvSpPr>
            <p:nvPr/>
          </p:nvSpPr>
          <p:spPr bwMode="auto">
            <a:xfrm flipH="1">
              <a:off x="2018" y="2333"/>
              <a:ext cx="2055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Line 121"/>
            <p:cNvSpPr>
              <a:spLocks noChangeShapeType="1"/>
            </p:cNvSpPr>
            <p:nvPr/>
          </p:nvSpPr>
          <p:spPr bwMode="auto">
            <a:xfrm flipH="1">
              <a:off x="2462" y="2444"/>
              <a:ext cx="1035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Line 122"/>
            <p:cNvSpPr>
              <a:spLocks noChangeShapeType="1"/>
            </p:cNvSpPr>
            <p:nvPr/>
          </p:nvSpPr>
          <p:spPr bwMode="auto">
            <a:xfrm>
              <a:off x="3890" y="2529"/>
              <a:ext cx="176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Line 123"/>
            <p:cNvSpPr>
              <a:spLocks noChangeShapeType="1"/>
            </p:cNvSpPr>
            <p:nvPr/>
          </p:nvSpPr>
          <p:spPr bwMode="auto">
            <a:xfrm flipH="1">
              <a:off x="2899" y="2600"/>
              <a:ext cx="601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Line 124"/>
            <p:cNvSpPr>
              <a:spLocks noChangeShapeType="1"/>
            </p:cNvSpPr>
            <p:nvPr/>
          </p:nvSpPr>
          <p:spPr bwMode="auto">
            <a:xfrm flipH="1">
              <a:off x="2447" y="2709"/>
              <a:ext cx="1623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Line 125"/>
            <p:cNvSpPr>
              <a:spLocks noChangeShapeType="1"/>
            </p:cNvSpPr>
            <p:nvPr/>
          </p:nvSpPr>
          <p:spPr bwMode="auto">
            <a:xfrm>
              <a:off x="3890" y="2902"/>
              <a:ext cx="179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Line 126"/>
            <p:cNvSpPr>
              <a:spLocks noChangeShapeType="1"/>
            </p:cNvSpPr>
            <p:nvPr/>
          </p:nvSpPr>
          <p:spPr bwMode="auto">
            <a:xfrm flipH="1">
              <a:off x="2447" y="2967"/>
              <a:ext cx="1053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Line 127"/>
            <p:cNvSpPr>
              <a:spLocks noChangeShapeType="1"/>
            </p:cNvSpPr>
            <p:nvPr/>
          </p:nvSpPr>
          <p:spPr bwMode="auto">
            <a:xfrm flipH="1">
              <a:off x="2027" y="2811"/>
              <a:ext cx="1470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Line 128"/>
            <p:cNvSpPr>
              <a:spLocks noChangeShapeType="1"/>
            </p:cNvSpPr>
            <p:nvPr/>
          </p:nvSpPr>
          <p:spPr bwMode="auto">
            <a:xfrm>
              <a:off x="2448" y="3076"/>
              <a:ext cx="1624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Line 129"/>
            <p:cNvSpPr>
              <a:spLocks noChangeShapeType="1"/>
            </p:cNvSpPr>
            <p:nvPr/>
          </p:nvSpPr>
          <p:spPr bwMode="auto">
            <a:xfrm flipH="1">
              <a:off x="2896" y="3255"/>
              <a:ext cx="1171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Line 130"/>
            <p:cNvSpPr>
              <a:spLocks noChangeShapeType="1"/>
            </p:cNvSpPr>
            <p:nvPr/>
          </p:nvSpPr>
          <p:spPr bwMode="auto">
            <a:xfrm>
              <a:off x="3335" y="3443"/>
              <a:ext cx="734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Line 131"/>
            <p:cNvSpPr>
              <a:spLocks noChangeShapeType="1"/>
            </p:cNvSpPr>
            <p:nvPr/>
          </p:nvSpPr>
          <p:spPr bwMode="auto">
            <a:xfrm flipH="1">
              <a:off x="2013" y="3619"/>
              <a:ext cx="2063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Line 132"/>
            <p:cNvSpPr>
              <a:spLocks noChangeShapeType="1"/>
            </p:cNvSpPr>
            <p:nvPr/>
          </p:nvSpPr>
          <p:spPr bwMode="auto">
            <a:xfrm>
              <a:off x="3338" y="3818"/>
              <a:ext cx="734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Line 133"/>
            <p:cNvSpPr>
              <a:spLocks noChangeShapeType="1"/>
            </p:cNvSpPr>
            <p:nvPr/>
          </p:nvSpPr>
          <p:spPr bwMode="auto">
            <a:xfrm>
              <a:off x="3338" y="2195"/>
              <a:ext cx="1" cy="1615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Line 134"/>
            <p:cNvSpPr>
              <a:spLocks noChangeShapeType="1"/>
            </p:cNvSpPr>
            <p:nvPr/>
          </p:nvSpPr>
          <p:spPr bwMode="auto">
            <a:xfrm>
              <a:off x="2894" y="2189"/>
              <a:ext cx="3" cy="161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Line 135"/>
            <p:cNvSpPr>
              <a:spLocks noChangeShapeType="1"/>
            </p:cNvSpPr>
            <p:nvPr/>
          </p:nvSpPr>
          <p:spPr bwMode="auto">
            <a:xfrm>
              <a:off x="2454" y="2189"/>
              <a:ext cx="3" cy="1609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Line 136"/>
            <p:cNvSpPr>
              <a:spLocks noChangeShapeType="1"/>
            </p:cNvSpPr>
            <p:nvPr/>
          </p:nvSpPr>
          <p:spPr bwMode="auto">
            <a:xfrm>
              <a:off x="2016" y="2189"/>
              <a:ext cx="3" cy="1612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137"/>
            <p:cNvSpPr>
              <a:spLocks noChangeArrowheads="1"/>
            </p:cNvSpPr>
            <p:nvPr/>
          </p:nvSpPr>
          <p:spPr bwMode="auto">
            <a:xfrm>
              <a:off x="1764" y="1654"/>
              <a:ext cx="1727" cy="1"/>
            </a:xfrm>
            <a:custGeom>
              <a:avLst/>
              <a:gdLst>
                <a:gd name="T0" fmla="*/ 1727 w 1727"/>
                <a:gd name="T1" fmla="*/ 0 h 1"/>
                <a:gd name="T2" fmla="*/ 0 w 1727"/>
                <a:gd name="T3" fmla="*/ 0 h 1"/>
                <a:gd name="T4" fmla="*/ 1727 w 1727"/>
                <a:gd name="T5" fmla="*/ 0 h 1"/>
                <a:gd name="T6" fmla="*/ 0 60000 65536"/>
                <a:gd name="T7" fmla="*/ 0 60000 65536"/>
                <a:gd name="T8" fmla="*/ 0 60000 65536"/>
                <a:gd name="T9" fmla="*/ 0 w 1727"/>
                <a:gd name="T10" fmla="*/ 0 h 1"/>
                <a:gd name="T11" fmla="*/ 1727 w 172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7" h="1">
                  <a:moveTo>
                    <a:pt x="1727" y="0"/>
                  </a:moveTo>
                  <a:lnTo>
                    <a:pt x="0" y="0"/>
                  </a:lnTo>
                  <a:lnTo>
                    <a:pt x="17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0" name="Line 138"/>
            <p:cNvSpPr>
              <a:spLocks noChangeShapeType="1"/>
            </p:cNvSpPr>
            <p:nvPr/>
          </p:nvSpPr>
          <p:spPr bwMode="auto">
            <a:xfrm flipH="1">
              <a:off x="1763" y="1654"/>
              <a:ext cx="1729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139"/>
            <p:cNvSpPr>
              <a:spLocks noChangeArrowheads="1"/>
            </p:cNvSpPr>
            <p:nvPr/>
          </p:nvSpPr>
          <p:spPr bwMode="auto">
            <a:xfrm>
              <a:off x="1767" y="1508"/>
              <a:ext cx="1677" cy="3"/>
            </a:xfrm>
            <a:custGeom>
              <a:avLst/>
              <a:gdLst>
                <a:gd name="T0" fmla="*/ 1677 w 1677"/>
                <a:gd name="T1" fmla="*/ 0 h 3"/>
                <a:gd name="T2" fmla="*/ 0 w 1677"/>
                <a:gd name="T3" fmla="*/ 3 h 3"/>
                <a:gd name="T4" fmla="*/ 1677 w 1677"/>
                <a:gd name="T5" fmla="*/ 0 h 3"/>
                <a:gd name="T6" fmla="*/ 0 60000 65536"/>
                <a:gd name="T7" fmla="*/ 0 60000 65536"/>
                <a:gd name="T8" fmla="*/ 0 60000 65536"/>
                <a:gd name="T9" fmla="*/ 0 w 1677"/>
                <a:gd name="T10" fmla="*/ 0 h 3"/>
                <a:gd name="T11" fmla="*/ 1677 w 1677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7" h="3">
                  <a:moveTo>
                    <a:pt x="1677" y="0"/>
                  </a:moveTo>
                  <a:lnTo>
                    <a:pt x="0" y="3"/>
                  </a:lnTo>
                  <a:lnTo>
                    <a:pt x="167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Line 140"/>
            <p:cNvSpPr>
              <a:spLocks noChangeShapeType="1"/>
            </p:cNvSpPr>
            <p:nvPr/>
          </p:nvSpPr>
          <p:spPr bwMode="auto">
            <a:xfrm flipH="1">
              <a:off x="1766" y="1508"/>
              <a:ext cx="1679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" name="Freeform 141"/>
            <p:cNvSpPr>
              <a:spLocks noChangeArrowheads="1"/>
            </p:cNvSpPr>
            <p:nvPr/>
          </p:nvSpPr>
          <p:spPr bwMode="auto">
            <a:xfrm>
              <a:off x="1767" y="1358"/>
              <a:ext cx="1615" cy="1"/>
            </a:xfrm>
            <a:custGeom>
              <a:avLst/>
              <a:gdLst>
                <a:gd name="T0" fmla="*/ 1615 w 1615"/>
                <a:gd name="T1" fmla="*/ 0 h 1"/>
                <a:gd name="T2" fmla="*/ 0 w 1615"/>
                <a:gd name="T3" fmla="*/ 0 h 1"/>
                <a:gd name="T4" fmla="*/ 1615 w 1615"/>
                <a:gd name="T5" fmla="*/ 0 h 1"/>
                <a:gd name="T6" fmla="*/ 0 60000 65536"/>
                <a:gd name="T7" fmla="*/ 0 60000 65536"/>
                <a:gd name="T8" fmla="*/ 0 60000 65536"/>
                <a:gd name="T9" fmla="*/ 0 w 1615"/>
                <a:gd name="T10" fmla="*/ 0 h 1"/>
                <a:gd name="T11" fmla="*/ 1615 w 161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15" h="1">
                  <a:moveTo>
                    <a:pt x="1615" y="0"/>
                  </a:moveTo>
                  <a:lnTo>
                    <a:pt x="0" y="0"/>
                  </a:lnTo>
                  <a:lnTo>
                    <a:pt x="16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4" name="Line 142"/>
            <p:cNvSpPr>
              <a:spLocks noChangeShapeType="1"/>
            </p:cNvSpPr>
            <p:nvPr/>
          </p:nvSpPr>
          <p:spPr bwMode="auto">
            <a:xfrm flipH="1">
              <a:off x="1766" y="1358"/>
              <a:ext cx="1617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5" name="Freeform 143"/>
            <p:cNvSpPr>
              <a:spLocks noChangeArrowheads="1"/>
            </p:cNvSpPr>
            <p:nvPr/>
          </p:nvSpPr>
          <p:spPr bwMode="auto">
            <a:xfrm>
              <a:off x="1767" y="1208"/>
              <a:ext cx="1565" cy="1"/>
            </a:xfrm>
            <a:custGeom>
              <a:avLst/>
              <a:gdLst>
                <a:gd name="T0" fmla="*/ 1565 w 1565"/>
                <a:gd name="T1" fmla="*/ 0 h 1"/>
                <a:gd name="T2" fmla="*/ 0 w 1565"/>
                <a:gd name="T3" fmla="*/ 0 h 1"/>
                <a:gd name="T4" fmla="*/ 1565 w 1565"/>
                <a:gd name="T5" fmla="*/ 0 h 1"/>
                <a:gd name="T6" fmla="*/ 0 60000 65536"/>
                <a:gd name="T7" fmla="*/ 0 60000 65536"/>
                <a:gd name="T8" fmla="*/ 0 60000 65536"/>
                <a:gd name="T9" fmla="*/ 0 w 1565"/>
                <a:gd name="T10" fmla="*/ 0 h 1"/>
                <a:gd name="T11" fmla="*/ 1565 w 156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65" h="1">
                  <a:moveTo>
                    <a:pt x="1565" y="0"/>
                  </a:moveTo>
                  <a:lnTo>
                    <a:pt x="0" y="0"/>
                  </a:lnTo>
                  <a:lnTo>
                    <a:pt x="156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6" name="Line 144"/>
            <p:cNvSpPr>
              <a:spLocks noChangeShapeType="1"/>
            </p:cNvSpPr>
            <p:nvPr/>
          </p:nvSpPr>
          <p:spPr bwMode="auto">
            <a:xfrm flipH="1">
              <a:off x="1766" y="1208"/>
              <a:ext cx="1567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Freeform 145"/>
            <p:cNvSpPr>
              <a:spLocks noChangeArrowheads="1"/>
            </p:cNvSpPr>
            <p:nvPr/>
          </p:nvSpPr>
          <p:spPr bwMode="auto">
            <a:xfrm>
              <a:off x="1767" y="1052"/>
              <a:ext cx="1489" cy="3"/>
            </a:xfrm>
            <a:custGeom>
              <a:avLst/>
              <a:gdLst>
                <a:gd name="T0" fmla="*/ 1489 w 1489"/>
                <a:gd name="T1" fmla="*/ 0 h 3"/>
                <a:gd name="T2" fmla="*/ 0 w 1489"/>
                <a:gd name="T3" fmla="*/ 3 h 3"/>
                <a:gd name="T4" fmla="*/ 1489 w 1489"/>
                <a:gd name="T5" fmla="*/ 0 h 3"/>
                <a:gd name="T6" fmla="*/ 0 60000 65536"/>
                <a:gd name="T7" fmla="*/ 0 60000 65536"/>
                <a:gd name="T8" fmla="*/ 0 60000 65536"/>
                <a:gd name="T9" fmla="*/ 0 w 1489"/>
                <a:gd name="T10" fmla="*/ 0 h 3"/>
                <a:gd name="T11" fmla="*/ 1489 w 1489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89" h="3">
                  <a:moveTo>
                    <a:pt x="1489" y="0"/>
                  </a:moveTo>
                  <a:lnTo>
                    <a:pt x="0" y="3"/>
                  </a:lnTo>
                  <a:lnTo>
                    <a:pt x="148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8" name="Line 146"/>
            <p:cNvSpPr>
              <a:spLocks noChangeShapeType="1"/>
            </p:cNvSpPr>
            <p:nvPr/>
          </p:nvSpPr>
          <p:spPr bwMode="auto">
            <a:xfrm flipH="1">
              <a:off x="1766" y="1052"/>
              <a:ext cx="1491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9" name="Freeform 147"/>
            <p:cNvSpPr>
              <a:spLocks noChangeArrowheads="1"/>
            </p:cNvSpPr>
            <p:nvPr/>
          </p:nvSpPr>
          <p:spPr bwMode="auto">
            <a:xfrm>
              <a:off x="1767" y="906"/>
              <a:ext cx="1427" cy="3"/>
            </a:xfrm>
            <a:custGeom>
              <a:avLst/>
              <a:gdLst>
                <a:gd name="T0" fmla="*/ 1427 w 1427"/>
                <a:gd name="T1" fmla="*/ 0 h 3"/>
                <a:gd name="T2" fmla="*/ 0 w 1427"/>
                <a:gd name="T3" fmla="*/ 3 h 3"/>
                <a:gd name="T4" fmla="*/ 1427 w 1427"/>
                <a:gd name="T5" fmla="*/ 0 h 3"/>
                <a:gd name="T6" fmla="*/ 0 60000 65536"/>
                <a:gd name="T7" fmla="*/ 0 60000 65536"/>
                <a:gd name="T8" fmla="*/ 0 60000 65536"/>
                <a:gd name="T9" fmla="*/ 0 w 1427"/>
                <a:gd name="T10" fmla="*/ 0 h 3"/>
                <a:gd name="T11" fmla="*/ 1427 w 1427"/>
                <a:gd name="T12" fmla="*/ 3 h 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27" h="3">
                  <a:moveTo>
                    <a:pt x="1427" y="0"/>
                  </a:moveTo>
                  <a:lnTo>
                    <a:pt x="0" y="3"/>
                  </a:lnTo>
                  <a:lnTo>
                    <a:pt x="1427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0" name="Line 148"/>
            <p:cNvSpPr>
              <a:spLocks noChangeShapeType="1"/>
            </p:cNvSpPr>
            <p:nvPr/>
          </p:nvSpPr>
          <p:spPr bwMode="auto">
            <a:xfrm flipH="1">
              <a:off x="1766" y="906"/>
              <a:ext cx="1429" cy="3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Rectangle 149"/>
            <p:cNvSpPr>
              <a:spLocks noChangeArrowheads="1"/>
            </p:cNvSpPr>
            <p:nvPr/>
          </p:nvSpPr>
          <p:spPr bwMode="auto">
            <a:xfrm>
              <a:off x="1623" y="2206"/>
              <a:ext cx="7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52" name="Rectangle 150"/>
            <p:cNvSpPr>
              <a:spLocks noChangeArrowheads="1"/>
            </p:cNvSpPr>
            <p:nvPr/>
          </p:nvSpPr>
          <p:spPr bwMode="auto">
            <a:xfrm>
              <a:off x="1696" y="2206"/>
              <a:ext cx="3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-</a:t>
              </a:r>
            </a:p>
          </p:txBody>
        </p:sp>
        <p:sp>
          <p:nvSpPr>
            <p:cNvPr id="153" name="Rectangle 151"/>
            <p:cNvSpPr>
              <a:spLocks noChangeArrowheads="1"/>
            </p:cNvSpPr>
            <p:nvPr/>
          </p:nvSpPr>
          <p:spPr bwMode="auto">
            <a:xfrm>
              <a:off x="1729" y="2206"/>
              <a:ext cx="3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154" name="Rectangle 152"/>
            <p:cNvSpPr>
              <a:spLocks noChangeArrowheads="1"/>
            </p:cNvSpPr>
            <p:nvPr/>
          </p:nvSpPr>
          <p:spPr bwMode="auto">
            <a:xfrm>
              <a:off x="1755" y="2206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55" name="Rectangle 153"/>
            <p:cNvSpPr>
              <a:spLocks noChangeArrowheads="1"/>
            </p:cNvSpPr>
            <p:nvPr/>
          </p:nvSpPr>
          <p:spPr bwMode="auto">
            <a:xfrm>
              <a:off x="1808" y="2206"/>
              <a:ext cx="3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56" name="Rectangle 154"/>
            <p:cNvSpPr>
              <a:spLocks noChangeArrowheads="1"/>
            </p:cNvSpPr>
            <p:nvPr/>
          </p:nvSpPr>
          <p:spPr bwMode="auto">
            <a:xfrm>
              <a:off x="1845" y="2206"/>
              <a:ext cx="8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57" name="Rectangle 155"/>
            <p:cNvSpPr>
              <a:spLocks noChangeArrowheads="1"/>
            </p:cNvSpPr>
            <p:nvPr/>
          </p:nvSpPr>
          <p:spPr bwMode="auto">
            <a:xfrm>
              <a:off x="1924" y="2206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58" name="Rectangle 156"/>
            <p:cNvSpPr>
              <a:spLocks noChangeArrowheads="1"/>
            </p:cNvSpPr>
            <p:nvPr/>
          </p:nvSpPr>
          <p:spPr bwMode="auto">
            <a:xfrm>
              <a:off x="1981" y="2206"/>
              <a:ext cx="3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59" name="Rectangle 157"/>
            <p:cNvSpPr>
              <a:spLocks noChangeArrowheads="1"/>
            </p:cNvSpPr>
            <p:nvPr/>
          </p:nvSpPr>
          <p:spPr bwMode="auto">
            <a:xfrm>
              <a:off x="2339" y="2206"/>
              <a:ext cx="2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60" name="Rectangle 158"/>
            <p:cNvSpPr>
              <a:spLocks noChangeArrowheads="1"/>
            </p:cNvSpPr>
            <p:nvPr/>
          </p:nvSpPr>
          <p:spPr bwMode="auto">
            <a:xfrm>
              <a:off x="2365" y="2206"/>
              <a:ext cx="7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161" name="Rectangle 159"/>
            <p:cNvSpPr>
              <a:spLocks noChangeArrowheads="1"/>
            </p:cNvSpPr>
            <p:nvPr/>
          </p:nvSpPr>
          <p:spPr bwMode="auto">
            <a:xfrm>
              <a:off x="2753" y="2206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62" name="Rectangle 160"/>
            <p:cNvSpPr>
              <a:spLocks noChangeArrowheads="1"/>
            </p:cNvSpPr>
            <p:nvPr/>
          </p:nvSpPr>
          <p:spPr bwMode="auto">
            <a:xfrm>
              <a:off x="2802" y="2206"/>
              <a:ext cx="7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163" name="Rectangle 161"/>
            <p:cNvSpPr>
              <a:spLocks noChangeArrowheads="1"/>
            </p:cNvSpPr>
            <p:nvPr/>
          </p:nvSpPr>
          <p:spPr bwMode="auto">
            <a:xfrm>
              <a:off x="3156" y="2206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b</a:t>
              </a:r>
            </a:p>
          </p:txBody>
        </p:sp>
        <p:sp>
          <p:nvSpPr>
            <p:cNvPr id="164" name="Rectangle 162"/>
            <p:cNvSpPr>
              <a:spLocks noChangeArrowheads="1"/>
            </p:cNvSpPr>
            <p:nvPr/>
          </p:nvSpPr>
          <p:spPr bwMode="auto">
            <a:xfrm>
              <a:off x="3209" y="2206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65" name="Rectangle 163"/>
            <p:cNvSpPr>
              <a:spLocks noChangeArrowheads="1"/>
            </p:cNvSpPr>
            <p:nvPr/>
          </p:nvSpPr>
          <p:spPr bwMode="auto">
            <a:xfrm>
              <a:off x="3264" y="2206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q</a:t>
              </a:r>
            </a:p>
          </p:txBody>
        </p:sp>
        <p:sp>
          <p:nvSpPr>
            <p:cNvPr id="166" name="Rectangle 164"/>
            <p:cNvSpPr>
              <a:spLocks noChangeArrowheads="1"/>
            </p:cNvSpPr>
            <p:nvPr/>
          </p:nvSpPr>
          <p:spPr bwMode="auto">
            <a:xfrm>
              <a:off x="1555" y="1569"/>
              <a:ext cx="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67" name="Rectangle 165"/>
            <p:cNvSpPr>
              <a:spLocks noChangeArrowheads="1"/>
            </p:cNvSpPr>
            <p:nvPr/>
          </p:nvSpPr>
          <p:spPr bwMode="auto">
            <a:xfrm>
              <a:off x="1629" y="1569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168" name="Rectangle 166"/>
            <p:cNvSpPr>
              <a:spLocks noChangeArrowheads="1"/>
            </p:cNvSpPr>
            <p:nvPr/>
          </p:nvSpPr>
          <p:spPr bwMode="auto">
            <a:xfrm>
              <a:off x="1684" y="1569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169" name="Rectangle 167"/>
            <p:cNvSpPr>
              <a:spLocks noChangeArrowheads="1"/>
            </p:cNvSpPr>
            <p:nvPr/>
          </p:nvSpPr>
          <p:spPr bwMode="auto">
            <a:xfrm>
              <a:off x="1555" y="1417"/>
              <a:ext cx="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70" name="Rectangle 168"/>
            <p:cNvSpPr>
              <a:spLocks noChangeArrowheads="1"/>
            </p:cNvSpPr>
            <p:nvPr/>
          </p:nvSpPr>
          <p:spPr bwMode="auto">
            <a:xfrm>
              <a:off x="1629" y="1417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171" name="Rectangle 169"/>
            <p:cNvSpPr>
              <a:spLocks noChangeArrowheads="1"/>
            </p:cNvSpPr>
            <p:nvPr/>
          </p:nvSpPr>
          <p:spPr bwMode="auto">
            <a:xfrm>
              <a:off x="1684" y="1417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172" name="Rectangle 170"/>
            <p:cNvSpPr>
              <a:spLocks noChangeArrowheads="1"/>
            </p:cNvSpPr>
            <p:nvPr/>
          </p:nvSpPr>
          <p:spPr bwMode="auto">
            <a:xfrm>
              <a:off x="1555" y="1270"/>
              <a:ext cx="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73" name="Rectangle 171"/>
            <p:cNvSpPr>
              <a:spLocks noChangeArrowheads="1"/>
            </p:cNvSpPr>
            <p:nvPr/>
          </p:nvSpPr>
          <p:spPr bwMode="auto">
            <a:xfrm>
              <a:off x="1629" y="1270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174" name="Rectangle 172"/>
            <p:cNvSpPr>
              <a:spLocks noChangeArrowheads="1"/>
            </p:cNvSpPr>
            <p:nvPr/>
          </p:nvSpPr>
          <p:spPr bwMode="auto">
            <a:xfrm>
              <a:off x="1684" y="1270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175" name="Rectangle 173"/>
            <p:cNvSpPr>
              <a:spLocks noChangeArrowheads="1"/>
            </p:cNvSpPr>
            <p:nvPr/>
          </p:nvSpPr>
          <p:spPr bwMode="auto">
            <a:xfrm>
              <a:off x="1555" y="1120"/>
              <a:ext cx="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76" name="Rectangle 174"/>
            <p:cNvSpPr>
              <a:spLocks noChangeArrowheads="1"/>
            </p:cNvSpPr>
            <p:nvPr/>
          </p:nvSpPr>
          <p:spPr bwMode="auto">
            <a:xfrm>
              <a:off x="1629" y="1120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177" name="Rectangle 175"/>
            <p:cNvSpPr>
              <a:spLocks noChangeArrowheads="1"/>
            </p:cNvSpPr>
            <p:nvPr/>
          </p:nvSpPr>
          <p:spPr bwMode="auto">
            <a:xfrm>
              <a:off x="1684" y="1120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178" name="Rectangle 176"/>
            <p:cNvSpPr>
              <a:spLocks noChangeArrowheads="1"/>
            </p:cNvSpPr>
            <p:nvPr/>
          </p:nvSpPr>
          <p:spPr bwMode="auto">
            <a:xfrm>
              <a:off x="1555" y="961"/>
              <a:ext cx="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79" name="Rectangle 177"/>
            <p:cNvSpPr>
              <a:spLocks noChangeArrowheads="1"/>
            </p:cNvSpPr>
            <p:nvPr/>
          </p:nvSpPr>
          <p:spPr bwMode="auto">
            <a:xfrm>
              <a:off x="1629" y="961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180" name="Rectangle 178"/>
            <p:cNvSpPr>
              <a:spLocks noChangeArrowheads="1"/>
            </p:cNvSpPr>
            <p:nvPr/>
          </p:nvSpPr>
          <p:spPr bwMode="auto">
            <a:xfrm>
              <a:off x="1684" y="961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4</a:t>
              </a:r>
            </a:p>
          </p:txBody>
        </p:sp>
        <p:sp>
          <p:nvSpPr>
            <p:cNvPr id="181" name="Rectangle 179"/>
            <p:cNvSpPr>
              <a:spLocks noChangeArrowheads="1"/>
            </p:cNvSpPr>
            <p:nvPr/>
          </p:nvSpPr>
          <p:spPr bwMode="auto">
            <a:xfrm>
              <a:off x="1555" y="812"/>
              <a:ext cx="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82" name="Rectangle 180"/>
            <p:cNvSpPr>
              <a:spLocks noChangeArrowheads="1"/>
            </p:cNvSpPr>
            <p:nvPr/>
          </p:nvSpPr>
          <p:spPr bwMode="auto">
            <a:xfrm>
              <a:off x="1629" y="812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183" name="Rectangle 181"/>
            <p:cNvSpPr>
              <a:spLocks noChangeArrowheads="1"/>
            </p:cNvSpPr>
            <p:nvPr/>
          </p:nvSpPr>
          <p:spPr bwMode="auto">
            <a:xfrm>
              <a:off x="1684" y="812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5</a:t>
              </a:r>
            </a:p>
          </p:txBody>
        </p:sp>
        <p:sp>
          <p:nvSpPr>
            <p:cNvPr id="184" name="Rectangle 182"/>
            <p:cNvSpPr>
              <a:spLocks noChangeArrowheads="1"/>
            </p:cNvSpPr>
            <p:nvPr/>
          </p:nvSpPr>
          <p:spPr bwMode="auto">
            <a:xfrm>
              <a:off x="1488" y="624"/>
              <a:ext cx="2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85" name="Rectangle 183"/>
            <p:cNvSpPr>
              <a:spLocks noChangeArrowheads="1"/>
            </p:cNvSpPr>
            <p:nvPr/>
          </p:nvSpPr>
          <p:spPr bwMode="auto">
            <a:xfrm>
              <a:off x="1514" y="624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86" name="Rectangle 184"/>
            <p:cNvSpPr>
              <a:spLocks noChangeArrowheads="1"/>
            </p:cNvSpPr>
            <p:nvPr/>
          </p:nvSpPr>
          <p:spPr bwMode="auto">
            <a:xfrm>
              <a:off x="1567" y="624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187" name="Rectangle 185"/>
            <p:cNvSpPr>
              <a:spLocks noChangeArrowheads="1"/>
            </p:cNvSpPr>
            <p:nvPr/>
          </p:nvSpPr>
          <p:spPr bwMode="auto">
            <a:xfrm>
              <a:off x="1623" y="624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188" name="Rectangle 186"/>
            <p:cNvSpPr>
              <a:spLocks noChangeArrowheads="1"/>
            </p:cNvSpPr>
            <p:nvPr/>
          </p:nvSpPr>
          <p:spPr bwMode="auto">
            <a:xfrm>
              <a:off x="1676" y="624"/>
              <a:ext cx="3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89" name="Rectangle 187"/>
            <p:cNvSpPr>
              <a:spLocks noChangeArrowheads="1"/>
            </p:cNvSpPr>
            <p:nvPr/>
          </p:nvSpPr>
          <p:spPr bwMode="auto">
            <a:xfrm>
              <a:off x="1704" y="624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90" name="Rectangle 188"/>
            <p:cNvSpPr>
              <a:spLocks noChangeArrowheads="1"/>
            </p:cNvSpPr>
            <p:nvPr/>
          </p:nvSpPr>
          <p:spPr bwMode="auto">
            <a:xfrm>
              <a:off x="4119" y="2042"/>
              <a:ext cx="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91" name="Rectangle 189"/>
            <p:cNvSpPr>
              <a:spLocks noChangeArrowheads="1"/>
            </p:cNvSpPr>
            <p:nvPr/>
          </p:nvSpPr>
          <p:spPr bwMode="auto">
            <a:xfrm>
              <a:off x="4195" y="2042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192" name="Rectangle 190"/>
            <p:cNvSpPr>
              <a:spLocks noChangeArrowheads="1"/>
            </p:cNvSpPr>
            <p:nvPr/>
          </p:nvSpPr>
          <p:spPr bwMode="auto">
            <a:xfrm>
              <a:off x="4251" y="2042"/>
              <a:ext cx="3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93" name="Rectangle 191"/>
            <p:cNvSpPr>
              <a:spLocks noChangeArrowheads="1"/>
            </p:cNvSpPr>
            <p:nvPr/>
          </p:nvSpPr>
          <p:spPr bwMode="auto">
            <a:xfrm>
              <a:off x="4278" y="2042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194" name="Rectangle 192"/>
            <p:cNvSpPr>
              <a:spLocks noChangeArrowheads="1"/>
            </p:cNvSpPr>
            <p:nvPr/>
          </p:nvSpPr>
          <p:spPr bwMode="auto">
            <a:xfrm>
              <a:off x="4333" y="2042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195" name="Rectangle 193"/>
            <p:cNvSpPr>
              <a:spLocks noChangeArrowheads="1"/>
            </p:cNvSpPr>
            <p:nvPr/>
          </p:nvSpPr>
          <p:spPr bwMode="auto">
            <a:xfrm>
              <a:off x="4386" y="2042"/>
              <a:ext cx="3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96" name="Rectangle 194"/>
            <p:cNvSpPr>
              <a:spLocks noChangeArrowheads="1"/>
            </p:cNvSpPr>
            <p:nvPr/>
          </p:nvSpPr>
          <p:spPr bwMode="auto">
            <a:xfrm>
              <a:off x="4413" y="2042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97" name="Rectangle 195"/>
            <p:cNvSpPr>
              <a:spLocks noChangeArrowheads="1"/>
            </p:cNvSpPr>
            <p:nvPr/>
          </p:nvSpPr>
          <p:spPr bwMode="auto">
            <a:xfrm>
              <a:off x="4110" y="2277"/>
              <a:ext cx="7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98" name="Rectangle 196"/>
            <p:cNvSpPr>
              <a:spLocks noChangeArrowheads="1"/>
            </p:cNvSpPr>
            <p:nvPr/>
          </p:nvSpPr>
          <p:spPr bwMode="auto">
            <a:xfrm>
              <a:off x="4181" y="2277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99" name="Rectangle 197"/>
            <p:cNvSpPr>
              <a:spLocks noChangeArrowheads="1"/>
            </p:cNvSpPr>
            <p:nvPr/>
          </p:nvSpPr>
          <p:spPr bwMode="auto">
            <a:xfrm>
              <a:off x="4236" y="2277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200" name="Rectangle 198"/>
            <p:cNvSpPr>
              <a:spLocks noChangeArrowheads="1"/>
            </p:cNvSpPr>
            <p:nvPr/>
          </p:nvSpPr>
          <p:spPr bwMode="auto">
            <a:xfrm>
              <a:off x="4289" y="2277"/>
              <a:ext cx="7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01" name="Rectangle 199"/>
            <p:cNvSpPr>
              <a:spLocks noChangeArrowheads="1"/>
            </p:cNvSpPr>
            <p:nvPr/>
          </p:nvSpPr>
          <p:spPr bwMode="auto">
            <a:xfrm>
              <a:off x="4362" y="2277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02" name="Rectangle 200"/>
            <p:cNvSpPr>
              <a:spLocks noChangeArrowheads="1"/>
            </p:cNvSpPr>
            <p:nvPr/>
          </p:nvSpPr>
          <p:spPr bwMode="auto">
            <a:xfrm>
              <a:off x="4410" y="2277"/>
              <a:ext cx="3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03" name="Rectangle 201"/>
            <p:cNvSpPr>
              <a:spLocks noChangeArrowheads="1"/>
            </p:cNvSpPr>
            <p:nvPr/>
          </p:nvSpPr>
          <p:spPr bwMode="auto">
            <a:xfrm>
              <a:off x="4111" y="2480"/>
              <a:ext cx="6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04" name="Rectangle 202"/>
            <p:cNvSpPr>
              <a:spLocks noChangeArrowheads="1"/>
            </p:cNvSpPr>
            <p:nvPr/>
          </p:nvSpPr>
          <p:spPr bwMode="auto">
            <a:xfrm>
              <a:off x="4178" y="2480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205" name="Rectangle 203"/>
            <p:cNvSpPr>
              <a:spLocks noChangeArrowheads="1"/>
            </p:cNvSpPr>
            <p:nvPr/>
          </p:nvSpPr>
          <p:spPr bwMode="auto">
            <a:xfrm>
              <a:off x="4231" y="2480"/>
              <a:ext cx="7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06" name="Rectangle 204"/>
            <p:cNvSpPr>
              <a:spLocks noChangeArrowheads="1"/>
            </p:cNvSpPr>
            <p:nvPr/>
          </p:nvSpPr>
          <p:spPr bwMode="auto">
            <a:xfrm>
              <a:off x="4300" y="2480"/>
              <a:ext cx="65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07" name="Rectangle 205"/>
            <p:cNvSpPr>
              <a:spLocks noChangeArrowheads="1"/>
            </p:cNvSpPr>
            <p:nvPr/>
          </p:nvSpPr>
          <p:spPr bwMode="auto">
            <a:xfrm>
              <a:off x="4366" y="2480"/>
              <a:ext cx="3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8" name="Rectangle 206"/>
            <p:cNvSpPr>
              <a:spLocks noChangeArrowheads="1"/>
            </p:cNvSpPr>
            <p:nvPr/>
          </p:nvSpPr>
          <p:spPr bwMode="auto">
            <a:xfrm>
              <a:off x="4401" y="2480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09" name="Rectangle 207"/>
            <p:cNvSpPr>
              <a:spLocks noChangeArrowheads="1"/>
            </p:cNvSpPr>
            <p:nvPr/>
          </p:nvSpPr>
          <p:spPr bwMode="auto">
            <a:xfrm>
              <a:off x="4110" y="2656"/>
              <a:ext cx="8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10" name="Rectangle 208"/>
            <p:cNvSpPr>
              <a:spLocks noChangeArrowheads="1"/>
            </p:cNvSpPr>
            <p:nvPr/>
          </p:nvSpPr>
          <p:spPr bwMode="auto">
            <a:xfrm>
              <a:off x="4191" y="2656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11" name="Rectangle 209"/>
            <p:cNvSpPr>
              <a:spLocks noChangeArrowheads="1"/>
            </p:cNvSpPr>
            <p:nvPr/>
          </p:nvSpPr>
          <p:spPr bwMode="auto">
            <a:xfrm>
              <a:off x="4248" y="2656"/>
              <a:ext cx="8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12" name="Rectangle 210"/>
            <p:cNvSpPr>
              <a:spLocks noChangeArrowheads="1"/>
            </p:cNvSpPr>
            <p:nvPr/>
          </p:nvSpPr>
          <p:spPr bwMode="auto">
            <a:xfrm>
              <a:off x="4327" y="2656"/>
              <a:ext cx="3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13" name="Rectangle 211"/>
            <p:cNvSpPr>
              <a:spLocks noChangeArrowheads="1"/>
            </p:cNvSpPr>
            <p:nvPr/>
          </p:nvSpPr>
          <p:spPr bwMode="auto">
            <a:xfrm>
              <a:off x="4357" y="2656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14" name="Rectangle 212"/>
            <p:cNvSpPr>
              <a:spLocks noChangeArrowheads="1"/>
            </p:cNvSpPr>
            <p:nvPr/>
          </p:nvSpPr>
          <p:spPr bwMode="auto">
            <a:xfrm>
              <a:off x="4410" y="2656"/>
              <a:ext cx="7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15" name="Rectangle 213"/>
            <p:cNvSpPr>
              <a:spLocks noChangeArrowheads="1"/>
            </p:cNvSpPr>
            <p:nvPr/>
          </p:nvSpPr>
          <p:spPr bwMode="auto">
            <a:xfrm>
              <a:off x="4479" y="2656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16" name="Rectangle 214"/>
            <p:cNvSpPr>
              <a:spLocks noChangeArrowheads="1"/>
            </p:cNvSpPr>
            <p:nvPr/>
          </p:nvSpPr>
          <p:spPr bwMode="auto">
            <a:xfrm>
              <a:off x="4536" y="2656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217" name="Rectangle 215"/>
            <p:cNvSpPr>
              <a:spLocks noChangeArrowheads="1"/>
            </p:cNvSpPr>
            <p:nvPr/>
          </p:nvSpPr>
          <p:spPr bwMode="auto">
            <a:xfrm>
              <a:off x="4110" y="2844"/>
              <a:ext cx="7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18" name="Rectangle 216"/>
            <p:cNvSpPr>
              <a:spLocks noChangeArrowheads="1"/>
            </p:cNvSpPr>
            <p:nvPr/>
          </p:nvSpPr>
          <p:spPr bwMode="auto">
            <a:xfrm>
              <a:off x="4181" y="2844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19" name="Rectangle 217"/>
            <p:cNvSpPr>
              <a:spLocks noChangeArrowheads="1"/>
            </p:cNvSpPr>
            <p:nvPr/>
          </p:nvSpPr>
          <p:spPr bwMode="auto">
            <a:xfrm>
              <a:off x="4236" y="2844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220" name="Rectangle 218"/>
            <p:cNvSpPr>
              <a:spLocks noChangeArrowheads="1"/>
            </p:cNvSpPr>
            <p:nvPr/>
          </p:nvSpPr>
          <p:spPr bwMode="auto">
            <a:xfrm>
              <a:off x="4289" y="2844"/>
              <a:ext cx="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221" name="Rectangle 219"/>
            <p:cNvSpPr>
              <a:spLocks noChangeArrowheads="1"/>
            </p:cNvSpPr>
            <p:nvPr/>
          </p:nvSpPr>
          <p:spPr bwMode="auto">
            <a:xfrm>
              <a:off x="4380" y="2844"/>
              <a:ext cx="3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22" name="Rectangle 220"/>
            <p:cNvSpPr>
              <a:spLocks noChangeArrowheads="1"/>
            </p:cNvSpPr>
            <p:nvPr/>
          </p:nvSpPr>
          <p:spPr bwMode="auto">
            <a:xfrm>
              <a:off x="4413" y="2844"/>
              <a:ext cx="2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23" name="Rectangle 221"/>
            <p:cNvSpPr>
              <a:spLocks noChangeArrowheads="1"/>
            </p:cNvSpPr>
            <p:nvPr/>
          </p:nvSpPr>
          <p:spPr bwMode="auto">
            <a:xfrm>
              <a:off x="4436" y="2844"/>
              <a:ext cx="3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24" name="Rectangle 222"/>
            <p:cNvSpPr>
              <a:spLocks noChangeArrowheads="1"/>
            </p:cNvSpPr>
            <p:nvPr/>
          </p:nvSpPr>
          <p:spPr bwMode="auto">
            <a:xfrm>
              <a:off x="4462" y="2844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25" name="Rectangle 223"/>
            <p:cNvSpPr>
              <a:spLocks noChangeArrowheads="1"/>
            </p:cNvSpPr>
            <p:nvPr/>
          </p:nvSpPr>
          <p:spPr bwMode="auto">
            <a:xfrm>
              <a:off x="4110" y="3023"/>
              <a:ext cx="8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26" name="Rectangle 224"/>
            <p:cNvSpPr>
              <a:spLocks noChangeArrowheads="1"/>
            </p:cNvSpPr>
            <p:nvPr/>
          </p:nvSpPr>
          <p:spPr bwMode="auto">
            <a:xfrm>
              <a:off x="4191" y="3023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27" name="Rectangle 225"/>
            <p:cNvSpPr>
              <a:spLocks noChangeArrowheads="1"/>
            </p:cNvSpPr>
            <p:nvPr/>
          </p:nvSpPr>
          <p:spPr bwMode="auto">
            <a:xfrm>
              <a:off x="4248" y="3023"/>
              <a:ext cx="8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28" name="Rectangle 226"/>
            <p:cNvSpPr>
              <a:spLocks noChangeArrowheads="1"/>
            </p:cNvSpPr>
            <p:nvPr/>
          </p:nvSpPr>
          <p:spPr bwMode="auto">
            <a:xfrm>
              <a:off x="4327" y="3023"/>
              <a:ext cx="7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29" name="Rectangle 227"/>
            <p:cNvSpPr>
              <a:spLocks noChangeArrowheads="1"/>
            </p:cNvSpPr>
            <p:nvPr/>
          </p:nvSpPr>
          <p:spPr bwMode="auto">
            <a:xfrm>
              <a:off x="4398" y="3023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30" name="Rectangle 228"/>
            <p:cNvSpPr>
              <a:spLocks noChangeArrowheads="1"/>
            </p:cNvSpPr>
            <p:nvPr/>
          </p:nvSpPr>
          <p:spPr bwMode="auto">
            <a:xfrm>
              <a:off x="4454" y="3023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31" name="Rectangle 229"/>
            <p:cNvSpPr>
              <a:spLocks noChangeArrowheads="1"/>
            </p:cNvSpPr>
            <p:nvPr/>
          </p:nvSpPr>
          <p:spPr bwMode="auto">
            <a:xfrm>
              <a:off x="4510" y="3023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32" name="Rectangle 230"/>
            <p:cNvSpPr>
              <a:spLocks noChangeArrowheads="1"/>
            </p:cNvSpPr>
            <p:nvPr/>
          </p:nvSpPr>
          <p:spPr bwMode="auto">
            <a:xfrm>
              <a:off x="4110" y="3196"/>
              <a:ext cx="8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33" name="Rectangle 231"/>
            <p:cNvSpPr>
              <a:spLocks noChangeArrowheads="1"/>
            </p:cNvSpPr>
            <p:nvPr/>
          </p:nvSpPr>
          <p:spPr bwMode="auto">
            <a:xfrm>
              <a:off x="4191" y="3196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34" name="Rectangle 232"/>
            <p:cNvSpPr>
              <a:spLocks noChangeArrowheads="1"/>
            </p:cNvSpPr>
            <p:nvPr/>
          </p:nvSpPr>
          <p:spPr bwMode="auto">
            <a:xfrm>
              <a:off x="4248" y="3196"/>
              <a:ext cx="8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235" name="Rectangle 233"/>
            <p:cNvSpPr>
              <a:spLocks noChangeArrowheads="1"/>
            </p:cNvSpPr>
            <p:nvPr/>
          </p:nvSpPr>
          <p:spPr bwMode="auto">
            <a:xfrm>
              <a:off x="4327" y="3196"/>
              <a:ext cx="9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236" name="Rectangle 234"/>
            <p:cNvSpPr>
              <a:spLocks noChangeArrowheads="1"/>
            </p:cNvSpPr>
            <p:nvPr/>
          </p:nvSpPr>
          <p:spPr bwMode="auto">
            <a:xfrm>
              <a:off x="4418" y="3196"/>
              <a:ext cx="3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37" name="Rectangle 235"/>
            <p:cNvSpPr>
              <a:spLocks noChangeArrowheads="1"/>
            </p:cNvSpPr>
            <p:nvPr/>
          </p:nvSpPr>
          <p:spPr bwMode="auto">
            <a:xfrm>
              <a:off x="4451" y="3196"/>
              <a:ext cx="2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38" name="Rectangle 236"/>
            <p:cNvSpPr>
              <a:spLocks noChangeArrowheads="1"/>
            </p:cNvSpPr>
            <p:nvPr/>
          </p:nvSpPr>
          <p:spPr bwMode="auto">
            <a:xfrm>
              <a:off x="4474" y="3196"/>
              <a:ext cx="32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239" name="Rectangle 237"/>
            <p:cNvSpPr>
              <a:spLocks noChangeArrowheads="1"/>
            </p:cNvSpPr>
            <p:nvPr/>
          </p:nvSpPr>
          <p:spPr bwMode="auto">
            <a:xfrm>
              <a:off x="4501" y="3196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40" name="Rectangle 238"/>
            <p:cNvSpPr>
              <a:spLocks noChangeArrowheads="1"/>
            </p:cNvSpPr>
            <p:nvPr/>
          </p:nvSpPr>
          <p:spPr bwMode="auto">
            <a:xfrm>
              <a:off x="4110" y="3390"/>
              <a:ext cx="7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B</a:t>
              </a:r>
            </a:p>
          </p:txBody>
        </p:sp>
        <p:sp>
          <p:nvSpPr>
            <p:cNvPr id="241" name="Rectangle 239"/>
            <p:cNvSpPr>
              <a:spLocks noChangeArrowheads="1"/>
            </p:cNvSpPr>
            <p:nvPr/>
          </p:nvSpPr>
          <p:spPr bwMode="auto">
            <a:xfrm>
              <a:off x="4178" y="3390"/>
              <a:ext cx="38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42" name="Rectangle 240"/>
            <p:cNvSpPr>
              <a:spLocks noChangeArrowheads="1"/>
            </p:cNvSpPr>
            <p:nvPr/>
          </p:nvSpPr>
          <p:spPr bwMode="auto">
            <a:xfrm>
              <a:off x="4210" y="3390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43" name="Rectangle 241"/>
            <p:cNvSpPr>
              <a:spLocks noChangeArrowheads="1"/>
            </p:cNvSpPr>
            <p:nvPr/>
          </p:nvSpPr>
          <p:spPr bwMode="auto">
            <a:xfrm>
              <a:off x="4263" y="3390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244" name="Rectangle 242"/>
            <p:cNvSpPr>
              <a:spLocks noChangeArrowheads="1"/>
            </p:cNvSpPr>
            <p:nvPr/>
          </p:nvSpPr>
          <p:spPr bwMode="auto">
            <a:xfrm>
              <a:off x="4318" y="3390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245" name="Rectangle 243"/>
            <p:cNvSpPr>
              <a:spLocks noChangeArrowheads="1"/>
            </p:cNvSpPr>
            <p:nvPr/>
          </p:nvSpPr>
          <p:spPr bwMode="auto">
            <a:xfrm>
              <a:off x="4366" y="3390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h</a:t>
              </a:r>
            </a:p>
          </p:txBody>
        </p:sp>
        <p:sp>
          <p:nvSpPr>
            <p:cNvPr id="246" name="Rectangle 244"/>
            <p:cNvSpPr>
              <a:spLocks noChangeArrowheads="1"/>
            </p:cNvSpPr>
            <p:nvPr/>
          </p:nvSpPr>
          <p:spPr bwMode="auto">
            <a:xfrm>
              <a:off x="4111" y="3563"/>
              <a:ext cx="6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47" name="Rectangle 245"/>
            <p:cNvSpPr>
              <a:spLocks noChangeArrowheads="1"/>
            </p:cNvSpPr>
            <p:nvPr/>
          </p:nvSpPr>
          <p:spPr bwMode="auto">
            <a:xfrm>
              <a:off x="4178" y="3563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248" name="Rectangle 246"/>
            <p:cNvSpPr>
              <a:spLocks noChangeArrowheads="1"/>
            </p:cNvSpPr>
            <p:nvPr/>
          </p:nvSpPr>
          <p:spPr bwMode="auto">
            <a:xfrm>
              <a:off x="4231" y="3563"/>
              <a:ext cx="7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49" name="Rectangle 247"/>
            <p:cNvSpPr>
              <a:spLocks noChangeArrowheads="1"/>
            </p:cNvSpPr>
            <p:nvPr/>
          </p:nvSpPr>
          <p:spPr bwMode="auto">
            <a:xfrm>
              <a:off x="4301" y="3563"/>
              <a:ext cx="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50" name="Rectangle 248"/>
            <p:cNvSpPr>
              <a:spLocks noChangeArrowheads="1"/>
            </p:cNvSpPr>
            <p:nvPr/>
          </p:nvSpPr>
          <p:spPr bwMode="auto">
            <a:xfrm>
              <a:off x="4377" y="3563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251" name="Rectangle 249"/>
            <p:cNvSpPr>
              <a:spLocks noChangeArrowheads="1"/>
            </p:cNvSpPr>
            <p:nvPr/>
          </p:nvSpPr>
          <p:spPr bwMode="auto">
            <a:xfrm>
              <a:off x="4432" y="3563"/>
              <a:ext cx="54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252" name="Rectangle 250"/>
            <p:cNvSpPr>
              <a:spLocks noChangeArrowheads="1"/>
            </p:cNvSpPr>
            <p:nvPr/>
          </p:nvSpPr>
          <p:spPr bwMode="auto">
            <a:xfrm>
              <a:off x="4111" y="3763"/>
              <a:ext cx="67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53" name="Rectangle 251"/>
            <p:cNvSpPr>
              <a:spLocks noChangeArrowheads="1"/>
            </p:cNvSpPr>
            <p:nvPr/>
          </p:nvSpPr>
          <p:spPr bwMode="auto">
            <a:xfrm>
              <a:off x="4178" y="3763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254" name="Rectangle 252"/>
            <p:cNvSpPr>
              <a:spLocks noChangeArrowheads="1"/>
            </p:cNvSpPr>
            <p:nvPr/>
          </p:nvSpPr>
          <p:spPr bwMode="auto">
            <a:xfrm>
              <a:off x="4231" y="3763"/>
              <a:ext cx="70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255" name="Rectangle 253"/>
            <p:cNvSpPr>
              <a:spLocks noChangeArrowheads="1"/>
            </p:cNvSpPr>
            <p:nvPr/>
          </p:nvSpPr>
          <p:spPr bwMode="auto">
            <a:xfrm>
              <a:off x="4301" y="3763"/>
              <a:ext cx="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256" name="Rectangle 254"/>
            <p:cNvSpPr>
              <a:spLocks noChangeArrowheads="1"/>
            </p:cNvSpPr>
            <p:nvPr/>
          </p:nvSpPr>
          <p:spPr bwMode="auto">
            <a:xfrm>
              <a:off x="4377" y="3763"/>
              <a:ext cx="59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257" name="Rectangle 255"/>
            <p:cNvSpPr>
              <a:spLocks noChangeArrowheads="1"/>
            </p:cNvSpPr>
            <p:nvPr/>
          </p:nvSpPr>
          <p:spPr bwMode="auto">
            <a:xfrm>
              <a:off x="4433" y="3763"/>
              <a:ext cx="76" cy="1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1200" b="1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41391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Jumps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81000" y="2286000"/>
            <a:ext cx="11331624" cy="4037013"/>
          </a:xfrm>
        </p:spPr>
        <p:txBody>
          <a:bodyPr/>
          <a:lstStyle/>
          <a:p>
            <a:pPr eaLnBrk="1" hangingPunct="1"/>
            <a:r>
              <a:rPr lang="en-AU" altLang="en-US" dirty="0"/>
              <a:t>Jump uses word address</a:t>
            </a:r>
          </a:p>
          <a:p>
            <a:pPr eaLnBrk="1" hangingPunct="1"/>
            <a:r>
              <a:rPr lang="en-AU" altLang="en-US" dirty="0"/>
              <a:t>Update PC with concatenation of</a:t>
            </a:r>
          </a:p>
          <a:p>
            <a:pPr lvl="1" eaLnBrk="1" hangingPunct="1"/>
            <a:r>
              <a:rPr lang="en-AU" altLang="en-US" dirty="0"/>
              <a:t>Top 4 bits of old PC</a:t>
            </a:r>
          </a:p>
          <a:p>
            <a:pPr lvl="1" eaLnBrk="1" hangingPunct="1"/>
            <a:r>
              <a:rPr lang="en-AU" altLang="en-US" dirty="0"/>
              <a:t>26-bit jump address</a:t>
            </a:r>
          </a:p>
          <a:p>
            <a:pPr lvl="1" eaLnBrk="1" hangingPunct="1"/>
            <a:r>
              <a:rPr lang="en-AU" altLang="en-US" dirty="0"/>
              <a:t>00</a:t>
            </a:r>
          </a:p>
          <a:p>
            <a:pPr eaLnBrk="1" hangingPunct="1"/>
            <a:r>
              <a:rPr lang="en-AU" altLang="en-US" dirty="0"/>
              <a:t>Need an extra control signal decoded from opcode</a:t>
            </a:r>
          </a:p>
          <a:p>
            <a:endParaRPr lang="en-US" dirty="0"/>
          </a:p>
        </p:txBody>
      </p:sp>
      <p:grpSp>
        <p:nvGrpSpPr>
          <p:cNvPr id="6" name="Group 14"/>
          <p:cNvGrpSpPr>
            <a:grpSpLocks/>
          </p:cNvGrpSpPr>
          <p:nvPr/>
        </p:nvGrpSpPr>
        <p:grpSpPr bwMode="auto">
          <a:xfrm>
            <a:off x="1515453" y="1292965"/>
            <a:ext cx="9348214" cy="774701"/>
            <a:chOff x="1156" y="890"/>
            <a:chExt cx="4355" cy="488"/>
          </a:xfrm>
        </p:grpSpPr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1156" y="890"/>
              <a:ext cx="817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+mn-lt"/>
                </a:rPr>
                <a:t>2</a:t>
              </a:r>
              <a:endParaRPr lang="en-AU" altLang="en-US" sz="2000">
                <a:latin typeface="+mn-lt"/>
              </a:endParaRPr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1973" y="890"/>
              <a:ext cx="3538" cy="262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000">
                  <a:latin typeface="+mn-lt"/>
                </a:rPr>
                <a:t>address</a:t>
              </a:r>
              <a:endParaRPr lang="en-AU" altLang="en-US" sz="2000">
                <a:latin typeface="+mn-lt"/>
              </a:endParaRPr>
            </a:p>
          </p:txBody>
        </p:sp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1332" y="1165"/>
              <a:ext cx="30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latin typeface="+mn-lt"/>
                </a:rPr>
                <a:t>31:26</a:t>
              </a:r>
              <a:endParaRPr lang="en-AU" altLang="en-US">
                <a:latin typeface="+mn-lt"/>
              </a:endParaRPr>
            </a:p>
          </p:txBody>
        </p:sp>
        <p:sp>
          <p:nvSpPr>
            <p:cNvPr id="10" name="Text Box 12"/>
            <p:cNvSpPr txBox="1">
              <a:spLocks noChangeArrowheads="1"/>
            </p:cNvSpPr>
            <p:nvPr/>
          </p:nvSpPr>
          <p:spPr bwMode="auto">
            <a:xfrm>
              <a:off x="3560" y="1165"/>
              <a:ext cx="41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>
                  <a:latin typeface="+mn-lt"/>
                </a:rPr>
                <a:t>25:0</a:t>
              </a:r>
              <a:endParaRPr lang="en-AU" altLang="en-US">
                <a:latin typeface="+mn-lt"/>
              </a:endParaRPr>
            </a:p>
          </p:txBody>
        </p:sp>
      </p:grpSp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519380" y="1292964"/>
            <a:ext cx="1004584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1800" dirty="0">
                <a:latin typeface="+mn-lt"/>
              </a:rPr>
              <a:t>Jump</a:t>
            </a:r>
            <a:endParaRPr lang="en-AU" altLang="en-US" sz="18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6691423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>
                <a:ea typeface="新細明體" charset="-120"/>
                <a:cs typeface="新細明體" charset="-120"/>
              </a:rPr>
              <a:t>Extend </a:t>
            </a:r>
            <a:r>
              <a:rPr lang="en-GB" altLang="zh-TW" dirty="0" err="1">
                <a:ea typeface="新細明體" charset="-120"/>
                <a:cs typeface="新細明體" charset="-120"/>
              </a:rPr>
              <a:t>Datapath</a:t>
            </a:r>
            <a:r>
              <a:rPr lang="en-GB" altLang="zh-TW" dirty="0">
                <a:ea typeface="新細明體" charset="-120"/>
                <a:cs typeface="新細明體" charset="-120"/>
              </a:rPr>
              <a:t> &amp; Control to Handle Jump Instr.</a:t>
            </a:r>
            <a:endParaRPr lang="en-US" dirty="0"/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4786313" y="1276350"/>
            <a:ext cx="12350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Tahoma" charset="0"/>
              <a:buNone/>
            </a:pPr>
            <a:r>
              <a:rPr lang="en-GB" altLang="zh-TW" sz="1600" b="1">
                <a:solidFill>
                  <a:srgbClr val="CD3333"/>
                </a:solidFill>
                <a:latin typeface="Tahoma" charset="0"/>
                <a:ea typeface="新細明體" charset="-120"/>
              </a:rPr>
              <a:t>jump addr</a:t>
            </a:r>
          </a:p>
          <a:p>
            <a:pPr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Tahoma" charset="0"/>
              <a:buNone/>
            </a:pPr>
            <a:r>
              <a:rPr lang="en-GB" altLang="zh-TW" sz="1600" b="1">
                <a:solidFill>
                  <a:srgbClr val="CD3333"/>
                </a:solidFill>
                <a:latin typeface="Tahoma" charset="0"/>
                <a:ea typeface="新細明體" charset="-120"/>
              </a:rPr>
              <a:t>    [31-0]</a:t>
            </a:r>
          </a:p>
        </p:txBody>
      </p:sp>
      <p:grpSp>
        <p:nvGrpSpPr>
          <p:cNvPr id="6" name="Group 5"/>
          <p:cNvGrpSpPr>
            <a:grpSpLocks/>
          </p:cNvGrpSpPr>
          <p:nvPr/>
        </p:nvGrpSpPr>
        <p:grpSpPr bwMode="auto">
          <a:xfrm>
            <a:off x="2025651" y="1449388"/>
            <a:ext cx="7724775" cy="5019675"/>
            <a:chOff x="471" y="733"/>
            <a:chExt cx="4866" cy="3162"/>
          </a:xfrm>
        </p:grpSpPr>
        <p:sp>
          <p:nvSpPr>
            <p:cNvPr id="7" name="Freeform 6"/>
            <p:cNvSpPr>
              <a:spLocks noChangeArrowheads="1"/>
            </p:cNvSpPr>
            <p:nvPr/>
          </p:nvSpPr>
          <p:spPr bwMode="auto">
            <a:xfrm>
              <a:off x="2424" y="2148"/>
              <a:ext cx="1118" cy="536"/>
            </a:xfrm>
            <a:custGeom>
              <a:avLst/>
              <a:gdLst>
                <a:gd name="T0" fmla="*/ 0 w 1118"/>
                <a:gd name="T1" fmla="*/ 0 h 481"/>
                <a:gd name="T2" fmla="*/ 1118 w 1118"/>
                <a:gd name="T3" fmla="*/ 0 h 481"/>
                <a:gd name="T4" fmla="*/ 1118 w 1118"/>
                <a:gd name="T5" fmla="*/ 481 h 481"/>
                <a:gd name="T6" fmla="*/ 0 60000 65536"/>
                <a:gd name="T7" fmla="*/ 0 60000 65536"/>
                <a:gd name="T8" fmla="*/ 0 60000 65536"/>
                <a:gd name="T9" fmla="*/ 0 w 1118"/>
                <a:gd name="T10" fmla="*/ 0 h 481"/>
                <a:gd name="T11" fmla="*/ 1118 w 1118"/>
                <a:gd name="T12" fmla="*/ 481 h 4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8" h="481">
                  <a:moveTo>
                    <a:pt x="0" y="0"/>
                  </a:moveTo>
                  <a:lnTo>
                    <a:pt x="1118" y="0"/>
                  </a:lnTo>
                  <a:lnTo>
                    <a:pt x="1118" y="481"/>
                  </a:lnTo>
                </a:path>
              </a:pathLst>
            </a:custGeom>
            <a:noFill/>
            <a:ln w="11160">
              <a:solidFill>
                <a:srgbClr val="F3A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Freeform 7"/>
            <p:cNvSpPr>
              <a:spLocks noChangeArrowheads="1"/>
            </p:cNvSpPr>
            <p:nvPr/>
          </p:nvSpPr>
          <p:spPr bwMode="auto">
            <a:xfrm>
              <a:off x="2461" y="1955"/>
              <a:ext cx="1163" cy="1866"/>
            </a:xfrm>
            <a:custGeom>
              <a:avLst/>
              <a:gdLst>
                <a:gd name="T0" fmla="*/ 0 w 1163"/>
                <a:gd name="T1" fmla="*/ 0 h 1674"/>
                <a:gd name="T2" fmla="*/ 831 w 1163"/>
                <a:gd name="T3" fmla="*/ 0 h 1674"/>
                <a:gd name="T4" fmla="*/ 834 w 1163"/>
                <a:gd name="T5" fmla="*/ 1674 h 1674"/>
                <a:gd name="T6" fmla="*/ 1163 w 1163"/>
                <a:gd name="T7" fmla="*/ 1674 h 1674"/>
                <a:gd name="T8" fmla="*/ 1163 w 1163"/>
                <a:gd name="T9" fmla="*/ 1588 h 16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63"/>
                <a:gd name="T16" fmla="*/ 0 h 1674"/>
                <a:gd name="T17" fmla="*/ 1163 w 1163"/>
                <a:gd name="T18" fmla="*/ 1674 h 167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63" h="1674">
                  <a:moveTo>
                    <a:pt x="0" y="0"/>
                  </a:moveTo>
                  <a:lnTo>
                    <a:pt x="831" y="0"/>
                  </a:lnTo>
                  <a:lnTo>
                    <a:pt x="834" y="1674"/>
                  </a:lnTo>
                  <a:lnTo>
                    <a:pt x="1163" y="1674"/>
                  </a:lnTo>
                  <a:lnTo>
                    <a:pt x="1163" y="1588"/>
                  </a:lnTo>
                </a:path>
              </a:pathLst>
            </a:custGeom>
            <a:noFill/>
            <a:ln w="19080">
              <a:solidFill>
                <a:srgbClr val="F3A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2450" y="1667"/>
              <a:ext cx="1640" cy="3"/>
            </a:xfrm>
            <a:prstGeom prst="line">
              <a:avLst/>
            </a:prstGeom>
            <a:noFill/>
            <a:ln w="11160">
              <a:solidFill>
                <a:srgbClr val="F3AA6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9"/>
            <p:cNvSpPr>
              <a:spLocks noChangeArrowheads="1"/>
            </p:cNvSpPr>
            <p:nvPr/>
          </p:nvSpPr>
          <p:spPr bwMode="auto">
            <a:xfrm>
              <a:off x="1549" y="1360"/>
              <a:ext cx="912" cy="1757"/>
            </a:xfrm>
            <a:custGeom>
              <a:avLst/>
              <a:gdLst>
                <a:gd name="T0" fmla="*/ 835 w 912"/>
                <a:gd name="T1" fmla="*/ 102 h 1576"/>
                <a:gd name="T2" fmla="*/ 912 w 912"/>
                <a:gd name="T3" fmla="*/ 102 h 1576"/>
                <a:gd name="T4" fmla="*/ 912 w 912"/>
                <a:gd name="T5" fmla="*/ 0 h 1576"/>
                <a:gd name="T6" fmla="*/ 0 w 912"/>
                <a:gd name="T7" fmla="*/ 0 h 1576"/>
                <a:gd name="T8" fmla="*/ 0 w 912"/>
                <a:gd name="T9" fmla="*/ 1576 h 1576"/>
                <a:gd name="T10" fmla="*/ 719 w 912"/>
                <a:gd name="T11" fmla="*/ 1576 h 1576"/>
                <a:gd name="T12" fmla="*/ 719 w 912"/>
                <a:gd name="T13" fmla="*/ 1510 h 157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912"/>
                <a:gd name="T22" fmla="*/ 0 h 1576"/>
                <a:gd name="T23" fmla="*/ 912 w 912"/>
                <a:gd name="T24" fmla="*/ 1576 h 157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912" h="1576">
                  <a:moveTo>
                    <a:pt x="835" y="102"/>
                  </a:moveTo>
                  <a:lnTo>
                    <a:pt x="912" y="102"/>
                  </a:lnTo>
                  <a:lnTo>
                    <a:pt x="912" y="0"/>
                  </a:lnTo>
                  <a:lnTo>
                    <a:pt x="0" y="0"/>
                  </a:lnTo>
                  <a:lnTo>
                    <a:pt x="0" y="1576"/>
                  </a:lnTo>
                  <a:lnTo>
                    <a:pt x="719" y="1576"/>
                  </a:lnTo>
                  <a:lnTo>
                    <a:pt x="719" y="1510"/>
                  </a:lnTo>
                </a:path>
              </a:pathLst>
            </a:custGeom>
            <a:noFill/>
            <a:ln w="11160">
              <a:solidFill>
                <a:srgbClr val="F3A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Freeform 10"/>
            <p:cNvSpPr>
              <a:spLocks noChangeArrowheads="1"/>
            </p:cNvSpPr>
            <p:nvPr/>
          </p:nvSpPr>
          <p:spPr bwMode="auto">
            <a:xfrm>
              <a:off x="3731" y="2965"/>
              <a:ext cx="89" cy="505"/>
            </a:xfrm>
            <a:custGeom>
              <a:avLst/>
              <a:gdLst>
                <a:gd name="T0" fmla="*/ 86 w 89"/>
                <a:gd name="T1" fmla="*/ 0 h 453"/>
                <a:gd name="T2" fmla="*/ 89 w 89"/>
                <a:gd name="T3" fmla="*/ 453 h 453"/>
                <a:gd name="T4" fmla="*/ 0 w 89"/>
                <a:gd name="T5" fmla="*/ 453 h 453"/>
                <a:gd name="T6" fmla="*/ 0 60000 65536"/>
                <a:gd name="T7" fmla="*/ 0 60000 65536"/>
                <a:gd name="T8" fmla="*/ 0 60000 65536"/>
                <a:gd name="T9" fmla="*/ 0 w 89"/>
                <a:gd name="T10" fmla="*/ 0 h 453"/>
                <a:gd name="T11" fmla="*/ 89 w 89"/>
                <a:gd name="T12" fmla="*/ 453 h 4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" h="453">
                  <a:moveTo>
                    <a:pt x="86" y="0"/>
                  </a:moveTo>
                  <a:lnTo>
                    <a:pt x="89" y="453"/>
                  </a:lnTo>
                  <a:lnTo>
                    <a:pt x="0" y="453"/>
                  </a:lnTo>
                </a:path>
              </a:pathLst>
            </a:custGeom>
            <a:noFill/>
            <a:ln w="19080">
              <a:solidFill>
                <a:srgbClr val="F3A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" name="Freeform 11"/>
            <p:cNvSpPr>
              <a:spLocks noChangeArrowheads="1"/>
            </p:cNvSpPr>
            <p:nvPr/>
          </p:nvSpPr>
          <p:spPr bwMode="auto">
            <a:xfrm>
              <a:off x="4083" y="1667"/>
              <a:ext cx="173" cy="945"/>
            </a:xfrm>
            <a:custGeom>
              <a:avLst/>
              <a:gdLst>
                <a:gd name="T0" fmla="*/ 0 w 173"/>
                <a:gd name="T1" fmla="*/ 848 h 848"/>
                <a:gd name="T2" fmla="*/ 89 w 173"/>
                <a:gd name="T3" fmla="*/ 848 h 848"/>
                <a:gd name="T4" fmla="*/ 89 w 173"/>
                <a:gd name="T5" fmla="*/ 0 h 848"/>
                <a:gd name="T6" fmla="*/ 173 w 173"/>
                <a:gd name="T7" fmla="*/ 0 h 84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73"/>
                <a:gd name="T13" fmla="*/ 0 h 848"/>
                <a:gd name="T14" fmla="*/ 173 w 173"/>
                <a:gd name="T15" fmla="*/ 848 h 84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73" h="848">
                  <a:moveTo>
                    <a:pt x="0" y="848"/>
                  </a:moveTo>
                  <a:lnTo>
                    <a:pt x="89" y="848"/>
                  </a:lnTo>
                  <a:lnTo>
                    <a:pt x="89" y="0"/>
                  </a:lnTo>
                  <a:lnTo>
                    <a:pt x="173" y="0"/>
                  </a:lnTo>
                </a:path>
              </a:pathLst>
            </a:custGeom>
            <a:noFill/>
            <a:ln w="11160">
              <a:solidFill>
                <a:srgbClr val="F3A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Freeform 12"/>
            <p:cNvSpPr>
              <a:spLocks noChangeArrowheads="1"/>
            </p:cNvSpPr>
            <p:nvPr/>
          </p:nvSpPr>
          <p:spPr bwMode="auto">
            <a:xfrm>
              <a:off x="4086" y="1560"/>
              <a:ext cx="172" cy="107"/>
            </a:xfrm>
            <a:custGeom>
              <a:avLst/>
              <a:gdLst>
                <a:gd name="T0" fmla="*/ 0 w 172"/>
                <a:gd name="T1" fmla="*/ 96 h 96"/>
                <a:gd name="T2" fmla="*/ 0 w 172"/>
                <a:gd name="T3" fmla="*/ 0 h 96"/>
                <a:gd name="T4" fmla="*/ 172 w 172"/>
                <a:gd name="T5" fmla="*/ 0 h 96"/>
                <a:gd name="T6" fmla="*/ 0 60000 65536"/>
                <a:gd name="T7" fmla="*/ 0 60000 65536"/>
                <a:gd name="T8" fmla="*/ 0 60000 65536"/>
                <a:gd name="T9" fmla="*/ 0 w 172"/>
                <a:gd name="T10" fmla="*/ 0 h 96"/>
                <a:gd name="T11" fmla="*/ 172 w 172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" h="96">
                  <a:moveTo>
                    <a:pt x="0" y="96"/>
                  </a:moveTo>
                  <a:lnTo>
                    <a:pt x="0" y="0"/>
                  </a:lnTo>
                  <a:lnTo>
                    <a:pt x="172" y="0"/>
                  </a:lnTo>
                </a:path>
              </a:pathLst>
            </a:custGeom>
            <a:noFill/>
            <a:ln w="11160">
              <a:solidFill>
                <a:srgbClr val="F3A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" name="Freeform 13"/>
            <p:cNvSpPr>
              <a:spLocks noChangeArrowheads="1"/>
            </p:cNvSpPr>
            <p:nvPr/>
          </p:nvSpPr>
          <p:spPr bwMode="auto">
            <a:xfrm>
              <a:off x="2466" y="1860"/>
              <a:ext cx="2686" cy="858"/>
            </a:xfrm>
            <a:custGeom>
              <a:avLst/>
              <a:gdLst>
                <a:gd name="T0" fmla="*/ 0 w 2686"/>
                <a:gd name="T1" fmla="*/ 0 h 770"/>
                <a:gd name="T2" fmla="*/ 2686 w 2686"/>
                <a:gd name="T3" fmla="*/ 0 h 770"/>
                <a:gd name="T4" fmla="*/ 2686 w 2686"/>
                <a:gd name="T5" fmla="*/ 770 h 770"/>
                <a:gd name="T6" fmla="*/ 0 60000 65536"/>
                <a:gd name="T7" fmla="*/ 0 60000 65536"/>
                <a:gd name="T8" fmla="*/ 0 60000 65536"/>
                <a:gd name="T9" fmla="*/ 0 w 2686"/>
                <a:gd name="T10" fmla="*/ 0 h 770"/>
                <a:gd name="T11" fmla="*/ 2686 w 2686"/>
                <a:gd name="T12" fmla="*/ 770 h 7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86" h="770">
                  <a:moveTo>
                    <a:pt x="0" y="0"/>
                  </a:moveTo>
                  <a:lnTo>
                    <a:pt x="2686" y="0"/>
                  </a:lnTo>
                  <a:lnTo>
                    <a:pt x="2686" y="770"/>
                  </a:lnTo>
                </a:path>
              </a:pathLst>
            </a:custGeom>
            <a:noFill/>
            <a:ln w="11160">
              <a:solidFill>
                <a:srgbClr val="F3A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" name="Freeform 14"/>
            <p:cNvSpPr>
              <a:spLocks noChangeArrowheads="1"/>
            </p:cNvSpPr>
            <p:nvPr/>
          </p:nvSpPr>
          <p:spPr bwMode="auto">
            <a:xfrm>
              <a:off x="2464" y="1764"/>
              <a:ext cx="2873" cy="1607"/>
            </a:xfrm>
            <a:custGeom>
              <a:avLst/>
              <a:gdLst>
                <a:gd name="T0" fmla="*/ 0 w 2873"/>
                <a:gd name="T1" fmla="*/ 0 h 1442"/>
                <a:gd name="T2" fmla="*/ 2873 w 2873"/>
                <a:gd name="T3" fmla="*/ 0 h 1442"/>
                <a:gd name="T4" fmla="*/ 2873 w 2873"/>
                <a:gd name="T5" fmla="*/ 1442 h 1442"/>
                <a:gd name="T6" fmla="*/ 2182 w 2873"/>
                <a:gd name="T7" fmla="*/ 1442 h 1442"/>
                <a:gd name="T8" fmla="*/ 2182 w 2873"/>
                <a:gd name="T9" fmla="*/ 1356 h 1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73"/>
                <a:gd name="T16" fmla="*/ 0 h 1442"/>
                <a:gd name="T17" fmla="*/ 2873 w 2873"/>
                <a:gd name="T18" fmla="*/ 1442 h 1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73" h="1442">
                  <a:moveTo>
                    <a:pt x="0" y="0"/>
                  </a:moveTo>
                  <a:lnTo>
                    <a:pt x="2873" y="0"/>
                  </a:lnTo>
                  <a:lnTo>
                    <a:pt x="2873" y="1442"/>
                  </a:lnTo>
                  <a:lnTo>
                    <a:pt x="2182" y="1442"/>
                  </a:lnTo>
                  <a:lnTo>
                    <a:pt x="2182" y="1356"/>
                  </a:lnTo>
                </a:path>
              </a:pathLst>
            </a:custGeom>
            <a:noFill/>
            <a:ln w="11160">
              <a:solidFill>
                <a:srgbClr val="F3A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Freeform 15"/>
            <p:cNvSpPr>
              <a:spLocks noChangeArrowheads="1"/>
            </p:cNvSpPr>
            <p:nvPr/>
          </p:nvSpPr>
          <p:spPr bwMode="auto">
            <a:xfrm>
              <a:off x="2450" y="2053"/>
              <a:ext cx="2196" cy="468"/>
            </a:xfrm>
            <a:custGeom>
              <a:avLst/>
              <a:gdLst>
                <a:gd name="T0" fmla="*/ 0 w 2196"/>
                <a:gd name="T1" fmla="*/ 0 h 420"/>
                <a:gd name="T2" fmla="*/ 2196 w 2196"/>
                <a:gd name="T3" fmla="*/ 0 h 420"/>
                <a:gd name="T4" fmla="*/ 2196 w 2196"/>
                <a:gd name="T5" fmla="*/ 420 h 420"/>
                <a:gd name="T6" fmla="*/ 0 60000 65536"/>
                <a:gd name="T7" fmla="*/ 0 60000 65536"/>
                <a:gd name="T8" fmla="*/ 0 60000 65536"/>
                <a:gd name="T9" fmla="*/ 0 w 2196"/>
                <a:gd name="T10" fmla="*/ 0 h 420"/>
                <a:gd name="T11" fmla="*/ 2196 w 2196"/>
                <a:gd name="T12" fmla="*/ 420 h 4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96" h="420">
                  <a:moveTo>
                    <a:pt x="0" y="0"/>
                  </a:moveTo>
                  <a:lnTo>
                    <a:pt x="2196" y="0"/>
                  </a:lnTo>
                  <a:lnTo>
                    <a:pt x="2196" y="420"/>
                  </a:lnTo>
                </a:path>
              </a:pathLst>
            </a:custGeom>
            <a:noFill/>
            <a:ln w="11160">
              <a:solidFill>
                <a:srgbClr val="F3A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2359" y="2244"/>
              <a:ext cx="459" cy="74"/>
            </a:xfrm>
            <a:custGeom>
              <a:avLst/>
              <a:gdLst>
                <a:gd name="T0" fmla="*/ 0 w 459"/>
                <a:gd name="T1" fmla="*/ 0 h 66"/>
                <a:gd name="T2" fmla="*/ 459 w 459"/>
                <a:gd name="T3" fmla="*/ 0 h 66"/>
                <a:gd name="T4" fmla="*/ 459 w 459"/>
                <a:gd name="T5" fmla="*/ 66 h 66"/>
                <a:gd name="T6" fmla="*/ 0 60000 65536"/>
                <a:gd name="T7" fmla="*/ 0 60000 65536"/>
                <a:gd name="T8" fmla="*/ 0 60000 65536"/>
                <a:gd name="T9" fmla="*/ 0 w 459"/>
                <a:gd name="T10" fmla="*/ 0 h 66"/>
                <a:gd name="T11" fmla="*/ 459 w 459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59" h="66">
                  <a:moveTo>
                    <a:pt x="0" y="0"/>
                  </a:moveTo>
                  <a:lnTo>
                    <a:pt x="459" y="0"/>
                  </a:lnTo>
                  <a:lnTo>
                    <a:pt x="459" y="66"/>
                  </a:lnTo>
                </a:path>
              </a:pathLst>
            </a:custGeom>
            <a:noFill/>
            <a:ln w="11160">
              <a:solidFill>
                <a:srgbClr val="F3A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Freeform 17"/>
            <p:cNvSpPr>
              <a:spLocks noChangeArrowheads="1"/>
            </p:cNvSpPr>
            <p:nvPr/>
          </p:nvSpPr>
          <p:spPr bwMode="auto">
            <a:xfrm>
              <a:off x="2433" y="733"/>
              <a:ext cx="2502" cy="838"/>
            </a:xfrm>
            <a:custGeom>
              <a:avLst/>
              <a:gdLst>
                <a:gd name="T0" fmla="*/ 0 w 2502"/>
                <a:gd name="T1" fmla="*/ 752 h 752"/>
                <a:gd name="T2" fmla="*/ 535 w 2502"/>
                <a:gd name="T3" fmla="*/ 752 h 752"/>
                <a:gd name="T4" fmla="*/ 535 w 2502"/>
                <a:gd name="T5" fmla="*/ 0 h 752"/>
                <a:gd name="T6" fmla="*/ 2502 w 2502"/>
                <a:gd name="T7" fmla="*/ 0 h 752"/>
                <a:gd name="T8" fmla="*/ 2502 w 2502"/>
                <a:gd name="T9" fmla="*/ 121 h 7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02"/>
                <a:gd name="T16" fmla="*/ 0 h 752"/>
                <a:gd name="T17" fmla="*/ 2502 w 2502"/>
                <a:gd name="T18" fmla="*/ 752 h 7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02" h="752">
                  <a:moveTo>
                    <a:pt x="0" y="752"/>
                  </a:moveTo>
                  <a:lnTo>
                    <a:pt x="535" y="752"/>
                  </a:lnTo>
                  <a:lnTo>
                    <a:pt x="535" y="0"/>
                  </a:lnTo>
                  <a:lnTo>
                    <a:pt x="2502" y="0"/>
                  </a:lnTo>
                  <a:lnTo>
                    <a:pt x="2502" y="121"/>
                  </a:lnTo>
                </a:path>
              </a:pathLst>
            </a:custGeom>
            <a:noFill/>
            <a:ln w="3816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Freeform 18"/>
            <p:cNvSpPr>
              <a:spLocks noChangeArrowheads="1"/>
            </p:cNvSpPr>
            <p:nvPr/>
          </p:nvSpPr>
          <p:spPr bwMode="auto">
            <a:xfrm>
              <a:off x="4440" y="1347"/>
              <a:ext cx="129" cy="269"/>
            </a:xfrm>
            <a:custGeom>
              <a:avLst/>
              <a:gdLst>
                <a:gd name="T0" fmla="*/ 129 w 129"/>
                <a:gd name="T1" fmla="*/ 0 h 241"/>
                <a:gd name="T2" fmla="*/ 129 w 129"/>
                <a:gd name="T3" fmla="*/ 241 h 241"/>
                <a:gd name="T4" fmla="*/ 0 w 129"/>
                <a:gd name="T5" fmla="*/ 241 h 241"/>
                <a:gd name="T6" fmla="*/ 0 60000 65536"/>
                <a:gd name="T7" fmla="*/ 0 60000 65536"/>
                <a:gd name="T8" fmla="*/ 0 60000 65536"/>
                <a:gd name="T9" fmla="*/ 0 w 129"/>
                <a:gd name="T10" fmla="*/ 0 h 241"/>
                <a:gd name="T11" fmla="*/ 129 w 129"/>
                <a:gd name="T12" fmla="*/ 241 h 2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" h="241">
                  <a:moveTo>
                    <a:pt x="129" y="0"/>
                  </a:moveTo>
                  <a:lnTo>
                    <a:pt x="129" y="241"/>
                  </a:lnTo>
                  <a:lnTo>
                    <a:pt x="0" y="241"/>
                  </a:lnTo>
                </a:path>
              </a:pathLst>
            </a:custGeom>
            <a:noFill/>
            <a:ln w="11160">
              <a:solidFill>
                <a:srgbClr val="F3A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Freeform 19"/>
            <p:cNvSpPr>
              <a:spLocks noChangeArrowheads="1"/>
            </p:cNvSpPr>
            <p:nvPr/>
          </p:nvSpPr>
          <p:spPr bwMode="auto">
            <a:xfrm>
              <a:off x="1192" y="928"/>
              <a:ext cx="3304" cy="404"/>
            </a:xfrm>
            <a:custGeom>
              <a:avLst/>
              <a:gdLst>
                <a:gd name="T0" fmla="*/ 0 w 3304"/>
                <a:gd name="T1" fmla="*/ 360 h 362"/>
                <a:gd name="T2" fmla="*/ 2103 w 3304"/>
                <a:gd name="T3" fmla="*/ 362 h 362"/>
                <a:gd name="T4" fmla="*/ 2103 w 3304"/>
                <a:gd name="T5" fmla="*/ 0 h 362"/>
                <a:gd name="T6" fmla="*/ 3304 w 3304"/>
                <a:gd name="T7" fmla="*/ 0 h 36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04"/>
                <a:gd name="T13" fmla="*/ 0 h 362"/>
                <a:gd name="T14" fmla="*/ 3304 w 3304"/>
                <a:gd name="T15" fmla="*/ 362 h 36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04" h="362">
                  <a:moveTo>
                    <a:pt x="0" y="360"/>
                  </a:moveTo>
                  <a:lnTo>
                    <a:pt x="2103" y="362"/>
                  </a:lnTo>
                  <a:lnTo>
                    <a:pt x="2103" y="0"/>
                  </a:lnTo>
                  <a:lnTo>
                    <a:pt x="3304" y="0"/>
                  </a:lnTo>
                </a:path>
              </a:pathLst>
            </a:custGeom>
            <a:noFill/>
            <a:ln w="1908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Freeform 20"/>
            <p:cNvSpPr>
              <a:spLocks noChangeArrowheads="1"/>
            </p:cNvSpPr>
            <p:nvPr/>
          </p:nvSpPr>
          <p:spPr bwMode="auto">
            <a:xfrm>
              <a:off x="2366" y="2922"/>
              <a:ext cx="2905" cy="973"/>
            </a:xfrm>
            <a:custGeom>
              <a:avLst/>
              <a:gdLst>
                <a:gd name="T0" fmla="*/ 2840 w 2905"/>
                <a:gd name="T1" fmla="*/ 0 h 873"/>
                <a:gd name="T2" fmla="*/ 2905 w 2905"/>
                <a:gd name="T3" fmla="*/ 0 h 873"/>
                <a:gd name="T4" fmla="*/ 2905 w 2905"/>
                <a:gd name="T5" fmla="*/ 873 h 873"/>
                <a:gd name="T6" fmla="*/ 0 w 2905"/>
                <a:gd name="T7" fmla="*/ 873 h 873"/>
                <a:gd name="T8" fmla="*/ 0 w 2905"/>
                <a:gd name="T9" fmla="*/ 56 h 873"/>
                <a:gd name="T10" fmla="*/ 107 w 2905"/>
                <a:gd name="T11" fmla="*/ 56 h 8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905"/>
                <a:gd name="T19" fmla="*/ 0 h 873"/>
                <a:gd name="T20" fmla="*/ 2905 w 2905"/>
                <a:gd name="T21" fmla="*/ 873 h 87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905" h="873">
                  <a:moveTo>
                    <a:pt x="2840" y="0"/>
                  </a:moveTo>
                  <a:lnTo>
                    <a:pt x="2905" y="0"/>
                  </a:lnTo>
                  <a:lnTo>
                    <a:pt x="2905" y="873"/>
                  </a:lnTo>
                  <a:lnTo>
                    <a:pt x="0" y="873"/>
                  </a:lnTo>
                  <a:lnTo>
                    <a:pt x="0" y="56"/>
                  </a:lnTo>
                  <a:lnTo>
                    <a:pt x="107" y="56"/>
                  </a:lnTo>
                </a:path>
              </a:pathLst>
            </a:custGeom>
            <a:noFill/>
            <a:ln w="1908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2429" y="3374"/>
              <a:ext cx="471" cy="1"/>
            </a:xfrm>
            <a:prstGeom prst="line">
              <a:avLst/>
            </a:prstGeom>
            <a:noFill/>
            <a:ln w="1908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22"/>
            <p:cNvSpPr>
              <a:spLocks noChangeArrowheads="1"/>
            </p:cNvSpPr>
            <p:nvPr/>
          </p:nvSpPr>
          <p:spPr bwMode="auto">
            <a:xfrm>
              <a:off x="3460" y="1323"/>
              <a:ext cx="180" cy="318"/>
            </a:xfrm>
            <a:custGeom>
              <a:avLst/>
              <a:gdLst>
                <a:gd name="T0" fmla="*/ 89 w 180"/>
                <a:gd name="T1" fmla="*/ 283 h 285"/>
                <a:gd name="T2" fmla="*/ 105 w 180"/>
                <a:gd name="T3" fmla="*/ 283 h 285"/>
                <a:gd name="T4" fmla="*/ 119 w 180"/>
                <a:gd name="T5" fmla="*/ 278 h 285"/>
                <a:gd name="T6" fmla="*/ 131 w 180"/>
                <a:gd name="T7" fmla="*/ 269 h 285"/>
                <a:gd name="T8" fmla="*/ 143 w 180"/>
                <a:gd name="T9" fmla="*/ 257 h 285"/>
                <a:gd name="T10" fmla="*/ 154 w 180"/>
                <a:gd name="T11" fmla="*/ 243 h 285"/>
                <a:gd name="T12" fmla="*/ 161 w 180"/>
                <a:gd name="T13" fmla="*/ 226 h 285"/>
                <a:gd name="T14" fmla="*/ 168 w 180"/>
                <a:gd name="T15" fmla="*/ 208 h 285"/>
                <a:gd name="T16" fmla="*/ 175 w 180"/>
                <a:gd name="T17" fmla="*/ 187 h 285"/>
                <a:gd name="T18" fmla="*/ 178 w 180"/>
                <a:gd name="T19" fmla="*/ 166 h 285"/>
                <a:gd name="T20" fmla="*/ 180 w 180"/>
                <a:gd name="T21" fmla="*/ 142 h 285"/>
                <a:gd name="T22" fmla="*/ 178 w 180"/>
                <a:gd name="T23" fmla="*/ 119 h 285"/>
                <a:gd name="T24" fmla="*/ 175 w 180"/>
                <a:gd name="T25" fmla="*/ 98 h 285"/>
                <a:gd name="T26" fmla="*/ 168 w 180"/>
                <a:gd name="T27" fmla="*/ 77 h 285"/>
                <a:gd name="T28" fmla="*/ 161 w 180"/>
                <a:gd name="T29" fmla="*/ 58 h 285"/>
                <a:gd name="T30" fmla="*/ 154 w 180"/>
                <a:gd name="T31" fmla="*/ 42 h 285"/>
                <a:gd name="T32" fmla="*/ 143 w 180"/>
                <a:gd name="T33" fmla="*/ 28 h 285"/>
                <a:gd name="T34" fmla="*/ 131 w 180"/>
                <a:gd name="T35" fmla="*/ 16 h 285"/>
                <a:gd name="T36" fmla="*/ 119 w 180"/>
                <a:gd name="T37" fmla="*/ 7 h 285"/>
                <a:gd name="T38" fmla="*/ 105 w 180"/>
                <a:gd name="T39" fmla="*/ 2 h 285"/>
                <a:gd name="T40" fmla="*/ 91 w 180"/>
                <a:gd name="T41" fmla="*/ 0 h 285"/>
                <a:gd name="T42" fmla="*/ 75 w 180"/>
                <a:gd name="T43" fmla="*/ 2 h 285"/>
                <a:gd name="T44" fmla="*/ 61 w 180"/>
                <a:gd name="T45" fmla="*/ 7 h 285"/>
                <a:gd name="T46" fmla="*/ 49 w 180"/>
                <a:gd name="T47" fmla="*/ 16 h 285"/>
                <a:gd name="T48" fmla="*/ 38 w 180"/>
                <a:gd name="T49" fmla="*/ 28 h 285"/>
                <a:gd name="T50" fmla="*/ 28 w 180"/>
                <a:gd name="T51" fmla="*/ 42 h 285"/>
                <a:gd name="T52" fmla="*/ 19 w 180"/>
                <a:gd name="T53" fmla="*/ 58 h 285"/>
                <a:gd name="T54" fmla="*/ 12 w 180"/>
                <a:gd name="T55" fmla="*/ 77 h 285"/>
                <a:gd name="T56" fmla="*/ 5 w 180"/>
                <a:gd name="T57" fmla="*/ 98 h 285"/>
                <a:gd name="T58" fmla="*/ 3 w 180"/>
                <a:gd name="T59" fmla="*/ 119 h 285"/>
                <a:gd name="T60" fmla="*/ 0 w 180"/>
                <a:gd name="T61" fmla="*/ 142 h 285"/>
                <a:gd name="T62" fmla="*/ 3 w 180"/>
                <a:gd name="T63" fmla="*/ 166 h 285"/>
                <a:gd name="T64" fmla="*/ 5 w 180"/>
                <a:gd name="T65" fmla="*/ 187 h 285"/>
                <a:gd name="T66" fmla="*/ 12 w 180"/>
                <a:gd name="T67" fmla="*/ 208 h 285"/>
                <a:gd name="T68" fmla="*/ 19 w 180"/>
                <a:gd name="T69" fmla="*/ 226 h 285"/>
                <a:gd name="T70" fmla="*/ 28 w 180"/>
                <a:gd name="T71" fmla="*/ 243 h 285"/>
                <a:gd name="T72" fmla="*/ 38 w 180"/>
                <a:gd name="T73" fmla="*/ 257 h 285"/>
                <a:gd name="T74" fmla="*/ 49 w 180"/>
                <a:gd name="T75" fmla="*/ 269 h 285"/>
                <a:gd name="T76" fmla="*/ 61 w 180"/>
                <a:gd name="T77" fmla="*/ 278 h 285"/>
                <a:gd name="T78" fmla="*/ 75 w 180"/>
                <a:gd name="T79" fmla="*/ 283 h 285"/>
                <a:gd name="T80" fmla="*/ 91 w 180"/>
                <a:gd name="T81" fmla="*/ 285 h 285"/>
                <a:gd name="T82" fmla="*/ 91 w 180"/>
                <a:gd name="T83" fmla="*/ 285 h 285"/>
                <a:gd name="T84" fmla="*/ 89 w 180"/>
                <a:gd name="T85" fmla="*/ 283 h 285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w 180"/>
                <a:gd name="T130" fmla="*/ 0 h 285"/>
                <a:gd name="T131" fmla="*/ 180 w 180"/>
                <a:gd name="T132" fmla="*/ 285 h 285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T129" t="T130" r="T131" b="T132"/>
              <a:pathLst>
                <a:path w="180" h="285">
                  <a:moveTo>
                    <a:pt x="89" y="283"/>
                  </a:moveTo>
                  <a:lnTo>
                    <a:pt x="105" y="283"/>
                  </a:lnTo>
                  <a:lnTo>
                    <a:pt x="119" y="278"/>
                  </a:lnTo>
                  <a:lnTo>
                    <a:pt x="131" y="269"/>
                  </a:lnTo>
                  <a:lnTo>
                    <a:pt x="143" y="257"/>
                  </a:lnTo>
                  <a:lnTo>
                    <a:pt x="154" y="243"/>
                  </a:lnTo>
                  <a:lnTo>
                    <a:pt x="161" y="226"/>
                  </a:lnTo>
                  <a:lnTo>
                    <a:pt x="168" y="208"/>
                  </a:lnTo>
                  <a:lnTo>
                    <a:pt x="175" y="187"/>
                  </a:lnTo>
                  <a:lnTo>
                    <a:pt x="178" y="166"/>
                  </a:lnTo>
                  <a:lnTo>
                    <a:pt x="180" y="142"/>
                  </a:lnTo>
                  <a:lnTo>
                    <a:pt x="178" y="119"/>
                  </a:lnTo>
                  <a:lnTo>
                    <a:pt x="175" y="98"/>
                  </a:lnTo>
                  <a:lnTo>
                    <a:pt x="168" y="77"/>
                  </a:lnTo>
                  <a:lnTo>
                    <a:pt x="161" y="58"/>
                  </a:lnTo>
                  <a:lnTo>
                    <a:pt x="154" y="42"/>
                  </a:lnTo>
                  <a:lnTo>
                    <a:pt x="143" y="28"/>
                  </a:lnTo>
                  <a:lnTo>
                    <a:pt x="131" y="16"/>
                  </a:lnTo>
                  <a:lnTo>
                    <a:pt x="119" y="7"/>
                  </a:lnTo>
                  <a:lnTo>
                    <a:pt x="105" y="2"/>
                  </a:lnTo>
                  <a:lnTo>
                    <a:pt x="91" y="0"/>
                  </a:lnTo>
                  <a:lnTo>
                    <a:pt x="75" y="2"/>
                  </a:lnTo>
                  <a:lnTo>
                    <a:pt x="61" y="7"/>
                  </a:lnTo>
                  <a:lnTo>
                    <a:pt x="49" y="16"/>
                  </a:lnTo>
                  <a:lnTo>
                    <a:pt x="38" y="28"/>
                  </a:lnTo>
                  <a:lnTo>
                    <a:pt x="28" y="42"/>
                  </a:lnTo>
                  <a:lnTo>
                    <a:pt x="19" y="58"/>
                  </a:lnTo>
                  <a:lnTo>
                    <a:pt x="12" y="77"/>
                  </a:lnTo>
                  <a:lnTo>
                    <a:pt x="5" y="98"/>
                  </a:lnTo>
                  <a:lnTo>
                    <a:pt x="3" y="119"/>
                  </a:lnTo>
                  <a:lnTo>
                    <a:pt x="0" y="142"/>
                  </a:lnTo>
                  <a:lnTo>
                    <a:pt x="3" y="166"/>
                  </a:lnTo>
                  <a:lnTo>
                    <a:pt x="5" y="187"/>
                  </a:lnTo>
                  <a:lnTo>
                    <a:pt x="12" y="208"/>
                  </a:lnTo>
                  <a:lnTo>
                    <a:pt x="19" y="226"/>
                  </a:lnTo>
                  <a:lnTo>
                    <a:pt x="28" y="243"/>
                  </a:lnTo>
                  <a:lnTo>
                    <a:pt x="38" y="257"/>
                  </a:lnTo>
                  <a:lnTo>
                    <a:pt x="49" y="269"/>
                  </a:lnTo>
                  <a:lnTo>
                    <a:pt x="61" y="278"/>
                  </a:lnTo>
                  <a:lnTo>
                    <a:pt x="75" y="283"/>
                  </a:lnTo>
                  <a:lnTo>
                    <a:pt x="91" y="285"/>
                  </a:lnTo>
                  <a:lnTo>
                    <a:pt x="89" y="28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Freeform 23"/>
            <p:cNvSpPr>
              <a:spLocks noChangeArrowheads="1"/>
            </p:cNvSpPr>
            <p:nvPr/>
          </p:nvSpPr>
          <p:spPr bwMode="auto">
            <a:xfrm>
              <a:off x="3460" y="1323"/>
              <a:ext cx="180" cy="318"/>
            </a:xfrm>
            <a:custGeom>
              <a:avLst/>
              <a:gdLst>
                <a:gd name="T0" fmla="*/ 89 w 180"/>
                <a:gd name="T1" fmla="*/ 283 h 285"/>
                <a:gd name="T2" fmla="*/ 105 w 180"/>
                <a:gd name="T3" fmla="*/ 283 h 285"/>
                <a:gd name="T4" fmla="*/ 119 w 180"/>
                <a:gd name="T5" fmla="*/ 278 h 285"/>
                <a:gd name="T6" fmla="*/ 131 w 180"/>
                <a:gd name="T7" fmla="*/ 269 h 285"/>
                <a:gd name="T8" fmla="*/ 143 w 180"/>
                <a:gd name="T9" fmla="*/ 257 h 285"/>
                <a:gd name="T10" fmla="*/ 154 w 180"/>
                <a:gd name="T11" fmla="*/ 243 h 285"/>
                <a:gd name="T12" fmla="*/ 161 w 180"/>
                <a:gd name="T13" fmla="*/ 226 h 285"/>
                <a:gd name="T14" fmla="*/ 168 w 180"/>
                <a:gd name="T15" fmla="*/ 208 h 285"/>
                <a:gd name="T16" fmla="*/ 175 w 180"/>
                <a:gd name="T17" fmla="*/ 187 h 285"/>
                <a:gd name="T18" fmla="*/ 178 w 180"/>
                <a:gd name="T19" fmla="*/ 166 h 285"/>
                <a:gd name="T20" fmla="*/ 180 w 180"/>
                <a:gd name="T21" fmla="*/ 142 h 285"/>
                <a:gd name="T22" fmla="*/ 178 w 180"/>
                <a:gd name="T23" fmla="*/ 119 h 285"/>
                <a:gd name="T24" fmla="*/ 175 w 180"/>
                <a:gd name="T25" fmla="*/ 98 h 285"/>
                <a:gd name="T26" fmla="*/ 168 w 180"/>
                <a:gd name="T27" fmla="*/ 77 h 285"/>
                <a:gd name="T28" fmla="*/ 161 w 180"/>
                <a:gd name="T29" fmla="*/ 58 h 285"/>
                <a:gd name="T30" fmla="*/ 154 w 180"/>
                <a:gd name="T31" fmla="*/ 42 h 285"/>
                <a:gd name="T32" fmla="*/ 143 w 180"/>
                <a:gd name="T33" fmla="*/ 28 h 285"/>
                <a:gd name="T34" fmla="*/ 131 w 180"/>
                <a:gd name="T35" fmla="*/ 16 h 285"/>
                <a:gd name="T36" fmla="*/ 119 w 180"/>
                <a:gd name="T37" fmla="*/ 7 h 285"/>
                <a:gd name="T38" fmla="*/ 105 w 180"/>
                <a:gd name="T39" fmla="*/ 2 h 285"/>
                <a:gd name="T40" fmla="*/ 91 w 180"/>
                <a:gd name="T41" fmla="*/ 0 h 285"/>
                <a:gd name="T42" fmla="*/ 75 w 180"/>
                <a:gd name="T43" fmla="*/ 2 h 285"/>
                <a:gd name="T44" fmla="*/ 61 w 180"/>
                <a:gd name="T45" fmla="*/ 7 h 285"/>
                <a:gd name="T46" fmla="*/ 49 w 180"/>
                <a:gd name="T47" fmla="*/ 16 h 285"/>
                <a:gd name="T48" fmla="*/ 38 w 180"/>
                <a:gd name="T49" fmla="*/ 28 h 285"/>
                <a:gd name="T50" fmla="*/ 28 w 180"/>
                <a:gd name="T51" fmla="*/ 42 h 285"/>
                <a:gd name="T52" fmla="*/ 19 w 180"/>
                <a:gd name="T53" fmla="*/ 58 h 285"/>
                <a:gd name="T54" fmla="*/ 12 w 180"/>
                <a:gd name="T55" fmla="*/ 77 h 285"/>
                <a:gd name="T56" fmla="*/ 5 w 180"/>
                <a:gd name="T57" fmla="*/ 98 h 285"/>
                <a:gd name="T58" fmla="*/ 3 w 180"/>
                <a:gd name="T59" fmla="*/ 119 h 285"/>
                <a:gd name="T60" fmla="*/ 0 w 180"/>
                <a:gd name="T61" fmla="*/ 142 h 285"/>
                <a:gd name="T62" fmla="*/ 3 w 180"/>
                <a:gd name="T63" fmla="*/ 166 h 285"/>
                <a:gd name="T64" fmla="*/ 5 w 180"/>
                <a:gd name="T65" fmla="*/ 187 h 285"/>
                <a:gd name="T66" fmla="*/ 12 w 180"/>
                <a:gd name="T67" fmla="*/ 208 h 285"/>
                <a:gd name="T68" fmla="*/ 19 w 180"/>
                <a:gd name="T69" fmla="*/ 226 h 285"/>
                <a:gd name="T70" fmla="*/ 28 w 180"/>
                <a:gd name="T71" fmla="*/ 243 h 285"/>
                <a:gd name="T72" fmla="*/ 38 w 180"/>
                <a:gd name="T73" fmla="*/ 257 h 285"/>
                <a:gd name="T74" fmla="*/ 49 w 180"/>
                <a:gd name="T75" fmla="*/ 269 h 285"/>
                <a:gd name="T76" fmla="*/ 61 w 180"/>
                <a:gd name="T77" fmla="*/ 278 h 285"/>
                <a:gd name="T78" fmla="*/ 75 w 180"/>
                <a:gd name="T79" fmla="*/ 283 h 285"/>
                <a:gd name="T80" fmla="*/ 91 w 180"/>
                <a:gd name="T81" fmla="*/ 285 h 285"/>
                <a:gd name="T82" fmla="*/ 91 w 180"/>
                <a:gd name="T83" fmla="*/ 285 h 285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180"/>
                <a:gd name="T127" fmla="*/ 0 h 285"/>
                <a:gd name="T128" fmla="*/ 180 w 180"/>
                <a:gd name="T129" fmla="*/ 285 h 285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180" h="285">
                  <a:moveTo>
                    <a:pt x="89" y="283"/>
                  </a:moveTo>
                  <a:lnTo>
                    <a:pt x="105" y="283"/>
                  </a:lnTo>
                  <a:lnTo>
                    <a:pt x="119" y="278"/>
                  </a:lnTo>
                  <a:lnTo>
                    <a:pt x="131" y="269"/>
                  </a:lnTo>
                  <a:lnTo>
                    <a:pt x="143" y="257"/>
                  </a:lnTo>
                  <a:lnTo>
                    <a:pt x="154" y="243"/>
                  </a:lnTo>
                  <a:lnTo>
                    <a:pt x="161" y="226"/>
                  </a:lnTo>
                  <a:lnTo>
                    <a:pt x="168" y="208"/>
                  </a:lnTo>
                  <a:lnTo>
                    <a:pt x="175" y="187"/>
                  </a:lnTo>
                  <a:lnTo>
                    <a:pt x="178" y="166"/>
                  </a:lnTo>
                  <a:lnTo>
                    <a:pt x="180" y="142"/>
                  </a:lnTo>
                  <a:lnTo>
                    <a:pt x="178" y="119"/>
                  </a:lnTo>
                  <a:lnTo>
                    <a:pt x="175" y="98"/>
                  </a:lnTo>
                  <a:lnTo>
                    <a:pt x="168" y="77"/>
                  </a:lnTo>
                  <a:lnTo>
                    <a:pt x="161" y="58"/>
                  </a:lnTo>
                  <a:lnTo>
                    <a:pt x="154" y="42"/>
                  </a:lnTo>
                  <a:lnTo>
                    <a:pt x="143" y="28"/>
                  </a:lnTo>
                  <a:lnTo>
                    <a:pt x="131" y="16"/>
                  </a:lnTo>
                  <a:lnTo>
                    <a:pt x="119" y="7"/>
                  </a:lnTo>
                  <a:lnTo>
                    <a:pt x="105" y="2"/>
                  </a:lnTo>
                  <a:lnTo>
                    <a:pt x="91" y="0"/>
                  </a:lnTo>
                  <a:lnTo>
                    <a:pt x="75" y="2"/>
                  </a:lnTo>
                  <a:lnTo>
                    <a:pt x="61" y="7"/>
                  </a:lnTo>
                  <a:lnTo>
                    <a:pt x="49" y="16"/>
                  </a:lnTo>
                  <a:lnTo>
                    <a:pt x="38" y="28"/>
                  </a:lnTo>
                  <a:lnTo>
                    <a:pt x="28" y="42"/>
                  </a:lnTo>
                  <a:lnTo>
                    <a:pt x="19" y="58"/>
                  </a:lnTo>
                  <a:lnTo>
                    <a:pt x="12" y="77"/>
                  </a:lnTo>
                  <a:lnTo>
                    <a:pt x="5" y="98"/>
                  </a:lnTo>
                  <a:lnTo>
                    <a:pt x="3" y="119"/>
                  </a:lnTo>
                  <a:lnTo>
                    <a:pt x="0" y="142"/>
                  </a:lnTo>
                  <a:lnTo>
                    <a:pt x="3" y="166"/>
                  </a:lnTo>
                  <a:lnTo>
                    <a:pt x="5" y="187"/>
                  </a:lnTo>
                  <a:lnTo>
                    <a:pt x="12" y="208"/>
                  </a:lnTo>
                  <a:lnTo>
                    <a:pt x="19" y="226"/>
                  </a:lnTo>
                  <a:lnTo>
                    <a:pt x="28" y="243"/>
                  </a:lnTo>
                  <a:lnTo>
                    <a:pt x="38" y="257"/>
                  </a:lnTo>
                  <a:lnTo>
                    <a:pt x="49" y="269"/>
                  </a:lnTo>
                  <a:lnTo>
                    <a:pt x="61" y="278"/>
                  </a:lnTo>
                  <a:lnTo>
                    <a:pt x="75" y="283"/>
                  </a:lnTo>
                  <a:lnTo>
                    <a:pt x="91" y="285"/>
                  </a:lnTo>
                </a:path>
              </a:pathLst>
            </a:custGeom>
            <a:noFill/>
            <a:ln w="1116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Rectangle 24"/>
            <p:cNvSpPr>
              <a:spLocks noChangeArrowheads="1"/>
            </p:cNvSpPr>
            <p:nvPr/>
          </p:nvSpPr>
          <p:spPr bwMode="auto">
            <a:xfrm>
              <a:off x="3488" y="1406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3528" y="140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h</a:t>
              </a:r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3561" y="1406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3572" y="140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3589" y="140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3605" y="1406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3480" y="1482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l</a:t>
              </a: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3493" y="14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3526" y="148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f</a:t>
              </a:r>
            </a:p>
          </p:txBody>
        </p:sp>
        <p:sp>
          <p:nvSpPr>
            <p:cNvPr id="34" name="Rectangle 33"/>
            <p:cNvSpPr>
              <a:spLocks noChangeArrowheads="1"/>
            </p:cNvSpPr>
            <p:nvPr/>
          </p:nvSpPr>
          <p:spPr bwMode="auto">
            <a:xfrm>
              <a:off x="3542" y="148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3558" y="148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36" name="Rectangle 35"/>
            <p:cNvSpPr>
              <a:spLocks noChangeArrowheads="1"/>
            </p:cNvSpPr>
            <p:nvPr/>
          </p:nvSpPr>
          <p:spPr bwMode="auto">
            <a:xfrm>
              <a:off x="3572" y="14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37" name="Freeform 36"/>
            <p:cNvSpPr>
              <a:spLocks noChangeArrowheads="1"/>
            </p:cNvSpPr>
            <p:nvPr/>
          </p:nvSpPr>
          <p:spPr bwMode="auto">
            <a:xfrm>
              <a:off x="3143" y="1482"/>
              <a:ext cx="292" cy="1893"/>
            </a:xfrm>
            <a:custGeom>
              <a:avLst/>
              <a:gdLst>
                <a:gd name="T0" fmla="*/ 0 w 292"/>
                <a:gd name="T1" fmla="*/ 1698 h 1698"/>
                <a:gd name="T2" fmla="*/ 215 w 292"/>
                <a:gd name="T3" fmla="*/ 1698 h 1698"/>
                <a:gd name="T4" fmla="*/ 215 w 292"/>
                <a:gd name="T5" fmla="*/ 0 h 1698"/>
                <a:gd name="T6" fmla="*/ 292 w 292"/>
                <a:gd name="T7" fmla="*/ 0 h 169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92"/>
                <a:gd name="T13" fmla="*/ 0 h 1698"/>
                <a:gd name="T14" fmla="*/ 292 w 292"/>
                <a:gd name="T15" fmla="*/ 1698 h 169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92" h="1698">
                  <a:moveTo>
                    <a:pt x="0" y="1698"/>
                  </a:moveTo>
                  <a:lnTo>
                    <a:pt x="215" y="1698"/>
                  </a:lnTo>
                  <a:lnTo>
                    <a:pt x="215" y="0"/>
                  </a:lnTo>
                  <a:lnTo>
                    <a:pt x="292" y="0"/>
                  </a:lnTo>
                </a:path>
              </a:pathLst>
            </a:custGeom>
            <a:noFill/>
            <a:ln w="1908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8" name="Freeform 37"/>
            <p:cNvSpPr>
              <a:spLocks noChangeArrowheads="1"/>
            </p:cNvSpPr>
            <p:nvPr/>
          </p:nvSpPr>
          <p:spPr bwMode="auto">
            <a:xfrm>
              <a:off x="1614" y="2698"/>
              <a:ext cx="815" cy="677"/>
            </a:xfrm>
            <a:custGeom>
              <a:avLst/>
              <a:gdLst>
                <a:gd name="T0" fmla="*/ 815 w 815"/>
                <a:gd name="T1" fmla="*/ 607 h 607"/>
                <a:gd name="T2" fmla="*/ 0 w 815"/>
                <a:gd name="T3" fmla="*/ 607 h 607"/>
                <a:gd name="T4" fmla="*/ 0 w 815"/>
                <a:gd name="T5" fmla="*/ 0 h 607"/>
                <a:gd name="T6" fmla="*/ 0 60000 65536"/>
                <a:gd name="T7" fmla="*/ 0 60000 65536"/>
                <a:gd name="T8" fmla="*/ 0 60000 65536"/>
                <a:gd name="T9" fmla="*/ 0 w 815"/>
                <a:gd name="T10" fmla="*/ 0 h 607"/>
                <a:gd name="T11" fmla="*/ 815 w 815"/>
                <a:gd name="T12" fmla="*/ 607 h 6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15" h="607">
                  <a:moveTo>
                    <a:pt x="815" y="607"/>
                  </a:moveTo>
                  <a:lnTo>
                    <a:pt x="0" y="607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" name="Freeform 38"/>
            <p:cNvSpPr>
              <a:spLocks noChangeArrowheads="1"/>
            </p:cNvSpPr>
            <p:nvPr/>
          </p:nvSpPr>
          <p:spPr bwMode="auto">
            <a:xfrm>
              <a:off x="4172" y="2778"/>
              <a:ext cx="908" cy="546"/>
            </a:xfrm>
            <a:custGeom>
              <a:avLst/>
              <a:gdLst>
                <a:gd name="T0" fmla="*/ 908 w 908"/>
                <a:gd name="T1" fmla="*/ 257 h 490"/>
                <a:gd name="T2" fmla="*/ 840 w 908"/>
                <a:gd name="T3" fmla="*/ 259 h 490"/>
                <a:gd name="T4" fmla="*/ 840 w 908"/>
                <a:gd name="T5" fmla="*/ 490 h 490"/>
                <a:gd name="T6" fmla="*/ 0 w 908"/>
                <a:gd name="T7" fmla="*/ 490 h 490"/>
                <a:gd name="T8" fmla="*/ 0 w 908"/>
                <a:gd name="T9" fmla="*/ 0 h 4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08"/>
                <a:gd name="T16" fmla="*/ 0 h 490"/>
                <a:gd name="T17" fmla="*/ 908 w 908"/>
                <a:gd name="T18" fmla="*/ 490 h 4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08" h="490">
                  <a:moveTo>
                    <a:pt x="908" y="257"/>
                  </a:moveTo>
                  <a:lnTo>
                    <a:pt x="840" y="259"/>
                  </a:lnTo>
                  <a:lnTo>
                    <a:pt x="840" y="490"/>
                  </a:lnTo>
                  <a:lnTo>
                    <a:pt x="0" y="490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0" name="Freeform 39"/>
            <p:cNvSpPr>
              <a:spLocks noChangeArrowheads="1"/>
            </p:cNvSpPr>
            <p:nvPr/>
          </p:nvSpPr>
          <p:spPr bwMode="auto">
            <a:xfrm>
              <a:off x="4258" y="1532"/>
              <a:ext cx="180" cy="166"/>
            </a:xfrm>
            <a:custGeom>
              <a:avLst/>
              <a:gdLst>
                <a:gd name="T0" fmla="*/ 108 w 180"/>
                <a:gd name="T1" fmla="*/ 149 h 149"/>
                <a:gd name="T2" fmla="*/ 119 w 180"/>
                <a:gd name="T3" fmla="*/ 149 h 149"/>
                <a:gd name="T4" fmla="*/ 131 w 180"/>
                <a:gd name="T5" fmla="*/ 147 h 149"/>
                <a:gd name="T6" fmla="*/ 143 w 180"/>
                <a:gd name="T7" fmla="*/ 142 h 149"/>
                <a:gd name="T8" fmla="*/ 152 w 180"/>
                <a:gd name="T9" fmla="*/ 135 h 149"/>
                <a:gd name="T10" fmla="*/ 159 w 180"/>
                <a:gd name="T11" fmla="*/ 128 h 149"/>
                <a:gd name="T12" fmla="*/ 166 w 180"/>
                <a:gd name="T13" fmla="*/ 119 h 149"/>
                <a:gd name="T14" fmla="*/ 173 w 180"/>
                <a:gd name="T15" fmla="*/ 110 h 149"/>
                <a:gd name="T16" fmla="*/ 178 w 180"/>
                <a:gd name="T17" fmla="*/ 98 h 149"/>
                <a:gd name="T18" fmla="*/ 180 w 180"/>
                <a:gd name="T19" fmla="*/ 86 h 149"/>
                <a:gd name="T20" fmla="*/ 180 w 180"/>
                <a:gd name="T21" fmla="*/ 75 h 149"/>
                <a:gd name="T22" fmla="*/ 180 w 180"/>
                <a:gd name="T23" fmla="*/ 63 h 149"/>
                <a:gd name="T24" fmla="*/ 178 w 180"/>
                <a:gd name="T25" fmla="*/ 51 h 149"/>
                <a:gd name="T26" fmla="*/ 173 w 180"/>
                <a:gd name="T27" fmla="*/ 39 h 149"/>
                <a:gd name="T28" fmla="*/ 166 w 180"/>
                <a:gd name="T29" fmla="*/ 30 h 149"/>
                <a:gd name="T30" fmla="*/ 159 w 180"/>
                <a:gd name="T31" fmla="*/ 21 h 149"/>
                <a:gd name="T32" fmla="*/ 152 w 180"/>
                <a:gd name="T33" fmla="*/ 14 h 149"/>
                <a:gd name="T34" fmla="*/ 143 w 180"/>
                <a:gd name="T35" fmla="*/ 7 h 149"/>
                <a:gd name="T36" fmla="*/ 131 w 180"/>
                <a:gd name="T37" fmla="*/ 2 h 149"/>
                <a:gd name="T38" fmla="*/ 119 w 180"/>
                <a:gd name="T39" fmla="*/ 0 h 149"/>
                <a:gd name="T40" fmla="*/ 108 w 180"/>
                <a:gd name="T41" fmla="*/ 0 h 149"/>
                <a:gd name="T42" fmla="*/ 0 w 180"/>
                <a:gd name="T43" fmla="*/ 0 h 149"/>
                <a:gd name="T44" fmla="*/ 0 w 180"/>
                <a:gd name="T45" fmla="*/ 149 h 149"/>
                <a:gd name="T46" fmla="*/ 108 w 180"/>
                <a:gd name="T47" fmla="*/ 149 h 149"/>
                <a:gd name="T48" fmla="*/ 108 w 180"/>
                <a:gd name="T49" fmla="*/ 149 h 14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80"/>
                <a:gd name="T76" fmla="*/ 0 h 149"/>
                <a:gd name="T77" fmla="*/ 180 w 180"/>
                <a:gd name="T78" fmla="*/ 149 h 149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80" h="149">
                  <a:moveTo>
                    <a:pt x="108" y="149"/>
                  </a:moveTo>
                  <a:lnTo>
                    <a:pt x="119" y="149"/>
                  </a:lnTo>
                  <a:lnTo>
                    <a:pt x="131" y="147"/>
                  </a:lnTo>
                  <a:lnTo>
                    <a:pt x="143" y="142"/>
                  </a:lnTo>
                  <a:lnTo>
                    <a:pt x="152" y="135"/>
                  </a:lnTo>
                  <a:lnTo>
                    <a:pt x="159" y="128"/>
                  </a:lnTo>
                  <a:lnTo>
                    <a:pt x="166" y="119"/>
                  </a:lnTo>
                  <a:lnTo>
                    <a:pt x="173" y="110"/>
                  </a:lnTo>
                  <a:lnTo>
                    <a:pt x="178" y="98"/>
                  </a:lnTo>
                  <a:lnTo>
                    <a:pt x="180" y="86"/>
                  </a:lnTo>
                  <a:lnTo>
                    <a:pt x="180" y="75"/>
                  </a:lnTo>
                  <a:lnTo>
                    <a:pt x="180" y="63"/>
                  </a:lnTo>
                  <a:lnTo>
                    <a:pt x="178" y="51"/>
                  </a:lnTo>
                  <a:lnTo>
                    <a:pt x="173" y="39"/>
                  </a:lnTo>
                  <a:lnTo>
                    <a:pt x="166" y="30"/>
                  </a:lnTo>
                  <a:lnTo>
                    <a:pt x="159" y="21"/>
                  </a:lnTo>
                  <a:lnTo>
                    <a:pt x="152" y="14"/>
                  </a:lnTo>
                  <a:lnTo>
                    <a:pt x="143" y="7"/>
                  </a:lnTo>
                  <a:lnTo>
                    <a:pt x="131" y="2"/>
                  </a:lnTo>
                  <a:lnTo>
                    <a:pt x="119" y="0"/>
                  </a:lnTo>
                  <a:lnTo>
                    <a:pt x="108" y="0"/>
                  </a:lnTo>
                  <a:lnTo>
                    <a:pt x="0" y="0"/>
                  </a:lnTo>
                  <a:lnTo>
                    <a:pt x="0" y="149"/>
                  </a:lnTo>
                  <a:lnTo>
                    <a:pt x="108" y="14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Freeform 40"/>
            <p:cNvSpPr>
              <a:spLocks noChangeArrowheads="1"/>
            </p:cNvSpPr>
            <p:nvPr/>
          </p:nvSpPr>
          <p:spPr bwMode="auto">
            <a:xfrm>
              <a:off x="4258" y="1532"/>
              <a:ext cx="180" cy="166"/>
            </a:xfrm>
            <a:custGeom>
              <a:avLst/>
              <a:gdLst>
                <a:gd name="T0" fmla="*/ 108 w 180"/>
                <a:gd name="T1" fmla="*/ 149 h 149"/>
                <a:gd name="T2" fmla="*/ 119 w 180"/>
                <a:gd name="T3" fmla="*/ 149 h 149"/>
                <a:gd name="T4" fmla="*/ 131 w 180"/>
                <a:gd name="T5" fmla="*/ 147 h 149"/>
                <a:gd name="T6" fmla="*/ 143 w 180"/>
                <a:gd name="T7" fmla="*/ 142 h 149"/>
                <a:gd name="T8" fmla="*/ 152 w 180"/>
                <a:gd name="T9" fmla="*/ 135 h 149"/>
                <a:gd name="T10" fmla="*/ 159 w 180"/>
                <a:gd name="T11" fmla="*/ 128 h 149"/>
                <a:gd name="T12" fmla="*/ 166 w 180"/>
                <a:gd name="T13" fmla="*/ 119 h 149"/>
                <a:gd name="T14" fmla="*/ 173 w 180"/>
                <a:gd name="T15" fmla="*/ 110 h 149"/>
                <a:gd name="T16" fmla="*/ 178 w 180"/>
                <a:gd name="T17" fmla="*/ 98 h 149"/>
                <a:gd name="T18" fmla="*/ 180 w 180"/>
                <a:gd name="T19" fmla="*/ 86 h 149"/>
                <a:gd name="T20" fmla="*/ 180 w 180"/>
                <a:gd name="T21" fmla="*/ 75 h 149"/>
                <a:gd name="T22" fmla="*/ 180 w 180"/>
                <a:gd name="T23" fmla="*/ 63 h 149"/>
                <a:gd name="T24" fmla="*/ 178 w 180"/>
                <a:gd name="T25" fmla="*/ 51 h 149"/>
                <a:gd name="T26" fmla="*/ 173 w 180"/>
                <a:gd name="T27" fmla="*/ 39 h 149"/>
                <a:gd name="T28" fmla="*/ 166 w 180"/>
                <a:gd name="T29" fmla="*/ 30 h 149"/>
                <a:gd name="T30" fmla="*/ 159 w 180"/>
                <a:gd name="T31" fmla="*/ 21 h 149"/>
                <a:gd name="T32" fmla="*/ 152 w 180"/>
                <a:gd name="T33" fmla="*/ 14 h 149"/>
                <a:gd name="T34" fmla="*/ 143 w 180"/>
                <a:gd name="T35" fmla="*/ 7 h 149"/>
                <a:gd name="T36" fmla="*/ 131 w 180"/>
                <a:gd name="T37" fmla="*/ 2 h 149"/>
                <a:gd name="T38" fmla="*/ 119 w 180"/>
                <a:gd name="T39" fmla="*/ 0 h 149"/>
                <a:gd name="T40" fmla="*/ 108 w 180"/>
                <a:gd name="T41" fmla="*/ 0 h 149"/>
                <a:gd name="T42" fmla="*/ 0 w 180"/>
                <a:gd name="T43" fmla="*/ 0 h 149"/>
                <a:gd name="T44" fmla="*/ 0 w 180"/>
                <a:gd name="T45" fmla="*/ 149 h 149"/>
                <a:gd name="T46" fmla="*/ 108 w 180"/>
                <a:gd name="T47" fmla="*/ 149 h 149"/>
                <a:gd name="T48" fmla="*/ 108 w 180"/>
                <a:gd name="T49" fmla="*/ 149 h 149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180"/>
                <a:gd name="T76" fmla="*/ 0 h 149"/>
                <a:gd name="T77" fmla="*/ 180 w 180"/>
                <a:gd name="T78" fmla="*/ 149 h 149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180" h="149">
                  <a:moveTo>
                    <a:pt x="108" y="149"/>
                  </a:moveTo>
                  <a:lnTo>
                    <a:pt x="119" y="149"/>
                  </a:lnTo>
                  <a:lnTo>
                    <a:pt x="131" y="147"/>
                  </a:lnTo>
                  <a:lnTo>
                    <a:pt x="143" y="142"/>
                  </a:lnTo>
                  <a:lnTo>
                    <a:pt x="152" y="135"/>
                  </a:lnTo>
                  <a:lnTo>
                    <a:pt x="159" y="128"/>
                  </a:lnTo>
                  <a:lnTo>
                    <a:pt x="166" y="119"/>
                  </a:lnTo>
                  <a:lnTo>
                    <a:pt x="173" y="110"/>
                  </a:lnTo>
                  <a:lnTo>
                    <a:pt x="178" y="98"/>
                  </a:lnTo>
                  <a:lnTo>
                    <a:pt x="180" y="86"/>
                  </a:lnTo>
                  <a:lnTo>
                    <a:pt x="180" y="75"/>
                  </a:lnTo>
                  <a:lnTo>
                    <a:pt x="180" y="63"/>
                  </a:lnTo>
                  <a:lnTo>
                    <a:pt x="178" y="51"/>
                  </a:lnTo>
                  <a:lnTo>
                    <a:pt x="173" y="39"/>
                  </a:lnTo>
                  <a:lnTo>
                    <a:pt x="166" y="30"/>
                  </a:lnTo>
                  <a:lnTo>
                    <a:pt x="159" y="21"/>
                  </a:lnTo>
                  <a:lnTo>
                    <a:pt x="152" y="14"/>
                  </a:lnTo>
                  <a:lnTo>
                    <a:pt x="143" y="7"/>
                  </a:lnTo>
                  <a:lnTo>
                    <a:pt x="131" y="2"/>
                  </a:lnTo>
                  <a:lnTo>
                    <a:pt x="119" y="0"/>
                  </a:lnTo>
                  <a:lnTo>
                    <a:pt x="108" y="0"/>
                  </a:lnTo>
                  <a:lnTo>
                    <a:pt x="0" y="0"/>
                  </a:lnTo>
                  <a:lnTo>
                    <a:pt x="0" y="149"/>
                  </a:lnTo>
                  <a:lnTo>
                    <a:pt x="108" y="149"/>
                  </a:lnTo>
                </a:path>
              </a:pathLst>
            </a:custGeom>
            <a:noFill/>
            <a:ln w="11160">
              <a:solidFill>
                <a:srgbClr val="F3AA6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" name="Freeform 41"/>
            <p:cNvSpPr>
              <a:spLocks noChangeArrowheads="1"/>
            </p:cNvSpPr>
            <p:nvPr/>
          </p:nvSpPr>
          <p:spPr bwMode="auto">
            <a:xfrm>
              <a:off x="2179" y="2679"/>
              <a:ext cx="30" cy="31"/>
            </a:xfrm>
            <a:custGeom>
              <a:avLst/>
              <a:gdLst>
                <a:gd name="T0" fmla="*/ 0 w 30"/>
                <a:gd name="T1" fmla="*/ 0 h 28"/>
                <a:gd name="T2" fmla="*/ 2 w 30"/>
                <a:gd name="T3" fmla="*/ 28 h 28"/>
                <a:gd name="T4" fmla="*/ 30 w 30"/>
                <a:gd name="T5" fmla="*/ 14 h 28"/>
                <a:gd name="T6" fmla="*/ 2 w 30"/>
                <a:gd name="T7" fmla="*/ 0 h 28"/>
                <a:gd name="T8" fmla="*/ 2 w 30"/>
                <a:gd name="T9" fmla="*/ 0 h 28"/>
                <a:gd name="T10" fmla="*/ 0 w 30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"/>
                <a:gd name="T19" fmla="*/ 0 h 28"/>
                <a:gd name="T20" fmla="*/ 30 w 30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" h="28">
                  <a:moveTo>
                    <a:pt x="0" y="0"/>
                  </a:moveTo>
                  <a:lnTo>
                    <a:pt x="2" y="28"/>
                  </a:lnTo>
                  <a:lnTo>
                    <a:pt x="30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" name="Freeform 42"/>
            <p:cNvSpPr>
              <a:spLocks noChangeArrowheads="1"/>
            </p:cNvSpPr>
            <p:nvPr/>
          </p:nvSpPr>
          <p:spPr bwMode="auto">
            <a:xfrm>
              <a:off x="2083" y="2599"/>
              <a:ext cx="110" cy="96"/>
            </a:xfrm>
            <a:custGeom>
              <a:avLst/>
              <a:gdLst>
                <a:gd name="T0" fmla="*/ 110 w 110"/>
                <a:gd name="T1" fmla="*/ 86 h 86"/>
                <a:gd name="T2" fmla="*/ 0 w 110"/>
                <a:gd name="T3" fmla="*/ 86 h 86"/>
                <a:gd name="T4" fmla="*/ 0 w 110"/>
                <a:gd name="T5" fmla="*/ 0 h 86"/>
                <a:gd name="T6" fmla="*/ 0 60000 65536"/>
                <a:gd name="T7" fmla="*/ 0 60000 65536"/>
                <a:gd name="T8" fmla="*/ 0 60000 65536"/>
                <a:gd name="T9" fmla="*/ 0 w 110"/>
                <a:gd name="T10" fmla="*/ 0 h 86"/>
                <a:gd name="T11" fmla="*/ 110 w 110"/>
                <a:gd name="T12" fmla="*/ 86 h 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0" h="86">
                  <a:moveTo>
                    <a:pt x="110" y="86"/>
                  </a:moveTo>
                  <a:lnTo>
                    <a:pt x="0" y="86"/>
                  </a:lnTo>
                  <a:lnTo>
                    <a:pt x="0" y="0"/>
                  </a:lnTo>
                </a:path>
              </a:pathLst>
            </a:custGeom>
            <a:noFill/>
            <a:ln w="1908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Freeform 43"/>
            <p:cNvSpPr>
              <a:spLocks noChangeArrowheads="1"/>
            </p:cNvSpPr>
            <p:nvPr/>
          </p:nvSpPr>
          <p:spPr bwMode="auto">
            <a:xfrm>
              <a:off x="2179" y="2968"/>
              <a:ext cx="30" cy="32"/>
            </a:xfrm>
            <a:custGeom>
              <a:avLst/>
              <a:gdLst>
                <a:gd name="T0" fmla="*/ 0 w 30"/>
                <a:gd name="T1" fmla="*/ 0 h 28"/>
                <a:gd name="T2" fmla="*/ 2 w 30"/>
                <a:gd name="T3" fmla="*/ 28 h 28"/>
                <a:gd name="T4" fmla="*/ 30 w 30"/>
                <a:gd name="T5" fmla="*/ 14 h 28"/>
                <a:gd name="T6" fmla="*/ 2 w 30"/>
                <a:gd name="T7" fmla="*/ 0 h 28"/>
                <a:gd name="T8" fmla="*/ 2 w 30"/>
                <a:gd name="T9" fmla="*/ 0 h 28"/>
                <a:gd name="T10" fmla="*/ 0 w 30"/>
                <a:gd name="T11" fmla="*/ 0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0"/>
                <a:gd name="T19" fmla="*/ 0 h 28"/>
                <a:gd name="T20" fmla="*/ 30 w 30"/>
                <a:gd name="T21" fmla="*/ 28 h 2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0" h="28">
                  <a:moveTo>
                    <a:pt x="0" y="0"/>
                  </a:moveTo>
                  <a:lnTo>
                    <a:pt x="2" y="28"/>
                  </a:lnTo>
                  <a:lnTo>
                    <a:pt x="30" y="14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5" name="Line 44"/>
            <p:cNvSpPr>
              <a:spLocks noChangeShapeType="1"/>
            </p:cNvSpPr>
            <p:nvPr/>
          </p:nvSpPr>
          <p:spPr bwMode="auto">
            <a:xfrm flipH="1">
              <a:off x="1613" y="2984"/>
              <a:ext cx="581" cy="1"/>
            </a:xfrm>
            <a:prstGeom prst="line">
              <a:avLst/>
            </a:prstGeom>
            <a:noFill/>
            <a:ln w="1908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5"/>
            <p:cNvSpPr>
              <a:spLocks noChangeArrowheads="1"/>
            </p:cNvSpPr>
            <p:nvPr/>
          </p:nvSpPr>
          <p:spPr bwMode="auto">
            <a:xfrm>
              <a:off x="2461" y="2776"/>
              <a:ext cx="31" cy="31"/>
            </a:xfrm>
            <a:custGeom>
              <a:avLst/>
              <a:gdLst>
                <a:gd name="T0" fmla="*/ 0 w 31"/>
                <a:gd name="T1" fmla="*/ 0 h 28"/>
                <a:gd name="T2" fmla="*/ 0 w 31"/>
                <a:gd name="T3" fmla="*/ 28 h 28"/>
                <a:gd name="T4" fmla="*/ 31 w 31"/>
                <a:gd name="T5" fmla="*/ 14 h 28"/>
                <a:gd name="T6" fmla="*/ 0 w 31"/>
                <a:gd name="T7" fmla="*/ 0 h 28"/>
                <a:gd name="T8" fmla="*/ 0 w 31"/>
                <a:gd name="T9" fmla="*/ 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1"/>
                <a:gd name="T16" fmla="*/ 0 h 28"/>
                <a:gd name="T17" fmla="*/ 31 w 31"/>
                <a:gd name="T18" fmla="*/ 28 h 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1" h="28">
                  <a:moveTo>
                    <a:pt x="0" y="0"/>
                  </a:moveTo>
                  <a:lnTo>
                    <a:pt x="0" y="28"/>
                  </a:lnTo>
                  <a:lnTo>
                    <a:pt x="31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666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46"/>
            <p:cNvSpPr>
              <a:spLocks noChangeShapeType="1"/>
            </p:cNvSpPr>
            <p:nvPr/>
          </p:nvSpPr>
          <p:spPr bwMode="auto">
            <a:xfrm flipH="1">
              <a:off x="2320" y="2791"/>
              <a:ext cx="152" cy="1"/>
            </a:xfrm>
            <a:prstGeom prst="line">
              <a:avLst/>
            </a:prstGeom>
            <a:noFill/>
            <a:ln w="1908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Line 47"/>
            <p:cNvSpPr>
              <a:spLocks noChangeShapeType="1"/>
            </p:cNvSpPr>
            <p:nvPr/>
          </p:nvSpPr>
          <p:spPr bwMode="auto">
            <a:xfrm flipH="1">
              <a:off x="4085" y="2778"/>
              <a:ext cx="151" cy="1"/>
            </a:xfrm>
            <a:prstGeom prst="line">
              <a:avLst/>
            </a:prstGeom>
            <a:noFill/>
            <a:ln w="1908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8"/>
            <p:cNvSpPr>
              <a:spLocks noChangeArrowheads="1"/>
            </p:cNvSpPr>
            <p:nvPr/>
          </p:nvSpPr>
          <p:spPr bwMode="auto">
            <a:xfrm>
              <a:off x="3724" y="2372"/>
              <a:ext cx="359" cy="646"/>
            </a:xfrm>
            <a:custGeom>
              <a:avLst/>
              <a:gdLst>
                <a:gd name="T0" fmla="*/ 0 w 359"/>
                <a:gd name="T1" fmla="*/ 0 h 579"/>
                <a:gd name="T2" fmla="*/ 2 w 359"/>
                <a:gd name="T3" fmla="*/ 233 h 579"/>
                <a:gd name="T4" fmla="*/ 61 w 359"/>
                <a:gd name="T5" fmla="*/ 289 h 579"/>
                <a:gd name="T6" fmla="*/ 2 w 359"/>
                <a:gd name="T7" fmla="*/ 345 h 579"/>
                <a:gd name="T8" fmla="*/ 2 w 359"/>
                <a:gd name="T9" fmla="*/ 579 h 579"/>
                <a:gd name="T10" fmla="*/ 359 w 359"/>
                <a:gd name="T11" fmla="*/ 401 h 579"/>
                <a:gd name="T12" fmla="*/ 359 w 359"/>
                <a:gd name="T13" fmla="*/ 177 h 579"/>
                <a:gd name="T14" fmla="*/ 2 w 359"/>
                <a:gd name="T15" fmla="*/ 0 h 579"/>
                <a:gd name="T16" fmla="*/ 2 w 359"/>
                <a:gd name="T17" fmla="*/ 0 h 579"/>
                <a:gd name="T18" fmla="*/ 0 w 359"/>
                <a:gd name="T19" fmla="*/ 0 h 57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359"/>
                <a:gd name="T31" fmla="*/ 0 h 579"/>
                <a:gd name="T32" fmla="*/ 359 w 359"/>
                <a:gd name="T33" fmla="*/ 579 h 57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359" h="579">
                  <a:moveTo>
                    <a:pt x="0" y="0"/>
                  </a:moveTo>
                  <a:lnTo>
                    <a:pt x="2" y="233"/>
                  </a:lnTo>
                  <a:lnTo>
                    <a:pt x="61" y="289"/>
                  </a:lnTo>
                  <a:lnTo>
                    <a:pt x="2" y="345"/>
                  </a:lnTo>
                  <a:lnTo>
                    <a:pt x="2" y="579"/>
                  </a:lnTo>
                  <a:lnTo>
                    <a:pt x="359" y="401"/>
                  </a:lnTo>
                  <a:lnTo>
                    <a:pt x="359" y="177"/>
                  </a:lnTo>
                  <a:lnTo>
                    <a:pt x="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" name="Freeform 49"/>
            <p:cNvSpPr>
              <a:spLocks noChangeArrowheads="1"/>
            </p:cNvSpPr>
            <p:nvPr/>
          </p:nvSpPr>
          <p:spPr bwMode="auto">
            <a:xfrm>
              <a:off x="3724" y="2372"/>
              <a:ext cx="359" cy="646"/>
            </a:xfrm>
            <a:custGeom>
              <a:avLst/>
              <a:gdLst>
                <a:gd name="T0" fmla="*/ 0 w 359"/>
                <a:gd name="T1" fmla="*/ 0 h 579"/>
                <a:gd name="T2" fmla="*/ 2 w 359"/>
                <a:gd name="T3" fmla="*/ 233 h 579"/>
                <a:gd name="T4" fmla="*/ 61 w 359"/>
                <a:gd name="T5" fmla="*/ 289 h 579"/>
                <a:gd name="T6" fmla="*/ 2 w 359"/>
                <a:gd name="T7" fmla="*/ 345 h 579"/>
                <a:gd name="T8" fmla="*/ 2 w 359"/>
                <a:gd name="T9" fmla="*/ 579 h 579"/>
                <a:gd name="T10" fmla="*/ 359 w 359"/>
                <a:gd name="T11" fmla="*/ 401 h 579"/>
                <a:gd name="T12" fmla="*/ 359 w 359"/>
                <a:gd name="T13" fmla="*/ 177 h 579"/>
                <a:gd name="T14" fmla="*/ 2 w 359"/>
                <a:gd name="T15" fmla="*/ 0 h 579"/>
                <a:gd name="T16" fmla="*/ 2 w 359"/>
                <a:gd name="T17" fmla="*/ 0 h 5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9"/>
                <a:gd name="T28" fmla="*/ 0 h 579"/>
                <a:gd name="T29" fmla="*/ 359 w 359"/>
                <a:gd name="T30" fmla="*/ 579 h 57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9" h="579">
                  <a:moveTo>
                    <a:pt x="0" y="0"/>
                  </a:moveTo>
                  <a:lnTo>
                    <a:pt x="2" y="233"/>
                  </a:lnTo>
                  <a:lnTo>
                    <a:pt x="61" y="289"/>
                  </a:lnTo>
                  <a:lnTo>
                    <a:pt x="2" y="345"/>
                  </a:lnTo>
                  <a:lnTo>
                    <a:pt x="2" y="579"/>
                  </a:lnTo>
                  <a:lnTo>
                    <a:pt x="359" y="401"/>
                  </a:lnTo>
                  <a:lnTo>
                    <a:pt x="359" y="177"/>
                  </a:lnTo>
                  <a:lnTo>
                    <a:pt x="2" y="0"/>
                  </a:lnTo>
                </a:path>
              </a:pathLst>
            </a:custGeom>
            <a:noFill/>
            <a:ln w="1116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1" name="Line 50"/>
            <p:cNvSpPr>
              <a:spLocks noChangeShapeType="1"/>
            </p:cNvSpPr>
            <p:nvPr/>
          </p:nvSpPr>
          <p:spPr bwMode="auto">
            <a:xfrm flipH="1" flipV="1">
              <a:off x="2806" y="3331"/>
              <a:ext cx="44" cy="85"/>
            </a:xfrm>
            <a:prstGeom prst="line">
              <a:avLst/>
            </a:prstGeom>
            <a:noFill/>
            <a:ln w="11160">
              <a:solidFill>
                <a:srgbClr val="6666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51"/>
            <p:cNvSpPr>
              <a:spLocks noChangeShapeType="1"/>
            </p:cNvSpPr>
            <p:nvPr/>
          </p:nvSpPr>
          <p:spPr bwMode="auto">
            <a:xfrm flipH="1" flipV="1">
              <a:off x="1970" y="781"/>
              <a:ext cx="44" cy="85"/>
            </a:xfrm>
            <a:prstGeom prst="line">
              <a:avLst/>
            </a:prstGeom>
            <a:noFill/>
            <a:ln w="11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52"/>
            <p:cNvSpPr>
              <a:spLocks noChangeShapeType="1"/>
            </p:cNvSpPr>
            <p:nvPr/>
          </p:nvSpPr>
          <p:spPr bwMode="auto">
            <a:xfrm flipH="1" flipV="1">
              <a:off x="2241" y="781"/>
              <a:ext cx="44" cy="85"/>
            </a:xfrm>
            <a:prstGeom prst="line">
              <a:avLst/>
            </a:prstGeom>
            <a:noFill/>
            <a:ln w="111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53"/>
            <p:cNvSpPr>
              <a:spLocks noChangeArrowheads="1"/>
            </p:cNvSpPr>
            <p:nvPr/>
          </p:nvSpPr>
          <p:spPr bwMode="auto">
            <a:xfrm>
              <a:off x="471" y="2287"/>
              <a:ext cx="107" cy="336"/>
            </a:xfrm>
            <a:custGeom>
              <a:avLst/>
              <a:gdLst>
                <a:gd name="T0" fmla="*/ 107 w 107"/>
                <a:gd name="T1" fmla="*/ 301 h 301"/>
                <a:gd name="T2" fmla="*/ 107 w 107"/>
                <a:gd name="T3" fmla="*/ 0 h 301"/>
                <a:gd name="T4" fmla="*/ 0 w 107"/>
                <a:gd name="T5" fmla="*/ 0 h 301"/>
                <a:gd name="T6" fmla="*/ 0 w 107"/>
                <a:gd name="T7" fmla="*/ 301 h 301"/>
                <a:gd name="T8" fmla="*/ 107 w 107"/>
                <a:gd name="T9" fmla="*/ 301 h 301"/>
                <a:gd name="T10" fmla="*/ 107 w 107"/>
                <a:gd name="T11" fmla="*/ 301 h 3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7"/>
                <a:gd name="T19" fmla="*/ 0 h 301"/>
                <a:gd name="T20" fmla="*/ 107 w 107"/>
                <a:gd name="T21" fmla="*/ 301 h 30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7" h="301">
                  <a:moveTo>
                    <a:pt x="107" y="301"/>
                  </a:moveTo>
                  <a:lnTo>
                    <a:pt x="107" y="0"/>
                  </a:lnTo>
                  <a:lnTo>
                    <a:pt x="0" y="0"/>
                  </a:lnTo>
                  <a:lnTo>
                    <a:pt x="0" y="301"/>
                  </a:lnTo>
                  <a:lnTo>
                    <a:pt x="107" y="30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5" name="Freeform 54"/>
            <p:cNvSpPr>
              <a:spLocks noChangeArrowheads="1"/>
            </p:cNvSpPr>
            <p:nvPr/>
          </p:nvSpPr>
          <p:spPr bwMode="auto">
            <a:xfrm>
              <a:off x="471" y="2287"/>
              <a:ext cx="107" cy="336"/>
            </a:xfrm>
            <a:custGeom>
              <a:avLst/>
              <a:gdLst>
                <a:gd name="T0" fmla="*/ 107 w 107"/>
                <a:gd name="T1" fmla="*/ 301 h 301"/>
                <a:gd name="T2" fmla="*/ 107 w 107"/>
                <a:gd name="T3" fmla="*/ 0 h 301"/>
                <a:gd name="T4" fmla="*/ 0 w 107"/>
                <a:gd name="T5" fmla="*/ 0 h 301"/>
                <a:gd name="T6" fmla="*/ 0 w 107"/>
                <a:gd name="T7" fmla="*/ 301 h 301"/>
                <a:gd name="T8" fmla="*/ 107 w 107"/>
                <a:gd name="T9" fmla="*/ 301 h 301"/>
                <a:gd name="T10" fmla="*/ 107 w 107"/>
                <a:gd name="T11" fmla="*/ 301 h 3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7"/>
                <a:gd name="T19" fmla="*/ 0 h 301"/>
                <a:gd name="T20" fmla="*/ 107 w 107"/>
                <a:gd name="T21" fmla="*/ 301 h 301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7" h="301">
                  <a:moveTo>
                    <a:pt x="107" y="301"/>
                  </a:moveTo>
                  <a:lnTo>
                    <a:pt x="107" y="0"/>
                  </a:lnTo>
                  <a:lnTo>
                    <a:pt x="0" y="0"/>
                  </a:lnTo>
                  <a:lnTo>
                    <a:pt x="0" y="301"/>
                  </a:lnTo>
                  <a:lnTo>
                    <a:pt x="107" y="301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6" name="Rectangle 55"/>
            <p:cNvSpPr>
              <a:spLocks noChangeArrowheads="1"/>
            </p:cNvSpPr>
            <p:nvPr/>
          </p:nvSpPr>
          <p:spPr bwMode="auto">
            <a:xfrm>
              <a:off x="487" y="2416"/>
              <a:ext cx="3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P</a:t>
              </a:r>
            </a:p>
          </p:txBody>
        </p:sp>
        <p:sp>
          <p:nvSpPr>
            <p:cNvPr id="57" name="Rectangle 56"/>
            <p:cNvSpPr>
              <a:spLocks noChangeArrowheads="1"/>
            </p:cNvSpPr>
            <p:nvPr/>
          </p:nvSpPr>
          <p:spPr bwMode="auto">
            <a:xfrm>
              <a:off x="524" y="2416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58" name="Line 57"/>
            <p:cNvSpPr>
              <a:spLocks noChangeShapeType="1"/>
            </p:cNvSpPr>
            <p:nvPr/>
          </p:nvSpPr>
          <p:spPr bwMode="auto">
            <a:xfrm>
              <a:off x="1418" y="2695"/>
              <a:ext cx="196" cy="1"/>
            </a:xfrm>
            <a:prstGeom prst="line">
              <a:avLst/>
            </a:prstGeom>
            <a:noFill/>
            <a:ln w="1908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8"/>
            <p:cNvSpPr>
              <a:spLocks noChangeArrowheads="1"/>
            </p:cNvSpPr>
            <p:nvPr/>
          </p:nvSpPr>
          <p:spPr bwMode="auto">
            <a:xfrm>
              <a:off x="772" y="2318"/>
              <a:ext cx="649" cy="755"/>
            </a:xfrm>
            <a:custGeom>
              <a:avLst/>
              <a:gdLst>
                <a:gd name="T0" fmla="*/ 646 w 649"/>
                <a:gd name="T1" fmla="*/ 677 h 677"/>
                <a:gd name="T2" fmla="*/ 649 w 649"/>
                <a:gd name="T3" fmla="*/ 0 h 677"/>
                <a:gd name="T4" fmla="*/ 0 w 649"/>
                <a:gd name="T5" fmla="*/ 0 h 677"/>
                <a:gd name="T6" fmla="*/ 0 w 649"/>
                <a:gd name="T7" fmla="*/ 677 h 677"/>
                <a:gd name="T8" fmla="*/ 649 w 649"/>
                <a:gd name="T9" fmla="*/ 677 h 677"/>
                <a:gd name="T10" fmla="*/ 649 w 649"/>
                <a:gd name="T11" fmla="*/ 677 h 677"/>
                <a:gd name="T12" fmla="*/ 646 w 649"/>
                <a:gd name="T13" fmla="*/ 677 h 6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9"/>
                <a:gd name="T22" fmla="*/ 0 h 677"/>
                <a:gd name="T23" fmla="*/ 649 w 649"/>
                <a:gd name="T24" fmla="*/ 677 h 6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9" h="677">
                  <a:moveTo>
                    <a:pt x="646" y="677"/>
                  </a:moveTo>
                  <a:lnTo>
                    <a:pt x="649" y="0"/>
                  </a:lnTo>
                  <a:lnTo>
                    <a:pt x="0" y="0"/>
                  </a:lnTo>
                  <a:lnTo>
                    <a:pt x="0" y="677"/>
                  </a:lnTo>
                  <a:lnTo>
                    <a:pt x="649" y="677"/>
                  </a:lnTo>
                  <a:lnTo>
                    <a:pt x="646" y="6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0" name="Freeform 59"/>
            <p:cNvSpPr>
              <a:spLocks noChangeArrowheads="1"/>
            </p:cNvSpPr>
            <p:nvPr/>
          </p:nvSpPr>
          <p:spPr bwMode="auto">
            <a:xfrm>
              <a:off x="772" y="2318"/>
              <a:ext cx="649" cy="755"/>
            </a:xfrm>
            <a:custGeom>
              <a:avLst/>
              <a:gdLst>
                <a:gd name="T0" fmla="*/ 646 w 649"/>
                <a:gd name="T1" fmla="*/ 677 h 677"/>
                <a:gd name="T2" fmla="*/ 649 w 649"/>
                <a:gd name="T3" fmla="*/ 0 h 677"/>
                <a:gd name="T4" fmla="*/ 0 w 649"/>
                <a:gd name="T5" fmla="*/ 0 h 677"/>
                <a:gd name="T6" fmla="*/ 0 w 649"/>
                <a:gd name="T7" fmla="*/ 677 h 677"/>
                <a:gd name="T8" fmla="*/ 649 w 649"/>
                <a:gd name="T9" fmla="*/ 677 h 677"/>
                <a:gd name="T10" fmla="*/ 649 w 649"/>
                <a:gd name="T11" fmla="*/ 677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9"/>
                <a:gd name="T19" fmla="*/ 0 h 677"/>
                <a:gd name="T20" fmla="*/ 649 w 649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9" h="677">
                  <a:moveTo>
                    <a:pt x="646" y="677"/>
                  </a:moveTo>
                  <a:lnTo>
                    <a:pt x="649" y="0"/>
                  </a:lnTo>
                  <a:lnTo>
                    <a:pt x="0" y="0"/>
                  </a:lnTo>
                  <a:lnTo>
                    <a:pt x="0" y="677"/>
                  </a:lnTo>
                  <a:lnTo>
                    <a:pt x="649" y="677"/>
                  </a:lnTo>
                </a:path>
              </a:pathLst>
            </a:custGeom>
            <a:noFill/>
            <a:ln w="1116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Rectangle 60"/>
            <p:cNvSpPr>
              <a:spLocks noChangeArrowheads="1"/>
            </p:cNvSpPr>
            <p:nvPr/>
          </p:nvSpPr>
          <p:spPr bwMode="auto">
            <a:xfrm>
              <a:off x="811" y="2782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62" name="Rectangle 61"/>
            <p:cNvSpPr>
              <a:spLocks noChangeArrowheads="1"/>
            </p:cNvSpPr>
            <p:nvPr/>
          </p:nvSpPr>
          <p:spPr bwMode="auto">
            <a:xfrm>
              <a:off x="825" y="27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63" name="Rectangle 62"/>
            <p:cNvSpPr>
              <a:spLocks noChangeArrowheads="1"/>
            </p:cNvSpPr>
            <p:nvPr/>
          </p:nvSpPr>
          <p:spPr bwMode="auto">
            <a:xfrm>
              <a:off x="858" y="2782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64" name="Rectangle 63"/>
            <p:cNvSpPr>
              <a:spLocks noChangeArrowheads="1"/>
            </p:cNvSpPr>
            <p:nvPr/>
          </p:nvSpPr>
          <p:spPr bwMode="auto">
            <a:xfrm>
              <a:off x="888" y="278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5" name="Rectangle 64"/>
            <p:cNvSpPr>
              <a:spLocks noChangeArrowheads="1"/>
            </p:cNvSpPr>
            <p:nvPr/>
          </p:nvSpPr>
          <p:spPr bwMode="auto">
            <a:xfrm>
              <a:off x="902" y="2782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66" name="Rectangle 65"/>
            <p:cNvSpPr>
              <a:spLocks noChangeArrowheads="1"/>
            </p:cNvSpPr>
            <p:nvPr/>
          </p:nvSpPr>
          <p:spPr bwMode="auto">
            <a:xfrm>
              <a:off x="923" y="27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67" name="Rectangle 66"/>
            <p:cNvSpPr>
              <a:spLocks noChangeArrowheads="1"/>
            </p:cNvSpPr>
            <p:nvPr/>
          </p:nvSpPr>
          <p:spPr bwMode="auto">
            <a:xfrm>
              <a:off x="954" y="2782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68" name="Rectangle 67"/>
            <p:cNvSpPr>
              <a:spLocks noChangeArrowheads="1"/>
            </p:cNvSpPr>
            <p:nvPr/>
          </p:nvSpPr>
          <p:spPr bwMode="auto">
            <a:xfrm>
              <a:off x="984" y="278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69" name="Rectangle 68"/>
            <p:cNvSpPr>
              <a:spLocks noChangeArrowheads="1"/>
            </p:cNvSpPr>
            <p:nvPr/>
          </p:nvSpPr>
          <p:spPr bwMode="auto">
            <a:xfrm>
              <a:off x="998" y="2782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70" name="Rectangle 69"/>
            <p:cNvSpPr>
              <a:spLocks noChangeArrowheads="1"/>
            </p:cNvSpPr>
            <p:nvPr/>
          </p:nvSpPr>
          <p:spPr bwMode="auto">
            <a:xfrm>
              <a:off x="1012" y="27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1" name="Rectangle 70"/>
            <p:cNvSpPr>
              <a:spLocks noChangeArrowheads="1"/>
            </p:cNvSpPr>
            <p:nvPr/>
          </p:nvSpPr>
          <p:spPr bwMode="auto">
            <a:xfrm>
              <a:off x="1045" y="27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72" name="Rectangle 71"/>
            <p:cNvSpPr>
              <a:spLocks noChangeArrowheads="1"/>
            </p:cNvSpPr>
            <p:nvPr/>
          </p:nvSpPr>
          <p:spPr bwMode="auto">
            <a:xfrm>
              <a:off x="1075" y="2782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3" name="Rectangle 72"/>
            <p:cNvSpPr>
              <a:spLocks noChangeArrowheads="1"/>
            </p:cNvSpPr>
            <p:nvPr/>
          </p:nvSpPr>
          <p:spPr bwMode="auto">
            <a:xfrm>
              <a:off x="849" y="2858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74" name="Rectangle 73"/>
            <p:cNvSpPr>
              <a:spLocks noChangeArrowheads="1"/>
            </p:cNvSpPr>
            <p:nvPr/>
          </p:nvSpPr>
          <p:spPr bwMode="auto">
            <a:xfrm>
              <a:off x="895" y="285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75" name="Rectangle 74"/>
            <p:cNvSpPr>
              <a:spLocks noChangeArrowheads="1"/>
            </p:cNvSpPr>
            <p:nvPr/>
          </p:nvSpPr>
          <p:spPr bwMode="auto">
            <a:xfrm>
              <a:off x="928" y="2858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76" name="Rectangle 75"/>
            <p:cNvSpPr>
              <a:spLocks noChangeArrowheads="1"/>
            </p:cNvSpPr>
            <p:nvPr/>
          </p:nvSpPr>
          <p:spPr bwMode="auto">
            <a:xfrm>
              <a:off x="977" y="285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77" name="Rectangle 76"/>
            <p:cNvSpPr>
              <a:spLocks noChangeArrowheads="1"/>
            </p:cNvSpPr>
            <p:nvPr/>
          </p:nvSpPr>
          <p:spPr bwMode="auto">
            <a:xfrm>
              <a:off x="1007" y="285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78" name="Rectangle 77"/>
            <p:cNvSpPr>
              <a:spLocks noChangeArrowheads="1"/>
            </p:cNvSpPr>
            <p:nvPr/>
          </p:nvSpPr>
          <p:spPr bwMode="auto">
            <a:xfrm>
              <a:off x="1029" y="2858"/>
              <a:ext cx="2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79" name="Rectangle 78"/>
            <p:cNvSpPr>
              <a:spLocks noChangeArrowheads="1"/>
            </p:cNvSpPr>
            <p:nvPr/>
          </p:nvSpPr>
          <p:spPr bwMode="auto">
            <a:xfrm>
              <a:off x="797" y="2382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0" name="Rectangle 79"/>
            <p:cNvSpPr>
              <a:spLocks noChangeArrowheads="1"/>
            </p:cNvSpPr>
            <p:nvPr/>
          </p:nvSpPr>
          <p:spPr bwMode="auto">
            <a:xfrm>
              <a:off x="837" y="23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1" name="Rectangle 80"/>
            <p:cNvSpPr>
              <a:spLocks noChangeArrowheads="1"/>
            </p:cNvSpPr>
            <p:nvPr/>
          </p:nvSpPr>
          <p:spPr bwMode="auto">
            <a:xfrm>
              <a:off x="870" y="23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2" name="Rectangle 81"/>
            <p:cNvSpPr>
              <a:spLocks noChangeArrowheads="1"/>
            </p:cNvSpPr>
            <p:nvPr/>
          </p:nvSpPr>
          <p:spPr bwMode="auto">
            <a:xfrm>
              <a:off x="902" y="23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83" name="Rectangle 82"/>
            <p:cNvSpPr>
              <a:spLocks noChangeArrowheads="1"/>
            </p:cNvSpPr>
            <p:nvPr/>
          </p:nvSpPr>
          <p:spPr bwMode="auto">
            <a:xfrm>
              <a:off x="935" y="2382"/>
              <a:ext cx="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" name="Rectangle 83"/>
            <p:cNvSpPr>
              <a:spLocks noChangeArrowheads="1"/>
            </p:cNvSpPr>
            <p:nvPr/>
          </p:nvSpPr>
          <p:spPr bwMode="auto">
            <a:xfrm>
              <a:off x="797" y="244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85" name="Rectangle 84"/>
            <p:cNvSpPr>
              <a:spLocks noChangeArrowheads="1"/>
            </p:cNvSpPr>
            <p:nvPr/>
          </p:nvSpPr>
          <p:spPr bwMode="auto">
            <a:xfrm>
              <a:off x="828" y="244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86" name="Rectangle 85"/>
            <p:cNvSpPr>
              <a:spLocks noChangeArrowheads="1"/>
            </p:cNvSpPr>
            <p:nvPr/>
          </p:nvSpPr>
          <p:spPr bwMode="auto">
            <a:xfrm>
              <a:off x="860" y="244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87" name="Rectangle 86"/>
            <p:cNvSpPr>
              <a:spLocks noChangeArrowheads="1"/>
            </p:cNvSpPr>
            <p:nvPr/>
          </p:nvSpPr>
          <p:spPr bwMode="auto">
            <a:xfrm>
              <a:off x="893" y="2447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88" name="Rectangle 87"/>
            <p:cNvSpPr>
              <a:spLocks noChangeArrowheads="1"/>
            </p:cNvSpPr>
            <p:nvPr/>
          </p:nvSpPr>
          <p:spPr bwMode="auto">
            <a:xfrm>
              <a:off x="912" y="244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89" name="Rectangle 88"/>
            <p:cNvSpPr>
              <a:spLocks noChangeArrowheads="1"/>
            </p:cNvSpPr>
            <p:nvPr/>
          </p:nvSpPr>
          <p:spPr bwMode="auto">
            <a:xfrm>
              <a:off x="944" y="2447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90" name="Rectangle 89"/>
            <p:cNvSpPr>
              <a:spLocks noChangeArrowheads="1"/>
            </p:cNvSpPr>
            <p:nvPr/>
          </p:nvSpPr>
          <p:spPr bwMode="auto">
            <a:xfrm>
              <a:off x="972" y="2447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91" name="Rectangle 90"/>
            <p:cNvSpPr>
              <a:spLocks noChangeArrowheads="1"/>
            </p:cNvSpPr>
            <p:nvPr/>
          </p:nvSpPr>
          <p:spPr bwMode="auto">
            <a:xfrm>
              <a:off x="1101" y="2624"/>
              <a:ext cx="15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92" name="Rectangle 91"/>
            <p:cNvSpPr>
              <a:spLocks noChangeArrowheads="1"/>
            </p:cNvSpPr>
            <p:nvPr/>
          </p:nvSpPr>
          <p:spPr bwMode="auto">
            <a:xfrm>
              <a:off x="1115" y="262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93" name="Rectangle 92"/>
            <p:cNvSpPr>
              <a:spLocks noChangeArrowheads="1"/>
            </p:cNvSpPr>
            <p:nvPr/>
          </p:nvSpPr>
          <p:spPr bwMode="auto">
            <a:xfrm>
              <a:off x="1147" y="2624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94" name="Rectangle 93"/>
            <p:cNvSpPr>
              <a:spLocks noChangeArrowheads="1"/>
            </p:cNvSpPr>
            <p:nvPr/>
          </p:nvSpPr>
          <p:spPr bwMode="auto">
            <a:xfrm>
              <a:off x="1175" y="262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95" name="Rectangle 94"/>
            <p:cNvSpPr>
              <a:spLocks noChangeArrowheads="1"/>
            </p:cNvSpPr>
            <p:nvPr/>
          </p:nvSpPr>
          <p:spPr bwMode="auto">
            <a:xfrm>
              <a:off x="1192" y="2624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96" name="Rectangle 95"/>
            <p:cNvSpPr>
              <a:spLocks noChangeArrowheads="1"/>
            </p:cNvSpPr>
            <p:nvPr/>
          </p:nvSpPr>
          <p:spPr bwMode="auto">
            <a:xfrm>
              <a:off x="1213" y="262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u</a:t>
              </a:r>
            </a:p>
          </p:txBody>
        </p:sp>
        <p:sp>
          <p:nvSpPr>
            <p:cNvPr id="97" name="Rectangle 96"/>
            <p:cNvSpPr>
              <a:spLocks noChangeArrowheads="1"/>
            </p:cNvSpPr>
            <p:nvPr/>
          </p:nvSpPr>
          <p:spPr bwMode="auto">
            <a:xfrm>
              <a:off x="1243" y="2624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c</a:t>
              </a:r>
            </a:p>
          </p:txBody>
        </p:sp>
        <p:sp>
          <p:nvSpPr>
            <p:cNvPr id="98" name="Rectangle 97"/>
            <p:cNvSpPr>
              <a:spLocks noChangeArrowheads="1"/>
            </p:cNvSpPr>
            <p:nvPr/>
          </p:nvSpPr>
          <p:spPr bwMode="auto">
            <a:xfrm>
              <a:off x="1274" y="262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99" name="Rectangle 98"/>
            <p:cNvSpPr>
              <a:spLocks noChangeArrowheads="1"/>
            </p:cNvSpPr>
            <p:nvPr/>
          </p:nvSpPr>
          <p:spPr bwMode="auto">
            <a:xfrm>
              <a:off x="1288" y="2624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00" name="Rectangle 99"/>
            <p:cNvSpPr>
              <a:spLocks noChangeArrowheads="1"/>
            </p:cNvSpPr>
            <p:nvPr/>
          </p:nvSpPr>
          <p:spPr bwMode="auto">
            <a:xfrm>
              <a:off x="1302" y="262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01" name="Rectangle 100"/>
            <p:cNvSpPr>
              <a:spLocks noChangeArrowheads="1"/>
            </p:cNvSpPr>
            <p:nvPr/>
          </p:nvSpPr>
          <p:spPr bwMode="auto">
            <a:xfrm>
              <a:off x="1334" y="262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n</a:t>
              </a:r>
            </a:p>
          </p:txBody>
        </p:sp>
        <p:sp>
          <p:nvSpPr>
            <p:cNvPr id="102" name="Rectangle 101"/>
            <p:cNvSpPr>
              <a:spLocks noChangeArrowheads="1"/>
            </p:cNvSpPr>
            <p:nvPr/>
          </p:nvSpPr>
          <p:spPr bwMode="auto">
            <a:xfrm>
              <a:off x="1365" y="262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Rectangle 102"/>
            <p:cNvSpPr>
              <a:spLocks noChangeArrowheads="1"/>
            </p:cNvSpPr>
            <p:nvPr/>
          </p:nvSpPr>
          <p:spPr bwMode="auto">
            <a:xfrm>
              <a:off x="1199" y="268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[</a:t>
              </a:r>
            </a:p>
          </p:txBody>
        </p:sp>
        <p:sp>
          <p:nvSpPr>
            <p:cNvPr id="104" name="Rectangle 103"/>
            <p:cNvSpPr>
              <a:spLocks noChangeArrowheads="1"/>
            </p:cNvSpPr>
            <p:nvPr/>
          </p:nvSpPr>
          <p:spPr bwMode="auto">
            <a:xfrm>
              <a:off x="1215" y="26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3</a:t>
              </a:r>
            </a:p>
          </p:txBody>
        </p:sp>
        <p:sp>
          <p:nvSpPr>
            <p:cNvPr id="105" name="Rectangle 104"/>
            <p:cNvSpPr>
              <a:spLocks noChangeArrowheads="1"/>
            </p:cNvSpPr>
            <p:nvPr/>
          </p:nvSpPr>
          <p:spPr bwMode="auto">
            <a:xfrm>
              <a:off x="1248" y="26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106" name="Rectangle 105"/>
            <p:cNvSpPr>
              <a:spLocks noChangeArrowheads="1"/>
            </p:cNvSpPr>
            <p:nvPr/>
          </p:nvSpPr>
          <p:spPr bwMode="auto">
            <a:xfrm>
              <a:off x="1278" y="26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–</a:t>
              </a:r>
            </a:p>
          </p:txBody>
        </p:sp>
        <p:sp>
          <p:nvSpPr>
            <p:cNvPr id="107" name="Rectangle 106"/>
            <p:cNvSpPr>
              <a:spLocks noChangeArrowheads="1"/>
            </p:cNvSpPr>
            <p:nvPr/>
          </p:nvSpPr>
          <p:spPr bwMode="auto">
            <a:xfrm>
              <a:off x="1323" y="2687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0</a:t>
              </a:r>
            </a:p>
          </p:txBody>
        </p:sp>
        <p:sp>
          <p:nvSpPr>
            <p:cNvPr id="108" name="Rectangle 107"/>
            <p:cNvSpPr>
              <a:spLocks noChangeArrowheads="1"/>
            </p:cNvSpPr>
            <p:nvPr/>
          </p:nvSpPr>
          <p:spPr bwMode="auto">
            <a:xfrm>
              <a:off x="1353" y="2687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000000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000000"/>
                  </a:solidFill>
                  <a:latin typeface="Arial" charset="0"/>
                  <a:ea typeface="新細明體" charset="-120"/>
                </a:rPr>
                <a:t>]</a:t>
              </a:r>
            </a:p>
          </p:txBody>
        </p:sp>
        <p:sp>
          <p:nvSpPr>
            <p:cNvPr id="109" name="Freeform 108"/>
            <p:cNvSpPr>
              <a:spLocks noChangeArrowheads="1"/>
            </p:cNvSpPr>
            <p:nvPr/>
          </p:nvSpPr>
          <p:spPr bwMode="auto">
            <a:xfrm>
              <a:off x="4321" y="2521"/>
              <a:ext cx="649" cy="755"/>
            </a:xfrm>
            <a:custGeom>
              <a:avLst/>
              <a:gdLst>
                <a:gd name="T0" fmla="*/ 649 w 649"/>
                <a:gd name="T1" fmla="*/ 677 h 677"/>
                <a:gd name="T2" fmla="*/ 649 w 649"/>
                <a:gd name="T3" fmla="*/ 0 h 677"/>
                <a:gd name="T4" fmla="*/ 0 w 649"/>
                <a:gd name="T5" fmla="*/ 0 h 677"/>
                <a:gd name="T6" fmla="*/ 0 w 649"/>
                <a:gd name="T7" fmla="*/ 677 h 677"/>
                <a:gd name="T8" fmla="*/ 649 w 649"/>
                <a:gd name="T9" fmla="*/ 677 h 677"/>
                <a:gd name="T10" fmla="*/ 649 w 649"/>
                <a:gd name="T11" fmla="*/ 677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9"/>
                <a:gd name="T19" fmla="*/ 0 h 677"/>
                <a:gd name="T20" fmla="*/ 649 w 649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9" h="677">
                  <a:moveTo>
                    <a:pt x="649" y="677"/>
                  </a:moveTo>
                  <a:lnTo>
                    <a:pt x="649" y="0"/>
                  </a:lnTo>
                  <a:lnTo>
                    <a:pt x="0" y="0"/>
                  </a:lnTo>
                  <a:lnTo>
                    <a:pt x="0" y="677"/>
                  </a:lnTo>
                  <a:lnTo>
                    <a:pt x="649" y="6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" name="Freeform 109"/>
            <p:cNvSpPr>
              <a:spLocks noChangeArrowheads="1"/>
            </p:cNvSpPr>
            <p:nvPr/>
          </p:nvSpPr>
          <p:spPr bwMode="auto">
            <a:xfrm>
              <a:off x="4321" y="2521"/>
              <a:ext cx="649" cy="755"/>
            </a:xfrm>
            <a:custGeom>
              <a:avLst/>
              <a:gdLst>
                <a:gd name="T0" fmla="*/ 649 w 649"/>
                <a:gd name="T1" fmla="*/ 677 h 677"/>
                <a:gd name="T2" fmla="*/ 649 w 649"/>
                <a:gd name="T3" fmla="*/ 0 h 677"/>
                <a:gd name="T4" fmla="*/ 0 w 649"/>
                <a:gd name="T5" fmla="*/ 0 h 677"/>
                <a:gd name="T6" fmla="*/ 0 w 649"/>
                <a:gd name="T7" fmla="*/ 677 h 677"/>
                <a:gd name="T8" fmla="*/ 649 w 649"/>
                <a:gd name="T9" fmla="*/ 677 h 677"/>
                <a:gd name="T10" fmla="*/ 649 w 649"/>
                <a:gd name="T11" fmla="*/ 677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9"/>
                <a:gd name="T19" fmla="*/ 0 h 677"/>
                <a:gd name="T20" fmla="*/ 649 w 649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9" h="677">
                  <a:moveTo>
                    <a:pt x="649" y="677"/>
                  </a:moveTo>
                  <a:lnTo>
                    <a:pt x="649" y="0"/>
                  </a:lnTo>
                  <a:lnTo>
                    <a:pt x="0" y="0"/>
                  </a:lnTo>
                  <a:lnTo>
                    <a:pt x="0" y="677"/>
                  </a:lnTo>
                  <a:lnTo>
                    <a:pt x="649" y="677"/>
                  </a:lnTo>
                </a:path>
              </a:pathLst>
            </a:custGeom>
            <a:noFill/>
            <a:ln w="1116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Rectangle 110"/>
            <p:cNvSpPr>
              <a:spLocks noChangeArrowheads="1"/>
            </p:cNvSpPr>
            <p:nvPr/>
          </p:nvSpPr>
          <p:spPr bwMode="auto">
            <a:xfrm>
              <a:off x="4683" y="2944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12" name="Rectangle 111"/>
            <p:cNvSpPr>
              <a:spLocks noChangeArrowheads="1"/>
            </p:cNvSpPr>
            <p:nvPr/>
          </p:nvSpPr>
          <p:spPr bwMode="auto">
            <a:xfrm>
              <a:off x="4725" y="294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13" name="Rectangle 112"/>
            <p:cNvSpPr>
              <a:spLocks noChangeArrowheads="1"/>
            </p:cNvSpPr>
            <p:nvPr/>
          </p:nvSpPr>
          <p:spPr bwMode="auto">
            <a:xfrm>
              <a:off x="4756" y="294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14" name="Rectangle 113"/>
            <p:cNvSpPr>
              <a:spLocks noChangeArrowheads="1"/>
            </p:cNvSpPr>
            <p:nvPr/>
          </p:nvSpPr>
          <p:spPr bwMode="auto">
            <a:xfrm>
              <a:off x="4772" y="294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15" name="Rectangle 114"/>
            <p:cNvSpPr>
              <a:spLocks noChangeArrowheads="1"/>
            </p:cNvSpPr>
            <p:nvPr/>
          </p:nvSpPr>
          <p:spPr bwMode="auto">
            <a:xfrm>
              <a:off x="4805" y="2944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6" name="Rectangle 115"/>
            <p:cNvSpPr>
              <a:spLocks noChangeArrowheads="1"/>
            </p:cNvSpPr>
            <p:nvPr/>
          </p:nvSpPr>
          <p:spPr bwMode="auto">
            <a:xfrm>
              <a:off x="4641" y="3018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17" name="Rectangle 116"/>
            <p:cNvSpPr>
              <a:spLocks noChangeArrowheads="1"/>
            </p:cNvSpPr>
            <p:nvPr/>
          </p:nvSpPr>
          <p:spPr bwMode="auto">
            <a:xfrm>
              <a:off x="4690" y="301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18" name="Rectangle 117"/>
            <p:cNvSpPr>
              <a:spLocks noChangeArrowheads="1"/>
            </p:cNvSpPr>
            <p:nvPr/>
          </p:nvSpPr>
          <p:spPr bwMode="auto">
            <a:xfrm>
              <a:off x="4723" y="3018"/>
              <a:ext cx="48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m</a:t>
              </a:r>
            </a:p>
          </p:txBody>
        </p:sp>
        <p:sp>
          <p:nvSpPr>
            <p:cNvPr id="119" name="Rectangle 118"/>
            <p:cNvSpPr>
              <a:spLocks noChangeArrowheads="1"/>
            </p:cNvSpPr>
            <p:nvPr/>
          </p:nvSpPr>
          <p:spPr bwMode="auto">
            <a:xfrm>
              <a:off x="4770" y="301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o</a:t>
              </a:r>
            </a:p>
          </p:txBody>
        </p:sp>
        <p:sp>
          <p:nvSpPr>
            <p:cNvPr id="120" name="Rectangle 119"/>
            <p:cNvSpPr>
              <a:spLocks noChangeArrowheads="1"/>
            </p:cNvSpPr>
            <p:nvPr/>
          </p:nvSpPr>
          <p:spPr bwMode="auto">
            <a:xfrm>
              <a:off x="4802" y="301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21" name="Rectangle 120"/>
            <p:cNvSpPr>
              <a:spLocks noChangeArrowheads="1"/>
            </p:cNvSpPr>
            <p:nvPr/>
          </p:nvSpPr>
          <p:spPr bwMode="auto">
            <a:xfrm>
              <a:off x="4822" y="3018"/>
              <a:ext cx="27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y</a:t>
              </a:r>
            </a:p>
          </p:txBody>
        </p:sp>
        <p:sp>
          <p:nvSpPr>
            <p:cNvPr id="122" name="Rectangle 121"/>
            <p:cNvSpPr>
              <a:spLocks noChangeArrowheads="1"/>
            </p:cNvSpPr>
            <p:nvPr/>
          </p:nvSpPr>
          <p:spPr bwMode="auto">
            <a:xfrm>
              <a:off x="4816" y="2708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23" name="Rectangle 122"/>
            <p:cNvSpPr>
              <a:spLocks noChangeArrowheads="1"/>
            </p:cNvSpPr>
            <p:nvPr/>
          </p:nvSpPr>
          <p:spPr bwMode="auto">
            <a:xfrm>
              <a:off x="4856" y="270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24" name="Rectangle 123"/>
            <p:cNvSpPr>
              <a:spLocks noChangeArrowheads="1"/>
            </p:cNvSpPr>
            <p:nvPr/>
          </p:nvSpPr>
          <p:spPr bwMode="auto">
            <a:xfrm>
              <a:off x="4889" y="270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25" name="Rectangle 124"/>
            <p:cNvSpPr>
              <a:spLocks noChangeArrowheads="1"/>
            </p:cNvSpPr>
            <p:nvPr/>
          </p:nvSpPr>
          <p:spPr bwMode="auto">
            <a:xfrm>
              <a:off x="4921" y="270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26" name="Rectangle 125"/>
            <p:cNvSpPr>
              <a:spLocks noChangeArrowheads="1"/>
            </p:cNvSpPr>
            <p:nvPr/>
          </p:nvSpPr>
          <p:spPr bwMode="auto">
            <a:xfrm>
              <a:off x="4954" y="2708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27" name="Rectangle 126"/>
            <p:cNvSpPr>
              <a:spLocks noChangeArrowheads="1"/>
            </p:cNvSpPr>
            <p:nvPr/>
          </p:nvSpPr>
          <p:spPr bwMode="auto">
            <a:xfrm>
              <a:off x="4833" y="277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28" name="Rectangle 127"/>
            <p:cNvSpPr>
              <a:spLocks noChangeArrowheads="1"/>
            </p:cNvSpPr>
            <p:nvPr/>
          </p:nvSpPr>
          <p:spPr bwMode="auto">
            <a:xfrm>
              <a:off x="4865" y="277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29" name="Rectangle 128"/>
            <p:cNvSpPr>
              <a:spLocks noChangeArrowheads="1"/>
            </p:cNvSpPr>
            <p:nvPr/>
          </p:nvSpPr>
          <p:spPr bwMode="auto">
            <a:xfrm>
              <a:off x="4896" y="2770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30" name="Rectangle 129"/>
            <p:cNvSpPr>
              <a:spLocks noChangeArrowheads="1"/>
            </p:cNvSpPr>
            <p:nvPr/>
          </p:nvSpPr>
          <p:spPr bwMode="auto">
            <a:xfrm>
              <a:off x="4912" y="277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31" name="Rectangle 130"/>
            <p:cNvSpPr>
              <a:spLocks noChangeArrowheads="1"/>
            </p:cNvSpPr>
            <p:nvPr/>
          </p:nvSpPr>
          <p:spPr bwMode="auto">
            <a:xfrm>
              <a:off x="4345" y="3069"/>
              <a:ext cx="53" cy="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132" name="Rectangle 131"/>
            <p:cNvSpPr>
              <a:spLocks noChangeArrowheads="1"/>
            </p:cNvSpPr>
            <p:nvPr/>
          </p:nvSpPr>
          <p:spPr bwMode="auto">
            <a:xfrm>
              <a:off x="4401" y="3069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33" name="Rectangle 132"/>
            <p:cNvSpPr>
              <a:spLocks noChangeArrowheads="1"/>
            </p:cNvSpPr>
            <p:nvPr/>
          </p:nvSpPr>
          <p:spPr bwMode="auto">
            <a:xfrm>
              <a:off x="4418" y="3069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34" name="Rectangle 133"/>
            <p:cNvSpPr>
              <a:spLocks noChangeArrowheads="1"/>
            </p:cNvSpPr>
            <p:nvPr/>
          </p:nvSpPr>
          <p:spPr bwMode="auto">
            <a:xfrm>
              <a:off x="4433" y="3069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35" name="Rectangle 134"/>
            <p:cNvSpPr>
              <a:spLocks noChangeArrowheads="1"/>
            </p:cNvSpPr>
            <p:nvPr/>
          </p:nvSpPr>
          <p:spPr bwMode="auto">
            <a:xfrm>
              <a:off x="4450" y="3069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36" name="Rectangle 135"/>
            <p:cNvSpPr>
              <a:spLocks noChangeArrowheads="1"/>
            </p:cNvSpPr>
            <p:nvPr/>
          </p:nvSpPr>
          <p:spPr bwMode="auto">
            <a:xfrm>
              <a:off x="4480" y="3069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7" name="Rectangle 136"/>
            <p:cNvSpPr>
              <a:spLocks noChangeArrowheads="1"/>
            </p:cNvSpPr>
            <p:nvPr/>
          </p:nvSpPr>
          <p:spPr bwMode="auto">
            <a:xfrm>
              <a:off x="4347" y="31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38" name="Rectangle 137"/>
            <p:cNvSpPr>
              <a:spLocks noChangeArrowheads="1"/>
            </p:cNvSpPr>
            <p:nvPr/>
          </p:nvSpPr>
          <p:spPr bwMode="auto">
            <a:xfrm>
              <a:off x="4380" y="31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39" name="Rectangle 138"/>
            <p:cNvSpPr>
              <a:spLocks noChangeArrowheads="1"/>
            </p:cNvSpPr>
            <p:nvPr/>
          </p:nvSpPr>
          <p:spPr bwMode="auto">
            <a:xfrm>
              <a:off x="4410" y="3131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40" name="Rectangle 139"/>
            <p:cNvSpPr>
              <a:spLocks noChangeArrowheads="1"/>
            </p:cNvSpPr>
            <p:nvPr/>
          </p:nvSpPr>
          <p:spPr bwMode="auto">
            <a:xfrm>
              <a:off x="4426" y="31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41" name="Freeform 140"/>
            <p:cNvSpPr>
              <a:spLocks noChangeArrowheads="1"/>
            </p:cNvSpPr>
            <p:nvPr/>
          </p:nvSpPr>
          <p:spPr bwMode="auto">
            <a:xfrm>
              <a:off x="2494" y="2318"/>
              <a:ext cx="649" cy="755"/>
            </a:xfrm>
            <a:custGeom>
              <a:avLst/>
              <a:gdLst>
                <a:gd name="T0" fmla="*/ 647 w 649"/>
                <a:gd name="T1" fmla="*/ 677 h 677"/>
                <a:gd name="T2" fmla="*/ 649 w 649"/>
                <a:gd name="T3" fmla="*/ 0 h 677"/>
                <a:gd name="T4" fmla="*/ 0 w 649"/>
                <a:gd name="T5" fmla="*/ 0 h 677"/>
                <a:gd name="T6" fmla="*/ 0 w 649"/>
                <a:gd name="T7" fmla="*/ 677 h 677"/>
                <a:gd name="T8" fmla="*/ 649 w 649"/>
                <a:gd name="T9" fmla="*/ 677 h 677"/>
                <a:gd name="T10" fmla="*/ 649 w 649"/>
                <a:gd name="T11" fmla="*/ 677 h 677"/>
                <a:gd name="T12" fmla="*/ 647 w 649"/>
                <a:gd name="T13" fmla="*/ 677 h 67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649"/>
                <a:gd name="T22" fmla="*/ 0 h 677"/>
                <a:gd name="T23" fmla="*/ 649 w 649"/>
                <a:gd name="T24" fmla="*/ 677 h 67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649" h="677">
                  <a:moveTo>
                    <a:pt x="647" y="677"/>
                  </a:moveTo>
                  <a:lnTo>
                    <a:pt x="649" y="0"/>
                  </a:lnTo>
                  <a:lnTo>
                    <a:pt x="0" y="0"/>
                  </a:lnTo>
                  <a:lnTo>
                    <a:pt x="0" y="677"/>
                  </a:lnTo>
                  <a:lnTo>
                    <a:pt x="649" y="677"/>
                  </a:lnTo>
                  <a:lnTo>
                    <a:pt x="647" y="6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2" name="Freeform 141"/>
            <p:cNvSpPr>
              <a:spLocks noChangeArrowheads="1"/>
            </p:cNvSpPr>
            <p:nvPr/>
          </p:nvSpPr>
          <p:spPr bwMode="auto">
            <a:xfrm>
              <a:off x="2494" y="2318"/>
              <a:ext cx="649" cy="755"/>
            </a:xfrm>
            <a:custGeom>
              <a:avLst/>
              <a:gdLst>
                <a:gd name="T0" fmla="*/ 647 w 649"/>
                <a:gd name="T1" fmla="*/ 677 h 677"/>
                <a:gd name="T2" fmla="*/ 649 w 649"/>
                <a:gd name="T3" fmla="*/ 0 h 677"/>
                <a:gd name="T4" fmla="*/ 0 w 649"/>
                <a:gd name="T5" fmla="*/ 0 h 677"/>
                <a:gd name="T6" fmla="*/ 0 w 649"/>
                <a:gd name="T7" fmla="*/ 677 h 677"/>
                <a:gd name="T8" fmla="*/ 649 w 649"/>
                <a:gd name="T9" fmla="*/ 677 h 677"/>
                <a:gd name="T10" fmla="*/ 649 w 649"/>
                <a:gd name="T11" fmla="*/ 677 h 67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49"/>
                <a:gd name="T19" fmla="*/ 0 h 677"/>
                <a:gd name="T20" fmla="*/ 649 w 649"/>
                <a:gd name="T21" fmla="*/ 677 h 67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49" h="677">
                  <a:moveTo>
                    <a:pt x="647" y="677"/>
                  </a:moveTo>
                  <a:lnTo>
                    <a:pt x="649" y="0"/>
                  </a:lnTo>
                  <a:lnTo>
                    <a:pt x="0" y="0"/>
                  </a:lnTo>
                  <a:lnTo>
                    <a:pt x="0" y="677"/>
                  </a:lnTo>
                  <a:lnTo>
                    <a:pt x="649" y="677"/>
                  </a:lnTo>
                </a:path>
              </a:pathLst>
            </a:custGeom>
            <a:noFill/>
            <a:ln w="11160">
              <a:solidFill>
                <a:srgbClr val="6666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43" name="Rectangle 142"/>
            <p:cNvSpPr>
              <a:spLocks noChangeArrowheads="1"/>
            </p:cNvSpPr>
            <p:nvPr/>
          </p:nvSpPr>
          <p:spPr bwMode="auto">
            <a:xfrm>
              <a:off x="2695" y="2655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44" name="Rectangle 143"/>
            <p:cNvSpPr>
              <a:spLocks noChangeArrowheads="1"/>
            </p:cNvSpPr>
            <p:nvPr/>
          </p:nvSpPr>
          <p:spPr bwMode="auto">
            <a:xfrm>
              <a:off x="2737" y="265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45" name="Rectangle 144"/>
            <p:cNvSpPr>
              <a:spLocks noChangeArrowheads="1"/>
            </p:cNvSpPr>
            <p:nvPr/>
          </p:nvSpPr>
          <p:spPr bwMode="auto">
            <a:xfrm>
              <a:off x="2767" y="265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146" name="Rectangle 145"/>
            <p:cNvSpPr>
              <a:spLocks noChangeArrowheads="1"/>
            </p:cNvSpPr>
            <p:nvPr/>
          </p:nvSpPr>
          <p:spPr bwMode="auto">
            <a:xfrm>
              <a:off x="2799" y="2655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47" name="Rectangle 146"/>
            <p:cNvSpPr>
              <a:spLocks noChangeArrowheads="1"/>
            </p:cNvSpPr>
            <p:nvPr/>
          </p:nvSpPr>
          <p:spPr bwMode="auto">
            <a:xfrm>
              <a:off x="2814" y="265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48" name="Rectangle 147"/>
            <p:cNvSpPr>
              <a:spLocks noChangeArrowheads="1"/>
            </p:cNvSpPr>
            <p:nvPr/>
          </p:nvSpPr>
          <p:spPr bwMode="auto">
            <a:xfrm>
              <a:off x="2842" y="265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49" name="Rectangle 148"/>
            <p:cNvSpPr>
              <a:spLocks noChangeArrowheads="1"/>
            </p:cNvSpPr>
            <p:nvPr/>
          </p:nvSpPr>
          <p:spPr bwMode="auto">
            <a:xfrm>
              <a:off x="2858" y="265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50" name="Rectangle 149"/>
            <p:cNvSpPr>
              <a:spLocks noChangeArrowheads="1"/>
            </p:cNvSpPr>
            <p:nvPr/>
          </p:nvSpPr>
          <p:spPr bwMode="auto">
            <a:xfrm>
              <a:off x="2891" y="2655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51" name="Rectangle 150"/>
            <p:cNvSpPr>
              <a:spLocks noChangeArrowheads="1"/>
            </p:cNvSpPr>
            <p:nvPr/>
          </p:nvSpPr>
          <p:spPr bwMode="auto">
            <a:xfrm>
              <a:off x="2910" y="2655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52" name="Rectangle 151"/>
            <p:cNvSpPr>
              <a:spLocks noChangeArrowheads="1"/>
            </p:cNvSpPr>
            <p:nvPr/>
          </p:nvSpPr>
          <p:spPr bwMode="auto">
            <a:xfrm>
              <a:off x="2518" y="2720"/>
              <a:ext cx="53" cy="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153" name="Rectangle 152"/>
            <p:cNvSpPr>
              <a:spLocks noChangeArrowheads="1"/>
            </p:cNvSpPr>
            <p:nvPr/>
          </p:nvSpPr>
          <p:spPr bwMode="auto">
            <a:xfrm>
              <a:off x="2573" y="2720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54" name="Rectangle 153"/>
            <p:cNvSpPr>
              <a:spLocks noChangeArrowheads="1"/>
            </p:cNvSpPr>
            <p:nvPr/>
          </p:nvSpPr>
          <p:spPr bwMode="auto">
            <a:xfrm>
              <a:off x="2592" y="2720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55" name="Rectangle 154"/>
            <p:cNvSpPr>
              <a:spLocks noChangeArrowheads="1"/>
            </p:cNvSpPr>
            <p:nvPr/>
          </p:nvSpPr>
          <p:spPr bwMode="auto">
            <a:xfrm>
              <a:off x="2606" y="2720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56" name="Rectangle 155"/>
            <p:cNvSpPr>
              <a:spLocks noChangeArrowheads="1"/>
            </p:cNvSpPr>
            <p:nvPr/>
          </p:nvSpPr>
          <p:spPr bwMode="auto">
            <a:xfrm>
              <a:off x="2622" y="2720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57" name="Rectangle 156"/>
            <p:cNvSpPr>
              <a:spLocks noChangeArrowheads="1"/>
            </p:cNvSpPr>
            <p:nvPr/>
          </p:nvSpPr>
          <p:spPr bwMode="auto">
            <a:xfrm>
              <a:off x="2653" y="2720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58" name="Rectangle 157"/>
            <p:cNvSpPr>
              <a:spLocks noChangeArrowheads="1"/>
            </p:cNvSpPr>
            <p:nvPr/>
          </p:nvSpPr>
          <p:spPr bwMode="auto">
            <a:xfrm>
              <a:off x="2520" y="2782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59" name="Rectangle 158"/>
            <p:cNvSpPr>
              <a:spLocks noChangeArrowheads="1"/>
            </p:cNvSpPr>
            <p:nvPr/>
          </p:nvSpPr>
          <p:spPr bwMode="auto">
            <a:xfrm>
              <a:off x="2538" y="27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60" name="Rectangle 159"/>
            <p:cNvSpPr>
              <a:spLocks noChangeArrowheads="1"/>
            </p:cNvSpPr>
            <p:nvPr/>
          </p:nvSpPr>
          <p:spPr bwMode="auto">
            <a:xfrm>
              <a:off x="2571" y="27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161" name="Rectangle 160"/>
            <p:cNvSpPr>
              <a:spLocks noChangeArrowheads="1"/>
            </p:cNvSpPr>
            <p:nvPr/>
          </p:nvSpPr>
          <p:spPr bwMode="auto">
            <a:xfrm>
              <a:off x="2601" y="2782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62" name="Rectangle 161"/>
            <p:cNvSpPr>
              <a:spLocks noChangeArrowheads="1"/>
            </p:cNvSpPr>
            <p:nvPr/>
          </p:nvSpPr>
          <p:spPr bwMode="auto">
            <a:xfrm>
              <a:off x="2615" y="2782"/>
              <a:ext cx="2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s</a:t>
              </a:r>
            </a:p>
          </p:txBody>
        </p:sp>
        <p:sp>
          <p:nvSpPr>
            <p:cNvPr id="163" name="Rectangle 162"/>
            <p:cNvSpPr>
              <a:spLocks noChangeArrowheads="1"/>
            </p:cNvSpPr>
            <p:nvPr/>
          </p:nvSpPr>
          <p:spPr bwMode="auto">
            <a:xfrm>
              <a:off x="2643" y="2782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64" name="Rectangle 163"/>
            <p:cNvSpPr>
              <a:spLocks noChangeArrowheads="1"/>
            </p:cNvSpPr>
            <p:nvPr/>
          </p:nvSpPr>
          <p:spPr bwMode="auto">
            <a:xfrm>
              <a:off x="2660" y="2782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65" name="Rectangle 164"/>
            <p:cNvSpPr>
              <a:spLocks noChangeArrowheads="1"/>
            </p:cNvSpPr>
            <p:nvPr/>
          </p:nvSpPr>
          <p:spPr bwMode="auto">
            <a:xfrm>
              <a:off x="2692" y="2782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66" name="Rectangle 165"/>
            <p:cNvSpPr>
              <a:spLocks noChangeArrowheads="1"/>
            </p:cNvSpPr>
            <p:nvPr/>
          </p:nvSpPr>
          <p:spPr bwMode="auto">
            <a:xfrm>
              <a:off x="2518" y="2913"/>
              <a:ext cx="53" cy="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W</a:t>
              </a:r>
            </a:p>
          </p:txBody>
        </p:sp>
        <p:sp>
          <p:nvSpPr>
            <p:cNvPr id="167" name="Rectangle 166"/>
            <p:cNvSpPr>
              <a:spLocks noChangeArrowheads="1"/>
            </p:cNvSpPr>
            <p:nvPr/>
          </p:nvSpPr>
          <p:spPr bwMode="auto">
            <a:xfrm>
              <a:off x="2573" y="2913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68" name="Rectangle 167"/>
            <p:cNvSpPr>
              <a:spLocks noChangeArrowheads="1"/>
            </p:cNvSpPr>
            <p:nvPr/>
          </p:nvSpPr>
          <p:spPr bwMode="auto">
            <a:xfrm>
              <a:off x="2592" y="2913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  <p:sp>
          <p:nvSpPr>
            <p:cNvPr id="169" name="Rectangle 168"/>
            <p:cNvSpPr>
              <a:spLocks noChangeArrowheads="1"/>
            </p:cNvSpPr>
            <p:nvPr/>
          </p:nvSpPr>
          <p:spPr bwMode="auto">
            <a:xfrm>
              <a:off x="2606" y="2913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70" name="Rectangle 169"/>
            <p:cNvSpPr>
              <a:spLocks noChangeArrowheads="1"/>
            </p:cNvSpPr>
            <p:nvPr/>
          </p:nvSpPr>
          <p:spPr bwMode="auto">
            <a:xfrm>
              <a:off x="2622" y="2913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71" name="Rectangle 170"/>
            <p:cNvSpPr>
              <a:spLocks noChangeArrowheads="1"/>
            </p:cNvSpPr>
            <p:nvPr/>
          </p:nvSpPr>
          <p:spPr bwMode="auto">
            <a:xfrm>
              <a:off x="2653" y="2913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2" name="Rectangle 171"/>
            <p:cNvSpPr>
              <a:spLocks noChangeArrowheads="1"/>
            </p:cNvSpPr>
            <p:nvPr/>
          </p:nvSpPr>
          <p:spPr bwMode="auto">
            <a:xfrm>
              <a:off x="2520" y="29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73" name="Rectangle 172"/>
            <p:cNvSpPr>
              <a:spLocks noChangeArrowheads="1"/>
            </p:cNvSpPr>
            <p:nvPr/>
          </p:nvSpPr>
          <p:spPr bwMode="auto">
            <a:xfrm>
              <a:off x="2550" y="29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74" name="Rectangle 173"/>
            <p:cNvSpPr>
              <a:spLocks noChangeArrowheads="1"/>
            </p:cNvSpPr>
            <p:nvPr/>
          </p:nvSpPr>
          <p:spPr bwMode="auto">
            <a:xfrm>
              <a:off x="2583" y="2975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75" name="Rectangle 174"/>
            <p:cNvSpPr>
              <a:spLocks noChangeArrowheads="1"/>
            </p:cNvSpPr>
            <p:nvPr/>
          </p:nvSpPr>
          <p:spPr bwMode="auto">
            <a:xfrm>
              <a:off x="2599" y="2975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76" name="Rectangle 175"/>
            <p:cNvSpPr>
              <a:spLocks noChangeArrowheads="1"/>
            </p:cNvSpPr>
            <p:nvPr/>
          </p:nvSpPr>
          <p:spPr bwMode="auto">
            <a:xfrm>
              <a:off x="2987" y="2431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77" name="Rectangle 176"/>
            <p:cNvSpPr>
              <a:spLocks noChangeArrowheads="1"/>
            </p:cNvSpPr>
            <p:nvPr/>
          </p:nvSpPr>
          <p:spPr bwMode="auto">
            <a:xfrm>
              <a:off x="3029" y="24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78" name="Rectangle 177"/>
            <p:cNvSpPr>
              <a:spLocks noChangeArrowheads="1"/>
            </p:cNvSpPr>
            <p:nvPr/>
          </p:nvSpPr>
          <p:spPr bwMode="auto">
            <a:xfrm>
              <a:off x="3061" y="24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79" name="Rectangle 178"/>
            <p:cNvSpPr>
              <a:spLocks noChangeArrowheads="1"/>
            </p:cNvSpPr>
            <p:nvPr/>
          </p:nvSpPr>
          <p:spPr bwMode="auto">
            <a:xfrm>
              <a:off x="3094" y="243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80" name="Rectangle 179"/>
            <p:cNvSpPr>
              <a:spLocks noChangeArrowheads="1"/>
            </p:cNvSpPr>
            <p:nvPr/>
          </p:nvSpPr>
          <p:spPr bwMode="auto">
            <a:xfrm>
              <a:off x="3124" y="2431"/>
              <a:ext cx="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1" name="Rectangle 180"/>
            <p:cNvSpPr>
              <a:spLocks noChangeArrowheads="1"/>
            </p:cNvSpPr>
            <p:nvPr/>
          </p:nvSpPr>
          <p:spPr bwMode="auto">
            <a:xfrm>
              <a:off x="2954" y="24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82" name="Rectangle 181"/>
            <p:cNvSpPr>
              <a:spLocks noChangeArrowheads="1"/>
            </p:cNvSpPr>
            <p:nvPr/>
          </p:nvSpPr>
          <p:spPr bwMode="auto">
            <a:xfrm>
              <a:off x="2984" y="24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83" name="Rectangle 182"/>
            <p:cNvSpPr>
              <a:spLocks noChangeArrowheads="1"/>
            </p:cNvSpPr>
            <p:nvPr/>
          </p:nvSpPr>
          <p:spPr bwMode="auto">
            <a:xfrm>
              <a:off x="3017" y="249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84" name="Rectangle 183"/>
            <p:cNvSpPr>
              <a:spLocks noChangeArrowheads="1"/>
            </p:cNvSpPr>
            <p:nvPr/>
          </p:nvSpPr>
          <p:spPr bwMode="auto">
            <a:xfrm>
              <a:off x="3033" y="24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85" name="Rectangle 184"/>
            <p:cNvSpPr>
              <a:spLocks noChangeArrowheads="1"/>
            </p:cNvSpPr>
            <p:nvPr/>
          </p:nvSpPr>
          <p:spPr bwMode="auto">
            <a:xfrm>
              <a:off x="3066" y="2494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86" name="Rectangle 185"/>
            <p:cNvSpPr>
              <a:spLocks noChangeArrowheads="1"/>
            </p:cNvSpPr>
            <p:nvPr/>
          </p:nvSpPr>
          <p:spPr bwMode="auto">
            <a:xfrm>
              <a:off x="3080" y="2494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1</a:t>
              </a:r>
            </a:p>
          </p:txBody>
        </p:sp>
        <p:sp>
          <p:nvSpPr>
            <p:cNvPr id="187" name="Rectangle 186"/>
            <p:cNvSpPr>
              <a:spLocks noChangeArrowheads="1"/>
            </p:cNvSpPr>
            <p:nvPr/>
          </p:nvSpPr>
          <p:spPr bwMode="auto">
            <a:xfrm>
              <a:off x="2987" y="2671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88" name="Rectangle 187"/>
            <p:cNvSpPr>
              <a:spLocks noChangeArrowheads="1"/>
            </p:cNvSpPr>
            <p:nvPr/>
          </p:nvSpPr>
          <p:spPr bwMode="auto">
            <a:xfrm>
              <a:off x="3029" y="267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189" name="Rectangle 188"/>
            <p:cNvSpPr>
              <a:spLocks noChangeArrowheads="1"/>
            </p:cNvSpPr>
            <p:nvPr/>
          </p:nvSpPr>
          <p:spPr bwMode="auto">
            <a:xfrm>
              <a:off x="3061" y="267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90" name="Rectangle 189"/>
            <p:cNvSpPr>
              <a:spLocks noChangeArrowheads="1"/>
            </p:cNvSpPr>
            <p:nvPr/>
          </p:nvSpPr>
          <p:spPr bwMode="auto">
            <a:xfrm>
              <a:off x="3094" y="2671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91" name="Rectangle 190"/>
            <p:cNvSpPr>
              <a:spLocks noChangeArrowheads="1"/>
            </p:cNvSpPr>
            <p:nvPr/>
          </p:nvSpPr>
          <p:spPr bwMode="auto">
            <a:xfrm>
              <a:off x="3124" y="2671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2" name="Rectangle 191"/>
            <p:cNvSpPr>
              <a:spLocks noChangeArrowheads="1"/>
            </p:cNvSpPr>
            <p:nvPr/>
          </p:nvSpPr>
          <p:spPr bwMode="auto">
            <a:xfrm>
              <a:off x="2954" y="27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193" name="Rectangle 192"/>
            <p:cNvSpPr>
              <a:spLocks noChangeArrowheads="1"/>
            </p:cNvSpPr>
            <p:nvPr/>
          </p:nvSpPr>
          <p:spPr bwMode="auto">
            <a:xfrm>
              <a:off x="2984" y="27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94" name="Rectangle 193"/>
            <p:cNvSpPr>
              <a:spLocks noChangeArrowheads="1"/>
            </p:cNvSpPr>
            <p:nvPr/>
          </p:nvSpPr>
          <p:spPr bwMode="auto">
            <a:xfrm>
              <a:off x="3017" y="273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t</a:t>
              </a:r>
            </a:p>
          </p:txBody>
        </p:sp>
        <p:sp>
          <p:nvSpPr>
            <p:cNvPr id="195" name="Rectangle 194"/>
            <p:cNvSpPr>
              <a:spLocks noChangeArrowheads="1"/>
            </p:cNvSpPr>
            <p:nvPr/>
          </p:nvSpPr>
          <p:spPr bwMode="auto">
            <a:xfrm>
              <a:off x="3033" y="27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196" name="Rectangle 195"/>
            <p:cNvSpPr>
              <a:spLocks noChangeArrowheads="1"/>
            </p:cNvSpPr>
            <p:nvPr/>
          </p:nvSpPr>
          <p:spPr bwMode="auto">
            <a:xfrm>
              <a:off x="3066" y="2736"/>
              <a:ext cx="16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zh-TW" altLang="en-GB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 </a:t>
              </a:r>
            </a:p>
          </p:txBody>
        </p:sp>
        <p:sp>
          <p:nvSpPr>
            <p:cNvPr id="197" name="Rectangle 196"/>
            <p:cNvSpPr>
              <a:spLocks noChangeArrowheads="1"/>
            </p:cNvSpPr>
            <p:nvPr/>
          </p:nvSpPr>
          <p:spPr bwMode="auto">
            <a:xfrm>
              <a:off x="3080" y="27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2</a:t>
              </a:r>
            </a:p>
          </p:txBody>
        </p:sp>
        <p:sp>
          <p:nvSpPr>
            <p:cNvPr id="198" name="Rectangle 197"/>
            <p:cNvSpPr>
              <a:spLocks noChangeArrowheads="1"/>
            </p:cNvSpPr>
            <p:nvPr/>
          </p:nvSpPr>
          <p:spPr bwMode="auto">
            <a:xfrm>
              <a:off x="2520" y="2336"/>
              <a:ext cx="4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199" name="Rectangle 198"/>
            <p:cNvSpPr>
              <a:spLocks noChangeArrowheads="1"/>
            </p:cNvSpPr>
            <p:nvPr/>
          </p:nvSpPr>
          <p:spPr bwMode="auto">
            <a:xfrm>
              <a:off x="2562" y="23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00" name="Rectangle 199"/>
            <p:cNvSpPr>
              <a:spLocks noChangeArrowheads="1"/>
            </p:cNvSpPr>
            <p:nvPr/>
          </p:nvSpPr>
          <p:spPr bwMode="auto">
            <a:xfrm>
              <a:off x="2592" y="23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a</a:t>
              </a:r>
            </a:p>
          </p:txBody>
        </p:sp>
        <p:sp>
          <p:nvSpPr>
            <p:cNvPr id="201" name="Rectangle 200"/>
            <p:cNvSpPr>
              <a:spLocks noChangeArrowheads="1"/>
            </p:cNvSpPr>
            <p:nvPr/>
          </p:nvSpPr>
          <p:spPr bwMode="auto">
            <a:xfrm>
              <a:off x="2625" y="2336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d</a:t>
              </a:r>
            </a:p>
          </p:txBody>
        </p:sp>
        <p:sp>
          <p:nvSpPr>
            <p:cNvPr id="202" name="Rectangle 201"/>
            <p:cNvSpPr>
              <a:spLocks noChangeArrowheads="1"/>
            </p:cNvSpPr>
            <p:nvPr/>
          </p:nvSpPr>
          <p:spPr bwMode="auto">
            <a:xfrm>
              <a:off x="2657" y="2336"/>
              <a:ext cx="1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3" name="Rectangle 202"/>
            <p:cNvSpPr>
              <a:spLocks noChangeArrowheads="1"/>
            </p:cNvSpPr>
            <p:nvPr/>
          </p:nvSpPr>
          <p:spPr bwMode="auto">
            <a:xfrm>
              <a:off x="2520" y="2398"/>
              <a:ext cx="19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r</a:t>
              </a:r>
            </a:p>
          </p:txBody>
        </p:sp>
        <p:sp>
          <p:nvSpPr>
            <p:cNvPr id="204" name="Rectangle 203"/>
            <p:cNvSpPr>
              <a:spLocks noChangeArrowheads="1"/>
            </p:cNvSpPr>
            <p:nvPr/>
          </p:nvSpPr>
          <p:spPr bwMode="auto">
            <a:xfrm>
              <a:off x="2538" y="239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e</a:t>
              </a:r>
            </a:p>
          </p:txBody>
        </p:sp>
        <p:sp>
          <p:nvSpPr>
            <p:cNvPr id="205" name="Rectangle 204"/>
            <p:cNvSpPr>
              <a:spLocks noChangeArrowheads="1"/>
            </p:cNvSpPr>
            <p:nvPr/>
          </p:nvSpPr>
          <p:spPr bwMode="auto">
            <a:xfrm>
              <a:off x="2571" y="2398"/>
              <a:ext cx="31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g</a:t>
              </a:r>
            </a:p>
          </p:txBody>
        </p:sp>
        <p:sp>
          <p:nvSpPr>
            <p:cNvPr id="206" name="Rectangle 205"/>
            <p:cNvSpPr>
              <a:spLocks noChangeArrowheads="1"/>
            </p:cNvSpPr>
            <p:nvPr/>
          </p:nvSpPr>
          <p:spPr bwMode="auto">
            <a:xfrm>
              <a:off x="2601" y="2398"/>
              <a:ext cx="13" cy="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lnSpc>
                  <a:spcPct val="100000"/>
                </a:lnSpc>
                <a:buClr>
                  <a:srgbClr val="666666"/>
                </a:buClr>
                <a:buFont typeface="Arial" charset="0"/>
                <a:buNone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altLang="zh-TW" sz="700">
                  <a:solidFill>
                    <a:srgbClr val="666666"/>
                  </a:solidFill>
                  <a:latin typeface="Arial" charset="0"/>
                  <a:ea typeface="新細明體" charset="-120"/>
                </a:rPr>
                <a:t>i</a:t>
              </a:r>
            </a:p>
          </p:txBody>
        </p:sp>
      </p:grpSp>
      <p:sp>
        <p:nvSpPr>
          <p:cNvPr id="207" name="Rectangle 206"/>
          <p:cNvSpPr>
            <a:spLocks noChangeArrowheads="1"/>
          </p:cNvSpPr>
          <p:nvPr/>
        </p:nvSpPr>
        <p:spPr bwMode="auto">
          <a:xfrm>
            <a:off x="5429251" y="4094163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208" name="Rectangle 207"/>
          <p:cNvSpPr>
            <a:spLocks noChangeArrowheads="1"/>
          </p:cNvSpPr>
          <p:nvPr/>
        </p:nvSpPr>
        <p:spPr bwMode="auto">
          <a:xfrm>
            <a:off x="5473701" y="409416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209" name="Rectangle 208"/>
          <p:cNvSpPr>
            <a:spLocks noChangeArrowheads="1"/>
          </p:cNvSpPr>
          <p:nvPr/>
        </p:nvSpPr>
        <p:spPr bwMode="auto">
          <a:xfrm>
            <a:off x="5500688" y="409416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210" name="Rectangle 209"/>
          <p:cNvSpPr>
            <a:spLocks noChangeArrowheads="1"/>
          </p:cNvSpPr>
          <p:nvPr/>
        </p:nvSpPr>
        <p:spPr bwMode="auto">
          <a:xfrm>
            <a:off x="5551488" y="4094163"/>
            <a:ext cx="3016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211" name="Rectangle 210"/>
          <p:cNvSpPr>
            <a:spLocks noChangeArrowheads="1"/>
          </p:cNvSpPr>
          <p:nvPr/>
        </p:nvSpPr>
        <p:spPr bwMode="auto">
          <a:xfrm>
            <a:off x="5581651" y="409416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700">
                <a:solidFill>
                  <a:srgbClr val="666666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212" name="Rectangle 211"/>
          <p:cNvSpPr>
            <a:spLocks noChangeArrowheads="1"/>
          </p:cNvSpPr>
          <p:nvPr/>
        </p:nvSpPr>
        <p:spPr bwMode="auto">
          <a:xfrm>
            <a:off x="5607051" y="409416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213" name="Rectangle 212"/>
          <p:cNvSpPr>
            <a:spLocks noChangeArrowheads="1"/>
          </p:cNvSpPr>
          <p:nvPr/>
        </p:nvSpPr>
        <p:spPr bwMode="auto">
          <a:xfrm>
            <a:off x="5278438" y="4300538"/>
            <a:ext cx="6508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214" name="Rectangle 213"/>
          <p:cNvSpPr>
            <a:spLocks noChangeArrowheads="1"/>
          </p:cNvSpPr>
          <p:nvPr/>
        </p:nvSpPr>
        <p:spPr bwMode="auto">
          <a:xfrm>
            <a:off x="5345113" y="430053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215" name="Rectangle 214"/>
          <p:cNvSpPr>
            <a:spLocks noChangeArrowheads="1"/>
          </p:cNvSpPr>
          <p:nvPr/>
        </p:nvSpPr>
        <p:spPr bwMode="auto">
          <a:xfrm>
            <a:off x="5392738" y="430053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216" name="Rectangle 215"/>
          <p:cNvSpPr>
            <a:spLocks noChangeArrowheads="1"/>
          </p:cNvSpPr>
          <p:nvPr/>
        </p:nvSpPr>
        <p:spPr bwMode="auto">
          <a:xfrm>
            <a:off x="5445126" y="430053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217" name="Rectangle 216"/>
          <p:cNvSpPr>
            <a:spLocks noChangeArrowheads="1"/>
          </p:cNvSpPr>
          <p:nvPr/>
        </p:nvSpPr>
        <p:spPr bwMode="auto">
          <a:xfrm>
            <a:off x="5495926" y="4300538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8" name="Rectangle 217"/>
          <p:cNvSpPr>
            <a:spLocks noChangeArrowheads="1"/>
          </p:cNvSpPr>
          <p:nvPr/>
        </p:nvSpPr>
        <p:spPr bwMode="auto">
          <a:xfrm>
            <a:off x="5278438" y="4398963"/>
            <a:ext cx="3016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219" name="Rectangle 218"/>
          <p:cNvSpPr>
            <a:spLocks noChangeArrowheads="1"/>
          </p:cNvSpPr>
          <p:nvPr/>
        </p:nvSpPr>
        <p:spPr bwMode="auto">
          <a:xfrm>
            <a:off x="5307013" y="439896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220" name="Rectangle 219"/>
          <p:cNvSpPr>
            <a:spLocks noChangeArrowheads="1"/>
          </p:cNvSpPr>
          <p:nvPr/>
        </p:nvSpPr>
        <p:spPr bwMode="auto">
          <a:xfrm>
            <a:off x="5359401" y="439896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221" name="Rectangle 220"/>
          <p:cNvSpPr>
            <a:spLocks noChangeArrowheads="1"/>
          </p:cNvSpPr>
          <p:nvPr/>
        </p:nvSpPr>
        <p:spPr bwMode="auto">
          <a:xfrm>
            <a:off x="5407026" y="4398963"/>
            <a:ext cx="206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222" name="Rectangle 221"/>
          <p:cNvSpPr>
            <a:spLocks noChangeArrowheads="1"/>
          </p:cNvSpPr>
          <p:nvPr/>
        </p:nvSpPr>
        <p:spPr bwMode="auto">
          <a:xfrm>
            <a:off x="5429251" y="4398963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223" name="Rectangle 222"/>
          <p:cNvSpPr>
            <a:spLocks noChangeArrowheads="1"/>
          </p:cNvSpPr>
          <p:nvPr/>
        </p:nvSpPr>
        <p:spPr bwMode="auto">
          <a:xfrm>
            <a:off x="5473701" y="439896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224" name="Rectangle 223"/>
          <p:cNvSpPr>
            <a:spLocks noChangeArrowheads="1"/>
          </p:cNvSpPr>
          <p:nvPr/>
        </p:nvSpPr>
        <p:spPr bwMode="auto">
          <a:xfrm>
            <a:off x="5500688" y="439896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225" name="Rectangle 224"/>
          <p:cNvSpPr>
            <a:spLocks noChangeArrowheads="1"/>
          </p:cNvSpPr>
          <p:nvPr/>
        </p:nvSpPr>
        <p:spPr bwMode="auto">
          <a:xfrm>
            <a:off x="5551488" y="4398963"/>
            <a:ext cx="3016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226" name="Rectangle 225"/>
          <p:cNvSpPr>
            <a:spLocks noChangeArrowheads="1"/>
          </p:cNvSpPr>
          <p:nvPr/>
        </p:nvSpPr>
        <p:spPr bwMode="auto">
          <a:xfrm>
            <a:off x="5581651" y="439896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700">
                <a:solidFill>
                  <a:srgbClr val="666666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227" name="Rectangle 226"/>
          <p:cNvSpPr>
            <a:spLocks noChangeArrowheads="1"/>
          </p:cNvSpPr>
          <p:nvPr/>
        </p:nvSpPr>
        <p:spPr bwMode="auto">
          <a:xfrm>
            <a:off x="5607051" y="439896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228" name="Freeform 227"/>
          <p:cNvSpPr>
            <a:spLocks noChangeArrowheads="1"/>
          </p:cNvSpPr>
          <p:nvPr/>
        </p:nvSpPr>
        <p:spPr bwMode="auto">
          <a:xfrm>
            <a:off x="5184776" y="4387850"/>
            <a:ext cx="49212" cy="49213"/>
          </a:xfrm>
          <a:custGeom>
            <a:avLst/>
            <a:gdLst>
              <a:gd name="T0" fmla="*/ 0 w 31"/>
              <a:gd name="T1" fmla="*/ 0 h 28"/>
              <a:gd name="T2" fmla="*/ 0 w 31"/>
              <a:gd name="T3" fmla="*/ 28 h 28"/>
              <a:gd name="T4" fmla="*/ 31 w 31"/>
              <a:gd name="T5" fmla="*/ 14 h 28"/>
              <a:gd name="T6" fmla="*/ 0 w 31"/>
              <a:gd name="T7" fmla="*/ 0 h 28"/>
              <a:gd name="T8" fmla="*/ 0 w 31"/>
              <a:gd name="T9" fmla="*/ 0 h 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"/>
              <a:gd name="T16" fmla="*/ 0 h 28"/>
              <a:gd name="T17" fmla="*/ 31 w 31"/>
              <a:gd name="T18" fmla="*/ 28 h 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" h="28">
                <a:moveTo>
                  <a:pt x="0" y="0"/>
                </a:moveTo>
                <a:lnTo>
                  <a:pt x="0" y="28"/>
                </a:lnTo>
                <a:lnTo>
                  <a:pt x="31" y="14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9" name="Line 228"/>
          <p:cNvSpPr>
            <a:spLocks noChangeShapeType="1"/>
          </p:cNvSpPr>
          <p:nvPr/>
        </p:nvSpPr>
        <p:spPr bwMode="auto">
          <a:xfrm flipH="1">
            <a:off x="3838576" y="4411663"/>
            <a:ext cx="1363662" cy="1587"/>
          </a:xfrm>
          <a:prstGeom prst="line">
            <a:avLst/>
          </a:prstGeom>
          <a:noFill/>
          <a:ln w="1908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0" name="Freeform 229"/>
          <p:cNvSpPr>
            <a:spLocks noChangeArrowheads="1"/>
          </p:cNvSpPr>
          <p:nvPr/>
        </p:nvSpPr>
        <p:spPr bwMode="auto">
          <a:xfrm>
            <a:off x="5184776" y="4081463"/>
            <a:ext cx="49212" cy="49212"/>
          </a:xfrm>
          <a:custGeom>
            <a:avLst/>
            <a:gdLst>
              <a:gd name="T0" fmla="*/ 0 w 31"/>
              <a:gd name="T1" fmla="*/ 0 h 28"/>
              <a:gd name="T2" fmla="*/ 0 w 31"/>
              <a:gd name="T3" fmla="*/ 28 h 28"/>
              <a:gd name="T4" fmla="*/ 31 w 31"/>
              <a:gd name="T5" fmla="*/ 14 h 28"/>
              <a:gd name="T6" fmla="*/ 0 w 31"/>
              <a:gd name="T7" fmla="*/ 0 h 28"/>
              <a:gd name="T8" fmla="*/ 0 w 31"/>
              <a:gd name="T9" fmla="*/ 0 h 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"/>
              <a:gd name="T16" fmla="*/ 0 h 28"/>
              <a:gd name="T17" fmla="*/ 31 w 31"/>
              <a:gd name="T18" fmla="*/ 28 h 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" h="28">
                <a:moveTo>
                  <a:pt x="0" y="0"/>
                </a:moveTo>
                <a:lnTo>
                  <a:pt x="0" y="28"/>
                </a:lnTo>
                <a:lnTo>
                  <a:pt x="31" y="14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1" name="Line 230"/>
          <p:cNvSpPr>
            <a:spLocks noChangeShapeType="1"/>
          </p:cNvSpPr>
          <p:nvPr/>
        </p:nvSpPr>
        <p:spPr bwMode="auto">
          <a:xfrm flipH="1">
            <a:off x="3838576" y="4105275"/>
            <a:ext cx="1363662" cy="1588"/>
          </a:xfrm>
          <a:prstGeom prst="line">
            <a:avLst/>
          </a:prstGeom>
          <a:noFill/>
          <a:ln w="1908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2" name="Freeform 231"/>
          <p:cNvSpPr>
            <a:spLocks noChangeArrowheads="1"/>
          </p:cNvSpPr>
          <p:nvPr/>
        </p:nvSpPr>
        <p:spPr bwMode="auto">
          <a:xfrm>
            <a:off x="5184776" y="4999038"/>
            <a:ext cx="49212" cy="49212"/>
          </a:xfrm>
          <a:custGeom>
            <a:avLst/>
            <a:gdLst>
              <a:gd name="T0" fmla="*/ 0 w 31"/>
              <a:gd name="T1" fmla="*/ 0 h 28"/>
              <a:gd name="T2" fmla="*/ 0 w 31"/>
              <a:gd name="T3" fmla="*/ 28 h 28"/>
              <a:gd name="T4" fmla="*/ 31 w 31"/>
              <a:gd name="T5" fmla="*/ 14 h 28"/>
              <a:gd name="T6" fmla="*/ 0 w 31"/>
              <a:gd name="T7" fmla="*/ 0 h 28"/>
              <a:gd name="T8" fmla="*/ 0 w 31"/>
              <a:gd name="T9" fmla="*/ 0 h 2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"/>
              <a:gd name="T16" fmla="*/ 0 h 28"/>
              <a:gd name="T17" fmla="*/ 31 w 31"/>
              <a:gd name="T18" fmla="*/ 28 h 2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" h="28">
                <a:moveTo>
                  <a:pt x="0" y="0"/>
                </a:moveTo>
                <a:lnTo>
                  <a:pt x="0" y="28"/>
                </a:lnTo>
                <a:lnTo>
                  <a:pt x="31" y="14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3" name="Rectangle 232"/>
          <p:cNvSpPr>
            <a:spLocks noChangeArrowheads="1"/>
          </p:cNvSpPr>
          <p:nvPr/>
        </p:nvSpPr>
        <p:spPr bwMode="auto">
          <a:xfrm>
            <a:off x="3886201" y="4873625"/>
            <a:ext cx="238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234" name="Rectangle 233"/>
          <p:cNvSpPr>
            <a:spLocks noChangeArrowheads="1"/>
          </p:cNvSpPr>
          <p:nvPr/>
        </p:nvSpPr>
        <p:spPr bwMode="auto">
          <a:xfrm>
            <a:off x="3911601" y="487362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235" name="Rectangle 234"/>
          <p:cNvSpPr>
            <a:spLocks noChangeArrowheads="1"/>
          </p:cNvSpPr>
          <p:nvPr/>
        </p:nvSpPr>
        <p:spPr bwMode="auto">
          <a:xfrm>
            <a:off x="3959226" y="4873625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236" name="Rectangle 235"/>
          <p:cNvSpPr>
            <a:spLocks noChangeArrowheads="1"/>
          </p:cNvSpPr>
          <p:nvPr/>
        </p:nvSpPr>
        <p:spPr bwMode="auto">
          <a:xfrm>
            <a:off x="4006851" y="4873625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237" name="Rectangle 236"/>
          <p:cNvSpPr>
            <a:spLocks noChangeArrowheads="1"/>
          </p:cNvSpPr>
          <p:nvPr/>
        </p:nvSpPr>
        <p:spPr bwMode="auto">
          <a:xfrm>
            <a:off x="4029076" y="4873625"/>
            <a:ext cx="3016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238" name="Rectangle 237"/>
          <p:cNvSpPr>
            <a:spLocks noChangeArrowheads="1"/>
          </p:cNvSpPr>
          <p:nvPr/>
        </p:nvSpPr>
        <p:spPr bwMode="auto">
          <a:xfrm>
            <a:off x="4062413" y="487362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239" name="Rectangle 238"/>
          <p:cNvSpPr>
            <a:spLocks noChangeArrowheads="1"/>
          </p:cNvSpPr>
          <p:nvPr/>
        </p:nvSpPr>
        <p:spPr bwMode="auto">
          <a:xfrm>
            <a:off x="4111626" y="4873625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240" name="Rectangle 239"/>
          <p:cNvSpPr>
            <a:spLocks noChangeArrowheads="1"/>
          </p:cNvSpPr>
          <p:nvPr/>
        </p:nvSpPr>
        <p:spPr bwMode="auto">
          <a:xfrm>
            <a:off x="4159251" y="4873625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241" name="Rectangle 240"/>
          <p:cNvSpPr>
            <a:spLocks noChangeArrowheads="1"/>
          </p:cNvSpPr>
          <p:nvPr/>
        </p:nvSpPr>
        <p:spPr bwMode="auto">
          <a:xfrm>
            <a:off x="4184651" y="4873625"/>
            <a:ext cx="206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242" name="Rectangle 241"/>
          <p:cNvSpPr>
            <a:spLocks noChangeArrowheads="1"/>
          </p:cNvSpPr>
          <p:nvPr/>
        </p:nvSpPr>
        <p:spPr bwMode="auto">
          <a:xfrm>
            <a:off x="4203701" y="487362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243" name="Rectangle 242"/>
          <p:cNvSpPr>
            <a:spLocks noChangeArrowheads="1"/>
          </p:cNvSpPr>
          <p:nvPr/>
        </p:nvSpPr>
        <p:spPr bwMode="auto">
          <a:xfrm>
            <a:off x="4256088" y="487362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244" name="Rectangle 243"/>
          <p:cNvSpPr>
            <a:spLocks noChangeArrowheads="1"/>
          </p:cNvSpPr>
          <p:nvPr/>
        </p:nvSpPr>
        <p:spPr bwMode="auto">
          <a:xfrm>
            <a:off x="4303713" y="4873625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700">
                <a:solidFill>
                  <a:srgbClr val="666666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245" name="Rectangle 244"/>
          <p:cNvSpPr>
            <a:spLocks noChangeArrowheads="1"/>
          </p:cNvSpPr>
          <p:nvPr/>
        </p:nvSpPr>
        <p:spPr bwMode="auto">
          <a:xfrm>
            <a:off x="4329113" y="4873625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[</a:t>
            </a:r>
          </a:p>
        </p:txBody>
      </p:sp>
      <p:sp>
        <p:nvSpPr>
          <p:cNvPr id="246" name="Rectangle 245"/>
          <p:cNvSpPr>
            <a:spLocks noChangeArrowheads="1"/>
          </p:cNvSpPr>
          <p:nvPr/>
        </p:nvSpPr>
        <p:spPr bwMode="auto">
          <a:xfrm>
            <a:off x="4356101" y="487362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247" name="Rectangle 246"/>
          <p:cNvSpPr>
            <a:spLocks noChangeArrowheads="1"/>
          </p:cNvSpPr>
          <p:nvPr/>
        </p:nvSpPr>
        <p:spPr bwMode="auto">
          <a:xfrm>
            <a:off x="4406901" y="487362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5</a:t>
            </a:r>
          </a:p>
        </p:txBody>
      </p:sp>
      <p:sp>
        <p:nvSpPr>
          <p:cNvPr id="248" name="Rectangle 247"/>
          <p:cNvSpPr>
            <a:spLocks noChangeArrowheads="1"/>
          </p:cNvSpPr>
          <p:nvPr/>
        </p:nvSpPr>
        <p:spPr bwMode="auto">
          <a:xfrm>
            <a:off x="4459288" y="487362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–</a:t>
            </a:r>
          </a:p>
        </p:txBody>
      </p:sp>
      <p:sp>
        <p:nvSpPr>
          <p:cNvPr id="249" name="Rectangle 248"/>
          <p:cNvSpPr>
            <a:spLocks noChangeArrowheads="1"/>
          </p:cNvSpPr>
          <p:nvPr/>
        </p:nvSpPr>
        <p:spPr bwMode="auto">
          <a:xfrm>
            <a:off x="4525963" y="487362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250" name="Rectangle 249"/>
          <p:cNvSpPr>
            <a:spLocks noChangeArrowheads="1"/>
          </p:cNvSpPr>
          <p:nvPr/>
        </p:nvSpPr>
        <p:spPr bwMode="auto">
          <a:xfrm>
            <a:off x="4578351" y="487362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251" name="Rectangle 250"/>
          <p:cNvSpPr>
            <a:spLocks noChangeArrowheads="1"/>
          </p:cNvSpPr>
          <p:nvPr/>
        </p:nvSpPr>
        <p:spPr bwMode="auto">
          <a:xfrm>
            <a:off x="4625976" y="4873625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]</a:t>
            </a:r>
          </a:p>
        </p:txBody>
      </p:sp>
      <p:sp>
        <p:nvSpPr>
          <p:cNvPr id="252" name="Rectangle 251"/>
          <p:cNvSpPr>
            <a:spLocks noChangeArrowheads="1"/>
          </p:cNvSpPr>
          <p:nvPr/>
        </p:nvSpPr>
        <p:spPr bwMode="auto">
          <a:xfrm>
            <a:off x="3886201" y="4264025"/>
            <a:ext cx="238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253" name="Rectangle 252"/>
          <p:cNvSpPr>
            <a:spLocks noChangeArrowheads="1"/>
          </p:cNvSpPr>
          <p:nvPr/>
        </p:nvSpPr>
        <p:spPr bwMode="auto">
          <a:xfrm>
            <a:off x="3911601" y="426402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254" name="Rectangle 253"/>
          <p:cNvSpPr>
            <a:spLocks noChangeArrowheads="1"/>
          </p:cNvSpPr>
          <p:nvPr/>
        </p:nvSpPr>
        <p:spPr bwMode="auto">
          <a:xfrm>
            <a:off x="3959226" y="4264025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255" name="Rectangle 254"/>
          <p:cNvSpPr>
            <a:spLocks noChangeArrowheads="1"/>
          </p:cNvSpPr>
          <p:nvPr/>
        </p:nvSpPr>
        <p:spPr bwMode="auto">
          <a:xfrm>
            <a:off x="4006851" y="4264025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256" name="Rectangle 255"/>
          <p:cNvSpPr>
            <a:spLocks noChangeArrowheads="1"/>
          </p:cNvSpPr>
          <p:nvPr/>
        </p:nvSpPr>
        <p:spPr bwMode="auto">
          <a:xfrm>
            <a:off x="4029076" y="4264025"/>
            <a:ext cx="3016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257" name="Rectangle 256"/>
          <p:cNvSpPr>
            <a:spLocks noChangeArrowheads="1"/>
          </p:cNvSpPr>
          <p:nvPr/>
        </p:nvSpPr>
        <p:spPr bwMode="auto">
          <a:xfrm>
            <a:off x="4062413" y="426402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258" name="Rectangle 257"/>
          <p:cNvSpPr>
            <a:spLocks noChangeArrowheads="1"/>
          </p:cNvSpPr>
          <p:nvPr/>
        </p:nvSpPr>
        <p:spPr bwMode="auto">
          <a:xfrm>
            <a:off x="4111626" y="4264025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259" name="Rectangle 258"/>
          <p:cNvSpPr>
            <a:spLocks noChangeArrowheads="1"/>
          </p:cNvSpPr>
          <p:nvPr/>
        </p:nvSpPr>
        <p:spPr bwMode="auto">
          <a:xfrm>
            <a:off x="4159251" y="4264025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260" name="Rectangle 259"/>
          <p:cNvSpPr>
            <a:spLocks noChangeArrowheads="1"/>
          </p:cNvSpPr>
          <p:nvPr/>
        </p:nvSpPr>
        <p:spPr bwMode="auto">
          <a:xfrm>
            <a:off x="4184651" y="4264025"/>
            <a:ext cx="206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261" name="Rectangle 260"/>
          <p:cNvSpPr>
            <a:spLocks noChangeArrowheads="1"/>
          </p:cNvSpPr>
          <p:nvPr/>
        </p:nvSpPr>
        <p:spPr bwMode="auto">
          <a:xfrm>
            <a:off x="4203701" y="426402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262" name="Rectangle 261"/>
          <p:cNvSpPr>
            <a:spLocks noChangeArrowheads="1"/>
          </p:cNvSpPr>
          <p:nvPr/>
        </p:nvSpPr>
        <p:spPr bwMode="auto">
          <a:xfrm>
            <a:off x="4256088" y="426402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263" name="Rectangle 262"/>
          <p:cNvSpPr>
            <a:spLocks noChangeArrowheads="1"/>
          </p:cNvSpPr>
          <p:nvPr/>
        </p:nvSpPr>
        <p:spPr bwMode="auto">
          <a:xfrm>
            <a:off x="4303713" y="4264025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700">
                <a:solidFill>
                  <a:srgbClr val="666666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264" name="Rectangle 263"/>
          <p:cNvSpPr>
            <a:spLocks noChangeArrowheads="1"/>
          </p:cNvSpPr>
          <p:nvPr/>
        </p:nvSpPr>
        <p:spPr bwMode="auto">
          <a:xfrm>
            <a:off x="4329113" y="4264025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[</a:t>
            </a:r>
          </a:p>
        </p:txBody>
      </p:sp>
      <p:sp>
        <p:nvSpPr>
          <p:cNvPr id="265" name="Rectangle 264"/>
          <p:cNvSpPr>
            <a:spLocks noChangeArrowheads="1"/>
          </p:cNvSpPr>
          <p:nvPr/>
        </p:nvSpPr>
        <p:spPr bwMode="auto">
          <a:xfrm>
            <a:off x="4356101" y="426402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266" name="Rectangle 265"/>
          <p:cNvSpPr>
            <a:spLocks noChangeArrowheads="1"/>
          </p:cNvSpPr>
          <p:nvPr/>
        </p:nvSpPr>
        <p:spPr bwMode="auto">
          <a:xfrm>
            <a:off x="4406901" y="426402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0</a:t>
            </a:r>
          </a:p>
        </p:txBody>
      </p:sp>
      <p:sp>
        <p:nvSpPr>
          <p:cNvPr id="267" name="Rectangle 266"/>
          <p:cNvSpPr>
            <a:spLocks noChangeArrowheads="1"/>
          </p:cNvSpPr>
          <p:nvPr/>
        </p:nvSpPr>
        <p:spPr bwMode="auto">
          <a:xfrm>
            <a:off x="4459288" y="426402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–</a:t>
            </a:r>
          </a:p>
        </p:txBody>
      </p:sp>
      <p:sp>
        <p:nvSpPr>
          <p:cNvPr id="268" name="Rectangle 267"/>
          <p:cNvSpPr>
            <a:spLocks noChangeArrowheads="1"/>
          </p:cNvSpPr>
          <p:nvPr/>
        </p:nvSpPr>
        <p:spPr bwMode="auto">
          <a:xfrm>
            <a:off x="4525963" y="426402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269" name="Rectangle 268"/>
          <p:cNvSpPr>
            <a:spLocks noChangeArrowheads="1"/>
          </p:cNvSpPr>
          <p:nvPr/>
        </p:nvSpPr>
        <p:spPr bwMode="auto">
          <a:xfrm>
            <a:off x="4578351" y="426402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6</a:t>
            </a:r>
          </a:p>
        </p:txBody>
      </p:sp>
      <p:sp>
        <p:nvSpPr>
          <p:cNvPr id="270" name="Rectangle 269"/>
          <p:cNvSpPr>
            <a:spLocks noChangeArrowheads="1"/>
          </p:cNvSpPr>
          <p:nvPr/>
        </p:nvSpPr>
        <p:spPr bwMode="auto">
          <a:xfrm>
            <a:off x="4625976" y="4264025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]</a:t>
            </a:r>
          </a:p>
        </p:txBody>
      </p:sp>
      <p:sp>
        <p:nvSpPr>
          <p:cNvPr id="271" name="Rectangle 270"/>
          <p:cNvSpPr>
            <a:spLocks noChangeArrowheads="1"/>
          </p:cNvSpPr>
          <p:nvPr/>
        </p:nvSpPr>
        <p:spPr bwMode="auto">
          <a:xfrm>
            <a:off x="3886201" y="3957638"/>
            <a:ext cx="238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272" name="Rectangle 271"/>
          <p:cNvSpPr>
            <a:spLocks noChangeArrowheads="1"/>
          </p:cNvSpPr>
          <p:nvPr/>
        </p:nvSpPr>
        <p:spPr bwMode="auto">
          <a:xfrm>
            <a:off x="3911601" y="395763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273" name="Rectangle 272"/>
          <p:cNvSpPr>
            <a:spLocks noChangeArrowheads="1"/>
          </p:cNvSpPr>
          <p:nvPr/>
        </p:nvSpPr>
        <p:spPr bwMode="auto">
          <a:xfrm>
            <a:off x="3959226" y="3957638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274" name="Rectangle 273"/>
          <p:cNvSpPr>
            <a:spLocks noChangeArrowheads="1"/>
          </p:cNvSpPr>
          <p:nvPr/>
        </p:nvSpPr>
        <p:spPr bwMode="auto">
          <a:xfrm>
            <a:off x="4006851" y="3957638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275" name="Rectangle 274"/>
          <p:cNvSpPr>
            <a:spLocks noChangeArrowheads="1"/>
          </p:cNvSpPr>
          <p:nvPr/>
        </p:nvSpPr>
        <p:spPr bwMode="auto">
          <a:xfrm>
            <a:off x="4029076" y="3957638"/>
            <a:ext cx="3016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276" name="Rectangle 275"/>
          <p:cNvSpPr>
            <a:spLocks noChangeArrowheads="1"/>
          </p:cNvSpPr>
          <p:nvPr/>
        </p:nvSpPr>
        <p:spPr bwMode="auto">
          <a:xfrm>
            <a:off x="4062413" y="395763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277" name="Rectangle 276"/>
          <p:cNvSpPr>
            <a:spLocks noChangeArrowheads="1"/>
          </p:cNvSpPr>
          <p:nvPr/>
        </p:nvSpPr>
        <p:spPr bwMode="auto">
          <a:xfrm>
            <a:off x="4111626" y="3957638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278" name="Rectangle 277"/>
          <p:cNvSpPr>
            <a:spLocks noChangeArrowheads="1"/>
          </p:cNvSpPr>
          <p:nvPr/>
        </p:nvSpPr>
        <p:spPr bwMode="auto">
          <a:xfrm>
            <a:off x="4159251" y="3957638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279" name="Rectangle 278"/>
          <p:cNvSpPr>
            <a:spLocks noChangeArrowheads="1"/>
          </p:cNvSpPr>
          <p:nvPr/>
        </p:nvSpPr>
        <p:spPr bwMode="auto">
          <a:xfrm>
            <a:off x="4184651" y="3957638"/>
            <a:ext cx="206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280" name="Rectangle 279"/>
          <p:cNvSpPr>
            <a:spLocks noChangeArrowheads="1"/>
          </p:cNvSpPr>
          <p:nvPr/>
        </p:nvSpPr>
        <p:spPr bwMode="auto">
          <a:xfrm>
            <a:off x="4203701" y="395763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281" name="Rectangle 280"/>
          <p:cNvSpPr>
            <a:spLocks noChangeArrowheads="1"/>
          </p:cNvSpPr>
          <p:nvPr/>
        </p:nvSpPr>
        <p:spPr bwMode="auto">
          <a:xfrm>
            <a:off x="4256088" y="395763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282" name="Rectangle 281"/>
          <p:cNvSpPr>
            <a:spLocks noChangeArrowheads="1"/>
          </p:cNvSpPr>
          <p:nvPr/>
        </p:nvSpPr>
        <p:spPr bwMode="auto">
          <a:xfrm>
            <a:off x="4303713" y="3957638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700">
                <a:solidFill>
                  <a:srgbClr val="666666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283" name="Rectangle 282"/>
          <p:cNvSpPr>
            <a:spLocks noChangeArrowheads="1"/>
          </p:cNvSpPr>
          <p:nvPr/>
        </p:nvSpPr>
        <p:spPr bwMode="auto">
          <a:xfrm>
            <a:off x="4329113" y="3957638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[</a:t>
            </a:r>
          </a:p>
        </p:txBody>
      </p:sp>
      <p:sp>
        <p:nvSpPr>
          <p:cNvPr id="284" name="Rectangle 283"/>
          <p:cNvSpPr>
            <a:spLocks noChangeArrowheads="1"/>
          </p:cNvSpPr>
          <p:nvPr/>
        </p:nvSpPr>
        <p:spPr bwMode="auto">
          <a:xfrm>
            <a:off x="4356101" y="395763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285" name="Rectangle 284"/>
          <p:cNvSpPr>
            <a:spLocks noChangeArrowheads="1"/>
          </p:cNvSpPr>
          <p:nvPr/>
        </p:nvSpPr>
        <p:spPr bwMode="auto">
          <a:xfrm>
            <a:off x="4406901" y="395763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5</a:t>
            </a:r>
          </a:p>
        </p:txBody>
      </p:sp>
      <p:sp>
        <p:nvSpPr>
          <p:cNvPr id="286" name="Rectangle 285"/>
          <p:cNvSpPr>
            <a:spLocks noChangeArrowheads="1"/>
          </p:cNvSpPr>
          <p:nvPr/>
        </p:nvSpPr>
        <p:spPr bwMode="auto">
          <a:xfrm>
            <a:off x="4459288" y="395763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–</a:t>
            </a:r>
          </a:p>
        </p:txBody>
      </p:sp>
      <p:sp>
        <p:nvSpPr>
          <p:cNvPr id="287" name="Rectangle 286"/>
          <p:cNvSpPr>
            <a:spLocks noChangeArrowheads="1"/>
          </p:cNvSpPr>
          <p:nvPr/>
        </p:nvSpPr>
        <p:spPr bwMode="auto">
          <a:xfrm>
            <a:off x="4525963" y="395763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288" name="Rectangle 287"/>
          <p:cNvSpPr>
            <a:spLocks noChangeArrowheads="1"/>
          </p:cNvSpPr>
          <p:nvPr/>
        </p:nvSpPr>
        <p:spPr bwMode="auto">
          <a:xfrm>
            <a:off x="4578351" y="395763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289" name="Rectangle 288"/>
          <p:cNvSpPr>
            <a:spLocks noChangeArrowheads="1"/>
          </p:cNvSpPr>
          <p:nvPr/>
        </p:nvSpPr>
        <p:spPr bwMode="auto">
          <a:xfrm>
            <a:off x="4625976" y="3957638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]</a:t>
            </a:r>
          </a:p>
        </p:txBody>
      </p:sp>
      <p:sp>
        <p:nvSpPr>
          <p:cNvPr id="290" name="Freeform 289"/>
          <p:cNvSpPr>
            <a:spLocks noChangeArrowheads="1"/>
          </p:cNvSpPr>
          <p:nvPr/>
        </p:nvSpPr>
        <p:spPr bwMode="auto">
          <a:xfrm>
            <a:off x="2295526" y="2222500"/>
            <a:ext cx="533400" cy="1962150"/>
          </a:xfrm>
          <a:custGeom>
            <a:avLst/>
            <a:gdLst>
              <a:gd name="T0" fmla="*/ 336 w 336"/>
              <a:gd name="T1" fmla="*/ 0 h 1109"/>
              <a:gd name="T2" fmla="*/ 0 w 336"/>
              <a:gd name="T3" fmla="*/ 2 h 1109"/>
              <a:gd name="T4" fmla="*/ 0 w 336"/>
              <a:gd name="T5" fmla="*/ 1109 h 1109"/>
              <a:gd name="T6" fmla="*/ 0 60000 65536"/>
              <a:gd name="T7" fmla="*/ 0 60000 65536"/>
              <a:gd name="T8" fmla="*/ 0 60000 65536"/>
              <a:gd name="T9" fmla="*/ 0 w 336"/>
              <a:gd name="T10" fmla="*/ 0 h 1109"/>
              <a:gd name="T11" fmla="*/ 336 w 336"/>
              <a:gd name="T12" fmla="*/ 1109 h 110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36" h="1109">
                <a:moveTo>
                  <a:pt x="336" y="0"/>
                </a:moveTo>
                <a:lnTo>
                  <a:pt x="0" y="2"/>
                </a:lnTo>
                <a:lnTo>
                  <a:pt x="0" y="1109"/>
                </a:lnTo>
              </a:path>
            </a:pathLst>
          </a:custGeom>
          <a:noFill/>
          <a:ln w="19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1" name="Line 290"/>
          <p:cNvSpPr>
            <a:spLocks noChangeShapeType="1"/>
          </p:cNvSpPr>
          <p:nvPr/>
        </p:nvSpPr>
        <p:spPr bwMode="auto">
          <a:xfrm flipH="1">
            <a:off x="2660651" y="2833688"/>
            <a:ext cx="169862" cy="4762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2" name="Freeform 291"/>
          <p:cNvSpPr>
            <a:spLocks noChangeArrowheads="1"/>
          </p:cNvSpPr>
          <p:nvPr/>
        </p:nvSpPr>
        <p:spPr bwMode="auto">
          <a:xfrm>
            <a:off x="2865438" y="2016125"/>
            <a:ext cx="300038" cy="1028700"/>
          </a:xfrm>
          <a:custGeom>
            <a:avLst/>
            <a:gdLst>
              <a:gd name="T0" fmla="*/ 0 w 189"/>
              <a:gd name="T1" fmla="*/ 0 h 581"/>
              <a:gd name="T2" fmla="*/ 0 w 189"/>
              <a:gd name="T3" fmla="*/ 236 h 581"/>
              <a:gd name="T4" fmla="*/ 61 w 189"/>
              <a:gd name="T5" fmla="*/ 292 h 581"/>
              <a:gd name="T6" fmla="*/ 0 w 189"/>
              <a:gd name="T7" fmla="*/ 348 h 581"/>
              <a:gd name="T8" fmla="*/ 0 w 189"/>
              <a:gd name="T9" fmla="*/ 581 h 581"/>
              <a:gd name="T10" fmla="*/ 189 w 189"/>
              <a:gd name="T11" fmla="*/ 404 h 581"/>
              <a:gd name="T12" fmla="*/ 189 w 189"/>
              <a:gd name="T13" fmla="*/ 180 h 581"/>
              <a:gd name="T14" fmla="*/ 0 w 189"/>
              <a:gd name="T15" fmla="*/ 2 h 581"/>
              <a:gd name="T16" fmla="*/ 0 w 189"/>
              <a:gd name="T17" fmla="*/ 2 h 58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89"/>
              <a:gd name="T28" fmla="*/ 0 h 581"/>
              <a:gd name="T29" fmla="*/ 189 w 189"/>
              <a:gd name="T30" fmla="*/ 581 h 58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89" h="581">
                <a:moveTo>
                  <a:pt x="0" y="0"/>
                </a:moveTo>
                <a:lnTo>
                  <a:pt x="0" y="236"/>
                </a:lnTo>
                <a:lnTo>
                  <a:pt x="61" y="292"/>
                </a:lnTo>
                <a:lnTo>
                  <a:pt x="0" y="348"/>
                </a:lnTo>
                <a:lnTo>
                  <a:pt x="0" y="581"/>
                </a:lnTo>
                <a:lnTo>
                  <a:pt x="189" y="404"/>
                </a:lnTo>
                <a:lnTo>
                  <a:pt x="189" y="180"/>
                </a:lnTo>
                <a:lnTo>
                  <a:pt x="0" y="2"/>
                </a:lnTo>
              </a:path>
            </a:pathLst>
          </a:custGeom>
          <a:noFill/>
          <a:ln w="1116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3" name="Rectangle 292"/>
          <p:cNvSpPr>
            <a:spLocks noChangeArrowheads="1"/>
          </p:cNvSpPr>
          <p:nvPr/>
        </p:nvSpPr>
        <p:spPr bwMode="auto">
          <a:xfrm>
            <a:off x="2984501" y="2468563"/>
            <a:ext cx="603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294" name="Rectangle 293"/>
          <p:cNvSpPr>
            <a:spLocks noChangeArrowheads="1"/>
          </p:cNvSpPr>
          <p:nvPr/>
        </p:nvSpPr>
        <p:spPr bwMode="auto">
          <a:xfrm>
            <a:off x="3043238" y="246856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295" name="Rectangle 294"/>
          <p:cNvSpPr>
            <a:spLocks noChangeArrowheads="1"/>
          </p:cNvSpPr>
          <p:nvPr/>
        </p:nvSpPr>
        <p:spPr bwMode="auto">
          <a:xfrm>
            <a:off x="3095626" y="246856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296" name="Freeform 295"/>
          <p:cNvSpPr>
            <a:spLocks noChangeArrowheads="1"/>
          </p:cNvSpPr>
          <p:nvPr/>
        </p:nvSpPr>
        <p:spPr bwMode="auto">
          <a:xfrm>
            <a:off x="6759576" y="4613275"/>
            <a:ext cx="49212" cy="55563"/>
          </a:xfrm>
          <a:custGeom>
            <a:avLst/>
            <a:gdLst>
              <a:gd name="T0" fmla="*/ 0 w 31"/>
              <a:gd name="T1" fmla="*/ 0 h 31"/>
              <a:gd name="T2" fmla="*/ 3 w 31"/>
              <a:gd name="T3" fmla="*/ 31 h 31"/>
              <a:gd name="T4" fmla="*/ 31 w 31"/>
              <a:gd name="T5" fmla="*/ 17 h 31"/>
              <a:gd name="T6" fmla="*/ 3 w 31"/>
              <a:gd name="T7" fmla="*/ 3 h 31"/>
              <a:gd name="T8" fmla="*/ 3 w 31"/>
              <a:gd name="T9" fmla="*/ 3 h 31"/>
              <a:gd name="T10" fmla="*/ 0 w 31"/>
              <a:gd name="T11" fmla="*/ 0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"/>
              <a:gd name="T19" fmla="*/ 0 h 31"/>
              <a:gd name="T20" fmla="*/ 31 w 31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" h="31">
                <a:moveTo>
                  <a:pt x="0" y="0"/>
                </a:moveTo>
                <a:lnTo>
                  <a:pt x="3" y="31"/>
                </a:lnTo>
                <a:lnTo>
                  <a:pt x="31" y="17"/>
                </a:lnTo>
                <a:lnTo>
                  <a:pt x="3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" name="Freeform 296"/>
          <p:cNvSpPr>
            <a:spLocks noChangeArrowheads="1"/>
          </p:cNvSpPr>
          <p:nvPr/>
        </p:nvSpPr>
        <p:spPr bwMode="auto">
          <a:xfrm>
            <a:off x="6759576" y="5073650"/>
            <a:ext cx="49212" cy="52388"/>
          </a:xfrm>
          <a:custGeom>
            <a:avLst/>
            <a:gdLst>
              <a:gd name="T0" fmla="*/ 0 w 31"/>
              <a:gd name="T1" fmla="*/ 0 h 30"/>
              <a:gd name="T2" fmla="*/ 3 w 31"/>
              <a:gd name="T3" fmla="*/ 30 h 30"/>
              <a:gd name="T4" fmla="*/ 31 w 31"/>
              <a:gd name="T5" fmla="*/ 16 h 30"/>
              <a:gd name="T6" fmla="*/ 3 w 31"/>
              <a:gd name="T7" fmla="*/ 0 h 30"/>
              <a:gd name="T8" fmla="*/ 3 w 31"/>
              <a:gd name="T9" fmla="*/ 0 h 30"/>
              <a:gd name="T10" fmla="*/ 0 w 31"/>
              <a:gd name="T11" fmla="*/ 0 h 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"/>
              <a:gd name="T19" fmla="*/ 0 h 30"/>
              <a:gd name="T20" fmla="*/ 31 w 31"/>
              <a:gd name="T21" fmla="*/ 30 h 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" h="30">
                <a:moveTo>
                  <a:pt x="0" y="0"/>
                </a:moveTo>
                <a:lnTo>
                  <a:pt x="3" y="30"/>
                </a:lnTo>
                <a:lnTo>
                  <a:pt x="31" y="16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8" name="Line 297"/>
          <p:cNvSpPr>
            <a:spLocks noChangeShapeType="1"/>
          </p:cNvSpPr>
          <p:nvPr/>
        </p:nvSpPr>
        <p:spPr bwMode="auto">
          <a:xfrm flipH="1">
            <a:off x="6607176" y="5099050"/>
            <a:ext cx="176212" cy="3175"/>
          </a:xfrm>
          <a:prstGeom prst="line">
            <a:avLst/>
          </a:prstGeom>
          <a:noFill/>
          <a:ln w="1908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99" name="Freeform 298"/>
          <p:cNvSpPr>
            <a:spLocks noChangeArrowheads="1"/>
          </p:cNvSpPr>
          <p:nvPr/>
        </p:nvSpPr>
        <p:spPr bwMode="auto">
          <a:xfrm>
            <a:off x="7137401" y="4845050"/>
            <a:ext cx="49212" cy="49213"/>
          </a:xfrm>
          <a:custGeom>
            <a:avLst/>
            <a:gdLst>
              <a:gd name="T0" fmla="*/ 0 w 31"/>
              <a:gd name="T1" fmla="*/ 0 h 28"/>
              <a:gd name="T2" fmla="*/ 3 w 31"/>
              <a:gd name="T3" fmla="*/ 28 h 28"/>
              <a:gd name="T4" fmla="*/ 31 w 31"/>
              <a:gd name="T5" fmla="*/ 14 h 28"/>
              <a:gd name="T6" fmla="*/ 3 w 31"/>
              <a:gd name="T7" fmla="*/ 0 h 28"/>
              <a:gd name="T8" fmla="*/ 3 w 31"/>
              <a:gd name="T9" fmla="*/ 0 h 28"/>
              <a:gd name="T10" fmla="*/ 0 w 31"/>
              <a:gd name="T11" fmla="*/ 0 h 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"/>
              <a:gd name="T19" fmla="*/ 0 h 28"/>
              <a:gd name="T20" fmla="*/ 31 w 31"/>
              <a:gd name="T21" fmla="*/ 28 h 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" h="28">
                <a:moveTo>
                  <a:pt x="0" y="0"/>
                </a:moveTo>
                <a:lnTo>
                  <a:pt x="3" y="28"/>
                </a:lnTo>
                <a:lnTo>
                  <a:pt x="31" y="14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0" name="Line 299"/>
          <p:cNvSpPr>
            <a:spLocks noChangeShapeType="1"/>
          </p:cNvSpPr>
          <p:nvPr/>
        </p:nvSpPr>
        <p:spPr bwMode="auto">
          <a:xfrm flipH="1">
            <a:off x="6985001" y="4870450"/>
            <a:ext cx="173037" cy="1588"/>
          </a:xfrm>
          <a:prstGeom prst="line">
            <a:avLst/>
          </a:prstGeom>
          <a:noFill/>
          <a:ln w="1908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1" name="Line 300"/>
          <p:cNvSpPr>
            <a:spLocks noChangeShapeType="1"/>
          </p:cNvSpPr>
          <p:nvPr/>
        </p:nvSpPr>
        <p:spPr bwMode="auto">
          <a:xfrm flipH="1">
            <a:off x="6265863" y="4259263"/>
            <a:ext cx="889000" cy="1587"/>
          </a:xfrm>
          <a:prstGeom prst="line">
            <a:avLst/>
          </a:prstGeom>
          <a:noFill/>
          <a:ln w="1908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2" name="Line 301"/>
          <p:cNvSpPr>
            <a:spLocks noChangeShapeType="1"/>
          </p:cNvSpPr>
          <p:nvPr/>
        </p:nvSpPr>
        <p:spPr bwMode="auto">
          <a:xfrm flipH="1">
            <a:off x="6265863" y="4638675"/>
            <a:ext cx="517525" cy="4763"/>
          </a:xfrm>
          <a:prstGeom prst="line">
            <a:avLst/>
          </a:prstGeom>
          <a:noFill/>
          <a:ln w="1908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03" name="Freeform 302"/>
          <p:cNvSpPr>
            <a:spLocks noChangeArrowheads="1"/>
          </p:cNvSpPr>
          <p:nvPr/>
        </p:nvSpPr>
        <p:spPr bwMode="auto">
          <a:xfrm>
            <a:off x="7137401" y="4235450"/>
            <a:ext cx="49212" cy="49213"/>
          </a:xfrm>
          <a:custGeom>
            <a:avLst/>
            <a:gdLst>
              <a:gd name="T0" fmla="*/ 0 w 31"/>
              <a:gd name="T1" fmla="*/ 0 h 28"/>
              <a:gd name="T2" fmla="*/ 3 w 31"/>
              <a:gd name="T3" fmla="*/ 28 h 28"/>
              <a:gd name="T4" fmla="*/ 31 w 31"/>
              <a:gd name="T5" fmla="*/ 14 h 28"/>
              <a:gd name="T6" fmla="*/ 3 w 31"/>
              <a:gd name="T7" fmla="*/ 0 h 28"/>
              <a:gd name="T8" fmla="*/ 3 w 31"/>
              <a:gd name="T9" fmla="*/ 0 h 28"/>
              <a:gd name="T10" fmla="*/ 0 w 31"/>
              <a:gd name="T11" fmla="*/ 0 h 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1"/>
              <a:gd name="T19" fmla="*/ 0 h 28"/>
              <a:gd name="T20" fmla="*/ 31 w 31"/>
              <a:gd name="T21" fmla="*/ 28 h 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1" h="28">
                <a:moveTo>
                  <a:pt x="0" y="0"/>
                </a:moveTo>
                <a:lnTo>
                  <a:pt x="3" y="28"/>
                </a:lnTo>
                <a:lnTo>
                  <a:pt x="31" y="14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4" name="Rectangle 303"/>
          <p:cNvSpPr>
            <a:spLocks noChangeArrowheads="1"/>
          </p:cNvSpPr>
          <p:nvPr/>
        </p:nvSpPr>
        <p:spPr bwMode="auto">
          <a:xfrm>
            <a:off x="7570788" y="4530725"/>
            <a:ext cx="603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305" name="Rectangle 304"/>
          <p:cNvSpPr>
            <a:spLocks noChangeArrowheads="1"/>
          </p:cNvSpPr>
          <p:nvPr/>
        </p:nvSpPr>
        <p:spPr bwMode="auto">
          <a:xfrm>
            <a:off x="7631113" y="453072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306" name="Rectangle 305"/>
          <p:cNvSpPr>
            <a:spLocks noChangeArrowheads="1"/>
          </p:cNvSpPr>
          <p:nvPr/>
        </p:nvSpPr>
        <p:spPr bwMode="auto">
          <a:xfrm>
            <a:off x="7681913" y="4530725"/>
            <a:ext cx="6508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307" name="Rectangle 306"/>
          <p:cNvSpPr>
            <a:spLocks noChangeArrowheads="1"/>
          </p:cNvSpPr>
          <p:nvPr/>
        </p:nvSpPr>
        <p:spPr bwMode="auto">
          <a:xfrm>
            <a:off x="7748588" y="4530725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" name="Rectangle 307"/>
          <p:cNvSpPr>
            <a:spLocks noChangeArrowheads="1"/>
          </p:cNvSpPr>
          <p:nvPr/>
        </p:nvSpPr>
        <p:spPr bwMode="auto">
          <a:xfrm>
            <a:off x="7500938" y="4635500"/>
            <a:ext cx="3016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309" name="Rectangle 308"/>
          <p:cNvSpPr>
            <a:spLocks noChangeArrowheads="1"/>
          </p:cNvSpPr>
          <p:nvPr/>
        </p:nvSpPr>
        <p:spPr bwMode="auto">
          <a:xfrm>
            <a:off x="7531101" y="463550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310" name="Rectangle 309"/>
          <p:cNvSpPr>
            <a:spLocks noChangeArrowheads="1"/>
          </p:cNvSpPr>
          <p:nvPr/>
        </p:nvSpPr>
        <p:spPr bwMode="auto">
          <a:xfrm>
            <a:off x="7581901" y="4635500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311" name="Rectangle 310"/>
          <p:cNvSpPr>
            <a:spLocks noChangeArrowheads="1"/>
          </p:cNvSpPr>
          <p:nvPr/>
        </p:nvSpPr>
        <p:spPr bwMode="auto">
          <a:xfrm>
            <a:off x="7626351" y="463550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312" name="Rectangle 311"/>
          <p:cNvSpPr>
            <a:spLocks noChangeArrowheads="1"/>
          </p:cNvSpPr>
          <p:nvPr/>
        </p:nvSpPr>
        <p:spPr bwMode="auto">
          <a:xfrm>
            <a:off x="7678738" y="4635500"/>
            <a:ext cx="2063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313" name="Rectangle 312"/>
          <p:cNvSpPr>
            <a:spLocks noChangeArrowheads="1"/>
          </p:cNvSpPr>
          <p:nvPr/>
        </p:nvSpPr>
        <p:spPr bwMode="auto">
          <a:xfrm>
            <a:off x="7697788" y="4635500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314" name="Rectangle 313"/>
          <p:cNvSpPr>
            <a:spLocks noChangeArrowheads="1"/>
          </p:cNvSpPr>
          <p:nvPr/>
        </p:nvSpPr>
        <p:spPr bwMode="auto">
          <a:xfrm>
            <a:off x="7548563" y="4375150"/>
            <a:ext cx="5397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Z</a:t>
            </a:r>
          </a:p>
        </p:txBody>
      </p:sp>
      <p:sp>
        <p:nvSpPr>
          <p:cNvPr id="315" name="Rectangle 314"/>
          <p:cNvSpPr>
            <a:spLocks noChangeArrowheads="1"/>
          </p:cNvSpPr>
          <p:nvPr/>
        </p:nvSpPr>
        <p:spPr bwMode="auto">
          <a:xfrm>
            <a:off x="7604126" y="437515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316" name="Rectangle 315"/>
          <p:cNvSpPr>
            <a:spLocks noChangeArrowheads="1"/>
          </p:cNvSpPr>
          <p:nvPr/>
        </p:nvSpPr>
        <p:spPr bwMode="auto">
          <a:xfrm>
            <a:off x="7656513" y="4375150"/>
            <a:ext cx="3016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317" name="Rectangle 316"/>
          <p:cNvSpPr>
            <a:spLocks noChangeArrowheads="1"/>
          </p:cNvSpPr>
          <p:nvPr/>
        </p:nvSpPr>
        <p:spPr bwMode="auto">
          <a:xfrm>
            <a:off x="7686676" y="437515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318" name="Freeform 317"/>
          <p:cNvSpPr>
            <a:spLocks noChangeArrowheads="1"/>
          </p:cNvSpPr>
          <p:nvPr/>
        </p:nvSpPr>
        <p:spPr bwMode="auto">
          <a:xfrm>
            <a:off x="7878763" y="4672013"/>
            <a:ext cx="44450" cy="49212"/>
          </a:xfrm>
          <a:custGeom>
            <a:avLst/>
            <a:gdLst>
              <a:gd name="T0" fmla="*/ 12 w 28"/>
              <a:gd name="T1" fmla="*/ 28 h 28"/>
              <a:gd name="T2" fmla="*/ 16 w 28"/>
              <a:gd name="T3" fmla="*/ 28 h 28"/>
              <a:gd name="T4" fmla="*/ 19 w 28"/>
              <a:gd name="T5" fmla="*/ 28 h 28"/>
              <a:gd name="T6" fmla="*/ 21 w 28"/>
              <a:gd name="T7" fmla="*/ 28 h 28"/>
              <a:gd name="T8" fmla="*/ 21 w 28"/>
              <a:gd name="T9" fmla="*/ 26 h 28"/>
              <a:gd name="T10" fmla="*/ 23 w 28"/>
              <a:gd name="T11" fmla="*/ 23 h 28"/>
              <a:gd name="T12" fmla="*/ 26 w 28"/>
              <a:gd name="T13" fmla="*/ 23 h 28"/>
              <a:gd name="T14" fmla="*/ 26 w 28"/>
              <a:gd name="T15" fmla="*/ 21 h 28"/>
              <a:gd name="T16" fmla="*/ 28 w 28"/>
              <a:gd name="T17" fmla="*/ 19 h 28"/>
              <a:gd name="T18" fmla="*/ 28 w 28"/>
              <a:gd name="T19" fmla="*/ 16 h 28"/>
              <a:gd name="T20" fmla="*/ 28 w 28"/>
              <a:gd name="T21" fmla="*/ 14 h 28"/>
              <a:gd name="T22" fmla="*/ 28 w 28"/>
              <a:gd name="T23" fmla="*/ 12 h 28"/>
              <a:gd name="T24" fmla="*/ 28 w 28"/>
              <a:gd name="T25" fmla="*/ 9 h 28"/>
              <a:gd name="T26" fmla="*/ 26 w 28"/>
              <a:gd name="T27" fmla="*/ 7 h 28"/>
              <a:gd name="T28" fmla="*/ 26 w 28"/>
              <a:gd name="T29" fmla="*/ 5 h 28"/>
              <a:gd name="T30" fmla="*/ 23 w 28"/>
              <a:gd name="T31" fmla="*/ 5 h 28"/>
              <a:gd name="T32" fmla="*/ 21 w 28"/>
              <a:gd name="T33" fmla="*/ 2 h 28"/>
              <a:gd name="T34" fmla="*/ 21 w 28"/>
              <a:gd name="T35" fmla="*/ 2 h 28"/>
              <a:gd name="T36" fmla="*/ 19 w 28"/>
              <a:gd name="T37" fmla="*/ 0 h 28"/>
              <a:gd name="T38" fmla="*/ 16 w 28"/>
              <a:gd name="T39" fmla="*/ 0 h 28"/>
              <a:gd name="T40" fmla="*/ 14 w 28"/>
              <a:gd name="T41" fmla="*/ 0 h 28"/>
              <a:gd name="T42" fmla="*/ 12 w 28"/>
              <a:gd name="T43" fmla="*/ 0 h 28"/>
              <a:gd name="T44" fmla="*/ 9 w 28"/>
              <a:gd name="T45" fmla="*/ 0 h 28"/>
              <a:gd name="T46" fmla="*/ 7 w 28"/>
              <a:gd name="T47" fmla="*/ 2 h 28"/>
              <a:gd name="T48" fmla="*/ 5 w 28"/>
              <a:gd name="T49" fmla="*/ 2 h 28"/>
              <a:gd name="T50" fmla="*/ 2 w 28"/>
              <a:gd name="T51" fmla="*/ 5 h 28"/>
              <a:gd name="T52" fmla="*/ 2 w 28"/>
              <a:gd name="T53" fmla="*/ 5 h 28"/>
              <a:gd name="T54" fmla="*/ 0 w 28"/>
              <a:gd name="T55" fmla="*/ 7 h 28"/>
              <a:gd name="T56" fmla="*/ 0 w 28"/>
              <a:gd name="T57" fmla="*/ 9 h 28"/>
              <a:gd name="T58" fmla="*/ 0 w 28"/>
              <a:gd name="T59" fmla="*/ 12 h 28"/>
              <a:gd name="T60" fmla="*/ 0 w 28"/>
              <a:gd name="T61" fmla="*/ 14 h 28"/>
              <a:gd name="T62" fmla="*/ 0 w 28"/>
              <a:gd name="T63" fmla="*/ 16 h 28"/>
              <a:gd name="T64" fmla="*/ 0 w 28"/>
              <a:gd name="T65" fmla="*/ 19 h 28"/>
              <a:gd name="T66" fmla="*/ 0 w 28"/>
              <a:gd name="T67" fmla="*/ 21 h 28"/>
              <a:gd name="T68" fmla="*/ 2 w 28"/>
              <a:gd name="T69" fmla="*/ 23 h 28"/>
              <a:gd name="T70" fmla="*/ 2 w 28"/>
              <a:gd name="T71" fmla="*/ 23 h 28"/>
              <a:gd name="T72" fmla="*/ 5 w 28"/>
              <a:gd name="T73" fmla="*/ 26 h 28"/>
              <a:gd name="T74" fmla="*/ 7 w 28"/>
              <a:gd name="T75" fmla="*/ 28 h 28"/>
              <a:gd name="T76" fmla="*/ 9 w 28"/>
              <a:gd name="T77" fmla="*/ 28 h 28"/>
              <a:gd name="T78" fmla="*/ 12 w 28"/>
              <a:gd name="T79" fmla="*/ 28 h 28"/>
              <a:gd name="T80" fmla="*/ 14 w 28"/>
              <a:gd name="T81" fmla="*/ 28 h 28"/>
              <a:gd name="T82" fmla="*/ 14 w 28"/>
              <a:gd name="T83" fmla="*/ 28 h 28"/>
              <a:gd name="T84" fmla="*/ 12 w 28"/>
              <a:gd name="T85" fmla="*/ 28 h 28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8"/>
              <a:gd name="T130" fmla="*/ 0 h 28"/>
              <a:gd name="T131" fmla="*/ 28 w 28"/>
              <a:gd name="T132" fmla="*/ 28 h 28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8" h="28">
                <a:moveTo>
                  <a:pt x="12" y="28"/>
                </a:moveTo>
                <a:lnTo>
                  <a:pt x="16" y="28"/>
                </a:lnTo>
                <a:lnTo>
                  <a:pt x="19" y="28"/>
                </a:lnTo>
                <a:lnTo>
                  <a:pt x="21" y="28"/>
                </a:lnTo>
                <a:lnTo>
                  <a:pt x="21" y="26"/>
                </a:lnTo>
                <a:lnTo>
                  <a:pt x="23" y="23"/>
                </a:lnTo>
                <a:lnTo>
                  <a:pt x="26" y="23"/>
                </a:lnTo>
                <a:lnTo>
                  <a:pt x="26" y="21"/>
                </a:lnTo>
                <a:lnTo>
                  <a:pt x="28" y="19"/>
                </a:lnTo>
                <a:lnTo>
                  <a:pt x="28" y="16"/>
                </a:lnTo>
                <a:lnTo>
                  <a:pt x="28" y="14"/>
                </a:lnTo>
                <a:lnTo>
                  <a:pt x="28" y="12"/>
                </a:lnTo>
                <a:lnTo>
                  <a:pt x="28" y="9"/>
                </a:lnTo>
                <a:lnTo>
                  <a:pt x="26" y="7"/>
                </a:lnTo>
                <a:lnTo>
                  <a:pt x="26" y="5"/>
                </a:lnTo>
                <a:lnTo>
                  <a:pt x="23" y="5"/>
                </a:lnTo>
                <a:lnTo>
                  <a:pt x="21" y="2"/>
                </a:lnTo>
                <a:lnTo>
                  <a:pt x="19" y="0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9" y="0"/>
                </a:lnTo>
                <a:lnTo>
                  <a:pt x="7" y="2"/>
                </a:lnTo>
                <a:lnTo>
                  <a:pt x="5" y="2"/>
                </a:lnTo>
                <a:lnTo>
                  <a:pt x="2" y="5"/>
                </a:lnTo>
                <a:lnTo>
                  <a:pt x="0" y="7"/>
                </a:lnTo>
                <a:lnTo>
                  <a:pt x="0" y="9"/>
                </a:lnTo>
                <a:lnTo>
                  <a:pt x="0" y="12"/>
                </a:lnTo>
                <a:lnTo>
                  <a:pt x="0" y="14"/>
                </a:lnTo>
                <a:lnTo>
                  <a:pt x="0" y="16"/>
                </a:lnTo>
                <a:lnTo>
                  <a:pt x="0" y="19"/>
                </a:lnTo>
                <a:lnTo>
                  <a:pt x="0" y="21"/>
                </a:lnTo>
                <a:lnTo>
                  <a:pt x="2" y="23"/>
                </a:lnTo>
                <a:lnTo>
                  <a:pt x="5" y="26"/>
                </a:lnTo>
                <a:lnTo>
                  <a:pt x="7" y="28"/>
                </a:lnTo>
                <a:lnTo>
                  <a:pt x="9" y="28"/>
                </a:lnTo>
                <a:lnTo>
                  <a:pt x="12" y="28"/>
                </a:lnTo>
                <a:lnTo>
                  <a:pt x="14" y="28"/>
                </a:lnTo>
                <a:lnTo>
                  <a:pt x="12" y="28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9" name="Freeform 318"/>
          <p:cNvSpPr>
            <a:spLocks noChangeArrowheads="1"/>
          </p:cNvSpPr>
          <p:nvPr/>
        </p:nvSpPr>
        <p:spPr bwMode="auto">
          <a:xfrm>
            <a:off x="9320213" y="4668838"/>
            <a:ext cx="44450" cy="52387"/>
          </a:xfrm>
          <a:custGeom>
            <a:avLst/>
            <a:gdLst>
              <a:gd name="T0" fmla="*/ 0 w 28"/>
              <a:gd name="T1" fmla="*/ 0 h 30"/>
              <a:gd name="T2" fmla="*/ 0 w 28"/>
              <a:gd name="T3" fmla="*/ 30 h 30"/>
              <a:gd name="T4" fmla="*/ 28 w 28"/>
              <a:gd name="T5" fmla="*/ 16 h 30"/>
              <a:gd name="T6" fmla="*/ 0 w 28"/>
              <a:gd name="T7" fmla="*/ 2 h 30"/>
              <a:gd name="T8" fmla="*/ 0 w 28"/>
              <a:gd name="T9" fmla="*/ 2 h 30"/>
              <a:gd name="T10" fmla="*/ 0 w 28"/>
              <a:gd name="T11" fmla="*/ 0 h 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"/>
              <a:gd name="T19" fmla="*/ 0 h 30"/>
              <a:gd name="T20" fmla="*/ 28 w 28"/>
              <a:gd name="T21" fmla="*/ 30 h 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" h="30">
                <a:moveTo>
                  <a:pt x="0" y="0"/>
                </a:moveTo>
                <a:lnTo>
                  <a:pt x="0" y="30"/>
                </a:lnTo>
                <a:lnTo>
                  <a:pt x="28" y="16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0" name="Line 319"/>
          <p:cNvSpPr>
            <a:spLocks noChangeShapeType="1"/>
          </p:cNvSpPr>
          <p:nvPr/>
        </p:nvSpPr>
        <p:spPr bwMode="auto">
          <a:xfrm flipH="1">
            <a:off x="9163051" y="4697413"/>
            <a:ext cx="180975" cy="1587"/>
          </a:xfrm>
          <a:prstGeom prst="line">
            <a:avLst/>
          </a:prstGeom>
          <a:noFill/>
          <a:ln w="1908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1" name="Freeform 320"/>
          <p:cNvSpPr>
            <a:spLocks noChangeArrowheads="1"/>
          </p:cNvSpPr>
          <p:nvPr/>
        </p:nvSpPr>
        <p:spPr bwMode="auto">
          <a:xfrm>
            <a:off x="9320213" y="5126038"/>
            <a:ext cx="44450" cy="53975"/>
          </a:xfrm>
          <a:custGeom>
            <a:avLst/>
            <a:gdLst>
              <a:gd name="T0" fmla="*/ 0 w 28"/>
              <a:gd name="T1" fmla="*/ 0 h 30"/>
              <a:gd name="T2" fmla="*/ 0 w 28"/>
              <a:gd name="T3" fmla="*/ 30 h 30"/>
              <a:gd name="T4" fmla="*/ 28 w 28"/>
              <a:gd name="T5" fmla="*/ 16 h 30"/>
              <a:gd name="T6" fmla="*/ 0 w 28"/>
              <a:gd name="T7" fmla="*/ 2 h 30"/>
              <a:gd name="T8" fmla="*/ 0 w 28"/>
              <a:gd name="T9" fmla="*/ 2 h 30"/>
              <a:gd name="T10" fmla="*/ 0 w 28"/>
              <a:gd name="T11" fmla="*/ 0 h 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"/>
              <a:gd name="T19" fmla="*/ 0 h 30"/>
              <a:gd name="T20" fmla="*/ 28 w 28"/>
              <a:gd name="T21" fmla="*/ 30 h 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" h="30">
                <a:moveTo>
                  <a:pt x="0" y="0"/>
                </a:moveTo>
                <a:lnTo>
                  <a:pt x="0" y="30"/>
                </a:lnTo>
                <a:lnTo>
                  <a:pt x="28" y="16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2" name="Freeform 321"/>
          <p:cNvSpPr>
            <a:spLocks noChangeArrowheads="1"/>
          </p:cNvSpPr>
          <p:nvPr/>
        </p:nvSpPr>
        <p:spPr bwMode="auto">
          <a:xfrm>
            <a:off x="8086726" y="5241925"/>
            <a:ext cx="47625" cy="53975"/>
          </a:xfrm>
          <a:custGeom>
            <a:avLst/>
            <a:gdLst>
              <a:gd name="T0" fmla="*/ 0 w 30"/>
              <a:gd name="T1" fmla="*/ 0 h 31"/>
              <a:gd name="T2" fmla="*/ 0 w 30"/>
              <a:gd name="T3" fmla="*/ 31 h 31"/>
              <a:gd name="T4" fmla="*/ 30 w 30"/>
              <a:gd name="T5" fmla="*/ 17 h 31"/>
              <a:gd name="T6" fmla="*/ 0 w 30"/>
              <a:gd name="T7" fmla="*/ 3 h 31"/>
              <a:gd name="T8" fmla="*/ 0 w 30"/>
              <a:gd name="T9" fmla="*/ 3 h 31"/>
              <a:gd name="T10" fmla="*/ 0 w 30"/>
              <a:gd name="T11" fmla="*/ 0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"/>
              <a:gd name="T19" fmla="*/ 0 h 31"/>
              <a:gd name="T20" fmla="*/ 30 w 30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" h="31">
                <a:moveTo>
                  <a:pt x="0" y="0"/>
                </a:moveTo>
                <a:lnTo>
                  <a:pt x="0" y="31"/>
                </a:lnTo>
                <a:lnTo>
                  <a:pt x="30" y="17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3" name="Freeform 322"/>
          <p:cNvSpPr>
            <a:spLocks noChangeArrowheads="1"/>
          </p:cNvSpPr>
          <p:nvPr/>
        </p:nvSpPr>
        <p:spPr bwMode="auto">
          <a:xfrm>
            <a:off x="6403976" y="4643438"/>
            <a:ext cx="1697037" cy="628650"/>
          </a:xfrm>
          <a:custGeom>
            <a:avLst/>
            <a:gdLst>
              <a:gd name="T0" fmla="*/ 1069 w 1069"/>
              <a:gd name="T1" fmla="*/ 352 h 355"/>
              <a:gd name="T2" fmla="*/ 0 w 1069"/>
              <a:gd name="T3" fmla="*/ 355 h 355"/>
              <a:gd name="T4" fmla="*/ 0 w 1069"/>
              <a:gd name="T5" fmla="*/ 0 h 355"/>
              <a:gd name="T6" fmla="*/ 0 60000 65536"/>
              <a:gd name="T7" fmla="*/ 0 60000 65536"/>
              <a:gd name="T8" fmla="*/ 0 60000 65536"/>
              <a:gd name="T9" fmla="*/ 0 w 1069"/>
              <a:gd name="T10" fmla="*/ 0 h 355"/>
              <a:gd name="T11" fmla="*/ 1069 w 1069"/>
              <a:gd name="T12" fmla="*/ 355 h 3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69" h="355">
                <a:moveTo>
                  <a:pt x="1069" y="352"/>
                </a:moveTo>
                <a:lnTo>
                  <a:pt x="0" y="355"/>
                </a:lnTo>
                <a:lnTo>
                  <a:pt x="0" y="0"/>
                </a:lnTo>
              </a:path>
            </a:pathLst>
          </a:custGeom>
          <a:noFill/>
          <a:ln w="1908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4" name="Freeform 323"/>
          <p:cNvSpPr>
            <a:spLocks noChangeArrowheads="1"/>
          </p:cNvSpPr>
          <p:nvPr/>
        </p:nvSpPr>
        <p:spPr bwMode="auto">
          <a:xfrm>
            <a:off x="6859588" y="5391150"/>
            <a:ext cx="344488" cy="809625"/>
          </a:xfrm>
          <a:custGeom>
            <a:avLst/>
            <a:gdLst>
              <a:gd name="T0" fmla="*/ 108 w 217"/>
              <a:gd name="T1" fmla="*/ 458 h 458"/>
              <a:gd name="T2" fmla="*/ 126 w 217"/>
              <a:gd name="T3" fmla="*/ 456 h 458"/>
              <a:gd name="T4" fmla="*/ 143 w 217"/>
              <a:gd name="T5" fmla="*/ 446 h 458"/>
              <a:gd name="T6" fmla="*/ 159 w 217"/>
              <a:gd name="T7" fmla="*/ 432 h 458"/>
              <a:gd name="T8" fmla="*/ 173 w 217"/>
              <a:gd name="T9" fmla="*/ 414 h 458"/>
              <a:gd name="T10" fmla="*/ 185 w 217"/>
              <a:gd name="T11" fmla="*/ 393 h 458"/>
              <a:gd name="T12" fmla="*/ 196 w 217"/>
              <a:gd name="T13" fmla="*/ 365 h 458"/>
              <a:gd name="T14" fmla="*/ 203 w 217"/>
              <a:gd name="T15" fmla="*/ 334 h 458"/>
              <a:gd name="T16" fmla="*/ 210 w 217"/>
              <a:gd name="T17" fmla="*/ 301 h 458"/>
              <a:gd name="T18" fmla="*/ 215 w 217"/>
              <a:gd name="T19" fmla="*/ 266 h 458"/>
              <a:gd name="T20" fmla="*/ 217 w 217"/>
              <a:gd name="T21" fmla="*/ 229 h 458"/>
              <a:gd name="T22" fmla="*/ 215 w 217"/>
              <a:gd name="T23" fmla="*/ 192 h 458"/>
              <a:gd name="T24" fmla="*/ 210 w 217"/>
              <a:gd name="T25" fmla="*/ 157 h 458"/>
              <a:gd name="T26" fmla="*/ 203 w 217"/>
              <a:gd name="T27" fmla="*/ 124 h 458"/>
              <a:gd name="T28" fmla="*/ 196 w 217"/>
              <a:gd name="T29" fmla="*/ 94 h 458"/>
              <a:gd name="T30" fmla="*/ 185 w 217"/>
              <a:gd name="T31" fmla="*/ 68 h 458"/>
              <a:gd name="T32" fmla="*/ 173 w 217"/>
              <a:gd name="T33" fmla="*/ 45 h 458"/>
              <a:gd name="T34" fmla="*/ 159 w 217"/>
              <a:gd name="T35" fmla="*/ 26 h 458"/>
              <a:gd name="T36" fmla="*/ 143 w 217"/>
              <a:gd name="T37" fmla="*/ 12 h 458"/>
              <a:gd name="T38" fmla="*/ 126 w 217"/>
              <a:gd name="T39" fmla="*/ 3 h 458"/>
              <a:gd name="T40" fmla="*/ 108 w 217"/>
              <a:gd name="T41" fmla="*/ 0 h 458"/>
              <a:gd name="T42" fmla="*/ 91 w 217"/>
              <a:gd name="T43" fmla="*/ 3 h 458"/>
              <a:gd name="T44" fmla="*/ 75 w 217"/>
              <a:gd name="T45" fmla="*/ 12 h 458"/>
              <a:gd name="T46" fmla="*/ 59 w 217"/>
              <a:gd name="T47" fmla="*/ 26 h 458"/>
              <a:gd name="T48" fmla="*/ 45 w 217"/>
              <a:gd name="T49" fmla="*/ 45 h 458"/>
              <a:gd name="T50" fmla="*/ 33 w 217"/>
              <a:gd name="T51" fmla="*/ 68 h 458"/>
              <a:gd name="T52" fmla="*/ 21 w 217"/>
              <a:gd name="T53" fmla="*/ 94 h 458"/>
              <a:gd name="T54" fmla="*/ 12 w 217"/>
              <a:gd name="T55" fmla="*/ 124 h 458"/>
              <a:gd name="T56" fmla="*/ 5 w 217"/>
              <a:gd name="T57" fmla="*/ 157 h 458"/>
              <a:gd name="T58" fmla="*/ 3 w 217"/>
              <a:gd name="T59" fmla="*/ 192 h 458"/>
              <a:gd name="T60" fmla="*/ 0 w 217"/>
              <a:gd name="T61" fmla="*/ 229 h 458"/>
              <a:gd name="T62" fmla="*/ 3 w 217"/>
              <a:gd name="T63" fmla="*/ 266 h 458"/>
              <a:gd name="T64" fmla="*/ 5 w 217"/>
              <a:gd name="T65" fmla="*/ 301 h 458"/>
              <a:gd name="T66" fmla="*/ 12 w 217"/>
              <a:gd name="T67" fmla="*/ 334 h 458"/>
              <a:gd name="T68" fmla="*/ 21 w 217"/>
              <a:gd name="T69" fmla="*/ 365 h 458"/>
              <a:gd name="T70" fmla="*/ 33 w 217"/>
              <a:gd name="T71" fmla="*/ 393 h 458"/>
              <a:gd name="T72" fmla="*/ 45 w 217"/>
              <a:gd name="T73" fmla="*/ 414 h 458"/>
              <a:gd name="T74" fmla="*/ 59 w 217"/>
              <a:gd name="T75" fmla="*/ 432 h 458"/>
              <a:gd name="T76" fmla="*/ 75 w 217"/>
              <a:gd name="T77" fmla="*/ 446 h 458"/>
              <a:gd name="T78" fmla="*/ 91 w 217"/>
              <a:gd name="T79" fmla="*/ 456 h 458"/>
              <a:gd name="T80" fmla="*/ 108 w 217"/>
              <a:gd name="T81" fmla="*/ 458 h 458"/>
              <a:gd name="T82" fmla="*/ 108 w 217"/>
              <a:gd name="T83" fmla="*/ 458 h 45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17"/>
              <a:gd name="T127" fmla="*/ 0 h 458"/>
              <a:gd name="T128" fmla="*/ 217 w 217"/>
              <a:gd name="T129" fmla="*/ 458 h 45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17" h="458">
                <a:moveTo>
                  <a:pt x="108" y="458"/>
                </a:moveTo>
                <a:lnTo>
                  <a:pt x="126" y="456"/>
                </a:lnTo>
                <a:lnTo>
                  <a:pt x="143" y="446"/>
                </a:lnTo>
                <a:lnTo>
                  <a:pt x="159" y="432"/>
                </a:lnTo>
                <a:lnTo>
                  <a:pt x="173" y="414"/>
                </a:lnTo>
                <a:lnTo>
                  <a:pt x="185" y="393"/>
                </a:lnTo>
                <a:lnTo>
                  <a:pt x="196" y="365"/>
                </a:lnTo>
                <a:lnTo>
                  <a:pt x="203" y="334"/>
                </a:lnTo>
                <a:lnTo>
                  <a:pt x="210" y="301"/>
                </a:lnTo>
                <a:lnTo>
                  <a:pt x="215" y="266"/>
                </a:lnTo>
                <a:lnTo>
                  <a:pt x="217" y="229"/>
                </a:lnTo>
                <a:lnTo>
                  <a:pt x="215" y="192"/>
                </a:lnTo>
                <a:lnTo>
                  <a:pt x="210" y="157"/>
                </a:lnTo>
                <a:lnTo>
                  <a:pt x="203" y="124"/>
                </a:lnTo>
                <a:lnTo>
                  <a:pt x="196" y="94"/>
                </a:lnTo>
                <a:lnTo>
                  <a:pt x="185" y="68"/>
                </a:lnTo>
                <a:lnTo>
                  <a:pt x="173" y="45"/>
                </a:lnTo>
                <a:lnTo>
                  <a:pt x="159" y="26"/>
                </a:lnTo>
                <a:lnTo>
                  <a:pt x="143" y="12"/>
                </a:lnTo>
                <a:lnTo>
                  <a:pt x="126" y="3"/>
                </a:lnTo>
                <a:lnTo>
                  <a:pt x="108" y="0"/>
                </a:lnTo>
                <a:lnTo>
                  <a:pt x="91" y="3"/>
                </a:lnTo>
                <a:lnTo>
                  <a:pt x="75" y="12"/>
                </a:lnTo>
                <a:lnTo>
                  <a:pt x="59" y="26"/>
                </a:lnTo>
                <a:lnTo>
                  <a:pt x="45" y="45"/>
                </a:lnTo>
                <a:lnTo>
                  <a:pt x="33" y="68"/>
                </a:lnTo>
                <a:lnTo>
                  <a:pt x="21" y="94"/>
                </a:lnTo>
                <a:lnTo>
                  <a:pt x="12" y="124"/>
                </a:lnTo>
                <a:lnTo>
                  <a:pt x="5" y="157"/>
                </a:lnTo>
                <a:lnTo>
                  <a:pt x="3" y="192"/>
                </a:lnTo>
                <a:lnTo>
                  <a:pt x="0" y="229"/>
                </a:lnTo>
                <a:lnTo>
                  <a:pt x="3" y="266"/>
                </a:lnTo>
                <a:lnTo>
                  <a:pt x="5" y="301"/>
                </a:lnTo>
                <a:lnTo>
                  <a:pt x="12" y="334"/>
                </a:lnTo>
                <a:lnTo>
                  <a:pt x="21" y="365"/>
                </a:lnTo>
                <a:lnTo>
                  <a:pt x="33" y="393"/>
                </a:lnTo>
                <a:lnTo>
                  <a:pt x="45" y="414"/>
                </a:lnTo>
                <a:lnTo>
                  <a:pt x="59" y="432"/>
                </a:lnTo>
                <a:lnTo>
                  <a:pt x="75" y="446"/>
                </a:lnTo>
                <a:lnTo>
                  <a:pt x="91" y="456"/>
                </a:lnTo>
                <a:lnTo>
                  <a:pt x="108" y="45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5" name="Freeform 324"/>
          <p:cNvSpPr>
            <a:spLocks noChangeArrowheads="1"/>
          </p:cNvSpPr>
          <p:nvPr/>
        </p:nvSpPr>
        <p:spPr bwMode="auto">
          <a:xfrm>
            <a:off x="6859588" y="5391150"/>
            <a:ext cx="344488" cy="809625"/>
          </a:xfrm>
          <a:custGeom>
            <a:avLst/>
            <a:gdLst>
              <a:gd name="T0" fmla="*/ 108 w 217"/>
              <a:gd name="T1" fmla="*/ 458 h 458"/>
              <a:gd name="T2" fmla="*/ 126 w 217"/>
              <a:gd name="T3" fmla="*/ 456 h 458"/>
              <a:gd name="T4" fmla="*/ 143 w 217"/>
              <a:gd name="T5" fmla="*/ 446 h 458"/>
              <a:gd name="T6" fmla="*/ 159 w 217"/>
              <a:gd name="T7" fmla="*/ 432 h 458"/>
              <a:gd name="T8" fmla="*/ 173 w 217"/>
              <a:gd name="T9" fmla="*/ 414 h 458"/>
              <a:gd name="T10" fmla="*/ 185 w 217"/>
              <a:gd name="T11" fmla="*/ 393 h 458"/>
              <a:gd name="T12" fmla="*/ 196 w 217"/>
              <a:gd name="T13" fmla="*/ 365 h 458"/>
              <a:gd name="T14" fmla="*/ 203 w 217"/>
              <a:gd name="T15" fmla="*/ 334 h 458"/>
              <a:gd name="T16" fmla="*/ 210 w 217"/>
              <a:gd name="T17" fmla="*/ 301 h 458"/>
              <a:gd name="T18" fmla="*/ 215 w 217"/>
              <a:gd name="T19" fmla="*/ 266 h 458"/>
              <a:gd name="T20" fmla="*/ 217 w 217"/>
              <a:gd name="T21" fmla="*/ 229 h 458"/>
              <a:gd name="T22" fmla="*/ 215 w 217"/>
              <a:gd name="T23" fmla="*/ 192 h 458"/>
              <a:gd name="T24" fmla="*/ 210 w 217"/>
              <a:gd name="T25" fmla="*/ 157 h 458"/>
              <a:gd name="T26" fmla="*/ 203 w 217"/>
              <a:gd name="T27" fmla="*/ 124 h 458"/>
              <a:gd name="T28" fmla="*/ 196 w 217"/>
              <a:gd name="T29" fmla="*/ 94 h 458"/>
              <a:gd name="T30" fmla="*/ 185 w 217"/>
              <a:gd name="T31" fmla="*/ 68 h 458"/>
              <a:gd name="T32" fmla="*/ 173 w 217"/>
              <a:gd name="T33" fmla="*/ 45 h 458"/>
              <a:gd name="T34" fmla="*/ 159 w 217"/>
              <a:gd name="T35" fmla="*/ 26 h 458"/>
              <a:gd name="T36" fmla="*/ 143 w 217"/>
              <a:gd name="T37" fmla="*/ 12 h 458"/>
              <a:gd name="T38" fmla="*/ 126 w 217"/>
              <a:gd name="T39" fmla="*/ 3 h 458"/>
              <a:gd name="T40" fmla="*/ 108 w 217"/>
              <a:gd name="T41" fmla="*/ 0 h 458"/>
              <a:gd name="T42" fmla="*/ 91 w 217"/>
              <a:gd name="T43" fmla="*/ 3 h 458"/>
              <a:gd name="T44" fmla="*/ 75 w 217"/>
              <a:gd name="T45" fmla="*/ 12 h 458"/>
              <a:gd name="T46" fmla="*/ 59 w 217"/>
              <a:gd name="T47" fmla="*/ 26 h 458"/>
              <a:gd name="T48" fmla="*/ 45 w 217"/>
              <a:gd name="T49" fmla="*/ 45 h 458"/>
              <a:gd name="T50" fmla="*/ 33 w 217"/>
              <a:gd name="T51" fmla="*/ 68 h 458"/>
              <a:gd name="T52" fmla="*/ 21 w 217"/>
              <a:gd name="T53" fmla="*/ 94 h 458"/>
              <a:gd name="T54" fmla="*/ 12 w 217"/>
              <a:gd name="T55" fmla="*/ 124 h 458"/>
              <a:gd name="T56" fmla="*/ 5 w 217"/>
              <a:gd name="T57" fmla="*/ 157 h 458"/>
              <a:gd name="T58" fmla="*/ 3 w 217"/>
              <a:gd name="T59" fmla="*/ 192 h 458"/>
              <a:gd name="T60" fmla="*/ 0 w 217"/>
              <a:gd name="T61" fmla="*/ 229 h 458"/>
              <a:gd name="T62" fmla="*/ 3 w 217"/>
              <a:gd name="T63" fmla="*/ 266 h 458"/>
              <a:gd name="T64" fmla="*/ 5 w 217"/>
              <a:gd name="T65" fmla="*/ 301 h 458"/>
              <a:gd name="T66" fmla="*/ 12 w 217"/>
              <a:gd name="T67" fmla="*/ 334 h 458"/>
              <a:gd name="T68" fmla="*/ 21 w 217"/>
              <a:gd name="T69" fmla="*/ 365 h 458"/>
              <a:gd name="T70" fmla="*/ 33 w 217"/>
              <a:gd name="T71" fmla="*/ 393 h 458"/>
              <a:gd name="T72" fmla="*/ 45 w 217"/>
              <a:gd name="T73" fmla="*/ 414 h 458"/>
              <a:gd name="T74" fmla="*/ 59 w 217"/>
              <a:gd name="T75" fmla="*/ 432 h 458"/>
              <a:gd name="T76" fmla="*/ 75 w 217"/>
              <a:gd name="T77" fmla="*/ 446 h 458"/>
              <a:gd name="T78" fmla="*/ 91 w 217"/>
              <a:gd name="T79" fmla="*/ 456 h 458"/>
              <a:gd name="T80" fmla="*/ 108 w 217"/>
              <a:gd name="T81" fmla="*/ 458 h 458"/>
              <a:gd name="T82" fmla="*/ 108 w 217"/>
              <a:gd name="T83" fmla="*/ 458 h 45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17"/>
              <a:gd name="T127" fmla="*/ 0 h 458"/>
              <a:gd name="T128" fmla="*/ 217 w 217"/>
              <a:gd name="T129" fmla="*/ 458 h 45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17" h="458">
                <a:moveTo>
                  <a:pt x="108" y="458"/>
                </a:moveTo>
                <a:lnTo>
                  <a:pt x="126" y="456"/>
                </a:lnTo>
                <a:lnTo>
                  <a:pt x="143" y="446"/>
                </a:lnTo>
                <a:lnTo>
                  <a:pt x="159" y="432"/>
                </a:lnTo>
                <a:lnTo>
                  <a:pt x="173" y="414"/>
                </a:lnTo>
                <a:lnTo>
                  <a:pt x="185" y="393"/>
                </a:lnTo>
                <a:lnTo>
                  <a:pt x="196" y="365"/>
                </a:lnTo>
                <a:lnTo>
                  <a:pt x="203" y="334"/>
                </a:lnTo>
                <a:lnTo>
                  <a:pt x="210" y="301"/>
                </a:lnTo>
                <a:lnTo>
                  <a:pt x="215" y="266"/>
                </a:lnTo>
                <a:lnTo>
                  <a:pt x="217" y="229"/>
                </a:lnTo>
                <a:lnTo>
                  <a:pt x="215" y="192"/>
                </a:lnTo>
                <a:lnTo>
                  <a:pt x="210" y="157"/>
                </a:lnTo>
                <a:lnTo>
                  <a:pt x="203" y="124"/>
                </a:lnTo>
                <a:lnTo>
                  <a:pt x="196" y="94"/>
                </a:lnTo>
                <a:lnTo>
                  <a:pt x="185" y="68"/>
                </a:lnTo>
                <a:lnTo>
                  <a:pt x="173" y="45"/>
                </a:lnTo>
                <a:lnTo>
                  <a:pt x="159" y="26"/>
                </a:lnTo>
                <a:lnTo>
                  <a:pt x="143" y="12"/>
                </a:lnTo>
                <a:lnTo>
                  <a:pt x="126" y="3"/>
                </a:lnTo>
                <a:lnTo>
                  <a:pt x="108" y="0"/>
                </a:lnTo>
                <a:lnTo>
                  <a:pt x="91" y="3"/>
                </a:lnTo>
                <a:lnTo>
                  <a:pt x="75" y="12"/>
                </a:lnTo>
                <a:lnTo>
                  <a:pt x="59" y="26"/>
                </a:lnTo>
                <a:lnTo>
                  <a:pt x="45" y="45"/>
                </a:lnTo>
                <a:lnTo>
                  <a:pt x="33" y="68"/>
                </a:lnTo>
                <a:lnTo>
                  <a:pt x="21" y="94"/>
                </a:lnTo>
                <a:lnTo>
                  <a:pt x="12" y="124"/>
                </a:lnTo>
                <a:lnTo>
                  <a:pt x="5" y="157"/>
                </a:lnTo>
                <a:lnTo>
                  <a:pt x="3" y="192"/>
                </a:lnTo>
                <a:lnTo>
                  <a:pt x="0" y="229"/>
                </a:lnTo>
                <a:lnTo>
                  <a:pt x="3" y="266"/>
                </a:lnTo>
                <a:lnTo>
                  <a:pt x="5" y="301"/>
                </a:lnTo>
                <a:lnTo>
                  <a:pt x="12" y="334"/>
                </a:lnTo>
                <a:lnTo>
                  <a:pt x="21" y="365"/>
                </a:lnTo>
                <a:lnTo>
                  <a:pt x="33" y="393"/>
                </a:lnTo>
                <a:lnTo>
                  <a:pt x="45" y="414"/>
                </a:lnTo>
                <a:lnTo>
                  <a:pt x="59" y="432"/>
                </a:lnTo>
                <a:lnTo>
                  <a:pt x="75" y="446"/>
                </a:lnTo>
                <a:lnTo>
                  <a:pt x="91" y="456"/>
                </a:lnTo>
                <a:lnTo>
                  <a:pt x="108" y="458"/>
                </a:lnTo>
              </a:path>
            </a:pathLst>
          </a:custGeom>
          <a:noFill/>
          <a:ln w="11160">
            <a:solidFill>
              <a:srgbClr val="F3AA6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6" name="Freeform 325"/>
          <p:cNvSpPr>
            <a:spLocks noChangeArrowheads="1"/>
          </p:cNvSpPr>
          <p:nvPr/>
        </p:nvSpPr>
        <p:spPr bwMode="auto">
          <a:xfrm>
            <a:off x="5111751" y="5618163"/>
            <a:ext cx="47625" cy="50800"/>
          </a:xfrm>
          <a:custGeom>
            <a:avLst/>
            <a:gdLst>
              <a:gd name="T0" fmla="*/ 14 w 30"/>
              <a:gd name="T1" fmla="*/ 28 h 28"/>
              <a:gd name="T2" fmla="*/ 18 w 30"/>
              <a:gd name="T3" fmla="*/ 28 h 28"/>
              <a:gd name="T4" fmla="*/ 21 w 30"/>
              <a:gd name="T5" fmla="*/ 28 h 28"/>
              <a:gd name="T6" fmla="*/ 21 w 30"/>
              <a:gd name="T7" fmla="*/ 28 h 28"/>
              <a:gd name="T8" fmla="*/ 23 w 30"/>
              <a:gd name="T9" fmla="*/ 25 h 28"/>
              <a:gd name="T10" fmla="*/ 25 w 30"/>
              <a:gd name="T11" fmla="*/ 25 h 28"/>
              <a:gd name="T12" fmla="*/ 28 w 30"/>
              <a:gd name="T13" fmla="*/ 23 h 28"/>
              <a:gd name="T14" fmla="*/ 28 w 30"/>
              <a:gd name="T15" fmla="*/ 21 h 28"/>
              <a:gd name="T16" fmla="*/ 28 w 30"/>
              <a:gd name="T17" fmla="*/ 18 h 28"/>
              <a:gd name="T18" fmla="*/ 30 w 30"/>
              <a:gd name="T19" fmla="*/ 16 h 28"/>
              <a:gd name="T20" fmla="*/ 30 w 30"/>
              <a:gd name="T21" fmla="*/ 14 h 28"/>
              <a:gd name="T22" fmla="*/ 30 w 30"/>
              <a:gd name="T23" fmla="*/ 11 h 28"/>
              <a:gd name="T24" fmla="*/ 28 w 30"/>
              <a:gd name="T25" fmla="*/ 9 h 28"/>
              <a:gd name="T26" fmla="*/ 28 w 30"/>
              <a:gd name="T27" fmla="*/ 7 h 28"/>
              <a:gd name="T28" fmla="*/ 28 w 30"/>
              <a:gd name="T29" fmla="*/ 7 h 28"/>
              <a:gd name="T30" fmla="*/ 25 w 30"/>
              <a:gd name="T31" fmla="*/ 4 h 28"/>
              <a:gd name="T32" fmla="*/ 23 w 30"/>
              <a:gd name="T33" fmla="*/ 2 h 28"/>
              <a:gd name="T34" fmla="*/ 21 w 30"/>
              <a:gd name="T35" fmla="*/ 2 h 28"/>
              <a:gd name="T36" fmla="*/ 21 w 30"/>
              <a:gd name="T37" fmla="*/ 0 h 28"/>
              <a:gd name="T38" fmla="*/ 18 w 30"/>
              <a:gd name="T39" fmla="*/ 0 h 28"/>
              <a:gd name="T40" fmla="*/ 16 w 30"/>
              <a:gd name="T41" fmla="*/ 0 h 28"/>
              <a:gd name="T42" fmla="*/ 14 w 30"/>
              <a:gd name="T43" fmla="*/ 0 h 28"/>
              <a:gd name="T44" fmla="*/ 11 w 30"/>
              <a:gd name="T45" fmla="*/ 0 h 28"/>
              <a:gd name="T46" fmla="*/ 9 w 30"/>
              <a:gd name="T47" fmla="*/ 2 h 28"/>
              <a:gd name="T48" fmla="*/ 7 w 30"/>
              <a:gd name="T49" fmla="*/ 2 h 28"/>
              <a:gd name="T50" fmla="*/ 4 w 30"/>
              <a:gd name="T51" fmla="*/ 4 h 28"/>
              <a:gd name="T52" fmla="*/ 4 w 30"/>
              <a:gd name="T53" fmla="*/ 7 h 28"/>
              <a:gd name="T54" fmla="*/ 2 w 30"/>
              <a:gd name="T55" fmla="*/ 7 h 28"/>
              <a:gd name="T56" fmla="*/ 2 w 30"/>
              <a:gd name="T57" fmla="*/ 9 h 28"/>
              <a:gd name="T58" fmla="*/ 0 w 30"/>
              <a:gd name="T59" fmla="*/ 11 h 28"/>
              <a:gd name="T60" fmla="*/ 0 w 30"/>
              <a:gd name="T61" fmla="*/ 14 h 28"/>
              <a:gd name="T62" fmla="*/ 0 w 30"/>
              <a:gd name="T63" fmla="*/ 16 h 28"/>
              <a:gd name="T64" fmla="*/ 2 w 30"/>
              <a:gd name="T65" fmla="*/ 18 h 28"/>
              <a:gd name="T66" fmla="*/ 2 w 30"/>
              <a:gd name="T67" fmla="*/ 21 h 28"/>
              <a:gd name="T68" fmla="*/ 4 w 30"/>
              <a:gd name="T69" fmla="*/ 23 h 28"/>
              <a:gd name="T70" fmla="*/ 4 w 30"/>
              <a:gd name="T71" fmla="*/ 25 h 28"/>
              <a:gd name="T72" fmla="*/ 7 w 30"/>
              <a:gd name="T73" fmla="*/ 25 h 28"/>
              <a:gd name="T74" fmla="*/ 9 w 30"/>
              <a:gd name="T75" fmla="*/ 28 h 28"/>
              <a:gd name="T76" fmla="*/ 11 w 30"/>
              <a:gd name="T77" fmla="*/ 28 h 28"/>
              <a:gd name="T78" fmla="*/ 14 w 30"/>
              <a:gd name="T79" fmla="*/ 28 h 28"/>
              <a:gd name="T80" fmla="*/ 16 w 30"/>
              <a:gd name="T81" fmla="*/ 28 h 28"/>
              <a:gd name="T82" fmla="*/ 16 w 30"/>
              <a:gd name="T83" fmla="*/ 28 h 28"/>
              <a:gd name="T84" fmla="*/ 14 w 30"/>
              <a:gd name="T85" fmla="*/ 28 h 28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0"/>
              <a:gd name="T130" fmla="*/ 0 h 28"/>
              <a:gd name="T131" fmla="*/ 30 w 30"/>
              <a:gd name="T132" fmla="*/ 28 h 28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0" h="28">
                <a:moveTo>
                  <a:pt x="14" y="28"/>
                </a:moveTo>
                <a:lnTo>
                  <a:pt x="18" y="28"/>
                </a:lnTo>
                <a:lnTo>
                  <a:pt x="21" y="28"/>
                </a:lnTo>
                <a:lnTo>
                  <a:pt x="23" y="25"/>
                </a:lnTo>
                <a:lnTo>
                  <a:pt x="25" y="25"/>
                </a:lnTo>
                <a:lnTo>
                  <a:pt x="28" y="23"/>
                </a:lnTo>
                <a:lnTo>
                  <a:pt x="28" y="21"/>
                </a:lnTo>
                <a:lnTo>
                  <a:pt x="28" y="18"/>
                </a:lnTo>
                <a:lnTo>
                  <a:pt x="30" y="16"/>
                </a:lnTo>
                <a:lnTo>
                  <a:pt x="30" y="14"/>
                </a:lnTo>
                <a:lnTo>
                  <a:pt x="30" y="11"/>
                </a:lnTo>
                <a:lnTo>
                  <a:pt x="28" y="9"/>
                </a:lnTo>
                <a:lnTo>
                  <a:pt x="28" y="7"/>
                </a:lnTo>
                <a:lnTo>
                  <a:pt x="25" y="4"/>
                </a:lnTo>
                <a:lnTo>
                  <a:pt x="23" y="2"/>
                </a:lnTo>
                <a:lnTo>
                  <a:pt x="21" y="2"/>
                </a:lnTo>
                <a:lnTo>
                  <a:pt x="21" y="0"/>
                </a:lnTo>
                <a:lnTo>
                  <a:pt x="18" y="0"/>
                </a:lnTo>
                <a:lnTo>
                  <a:pt x="16" y="0"/>
                </a:lnTo>
                <a:lnTo>
                  <a:pt x="14" y="0"/>
                </a:lnTo>
                <a:lnTo>
                  <a:pt x="11" y="0"/>
                </a:lnTo>
                <a:lnTo>
                  <a:pt x="9" y="2"/>
                </a:lnTo>
                <a:lnTo>
                  <a:pt x="7" y="2"/>
                </a:lnTo>
                <a:lnTo>
                  <a:pt x="4" y="4"/>
                </a:lnTo>
                <a:lnTo>
                  <a:pt x="4" y="7"/>
                </a:lnTo>
                <a:lnTo>
                  <a:pt x="2" y="7"/>
                </a:lnTo>
                <a:lnTo>
                  <a:pt x="2" y="9"/>
                </a:lnTo>
                <a:lnTo>
                  <a:pt x="0" y="11"/>
                </a:lnTo>
                <a:lnTo>
                  <a:pt x="0" y="14"/>
                </a:lnTo>
                <a:lnTo>
                  <a:pt x="0" y="16"/>
                </a:lnTo>
                <a:lnTo>
                  <a:pt x="2" y="18"/>
                </a:lnTo>
                <a:lnTo>
                  <a:pt x="2" y="21"/>
                </a:lnTo>
                <a:lnTo>
                  <a:pt x="4" y="23"/>
                </a:lnTo>
                <a:lnTo>
                  <a:pt x="4" y="25"/>
                </a:lnTo>
                <a:lnTo>
                  <a:pt x="7" y="25"/>
                </a:lnTo>
                <a:lnTo>
                  <a:pt x="9" y="28"/>
                </a:lnTo>
                <a:lnTo>
                  <a:pt x="11" y="28"/>
                </a:lnTo>
                <a:lnTo>
                  <a:pt x="14" y="28"/>
                </a:lnTo>
                <a:lnTo>
                  <a:pt x="16" y="28"/>
                </a:lnTo>
                <a:lnTo>
                  <a:pt x="14" y="28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" name="Rectangle 326"/>
          <p:cNvSpPr>
            <a:spLocks noChangeArrowheads="1"/>
          </p:cNvSpPr>
          <p:nvPr/>
        </p:nvSpPr>
        <p:spPr bwMode="auto">
          <a:xfrm>
            <a:off x="5180013" y="6018213"/>
            <a:ext cx="238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328" name="Rectangle 327"/>
          <p:cNvSpPr>
            <a:spLocks noChangeArrowheads="1"/>
          </p:cNvSpPr>
          <p:nvPr/>
        </p:nvSpPr>
        <p:spPr bwMode="auto">
          <a:xfrm>
            <a:off x="5203826" y="601821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329" name="Rectangle 328"/>
          <p:cNvSpPr>
            <a:spLocks noChangeArrowheads="1"/>
          </p:cNvSpPr>
          <p:nvPr/>
        </p:nvSpPr>
        <p:spPr bwMode="auto">
          <a:xfrm>
            <a:off x="5256213" y="6018213"/>
            <a:ext cx="4603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330" name="Rectangle 329"/>
          <p:cNvSpPr>
            <a:spLocks noChangeArrowheads="1"/>
          </p:cNvSpPr>
          <p:nvPr/>
        </p:nvSpPr>
        <p:spPr bwMode="auto">
          <a:xfrm>
            <a:off x="5300663" y="601821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331" name="Rectangle 330"/>
          <p:cNvSpPr>
            <a:spLocks noChangeArrowheads="1"/>
          </p:cNvSpPr>
          <p:nvPr/>
        </p:nvSpPr>
        <p:spPr bwMode="auto">
          <a:xfrm>
            <a:off x="5326063" y="6018213"/>
            <a:ext cx="3016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332" name="Rectangle 331"/>
          <p:cNvSpPr>
            <a:spLocks noChangeArrowheads="1"/>
          </p:cNvSpPr>
          <p:nvPr/>
        </p:nvSpPr>
        <p:spPr bwMode="auto">
          <a:xfrm>
            <a:off x="5356226" y="601821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333" name="Rectangle 332"/>
          <p:cNvSpPr>
            <a:spLocks noChangeArrowheads="1"/>
          </p:cNvSpPr>
          <p:nvPr/>
        </p:nvSpPr>
        <p:spPr bwMode="auto">
          <a:xfrm>
            <a:off x="5407026" y="6018213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334" name="Rectangle 333"/>
          <p:cNvSpPr>
            <a:spLocks noChangeArrowheads="1"/>
          </p:cNvSpPr>
          <p:nvPr/>
        </p:nvSpPr>
        <p:spPr bwMode="auto">
          <a:xfrm>
            <a:off x="5451476" y="601821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335" name="Rectangle 334"/>
          <p:cNvSpPr>
            <a:spLocks noChangeArrowheads="1"/>
          </p:cNvSpPr>
          <p:nvPr/>
        </p:nvSpPr>
        <p:spPr bwMode="auto">
          <a:xfrm>
            <a:off x="5478463" y="6018213"/>
            <a:ext cx="2063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336" name="Rectangle 335"/>
          <p:cNvSpPr>
            <a:spLocks noChangeArrowheads="1"/>
          </p:cNvSpPr>
          <p:nvPr/>
        </p:nvSpPr>
        <p:spPr bwMode="auto">
          <a:xfrm>
            <a:off x="5500688" y="601821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337" name="Rectangle 336"/>
          <p:cNvSpPr>
            <a:spLocks noChangeArrowheads="1"/>
          </p:cNvSpPr>
          <p:nvPr/>
        </p:nvSpPr>
        <p:spPr bwMode="auto">
          <a:xfrm>
            <a:off x="5548313" y="601821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338" name="Rectangle 337"/>
          <p:cNvSpPr>
            <a:spLocks noChangeArrowheads="1"/>
          </p:cNvSpPr>
          <p:nvPr/>
        </p:nvSpPr>
        <p:spPr bwMode="auto">
          <a:xfrm>
            <a:off x="5600701" y="601821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700">
                <a:solidFill>
                  <a:srgbClr val="666666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339" name="Rectangle 338"/>
          <p:cNvSpPr>
            <a:spLocks noChangeArrowheads="1"/>
          </p:cNvSpPr>
          <p:nvPr/>
        </p:nvSpPr>
        <p:spPr bwMode="auto">
          <a:xfrm>
            <a:off x="5626101" y="601821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[</a:t>
            </a:r>
          </a:p>
        </p:txBody>
      </p:sp>
      <p:sp>
        <p:nvSpPr>
          <p:cNvPr id="340" name="Rectangle 339"/>
          <p:cNvSpPr>
            <a:spLocks noChangeArrowheads="1"/>
          </p:cNvSpPr>
          <p:nvPr/>
        </p:nvSpPr>
        <p:spPr bwMode="auto">
          <a:xfrm>
            <a:off x="5651501" y="601821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5</a:t>
            </a:r>
          </a:p>
        </p:txBody>
      </p:sp>
      <p:sp>
        <p:nvSpPr>
          <p:cNvPr id="341" name="Rectangle 340"/>
          <p:cNvSpPr>
            <a:spLocks noChangeArrowheads="1"/>
          </p:cNvSpPr>
          <p:nvPr/>
        </p:nvSpPr>
        <p:spPr bwMode="auto">
          <a:xfrm>
            <a:off x="5700713" y="601821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–</a:t>
            </a:r>
          </a:p>
        </p:txBody>
      </p:sp>
      <p:sp>
        <p:nvSpPr>
          <p:cNvPr id="342" name="Rectangle 341"/>
          <p:cNvSpPr>
            <a:spLocks noChangeArrowheads="1"/>
          </p:cNvSpPr>
          <p:nvPr/>
        </p:nvSpPr>
        <p:spPr bwMode="auto">
          <a:xfrm>
            <a:off x="5770563" y="601821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0</a:t>
            </a:r>
          </a:p>
        </p:txBody>
      </p:sp>
      <p:sp>
        <p:nvSpPr>
          <p:cNvPr id="343" name="Rectangle 342"/>
          <p:cNvSpPr>
            <a:spLocks noChangeArrowheads="1"/>
          </p:cNvSpPr>
          <p:nvPr/>
        </p:nvSpPr>
        <p:spPr bwMode="auto">
          <a:xfrm>
            <a:off x="5822951" y="601821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]</a:t>
            </a:r>
          </a:p>
        </p:txBody>
      </p:sp>
      <p:sp>
        <p:nvSpPr>
          <p:cNvPr id="344" name="Freeform 343"/>
          <p:cNvSpPr>
            <a:spLocks noChangeArrowheads="1"/>
          </p:cNvSpPr>
          <p:nvPr/>
        </p:nvSpPr>
        <p:spPr bwMode="auto">
          <a:xfrm>
            <a:off x="5133976" y="5643563"/>
            <a:ext cx="1689100" cy="520700"/>
          </a:xfrm>
          <a:custGeom>
            <a:avLst/>
            <a:gdLst>
              <a:gd name="T0" fmla="*/ 0 w 1064"/>
              <a:gd name="T1" fmla="*/ 0 h 294"/>
              <a:gd name="T2" fmla="*/ 2 w 1064"/>
              <a:gd name="T3" fmla="*/ 294 h 294"/>
              <a:gd name="T4" fmla="*/ 1001 w 1064"/>
              <a:gd name="T5" fmla="*/ 294 h 294"/>
              <a:gd name="T6" fmla="*/ 1001 w 1064"/>
              <a:gd name="T7" fmla="*/ 86 h 294"/>
              <a:gd name="T8" fmla="*/ 1064 w 1064"/>
              <a:gd name="T9" fmla="*/ 86 h 29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64"/>
              <a:gd name="T16" fmla="*/ 0 h 294"/>
              <a:gd name="T17" fmla="*/ 1064 w 1064"/>
              <a:gd name="T18" fmla="*/ 294 h 29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64" h="294">
                <a:moveTo>
                  <a:pt x="0" y="0"/>
                </a:moveTo>
                <a:lnTo>
                  <a:pt x="2" y="294"/>
                </a:lnTo>
                <a:lnTo>
                  <a:pt x="1001" y="294"/>
                </a:lnTo>
                <a:lnTo>
                  <a:pt x="1001" y="86"/>
                </a:lnTo>
                <a:lnTo>
                  <a:pt x="1064" y="86"/>
                </a:lnTo>
              </a:path>
            </a:pathLst>
          </a:custGeom>
          <a:noFill/>
          <a:ln w="1908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5" name="Freeform 344"/>
          <p:cNvSpPr>
            <a:spLocks noChangeArrowheads="1"/>
          </p:cNvSpPr>
          <p:nvPr/>
        </p:nvSpPr>
        <p:spPr bwMode="auto">
          <a:xfrm>
            <a:off x="6808788" y="5767388"/>
            <a:ext cx="47625" cy="52387"/>
          </a:xfrm>
          <a:custGeom>
            <a:avLst/>
            <a:gdLst>
              <a:gd name="T0" fmla="*/ 0 w 30"/>
              <a:gd name="T1" fmla="*/ 0 h 30"/>
              <a:gd name="T2" fmla="*/ 0 w 30"/>
              <a:gd name="T3" fmla="*/ 30 h 30"/>
              <a:gd name="T4" fmla="*/ 30 w 30"/>
              <a:gd name="T5" fmla="*/ 16 h 30"/>
              <a:gd name="T6" fmla="*/ 0 w 30"/>
              <a:gd name="T7" fmla="*/ 2 h 30"/>
              <a:gd name="T8" fmla="*/ 0 w 30"/>
              <a:gd name="T9" fmla="*/ 2 h 30"/>
              <a:gd name="T10" fmla="*/ 0 w 30"/>
              <a:gd name="T11" fmla="*/ 0 h 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"/>
              <a:gd name="T19" fmla="*/ 0 h 30"/>
              <a:gd name="T20" fmla="*/ 30 w 30"/>
              <a:gd name="T21" fmla="*/ 30 h 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" h="30">
                <a:moveTo>
                  <a:pt x="0" y="0"/>
                </a:moveTo>
                <a:lnTo>
                  <a:pt x="0" y="30"/>
                </a:lnTo>
                <a:lnTo>
                  <a:pt x="30" y="16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6" name="Freeform 345"/>
          <p:cNvSpPr>
            <a:spLocks noChangeArrowheads="1"/>
          </p:cNvSpPr>
          <p:nvPr/>
        </p:nvSpPr>
        <p:spPr bwMode="auto">
          <a:xfrm>
            <a:off x="4767263" y="2474913"/>
            <a:ext cx="425450" cy="1392237"/>
          </a:xfrm>
          <a:custGeom>
            <a:avLst/>
            <a:gdLst>
              <a:gd name="T0" fmla="*/ 133 w 268"/>
              <a:gd name="T1" fmla="*/ 787 h 787"/>
              <a:gd name="T2" fmla="*/ 156 w 268"/>
              <a:gd name="T3" fmla="*/ 782 h 787"/>
              <a:gd name="T4" fmla="*/ 177 w 268"/>
              <a:gd name="T5" fmla="*/ 768 h 787"/>
              <a:gd name="T6" fmla="*/ 196 w 268"/>
              <a:gd name="T7" fmla="*/ 745 h 787"/>
              <a:gd name="T8" fmla="*/ 214 w 268"/>
              <a:gd name="T9" fmla="*/ 712 h 787"/>
              <a:gd name="T10" fmla="*/ 228 w 268"/>
              <a:gd name="T11" fmla="*/ 672 h 787"/>
              <a:gd name="T12" fmla="*/ 242 w 268"/>
              <a:gd name="T13" fmla="*/ 626 h 787"/>
              <a:gd name="T14" fmla="*/ 254 w 268"/>
              <a:gd name="T15" fmla="*/ 574 h 787"/>
              <a:gd name="T16" fmla="*/ 261 w 268"/>
              <a:gd name="T17" fmla="*/ 518 h 787"/>
              <a:gd name="T18" fmla="*/ 268 w 268"/>
              <a:gd name="T19" fmla="*/ 458 h 787"/>
              <a:gd name="T20" fmla="*/ 268 w 268"/>
              <a:gd name="T21" fmla="*/ 392 h 787"/>
              <a:gd name="T22" fmla="*/ 268 w 268"/>
              <a:gd name="T23" fmla="*/ 329 h 787"/>
              <a:gd name="T24" fmla="*/ 261 w 268"/>
              <a:gd name="T25" fmla="*/ 269 h 787"/>
              <a:gd name="T26" fmla="*/ 254 w 268"/>
              <a:gd name="T27" fmla="*/ 213 h 787"/>
              <a:gd name="T28" fmla="*/ 242 w 268"/>
              <a:gd name="T29" fmla="*/ 161 h 787"/>
              <a:gd name="T30" fmla="*/ 228 w 268"/>
              <a:gd name="T31" fmla="*/ 114 h 787"/>
              <a:gd name="T32" fmla="*/ 214 w 268"/>
              <a:gd name="T33" fmla="*/ 75 h 787"/>
              <a:gd name="T34" fmla="*/ 196 w 268"/>
              <a:gd name="T35" fmla="*/ 42 h 787"/>
              <a:gd name="T36" fmla="*/ 177 w 268"/>
              <a:gd name="T37" fmla="*/ 19 h 787"/>
              <a:gd name="T38" fmla="*/ 156 w 268"/>
              <a:gd name="T39" fmla="*/ 5 h 787"/>
              <a:gd name="T40" fmla="*/ 133 w 268"/>
              <a:gd name="T41" fmla="*/ 0 h 787"/>
              <a:gd name="T42" fmla="*/ 112 w 268"/>
              <a:gd name="T43" fmla="*/ 5 h 787"/>
              <a:gd name="T44" fmla="*/ 91 w 268"/>
              <a:gd name="T45" fmla="*/ 19 h 787"/>
              <a:gd name="T46" fmla="*/ 72 w 268"/>
              <a:gd name="T47" fmla="*/ 42 h 787"/>
              <a:gd name="T48" fmla="*/ 53 w 268"/>
              <a:gd name="T49" fmla="*/ 75 h 787"/>
              <a:gd name="T50" fmla="*/ 39 w 268"/>
              <a:gd name="T51" fmla="*/ 114 h 787"/>
              <a:gd name="T52" fmla="*/ 25 w 268"/>
              <a:gd name="T53" fmla="*/ 161 h 787"/>
              <a:gd name="T54" fmla="*/ 14 w 268"/>
              <a:gd name="T55" fmla="*/ 213 h 787"/>
              <a:gd name="T56" fmla="*/ 7 w 268"/>
              <a:gd name="T57" fmla="*/ 269 h 787"/>
              <a:gd name="T58" fmla="*/ 0 w 268"/>
              <a:gd name="T59" fmla="*/ 329 h 787"/>
              <a:gd name="T60" fmla="*/ 0 w 268"/>
              <a:gd name="T61" fmla="*/ 392 h 787"/>
              <a:gd name="T62" fmla="*/ 0 w 268"/>
              <a:gd name="T63" fmla="*/ 458 h 787"/>
              <a:gd name="T64" fmla="*/ 7 w 268"/>
              <a:gd name="T65" fmla="*/ 518 h 787"/>
              <a:gd name="T66" fmla="*/ 14 w 268"/>
              <a:gd name="T67" fmla="*/ 574 h 787"/>
              <a:gd name="T68" fmla="*/ 25 w 268"/>
              <a:gd name="T69" fmla="*/ 626 h 787"/>
              <a:gd name="T70" fmla="*/ 39 w 268"/>
              <a:gd name="T71" fmla="*/ 672 h 787"/>
              <a:gd name="T72" fmla="*/ 53 w 268"/>
              <a:gd name="T73" fmla="*/ 712 h 787"/>
              <a:gd name="T74" fmla="*/ 72 w 268"/>
              <a:gd name="T75" fmla="*/ 745 h 787"/>
              <a:gd name="T76" fmla="*/ 91 w 268"/>
              <a:gd name="T77" fmla="*/ 768 h 787"/>
              <a:gd name="T78" fmla="*/ 112 w 268"/>
              <a:gd name="T79" fmla="*/ 782 h 787"/>
              <a:gd name="T80" fmla="*/ 133 w 268"/>
              <a:gd name="T81" fmla="*/ 787 h 787"/>
              <a:gd name="T82" fmla="*/ 133 w 268"/>
              <a:gd name="T83" fmla="*/ 787 h 787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68"/>
              <a:gd name="T127" fmla="*/ 0 h 787"/>
              <a:gd name="T128" fmla="*/ 268 w 268"/>
              <a:gd name="T129" fmla="*/ 787 h 787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68" h="787">
                <a:moveTo>
                  <a:pt x="133" y="787"/>
                </a:moveTo>
                <a:lnTo>
                  <a:pt x="156" y="782"/>
                </a:lnTo>
                <a:lnTo>
                  <a:pt x="177" y="768"/>
                </a:lnTo>
                <a:lnTo>
                  <a:pt x="196" y="745"/>
                </a:lnTo>
                <a:lnTo>
                  <a:pt x="214" y="712"/>
                </a:lnTo>
                <a:lnTo>
                  <a:pt x="228" y="672"/>
                </a:lnTo>
                <a:lnTo>
                  <a:pt x="242" y="626"/>
                </a:lnTo>
                <a:lnTo>
                  <a:pt x="254" y="574"/>
                </a:lnTo>
                <a:lnTo>
                  <a:pt x="261" y="518"/>
                </a:lnTo>
                <a:lnTo>
                  <a:pt x="268" y="458"/>
                </a:lnTo>
                <a:lnTo>
                  <a:pt x="268" y="392"/>
                </a:lnTo>
                <a:lnTo>
                  <a:pt x="268" y="329"/>
                </a:lnTo>
                <a:lnTo>
                  <a:pt x="261" y="269"/>
                </a:lnTo>
                <a:lnTo>
                  <a:pt x="254" y="213"/>
                </a:lnTo>
                <a:lnTo>
                  <a:pt x="242" y="161"/>
                </a:lnTo>
                <a:lnTo>
                  <a:pt x="228" y="114"/>
                </a:lnTo>
                <a:lnTo>
                  <a:pt x="214" y="75"/>
                </a:lnTo>
                <a:lnTo>
                  <a:pt x="196" y="42"/>
                </a:lnTo>
                <a:lnTo>
                  <a:pt x="177" y="19"/>
                </a:lnTo>
                <a:lnTo>
                  <a:pt x="156" y="5"/>
                </a:lnTo>
                <a:lnTo>
                  <a:pt x="133" y="0"/>
                </a:lnTo>
                <a:lnTo>
                  <a:pt x="112" y="5"/>
                </a:lnTo>
                <a:lnTo>
                  <a:pt x="91" y="19"/>
                </a:lnTo>
                <a:lnTo>
                  <a:pt x="72" y="42"/>
                </a:lnTo>
                <a:lnTo>
                  <a:pt x="53" y="75"/>
                </a:lnTo>
                <a:lnTo>
                  <a:pt x="39" y="114"/>
                </a:lnTo>
                <a:lnTo>
                  <a:pt x="25" y="161"/>
                </a:lnTo>
                <a:lnTo>
                  <a:pt x="14" y="213"/>
                </a:lnTo>
                <a:lnTo>
                  <a:pt x="7" y="269"/>
                </a:lnTo>
                <a:lnTo>
                  <a:pt x="0" y="329"/>
                </a:lnTo>
                <a:lnTo>
                  <a:pt x="0" y="392"/>
                </a:lnTo>
                <a:lnTo>
                  <a:pt x="0" y="458"/>
                </a:lnTo>
                <a:lnTo>
                  <a:pt x="7" y="518"/>
                </a:lnTo>
                <a:lnTo>
                  <a:pt x="14" y="574"/>
                </a:lnTo>
                <a:lnTo>
                  <a:pt x="25" y="626"/>
                </a:lnTo>
                <a:lnTo>
                  <a:pt x="39" y="672"/>
                </a:lnTo>
                <a:lnTo>
                  <a:pt x="53" y="712"/>
                </a:lnTo>
                <a:lnTo>
                  <a:pt x="72" y="745"/>
                </a:lnTo>
                <a:lnTo>
                  <a:pt x="91" y="768"/>
                </a:lnTo>
                <a:lnTo>
                  <a:pt x="112" y="782"/>
                </a:lnTo>
                <a:lnTo>
                  <a:pt x="133" y="78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7" name="Freeform 346"/>
          <p:cNvSpPr>
            <a:spLocks noChangeArrowheads="1"/>
          </p:cNvSpPr>
          <p:nvPr/>
        </p:nvSpPr>
        <p:spPr bwMode="auto">
          <a:xfrm>
            <a:off x="4767263" y="2474913"/>
            <a:ext cx="425450" cy="1392237"/>
          </a:xfrm>
          <a:custGeom>
            <a:avLst/>
            <a:gdLst>
              <a:gd name="T0" fmla="*/ 133 w 268"/>
              <a:gd name="T1" fmla="*/ 787 h 787"/>
              <a:gd name="T2" fmla="*/ 156 w 268"/>
              <a:gd name="T3" fmla="*/ 782 h 787"/>
              <a:gd name="T4" fmla="*/ 177 w 268"/>
              <a:gd name="T5" fmla="*/ 768 h 787"/>
              <a:gd name="T6" fmla="*/ 196 w 268"/>
              <a:gd name="T7" fmla="*/ 745 h 787"/>
              <a:gd name="T8" fmla="*/ 214 w 268"/>
              <a:gd name="T9" fmla="*/ 712 h 787"/>
              <a:gd name="T10" fmla="*/ 228 w 268"/>
              <a:gd name="T11" fmla="*/ 672 h 787"/>
              <a:gd name="T12" fmla="*/ 242 w 268"/>
              <a:gd name="T13" fmla="*/ 626 h 787"/>
              <a:gd name="T14" fmla="*/ 254 w 268"/>
              <a:gd name="T15" fmla="*/ 574 h 787"/>
              <a:gd name="T16" fmla="*/ 261 w 268"/>
              <a:gd name="T17" fmla="*/ 518 h 787"/>
              <a:gd name="T18" fmla="*/ 268 w 268"/>
              <a:gd name="T19" fmla="*/ 458 h 787"/>
              <a:gd name="T20" fmla="*/ 268 w 268"/>
              <a:gd name="T21" fmla="*/ 392 h 787"/>
              <a:gd name="T22" fmla="*/ 268 w 268"/>
              <a:gd name="T23" fmla="*/ 329 h 787"/>
              <a:gd name="T24" fmla="*/ 261 w 268"/>
              <a:gd name="T25" fmla="*/ 269 h 787"/>
              <a:gd name="T26" fmla="*/ 254 w 268"/>
              <a:gd name="T27" fmla="*/ 213 h 787"/>
              <a:gd name="T28" fmla="*/ 242 w 268"/>
              <a:gd name="T29" fmla="*/ 161 h 787"/>
              <a:gd name="T30" fmla="*/ 228 w 268"/>
              <a:gd name="T31" fmla="*/ 114 h 787"/>
              <a:gd name="T32" fmla="*/ 214 w 268"/>
              <a:gd name="T33" fmla="*/ 75 h 787"/>
              <a:gd name="T34" fmla="*/ 196 w 268"/>
              <a:gd name="T35" fmla="*/ 42 h 787"/>
              <a:gd name="T36" fmla="*/ 177 w 268"/>
              <a:gd name="T37" fmla="*/ 19 h 787"/>
              <a:gd name="T38" fmla="*/ 156 w 268"/>
              <a:gd name="T39" fmla="*/ 5 h 787"/>
              <a:gd name="T40" fmla="*/ 133 w 268"/>
              <a:gd name="T41" fmla="*/ 0 h 787"/>
              <a:gd name="T42" fmla="*/ 112 w 268"/>
              <a:gd name="T43" fmla="*/ 5 h 787"/>
              <a:gd name="T44" fmla="*/ 91 w 268"/>
              <a:gd name="T45" fmla="*/ 19 h 787"/>
              <a:gd name="T46" fmla="*/ 72 w 268"/>
              <a:gd name="T47" fmla="*/ 42 h 787"/>
              <a:gd name="T48" fmla="*/ 53 w 268"/>
              <a:gd name="T49" fmla="*/ 75 h 787"/>
              <a:gd name="T50" fmla="*/ 39 w 268"/>
              <a:gd name="T51" fmla="*/ 114 h 787"/>
              <a:gd name="T52" fmla="*/ 25 w 268"/>
              <a:gd name="T53" fmla="*/ 161 h 787"/>
              <a:gd name="T54" fmla="*/ 14 w 268"/>
              <a:gd name="T55" fmla="*/ 213 h 787"/>
              <a:gd name="T56" fmla="*/ 7 w 268"/>
              <a:gd name="T57" fmla="*/ 269 h 787"/>
              <a:gd name="T58" fmla="*/ 0 w 268"/>
              <a:gd name="T59" fmla="*/ 329 h 787"/>
              <a:gd name="T60" fmla="*/ 0 w 268"/>
              <a:gd name="T61" fmla="*/ 392 h 787"/>
              <a:gd name="T62" fmla="*/ 0 w 268"/>
              <a:gd name="T63" fmla="*/ 458 h 787"/>
              <a:gd name="T64" fmla="*/ 7 w 268"/>
              <a:gd name="T65" fmla="*/ 518 h 787"/>
              <a:gd name="T66" fmla="*/ 14 w 268"/>
              <a:gd name="T67" fmla="*/ 574 h 787"/>
              <a:gd name="T68" fmla="*/ 25 w 268"/>
              <a:gd name="T69" fmla="*/ 626 h 787"/>
              <a:gd name="T70" fmla="*/ 39 w 268"/>
              <a:gd name="T71" fmla="*/ 672 h 787"/>
              <a:gd name="T72" fmla="*/ 53 w 268"/>
              <a:gd name="T73" fmla="*/ 712 h 787"/>
              <a:gd name="T74" fmla="*/ 72 w 268"/>
              <a:gd name="T75" fmla="*/ 745 h 787"/>
              <a:gd name="T76" fmla="*/ 91 w 268"/>
              <a:gd name="T77" fmla="*/ 768 h 787"/>
              <a:gd name="T78" fmla="*/ 112 w 268"/>
              <a:gd name="T79" fmla="*/ 782 h 787"/>
              <a:gd name="T80" fmla="*/ 133 w 268"/>
              <a:gd name="T81" fmla="*/ 787 h 787"/>
              <a:gd name="T82" fmla="*/ 133 w 268"/>
              <a:gd name="T83" fmla="*/ 787 h 787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68"/>
              <a:gd name="T127" fmla="*/ 0 h 787"/>
              <a:gd name="T128" fmla="*/ 268 w 268"/>
              <a:gd name="T129" fmla="*/ 787 h 787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68" h="787">
                <a:moveTo>
                  <a:pt x="133" y="787"/>
                </a:moveTo>
                <a:lnTo>
                  <a:pt x="156" y="782"/>
                </a:lnTo>
                <a:lnTo>
                  <a:pt x="177" y="768"/>
                </a:lnTo>
                <a:lnTo>
                  <a:pt x="196" y="745"/>
                </a:lnTo>
                <a:lnTo>
                  <a:pt x="214" y="712"/>
                </a:lnTo>
                <a:lnTo>
                  <a:pt x="228" y="672"/>
                </a:lnTo>
                <a:lnTo>
                  <a:pt x="242" y="626"/>
                </a:lnTo>
                <a:lnTo>
                  <a:pt x="254" y="574"/>
                </a:lnTo>
                <a:lnTo>
                  <a:pt x="261" y="518"/>
                </a:lnTo>
                <a:lnTo>
                  <a:pt x="268" y="458"/>
                </a:lnTo>
                <a:lnTo>
                  <a:pt x="268" y="392"/>
                </a:lnTo>
                <a:lnTo>
                  <a:pt x="268" y="329"/>
                </a:lnTo>
                <a:lnTo>
                  <a:pt x="261" y="269"/>
                </a:lnTo>
                <a:lnTo>
                  <a:pt x="254" y="213"/>
                </a:lnTo>
                <a:lnTo>
                  <a:pt x="242" y="161"/>
                </a:lnTo>
                <a:lnTo>
                  <a:pt x="228" y="114"/>
                </a:lnTo>
                <a:lnTo>
                  <a:pt x="214" y="75"/>
                </a:lnTo>
                <a:lnTo>
                  <a:pt x="196" y="42"/>
                </a:lnTo>
                <a:lnTo>
                  <a:pt x="177" y="19"/>
                </a:lnTo>
                <a:lnTo>
                  <a:pt x="156" y="5"/>
                </a:lnTo>
                <a:lnTo>
                  <a:pt x="133" y="0"/>
                </a:lnTo>
                <a:lnTo>
                  <a:pt x="112" y="5"/>
                </a:lnTo>
                <a:lnTo>
                  <a:pt x="91" y="19"/>
                </a:lnTo>
                <a:lnTo>
                  <a:pt x="72" y="42"/>
                </a:lnTo>
                <a:lnTo>
                  <a:pt x="53" y="75"/>
                </a:lnTo>
                <a:lnTo>
                  <a:pt x="39" y="114"/>
                </a:lnTo>
                <a:lnTo>
                  <a:pt x="25" y="161"/>
                </a:lnTo>
                <a:lnTo>
                  <a:pt x="14" y="213"/>
                </a:lnTo>
                <a:lnTo>
                  <a:pt x="7" y="269"/>
                </a:lnTo>
                <a:lnTo>
                  <a:pt x="0" y="329"/>
                </a:lnTo>
                <a:lnTo>
                  <a:pt x="0" y="392"/>
                </a:lnTo>
                <a:lnTo>
                  <a:pt x="0" y="458"/>
                </a:lnTo>
                <a:lnTo>
                  <a:pt x="7" y="518"/>
                </a:lnTo>
                <a:lnTo>
                  <a:pt x="14" y="574"/>
                </a:lnTo>
                <a:lnTo>
                  <a:pt x="25" y="626"/>
                </a:lnTo>
                <a:lnTo>
                  <a:pt x="39" y="672"/>
                </a:lnTo>
                <a:lnTo>
                  <a:pt x="53" y="712"/>
                </a:lnTo>
                <a:lnTo>
                  <a:pt x="72" y="745"/>
                </a:lnTo>
                <a:lnTo>
                  <a:pt x="91" y="768"/>
                </a:lnTo>
                <a:lnTo>
                  <a:pt x="112" y="782"/>
                </a:lnTo>
                <a:lnTo>
                  <a:pt x="133" y="787"/>
                </a:lnTo>
              </a:path>
            </a:pathLst>
          </a:custGeom>
          <a:noFill/>
          <a:ln w="11160">
            <a:solidFill>
              <a:srgbClr val="EB75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" name="Rectangle 347"/>
          <p:cNvSpPr>
            <a:spLocks noChangeArrowheads="1"/>
          </p:cNvSpPr>
          <p:nvPr/>
        </p:nvSpPr>
        <p:spPr bwMode="auto">
          <a:xfrm>
            <a:off x="5230813" y="3101975"/>
            <a:ext cx="730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349" name="Rectangle 348"/>
          <p:cNvSpPr>
            <a:spLocks noChangeArrowheads="1"/>
          </p:cNvSpPr>
          <p:nvPr/>
        </p:nvSpPr>
        <p:spPr bwMode="auto">
          <a:xfrm>
            <a:off x="5303838" y="310197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350" name="Rectangle 349"/>
          <p:cNvSpPr>
            <a:spLocks noChangeArrowheads="1"/>
          </p:cNvSpPr>
          <p:nvPr/>
        </p:nvSpPr>
        <p:spPr bwMode="auto">
          <a:xfrm>
            <a:off x="5356226" y="3101975"/>
            <a:ext cx="762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351" name="Rectangle 350"/>
          <p:cNvSpPr>
            <a:spLocks noChangeArrowheads="1"/>
          </p:cNvSpPr>
          <p:nvPr/>
        </p:nvSpPr>
        <p:spPr bwMode="auto">
          <a:xfrm>
            <a:off x="5429251" y="3101975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352" name="Rectangle 351"/>
          <p:cNvSpPr>
            <a:spLocks noChangeArrowheads="1"/>
          </p:cNvSpPr>
          <p:nvPr/>
        </p:nvSpPr>
        <p:spPr bwMode="auto">
          <a:xfrm>
            <a:off x="5456238" y="310197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353" name="Rectangle 352"/>
          <p:cNvSpPr>
            <a:spLocks noChangeArrowheads="1"/>
          </p:cNvSpPr>
          <p:nvPr/>
        </p:nvSpPr>
        <p:spPr bwMode="auto">
          <a:xfrm>
            <a:off x="5507038" y="3101975"/>
            <a:ext cx="6508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354" name="Rectangle 353"/>
          <p:cNvSpPr>
            <a:spLocks noChangeArrowheads="1"/>
          </p:cNvSpPr>
          <p:nvPr/>
        </p:nvSpPr>
        <p:spPr bwMode="auto">
          <a:xfrm>
            <a:off x="5573713" y="310197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355" name="Rectangle 354"/>
          <p:cNvSpPr>
            <a:spLocks noChangeArrowheads="1"/>
          </p:cNvSpPr>
          <p:nvPr/>
        </p:nvSpPr>
        <p:spPr bwMode="auto">
          <a:xfrm>
            <a:off x="5622926" y="310197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356" name="Rectangle 355"/>
          <p:cNvSpPr>
            <a:spLocks noChangeArrowheads="1"/>
          </p:cNvSpPr>
          <p:nvPr/>
        </p:nvSpPr>
        <p:spPr bwMode="auto">
          <a:xfrm>
            <a:off x="5229226" y="3254375"/>
            <a:ext cx="603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357" name="Rectangle 356"/>
          <p:cNvSpPr>
            <a:spLocks noChangeArrowheads="1"/>
          </p:cNvSpPr>
          <p:nvPr/>
        </p:nvSpPr>
        <p:spPr bwMode="auto">
          <a:xfrm>
            <a:off x="5289551" y="325437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358" name="Rectangle 357"/>
          <p:cNvSpPr>
            <a:spLocks noChangeArrowheads="1"/>
          </p:cNvSpPr>
          <p:nvPr/>
        </p:nvSpPr>
        <p:spPr bwMode="auto">
          <a:xfrm>
            <a:off x="5340351" y="3254375"/>
            <a:ext cx="6508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359" name="Rectangle 358"/>
          <p:cNvSpPr>
            <a:spLocks noChangeArrowheads="1"/>
          </p:cNvSpPr>
          <p:nvPr/>
        </p:nvSpPr>
        <p:spPr bwMode="auto">
          <a:xfrm>
            <a:off x="5407026" y="3254375"/>
            <a:ext cx="6985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360" name="Rectangle 359"/>
          <p:cNvSpPr>
            <a:spLocks noChangeArrowheads="1"/>
          </p:cNvSpPr>
          <p:nvPr/>
        </p:nvSpPr>
        <p:spPr bwMode="auto">
          <a:xfrm>
            <a:off x="5478463" y="325437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p</a:t>
            </a:r>
          </a:p>
        </p:txBody>
      </p:sp>
      <p:sp>
        <p:nvSpPr>
          <p:cNvPr id="361" name="Rectangle 360"/>
          <p:cNvSpPr>
            <a:spLocks noChangeArrowheads="1"/>
          </p:cNvSpPr>
          <p:nvPr/>
        </p:nvSpPr>
        <p:spPr bwMode="auto">
          <a:xfrm>
            <a:off x="5230813" y="3406775"/>
            <a:ext cx="730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362" name="Rectangle 361"/>
          <p:cNvSpPr>
            <a:spLocks noChangeArrowheads="1"/>
          </p:cNvSpPr>
          <p:nvPr/>
        </p:nvSpPr>
        <p:spPr bwMode="auto">
          <a:xfrm>
            <a:off x="5303838" y="340677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363" name="Rectangle 362"/>
          <p:cNvSpPr>
            <a:spLocks noChangeArrowheads="1"/>
          </p:cNvSpPr>
          <p:nvPr/>
        </p:nvSpPr>
        <p:spPr bwMode="auto">
          <a:xfrm>
            <a:off x="5356226" y="3406775"/>
            <a:ext cx="762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364" name="Rectangle 363"/>
          <p:cNvSpPr>
            <a:spLocks noChangeArrowheads="1"/>
          </p:cNvSpPr>
          <p:nvPr/>
        </p:nvSpPr>
        <p:spPr bwMode="auto">
          <a:xfrm>
            <a:off x="5426076" y="3406775"/>
            <a:ext cx="84137" cy="10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365" name="Rectangle 364"/>
          <p:cNvSpPr>
            <a:spLocks noChangeArrowheads="1"/>
          </p:cNvSpPr>
          <p:nvPr/>
        </p:nvSpPr>
        <p:spPr bwMode="auto">
          <a:xfrm>
            <a:off x="5518151" y="3406775"/>
            <a:ext cx="3016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366" name="Rectangle 365"/>
          <p:cNvSpPr>
            <a:spLocks noChangeArrowheads="1"/>
          </p:cNvSpPr>
          <p:nvPr/>
        </p:nvSpPr>
        <p:spPr bwMode="auto">
          <a:xfrm>
            <a:off x="5548313" y="3406775"/>
            <a:ext cx="2063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367" name="Rectangle 366"/>
          <p:cNvSpPr>
            <a:spLocks noChangeArrowheads="1"/>
          </p:cNvSpPr>
          <p:nvPr/>
        </p:nvSpPr>
        <p:spPr bwMode="auto">
          <a:xfrm>
            <a:off x="5567363" y="3406775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368" name="Rectangle 367"/>
          <p:cNvSpPr>
            <a:spLocks noChangeArrowheads="1"/>
          </p:cNvSpPr>
          <p:nvPr/>
        </p:nvSpPr>
        <p:spPr bwMode="auto">
          <a:xfrm>
            <a:off x="5592763" y="340677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369" name="Rectangle 368"/>
          <p:cNvSpPr>
            <a:spLocks noChangeArrowheads="1"/>
          </p:cNvSpPr>
          <p:nvPr/>
        </p:nvSpPr>
        <p:spPr bwMode="auto">
          <a:xfrm>
            <a:off x="5229226" y="3713163"/>
            <a:ext cx="6508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370" name="Rectangle 369"/>
          <p:cNvSpPr>
            <a:spLocks noChangeArrowheads="1"/>
          </p:cNvSpPr>
          <p:nvPr/>
        </p:nvSpPr>
        <p:spPr bwMode="auto">
          <a:xfrm>
            <a:off x="5292726" y="371316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371" name="Rectangle 370"/>
          <p:cNvSpPr>
            <a:spLocks noChangeArrowheads="1"/>
          </p:cNvSpPr>
          <p:nvPr/>
        </p:nvSpPr>
        <p:spPr bwMode="auto">
          <a:xfrm>
            <a:off x="5345113" y="371316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372" name="Rectangle 371"/>
          <p:cNvSpPr>
            <a:spLocks noChangeArrowheads="1"/>
          </p:cNvSpPr>
          <p:nvPr/>
        </p:nvSpPr>
        <p:spPr bwMode="auto">
          <a:xfrm>
            <a:off x="5392738" y="3713163"/>
            <a:ext cx="84138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W</a:t>
            </a:r>
          </a:p>
        </p:txBody>
      </p:sp>
      <p:sp>
        <p:nvSpPr>
          <p:cNvPr id="373" name="Rectangle 372"/>
          <p:cNvSpPr>
            <a:spLocks noChangeArrowheads="1"/>
          </p:cNvSpPr>
          <p:nvPr/>
        </p:nvSpPr>
        <p:spPr bwMode="auto">
          <a:xfrm>
            <a:off x="5481638" y="3713163"/>
            <a:ext cx="3016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374" name="Rectangle 373"/>
          <p:cNvSpPr>
            <a:spLocks noChangeArrowheads="1"/>
          </p:cNvSpPr>
          <p:nvPr/>
        </p:nvSpPr>
        <p:spPr bwMode="auto">
          <a:xfrm>
            <a:off x="5511801" y="3713163"/>
            <a:ext cx="206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375" name="Rectangle 374"/>
          <p:cNvSpPr>
            <a:spLocks noChangeArrowheads="1"/>
          </p:cNvSpPr>
          <p:nvPr/>
        </p:nvSpPr>
        <p:spPr bwMode="auto">
          <a:xfrm>
            <a:off x="5534026" y="371316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376" name="Rectangle 375"/>
          <p:cNvSpPr>
            <a:spLocks noChangeArrowheads="1"/>
          </p:cNvSpPr>
          <p:nvPr/>
        </p:nvSpPr>
        <p:spPr bwMode="auto">
          <a:xfrm>
            <a:off x="5559426" y="371316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377" name="Rectangle 376"/>
          <p:cNvSpPr>
            <a:spLocks noChangeArrowheads="1"/>
          </p:cNvSpPr>
          <p:nvPr/>
        </p:nvSpPr>
        <p:spPr bwMode="auto">
          <a:xfrm>
            <a:off x="5230813" y="2947988"/>
            <a:ext cx="730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378" name="Rectangle 377"/>
          <p:cNvSpPr>
            <a:spLocks noChangeArrowheads="1"/>
          </p:cNvSpPr>
          <p:nvPr/>
        </p:nvSpPr>
        <p:spPr bwMode="auto">
          <a:xfrm>
            <a:off x="5303838" y="294798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379" name="Rectangle 378"/>
          <p:cNvSpPr>
            <a:spLocks noChangeArrowheads="1"/>
          </p:cNvSpPr>
          <p:nvPr/>
        </p:nvSpPr>
        <p:spPr bwMode="auto">
          <a:xfrm>
            <a:off x="5356226" y="2947988"/>
            <a:ext cx="762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380" name="Rectangle 379"/>
          <p:cNvSpPr>
            <a:spLocks noChangeArrowheads="1"/>
          </p:cNvSpPr>
          <p:nvPr/>
        </p:nvSpPr>
        <p:spPr bwMode="auto">
          <a:xfrm>
            <a:off x="5429251" y="2947988"/>
            <a:ext cx="6508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381" name="Rectangle 380"/>
          <p:cNvSpPr>
            <a:spLocks noChangeArrowheads="1"/>
          </p:cNvSpPr>
          <p:nvPr/>
        </p:nvSpPr>
        <p:spPr bwMode="auto">
          <a:xfrm>
            <a:off x="5495926" y="294798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382" name="Rectangle 381"/>
          <p:cNvSpPr>
            <a:spLocks noChangeArrowheads="1"/>
          </p:cNvSpPr>
          <p:nvPr/>
        </p:nvSpPr>
        <p:spPr bwMode="auto">
          <a:xfrm>
            <a:off x="5548313" y="294798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383" name="Rectangle 382"/>
          <p:cNvSpPr>
            <a:spLocks noChangeArrowheads="1"/>
          </p:cNvSpPr>
          <p:nvPr/>
        </p:nvSpPr>
        <p:spPr bwMode="auto">
          <a:xfrm>
            <a:off x="5600701" y="294798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384" name="Rectangle 383"/>
          <p:cNvSpPr>
            <a:spLocks noChangeArrowheads="1"/>
          </p:cNvSpPr>
          <p:nvPr/>
        </p:nvSpPr>
        <p:spPr bwMode="auto">
          <a:xfrm>
            <a:off x="5229226" y="2797175"/>
            <a:ext cx="603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B</a:t>
            </a:r>
          </a:p>
        </p:txBody>
      </p:sp>
      <p:sp>
        <p:nvSpPr>
          <p:cNvPr id="385" name="Rectangle 384"/>
          <p:cNvSpPr>
            <a:spLocks noChangeArrowheads="1"/>
          </p:cNvSpPr>
          <p:nvPr/>
        </p:nvSpPr>
        <p:spPr bwMode="auto">
          <a:xfrm>
            <a:off x="5289551" y="2797175"/>
            <a:ext cx="3016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386" name="Rectangle 385"/>
          <p:cNvSpPr>
            <a:spLocks noChangeArrowheads="1"/>
          </p:cNvSpPr>
          <p:nvPr/>
        </p:nvSpPr>
        <p:spPr bwMode="auto">
          <a:xfrm>
            <a:off x="5318126" y="279717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387" name="Rectangle 386"/>
          <p:cNvSpPr>
            <a:spLocks noChangeArrowheads="1"/>
          </p:cNvSpPr>
          <p:nvPr/>
        </p:nvSpPr>
        <p:spPr bwMode="auto">
          <a:xfrm>
            <a:off x="5370513" y="279717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388" name="Rectangle 387"/>
          <p:cNvSpPr>
            <a:spLocks noChangeArrowheads="1"/>
          </p:cNvSpPr>
          <p:nvPr/>
        </p:nvSpPr>
        <p:spPr bwMode="auto">
          <a:xfrm>
            <a:off x="5422901" y="2797175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389" name="Rectangle 388"/>
          <p:cNvSpPr>
            <a:spLocks noChangeArrowheads="1"/>
          </p:cNvSpPr>
          <p:nvPr/>
        </p:nvSpPr>
        <p:spPr bwMode="auto">
          <a:xfrm>
            <a:off x="5467351" y="279717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h</a:t>
            </a:r>
          </a:p>
        </p:txBody>
      </p:sp>
      <p:sp>
        <p:nvSpPr>
          <p:cNvPr id="390" name="Rectangle 389"/>
          <p:cNvSpPr>
            <a:spLocks noChangeArrowheads="1"/>
          </p:cNvSpPr>
          <p:nvPr/>
        </p:nvSpPr>
        <p:spPr bwMode="auto">
          <a:xfrm>
            <a:off x="5222876" y="2527300"/>
            <a:ext cx="6508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391" name="Rectangle 390"/>
          <p:cNvSpPr>
            <a:spLocks noChangeArrowheads="1"/>
          </p:cNvSpPr>
          <p:nvPr/>
        </p:nvSpPr>
        <p:spPr bwMode="auto">
          <a:xfrm>
            <a:off x="5284788" y="252730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392" name="Rectangle 391"/>
          <p:cNvSpPr>
            <a:spLocks noChangeArrowheads="1"/>
          </p:cNvSpPr>
          <p:nvPr/>
        </p:nvSpPr>
        <p:spPr bwMode="auto">
          <a:xfrm>
            <a:off x="5337176" y="252730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393" name="Rectangle 392"/>
          <p:cNvSpPr>
            <a:spLocks noChangeArrowheads="1"/>
          </p:cNvSpPr>
          <p:nvPr/>
        </p:nvSpPr>
        <p:spPr bwMode="auto">
          <a:xfrm>
            <a:off x="5389563" y="2527300"/>
            <a:ext cx="6508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394" name="Rectangle 393"/>
          <p:cNvSpPr>
            <a:spLocks noChangeArrowheads="1"/>
          </p:cNvSpPr>
          <p:nvPr/>
        </p:nvSpPr>
        <p:spPr bwMode="auto">
          <a:xfrm>
            <a:off x="5456238" y="2527300"/>
            <a:ext cx="4603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395" name="Rectangle 394"/>
          <p:cNvSpPr>
            <a:spLocks noChangeArrowheads="1"/>
          </p:cNvSpPr>
          <p:nvPr/>
        </p:nvSpPr>
        <p:spPr bwMode="auto">
          <a:xfrm>
            <a:off x="5500688" y="2527300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396" name="Rectangle 395"/>
          <p:cNvSpPr>
            <a:spLocks noChangeArrowheads="1"/>
          </p:cNvSpPr>
          <p:nvPr/>
        </p:nvSpPr>
        <p:spPr bwMode="auto">
          <a:xfrm>
            <a:off x="5229226" y="3560763"/>
            <a:ext cx="603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397" name="Rectangle 396"/>
          <p:cNvSpPr>
            <a:spLocks noChangeArrowheads="1"/>
          </p:cNvSpPr>
          <p:nvPr/>
        </p:nvSpPr>
        <p:spPr bwMode="auto">
          <a:xfrm>
            <a:off x="5289551" y="356076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398" name="Rectangle 397"/>
          <p:cNvSpPr>
            <a:spLocks noChangeArrowheads="1"/>
          </p:cNvSpPr>
          <p:nvPr/>
        </p:nvSpPr>
        <p:spPr bwMode="auto">
          <a:xfrm>
            <a:off x="5340351" y="3560763"/>
            <a:ext cx="6508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399" name="Rectangle 398"/>
          <p:cNvSpPr>
            <a:spLocks noChangeArrowheads="1"/>
          </p:cNvSpPr>
          <p:nvPr/>
        </p:nvSpPr>
        <p:spPr bwMode="auto">
          <a:xfrm>
            <a:off x="5407026" y="3560763"/>
            <a:ext cx="603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400" name="Rectangle 399"/>
          <p:cNvSpPr>
            <a:spLocks noChangeArrowheads="1"/>
          </p:cNvSpPr>
          <p:nvPr/>
        </p:nvSpPr>
        <p:spPr bwMode="auto">
          <a:xfrm>
            <a:off x="5467351" y="3560763"/>
            <a:ext cx="3016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401" name="Rectangle 400"/>
          <p:cNvSpPr>
            <a:spLocks noChangeArrowheads="1"/>
          </p:cNvSpPr>
          <p:nvPr/>
        </p:nvSpPr>
        <p:spPr bwMode="auto">
          <a:xfrm>
            <a:off x="5495926" y="3560763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402" name="Rectangle 401"/>
          <p:cNvSpPr>
            <a:spLocks noChangeArrowheads="1"/>
          </p:cNvSpPr>
          <p:nvPr/>
        </p:nvSpPr>
        <p:spPr bwMode="auto">
          <a:xfrm>
            <a:off x="3886201" y="3022600"/>
            <a:ext cx="238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403" name="Rectangle 402"/>
          <p:cNvSpPr>
            <a:spLocks noChangeArrowheads="1"/>
          </p:cNvSpPr>
          <p:nvPr/>
        </p:nvSpPr>
        <p:spPr bwMode="auto">
          <a:xfrm>
            <a:off x="3911601" y="302260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404" name="Rectangle 403"/>
          <p:cNvSpPr>
            <a:spLocks noChangeArrowheads="1"/>
          </p:cNvSpPr>
          <p:nvPr/>
        </p:nvSpPr>
        <p:spPr bwMode="auto">
          <a:xfrm>
            <a:off x="3959226" y="3022600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405" name="Rectangle 404"/>
          <p:cNvSpPr>
            <a:spLocks noChangeArrowheads="1"/>
          </p:cNvSpPr>
          <p:nvPr/>
        </p:nvSpPr>
        <p:spPr bwMode="auto">
          <a:xfrm>
            <a:off x="4006851" y="3022600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406" name="Rectangle 405"/>
          <p:cNvSpPr>
            <a:spLocks noChangeArrowheads="1"/>
          </p:cNvSpPr>
          <p:nvPr/>
        </p:nvSpPr>
        <p:spPr bwMode="auto">
          <a:xfrm>
            <a:off x="4029076" y="3022600"/>
            <a:ext cx="3016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407" name="Rectangle 406"/>
          <p:cNvSpPr>
            <a:spLocks noChangeArrowheads="1"/>
          </p:cNvSpPr>
          <p:nvPr/>
        </p:nvSpPr>
        <p:spPr bwMode="auto">
          <a:xfrm>
            <a:off x="4062413" y="302260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408" name="Rectangle 407"/>
          <p:cNvSpPr>
            <a:spLocks noChangeArrowheads="1"/>
          </p:cNvSpPr>
          <p:nvPr/>
        </p:nvSpPr>
        <p:spPr bwMode="auto">
          <a:xfrm>
            <a:off x="4111626" y="3022600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409" name="Rectangle 408"/>
          <p:cNvSpPr>
            <a:spLocks noChangeArrowheads="1"/>
          </p:cNvSpPr>
          <p:nvPr/>
        </p:nvSpPr>
        <p:spPr bwMode="auto">
          <a:xfrm>
            <a:off x="4159251" y="3022600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410" name="Rectangle 409"/>
          <p:cNvSpPr>
            <a:spLocks noChangeArrowheads="1"/>
          </p:cNvSpPr>
          <p:nvPr/>
        </p:nvSpPr>
        <p:spPr bwMode="auto">
          <a:xfrm>
            <a:off x="4184651" y="3022600"/>
            <a:ext cx="206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411" name="Rectangle 410"/>
          <p:cNvSpPr>
            <a:spLocks noChangeArrowheads="1"/>
          </p:cNvSpPr>
          <p:nvPr/>
        </p:nvSpPr>
        <p:spPr bwMode="auto">
          <a:xfrm>
            <a:off x="4203701" y="302260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412" name="Rectangle 411"/>
          <p:cNvSpPr>
            <a:spLocks noChangeArrowheads="1"/>
          </p:cNvSpPr>
          <p:nvPr/>
        </p:nvSpPr>
        <p:spPr bwMode="auto">
          <a:xfrm>
            <a:off x="4256088" y="302260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413" name="Rectangle 412"/>
          <p:cNvSpPr>
            <a:spLocks noChangeArrowheads="1"/>
          </p:cNvSpPr>
          <p:nvPr/>
        </p:nvSpPr>
        <p:spPr bwMode="auto">
          <a:xfrm>
            <a:off x="4303713" y="3022600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7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414" name="Rectangle 413"/>
          <p:cNvSpPr>
            <a:spLocks noChangeArrowheads="1"/>
          </p:cNvSpPr>
          <p:nvPr/>
        </p:nvSpPr>
        <p:spPr bwMode="auto">
          <a:xfrm>
            <a:off x="4329113" y="3022600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[</a:t>
            </a:r>
          </a:p>
        </p:txBody>
      </p:sp>
      <p:sp>
        <p:nvSpPr>
          <p:cNvPr id="415" name="Rectangle 414"/>
          <p:cNvSpPr>
            <a:spLocks noChangeArrowheads="1"/>
          </p:cNvSpPr>
          <p:nvPr/>
        </p:nvSpPr>
        <p:spPr bwMode="auto">
          <a:xfrm>
            <a:off x="4356101" y="302260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3</a:t>
            </a:r>
          </a:p>
        </p:txBody>
      </p:sp>
      <p:sp>
        <p:nvSpPr>
          <p:cNvPr id="416" name="Rectangle 415"/>
          <p:cNvSpPr>
            <a:spLocks noChangeArrowheads="1"/>
          </p:cNvSpPr>
          <p:nvPr/>
        </p:nvSpPr>
        <p:spPr bwMode="auto">
          <a:xfrm>
            <a:off x="4406901" y="302260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417" name="Rectangle 416"/>
          <p:cNvSpPr>
            <a:spLocks noChangeArrowheads="1"/>
          </p:cNvSpPr>
          <p:nvPr/>
        </p:nvSpPr>
        <p:spPr bwMode="auto">
          <a:xfrm>
            <a:off x="4459288" y="302260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–</a:t>
            </a:r>
          </a:p>
        </p:txBody>
      </p:sp>
      <p:sp>
        <p:nvSpPr>
          <p:cNvPr id="418" name="Rectangle 417"/>
          <p:cNvSpPr>
            <a:spLocks noChangeArrowheads="1"/>
          </p:cNvSpPr>
          <p:nvPr/>
        </p:nvSpPr>
        <p:spPr bwMode="auto">
          <a:xfrm>
            <a:off x="4525963" y="302260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419" name="Rectangle 418"/>
          <p:cNvSpPr>
            <a:spLocks noChangeArrowheads="1"/>
          </p:cNvSpPr>
          <p:nvPr/>
        </p:nvSpPr>
        <p:spPr bwMode="auto">
          <a:xfrm>
            <a:off x="4578351" y="302260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6</a:t>
            </a:r>
          </a:p>
        </p:txBody>
      </p:sp>
      <p:sp>
        <p:nvSpPr>
          <p:cNvPr id="420" name="Rectangle 419"/>
          <p:cNvSpPr>
            <a:spLocks noChangeArrowheads="1"/>
          </p:cNvSpPr>
          <p:nvPr/>
        </p:nvSpPr>
        <p:spPr bwMode="auto">
          <a:xfrm>
            <a:off x="4625976" y="3022600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]</a:t>
            </a:r>
          </a:p>
        </p:txBody>
      </p:sp>
      <p:sp>
        <p:nvSpPr>
          <p:cNvPr id="421" name="Freeform 420"/>
          <p:cNvSpPr>
            <a:spLocks noChangeArrowheads="1"/>
          </p:cNvSpPr>
          <p:nvPr/>
        </p:nvSpPr>
        <p:spPr bwMode="auto">
          <a:xfrm>
            <a:off x="2273301" y="4154488"/>
            <a:ext cx="47625" cy="55562"/>
          </a:xfrm>
          <a:custGeom>
            <a:avLst/>
            <a:gdLst>
              <a:gd name="T0" fmla="*/ 14 w 30"/>
              <a:gd name="T1" fmla="*/ 28 h 31"/>
              <a:gd name="T2" fmla="*/ 16 w 30"/>
              <a:gd name="T3" fmla="*/ 31 h 31"/>
              <a:gd name="T4" fmla="*/ 19 w 30"/>
              <a:gd name="T5" fmla="*/ 28 h 31"/>
              <a:gd name="T6" fmla="*/ 21 w 30"/>
              <a:gd name="T7" fmla="*/ 28 h 31"/>
              <a:gd name="T8" fmla="*/ 23 w 30"/>
              <a:gd name="T9" fmla="*/ 28 h 31"/>
              <a:gd name="T10" fmla="*/ 26 w 30"/>
              <a:gd name="T11" fmla="*/ 26 h 31"/>
              <a:gd name="T12" fmla="*/ 26 w 30"/>
              <a:gd name="T13" fmla="*/ 24 h 31"/>
              <a:gd name="T14" fmla="*/ 28 w 30"/>
              <a:gd name="T15" fmla="*/ 21 h 31"/>
              <a:gd name="T16" fmla="*/ 28 w 30"/>
              <a:gd name="T17" fmla="*/ 19 h 31"/>
              <a:gd name="T18" fmla="*/ 30 w 30"/>
              <a:gd name="T19" fmla="*/ 19 h 31"/>
              <a:gd name="T20" fmla="*/ 30 w 30"/>
              <a:gd name="T21" fmla="*/ 17 h 31"/>
              <a:gd name="T22" fmla="*/ 30 w 30"/>
              <a:gd name="T23" fmla="*/ 14 h 31"/>
              <a:gd name="T24" fmla="*/ 28 w 30"/>
              <a:gd name="T25" fmla="*/ 12 h 31"/>
              <a:gd name="T26" fmla="*/ 28 w 30"/>
              <a:gd name="T27" fmla="*/ 10 h 31"/>
              <a:gd name="T28" fmla="*/ 26 w 30"/>
              <a:gd name="T29" fmla="*/ 7 h 31"/>
              <a:gd name="T30" fmla="*/ 26 w 30"/>
              <a:gd name="T31" fmla="*/ 5 h 31"/>
              <a:gd name="T32" fmla="*/ 23 w 30"/>
              <a:gd name="T33" fmla="*/ 5 h 31"/>
              <a:gd name="T34" fmla="*/ 21 w 30"/>
              <a:gd name="T35" fmla="*/ 3 h 31"/>
              <a:gd name="T36" fmla="*/ 19 w 30"/>
              <a:gd name="T37" fmla="*/ 3 h 31"/>
              <a:gd name="T38" fmla="*/ 16 w 30"/>
              <a:gd name="T39" fmla="*/ 0 h 31"/>
              <a:gd name="T40" fmla="*/ 14 w 30"/>
              <a:gd name="T41" fmla="*/ 0 h 31"/>
              <a:gd name="T42" fmla="*/ 12 w 30"/>
              <a:gd name="T43" fmla="*/ 0 h 31"/>
              <a:gd name="T44" fmla="*/ 12 w 30"/>
              <a:gd name="T45" fmla="*/ 3 h 31"/>
              <a:gd name="T46" fmla="*/ 9 w 30"/>
              <a:gd name="T47" fmla="*/ 3 h 31"/>
              <a:gd name="T48" fmla="*/ 7 w 30"/>
              <a:gd name="T49" fmla="*/ 5 h 31"/>
              <a:gd name="T50" fmla="*/ 5 w 30"/>
              <a:gd name="T51" fmla="*/ 5 h 31"/>
              <a:gd name="T52" fmla="*/ 5 w 30"/>
              <a:gd name="T53" fmla="*/ 7 h 31"/>
              <a:gd name="T54" fmla="*/ 2 w 30"/>
              <a:gd name="T55" fmla="*/ 10 h 31"/>
              <a:gd name="T56" fmla="*/ 2 w 30"/>
              <a:gd name="T57" fmla="*/ 12 h 31"/>
              <a:gd name="T58" fmla="*/ 0 w 30"/>
              <a:gd name="T59" fmla="*/ 14 h 31"/>
              <a:gd name="T60" fmla="*/ 0 w 30"/>
              <a:gd name="T61" fmla="*/ 17 h 31"/>
              <a:gd name="T62" fmla="*/ 0 w 30"/>
              <a:gd name="T63" fmla="*/ 19 h 31"/>
              <a:gd name="T64" fmla="*/ 2 w 30"/>
              <a:gd name="T65" fmla="*/ 19 h 31"/>
              <a:gd name="T66" fmla="*/ 2 w 30"/>
              <a:gd name="T67" fmla="*/ 21 h 31"/>
              <a:gd name="T68" fmla="*/ 5 w 30"/>
              <a:gd name="T69" fmla="*/ 24 h 31"/>
              <a:gd name="T70" fmla="*/ 5 w 30"/>
              <a:gd name="T71" fmla="*/ 26 h 31"/>
              <a:gd name="T72" fmla="*/ 7 w 30"/>
              <a:gd name="T73" fmla="*/ 28 h 31"/>
              <a:gd name="T74" fmla="*/ 9 w 30"/>
              <a:gd name="T75" fmla="*/ 28 h 31"/>
              <a:gd name="T76" fmla="*/ 12 w 30"/>
              <a:gd name="T77" fmla="*/ 28 h 31"/>
              <a:gd name="T78" fmla="*/ 12 w 30"/>
              <a:gd name="T79" fmla="*/ 31 h 31"/>
              <a:gd name="T80" fmla="*/ 14 w 30"/>
              <a:gd name="T81" fmla="*/ 31 h 31"/>
              <a:gd name="T82" fmla="*/ 14 w 30"/>
              <a:gd name="T83" fmla="*/ 31 h 31"/>
              <a:gd name="T84" fmla="*/ 14 w 30"/>
              <a:gd name="T85" fmla="*/ 28 h 31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0"/>
              <a:gd name="T130" fmla="*/ 0 h 31"/>
              <a:gd name="T131" fmla="*/ 30 w 30"/>
              <a:gd name="T132" fmla="*/ 31 h 31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0" h="31">
                <a:moveTo>
                  <a:pt x="14" y="28"/>
                </a:moveTo>
                <a:lnTo>
                  <a:pt x="16" y="31"/>
                </a:lnTo>
                <a:lnTo>
                  <a:pt x="19" y="28"/>
                </a:lnTo>
                <a:lnTo>
                  <a:pt x="21" y="28"/>
                </a:lnTo>
                <a:lnTo>
                  <a:pt x="23" y="28"/>
                </a:lnTo>
                <a:lnTo>
                  <a:pt x="26" y="26"/>
                </a:lnTo>
                <a:lnTo>
                  <a:pt x="26" y="24"/>
                </a:lnTo>
                <a:lnTo>
                  <a:pt x="28" y="21"/>
                </a:lnTo>
                <a:lnTo>
                  <a:pt x="28" y="19"/>
                </a:lnTo>
                <a:lnTo>
                  <a:pt x="30" y="19"/>
                </a:lnTo>
                <a:lnTo>
                  <a:pt x="30" y="17"/>
                </a:lnTo>
                <a:lnTo>
                  <a:pt x="30" y="14"/>
                </a:lnTo>
                <a:lnTo>
                  <a:pt x="28" y="12"/>
                </a:lnTo>
                <a:lnTo>
                  <a:pt x="28" y="10"/>
                </a:lnTo>
                <a:lnTo>
                  <a:pt x="26" y="7"/>
                </a:lnTo>
                <a:lnTo>
                  <a:pt x="26" y="5"/>
                </a:lnTo>
                <a:lnTo>
                  <a:pt x="23" y="5"/>
                </a:lnTo>
                <a:lnTo>
                  <a:pt x="21" y="3"/>
                </a:lnTo>
                <a:lnTo>
                  <a:pt x="19" y="3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12" y="3"/>
                </a:lnTo>
                <a:lnTo>
                  <a:pt x="9" y="3"/>
                </a:lnTo>
                <a:lnTo>
                  <a:pt x="7" y="5"/>
                </a:lnTo>
                <a:lnTo>
                  <a:pt x="5" y="5"/>
                </a:lnTo>
                <a:lnTo>
                  <a:pt x="5" y="7"/>
                </a:lnTo>
                <a:lnTo>
                  <a:pt x="2" y="10"/>
                </a:lnTo>
                <a:lnTo>
                  <a:pt x="2" y="12"/>
                </a:lnTo>
                <a:lnTo>
                  <a:pt x="0" y="14"/>
                </a:lnTo>
                <a:lnTo>
                  <a:pt x="0" y="17"/>
                </a:lnTo>
                <a:lnTo>
                  <a:pt x="0" y="19"/>
                </a:lnTo>
                <a:lnTo>
                  <a:pt x="2" y="19"/>
                </a:lnTo>
                <a:lnTo>
                  <a:pt x="2" y="21"/>
                </a:lnTo>
                <a:lnTo>
                  <a:pt x="5" y="24"/>
                </a:lnTo>
                <a:lnTo>
                  <a:pt x="5" y="26"/>
                </a:lnTo>
                <a:lnTo>
                  <a:pt x="7" y="28"/>
                </a:lnTo>
                <a:lnTo>
                  <a:pt x="9" y="28"/>
                </a:lnTo>
                <a:lnTo>
                  <a:pt x="12" y="28"/>
                </a:lnTo>
                <a:lnTo>
                  <a:pt x="12" y="31"/>
                </a:lnTo>
                <a:lnTo>
                  <a:pt x="14" y="31"/>
                </a:lnTo>
                <a:lnTo>
                  <a:pt x="14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2" name="Freeform 421"/>
          <p:cNvSpPr>
            <a:spLocks noChangeArrowheads="1"/>
          </p:cNvSpPr>
          <p:nvPr/>
        </p:nvSpPr>
        <p:spPr bwMode="auto">
          <a:xfrm>
            <a:off x="2814638" y="2198688"/>
            <a:ext cx="47625" cy="52387"/>
          </a:xfrm>
          <a:custGeom>
            <a:avLst/>
            <a:gdLst>
              <a:gd name="T0" fmla="*/ 0 w 30"/>
              <a:gd name="T1" fmla="*/ 0 h 30"/>
              <a:gd name="T2" fmla="*/ 0 w 30"/>
              <a:gd name="T3" fmla="*/ 30 h 30"/>
              <a:gd name="T4" fmla="*/ 30 w 30"/>
              <a:gd name="T5" fmla="*/ 16 h 30"/>
              <a:gd name="T6" fmla="*/ 0 w 30"/>
              <a:gd name="T7" fmla="*/ 2 h 30"/>
              <a:gd name="T8" fmla="*/ 0 w 30"/>
              <a:gd name="T9" fmla="*/ 2 h 30"/>
              <a:gd name="T10" fmla="*/ 0 w 30"/>
              <a:gd name="T11" fmla="*/ 0 h 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"/>
              <a:gd name="T19" fmla="*/ 0 h 30"/>
              <a:gd name="T20" fmla="*/ 30 w 30"/>
              <a:gd name="T21" fmla="*/ 30 h 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" h="30">
                <a:moveTo>
                  <a:pt x="0" y="0"/>
                </a:moveTo>
                <a:lnTo>
                  <a:pt x="0" y="30"/>
                </a:lnTo>
                <a:lnTo>
                  <a:pt x="30" y="16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3" name="Freeform 422"/>
          <p:cNvSpPr>
            <a:spLocks noChangeArrowheads="1"/>
          </p:cNvSpPr>
          <p:nvPr/>
        </p:nvSpPr>
        <p:spPr bwMode="auto">
          <a:xfrm>
            <a:off x="2814638" y="2808288"/>
            <a:ext cx="47625" cy="55562"/>
          </a:xfrm>
          <a:custGeom>
            <a:avLst/>
            <a:gdLst>
              <a:gd name="T0" fmla="*/ 0 w 30"/>
              <a:gd name="T1" fmla="*/ 0 h 31"/>
              <a:gd name="T2" fmla="*/ 0 w 30"/>
              <a:gd name="T3" fmla="*/ 31 h 31"/>
              <a:gd name="T4" fmla="*/ 30 w 30"/>
              <a:gd name="T5" fmla="*/ 17 h 31"/>
              <a:gd name="T6" fmla="*/ 0 w 30"/>
              <a:gd name="T7" fmla="*/ 2 h 31"/>
              <a:gd name="T8" fmla="*/ 0 w 30"/>
              <a:gd name="T9" fmla="*/ 2 h 31"/>
              <a:gd name="T10" fmla="*/ 0 w 30"/>
              <a:gd name="T11" fmla="*/ 0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"/>
              <a:gd name="T19" fmla="*/ 0 h 31"/>
              <a:gd name="T20" fmla="*/ 30 w 30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" h="31">
                <a:moveTo>
                  <a:pt x="0" y="0"/>
                </a:moveTo>
                <a:lnTo>
                  <a:pt x="0" y="31"/>
                </a:lnTo>
                <a:lnTo>
                  <a:pt x="30" y="17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4" name="Rectangle 423"/>
          <p:cNvSpPr>
            <a:spLocks noChangeArrowheads="1"/>
          </p:cNvSpPr>
          <p:nvPr/>
        </p:nvSpPr>
        <p:spPr bwMode="auto">
          <a:xfrm>
            <a:off x="2570163" y="277495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4</a:t>
            </a:r>
          </a:p>
        </p:txBody>
      </p:sp>
      <p:sp>
        <p:nvSpPr>
          <p:cNvPr id="425" name="Line 424"/>
          <p:cNvSpPr>
            <a:spLocks noChangeShapeType="1"/>
          </p:cNvSpPr>
          <p:nvPr/>
        </p:nvSpPr>
        <p:spPr bwMode="auto">
          <a:xfrm flipH="1">
            <a:off x="6507163" y="2024063"/>
            <a:ext cx="642938" cy="4762"/>
          </a:xfrm>
          <a:prstGeom prst="line">
            <a:avLst/>
          </a:prstGeom>
          <a:noFill/>
          <a:ln w="1908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6" name="Freeform 425"/>
          <p:cNvSpPr>
            <a:spLocks noChangeArrowheads="1"/>
          </p:cNvSpPr>
          <p:nvPr/>
        </p:nvSpPr>
        <p:spPr bwMode="auto">
          <a:xfrm>
            <a:off x="7189788" y="1817688"/>
            <a:ext cx="574675" cy="1028700"/>
          </a:xfrm>
          <a:custGeom>
            <a:avLst/>
            <a:gdLst>
              <a:gd name="T0" fmla="*/ 0 w 362"/>
              <a:gd name="T1" fmla="*/ 0 h 581"/>
              <a:gd name="T2" fmla="*/ 2 w 362"/>
              <a:gd name="T3" fmla="*/ 236 h 581"/>
              <a:gd name="T4" fmla="*/ 61 w 362"/>
              <a:gd name="T5" fmla="*/ 292 h 581"/>
              <a:gd name="T6" fmla="*/ 2 w 362"/>
              <a:gd name="T7" fmla="*/ 348 h 581"/>
              <a:gd name="T8" fmla="*/ 2 w 362"/>
              <a:gd name="T9" fmla="*/ 581 h 581"/>
              <a:gd name="T10" fmla="*/ 362 w 362"/>
              <a:gd name="T11" fmla="*/ 404 h 581"/>
              <a:gd name="T12" fmla="*/ 362 w 362"/>
              <a:gd name="T13" fmla="*/ 180 h 581"/>
              <a:gd name="T14" fmla="*/ 2 w 362"/>
              <a:gd name="T15" fmla="*/ 2 h 581"/>
              <a:gd name="T16" fmla="*/ 2 w 362"/>
              <a:gd name="T17" fmla="*/ 2 h 581"/>
              <a:gd name="T18" fmla="*/ 0 w 362"/>
              <a:gd name="T19" fmla="*/ 0 h 58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362"/>
              <a:gd name="T31" fmla="*/ 0 h 581"/>
              <a:gd name="T32" fmla="*/ 362 w 362"/>
              <a:gd name="T33" fmla="*/ 581 h 581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362" h="581">
                <a:moveTo>
                  <a:pt x="0" y="0"/>
                </a:moveTo>
                <a:lnTo>
                  <a:pt x="2" y="236"/>
                </a:lnTo>
                <a:lnTo>
                  <a:pt x="61" y="292"/>
                </a:lnTo>
                <a:lnTo>
                  <a:pt x="2" y="348"/>
                </a:lnTo>
                <a:lnTo>
                  <a:pt x="2" y="581"/>
                </a:lnTo>
                <a:lnTo>
                  <a:pt x="362" y="404"/>
                </a:lnTo>
                <a:lnTo>
                  <a:pt x="362" y="18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7" name="Freeform 426"/>
          <p:cNvSpPr>
            <a:spLocks noChangeArrowheads="1"/>
          </p:cNvSpPr>
          <p:nvPr/>
        </p:nvSpPr>
        <p:spPr bwMode="auto">
          <a:xfrm>
            <a:off x="7189788" y="1817688"/>
            <a:ext cx="574675" cy="1028700"/>
          </a:xfrm>
          <a:custGeom>
            <a:avLst/>
            <a:gdLst>
              <a:gd name="T0" fmla="*/ 0 w 362"/>
              <a:gd name="T1" fmla="*/ 0 h 581"/>
              <a:gd name="T2" fmla="*/ 2 w 362"/>
              <a:gd name="T3" fmla="*/ 236 h 581"/>
              <a:gd name="T4" fmla="*/ 61 w 362"/>
              <a:gd name="T5" fmla="*/ 292 h 581"/>
              <a:gd name="T6" fmla="*/ 2 w 362"/>
              <a:gd name="T7" fmla="*/ 348 h 581"/>
              <a:gd name="T8" fmla="*/ 2 w 362"/>
              <a:gd name="T9" fmla="*/ 581 h 581"/>
              <a:gd name="T10" fmla="*/ 362 w 362"/>
              <a:gd name="T11" fmla="*/ 404 h 581"/>
              <a:gd name="T12" fmla="*/ 362 w 362"/>
              <a:gd name="T13" fmla="*/ 180 h 581"/>
              <a:gd name="T14" fmla="*/ 2 w 362"/>
              <a:gd name="T15" fmla="*/ 2 h 581"/>
              <a:gd name="T16" fmla="*/ 2 w 362"/>
              <a:gd name="T17" fmla="*/ 2 h 58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62"/>
              <a:gd name="T28" fmla="*/ 0 h 581"/>
              <a:gd name="T29" fmla="*/ 362 w 362"/>
              <a:gd name="T30" fmla="*/ 581 h 581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62" h="581">
                <a:moveTo>
                  <a:pt x="0" y="0"/>
                </a:moveTo>
                <a:lnTo>
                  <a:pt x="2" y="236"/>
                </a:lnTo>
                <a:lnTo>
                  <a:pt x="61" y="292"/>
                </a:lnTo>
                <a:lnTo>
                  <a:pt x="2" y="348"/>
                </a:lnTo>
                <a:lnTo>
                  <a:pt x="2" y="581"/>
                </a:lnTo>
                <a:lnTo>
                  <a:pt x="362" y="404"/>
                </a:lnTo>
                <a:lnTo>
                  <a:pt x="362" y="180"/>
                </a:lnTo>
                <a:lnTo>
                  <a:pt x="2" y="2"/>
                </a:lnTo>
              </a:path>
            </a:pathLst>
          </a:custGeom>
          <a:noFill/>
          <a:ln w="1116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8" name="Line 427"/>
          <p:cNvSpPr>
            <a:spLocks noChangeShapeType="1"/>
          </p:cNvSpPr>
          <p:nvPr/>
        </p:nvSpPr>
        <p:spPr bwMode="auto">
          <a:xfrm flipH="1">
            <a:off x="7762876" y="2328863"/>
            <a:ext cx="650875" cy="4762"/>
          </a:xfrm>
          <a:prstGeom prst="line">
            <a:avLst/>
          </a:prstGeom>
          <a:noFill/>
          <a:ln w="1908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29" name="Freeform 428"/>
          <p:cNvSpPr>
            <a:spLocks noChangeArrowheads="1"/>
          </p:cNvSpPr>
          <p:nvPr/>
        </p:nvSpPr>
        <p:spPr bwMode="auto">
          <a:xfrm>
            <a:off x="8389938" y="1735138"/>
            <a:ext cx="47625" cy="49212"/>
          </a:xfrm>
          <a:custGeom>
            <a:avLst/>
            <a:gdLst>
              <a:gd name="T0" fmla="*/ 0 w 30"/>
              <a:gd name="T1" fmla="*/ 0 h 28"/>
              <a:gd name="T2" fmla="*/ 2 w 30"/>
              <a:gd name="T3" fmla="*/ 28 h 28"/>
              <a:gd name="T4" fmla="*/ 30 w 30"/>
              <a:gd name="T5" fmla="*/ 14 h 28"/>
              <a:gd name="T6" fmla="*/ 2 w 30"/>
              <a:gd name="T7" fmla="*/ 0 h 28"/>
              <a:gd name="T8" fmla="*/ 2 w 30"/>
              <a:gd name="T9" fmla="*/ 0 h 28"/>
              <a:gd name="T10" fmla="*/ 0 w 30"/>
              <a:gd name="T11" fmla="*/ 0 h 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"/>
              <a:gd name="T19" fmla="*/ 0 h 28"/>
              <a:gd name="T20" fmla="*/ 30 w 30"/>
              <a:gd name="T21" fmla="*/ 28 h 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" h="28">
                <a:moveTo>
                  <a:pt x="0" y="0"/>
                </a:moveTo>
                <a:lnTo>
                  <a:pt x="2" y="28"/>
                </a:lnTo>
                <a:lnTo>
                  <a:pt x="30" y="14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" name="Freeform 429"/>
          <p:cNvSpPr>
            <a:spLocks noChangeArrowheads="1"/>
          </p:cNvSpPr>
          <p:nvPr/>
        </p:nvSpPr>
        <p:spPr bwMode="auto">
          <a:xfrm>
            <a:off x="8389938" y="2305050"/>
            <a:ext cx="47625" cy="53975"/>
          </a:xfrm>
          <a:custGeom>
            <a:avLst/>
            <a:gdLst>
              <a:gd name="T0" fmla="*/ 0 w 30"/>
              <a:gd name="T1" fmla="*/ 0 h 31"/>
              <a:gd name="T2" fmla="*/ 2 w 30"/>
              <a:gd name="T3" fmla="*/ 31 h 31"/>
              <a:gd name="T4" fmla="*/ 30 w 30"/>
              <a:gd name="T5" fmla="*/ 17 h 31"/>
              <a:gd name="T6" fmla="*/ 2 w 30"/>
              <a:gd name="T7" fmla="*/ 3 h 31"/>
              <a:gd name="T8" fmla="*/ 2 w 30"/>
              <a:gd name="T9" fmla="*/ 3 h 31"/>
              <a:gd name="T10" fmla="*/ 0 w 30"/>
              <a:gd name="T11" fmla="*/ 0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"/>
              <a:gd name="T19" fmla="*/ 0 h 31"/>
              <a:gd name="T20" fmla="*/ 30 w 30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" h="31">
                <a:moveTo>
                  <a:pt x="0" y="0"/>
                </a:moveTo>
                <a:lnTo>
                  <a:pt x="2" y="31"/>
                </a:lnTo>
                <a:lnTo>
                  <a:pt x="30" y="17"/>
                </a:lnTo>
                <a:lnTo>
                  <a:pt x="2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1" name="Freeform 430"/>
          <p:cNvSpPr>
            <a:spLocks noChangeArrowheads="1"/>
          </p:cNvSpPr>
          <p:nvPr/>
        </p:nvSpPr>
        <p:spPr bwMode="auto">
          <a:xfrm>
            <a:off x="8442326" y="1663700"/>
            <a:ext cx="174625" cy="765175"/>
          </a:xfrm>
          <a:custGeom>
            <a:avLst/>
            <a:gdLst>
              <a:gd name="T0" fmla="*/ 0 w 110"/>
              <a:gd name="T1" fmla="*/ 54 h 432"/>
              <a:gd name="T2" fmla="*/ 2 w 110"/>
              <a:gd name="T3" fmla="*/ 47 h 432"/>
              <a:gd name="T4" fmla="*/ 5 w 110"/>
              <a:gd name="T5" fmla="*/ 38 h 432"/>
              <a:gd name="T6" fmla="*/ 7 w 110"/>
              <a:gd name="T7" fmla="*/ 31 h 432"/>
              <a:gd name="T8" fmla="*/ 12 w 110"/>
              <a:gd name="T9" fmla="*/ 24 h 432"/>
              <a:gd name="T10" fmla="*/ 19 w 110"/>
              <a:gd name="T11" fmla="*/ 17 h 432"/>
              <a:gd name="T12" fmla="*/ 23 w 110"/>
              <a:gd name="T13" fmla="*/ 12 h 432"/>
              <a:gd name="T14" fmla="*/ 30 w 110"/>
              <a:gd name="T15" fmla="*/ 7 h 432"/>
              <a:gd name="T16" fmla="*/ 40 w 110"/>
              <a:gd name="T17" fmla="*/ 3 h 432"/>
              <a:gd name="T18" fmla="*/ 47 w 110"/>
              <a:gd name="T19" fmla="*/ 3 h 432"/>
              <a:gd name="T20" fmla="*/ 56 w 110"/>
              <a:gd name="T21" fmla="*/ 0 h 432"/>
              <a:gd name="T22" fmla="*/ 65 w 110"/>
              <a:gd name="T23" fmla="*/ 3 h 432"/>
              <a:gd name="T24" fmla="*/ 72 w 110"/>
              <a:gd name="T25" fmla="*/ 3 h 432"/>
              <a:gd name="T26" fmla="*/ 79 w 110"/>
              <a:gd name="T27" fmla="*/ 7 h 432"/>
              <a:gd name="T28" fmla="*/ 86 w 110"/>
              <a:gd name="T29" fmla="*/ 12 h 432"/>
              <a:gd name="T30" fmla="*/ 93 w 110"/>
              <a:gd name="T31" fmla="*/ 17 h 432"/>
              <a:gd name="T32" fmla="*/ 98 w 110"/>
              <a:gd name="T33" fmla="*/ 24 h 432"/>
              <a:gd name="T34" fmla="*/ 103 w 110"/>
              <a:gd name="T35" fmla="*/ 31 h 432"/>
              <a:gd name="T36" fmla="*/ 107 w 110"/>
              <a:gd name="T37" fmla="*/ 38 h 432"/>
              <a:gd name="T38" fmla="*/ 110 w 110"/>
              <a:gd name="T39" fmla="*/ 47 h 432"/>
              <a:gd name="T40" fmla="*/ 110 w 110"/>
              <a:gd name="T41" fmla="*/ 54 h 432"/>
              <a:gd name="T42" fmla="*/ 110 w 110"/>
              <a:gd name="T43" fmla="*/ 379 h 432"/>
              <a:gd name="T44" fmla="*/ 110 w 110"/>
              <a:gd name="T45" fmla="*/ 386 h 432"/>
              <a:gd name="T46" fmla="*/ 107 w 110"/>
              <a:gd name="T47" fmla="*/ 395 h 432"/>
              <a:gd name="T48" fmla="*/ 103 w 110"/>
              <a:gd name="T49" fmla="*/ 402 h 432"/>
              <a:gd name="T50" fmla="*/ 98 w 110"/>
              <a:gd name="T51" fmla="*/ 409 h 432"/>
              <a:gd name="T52" fmla="*/ 93 w 110"/>
              <a:gd name="T53" fmla="*/ 416 h 432"/>
              <a:gd name="T54" fmla="*/ 86 w 110"/>
              <a:gd name="T55" fmla="*/ 421 h 432"/>
              <a:gd name="T56" fmla="*/ 79 w 110"/>
              <a:gd name="T57" fmla="*/ 425 h 432"/>
              <a:gd name="T58" fmla="*/ 72 w 110"/>
              <a:gd name="T59" fmla="*/ 430 h 432"/>
              <a:gd name="T60" fmla="*/ 65 w 110"/>
              <a:gd name="T61" fmla="*/ 430 h 432"/>
              <a:gd name="T62" fmla="*/ 56 w 110"/>
              <a:gd name="T63" fmla="*/ 432 h 432"/>
              <a:gd name="T64" fmla="*/ 47 w 110"/>
              <a:gd name="T65" fmla="*/ 430 h 432"/>
              <a:gd name="T66" fmla="*/ 40 w 110"/>
              <a:gd name="T67" fmla="*/ 430 h 432"/>
              <a:gd name="T68" fmla="*/ 30 w 110"/>
              <a:gd name="T69" fmla="*/ 425 h 432"/>
              <a:gd name="T70" fmla="*/ 23 w 110"/>
              <a:gd name="T71" fmla="*/ 421 h 432"/>
              <a:gd name="T72" fmla="*/ 19 w 110"/>
              <a:gd name="T73" fmla="*/ 416 h 432"/>
              <a:gd name="T74" fmla="*/ 12 w 110"/>
              <a:gd name="T75" fmla="*/ 409 h 432"/>
              <a:gd name="T76" fmla="*/ 7 w 110"/>
              <a:gd name="T77" fmla="*/ 402 h 432"/>
              <a:gd name="T78" fmla="*/ 5 w 110"/>
              <a:gd name="T79" fmla="*/ 395 h 432"/>
              <a:gd name="T80" fmla="*/ 2 w 110"/>
              <a:gd name="T81" fmla="*/ 386 h 432"/>
              <a:gd name="T82" fmla="*/ 2 w 110"/>
              <a:gd name="T83" fmla="*/ 379 h 432"/>
              <a:gd name="T84" fmla="*/ 2 w 110"/>
              <a:gd name="T85" fmla="*/ 54 h 432"/>
              <a:gd name="T86" fmla="*/ 2 w 110"/>
              <a:gd name="T87" fmla="*/ 54 h 432"/>
              <a:gd name="T88" fmla="*/ 0 w 110"/>
              <a:gd name="T89" fmla="*/ 54 h 432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110"/>
              <a:gd name="T136" fmla="*/ 0 h 432"/>
              <a:gd name="T137" fmla="*/ 110 w 110"/>
              <a:gd name="T138" fmla="*/ 432 h 432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110" h="432">
                <a:moveTo>
                  <a:pt x="0" y="54"/>
                </a:moveTo>
                <a:lnTo>
                  <a:pt x="2" y="47"/>
                </a:lnTo>
                <a:lnTo>
                  <a:pt x="5" y="38"/>
                </a:lnTo>
                <a:lnTo>
                  <a:pt x="7" y="31"/>
                </a:lnTo>
                <a:lnTo>
                  <a:pt x="12" y="24"/>
                </a:lnTo>
                <a:lnTo>
                  <a:pt x="19" y="17"/>
                </a:lnTo>
                <a:lnTo>
                  <a:pt x="23" y="12"/>
                </a:lnTo>
                <a:lnTo>
                  <a:pt x="30" y="7"/>
                </a:lnTo>
                <a:lnTo>
                  <a:pt x="40" y="3"/>
                </a:lnTo>
                <a:lnTo>
                  <a:pt x="47" y="3"/>
                </a:lnTo>
                <a:lnTo>
                  <a:pt x="56" y="0"/>
                </a:lnTo>
                <a:lnTo>
                  <a:pt x="65" y="3"/>
                </a:lnTo>
                <a:lnTo>
                  <a:pt x="72" y="3"/>
                </a:lnTo>
                <a:lnTo>
                  <a:pt x="79" y="7"/>
                </a:lnTo>
                <a:lnTo>
                  <a:pt x="86" y="12"/>
                </a:lnTo>
                <a:lnTo>
                  <a:pt x="93" y="17"/>
                </a:lnTo>
                <a:lnTo>
                  <a:pt x="98" y="24"/>
                </a:lnTo>
                <a:lnTo>
                  <a:pt x="103" y="31"/>
                </a:lnTo>
                <a:lnTo>
                  <a:pt x="107" y="38"/>
                </a:lnTo>
                <a:lnTo>
                  <a:pt x="110" y="47"/>
                </a:lnTo>
                <a:lnTo>
                  <a:pt x="110" y="54"/>
                </a:lnTo>
                <a:lnTo>
                  <a:pt x="110" y="379"/>
                </a:lnTo>
                <a:lnTo>
                  <a:pt x="110" y="386"/>
                </a:lnTo>
                <a:lnTo>
                  <a:pt x="107" y="395"/>
                </a:lnTo>
                <a:lnTo>
                  <a:pt x="103" y="402"/>
                </a:lnTo>
                <a:lnTo>
                  <a:pt x="98" y="409"/>
                </a:lnTo>
                <a:lnTo>
                  <a:pt x="93" y="416"/>
                </a:lnTo>
                <a:lnTo>
                  <a:pt x="86" y="421"/>
                </a:lnTo>
                <a:lnTo>
                  <a:pt x="79" y="425"/>
                </a:lnTo>
                <a:lnTo>
                  <a:pt x="72" y="430"/>
                </a:lnTo>
                <a:lnTo>
                  <a:pt x="65" y="430"/>
                </a:lnTo>
                <a:lnTo>
                  <a:pt x="56" y="432"/>
                </a:lnTo>
                <a:lnTo>
                  <a:pt x="47" y="430"/>
                </a:lnTo>
                <a:lnTo>
                  <a:pt x="40" y="430"/>
                </a:lnTo>
                <a:lnTo>
                  <a:pt x="30" y="425"/>
                </a:lnTo>
                <a:lnTo>
                  <a:pt x="23" y="421"/>
                </a:lnTo>
                <a:lnTo>
                  <a:pt x="19" y="416"/>
                </a:lnTo>
                <a:lnTo>
                  <a:pt x="12" y="409"/>
                </a:lnTo>
                <a:lnTo>
                  <a:pt x="7" y="402"/>
                </a:lnTo>
                <a:lnTo>
                  <a:pt x="5" y="395"/>
                </a:lnTo>
                <a:lnTo>
                  <a:pt x="2" y="386"/>
                </a:lnTo>
                <a:lnTo>
                  <a:pt x="2" y="379"/>
                </a:lnTo>
                <a:lnTo>
                  <a:pt x="2" y="54"/>
                </a:lnTo>
                <a:lnTo>
                  <a:pt x="0" y="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2" name="Freeform 431"/>
          <p:cNvSpPr>
            <a:spLocks noChangeArrowheads="1"/>
          </p:cNvSpPr>
          <p:nvPr/>
        </p:nvSpPr>
        <p:spPr bwMode="auto">
          <a:xfrm>
            <a:off x="8442326" y="1663700"/>
            <a:ext cx="174625" cy="765175"/>
          </a:xfrm>
          <a:custGeom>
            <a:avLst/>
            <a:gdLst>
              <a:gd name="T0" fmla="*/ 0 w 110"/>
              <a:gd name="T1" fmla="*/ 54 h 432"/>
              <a:gd name="T2" fmla="*/ 2 w 110"/>
              <a:gd name="T3" fmla="*/ 47 h 432"/>
              <a:gd name="T4" fmla="*/ 5 w 110"/>
              <a:gd name="T5" fmla="*/ 38 h 432"/>
              <a:gd name="T6" fmla="*/ 7 w 110"/>
              <a:gd name="T7" fmla="*/ 31 h 432"/>
              <a:gd name="T8" fmla="*/ 12 w 110"/>
              <a:gd name="T9" fmla="*/ 24 h 432"/>
              <a:gd name="T10" fmla="*/ 19 w 110"/>
              <a:gd name="T11" fmla="*/ 17 h 432"/>
              <a:gd name="T12" fmla="*/ 23 w 110"/>
              <a:gd name="T13" fmla="*/ 12 h 432"/>
              <a:gd name="T14" fmla="*/ 30 w 110"/>
              <a:gd name="T15" fmla="*/ 7 h 432"/>
              <a:gd name="T16" fmla="*/ 40 w 110"/>
              <a:gd name="T17" fmla="*/ 3 h 432"/>
              <a:gd name="T18" fmla="*/ 47 w 110"/>
              <a:gd name="T19" fmla="*/ 3 h 432"/>
              <a:gd name="T20" fmla="*/ 56 w 110"/>
              <a:gd name="T21" fmla="*/ 0 h 432"/>
              <a:gd name="T22" fmla="*/ 65 w 110"/>
              <a:gd name="T23" fmla="*/ 3 h 432"/>
              <a:gd name="T24" fmla="*/ 72 w 110"/>
              <a:gd name="T25" fmla="*/ 3 h 432"/>
              <a:gd name="T26" fmla="*/ 79 w 110"/>
              <a:gd name="T27" fmla="*/ 7 h 432"/>
              <a:gd name="T28" fmla="*/ 86 w 110"/>
              <a:gd name="T29" fmla="*/ 12 h 432"/>
              <a:gd name="T30" fmla="*/ 93 w 110"/>
              <a:gd name="T31" fmla="*/ 17 h 432"/>
              <a:gd name="T32" fmla="*/ 98 w 110"/>
              <a:gd name="T33" fmla="*/ 24 h 432"/>
              <a:gd name="T34" fmla="*/ 103 w 110"/>
              <a:gd name="T35" fmla="*/ 31 h 432"/>
              <a:gd name="T36" fmla="*/ 107 w 110"/>
              <a:gd name="T37" fmla="*/ 38 h 432"/>
              <a:gd name="T38" fmla="*/ 110 w 110"/>
              <a:gd name="T39" fmla="*/ 47 h 432"/>
              <a:gd name="T40" fmla="*/ 110 w 110"/>
              <a:gd name="T41" fmla="*/ 54 h 432"/>
              <a:gd name="T42" fmla="*/ 110 w 110"/>
              <a:gd name="T43" fmla="*/ 379 h 432"/>
              <a:gd name="T44" fmla="*/ 110 w 110"/>
              <a:gd name="T45" fmla="*/ 386 h 432"/>
              <a:gd name="T46" fmla="*/ 107 w 110"/>
              <a:gd name="T47" fmla="*/ 395 h 432"/>
              <a:gd name="T48" fmla="*/ 103 w 110"/>
              <a:gd name="T49" fmla="*/ 402 h 432"/>
              <a:gd name="T50" fmla="*/ 98 w 110"/>
              <a:gd name="T51" fmla="*/ 409 h 432"/>
              <a:gd name="T52" fmla="*/ 93 w 110"/>
              <a:gd name="T53" fmla="*/ 416 h 432"/>
              <a:gd name="T54" fmla="*/ 86 w 110"/>
              <a:gd name="T55" fmla="*/ 421 h 432"/>
              <a:gd name="T56" fmla="*/ 79 w 110"/>
              <a:gd name="T57" fmla="*/ 425 h 432"/>
              <a:gd name="T58" fmla="*/ 72 w 110"/>
              <a:gd name="T59" fmla="*/ 430 h 432"/>
              <a:gd name="T60" fmla="*/ 65 w 110"/>
              <a:gd name="T61" fmla="*/ 430 h 432"/>
              <a:gd name="T62" fmla="*/ 56 w 110"/>
              <a:gd name="T63" fmla="*/ 432 h 432"/>
              <a:gd name="T64" fmla="*/ 47 w 110"/>
              <a:gd name="T65" fmla="*/ 430 h 432"/>
              <a:gd name="T66" fmla="*/ 40 w 110"/>
              <a:gd name="T67" fmla="*/ 430 h 432"/>
              <a:gd name="T68" fmla="*/ 30 w 110"/>
              <a:gd name="T69" fmla="*/ 425 h 432"/>
              <a:gd name="T70" fmla="*/ 23 w 110"/>
              <a:gd name="T71" fmla="*/ 421 h 432"/>
              <a:gd name="T72" fmla="*/ 19 w 110"/>
              <a:gd name="T73" fmla="*/ 416 h 432"/>
              <a:gd name="T74" fmla="*/ 12 w 110"/>
              <a:gd name="T75" fmla="*/ 409 h 432"/>
              <a:gd name="T76" fmla="*/ 7 w 110"/>
              <a:gd name="T77" fmla="*/ 402 h 432"/>
              <a:gd name="T78" fmla="*/ 5 w 110"/>
              <a:gd name="T79" fmla="*/ 395 h 432"/>
              <a:gd name="T80" fmla="*/ 2 w 110"/>
              <a:gd name="T81" fmla="*/ 386 h 432"/>
              <a:gd name="T82" fmla="*/ 2 w 110"/>
              <a:gd name="T83" fmla="*/ 379 h 432"/>
              <a:gd name="T84" fmla="*/ 2 w 110"/>
              <a:gd name="T85" fmla="*/ 54 h 432"/>
              <a:gd name="T86" fmla="*/ 2 w 110"/>
              <a:gd name="T87" fmla="*/ 54 h 43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10"/>
              <a:gd name="T133" fmla="*/ 0 h 432"/>
              <a:gd name="T134" fmla="*/ 110 w 110"/>
              <a:gd name="T135" fmla="*/ 432 h 432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10" h="432">
                <a:moveTo>
                  <a:pt x="0" y="54"/>
                </a:moveTo>
                <a:lnTo>
                  <a:pt x="2" y="47"/>
                </a:lnTo>
                <a:lnTo>
                  <a:pt x="5" y="38"/>
                </a:lnTo>
                <a:lnTo>
                  <a:pt x="7" y="31"/>
                </a:lnTo>
                <a:lnTo>
                  <a:pt x="12" y="24"/>
                </a:lnTo>
                <a:lnTo>
                  <a:pt x="19" y="17"/>
                </a:lnTo>
                <a:lnTo>
                  <a:pt x="23" y="12"/>
                </a:lnTo>
                <a:lnTo>
                  <a:pt x="30" y="7"/>
                </a:lnTo>
                <a:lnTo>
                  <a:pt x="40" y="3"/>
                </a:lnTo>
                <a:lnTo>
                  <a:pt x="47" y="3"/>
                </a:lnTo>
                <a:lnTo>
                  <a:pt x="56" y="0"/>
                </a:lnTo>
                <a:lnTo>
                  <a:pt x="65" y="3"/>
                </a:lnTo>
                <a:lnTo>
                  <a:pt x="72" y="3"/>
                </a:lnTo>
                <a:lnTo>
                  <a:pt x="79" y="7"/>
                </a:lnTo>
                <a:lnTo>
                  <a:pt x="86" y="12"/>
                </a:lnTo>
                <a:lnTo>
                  <a:pt x="93" y="17"/>
                </a:lnTo>
                <a:lnTo>
                  <a:pt x="98" y="24"/>
                </a:lnTo>
                <a:lnTo>
                  <a:pt x="103" y="31"/>
                </a:lnTo>
                <a:lnTo>
                  <a:pt x="107" y="38"/>
                </a:lnTo>
                <a:lnTo>
                  <a:pt x="110" y="47"/>
                </a:lnTo>
                <a:lnTo>
                  <a:pt x="110" y="54"/>
                </a:lnTo>
                <a:lnTo>
                  <a:pt x="110" y="379"/>
                </a:lnTo>
                <a:lnTo>
                  <a:pt x="110" y="386"/>
                </a:lnTo>
                <a:lnTo>
                  <a:pt x="107" y="395"/>
                </a:lnTo>
                <a:lnTo>
                  <a:pt x="103" y="402"/>
                </a:lnTo>
                <a:lnTo>
                  <a:pt x="98" y="409"/>
                </a:lnTo>
                <a:lnTo>
                  <a:pt x="93" y="416"/>
                </a:lnTo>
                <a:lnTo>
                  <a:pt x="86" y="421"/>
                </a:lnTo>
                <a:lnTo>
                  <a:pt x="79" y="425"/>
                </a:lnTo>
                <a:lnTo>
                  <a:pt x="72" y="430"/>
                </a:lnTo>
                <a:lnTo>
                  <a:pt x="65" y="430"/>
                </a:lnTo>
                <a:lnTo>
                  <a:pt x="56" y="432"/>
                </a:lnTo>
                <a:lnTo>
                  <a:pt x="47" y="430"/>
                </a:lnTo>
                <a:lnTo>
                  <a:pt x="40" y="430"/>
                </a:lnTo>
                <a:lnTo>
                  <a:pt x="30" y="425"/>
                </a:lnTo>
                <a:lnTo>
                  <a:pt x="23" y="421"/>
                </a:lnTo>
                <a:lnTo>
                  <a:pt x="19" y="416"/>
                </a:lnTo>
                <a:lnTo>
                  <a:pt x="12" y="409"/>
                </a:lnTo>
                <a:lnTo>
                  <a:pt x="7" y="402"/>
                </a:lnTo>
                <a:lnTo>
                  <a:pt x="5" y="395"/>
                </a:lnTo>
                <a:lnTo>
                  <a:pt x="2" y="386"/>
                </a:lnTo>
                <a:lnTo>
                  <a:pt x="2" y="379"/>
                </a:lnTo>
                <a:lnTo>
                  <a:pt x="2" y="54"/>
                </a:lnTo>
              </a:path>
            </a:pathLst>
          </a:custGeom>
          <a:noFill/>
          <a:ln w="1116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3" name="Line 432"/>
          <p:cNvSpPr>
            <a:spLocks noChangeShapeType="1"/>
          </p:cNvSpPr>
          <p:nvPr/>
        </p:nvSpPr>
        <p:spPr bwMode="auto">
          <a:xfrm flipH="1">
            <a:off x="8615363" y="2328863"/>
            <a:ext cx="381000" cy="4762"/>
          </a:xfrm>
          <a:prstGeom prst="line">
            <a:avLst/>
          </a:prstGeom>
          <a:noFill/>
          <a:ln w="1908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4" name="Freeform 433"/>
          <p:cNvSpPr>
            <a:spLocks noChangeArrowheads="1"/>
          </p:cNvSpPr>
          <p:nvPr/>
        </p:nvSpPr>
        <p:spPr bwMode="auto">
          <a:xfrm>
            <a:off x="8972551" y="1735138"/>
            <a:ext cx="47625" cy="49212"/>
          </a:xfrm>
          <a:custGeom>
            <a:avLst/>
            <a:gdLst>
              <a:gd name="T0" fmla="*/ 0 w 30"/>
              <a:gd name="T1" fmla="*/ 0 h 28"/>
              <a:gd name="T2" fmla="*/ 2 w 30"/>
              <a:gd name="T3" fmla="*/ 28 h 28"/>
              <a:gd name="T4" fmla="*/ 30 w 30"/>
              <a:gd name="T5" fmla="*/ 14 h 28"/>
              <a:gd name="T6" fmla="*/ 2 w 30"/>
              <a:gd name="T7" fmla="*/ 0 h 28"/>
              <a:gd name="T8" fmla="*/ 2 w 30"/>
              <a:gd name="T9" fmla="*/ 0 h 28"/>
              <a:gd name="T10" fmla="*/ 0 w 30"/>
              <a:gd name="T11" fmla="*/ 0 h 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"/>
              <a:gd name="T19" fmla="*/ 0 h 28"/>
              <a:gd name="T20" fmla="*/ 30 w 30"/>
              <a:gd name="T21" fmla="*/ 28 h 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" h="28">
                <a:moveTo>
                  <a:pt x="0" y="0"/>
                </a:moveTo>
                <a:lnTo>
                  <a:pt x="2" y="28"/>
                </a:lnTo>
                <a:lnTo>
                  <a:pt x="30" y="14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5" name="Freeform 434"/>
          <p:cNvSpPr>
            <a:spLocks noChangeArrowheads="1"/>
          </p:cNvSpPr>
          <p:nvPr/>
        </p:nvSpPr>
        <p:spPr bwMode="auto">
          <a:xfrm>
            <a:off x="8972551" y="2305050"/>
            <a:ext cx="47625" cy="53975"/>
          </a:xfrm>
          <a:custGeom>
            <a:avLst/>
            <a:gdLst>
              <a:gd name="T0" fmla="*/ 0 w 30"/>
              <a:gd name="T1" fmla="*/ 0 h 31"/>
              <a:gd name="T2" fmla="*/ 2 w 30"/>
              <a:gd name="T3" fmla="*/ 31 h 31"/>
              <a:gd name="T4" fmla="*/ 30 w 30"/>
              <a:gd name="T5" fmla="*/ 17 h 31"/>
              <a:gd name="T6" fmla="*/ 2 w 30"/>
              <a:gd name="T7" fmla="*/ 3 h 31"/>
              <a:gd name="T8" fmla="*/ 2 w 30"/>
              <a:gd name="T9" fmla="*/ 3 h 31"/>
              <a:gd name="T10" fmla="*/ 0 w 30"/>
              <a:gd name="T11" fmla="*/ 0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"/>
              <a:gd name="T19" fmla="*/ 0 h 31"/>
              <a:gd name="T20" fmla="*/ 30 w 30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" h="31">
                <a:moveTo>
                  <a:pt x="0" y="0"/>
                </a:moveTo>
                <a:lnTo>
                  <a:pt x="2" y="31"/>
                </a:lnTo>
                <a:lnTo>
                  <a:pt x="30" y="17"/>
                </a:lnTo>
                <a:lnTo>
                  <a:pt x="2" y="3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6" name="Freeform 435"/>
          <p:cNvSpPr>
            <a:spLocks noChangeArrowheads="1"/>
          </p:cNvSpPr>
          <p:nvPr/>
        </p:nvSpPr>
        <p:spPr bwMode="auto">
          <a:xfrm>
            <a:off x="9028113" y="1663700"/>
            <a:ext cx="169863" cy="765175"/>
          </a:xfrm>
          <a:custGeom>
            <a:avLst/>
            <a:gdLst>
              <a:gd name="T0" fmla="*/ 0 w 107"/>
              <a:gd name="T1" fmla="*/ 54 h 432"/>
              <a:gd name="T2" fmla="*/ 0 w 107"/>
              <a:gd name="T3" fmla="*/ 47 h 432"/>
              <a:gd name="T4" fmla="*/ 2 w 107"/>
              <a:gd name="T5" fmla="*/ 38 h 432"/>
              <a:gd name="T6" fmla="*/ 7 w 107"/>
              <a:gd name="T7" fmla="*/ 31 h 432"/>
              <a:gd name="T8" fmla="*/ 11 w 107"/>
              <a:gd name="T9" fmla="*/ 24 h 432"/>
              <a:gd name="T10" fmla="*/ 16 w 107"/>
              <a:gd name="T11" fmla="*/ 17 h 432"/>
              <a:gd name="T12" fmla="*/ 23 w 107"/>
              <a:gd name="T13" fmla="*/ 12 h 432"/>
              <a:gd name="T14" fmla="*/ 30 w 107"/>
              <a:gd name="T15" fmla="*/ 7 h 432"/>
              <a:gd name="T16" fmla="*/ 37 w 107"/>
              <a:gd name="T17" fmla="*/ 3 h 432"/>
              <a:gd name="T18" fmla="*/ 44 w 107"/>
              <a:gd name="T19" fmla="*/ 3 h 432"/>
              <a:gd name="T20" fmla="*/ 53 w 107"/>
              <a:gd name="T21" fmla="*/ 0 h 432"/>
              <a:gd name="T22" fmla="*/ 63 w 107"/>
              <a:gd name="T23" fmla="*/ 3 h 432"/>
              <a:gd name="T24" fmla="*/ 70 w 107"/>
              <a:gd name="T25" fmla="*/ 3 h 432"/>
              <a:gd name="T26" fmla="*/ 79 w 107"/>
              <a:gd name="T27" fmla="*/ 7 h 432"/>
              <a:gd name="T28" fmla="*/ 86 w 107"/>
              <a:gd name="T29" fmla="*/ 12 h 432"/>
              <a:gd name="T30" fmla="*/ 91 w 107"/>
              <a:gd name="T31" fmla="*/ 17 h 432"/>
              <a:gd name="T32" fmla="*/ 98 w 107"/>
              <a:gd name="T33" fmla="*/ 24 h 432"/>
              <a:gd name="T34" fmla="*/ 102 w 107"/>
              <a:gd name="T35" fmla="*/ 31 h 432"/>
              <a:gd name="T36" fmla="*/ 105 w 107"/>
              <a:gd name="T37" fmla="*/ 38 h 432"/>
              <a:gd name="T38" fmla="*/ 107 w 107"/>
              <a:gd name="T39" fmla="*/ 47 h 432"/>
              <a:gd name="T40" fmla="*/ 107 w 107"/>
              <a:gd name="T41" fmla="*/ 54 h 432"/>
              <a:gd name="T42" fmla="*/ 107 w 107"/>
              <a:gd name="T43" fmla="*/ 379 h 432"/>
              <a:gd name="T44" fmla="*/ 107 w 107"/>
              <a:gd name="T45" fmla="*/ 386 h 432"/>
              <a:gd name="T46" fmla="*/ 105 w 107"/>
              <a:gd name="T47" fmla="*/ 395 h 432"/>
              <a:gd name="T48" fmla="*/ 102 w 107"/>
              <a:gd name="T49" fmla="*/ 402 h 432"/>
              <a:gd name="T50" fmla="*/ 98 w 107"/>
              <a:gd name="T51" fmla="*/ 409 h 432"/>
              <a:gd name="T52" fmla="*/ 91 w 107"/>
              <a:gd name="T53" fmla="*/ 416 h 432"/>
              <a:gd name="T54" fmla="*/ 86 w 107"/>
              <a:gd name="T55" fmla="*/ 421 h 432"/>
              <a:gd name="T56" fmla="*/ 79 w 107"/>
              <a:gd name="T57" fmla="*/ 425 h 432"/>
              <a:gd name="T58" fmla="*/ 70 w 107"/>
              <a:gd name="T59" fmla="*/ 430 h 432"/>
              <a:gd name="T60" fmla="*/ 63 w 107"/>
              <a:gd name="T61" fmla="*/ 430 h 432"/>
              <a:gd name="T62" fmla="*/ 53 w 107"/>
              <a:gd name="T63" fmla="*/ 432 h 432"/>
              <a:gd name="T64" fmla="*/ 44 w 107"/>
              <a:gd name="T65" fmla="*/ 430 h 432"/>
              <a:gd name="T66" fmla="*/ 37 w 107"/>
              <a:gd name="T67" fmla="*/ 430 h 432"/>
              <a:gd name="T68" fmla="*/ 30 w 107"/>
              <a:gd name="T69" fmla="*/ 425 h 432"/>
              <a:gd name="T70" fmla="*/ 23 w 107"/>
              <a:gd name="T71" fmla="*/ 421 h 432"/>
              <a:gd name="T72" fmla="*/ 16 w 107"/>
              <a:gd name="T73" fmla="*/ 416 h 432"/>
              <a:gd name="T74" fmla="*/ 11 w 107"/>
              <a:gd name="T75" fmla="*/ 409 h 432"/>
              <a:gd name="T76" fmla="*/ 7 w 107"/>
              <a:gd name="T77" fmla="*/ 402 h 432"/>
              <a:gd name="T78" fmla="*/ 2 w 107"/>
              <a:gd name="T79" fmla="*/ 395 h 432"/>
              <a:gd name="T80" fmla="*/ 0 w 107"/>
              <a:gd name="T81" fmla="*/ 386 h 432"/>
              <a:gd name="T82" fmla="*/ 0 w 107"/>
              <a:gd name="T83" fmla="*/ 379 h 432"/>
              <a:gd name="T84" fmla="*/ 0 w 107"/>
              <a:gd name="T85" fmla="*/ 54 h 432"/>
              <a:gd name="T86" fmla="*/ 0 w 107"/>
              <a:gd name="T87" fmla="*/ 54 h 43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07"/>
              <a:gd name="T133" fmla="*/ 0 h 432"/>
              <a:gd name="T134" fmla="*/ 107 w 107"/>
              <a:gd name="T135" fmla="*/ 432 h 432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07" h="432">
                <a:moveTo>
                  <a:pt x="0" y="54"/>
                </a:moveTo>
                <a:lnTo>
                  <a:pt x="0" y="47"/>
                </a:lnTo>
                <a:lnTo>
                  <a:pt x="2" y="38"/>
                </a:lnTo>
                <a:lnTo>
                  <a:pt x="7" y="31"/>
                </a:lnTo>
                <a:lnTo>
                  <a:pt x="11" y="24"/>
                </a:lnTo>
                <a:lnTo>
                  <a:pt x="16" y="17"/>
                </a:lnTo>
                <a:lnTo>
                  <a:pt x="23" y="12"/>
                </a:lnTo>
                <a:lnTo>
                  <a:pt x="30" y="7"/>
                </a:lnTo>
                <a:lnTo>
                  <a:pt x="37" y="3"/>
                </a:lnTo>
                <a:lnTo>
                  <a:pt x="44" y="3"/>
                </a:lnTo>
                <a:lnTo>
                  <a:pt x="53" y="0"/>
                </a:lnTo>
                <a:lnTo>
                  <a:pt x="63" y="3"/>
                </a:lnTo>
                <a:lnTo>
                  <a:pt x="70" y="3"/>
                </a:lnTo>
                <a:lnTo>
                  <a:pt x="79" y="7"/>
                </a:lnTo>
                <a:lnTo>
                  <a:pt x="86" y="12"/>
                </a:lnTo>
                <a:lnTo>
                  <a:pt x="91" y="17"/>
                </a:lnTo>
                <a:lnTo>
                  <a:pt x="98" y="24"/>
                </a:lnTo>
                <a:lnTo>
                  <a:pt x="102" y="31"/>
                </a:lnTo>
                <a:lnTo>
                  <a:pt x="105" y="38"/>
                </a:lnTo>
                <a:lnTo>
                  <a:pt x="107" y="47"/>
                </a:lnTo>
                <a:lnTo>
                  <a:pt x="107" y="54"/>
                </a:lnTo>
                <a:lnTo>
                  <a:pt x="107" y="379"/>
                </a:lnTo>
                <a:lnTo>
                  <a:pt x="107" y="386"/>
                </a:lnTo>
                <a:lnTo>
                  <a:pt x="105" y="395"/>
                </a:lnTo>
                <a:lnTo>
                  <a:pt x="102" y="402"/>
                </a:lnTo>
                <a:lnTo>
                  <a:pt x="98" y="409"/>
                </a:lnTo>
                <a:lnTo>
                  <a:pt x="91" y="416"/>
                </a:lnTo>
                <a:lnTo>
                  <a:pt x="86" y="421"/>
                </a:lnTo>
                <a:lnTo>
                  <a:pt x="79" y="425"/>
                </a:lnTo>
                <a:lnTo>
                  <a:pt x="70" y="430"/>
                </a:lnTo>
                <a:lnTo>
                  <a:pt x="63" y="430"/>
                </a:lnTo>
                <a:lnTo>
                  <a:pt x="53" y="432"/>
                </a:lnTo>
                <a:lnTo>
                  <a:pt x="44" y="430"/>
                </a:lnTo>
                <a:lnTo>
                  <a:pt x="37" y="430"/>
                </a:lnTo>
                <a:lnTo>
                  <a:pt x="30" y="425"/>
                </a:lnTo>
                <a:lnTo>
                  <a:pt x="23" y="421"/>
                </a:lnTo>
                <a:lnTo>
                  <a:pt x="16" y="416"/>
                </a:lnTo>
                <a:lnTo>
                  <a:pt x="11" y="409"/>
                </a:lnTo>
                <a:lnTo>
                  <a:pt x="7" y="402"/>
                </a:lnTo>
                <a:lnTo>
                  <a:pt x="2" y="395"/>
                </a:lnTo>
                <a:lnTo>
                  <a:pt x="0" y="386"/>
                </a:lnTo>
                <a:lnTo>
                  <a:pt x="0" y="379"/>
                </a:lnTo>
                <a:lnTo>
                  <a:pt x="0" y="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7" name="Freeform 436"/>
          <p:cNvSpPr>
            <a:spLocks noChangeArrowheads="1"/>
          </p:cNvSpPr>
          <p:nvPr/>
        </p:nvSpPr>
        <p:spPr bwMode="auto">
          <a:xfrm>
            <a:off x="9028113" y="1663700"/>
            <a:ext cx="169863" cy="765175"/>
          </a:xfrm>
          <a:custGeom>
            <a:avLst/>
            <a:gdLst>
              <a:gd name="T0" fmla="*/ 0 w 107"/>
              <a:gd name="T1" fmla="*/ 54 h 432"/>
              <a:gd name="T2" fmla="*/ 0 w 107"/>
              <a:gd name="T3" fmla="*/ 47 h 432"/>
              <a:gd name="T4" fmla="*/ 2 w 107"/>
              <a:gd name="T5" fmla="*/ 38 h 432"/>
              <a:gd name="T6" fmla="*/ 7 w 107"/>
              <a:gd name="T7" fmla="*/ 31 h 432"/>
              <a:gd name="T8" fmla="*/ 11 w 107"/>
              <a:gd name="T9" fmla="*/ 24 h 432"/>
              <a:gd name="T10" fmla="*/ 16 w 107"/>
              <a:gd name="T11" fmla="*/ 17 h 432"/>
              <a:gd name="T12" fmla="*/ 23 w 107"/>
              <a:gd name="T13" fmla="*/ 12 h 432"/>
              <a:gd name="T14" fmla="*/ 30 w 107"/>
              <a:gd name="T15" fmla="*/ 7 h 432"/>
              <a:gd name="T16" fmla="*/ 37 w 107"/>
              <a:gd name="T17" fmla="*/ 3 h 432"/>
              <a:gd name="T18" fmla="*/ 44 w 107"/>
              <a:gd name="T19" fmla="*/ 3 h 432"/>
              <a:gd name="T20" fmla="*/ 53 w 107"/>
              <a:gd name="T21" fmla="*/ 0 h 432"/>
              <a:gd name="T22" fmla="*/ 63 w 107"/>
              <a:gd name="T23" fmla="*/ 3 h 432"/>
              <a:gd name="T24" fmla="*/ 70 w 107"/>
              <a:gd name="T25" fmla="*/ 3 h 432"/>
              <a:gd name="T26" fmla="*/ 79 w 107"/>
              <a:gd name="T27" fmla="*/ 7 h 432"/>
              <a:gd name="T28" fmla="*/ 86 w 107"/>
              <a:gd name="T29" fmla="*/ 12 h 432"/>
              <a:gd name="T30" fmla="*/ 91 w 107"/>
              <a:gd name="T31" fmla="*/ 17 h 432"/>
              <a:gd name="T32" fmla="*/ 98 w 107"/>
              <a:gd name="T33" fmla="*/ 24 h 432"/>
              <a:gd name="T34" fmla="*/ 102 w 107"/>
              <a:gd name="T35" fmla="*/ 31 h 432"/>
              <a:gd name="T36" fmla="*/ 105 w 107"/>
              <a:gd name="T37" fmla="*/ 38 h 432"/>
              <a:gd name="T38" fmla="*/ 107 w 107"/>
              <a:gd name="T39" fmla="*/ 47 h 432"/>
              <a:gd name="T40" fmla="*/ 107 w 107"/>
              <a:gd name="T41" fmla="*/ 54 h 432"/>
              <a:gd name="T42" fmla="*/ 107 w 107"/>
              <a:gd name="T43" fmla="*/ 379 h 432"/>
              <a:gd name="T44" fmla="*/ 107 w 107"/>
              <a:gd name="T45" fmla="*/ 386 h 432"/>
              <a:gd name="T46" fmla="*/ 105 w 107"/>
              <a:gd name="T47" fmla="*/ 395 h 432"/>
              <a:gd name="T48" fmla="*/ 102 w 107"/>
              <a:gd name="T49" fmla="*/ 402 h 432"/>
              <a:gd name="T50" fmla="*/ 98 w 107"/>
              <a:gd name="T51" fmla="*/ 409 h 432"/>
              <a:gd name="T52" fmla="*/ 91 w 107"/>
              <a:gd name="T53" fmla="*/ 416 h 432"/>
              <a:gd name="T54" fmla="*/ 86 w 107"/>
              <a:gd name="T55" fmla="*/ 421 h 432"/>
              <a:gd name="T56" fmla="*/ 79 w 107"/>
              <a:gd name="T57" fmla="*/ 425 h 432"/>
              <a:gd name="T58" fmla="*/ 70 w 107"/>
              <a:gd name="T59" fmla="*/ 430 h 432"/>
              <a:gd name="T60" fmla="*/ 63 w 107"/>
              <a:gd name="T61" fmla="*/ 430 h 432"/>
              <a:gd name="T62" fmla="*/ 53 w 107"/>
              <a:gd name="T63" fmla="*/ 432 h 432"/>
              <a:gd name="T64" fmla="*/ 44 w 107"/>
              <a:gd name="T65" fmla="*/ 430 h 432"/>
              <a:gd name="T66" fmla="*/ 37 w 107"/>
              <a:gd name="T67" fmla="*/ 430 h 432"/>
              <a:gd name="T68" fmla="*/ 30 w 107"/>
              <a:gd name="T69" fmla="*/ 425 h 432"/>
              <a:gd name="T70" fmla="*/ 23 w 107"/>
              <a:gd name="T71" fmla="*/ 421 h 432"/>
              <a:gd name="T72" fmla="*/ 16 w 107"/>
              <a:gd name="T73" fmla="*/ 416 h 432"/>
              <a:gd name="T74" fmla="*/ 11 w 107"/>
              <a:gd name="T75" fmla="*/ 409 h 432"/>
              <a:gd name="T76" fmla="*/ 7 w 107"/>
              <a:gd name="T77" fmla="*/ 402 h 432"/>
              <a:gd name="T78" fmla="*/ 2 w 107"/>
              <a:gd name="T79" fmla="*/ 395 h 432"/>
              <a:gd name="T80" fmla="*/ 0 w 107"/>
              <a:gd name="T81" fmla="*/ 386 h 432"/>
              <a:gd name="T82" fmla="*/ 0 w 107"/>
              <a:gd name="T83" fmla="*/ 379 h 432"/>
              <a:gd name="T84" fmla="*/ 0 w 107"/>
              <a:gd name="T85" fmla="*/ 54 h 432"/>
              <a:gd name="T86" fmla="*/ 0 w 107"/>
              <a:gd name="T87" fmla="*/ 54 h 432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07"/>
              <a:gd name="T133" fmla="*/ 0 h 432"/>
              <a:gd name="T134" fmla="*/ 107 w 107"/>
              <a:gd name="T135" fmla="*/ 432 h 432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07" h="432">
                <a:moveTo>
                  <a:pt x="0" y="54"/>
                </a:moveTo>
                <a:lnTo>
                  <a:pt x="0" y="47"/>
                </a:lnTo>
                <a:lnTo>
                  <a:pt x="2" y="38"/>
                </a:lnTo>
                <a:lnTo>
                  <a:pt x="7" y="31"/>
                </a:lnTo>
                <a:lnTo>
                  <a:pt x="11" y="24"/>
                </a:lnTo>
                <a:lnTo>
                  <a:pt x="16" y="17"/>
                </a:lnTo>
                <a:lnTo>
                  <a:pt x="23" y="12"/>
                </a:lnTo>
                <a:lnTo>
                  <a:pt x="30" y="7"/>
                </a:lnTo>
                <a:lnTo>
                  <a:pt x="37" y="3"/>
                </a:lnTo>
                <a:lnTo>
                  <a:pt x="44" y="3"/>
                </a:lnTo>
                <a:lnTo>
                  <a:pt x="53" y="0"/>
                </a:lnTo>
                <a:lnTo>
                  <a:pt x="63" y="3"/>
                </a:lnTo>
                <a:lnTo>
                  <a:pt x="70" y="3"/>
                </a:lnTo>
                <a:lnTo>
                  <a:pt x="79" y="7"/>
                </a:lnTo>
                <a:lnTo>
                  <a:pt x="86" y="12"/>
                </a:lnTo>
                <a:lnTo>
                  <a:pt x="91" y="17"/>
                </a:lnTo>
                <a:lnTo>
                  <a:pt x="98" y="24"/>
                </a:lnTo>
                <a:lnTo>
                  <a:pt x="102" y="31"/>
                </a:lnTo>
                <a:lnTo>
                  <a:pt x="105" y="38"/>
                </a:lnTo>
                <a:lnTo>
                  <a:pt x="107" y="47"/>
                </a:lnTo>
                <a:lnTo>
                  <a:pt x="107" y="54"/>
                </a:lnTo>
                <a:lnTo>
                  <a:pt x="107" y="379"/>
                </a:lnTo>
                <a:lnTo>
                  <a:pt x="107" y="386"/>
                </a:lnTo>
                <a:lnTo>
                  <a:pt x="105" y="395"/>
                </a:lnTo>
                <a:lnTo>
                  <a:pt x="102" y="402"/>
                </a:lnTo>
                <a:lnTo>
                  <a:pt x="98" y="409"/>
                </a:lnTo>
                <a:lnTo>
                  <a:pt x="91" y="416"/>
                </a:lnTo>
                <a:lnTo>
                  <a:pt x="86" y="421"/>
                </a:lnTo>
                <a:lnTo>
                  <a:pt x="79" y="425"/>
                </a:lnTo>
                <a:lnTo>
                  <a:pt x="70" y="430"/>
                </a:lnTo>
                <a:lnTo>
                  <a:pt x="63" y="430"/>
                </a:lnTo>
                <a:lnTo>
                  <a:pt x="53" y="432"/>
                </a:lnTo>
                <a:lnTo>
                  <a:pt x="44" y="430"/>
                </a:lnTo>
                <a:lnTo>
                  <a:pt x="37" y="430"/>
                </a:lnTo>
                <a:lnTo>
                  <a:pt x="30" y="425"/>
                </a:lnTo>
                <a:lnTo>
                  <a:pt x="23" y="421"/>
                </a:lnTo>
                <a:lnTo>
                  <a:pt x="16" y="416"/>
                </a:lnTo>
                <a:lnTo>
                  <a:pt x="11" y="409"/>
                </a:lnTo>
                <a:lnTo>
                  <a:pt x="7" y="402"/>
                </a:lnTo>
                <a:lnTo>
                  <a:pt x="2" y="395"/>
                </a:lnTo>
                <a:lnTo>
                  <a:pt x="0" y="386"/>
                </a:lnTo>
                <a:lnTo>
                  <a:pt x="0" y="379"/>
                </a:lnTo>
                <a:lnTo>
                  <a:pt x="0" y="54"/>
                </a:lnTo>
              </a:path>
            </a:pathLst>
          </a:custGeom>
          <a:solidFill>
            <a:srgbClr val="006600"/>
          </a:solidFill>
          <a:ln w="111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8" name="Rectangle 437"/>
          <p:cNvSpPr>
            <a:spLocks noChangeArrowheads="1"/>
          </p:cNvSpPr>
          <p:nvPr/>
        </p:nvSpPr>
        <p:spPr bwMode="auto">
          <a:xfrm>
            <a:off x="9070976" y="1882775"/>
            <a:ext cx="84137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FFFFF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800" b="1">
                <a:solidFill>
                  <a:srgbClr val="FFFFFF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439" name="Rectangle 438"/>
          <p:cNvSpPr>
            <a:spLocks noChangeArrowheads="1"/>
          </p:cNvSpPr>
          <p:nvPr/>
        </p:nvSpPr>
        <p:spPr bwMode="auto">
          <a:xfrm>
            <a:off x="9145588" y="1882775"/>
            <a:ext cx="1588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" name="Rectangle 439"/>
          <p:cNvSpPr>
            <a:spLocks noChangeArrowheads="1"/>
          </p:cNvSpPr>
          <p:nvPr/>
        </p:nvSpPr>
        <p:spPr bwMode="auto">
          <a:xfrm>
            <a:off x="9085263" y="1985963"/>
            <a:ext cx="6350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FFFFF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800" b="1">
                <a:solidFill>
                  <a:srgbClr val="FFFFFF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441" name="Rectangle 440"/>
          <p:cNvSpPr>
            <a:spLocks noChangeArrowheads="1"/>
          </p:cNvSpPr>
          <p:nvPr/>
        </p:nvSpPr>
        <p:spPr bwMode="auto">
          <a:xfrm>
            <a:off x="9139238" y="1985963"/>
            <a:ext cx="1588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2" name="Rectangle 441"/>
          <p:cNvSpPr>
            <a:spLocks noChangeArrowheads="1"/>
          </p:cNvSpPr>
          <p:nvPr/>
        </p:nvSpPr>
        <p:spPr bwMode="auto">
          <a:xfrm>
            <a:off x="9086851" y="2084388"/>
            <a:ext cx="5715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FFFFF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800" b="1">
                <a:solidFill>
                  <a:srgbClr val="FFFFFF"/>
                </a:solidFill>
                <a:latin typeface="Arial" charset="0"/>
                <a:ea typeface="新細明體" charset="-120"/>
              </a:rPr>
              <a:t>x</a:t>
            </a:r>
          </a:p>
        </p:txBody>
      </p:sp>
      <p:sp>
        <p:nvSpPr>
          <p:cNvPr id="443" name="Freeform 442"/>
          <p:cNvSpPr>
            <a:spLocks noChangeArrowheads="1"/>
          </p:cNvSpPr>
          <p:nvPr/>
        </p:nvSpPr>
        <p:spPr bwMode="auto">
          <a:xfrm>
            <a:off x="6481763" y="2003425"/>
            <a:ext cx="49213" cy="49213"/>
          </a:xfrm>
          <a:custGeom>
            <a:avLst/>
            <a:gdLst>
              <a:gd name="T0" fmla="*/ 14 w 31"/>
              <a:gd name="T1" fmla="*/ 28 h 28"/>
              <a:gd name="T2" fmla="*/ 19 w 31"/>
              <a:gd name="T3" fmla="*/ 28 h 28"/>
              <a:gd name="T4" fmla="*/ 19 w 31"/>
              <a:gd name="T5" fmla="*/ 28 h 28"/>
              <a:gd name="T6" fmla="*/ 21 w 31"/>
              <a:gd name="T7" fmla="*/ 26 h 28"/>
              <a:gd name="T8" fmla="*/ 24 w 31"/>
              <a:gd name="T9" fmla="*/ 26 h 28"/>
              <a:gd name="T10" fmla="*/ 26 w 31"/>
              <a:gd name="T11" fmla="*/ 23 h 28"/>
              <a:gd name="T12" fmla="*/ 26 w 31"/>
              <a:gd name="T13" fmla="*/ 21 h 28"/>
              <a:gd name="T14" fmla="*/ 28 w 31"/>
              <a:gd name="T15" fmla="*/ 21 h 28"/>
              <a:gd name="T16" fmla="*/ 28 w 31"/>
              <a:gd name="T17" fmla="*/ 19 h 28"/>
              <a:gd name="T18" fmla="*/ 31 w 31"/>
              <a:gd name="T19" fmla="*/ 16 h 28"/>
              <a:gd name="T20" fmla="*/ 31 w 31"/>
              <a:gd name="T21" fmla="*/ 14 h 28"/>
              <a:gd name="T22" fmla="*/ 31 w 31"/>
              <a:gd name="T23" fmla="*/ 12 h 28"/>
              <a:gd name="T24" fmla="*/ 28 w 31"/>
              <a:gd name="T25" fmla="*/ 9 h 28"/>
              <a:gd name="T26" fmla="*/ 28 w 31"/>
              <a:gd name="T27" fmla="*/ 7 h 28"/>
              <a:gd name="T28" fmla="*/ 26 w 31"/>
              <a:gd name="T29" fmla="*/ 5 h 28"/>
              <a:gd name="T30" fmla="*/ 26 w 31"/>
              <a:gd name="T31" fmla="*/ 2 h 28"/>
              <a:gd name="T32" fmla="*/ 24 w 31"/>
              <a:gd name="T33" fmla="*/ 2 h 28"/>
              <a:gd name="T34" fmla="*/ 21 w 31"/>
              <a:gd name="T35" fmla="*/ 0 h 28"/>
              <a:gd name="T36" fmla="*/ 19 w 31"/>
              <a:gd name="T37" fmla="*/ 0 h 28"/>
              <a:gd name="T38" fmla="*/ 19 w 31"/>
              <a:gd name="T39" fmla="*/ 0 h 28"/>
              <a:gd name="T40" fmla="*/ 17 w 31"/>
              <a:gd name="T41" fmla="*/ 0 h 28"/>
              <a:gd name="T42" fmla="*/ 14 w 31"/>
              <a:gd name="T43" fmla="*/ 0 h 28"/>
              <a:gd name="T44" fmla="*/ 12 w 31"/>
              <a:gd name="T45" fmla="*/ 0 h 28"/>
              <a:gd name="T46" fmla="*/ 10 w 31"/>
              <a:gd name="T47" fmla="*/ 0 h 28"/>
              <a:gd name="T48" fmla="*/ 7 w 31"/>
              <a:gd name="T49" fmla="*/ 2 h 28"/>
              <a:gd name="T50" fmla="*/ 5 w 31"/>
              <a:gd name="T51" fmla="*/ 2 h 28"/>
              <a:gd name="T52" fmla="*/ 5 w 31"/>
              <a:gd name="T53" fmla="*/ 5 h 28"/>
              <a:gd name="T54" fmla="*/ 3 w 31"/>
              <a:gd name="T55" fmla="*/ 7 h 28"/>
              <a:gd name="T56" fmla="*/ 3 w 31"/>
              <a:gd name="T57" fmla="*/ 9 h 28"/>
              <a:gd name="T58" fmla="*/ 0 w 31"/>
              <a:gd name="T59" fmla="*/ 12 h 28"/>
              <a:gd name="T60" fmla="*/ 0 w 31"/>
              <a:gd name="T61" fmla="*/ 14 h 28"/>
              <a:gd name="T62" fmla="*/ 0 w 31"/>
              <a:gd name="T63" fmla="*/ 16 h 28"/>
              <a:gd name="T64" fmla="*/ 3 w 31"/>
              <a:gd name="T65" fmla="*/ 19 h 28"/>
              <a:gd name="T66" fmla="*/ 3 w 31"/>
              <a:gd name="T67" fmla="*/ 21 h 28"/>
              <a:gd name="T68" fmla="*/ 5 w 31"/>
              <a:gd name="T69" fmla="*/ 21 h 28"/>
              <a:gd name="T70" fmla="*/ 5 w 31"/>
              <a:gd name="T71" fmla="*/ 23 h 28"/>
              <a:gd name="T72" fmla="*/ 7 w 31"/>
              <a:gd name="T73" fmla="*/ 26 h 28"/>
              <a:gd name="T74" fmla="*/ 10 w 31"/>
              <a:gd name="T75" fmla="*/ 26 h 28"/>
              <a:gd name="T76" fmla="*/ 12 w 31"/>
              <a:gd name="T77" fmla="*/ 28 h 28"/>
              <a:gd name="T78" fmla="*/ 14 w 31"/>
              <a:gd name="T79" fmla="*/ 28 h 28"/>
              <a:gd name="T80" fmla="*/ 17 w 31"/>
              <a:gd name="T81" fmla="*/ 28 h 28"/>
              <a:gd name="T82" fmla="*/ 17 w 31"/>
              <a:gd name="T83" fmla="*/ 28 h 28"/>
              <a:gd name="T84" fmla="*/ 14 w 31"/>
              <a:gd name="T85" fmla="*/ 28 h 28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1"/>
              <a:gd name="T130" fmla="*/ 0 h 28"/>
              <a:gd name="T131" fmla="*/ 31 w 31"/>
              <a:gd name="T132" fmla="*/ 28 h 28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1" h="28">
                <a:moveTo>
                  <a:pt x="14" y="28"/>
                </a:moveTo>
                <a:lnTo>
                  <a:pt x="19" y="28"/>
                </a:lnTo>
                <a:lnTo>
                  <a:pt x="21" y="26"/>
                </a:lnTo>
                <a:lnTo>
                  <a:pt x="24" y="26"/>
                </a:lnTo>
                <a:lnTo>
                  <a:pt x="26" y="23"/>
                </a:lnTo>
                <a:lnTo>
                  <a:pt x="26" y="21"/>
                </a:lnTo>
                <a:lnTo>
                  <a:pt x="28" y="21"/>
                </a:lnTo>
                <a:lnTo>
                  <a:pt x="28" y="19"/>
                </a:lnTo>
                <a:lnTo>
                  <a:pt x="31" y="16"/>
                </a:lnTo>
                <a:lnTo>
                  <a:pt x="31" y="14"/>
                </a:lnTo>
                <a:lnTo>
                  <a:pt x="31" y="12"/>
                </a:lnTo>
                <a:lnTo>
                  <a:pt x="28" y="9"/>
                </a:lnTo>
                <a:lnTo>
                  <a:pt x="28" y="7"/>
                </a:lnTo>
                <a:lnTo>
                  <a:pt x="26" y="5"/>
                </a:lnTo>
                <a:lnTo>
                  <a:pt x="26" y="2"/>
                </a:lnTo>
                <a:lnTo>
                  <a:pt x="24" y="2"/>
                </a:lnTo>
                <a:lnTo>
                  <a:pt x="21" y="0"/>
                </a:lnTo>
                <a:lnTo>
                  <a:pt x="19" y="0"/>
                </a:lnTo>
                <a:lnTo>
                  <a:pt x="17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7" y="2"/>
                </a:lnTo>
                <a:lnTo>
                  <a:pt x="5" y="2"/>
                </a:lnTo>
                <a:lnTo>
                  <a:pt x="5" y="5"/>
                </a:lnTo>
                <a:lnTo>
                  <a:pt x="3" y="7"/>
                </a:lnTo>
                <a:lnTo>
                  <a:pt x="3" y="9"/>
                </a:lnTo>
                <a:lnTo>
                  <a:pt x="0" y="12"/>
                </a:lnTo>
                <a:lnTo>
                  <a:pt x="0" y="14"/>
                </a:lnTo>
                <a:lnTo>
                  <a:pt x="0" y="16"/>
                </a:lnTo>
                <a:lnTo>
                  <a:pt x="3" y="19"/>
                </a:lnTo>
                <a:lnTo>
                  <a:pt x="3" y="21"/>
                </a:lnTo>
                <a:lnTo>
                  <a:pt x="5" y="21"/>
                </a:lnTo>
                <a:lnTo>
                  <a:pt x="5" y="23"/>
                </a:lnTo>
                <a:lnTo>
                  <a:pt x="7" y="26"/>
                </a:lnTo>
                <a:lnTo>
                  <a:pt x="10" y="26"/>
                </a:lnTo>
                <a:lnTo>
                  <a:pt x="12" y="28"/>
                </a:lnTo>
                <a:lnTo>
                  <a:pt x="14" y="28"/>
                </a:lnTo>
                <a:lnTo>
                  <a:pt x="17" y="28"/>
                </a:lnTo>
                <a:lnTo>
                  <a:pt x="14" y="28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4" name="Freeform 443"/>
          <p:cNvSpPr>
            <a:spLocks noChangeArrowheads="1"/>
          </p:cNvSpPr>
          <p:nvPr/>
        </p:nvSpPr>
        <p:spPr bwMode="auto">
          <a:xfrm>
            <a:off x="5526088" y="1606550"/>
            <a:ext cx="3468688" cy="152400"/>
          </a:xfrm>
          <a:custGeom>
            <a:avLst/>
            <a:gdLst>
              <a:gd name="T0" fmla="*/ 2185 w 2185"/>
              <a:gd name="T1" fmla="*/ 86 h 86"/>
              <a:gd name="T2" fmla="*/ 2075 w 2185"/>
              <a:gd name="T3" fmla="*/ 86 h 86"/>
              <a:gd name="T4" fmla="*/ 2075 w 2185"/>
              <a:gd name="T5" fmla="*/ 0 h 86"/>
              <a:gd name="T6" fmla="*/ 0 w 2185"/>
              <a:gd name="T7" fmla="*/ 0 h 86"/>
              <a:gd name="T8" fmla="*/ 0 60000 65536"/>
              <a:gd name="T9" fmla="*/ 0 60000 65536"/>
              <a:gd name="T10" fmla="*/ 0 60000 65536"/>
              <a:gd name="T11" fmla="*/ 0 60000 65536"/>
              <a:gd name="T12" fmla="*/ 0 w 2185"/>
              <a:gd name="T13" fmla="*/ 0 h 86"/>
              <a:gd name="T14" fmla="*/ 2185 w 2185"/>
              <a:gd name="T15" fmla="*/ 86 h 8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85" h="86">
                <a:moveTo>
                  <a:pt x="2185" y="86"/>
                </a:moveTo>
                <a:lnTo>
                  <a:pt x="2075" y="86"/>
                </a:lnTo>
                <a:lnTo>
                  <a:pt x="2075" y="0"/>
                </a:lnTo>
                <a:lnTo>
                  <a:pt x="0" y="0"/>
                </a:lnTo>
              </a:path>
            </a:pathLst>
          </a:custGeom>
          <a:noFill/>
          <a:ln w="38160">
            <a:solidFill>
              <a:srgbClr val="CD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5" name="Freeform 444"/>
          <p:cNvSpPr>
            <a:spLocks noChangeArrowheads="1"/>
          </p:cNvSpPr>
          <p:nvPr/>
        </p:nvSpPr>
        <p:spPr bwMode="auto">
          <a:xfrm>
            <a:off x="3633788" y="1606550"/>
            <a:ext cx="1892300" cy="2957513"/>
          </a:xfrm>
          <a:custGeom>
            <a:avLst/>
            <a:gdLst>
              <a:gd name="T0" fmla="*/ 1192 w 1192"/>
              <a:gd name="T1" fmla="*/ 0 h 1671"/>
              <a:gd name="T2" fmla="*/ 0 w 1192"/>
              <a:gd name="T3" fmla="*/ 0 h 1671"/>
              <a:gd name="T4" fmla="*/ 0 w 1192"/>
              <a:gd name="T5" fmla="*/ 1671 h 1671"/>
              <a:gd name="T6" fmla="*/ 0 60000 65536"/>
              <a:gd name="T7" fmla="*/ 0 60000 65536"/>
              <a:gd name="T8" fmla="*/ 0 60000 65536"/>
              <a:gd name="T9" fmla="*/ 0 w 1192"/>
              <a:gd name="T10" fmla="*/ 0 h 1671"/>
              <a:gd name="T11" fmla="*/ 1192 w 1192"/>
              <a:gd name="T12" fmla="*/ 1671 h 16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92" h="1671">
                <a:moveTo>
                  <a:pt x="1192" y="0"/>
                </a:moveTo>
                <a:lnTo>
                  <a:pt x="0" y="0"/>
                </a:lnTo>
                <a:lnTo>
                  <a:pt x="0" y="1671"/>
                </a:lnTo>
              </a:path>
            </a:pathLst>
          </a:custGeom>
          <a:noFill/>
          <a:ln w="38160">
            <a:solidFill>
              <a:srgbClr val="CD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6" name="Freeform 445"/>
          <p:cNvSpPr>
            <a:spLocks noChangeArrowheads="1"/>
          </p:cNvSpPr>
          <p:nvPr/>
        </p:nvSpPr>
        <p:spPr bwMode="auto">
          <a:xfrm>
            <a:off x="3611563" y="4538663"/>
            <a:ext cx="44450" cy="49212"/>
          </a:xfrm>
          <a:custGeom>
            <a:avLst/>
            <a:gdLst>
              <a:gd name="T0" fmla="*/ 14 w 28"/>
              <a:gd name="T1" fmla="*/ 28 h 28"/>
              <a:gd name="T2" fmla="*/ 16 w 28"/>
              <a:gd name="T3" fmla="*/ 28 h 28"/>
              <a:gd name="T4" fmla="*/ 18 w 28"/>
              <a:gd name="T5" fmla="*/ 28 h 28"/>
              <a:gd name="T6" fmla="*/ 21 w 28"/>
              <a:gd name="T7" fmla="*/ 28 h 28"/>
              <a:gd name="T8" fmla="*/ 23 w 28"/>
              <a:gd name="T9" fmla="*/ 26 h 28"/>
              <a:gd name="T10" fmla="*/ 25 w 28"/>
              <a:gd name="T11" fmla="*/ 24 h 28"/>
              <a:gd name="T12" fmla="*/ 25 w 28"/>
              <a:gd name="T13" fmla="*/ 24 h 28"/>
              <a:gd name="T14" fmla="*/ 28 w 28"/>
              <a:gd name="T15" fmla="*/ 21 h 28"/>
              <a:gd name="T16" fmla="*/ 28 w 28"/>
              <a:gd name="T17" fmla="*/ 19 h 28"/>
              <a:gd name="T18" fmla="*/ 28 w 28"/>
              <a:gd name="T19" fmla="*/ 17 h 28"/>
              <a:gd name="T20" fmla="*/ 28 w 28"/>
              <a:gd name="T21" fmla="*/ 14 h 28"/>
              <a:gd name="T22" fmla="*/ 28 w 28"/>
              <a:gd name="T23" fmla="*/ 12 h 28"/>
              <a:gd name="T24" fmla="*/ 28 w 28"/>
              <a:gd name="T25" fmla="*/ 10 h 28"/>
              <a:gd name="T26" fmla="*/ 28 w 28"/>
              <a:gd name="T27" fmla="*/ 7 h 28"/>
              <a:gd name="T28" fmla="*/ 25 w 28"/>
              <a:gd name="T29" fmla="*/ 5 h 28"/>
              <a:gd name="T30" fmla="*/ 25 w 28"/>
              <a:gd name="T31" fmla="*/ 5 h 28"/>
              <a:gd name="T32" fmla="*/ 23 w 28"/>
              <a:gd name="T33" fmla="*/ 3 h 28"/>
              <a:gd name="T34" fmla="*/ 21 w 28"/>
              <a:gd name="T35" fmla="*/ 3 h 28"/>
              <a:gd name="T36" fmla="*/ 18 w 28"/>
              <a:gd name="T37" fmla="*/ 0 h 28"/>
              <a:gd name="T38" fmla="*/ 16 w 28"/>
              <a:gd name="T39" fmla="*/ 0 h 28"/>
              <a:gd name="T40" fmla="*/ 14 w 28"/>
              <a:gd name="T41" fmla="*/ 0 h 28"/>
              <a:gd name="T42" fmla="*/ 11 w 28"/>
              <a:gd name="T43" fmla="*/ 0 h 28"/>
              <a:gd name="T44" fmla="*/ 9 w 28"/>
              <a:gd name="T45" fmla="*/ 0 h 28"/>
              <a:gd name="T46" fmla="*/ 7 w 28"/>
              <a:gd name="T47" fmla="*/ 3 h 28"/>
              <a:gd name="T48" fmla="*/ 7 w 28"/>
              <a:gd name="T49" fmla="*/ 3 h 28"/>
              <a:gd name="T50" fmla="*/ 4 w 28"/>
              <a:gd name="T51" fmla="*/ 5 h 28"/>
              <a:gd name="T52" fmla="*/ 2 w 28"/>
              <a:gd name="T53" fmla="*/ 5 h 28"/>
              <a:gd name="T54" fmla="*/ 2 w 28"/>
              <a:gd name="T55" fmla="*/ 7 h 28"/>
              <a:gd name="T56" fmla="*/ 0 w 28"/>
              <a:gd name="T57" fmla="*/ 10 h 28"/>
              <a:gd name="T58" fmla="*/ 0 w 28"/>
              <a:gd name="T59" fmla="*/ 12 h 28"/>
              <a:gd name="T60" fmla="*/ 0 w 28"/>
              <a:gd name="T61" fmla="*/ 14 h 28"/>
              <a:gd name="T62" fmla="*/ 0 w 28"/>
              <a:gd name="T63" fmla="*/ 17 h 28"/>
              <a:gd name="T64" fmla="*/ 0 w 28"/>
              <a:gd name="T65" fmla="*/ 19 h 28"/>
              <a:gd name="T66" fmla="*/ 2 w 28"/>
              <a:gd name="T67" fmla="*/ 21 h 28"/>
              <a:gd name="T68" fmla="*/ 2 w 28"/>
              <a:gd name="T69" fmla="*/ 24 h 28"/>
              <a:gd name="T70" fmla="*/ 4 w 28"/>
              <a:gd name="T71" fmla="*/ 24 h 28"/>
              <a:gd name="T72" fmla="*/ 7 w 28"/>
              <a:gd name="T73" fmla="*/ 26 h 28"/>
              <a:gd name="T74" fmla="*/ 7 w 28"/>
              <a:gd name="T75" fmla="*/ 28 h 28"/>
              <a:gd name="T76" fmla="*/ 9 w 28"/>
              <a:gd name="T77" fmla="*/ 28 h 28"/>
              <a:gd name="T78" fmla="*/ 11 w 28"/>
              <a:gd name="T79" fmla="*/ 28 h 28"/>
              <a:gd name="T80" fmla="*/ 14 w 28"/>
              <a:gd name="T81" fmla="*/ 28 h 28"/>
              <a:gd name="T82" fmla="*/ 14 w 28"/>
              <a:gd name="T83" fmla="*/ 28 h 2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8"/>
              <a:gd name="T127" fmla="*/ 0 h 28"/>
              <a:gd name="T128" fmla="*/ 28 w 28"/>
              <a:gd name="T129" fmla="*/ 28 h 2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8" h="28">
                <a:moveTo>
                  <a:pt x="14" y="28"/>
                </a:moveTo>
                <a:lnTo>
                  <a:pt x="16" y="28"/>
                </a:lnTo>
                <a:lnTo>
                  <a:pt x="18" y="28"/>
                </a:lnTo>
                <a:lnTo>
                  <a:pt x="21" y="28"/>
                </a:lnTo>
                <a:lnTo>
                  <a:pt x="23" y="26"/>
                </a:lnTo>
                <a:lnTo>
                  <a:pt x="25" y="24"/>
                </a:lnTo>
                <a:lnTo>
                  <a:pt x="28" y="21"/>
                </a:lnTo>
                <a:lnTo>
                  <a:pt x="28" y="19"/>
                </a:lnTo>
                <a:lnTo>
                  <a:pt x="28" y="17"/>
                </a:lnTo>
                <a:lnTo>
                  <a:pt x="28" y="14"/>
                </a:lnTo>
                <a:lnTo>
                  <a:pt x="28" y="12"/>
                </a:lnTo>
                <a:lnTo>
                  <a:pt x="28" y="10"/>
                </a:lnTo>
                <a:lnTo>
                  <a:pt x="28" y="7"/>
                </a:lnTo>
                <a:lnTo>
                  <a:pt x="25" y="5"/>
                </a:lnTo>
                <a:lnTo>
                  <a:pt x="23" y="3"/>
                </a:lnTo>
                <a:lnTo>
                  <a:pt x="21" y="3"/>
                </a:lnTo>
                <a:lnTo>
                  <a:pt x="18" y="0"/>
                </a:lnTo>
                <a:lnTo>
                  <a:pt x="16" y="0"/>
                </a:lnTo>
                <a:lnTo>
                  <a:pt x="14" y="0"/>
                </a:lnTo>
                <a:lnTo>
                  <a:pt x="11" y="0"/>
                </a:lnTo>
                <a:lnTo>
                  <a:pt x="9" y="0"/>
                </a:lnTo>
                <a:lnTo>
                  <a:pt x="7" y="3"/>
                </a:lnTo>
                <a:lnTo>
                  <a:pt x="4" y="5"/>
                </a:lnTo>
                <a:lnTo>
                  <a:pt x="2" y="5"/>
                </a:lnTo>
                <a:lnTo>
                  <a:pt x="2" y="7"/>
                </a:lnTo>
                <a:lnTo>
                  <a:pt x="0" y="10"/>
                </a:lnTo>
                <a:lnTo>
                  <a:pt x="0" y="12"/>
                </a:lnTo>
                <a:lnTo>
                  <a:pt x="0" y="14"/>
                </a:lnTo>
                <a:lnTo>
                  <a:pt x="0" y="17"/>
                </a:lnTo>
                <a:lnTo>
                  <a:pt x="0" y="19"/>
                </a:lnTo>
                <a:lnTo>
                  <a:pt x="2" y="21"/>
                </a:lnTo>
                <a:lnTo>
                  <a:pt x="2" y="24"/>
                </a:lnTo>
                <a:lnTo>
                  <a:pt x="4" y="24"/>
                </a:lnTo>
                <a:lnTo>
                  <a:pt x="7" y="26"/>
                </a:lnTo>
                <a:lnTo>
                  <a:pt x="7" y="28"/>
                </a:lnTo>
                <a:lnTo>
                  <a:pt x="9" y="28"/>
                </a:lnTo>
                <a:lnTo>
                  <a:pt x="11" y="28"/>
                </a:lnTo>
                <a:lnTo>
                  <a:pt x="14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7" name="Rectangle 446"/>
          <p:cNvSpPr>
            <a:spLocks noChangeArrowheads="1"/>
          </p:cNvSpPr>
          <p:nvPr/>
        </p:nvSpPr>
        <p:spPr bwMode="auto">
          <a:xfrm>
            <a:off x="3649663" y="1462088"/>
            <a:ext cx="238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448" name="Rectangle 447"/>
          <p:cNvSpPr>
            <a:spLocks noChangeArrowheads="1"/>
          </p:cNvSpPr>
          <p:nvPr/>
        </p:nvSpPr>
        <p:spPr bwMode="auto">
          <a:xfrm>
            <a:off x="3673476" y="146208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449" name="Rectangle 448"/>
          <p:cNvSpPr>
            <a:spLocks noChangeArrowheads="1"/>
          </p:cNvSpPr>
          <p:nvPr/>
        </p:nvSpPr>
        <p:spPr bwMode="auto">
          <a:xfrm>
            <a:off x="3722688" y="1462088"/>
            <a:ext cx="4603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450" name="Rectangle 449"/>
          <p:cNvSpPr>
            <a:spLocks noChangeArrowheads="1"/>
          </p:cNvSpPr>
          <p:nvPr/>
        </p:nvSpPr>
        <p:spPr bwMode="auto">
          <a:xfrm>
            <a:off x="3770313" y="1462088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451" name="Rectangle 450"/>
          <p:cNvSpPr>
            <a:spLocks noChangeArrowheads="1"/>
          </p:cNvSpPr>
          <p:nvPr/>
        </p:nvSpPr>
        <p:spPr bwMode="auto">
          <a:xfrm>
            <a:off x="3795713" y="1462088"/>
            <a:ext cx="3016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452" name="Rectangle 451"/>
          <p:cNvSpPr>
            <a:spLocks noChangeArrowheads="1"/>
          </p:cNvSpPr>
          <p:nvPr/>
        </p:nvSpPr>
        <p:spPr bwMode="auto">
          <a:xfrm>
            <a:off x="3825876" y="146208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453" name="Rectangle 452"/>
          <p:cNvSpPr>
            <a:spLocks noChangeArrowheads="1"/>
          </p:cNvSpPr>
          <p:nvPr/>
        </p:nvSpPr>
        <p:spPr bwMode="auto">
          <a:xfrm>
            <a:off x="3878263" y="1462088"/>
            <a:ext cx="4603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454" name="Rectangle 453"/>
          <p:cNvSpPr>
            <a:spLocks noChangeArrowheads="1"/>
          </p:cNvSpPr>
          <p:nvPr/>
        </p:nvSpPr>
        <p:spPr bwMode="auto">
          <a:xfrm>
            <a:off x="3922713" y="1462088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455" name="Rectangle 454"/>
          <p:cNvSpPr>
            <a:spLocks noChangeArrowheads="1"/>
          </p:cNvSpPr>
          <p:nvPr/>
        </p:nvSpPr>
        <p:spPr bwMode="auto">
          <a:xfrm>
            <a:off x="3948113" y="1462088"/>
            <a:ext cx="2063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456" name="Rectangle 455"/>
          <p:cNvSpPr>
            <a:spLocks noChangeArrowheads="1"/>
          </p:cNvSpPr>
          <p:nvPr/>
        </p:nvSpPr>
        <p:spPr bwMode="auto">
          <a:xfrm>
            <a:off x="3967163" y="146208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457" name="Rectangle 456"/>
          <p:cNvSpPr>
            <a:spLocks noChangeArrowheads="1"/>
          </p:cNvSpPr>
          <p:nvPr/>
        </p:nvSpPr>
        <p:spPr bwMode="auto">
          <a:xfrm>
            <a:off x="4017963" y="146208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458" name="Rectangle 457"/>
          <p:cNvSpPr>
            <a:spLocks noChangeArrowheads="1"/>
          </p:cNvSpPr>
          <p:nvPr/>
        </p:nvSpPr>
        <p:spPr bwMode="auto">
          <a:xfrm>
            <a:off x="4070351" y="1462088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7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459" name="Rectangle 458"/>
          <p:cNvSpPr>
            <a:spLocks noChangeArrowheads="1"/>
          </p:cNvSpPr>
          <p:nvPr/>
        </p:nvSpPr>
        <p:spPr bwMode="auto">
          <a:xfrm>
            <a:off x="4092576" y="1462088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[</a:t>
            </a:r>
          </a:p>
        </p:txBody>
      </p:sp>
      <p:sp>
        <p:nvSpPr>
          <p:cNvPr id="460" name="Rectangle 459"/>
          <p:cNvSpPr>
            <a:spLocks noChangeArrowheads="1"/>
          </p:cNvSpPr>
          <p:nvPr/>
        </p:nvSpPr>
        <p:spPr bwMode="auto">
          <a:xfrm>
            <a:off x="4117976" y="146208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461" name="Rectangle 460"/>
          <p:cNvSpPr>
            <a:spLocks noChangeArrowheads="1"/>
          </p:cNvSpPr>
          <p:nvPr/>
        </p:nvSpPr>
        <p:spPr bwMode="auto">
          <a:xfrm>
            <a:off x="4170363" y="146208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5</a:t>
            </a:r>
          </a:p>
        </p:txBody>
      </p:sp>
      <p:sp>
        <p:nvSpPr>
          <p:cNvPr id="462" name="Rectangle 461"/>
          <p:cNvSpPr>
            <a:spLocks noChangeArrowheads="1"/>
          </p:cNvSpPr>
          <p:nvPr/>
        </p:nvSpPr>
        <p:spPr bwMode="auto">
          <a:xfrm>
            <a:off x="4222751" y="146208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–</a:t>
            </a:r>
          </a:p>
        </p:txBody>
      </p:sp>
      <p:sp>
        <p:nvSpPr>
          <p:cNvPr id="463" name="Rectangle 462"/>
          <p:cNvSpPr>
            <a:spLocks noChangeArrowheads="1"/>
          </p:cNvSpPr>
          <p:nvPr/>
        </p:nvSpPr>
        <p:spPr bwMode="auto">
          <a:xfrm>
            <a:off x="4289426" y="146208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0</a:t>
            </a:r>
          </a:p>
        </p:txBody>
      </p:sp>
      <p:sp>
        <p:nvSpPr>
          <p:cNvPr id="464" name="Rectangle 463"/>
          <p:cNvSpPr>
            <a:spLocks noChangeArrowheads="1"/>
          </p:cNvSpPr>
          <p:nvPr/>
        </p:nvSpPr>
        <p:spPr bwMode="auto">
          <a:xfrm>
            <a:off x="4340226" y="1462088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]</a:t>
            </a:r>
          </a:p>
        </p:txBody>
      </p:sp>
      <p:sp>
        <p:nvSpPr>
          <p:cNvPr id="465" name="Line 464"/>
          <p:cNvSpPr>
            <a:spLocks noChangeShapeType="1"/>
          </p:cNvSpPr>
          <p:nvPr/>
        </p:nvSpPr>
        <p:spPr bwMode="auto">
          <a:xfrm>
            <a:off x="5078413" y="1606550"/>
            <a:ext cx="1588" cy="301625"/>
          </a:xfrm>
          <a:prstGeom prst="line">
            <a:avLst/>
          </a:prstGeom>
          <a:noFill/>
          <a:ln w="38160">
            <a:solidFill>
              <a:srgbClr val="CD333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66" name="Freeform 465"/>
          <p:cNvSpPr>
            <a:spLocks noChangeArrowheads="1"/>
          </p:cNvSpPr>
          <p:nvPr/>
        </p:nvSpPr>
        <p:spPr bwMode="auto">
          <a:xfrm>
            <a:off x="5056188" y="1582738"/>
            <a:ext cx="44450" cy="49212"/>
          </a:xfrm>
          <a:custGeom>
            <a:avLst/>
            <a:gdLst>
              <a:gd name="T0" fmla="*/ 14 w 28"/>
              <a:gd name="T1" fmla="*/ 28 h 28"/>
              <a:gd name="T2" fmla="*/ 16 w 28"/>
              <a:gd name="T3" fmla="*/ 28 h 28"/>
              <a:gd name="T4" fmla="*/ 18 w 28"/>
              <a:gd name="T5" fmla="*/ 28 h 28"/>
              <a:gd name="T6" fmla="*/ 21 w 28"/>
              <a:gd name="T7" fmla="*/ 28 h 28"/>
              <a:gd name="T8" fmla="*/ 23 w 28"/>
              <a:gd name="T9" fmla="*/ 25 h 28"/>
              <a:gd name="T10" fmla="*/ 23 w 28"/>
              <a:gd name="T11" fmla="*/ 25 h 28"/>
              <a:gd name="T12" fmla="*/ 25 w 28"/>
              <a:gd name="T13" fmla="*/ 23 h 28"/>
              <a:gd name="T14" fmla="*/ 28 w 28"/>
              <a:gd name="T15" fmla="*/ 21 h 28"/>
              <a:gd name="T16" fmla="*/ 28 w 28"/>
              <a:gd name="T17" fmla="*/ 18 h 28"/>
              <a:gd name="T18" fmla="*/ 28 w 28"/>
              <a:gd name="T19" fmla="*/ 16 h 28"/>
              <a:gd name="T20" fmla="*/ 28 w 28"/>
              <a:gd name="T21" fmla="*/ 14 h 28"/>
              <a:gd name="T22" fmla="*/ 28 w 28"/>
              <a:gd name="T23" fmla="*/ 11 h 28"/>
              <a:gd name="T24" fmla="*/ 28 w 28"/>
              <a:gd name="T25" fmla="*/ 9 h 28"/>
              <a:gd name="T26" fmla="*/ 28 w 28"/>
              <a:gd name="T27" fmla="*/ 7 h 28"/>
              <a:gd name="T28" fmla="*/ 25 w 28"/>
              <a:gd name="T29" fmla="*/ 7 h 28"/>
              <a:gd name="T30" fmla="*/ 23 w 28"/>
              <a:gd name="T31" fmla="*/ 4 h 28"/>
              <a:gd name="T32" fmla="*/ 23 w 28"/>
              <a:gd name="T33" fmla="*/ 2 h 28"/>
              <a:gd name="T34" fmla="*/ 21 w 28"/>
              <a:gd name="T35" fmla="*/ 2 h 28"/>
              <a:gd name="T36" fmla="*/ 18 w 28"/>
              <a:gd name="T37" fmla="*/ 0 h 28"/>
              <a:gd name="T38" fmla="*/ 16 w 28"/>
              <a:gd name="T39" fmla="*/ 0 h 28"/>
              <a:gd name="T40" fmla="*/ 14 w 28"/>
              <a:gd name="T41" fmla="*/ 0 h 28"/>
              <a:gd name="T42" fmla="*/ 11 w 28"/>
              <a:gd name="T43" fmla="*/ 0 h 28"/>
              <a:gd name="T44" fmla="*/ 9 w 28"/>
              <a:gd name="T45" fmla="*/ 0 h 28"/>
              <a:gd name="T46" fmla="*/ 7 w 28"/>
              <a:gd name="T47" fmla="*/ 2 h 28"/>
              <a:gd name="T48" fmla="*/ 4 w 28"/>
              <a:gd name="T49" fmla="*/ 2 h 28"/>
              <a:gd name="T50" fmla="*/ 4 w 28"/>
              <a:gd name="T51" fmla="*/ 4 h 28"/>
              <a:gd name="T52" fmla="*/ 2 w 28"/>
              <a:gd name="T53" fmla="*/ 7 h 28"/>
              <a:gd name="T54" fmla="*/ 2 w 28"/>
              <a:gd name="T55" fmla="*/ 7 h 28"/>
              <a:gd name="T56" fmla="*/ 0 w 28"/>
              <a:gd name="T57" fmla="*/ 9 h 28"/>
              <a:gd name="T58" fmla="*/ 0 w 28"/>
              <a:gd name="T59" fmla="*/ 11 h 28"/>
              <a:gd name="T60" fmla="*/ 0 w 28"/>
              <a:gd name="T61" fmla="*/ 14 h 28"/>
              <a:gd name="T62" fmla="*/ 0 w 28"/>
              <a:gd name="T63" fmla="*/ 16 h 28"/>
              <a:gd name="T64" fmla="*/ 0 w 28"/>
              <a:gd name="T65" fmla="*/ 18 h 28"/>
              <a:gd name="T66" fmla="*/ 2 w 28"/>
              <a:gd name="T67" fmla="*/ 21 h 28"/>
              <a:gd name="T68" fmla="*/ 2 w 28"/>
              <a:gd name="T69" fmla="*/ 23 h 28"/>
              <a:gd name="T70" fmla="*/ 4 w 28"/>
              <a:gd name="T71" fmla="*/ 25 h 28"/>
              <a:gd name="T72" fmla="*/ 4 w 28"/>
              <a:gd name="T73" fmla="*/ 25 h 28"/>
              <a:gd name="T74" fmla="*/ 7 w 28"/>
              <a:gd name="T75" fmla="*/ 28 h 28"/>
              <a:gd name="T76" fmla="*/ 9 w 28"/>
              <a:gd name="T77" fmla="*/ 28 h 28"/>
              <a:gd name="T78" fmla="*/ 11 w 28"/>
              <a:gd name="T79" fmla="*/ 28 h 28"/>
              <a:gd name="T80" fmla="*/ 14 w 28"/>
              <a:gd name="T81" fmla="*/ 28 h 28"/>
              <a:gd name="T82" fmla="*/ 14 w 28"/>
              <a:gd name="T83" fmla="*/ 28 h 2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8"/>
              <a:gd name="T127" fmla="*/ 0 h 28"/>
              <a:gd name="T128" fmla="*/ 28 w 28"/>
              <a:gd name="T129" fmla="*/ 28 h 2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8" h="28">
                <a:moveTo>
                  <a:pt x="14" y="28"/>
                </a:moveTo>
                <a:lnTo>
                  <a:pt x="16" y="28"/>
                </a:lnTo>
                <a:lnTo>
                  <a:pt x="18" y="28"/>
                </a:lnTo>
                <a:lnTo>
                  <a:pt x="21" y="28"/>
                </a:lnTo>
                <a:lnTo>
                  <a:pt x="23" y="25"/>
                </a:lnTo>
                <a:lnTo>
                  <a:pt x="25" y="23"/>
                </a:lnTo>
                <a:lnTo>
                  <a:pt x="28" y="21"/>
                </a:lnTo>
                <a:lnTo>
                  <a:pt x="28" y="18"/>
                </a:lnTo>
                <a:lnTo>
                  <a:pt x="28" y="16"/>
                </a:lnTo>
                <a:lnTo>
                  <a:pt x="28" y="14"/>
                </a:lnTo>
                <a:lnTo>
                  <a:pt x="28" y="11"/>
                </a:lnTo>
                <a:lnTo>
                  <a:pt x="28" y="9"/>
                </a:lnTo>
                <a:lnTo>
                  <a:pt x="28" y="7"/>
                </a:lnTo>
                <a:lnTo>
                  <a:pt x="25" y="7"/>
                </a:lnTo>
                <a:lnTo>
                  <a:pt x="23" y="4"/>
                </a:lnTo>
                <a:lnTo>
                  <a:pt x="23" y="2"/>
                </a:lnTo>
                <a:lnTo>
                  <a:pt x="21" y="2"/>
                </a:lnTo>
                <a:lnTo>
                  <a:pt x="18" y="0"/>
                </a:lnTo>
                <a:lnTo>
                  <a:pt x="16" y="0"/>
                </a:lnTo>
                <a:lnTo>
                  <a:pt x="14" y="0"/>
                </a:lnTo>
                <a:lnTo>
                  <a:pt x="11" y="0"/>
                </a:lnTo>
                <a:lnTo>
                  <a:pt x="9" y="0"/>
                </a:lnTo>
                <a:lnTo>
                  <a:pt x="7" y="2"/>
                </a:lnTo>
                <a:lnTo>
                  <a:pt x="4" y="2"/>
                </a:lnTo>
                <a:lnTo>
                  <a:pt x="4" y="4"/>
                </a:lnTo>
                <a:lnTo>
                  <a:pt x="2" y="7"/>
                </a:lnTo>
                <a:lnTo>
                  <a:pt x="0" y="9"/>
                </a:lnTo>
                <a:lnTo>
                  <a:pt x="0" y="11"/>
                </a:lnTo>
                <a:lnTo>
                  <a:pt x="0" y="14"/>
                </a:lnTo>
                <a:lnTo>
                  <a:pt x="0" y="16"/>
                </a:lnTo>
                <a:lnTo>
                  <a:pt x="0" y="18"/>
                </a:lnTo>
                <a:lnTo>
                  <a:pt x="2" y="21"/>
                </a:lnTo>
                <a:lnTo>
                  <a:pt x="2" y="23"/>
                </a:lnTo>
                <a:lnTo>
                  <a:pt x="4" y="25"/>
                </a:lnTo>
                <a:lnTo>
                  <a:pt x="7" y="28"/>
                </a:lnTo>
                <a:lnTo>
                  <a:pt x="9" y="28"/>
                </a:lnTo>
                <a:lnTo>
                  <a:pt x="11" y="28"/>
                </a:lnTo>
                <a:lnTo>
                  <a:pt x="14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7" name="Freeform 466"/>
          <p:cNvSpPr>
            <a:spLocks noChangeArrowheads="1"/>
          </p:cNvSpPr>
          <p:nvPr/>
        </p:nvSpPr>
        <p:spPr bwMode="auto">
          <a:xfrm>
            <a:off x="3992563" y="2374900"/>
            <a:ext cx="47625" cy="53975"/>
          </a:xfrm>
          <a:custGeom>
            <a:avLst/>
            <a:gdLst>
              <a:gd name="T0" fmla="*/ 14 w 30"/>
              <a:gd name="T1" fmla="*/ 28 h 30"/>
              <a:gd name="T2" fmla="*/ 16 w 30"/>
              <a:gd name="T3" fmla="*/ 28 h 30"/>
              <a:gd name="T4" fmla="*/ 19 w 30"/>
              <a:gd name="T5" fmla="*/ 28 h 30"/>
              <a:gd name="T6" fmla="*/ 21 w 30"/>
              <a:gd name="T7" fmla="*/ 28 h 30"/>
              <a:gd name="T8" fmla="*/ 23 w 30"/>
              <a:gd name="T9" fmla="*/ 26 h 30"/>
              <a:gd name="T10" fmla="*/ 26 w 30"/>
              <a:gd name="T11" fmla="*/ 26 h 30"/>
              <a:gd name="T12" fmla="*/ 26 w 30"/>
              <a:gd name="T13" fmla="*/ 23 h 30"/>
              <a:gd name="T14" fmla="*/ 28 w 30"/>
              <a:gd name="T15" fmla="*/ 21 h 30"/>
              <a:gd name="T16" fmla="*/ 28 w 30"/>
              <a:gd name="T17" fmla="*/ 19 h 30"/>
              <a:gd name="T18" fmla="*/ 30 w 30"/>
              <a:gd name="T19" fmla="*/ 16 h 30"/>
              <a:gd name="T20" fmla="*/ 30 w 30"/>
              <a:gd name="T21" fmla="*/ 14 h 30"/>
              <a:gd name="T22" fmla="*/ 30 w 30"/>
              <a:gd name="T23" fmla="*/ 12 h 30"/>
              <a:gd name="T24" fmla="*/ 28 w 30"/>
              <a:gd name="T25" fmla="*/ 9 h 30"/>
              <a:gd name="T26" fmla="*/ 28 w 30"/>
              <a:gd name="T27" fmla="*/ 9 h 30"/>
              <a:gd name="T28" fmla="*/ 26 w 30"/>
              <a:gd name="T29" fmla="*/ 7 h 30"/>
              <a:gd name="T30" fmla="*/ 26 w 30"/>
              <a:gd name="T31" fmla="*/ 5 h 30"/>
              <a:gd name="T32" fmla="*/ 23 w 30"/>
              <a:gd name="T33" fmla="*/ 2 h 30"/>
              <a:gd name="T34" fmla="*/ 21 w 30"/>
              <a:gd name="T35" fmla="*/ 2 h 30"/>
              <a:gd name="T36" fmla="*/ 19 w 30"/>
              <a:gd name="T37" fmla="*/ 2 h 30"/>
              <a:gd name="T38" fmla="*/ 16 w 30"/>
              <a:gd name="T39" fmla="*/ 0 h 30"/>
              <a:gd name="T40" fmla="*/ 14 w 30"/>
              <a:gd name="T41" fmla="*/ 0 h 30"/>
              <a:gd name="T42" fmla="*/ 12 w 30"/>
              <a:gd name="T43" fmla="*/ 0 h 30"/>
              <a:gd name="T44" fmla="*/ 12 w 30"/>
              <a:gd name="T45" fmla="*/ 2 h 30"/>
              <a:gd name="T46" fmla="*/ 9 w 30"/>
              <a:gd name="T47" fmla="*/ 2 h 30"/>
              <a:gd name="T48" fmla="*/ 7 w 30"/>
              <a:gd name="T49" fmla="*/ 2 h 30"/>
              <a:gd name="T50" fmla="*/ 5 w 30"/>
              <a:gd name="T51" fmla="*/ 5 h 30"/>
              <a:gd name="T52" fmla="*/ 2 w 30"/>
              <a:gd name="T53" fmla="*/ 7 h 30"/>
              <a:gd name="T54" fmla="*/ 2 w 30"/>
              <a:gd name="T55" fmla="*/ 9 h 30"/>
              <a:gd name="T56" fmla="*/ 2 w 30"/>
              <a:gd name="T57" fmla="*/ 9 h 30"/>
              <a:gd name="T58" fmla="*/ 0 w 30"/>
              <a:gd name="T59" fmla="*/ 12 h 30"/>
              <a:gd name="T60" fmla="*/ 0 w 30"/>
              <a:gd name="T61" fmla="*/ 14 h 30"/>
              <a:gd name="T62" fmla="*/ 0 w 30"/>
              <a:gd name="T63" fmla="*/ 16 h 30"/>
              <a:gd name="T64" fmla="*/ 2 w 30"/>
              <a:gd name="T65" fmla="*/ 19 h 30"/>
              <a:gd name="T66" fmla="*/ 2 w 30"/>
              <a:gd name="T67" fmla="*/ 21 h 30"/>
              <a:gd name="T68" fmla="*/ 2 w 30"/>
              <a:gd name="T69" fmla="*/ 23 h 30"/>
              <a:gd name="T70" fmla="*/ 5 w 30"/>
              <a:gd name="T71" fmla="*/ 26 h 30"/>
              <a:gd name="T72" fmla="*/ 7 w 30"/>
              <a:gd name="T73" fmla="*/ 26 h 30"/>
              <a:gd name="T74" fmla="*/ 9 w 30"/>
              <a:gd name="T75" fmla="*/ 28 h 30"/>
              <a:gd name="T76" fmla="*/ 12 w 30"/>
              <a:gd name="T77" fmla="*/ 28 h 30"/>
              <a:gd name="T78" fmla="*/ 12 w 30"/>
              <a:gd name="T79" fmla="*/ 28 h 30"/>
              <a:gd name="T80" fmla="*/ 14 w 30"/>
              <a:gd name="T81" fmla="*/ 30 h 30"/>
              <a:gd name="T82" fmla="*/ 14 w 30"/>
              <a:gd name="T83" fmla="*/ 30 h 30"/>
              <a:gd name="T84" fmla="*/ 14 w 30"/>
              <a:gd name="T85" fmla="*/ 28 h 30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30"/>
              <a:gd name="T130" fmla="*/ 0 h 30"/>
              <a:gd name="T131" fmla="*/ 30 w 30"/>
              <a:gd name="T132" fmla="*/ 30 h 30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30" h="30">
                <a:moveTo>
                  <a:pt x="14" y="28"/>
                </a:moveTo>
                <a:lnTo>
                  <a:pt x="16" y="28"/>
                </a:lnTo>
                <a:lnTo>
                  <a:pt x="19" y="28"/>
                </a:lnTo>
                <a:lnTo>
                  <a:pt x="21" y="28"/>
                </a:lnTo>
                <a:lnTo>
                  <a:pt x="23" y="26"/>
                </a:lnTo>
                <a:lnTo>
                  <a:pt x="26" y="26"/>
                </a:lnTo>
                <a:lnTo>
                  <a:pt x="26" y="23"/>
                </a:lnTo>
                <a:lnTo>
                  <a:pt x="28" y="21"/>
                </a:lnTo>
                <a:lnTo>
                  <a:pt x="28" y="19"/>
                </a:lnTo>
                <a:lnTo>
                  <a:pt x="30" y="16"/>
                </a:lnTo>
                <a:lnTo>
                  <a:pt x="30" y="14"/>
                </a:lnTo>
                <a:lnTo>
                  <a:pt x="30" y="12"/>
                </a:lnTo>
                <a:lnTo>
                  <a:pt x="28" y="9"/>
                </a:lnTo>
                <a:lnTo>
                  <a:pt x="26" y="7"/>
                </a:lnTo>
                <a:lnTo>
                  <a:pt x="26" y="5"/>
                </a:lnTo>
                <a:lnTo>
                  <a:pt x="23" y="2"/>
                </a:lnTo>
                <a:lnTo>
                  <a:pt x="21" y="2"/>
                </a:lnTo>
                <a:lnTo>
                  <a:pt x="19" y="2"/>
                </a:lnTo>
                <a:lnTo>
                  <a:pt x="16" y="0"/>
                </a:lnTo>
                <a:lnTo>
                  <a:pt x="14" y="0"/>
                </a:lnTo>
                <a:lnTo>
                  <a:pt x="12" y="0"/>
                </a:lnTo>
                <a:lnTo>
                  <a:pt x="12" y="2"/>
                </a:lnTo>
                <a:lnTo>
                  <a:pt x="9" y="2"/>
                </a:lnTo>
                <a:lnTo>
                  <a:pt x="7" y="2"/>
                </a:lnTo>
                <a:lnTo>
                  <a:pt x="5" y="5"/>
                </a:lnTo>
                <a:lnTo>
                  <a:pt x="2" y="7"/>
                </a:lnTo>
                <a:lnTo>
                  <a:pt x="2" y="9"/>
                </a:lnTo>
                <a:lnTo>
                  <a:pt x="0" y="12"/>
                </a:lnTo>
                <a:lnTo>
                  <a:pt x="0" y="14"/>
                </a:lnTo>
                <a:lnTo>
                  <a:pt x="0" y="16"/>
                </a:lnTo>
                <a:lnTo>
                  <a:pt x="2" y="19"/>
                </a:lnTo>
                <a:lnTo>
                  <a:pt x="2" y="21"/>
                </a:lnTo>
                <a:lnTo>
                  <a:pt x="2" y="23"/>
                </a:lnTo>
                <a:lnTo>
                  <a:pt x="5" y="26"/>
                </a:lnTo>
                <a:lnTo>
                  <a:pt x="7" y="26"/>
                </a:lnTo>
                <a:lnTo>
                  <a:pt x="9" y="28"/>
                </a:lnTo>
                <a:lnTo>
                  <a:pt x="12" y="28"/>
                </a:lnTo>
                <a:lnTo>
                  <a:pt x="14" y="30"/>
                </a:lnTo>
                <a:lnTo>
                  <a:pt x="14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8" name="Rectangle 467"/>
          <p:cNvSpPr>
            <a:spLocks noChangeArrowheads="1"/>
          </p:cNvSpPr>
          <p:nvPr/>
        </p:nvSpPr>
        <p:spPr bwMode="auto">
          <a:xfrm>
            <a:off x="4129088" y="1924050"/>
            <a:ext cx="603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P</a:t>
            </a:r>
          </a:p>
        </p:txBody>
      </p:sp>
      <p:sp>
        <p:nvSpPr>
          <p:cNvPr id="469" name="Rectangle 468"/>
          <p:cNvSpPr>
            <a:spLocks noChangeArrowheads="1"/>
          </p:cNvSpPr>
          <p:nvPr/>
        </p:nvSpPr>
        <p:spPr bwMode="auto">
          <a:xfrm>
            <a:off x="4189413" y="1924050"/>
            <a:ext cx="6508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470" name="Rectangle 469"/>
          <p:cNvSpPr>
            <a:spLocks noChangeArrowheads="1"/>
          </p:cNvSpPr>
          <p:nvPr/>
        </p:nvSpPr>
        <p:spPr bwMode="auto">
          <a:xfrm>
            <a:off x="4256088" y="1924050"/>
            <a:ext cx="5238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+</a:t>
            </a:r>
          </a:p>
        </p:txBody>
      </p:sp>
      <p:sp>
        <p:nvSpPr>
          <p:cNvPr id="471" name="Rectangle 470"/>
          <p:cNvSpPr>
            <a:spLocks noChangeArrowheads="1"/>
          </p:cNvSpPr>
          <p:nvPr/>
        </p:nvSpPr>
        <p:spPr bwMode="auto">
          <a:xfrm>
            <a:off x="4306888" y="192405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4</a:t>
            </a:r>
          </a:p>
        </p:txBody>
      </p:sp>
      <p:sp>
        <p:nvSpPr>
          <p:cNvPr id="472" name="Rectangle 471"/>
          <p:cNvSpPr>
            <a:spLocks noChangeArrowheads="1"/>
          </p:cNvSpPr>
          <p:nvPr/>
        </p:nvSpPr>
        <p:spPr bwMode="auto">
          <a:xfrm>
            <a:off x="4359276" y="1924050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7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473" name="Rectangle 472"/>
          <p:cNvSpPr>
            <a:spLocks noChangeArrowheads="1"/>
          </p:cNvSpPr>
          <p:nvPr/>
        </p:nvSpPr>
        <p:spPr bwMode="auto">
          <a:xfrm>
            <a:off x="4384676" y="1924050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[</a:t>
            </a:r>
          </a:p>
        </p:txBody>
      </p:sp>
      <p:sp>
        <p:nvSpPr>
          <p:cNvPr id="474" name="Rectangle 473"/>
          <p:cNvSpPr>
            <a:spLocks noChangeArrowheads="1"/>
          </p:cNvSpPr>
          <p:nvPr/>
        </p:nvSpPr>
        <p:spPr bwMode="auto">
          <a:xfrm>
            <a:off x="4411663" y="192405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3</a:t>
            </a:r>
          </a:p>
        </p:txBody>
      </p:sp>
      <p:sp>
        <p:nvSpPr>
          <p:cNvPr id="475" name="Rectangle 474"/>
          <p:cNvSpPr>
            <a:spLocks noChangeArrowheads="1"/>
          </p:cNvSpPr>
          <p:nvPr/>
        </p:nvSpPr>
        <p:spPr bwMode="auto">
          <a:xfrm>
            <a:off x="4459288" y="192405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476" name="Rectangle 475"/>
          <p:cNvSpPr>
            <a:spLocks noChangeArrowheads="1"/>
          </p:cNvSpPr>
          <p:nvPr/>
        </p:nvSpPr>
        <p:spPr bwMode="auto">
          <a:xfrm>
            <a:off x="4511676" y="192405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–</a:t>
            </a:r>
          </a:p>
        </p:txBody>
      </p:sp>
      <p:sp>
        <p:nvSpPr>
          <p:cNvPr id="477" name="Rectangle 476"/>
          <p:cNvSpPr>
            <a:spLocks noChangeArrowheads="1"/>
          </p:cNvSpPr>
          <p:nvPr/>
        </p:nvSpPr>
        <p:spPr bwMode="auto">
          <a:xfrm>
            <a:off x="4578351" y="192405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478" name="Rectangle 477"/>
          <p:cNvSpPr>
            <a:spLocks noChangeArrowheads="1"/>
          </p:cNvSpPr>
          <p:nvPr/>
        </p:nvSpPr>
        <p:spPr bwMode="auto">
          <a:xfrm>
            <a:off x="4629151" y="192405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8</a:t>
            </a:r>
          </a:p>
        </p:txBody>
      </p:sp>
      <p:sp>
        <p:nvSpPr>
          <p:cNvPr id="479" name="Rectangle 478"/>
          <p:cNvSpPr>
            <a:spLocks noChangeArrowheads="1"/>
          </p:cNvSpPr>
          <p:nvPr/>
        </p:nvSpPr>
        <p:spPr bwMode="auto">
          <a:xfrm>
            <a:off x="4681538" y="1924050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]</a:t>
            </a:r>
          </a:p>
        </p:txBody>
      </p:sp>
      <p:sp>
        <p:nvSpPr>
          <p:cNvPr id="480" name="Freeform 479"/>
          <p:cNvSpPr>
            <a:spLocks noChangeArrowheads="1"/>
          </p:cNvSpPr>
          <p:nvPr/>
        </p:nvSpPr>
        <p:spPr bwMode="auto">
          <a:xfrm>
            <a:off x="1887538" y="1276350"/>
            <a:ext cx="7413625" cy="2908300"/>
          </a:xfrm>
          <a:custGeom>
            <a:avLst/>
            <a:gdLst>
              <a:gd name="T0" fmla="*/ 63 w 4670"/>
              <a:gd name="T1" fmla="*/ 1641 h 1644"/>
              <a:gd name="T2" fmla="*/ 0 w 4670"/>
              <a:gd name="T3" fmla="*/ 1644 h 1644"/>
              <a:gd name="T4" fmla="*/ 0 w 4670"/>
              <a:gd name="T5" fmla="*/ 0 h 1644"/>
              <a:gd name="T6" fmla="*/ 4670 w 4670"/>
              <a:gd name="T7" fmla="*/ 0 h 1644"/>
              <a:gd name="T8" fmla="*/ 4670 w 4670"/>
              <a:gd name="T9" fmla="*/ 437 h 1644"/>
              <a:gd name="T10" fmla="*/ 4607 w 4670"/>
              <a:gd name="T11" fmla="*/ 437 h 16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4670"/>
              <a:gd name="T19" fmla="*/ 0 h 1644"/>
              <a:gd name="T20" fmla="*/ 4670 w 4670"/>
              <a:gd name="T21" fmla="*/ 1644 h 1644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670" h="1644">
                <a:moveTo>
                  <a:pt x="63" y="1641"/>
                </a:moveTo>
                <a:lnTo>
                  <a:pt x="0" y="1644"/>
                </a:lnTo>
                <a:lnTo>
                  <a:pt x="0" y="0"/>
                </a:lnTo>
                <a:lnTo>
                  <a:pt x="4670" y="0"/>
                </a:lnTo>
                <a:lnTo>
                  <a:pt x="4670" y="437"/>
                </a:lnTo>
                <a:lnTo>
                  <a:pt x="4607" y="437"/>
                </a:lnTo>
              </a:path>
            </a:pathLst>
          </a:custGeom>
          <a:noFill/>
          <a:ln w="19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1" name="Line 480"/>
          <p:cNvSpPr>
            <a:spLocks noChangeShapeType="1"/>
          </p:cNvSpPr>
          <p:nvPr/>
        </p:nvSpPr>
        <p:spPr bwMode="auto">
          <a:xfrm>
            <a:off x="2195513" y="4179888"/>
            <a:ext cx="274638" cy="4762"/>
          </a:xfrm>
          <a:prstGeom prst="line">
            <a:avLst/>
          </a:prstGeom>
          <a:noFill/>
          <a:ln w="1908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2" name="Freeform 481"/>
          <p:cNvSpPr>
            <a:spLocks noChangeArrowheads="1"/>
          </p:cNvSpPr>
          <p:nvPr/>
        </p:nvSpPr>
        <p:spPr bwMode="auto">
          <a:xfrm>
            <a:off x="2451101" y="4154488"/>
            <a:ext cx="47625" cy="55562"/>
          </a:xfrm>
          <a:custGeom>
            <a:avLst/>
            <a:gdLst>
              <a:gd name="T0" fmla="*/ 0 w 30"/>
              <a:gd name="T1" fmla="*/ 0 h 31"/>
              <a:gd name="T2" fmla="*/ 0 w 30"/>
              <a:gd name="T3" fmla="*/ 31 h 31"/>
              <a:gd name="T4" fmla="*/ 30 w 30"/>
              <a:gd name="T5" fmla="*/ 17 h 31"/>
              <a:gd name="T6" fmla="*/ 0 w 30"/>
              <a:gd name="T7" fmla="*/ 0 h 31"/>
              <a:gd name="T8" fmla="*/ 0 w 30"/>
              <a:gd name="T9" fmla="*/ 0 h 3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31"/>
              <a:gd name="T17" fmla="*/ 30 w 30"/>
              <a:gd name="T18" fmla="*/ 31 h 3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31">
                <a:moveTo>
                  <a:pt x="0" y="0"/>
                </a:moveTo>
                <a:lnTo>
                  <a:pt x="0" y="31"/>
                </a:lnTo>
                <a:lnTo>
                  <a:pt x="30" y="17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3" name="Freeform 482"/>
          <p:cNvSpPr>
            <a:spLocks noChangeArrowheads="1"/>
          </p:cNvSpPr>
          <p:nvPr/>
        </p:nvSpPr>
        <p:spPr bwMode="auto">
          <a:xfrm>
            <a:off x="1970088" y="4154488"/>
            <a:ext cx="47625" cy="55562"/>
          </a:xfrm>
          <a:custGeom>
            <a:avLst/>
            <a:gdLst>
              <a:gd name="T0" fmla="*/ 0 w 30"/>
              <a:gd name="T1" fmla="*/ 0 h 31"/>
              <a:gd name="T2" fmla="*/ 2 w 30"/>
              <a:gd name="T3" fmla="*/ 31 h 31"/>
              <a:gd name="T4" fmla="*/ 30 w 30"/>
              <a:gd name="T5" fmla="*/ 17 h 31"/>
              <a:gd name="T6" fmla="*/ 2 w 30"/>
              <a:gd name="T7" fmla="*/ 0 h 31"/>
              <a:gd name="T8" fmla="*/ 2 w 30"/>
              <a:gd name="T9" fmla="*/ 0 h 31"/>
              <a:gd name="T10" fmla="*/ 0 w 30"/>
              <a:gd name="T11" fmla="*/ 0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"/>
              <a:gd name="T19" fmla="*/ 0 h 31"/>
              <a:gd name="T20" fmla="*/ 30 w 30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" h="31">
                <a:moveTo>
                  <a:pt x="0" y="0"/>
                </a:moveTo>
                <a:lnTo>
                  <a:pt x="2" y="31"/>
                </a:lnTo>
                <a:lnTo>
                  <a:pt x="30" y="17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4" name="Freeform 483"/>
          <p:cNvSpPr>
            <a:spLocks noChangeArrowheads="1"/>
          </p:cNvSpPr>
          <p:nvPr/>
        </p:nvSpPr>
        <p:spPr bwMode="auto">
          <a:xfrm>
            <a:off x="5870576" y="5618163"/>
            <a:ext cx="49212" cy="52387"/>
          </a:xfrm>
          <a:custGeom>
            <a:avLst/>
            <a:gdLst>
              <a:gd name="T0" fmla="*/ 0 w 31"/>
              <a:gd name="T1" fmla="*/ 0 h 30"/>
              <a:gd name="T2" fmla="*/ 0 w 31"/>
              <a:gd name="T3" fmla="*/ 30 h 30"/>
              <a:gd name="T4" fmla="*/ 31 w 31"/>
              <a:gd name="T5" fmla="*/ 14 h 30"/>
              <a:gd name="T6" fmla="*/ 0 w 31"/>
              <a:gd name="T7" fmla="*/ 0 h 30"/>
              <a:gd name="T8" fmla="*/ 0 w 31"/>
              <a:gd name="T9" fmla="*/ 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1"/>
              <a:gd name="T16" fmla="*/ 0 h 30"/>
              <a:gd name="T17" fmla="*/ 31 w 31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1" h="30">
                <a:moveTo>
                  <a:pt x="0" y="0"/>
                </a:moveTo>
                <a:lnTo>
                  <a:pt x="0" y="30"/>
                </a:lnTo>
                <a:lnTo>
                  <a:pt x="31" y="14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5" name="Freeform 484"/>
          <p:cNvSpPr>
            <a:spLocks noChangeArrowheads="1"/>
          </p:cNvSpPr>
          <p:nvPr/>
        </p:nvSpPr>
        <p:spPr bwMode="auto">
          <a:xfrm>
            <a:off x="5926138" y="5237163"/>
            <a:ext cx="341313" cy="814387"/>
          </a:xfrm>
          <a:custGeom>
            <a:avLst/>
            <a:gdLst>
              <a:gd name="T0" fmla="*/ 105 w 215"/>
              <a:gd name="T1" fmla="*/ 458 h 460"/>
              <a:gd name="T2" fmla="*/ 124 w 215"/>
              <a:gd name="T3" fmla="*/ 455 h 460"/>
              <a:gd name="T4" fmla="*/ 140 w 215"/>
              <a:gd name="T5" fmla="*/ 448 h 460"/>
              <a:gd name="T6" fmla="*/ 157 w 215"/>
              <a:gd name="T7" fmla="*/ 434 h 460"/>
              <a:gd name="T8" fmla="*/ 171 w 215"/>
              <a:gd name="T9" fmla="*/ 416 h 460"/>
              <a:gd name="T10" fmla="*/ 185 w 215"/>
              <a:gd name="T11" fmla="*/ 392 h 460"/>
              <a:gd name="T12" fmla="*/ 194 w 215"/>
              <a:gd name="T13" fmla="*/ 364 h 460"/>
              <a:gd name="T14" fmla="*/ 203 w 215"/>
              <a:gd name="T15" fmla="*/ 336 h 460"/>
              <a:gd name="T16" fmla="*/ 210 w 215"/>
              <a:gd name="T17" fmla="*/ 303 h 460"/>
              <a:gd name="T18" fmla="*/ 215 w 215"/>
              <a:gd name="T19" fmla="*/ 266 h 460"/>
              <a:gd name="T20" fmla="*/ 215 w 215"/>
              <a:gd name="T21" fmla="*/ 229 h 460"/>
              <a:gd name="T22" fmla="*/ 215 w 215"/>
              <a:gd name="T23" fmla="*/ 194 h 460"/>
              <a:gd name="T24" fmla="*/ 210 w 215"/>
              <a:gd name="T25" fmla="*/ 156 h 460"/>
              <a:gd name="T26" fmla="*/ 203 w 215"/>
              <a:gd name="T27" fmla="*/ 124 h 460"/>
              <a:gd name="T28" fmla="*/ 194 w 215"/>
              <a:gd name="T29" fmla="*/ 93 h 460"/>
              <a:gd name="T30" fmla="*/ 185 w 215"/>
              <a:gd name="T31" fmla="*/ 68 h 460"/>
              <a:gd name="T32" fmla="*/ 171 w 215"/>
              <a:gd name="T33" fmla="*/ 44 h 460"/>
              <a:gd name="T34" fmla="*/ 157 w 215"/>
              <a:gd name="T35" fmla="*/ 26 h 460"/>
              <a:gd name="T36" fmla="*/ 140 w 215"/>
              <a:gd name="T37" fmla="*/ 12 h 460"/>
              <a:gd name="T38" fmla="*/ 124 w 215"/>
              <a:gd name="T39" fmla="*/ 2 h 460"/>
              <a:gd name="T40" fmla="*/ 108 w 215"/>
              <a:gd name="T41" fmla="*/ 0 h 460"/>
              <a:gd name="T42" fmla="*/ 89 w 215"/>
              <a:gd name="T43" fmla="*/ 2 h 460"/>
              <a:gd name="T44" fmla="*/ 73 w 215"/>
              <a:gd name="T45" fmla="*/ 12 h 460"/>
              <a:gd name="T46" fmla="*/ 59 w 215"/>
              <a:gd name="T47" fmla="*/ 26 h 460"/>
              <a:gd name="T48" fmla="*/ 45 w 215"/>
              <a:gd name="T49" fmla="*/ 44 h 460"/>
              <a:gd name="T50" fmla="*/ 31 w 215"/>
              <a:gd name="T51" fmla="*/ 68 h 460"/>
              <a:gd name="T52" fmla="*/ 21 w 215"/>
              <a:gd name="T53" fmla="*/ 93 h 460"/>
              <a:gd name="T54" fmla="*/ 12 w 215"/>
              <a:gd name="T55" fmla="*/ 124 h 460"/>
              <a:gd name="T56" fmla="*/ 5 w 215"/>
              <a:gd name="T57" fmla="*/ 156 h 460"/>
              <a:gd name="T58" fmla="*/ 0 w 215"/>
              <a:gd name="T59" fmla="*/ 194 h 460"/>
              <a:gd name="T60" fmla="*/ 0 w 215"/>
              <a:gd name="T61" fmla="*/ 229 h 460"/>
              <a:gd name="T62" fmla="*/ 0 w 215"/>
              <a:gd name="T63" fmla="*/ 266 h 460"/>
              <a:gd name="T64" fmla="*/ 5 w 215"/>
              <a:gd name="T65" fmla="*/ 303 h 460"/>
              <a:gd name="T66" fmla="*/ 12 w 215"/>
              <a:gd name="T67" fmla="*/ 336 h 460"/>
              <a:gd name="T68" fmla="*/ 21 w 215"/>
              <a:gd name="T69" fmla="*/ 364 h 460"/>
              <a:gd name="T70" fmla="*/ 31 w 215"/>
              <a:gd name="T71" fmla="*/ 392 h 460"/>
              <a:gd name="T72" fmla="*/ 45 w 215"/>
              <a:gd name="T73" fmla="*/ 416 h 460"/>
              <a:gd name="T74" fmla="*/ 59 w 215"/>
              <a:gd name="T75" fmla="*/ 434 h 460"/>
              <a:gd name="T76" fmla="*/ 73 w 215"/>
              <a:gd name="T77" fmla="*/ 448 h 460"/>
              <a:gd name="T78" fmla="*/ 89 w 215"/>
              <a:gd name="T79" fmla="*/ 455 h 460"/>
              <a:gd name="T80" fmla="*/ 108 w 215"/>
              <a:gd name="T81" fmla="*/ 460 h 460"/>
              <a:gd name="T82" fmla="*/ 108 w 215"/>
              <a:gd name="T83" fmla="*/ 460 h 460"/>
              <a:gd name="T84" fmla="*/ 105 w 215"/>
              <a:gd name="T85" fmla="*/ 458 h 460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15"/>
              <a:gd name="T130" fmla="*/ 0 h 460"/>
              <a:gd name="T131" fmla="*/ 215 w 215"/>
              <a:gd name="T132" fmla="*/ 460 h 460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15" h="460">
                <a:moveTo>
                  <a:pt x="105" y="458"/>
                </a:moveTo>
                <a:lnTo>
                  <a:pt x="124" y="455"/>
                </a:lnTo>
                <a:lnTo>
                  <a:pt x="140" y="448"/>
                </a:lnTo>
                <a:lnTo>
                  <a:pt x="157" y="434"/>
                </a:lnTo>
                <a:lnTo>
                  <a:pt x="171" y="416"/>
                </a:lnTo>
                <a:lnTo>
                  <a:pt x="185" y="392"/>
                </a:lnTo>
                <a:lnTo>
                  <a:pt x="194" y="364"/>
                </a:lnTo>
                <a:lnTo>
                  <a:pt x="203" y="336"/>
                </a:lnTo>
                <a:lnTo>
                  <a:pt x="210" y="303"/>
                </a:lnTo>
                <a:lnTo>
                  <a:pt x="215" y="266"/>
                </a:lnTo>
                <a:lnTo>
                  <a:pt x="215" y="229"/>
                </a:lnTo>
                <a:lnTo>
                  <a:pt x="215" y="194"/>
                </a:lnTo>
                <a:lnTo>
                  <a:pt x="210" y="156"/>
                </a:lnTo>
                <a:lnTo>
                  <a:pt x="203" y="124"/>
                </a:lnTo>
                <a:lnTo>
                  <a:pt x="194" y="93"/>
                </a:lnTo>
                <a:lnTo>
                  <a:pt x="185" y="68"/>
                </a:lnTo>
                <a:lnTo>
                  <a:pt x="171" y="44"/>
                </a:lnTo>
                <a:lnTo>
                  <a:pt x="157" y="26"/>
                </a:lnTo>
                <a:lnTo>
                  <a:pt x="140" y="12"/>
                </a:lnTo>
                <a:lnTo>
                  <a:pt x="124" y="2"/>
                </a:lnTo>
                <a:lnTo>
                  <a:pt x="108" y="0"/>
                </a:lnTo>
                <a:lnTo>
                  <a:pt x="89" y="2"/>
                </a:lnTo>
                <a:lnTo>
                  <a:pt x="73" y="12"/>
                </a:lnTo>
                <a:lnTo>
                  <a:pt x="59" y="26"/>
                </a:lnTo>
                <a:lnTo>
                  <a:pt x="45" y="44"/>
                </a:lnTo>
                <a:lnTo>
                  <a:pt x="31" y="68"/>
                </a:lnTo>
                <a:lnTo>
                  <a:pt x="21" y="93"/>
                </a:lnTo>
                <a:lnTo>
                  <a:pt x="12" y="124"/>
                </a:lnTo>
                <a:lnTo>
                  <a:pt x="5" y="156"/>
                </a:lnTo>
                <a:lnTo>
                  <a:pt x="0" y="194"/>
                </a:lnTo>
                <a:lnTo>
                  <a:pt x="0" y="229"/>
                </a:lnTo>
                <a:lnTo>
                  <a:pt x="0" y="266"/>
                </a:lnTo>
                <a:lnTo>
                  <a:pt x="5" y="303"/>
                </a:lnTo>
                <a:lnTo>
                  <a:pt x="12" y="336"/>
                </a:lnTo>
                <a:lnTo>
                  <a:pt x="21" y="364"/>
                </a:lnTo>
                <a:lnTo>
                  <a:pt x="31" y="392"/>
                </a:lnTo>
                <a:lnTo>
                  <a:pt x="45" y="416"/>
                </a:lnTo>
                <a:lnTo>
                  <a:pt x="59" y="434"/>
                </a:lnTo>
                <a:lnTo>
                  <a:pt x="73" y="448"/>
                </a:lnTo>
                <a:lnTo>
                  <a:pt x="89" y="455"/>
                </a:lnTo>
                <a:lnTo>
                  <a:pt x="108" y="460"/>
                </a:lnTo>
                <a:lnTo>
                  <a:pt x="105" y="45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6" name="Freeform 485"/>
          <p:cNvSpPr>
            <a:spLocks noChangeArrowheads="1"/>
          </p:cNvSpPr>
          <p:nvPr/>
        </p:nvSpPr>
        <p:spPr bwMode="auto">
          <a:xfrm>
            <a:off x="5926138" y="5237163"/>
            <a:ext cx="341313" cy="814387"/>
          </a:xfrm>
          <a:custGeom>
            <a:avLst/>
            <a:gdLst>
              <a:gd name="T0" fmla="*/ 105 w 215"/>
              <a:gd name="T1" fmla="*/ 458 h 460"/>
              <a:gd name="T2" fmla="*/ 124 w 215"/>
              <a:gd name="T3" fmla="*/ 455 h 460"/>
              <a:gd name="T4" fmla="*/ 140 w 215"/>
              <a:gd name="T5" fmla="*/ 448 h 460"/>
              <a:gd name="T6" fmla="*/ 157 w 215"/>
              <a:gd name="T7" fmla="*/ 434 h 460"/>
              <a:gd name="T8" fmla="*/ 171 w 215"/>
              <a:gd name="T9" fmla="*/ 416 h 460"/>
              <a:gd name="T10" fmla="*/ 185 w 215"/>
              <a:gd name="T11" fmla="*/ 392 h 460"/>
              <a:gd name="T12" fmla="*/ 194 w 215"/>
              <a:gd name="T13" fmla="*/ 364 h 460"/>
              <a:gd name="T14" fmla="*/ 203 w 215"/>
              <a:gd name="T15" fmla="*/ 336 h 460"/>
              <a:gd name="T16" fmla="*/ 210 w 215"/>
              <a:gd name="T17" fmla="*/ 303 h 460"/>
              <a:gd name="T18" fmla="*/ 215 w 215"/>
              <a:gd name="T19" fmla="*/ 266 h 460"/>
              <a:gd name="T20" fmla="*/ 215 w 215"/>
              <a:gd name="T21" fmla="*/ 229 h 460"/>
              <a:gd name="T22" fmla="*/ 215 w 215"/>
              <a:gd name="T23" fmla="*/ 194 h 460"/>
              <a:gd name="T24" fmla="*/ 210 w 215"/>
              <a:gd name="T25" fmla="*/ 156 h 460"/>
              <a:gd name="T26" fmla="*/ 203 w 215"/>
              <a:gd name="T27" fmla="*/ 124 h 460"/>
              <a:gd name="T28" fmla="*/ 194 w 215"/>
              <a:gd name="T29" fmla="*/ 93 h 460"/>
              <a:gd name="T30" fmla="*/ 185 w 215"/>
              <a:gd name="T31" fmla="*/ 68 h 460"/>
              <a:gd name="T32" fmla="*/ 171 w 215"/>
              <a:gd name="T33" fmla="*/ 44 h 460"/>
              <a:gd name="T34" fmla="*/ 157 w 215"/>
              <a:gd name="T35" fmla="*/ 26 h 460"/>
              <a:gd name="T36" fmla="*/ 140 w 215"/>
              <a:gd name="T37" fmla="*/ 12 h 460"/>
              <a:gd name="T38" fmla="*/ 124 w 215"/>
              <a:gd name="T39" fmla="*/ 2 h 460"/>
              <a:gd name="T40" fmla="*/ 108 w 215"/>
              <a:gd name="T41" fmla="*/ 0 h 460"/>
              <a:gd name="T42" fmla="*/ 89 w 215"/>
              <a:gd name="T43" fmla="*/ 2 h 460"/>
              <a:gd name="T44" fmla="*/ 73 w 215"/>
              <a:gd name="T45" fmla="*/ 12 h 460"/>
              <a:gd name="T46" fmla="*/ 59 w 215"/>
              <a:gd name="T47" fmla="*/ 26 h 460"/>
              <a:gd name="T48" fmla="*/ 45 w 215"/>
              <a:gd name="T49" fmla="*/ 44 h 460"/>
              <a:gd name="T50" fmla="*/ 31 w 215"/>
              <a:gd name="T51" fmla="*/ 68 h 460"/>
              <a:gd name="T52" fmla="*/ 21 w 215"/>
              <a:gd name="T53" fmla="*/ 93 h 460"/>
              <a:gd name="T54" fmla="*/ 12 w 215"/>
              <a:gd name="T55" fmla="*/ 124 h 460"/>
              <a:gd name="T56" fmla="*/ 5 w 215"/>
              <a:gd name="T57" fmla="*/ 156 h 460"/>
              <a:gd name="T58" fmla="*/ 0 w 215"/>
              <a:gd name="T59" fmla="*/ 194 h 460"/>
              <a:gd name="T60" fmla="*/ 0 w 215"/>
              <a:gd name="T61" fmla="*/ 229 h 460"/>
              <a:gd name="T62" fmla="*/ 0 w 215"/>
              <a:gd name="T63" fmla="*/ 266 h 460"/>
              <a:gd name="T64" fmla="*/ 5 w 215"/>
              <a:gd name="T65" fmla="*/ 303 h 460"/>
              <a:gd name="T66" fmla="*/ 12 w 215"/>
              <a:gd name="T67" fmla="*/ 336 h 460"/>
              <a:gd name="T68" fmla="*/ 21 w 215"/>
              <a:gd name="T69" fmla="*/ 364 h 460"/>
              <a:gd name="T70" fmla="*/ 31 w 215"/>
              <a:gd name="T71" fmla="*/ 392 h 460"/>
              <a:gd name="T72" fmla="*/ 45 w 215"/>
              <a:gd name="T73" fmla="*/ 416 h 460"/>
              <a:gd name="T74" fmla="*/ 59 w 215"/>
              <a:gd name="T75" fmla="*/ 434 h 460"/>
              <a:gd name="T76" fmla="*/ 73 w 215"/>
              <a:gd name="T77" fmla="*/ 448 h 460"/>
              <a:gd name="T78" fmla="*/ 89 w 215"/>
              <a:gd name="T79" fmla="*/ 455 h 460"/>
              <a:gd name="T80" fmla="*/ 108 w 215"/>
              <a:gd name="T81" fmla="*/ 460 h 460"/>
              <a:gd name="T82" fmla="*/ 108 w 215"/>
              <a:gd name="T83" fmla="*/ 460 h 460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15"/>
              <a:gd name="T127" fmla="*/ 0 h 460"/>
              <a:gd name="T128" fmla="*/ 215 w 215"/>
              <a:gd name="T129" fmla="*/ 460 h 460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15" h="460">
                <a:moveTo>
                  <a:pt x="105" y="458"/>
                </a:moveTo>
                <a:lnTo>
                  <a:pt x="124" y="455"/>
                </a:lnTo>
                <a:lnTo>
                  <a:pt x="140" y="448"/>
                </a:lnTo>
                <a:lnTo>
                  <a:pt x="157" y="434"/>
                </a:lnTo>
                <a:lnTo>
                  <a:pt x="171" y="416"/>
                </a:lnTo>
                <a:lnTo>
                  <a:pt x="185" y="392"/>
                </a:lnTo>
                <a:lnTo>
                  <a:pt x="194" y="364"/>
                </a:lnTo>
                <a:lnTo>
                  <a:pt x="203" y="336"/>
                </a:lnTo>
                <a:lnTo>
                  <a:pt x="210" y="303"/>
                </a:lnTo>
                <a:lnTo>
                  <a:pt x="215" y="266"/>
                </a:lnTo>
                <a:lnTo>
                  <a:pt x="215" y="229"/>
                </a:lnTo>
                <a:lnTo>
                  <a:pt x="215" y="194"/>
                </a:lnTo>
                <a:lnTo>
                  <a:pt x="210" y="156"/>
                </a:lnTo>
                <a:lnTo>
                  <a:pt x="203" y="124"/>
                </a:lnTo>
                <a:lnTo>
                  <a:pt x="194" y="93"/>
                </a:lnTo>
                <a:lnTo>
                  <a:pt x="185" y="68"/>
                </a:lnTo>
                <a:lnTo>
                  <a:pt x="171" y="44"/>
                </a:lnTo>
                <a:lnTo>
                  <a:pt x="157" y="26"/>
                </a:lnTo>
                <a:lnTo>
                  <a:pt x="140" y="12"/>
                </a:lnTo>
                <a:lnTo>
                  <a:pt x="124" y="2"/>
                </a:lnTo>
                <a:lnTo>
                  <a:pt x="108" y="0"/>
                </a:lnTo>
                <a:lnTo>
                  <a:pt x="89" y="2"/>
                </a:lnTo>
                <a:lnTo>
                  <a:pt x="73" y="12"/>
                </a:lnTo>
                <a:lnTo>
                  <a:pt x="59" y="26"/>
                </a:lnTo>
                <a:lnTo>
                  <a:pt x="45" y="44"/>
                </a:lnTo>
                <a:lnTo>
                  <a:pt x="31" y="68"/>
                </a:lnTo>
                <a:lnTo>
                  <a:pt x="21" y="93"/>
                </a:lnTo>
                <a:lnTo>
                  <a:pt x="12" y="124"/>
                </a:lnTo>
                <a:lnTo>
                  <a:pt x="5" y="156"/>
                </a:lnTo>
                <a:lnTo>
                  <a:pt x="0" y="194"/>
                </a:lnTo>
                <a:lnTo>
                  <a:pt x="0" y="229"/>
                </a:lnTo>
                <a:lnTo>
                  <a:pt x="0" y="266"/>
                </a:lnTo>
                <a:lnTo>
                  <a:pt x="5" y="303"/>
                </a:lnTo>
                <a:lnTo>
                  <a:pt x="12" y="336"/>
                </a:lnTo>
                <a:lnTo>
                  <a:pt x="21" y="364"/>
                </a:lnTo>
                <a:lnTo>
                  <a:pt x="31" y="392"/>
                </a:lnTo>
                <a:lnTo>
                  <a:pt x="45" y="416"/>
                </a:lnTo>
                <a:lnTo>
                  <a:pt x="59" y="434"/>
                </a:lnTo>
                <a:lnTo>
                  <a:pt x="73" y="448"/>
                </a:lnTo>
                <a:lnTo>
                  <a:pt x="89" y="455"/>
                </a:lnTo>
                <a:lnTo>
                  <a:pt x="108" y="460"/>
                </a:lnTo>
              </a:path>
            </a:pathLst>
          </a:custGeom>
          <a:noFill/>
          <a:ln w="1116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87" name="Rectangle 486"/>
          <p:cNvSpPr>
            <a:spLocks noChangeArrowheads="1"/>
          </p:cNvSpPr>
          <p:nvPr/>
        </p:nvSpPr>
        <p:spPr bwMode="auto">
          <a:xfrm>
            <a:off x="6003926" y="5526088"/>
            <a:ext cx="603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488" name="Rectangle 487"/>
          <p:cNvSpPr>
            <a:spLocks noChangeArrowheads="1"/>
          </p:cNvSpPr>
          <p:nvPr/>
        </p:nvSpPr>
        <p:spPr bwMode="auto">
          <a:xfrm>
            <a:off x="6067426" y="5526088"/>
            <a:ext cx="206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489" name="Rectangle 488"/>
          <p:cNvSpPr>
            <a:spLocks noChangeArrowheads="1"/>
          </p:cNvSpPr>
          <p:nvPr/>
        </p:nvSpPr>
        <p:spPr bwMode="auto">
          <a:xfrm>
            <a:off x="6086476" y="552608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g</a:t>
            </a:r>
          </a:p>
        </p:txBody>
      </p:sp>
      <p:sp>
        <p:nvSpPr>
          <p:cNvPr id="490" name="Rectangle 489"/>
          <p:cNvSpPr>
            <a:spLocks noChangeArrowheads="1"/>
          </p:cNvSpPr>
          <p:nvPr/>
        </p:nvSpPr>
        <p:spPr bwMode="auto">
          <a:xfrm>
            <a:off x="6137276" y="552608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491" name="Rectangle 490"/>
          <p:cNvSpPr>
            <a:spLocks noChangeArrowheads="1"/>
          </p:cNvSpPr>
          <p:nvPr/>
        </p:nvSpPr>
        <p:spPr bwMode="auto">
          <a:xfrm>
            <a:off x="6189663" y="5526088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92" name="Rectangle 491"/>
          <p:cNvSpPr>
            <a:spLocks noChangeArrowheads="1"/>
          </p:cNvSpPr>
          <p:nvPr/>
        </p:nvSpPr>
        <p:spPr bwMode="auto">
          <a:xfrm>
            <a:off x="5953126" y="564038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493" name="Rectangle 492"/>
          <p:cNvSpPr>
            <a:spLocks noChangeArrowheads="1"/>
          </p:cNvSpPr>
          <p:nvPr/>
        </p:nvSpPr>
        <p:spPr bwMode="auto">
          <a:xfrm>
            <a:off x="6003926" y="5640388"/>
            <a:ext cx="4445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x</a:t>
            </a:r>
          </a:p>
        </p:txBody>
      </p:sp>
      <p:sp>
        <p:nvSpPr>
          <p:cNvPr id="494" name="Rectangle 493"/>
          <p:cNvSpPr>
            <a:spLocks noChangeArrowheads="1"/>
          </p:cNvSpPr>
          <p:nvPr/>
        </p:nvSpPr>
        <p:spPr bwMode="auto">
          <a:xfrm>
            <a:off x="6048376" y="5640388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495" name="Rectangle 494"/>
          <p:cNvSpPr>
            <a:spLocks noChangeArrowheads="1"/>
          </p:cNvSpPr>
          <p:nvPr/>
        </p:nvSpPr>
        <p:spPr bwMode="auto">
          <a:xfrm>
            <a:off x="6075363" y="564038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496" name="Rectangle 495"/>
          <p:cNvSpPr>
            <a:spLocks noChangeArrowheads="1"/>
          </p:cNvSpPr>
          <p:nvPr/>
        </p:nvSpPr>
        <p:spPr bwMode="auto">
          <a:xfrm>
            <a:off x="6126163" y="564038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497" name="Rectangle 496"/>
          <p:cNvSpPr>
            <a:spLocks noChangeArrowheads="1"/>
          </p:cNvSpPr>
          <p:nvPr/>
        </p:nvSpPr>
        <p:spPr bwMode="auto">
          <a:xfrm>
            <a:off x="6178551" y="564038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498" name="Rectangle 497"/>
          <p:cNvSpPr>
            <a:spLocks noChangeArrowheads="1"/>
          </p:cNvSpPr>
          <p:nvPr/>
        </p:nvSpPr>
        <p:spPr bwMode="auto">
          <a:xfrm>
            <a:off x="5711826" y="544353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499" name="Rectangle 498"/>
          <p:cNvSpPr>
            <a:spLocks noChangeArrowheads="1"/>
          </p:cNvSpPr>
          <p:nvPr/>
        </p:nvSpPr>
        <p:spPr bwMode="auto">
          <a:xfrm>
            <a:off x="5762626" y="544353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6</a:t>
            </a:r>
          </a:p>
        </p:txBody>
      </p:sp>
      <p:sp>
        <p:nvSpPr>
          <p:cNvPr id="500" name="Line 499"/>
          <p:cNvSpPr>
            <a:spLocks noChangeShapeType="1"/>
          </p:cNvSpPr>
          <p:nvPr/>
        </p:nvSpPr>
        <p:spPr bwMode="auto">
          <a:xfrm flipH="1" flipV="1">
            <a:off x="6332538" y="5573713"/>
            <a:ext cx="69850" cy="136525"/>
          </a:xfrm>
          <a:prstGeom prst="line">
            <a:avLst/>
          </a:prstGeom>
          <a:noFill/>
          <a:ln w="1116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1" name="Rectangle 500"/>
          <p:cNvSpPr>
            <a:spLocks noChangeArrowheads="1"/>
          </p:cNvSpPr>
          <p:nvPr/>
        </p:nvSpPr>
        <p:spPr bwMode="auto">
          <a:xfrm>
            <a:off x="6311901" y="544353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3</a:t>
            </a:r>
          </a:p>
        </p:txBody>
      </p:sp>
      <p:sp>
        <p:nvSpPr>
          <p:cNvPr id="502" name="Rectangle 501"/>
          <p:cNvSpPr>
            <a:spLocks noChangeArrowheads="1"/>
          </p:cNvSpPr>
          <p:nvPr/>
        </p:nvSpPr>
        <p:spPr bwMode="auto">
          <a:xfrm>
            <a:off x="6364288" y="544353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503" name="Rectangle 502"/>
          <p:cNvSpPr>
            <a:spLocks noChangeArrowheads="1"/>
          </p:cNvSpPr>
          <p:nvPr/>
        </p:nvSpPr>
        <p:spPr bwMode="auto">
          <a:xfrm>
            <a:off x="3886201" y="5497513"/>
            <a:ext cx="238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504" name="Rectangle 503"/>
          <p:cNvSpPr>
            <a:spLocks noChangeArrowheads="1"/>
          </p:cNvSpPr>
          <p:nvPr/>
        </p:nvSpPr>
        <p:spPr bwMode="auto">
          <a:xfrm>
            <a:off x="3911601" y="549751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505" name="Rectangle 504"/>
          <p:cNvSpPr>
            <a:spLocks noChangeArrowheads="1"/>
          </p:cNvSpPr>
          <p:nvPr/>
        </p:nvSpPr>
        <p:spPr bwMode="auto">
          <a:xfrm>
            <a:off x="3959226" y="5497513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506" name="Rectangle 505"/>
          <p:cNvSpPr>
            <a:spLocks noChangeArrowheads="1"/>
          </p:cNvSpPr>
          <p:nvPr/>
        </p:nvSpPr>
        <p:spPr bwMode="auto">
          <a:xfrm>
            <a:off x="4006851" y="549751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507" name="Rectangle 506"/>
          <p:cNvSpPr>
            <a:spLocks noChangeArrowheads="1"/>
          </p:cNvSpPr>
          <p:nvPr/>
        </p:nvSpPr>
        <p:spPr bwMode="auto">
          <a:xfrm>
            <a:off x="4029076" y="5497513"/>
            <a:ext cx="3016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08" name="Rectangle 507"/>
          <p:cNvSpPr>
            <a:spLocks noChangeArrowheads="1"/>
          </p:cNvSpPr>
          <p:nvPr/>
        </p:nvSpPr>
        <p:spPr bwMode="auto">
          <a:xfrm>
            <a:off x="4062413" y="549751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509" name="Rectangle 508"/>
          <p:cNvSpPr>
            <a:spLocks noChangeArrowheads="1"/>
          </p:cNvSpPr>
          <p:nvPr/>
        </p:nvSpPr>
        <p:spPr bwMode="auto">
          <a:xfrm>
            <a:off x="4111626" y="5497513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510" name="Rectangle 509"/>
          <p:cNvSpPr>
            <a:spLocks noChangeArrowheads="1"/>
          </p:cNvSpPr>
          <p:nvPr/>
        </p:nvSpPr>
        <p:spPr bwMode="auto">
          <a:xfrm>
            <a:off x="4159251" y="549751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511" name="Rectangle 510"/>
          <p:cNvSpPr>
            <a:spLocks noChangeArrowheads="1"/>
          </p:cNvSpPr>
          <p:nvPr/>
        </p:nvSpPr>
        <p:spPr bwMode="auto">
          <a:xfrm>
            <a:off x="4184651" y="5497513"/>
            <a:ext cx="206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512" name="Rectangle 511"/>
          <p:cNvSpPr>
            <a:spLocks noChangeArrowheads="1"/>
          </p:cNvSpPr>
          <p:nvPr/>
        </p:nvSpPr>
        <p:spPr bwMode="auto">
          <a:xfrm>
            <a:off x="4203701" y="549751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513" name="Rectangle 512"/>
          <p:cNvSpPr>
            <a:spLocks noChangeArrowheads="1"/>
          </p:cNvSpPr>
          <p:nvPr/>
        </p:nvSpPr>
        <p:spPr bwMode="auto">
          <a:xfrm>
            <a:off x="4256088" y="549751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514" name="Rectangle 513"/>
          <p:cNvSpPr>
            <a:spLocks noChangeArrowheads="1"/>
          </p:cNvSpPr>
          <p:nvPr/>
        </p:nvSpPr>
        <p:spPr bwMode="auto">
          <a:xfrm>
            <a:off x="4303713" y="549751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700">
                <a:solidFill>
                  <a:srgbClr val="666666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515" name="Rectangle 514"/>
          <p:cNvSpPr>
            <a:spLocks noChangeArrowheads="1"/>
          </p:cNvSpPr>
          <p:nvPr/>
        </p:nvSpPr>
        <p:spPr bwMode="auto">
          <a:xfrm>
            <a:off x="4329113" y="549751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[</a:t>
            </a:r>
          </a:p>
        </p:txBody>
      </p:sp>
      <p:sp>
        <p:nvSpPr>
          <p:cNvPr id="516" name="Rectangle 515"/>
          <p:cNvSpPr>
            <a:spLocks noChangeArrowheads="1"/>
          </p:cNvSpPr>
          <p:nvPr/>
        </p:nvSpPr>
        <p:spPr bwMode="auto">
          <a:xfrm>
            <a:off x="4356101" y="549751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517" name="Rectangle 516"/>
          <p:cNvSpPr>
            <a:spLocks noChangeArrowheads="1"/>
          </p:cNvSpPr>
          <p:nvPr/>
        </p:nvSpPr>
        <p:spPr bwMode="auto">
          <a:xfrm>
            <a:off x="4406901" y="549751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5</a:t>
            </a:r>
          </a:p>
        </p:txBody>
      </p:sp>
      <p:sp>
        <p:nvSpPr>
          <p:cNvPr id="518" name="Rectangle 517"/>
          <p:cNvSpPr>
            <a:spLocks noChangeArrowheads="1"/>
          </p:cNvSpPr>
          <p:nvPr/>
        </p:nvSpPr>
        <p:spPr bwMode="auto">
          <a:xfrm>
            <a:off x="4459288" y="549751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–</a:t>
            </a:r>
          </a:p>
        </p:txBody>
      </p:sp>
      <p:sp>
        <p:nvSpPr>
          <p:cNvPr id="519" name="Rectangle 518"/>
          <p:cNvSpPr>
            <a:spLocks noChangeArrowheads="1"/>
          </p:cNvSpPr>
          <p:nvPr/>
        </p:nvSpPr>
        <p:spPr bwMode="auto">
          <a:xfrm>
            <a:off x="4525963" y="549751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0</a:t>
            </a:r>
          </a:p>
        </p:txBody>
      </p:sp>
      <p:sp>
        <p:nvSpPr>
          <p:cNvPr id="520" name="Rectangle 519"/>
          <p:cNvSpPr>
            <a:spLocks noChangeArrowheads="1"/>
          </p:cNvSpPr>
          <p:nvPr/>
        </p:nvSpPr>
        <p:spPr bwMode="auto">
          <a:xfrm>
            <a:off x="4578351" y="549751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]</a:t>
            </a:r>
          </a:p>
        </p:txBody>
      </p:sp>
      <p:sp>
        <p:nvSpPr>
          <p:cNvPr id="521" name="Freeform 520"/>
          <p:cNvSpPr>
            <a:spLocks noChangeArrowheads="1"/>
          </p:cNvSpPr>
          <p:nvPr/>
        </p:nvSpPr>
        <p:spPr bwMode="auto">
          <a:xfrm>
            <a:off x="7142163" y="2000250"/>
            <a:ext cx="44450" cy="52388"/>
          </a:xfrm>
          <a:custGeom>
            <a:avLst/>
            <a:gdLst>
              <a:gd name="T0" fmla="*/ 0 w 28"/>
              <a:gd name="T1" fmla="*/ 0 h 30"/>
              <a:gd name="T2" fmla="*/ 0 w 28"/>
              <a:gd name="T3" fmla="*/ 30 h 30"/>
              <a:gd name="T4" fmla="*/ 28 w 28"/>
              <a:gd name="T5" fmla="*/ 16 h 30"/>
              <a:gd name="T6" fmla="*/ 0 w 28"/>
              <a:gd name="T7" fmla="*/ 2 h 30"/>
              <a:gd name="T8" fmla="*/ 0 w 28"/>
              <a:gd name="T9" fmla="*/ 2 h 30"/>
              <a:gd name="T10" fmla="*/ 0 w 28"/>
              <a:gd name="T11" fmla="*/ 0 h 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"/>
              <a:gd name="T19" fmla="*/ 0 h 30"/>
              <a:gd name="T20" fmla="*/ 28 w 28"/>
              <a:gd name="T21" fmla="*/ 30 h 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" h="30">
                <a:moveTo>
                  <a:pt x="0" y="0"/>
                </a:moveTo>
                <a:lnTo>
                  <a:pt x="0" y="30"/>
                </a:lnTo>
                <a:lnTo>
                  <a:pt x="28" y="16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2" name="Freeform 521"/>
          <p:cNvSpPr>
            <a:spLocks noChangeArrowheads="1"/>
          </p:cNvSpPr>
          <p:nvPr/>
        </p:nvSpPr>
        <p:spPr bwMode="auto">
          <a:xfrm>
            <a:off x="7142163" y="2609850"/>
            <a:ext cx="44450" cy="53975"/>
          </a:xfrm>
          <a:custGeom>
            <a:avLst/>
            <a:gdLst>
              <a:gd name="T0" fmla="*/ 0 w 28"/>
              <a:gd name="T1" fmla="*/ 0 h 30"/>
              <a:gd name="T2" fmla="*/ 0 w 28"/>
              <a:gd name="T3" fmla="*/ 30 h 30"/>
              <a:gd name="T4" fmla="*/ 28 w 28"/>
              <a:gd name="T5" fmla="*/ 16 h 30"/>
              <a:gd name="T6" fmla="*/ 0 w 28"/>
              <a:gd name="T7" fmla="*/ 2 h 30"/>
              <a:gd name="T8" fmla="*/ 0 w 28"/>
              <a:gd name="T9" fmla="*/ 2 h 30"/>
              <a:gd name="T10" fmla="*/ 0 w 28"/>
              <a:gd name="T11" fmla="*/ 0 h 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28"/>
              <a:gd name="T19" fmla="*/ 0 h 30"/>
              <a:gd name="T20" fmla="*/ 28 w 28"/>
              <a:gd name="T21" fmla="*/ 30 h 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8" h="30">
                <a:moveTo>
                  <a:pt x="0" y="0"/>
                </a:moveTo>
                <a:lnTo>
                  <a:pt x="0" y="30"/>
                </a:lnTo>
                <a:lnTo>
                  <a:pt x="28" y="16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3" name="Line 522"/>
          <p:cNvSpPr>
            <a:spLocks noChangeShapeType="1"/>
          </p:cNvSpPr>
          <p:nvPr/>
        </p:nvSpPr>
        <p:spPr bwMode="auto">
          <a:xfrm flipH="1">
            <a:off x="7054851" y="2635250"/>
            <a:ext cx="100012" cy="3175"/>
          </a:xfrm>
          <a:prstGeom prst="line">
            <a:avLst/>
          </a:prstGeom>
          <a:noFill/>
          <a:ln w="1908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24" name="Rectangle 523"/>
          <p:cNvSpPr>
            <a:spLocks noChangeArrowheads="1"/>
          </p:cNvSpPr>
          <p:nvPr/>
        </p:nvSpPr>
        <p:spPr bwMode="auto">
          <a:xfrm>
            <a:off x="9061451" y="1697038"/>
            <a:ext cx="57150" cy="122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FFFFF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800" b="1">
                <a:solidFill>
                  <a:srgbClr val="FFFFFF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525" name="Freeform 524"/>
          <p:cNvSpPr>
            <a:spLocks noChangeArrowheads="1"/>
          </p:cNvSpPr>
          <p:nvPr/>
        </p:nvSpPr>
        <p:spPr bwMode="auto">
          <a:xfrm>
            <a:off x="9372601" y="4600575"/>
            <a:ext cx="169862" cy="649288"/>
          </a:xfrm>
          <a:custGeom>
            <a:avLst/>
            <a:gdLst>
              <a:gd name="T0" fmla="*/ 0 w 107"/>
              <a:gd name="T1" fmla="*/ 54 h 367"/>
              <a:gd name="T2" fmla="*/ 0 w 107"/>
              <a:gd name="T3" fmla="*/ 45 h 367"/>
              <a:gd name="T4" fmla="*/ 2 w 107"/>
              <a:gd name="T5" fmla="*/ 38 h 367"/>
              <a:gd name="T6" fmla="*/ 7 w 107"/>
              <a:gd name="T7" fmla="*/ 28 h 367"/>
              <a:gd name="T8" fmla="*/ 11 w 107"/>
              <a:gd name="T9" fmla="*/ 21 h 367"/>
              <a:gd name="T10" fmla="*/ 16 w 107"/>
              <a:gd name="T11" fmla="*/ 17 h 367"/>
              <a:gd name="T12" fmla="*/ 23 w 107"/>
              <a:gd name="T13" fmla="*/ 10 h 367"/>
              <a:gd name="T14" fmla="*/ 30 w 107"/>
              <a:gd name="T15" fmla="*/ 7 h 367"/>
              <a:gd name="T16" fmla="*/ 37 w 107"/>
              <a:gd name="T17" fmla="*/ 3 h 367"/>
              <a:gd name="T18" fmla="*/ 44 w 107"/>
              <a:gd name="T19" fmla="*/ 0 h 367"/>
              <a:gd name="T20" fmla="*/ 53 w 107"/>
              <a:gd name="T21" fmla="*/ 0 h 367"/>
              <a:gd name="T22" fmla="*/ 63 w 107"/>
              <a:gd name="T23" fmla="*/ 0 h 367"/>
              <a:gd name="T24" fmla="*/ 70 w 107"/>
              <a:gd name="T25" fmla="*/ 3 h 367"/>
              <a:gd name="T26" fmla="*/ 79 w 107"/>
              <a:gd name="T27" fmla="*/ 7 h 367"/>
              <a:gd name="T28" fmla="*/ 86 w 107"/>
              <a:gd name="T29" fmla="*/ 10 h 367"/>
              <a:gd name="T30" fmla="*/ 91 w 107"/>
              <a:gd name="T31" fmla="*/ 17 h 367"/>
              <a:gd name="T32" fmla="*/ 98 w 107"/>
              <a:gd name="T33" fmla="*/ 21 h 367"/>
              <a:gd name="T34" fmla="*/ 102 w 107"/>
              <a:gd name="T35" fmla="*/ 28 h 367"/>
              <a:gd name="T36" fmla="*/ 105 w 107"/>
              <a:gd name="T37" fmla="*/ 38 h 367"/>
              <a:gd name="T38" fmla="*/ 107 w 107"/>
              <a:gd name="T39" fmla="*/ 45 h 367"/>
              <a:gd name="T40" fmla="*/ 107 w 107"/>
              <a:gd name="T41" fmla="*/ 54 h 367"/>
              <a:gd name="T42" fmla="*/ 107 w 107"/>
              <a:gd name="T43" fmla="*/ 313 h 367"/>
              <a:gd name="T44" fmla="*/ 107 w 107"/>
              <a:gd name="T45" fmla="*/ 320 h 367"/>
              <a:gd name="T46" fmla="*/ 105 w 107"/>
              <a:gd name="T47" fmla="*/ 330 h 367"/>
              <a:gd name="T48" fmla="*/ 102 w 107"/>
              <a:gd name="T49" fmla="*/ 337 h 367"/>
              <a:gd name="T50" fmla="*/ 98 w 107"/>
              <a:gd name="T51" fmla="*/ 344 h 367"/>
              <a:gd name="T52" fmla="*/ 91 w 107"/>
              <a:gd name="T53" fmla="*/ 351 h 367"/>
              <a:gd name="T54" fmla="*/ 86 w 107"/>
              <a:gd name="T55" fmla="*/ 355 h 367"/>
              <a:gd name="T56" fmla="*/ 79 w 107"/>
              <a:gd name="T57" fmla="*/ 360 h 367"/>
              <a:gd name="T58" fmla="*/ 70 w 107"/>
              <a:gd name="T59" fmla="*/ 365 h 367"/>
              <a:gd name="T60" fmla="*/ 63 w 107"/>
              <a:gd name="T61" fmla="*/ 365 h 367"/>
              <a:gd name="T62" fmla="*/ 53 w 107"/>
              <a:gd name="T63" fmla="*/ 367 h 367"/>
              <a:gd name="T64" fmla="*/ 44 w 107"/>
              <a:gd name="T65" fmla="*/ 365 h 367"/>
              <a:gd name="T66" fmla="*/ 37 w 107"/>
              <a:gd name="T67" fmla="*/ 365 h 367"/>
              <a:gd name="T68" fmla="*/ 30 w 107"/>
              <a:gd name="T69" fmla="*/ 360 h 367"/>
              <a:gd name="T70" fmla="*/ 23 w 107"/>
              <a:gd name="T71" fmla="*/ 355 h 367"/>
              <a:gd name="T72" fmla="*/ 16 w 107"/>
              <a:gd name="T73" fmla="*/ 351 h 367"/>
              <a:gd name="T74" fmla="*/ 11 w 107"/>
              <a:gd name="T75" fmla="*/ 344 h 367"/>
              <a:gd name="T76" fmla="*/ 7 w 107"/>
              <a:gd name="T77" fmla="*/ 337 h 367"/>
              <a:gd name="T78" fmla="*/ 2 w 107"/>
              <a:gd name="T79" fmla="*/ 330 h 367"/>
              <a:gd name="T80" fmla="*/ 0 w 107"/>
              <a:gd name="T81" fmla="*/ 320 h 367"/>
              <a:gd name="T82" fmla="*/ 0 w 107"/>
              <a:gd name="T83" fmla="*/ 313 h 367"/>
              <a:gd name="T84" fmla="*/ 0 w 107"/>
              <a:gd name="T85" fmla="*/ 54 h 367"/>
              <a:gd name="T86" fmla="*/ 0 w 107"/>
              <a:gd name="T87" fmla="*/ 54 h 367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07"/>
              <a:gd name="T133" fmla="*/ 0 h 367"/>
              <a:gd name="T134" fmla="*/ 107 w 107"/>
              <a:gd name="T135" fmla="*/ 367 h 367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07" h="367">
                <a:moveTo>
                  <a:pt x="0" y="54"/>
                </a:moveTo>
                <a:lnTo>
                  <a:pt x="0" y="45"/>
                </a:lnTo>
                <a:lnTo>
                  <a:pt x="2" y="38"/>
                </a:lnTo>
                <a:lnTo>
                  <a:pt x="7" y="28"/>
                </a:lnTo>
                <a:lnTo>
                  <a:pt x="11" y="21"/>
                </a:lnTo>
                <a:lnTo>
                  <a:pt x="16" y="17"/>
                </a:lnTo>
                <a:lnTo>
                  <a:pt x="23" y="10"/>
                </a:lnTo>
                <a:lnTo>
                  <a:pt x="30" y="7"/>
                </a:lnTo>
                <a:lnTo>
                  <a:pt x="37" y="3"/>
                </a:lnTo>
                <a:lnTo>
                  <a:pt x="44" y="0"/>
                </a:lnTo>
                <a:lnTo>
                  <a:pt x="53" y="0"/>
                </a:lnTo>
                <a:lnTo>
                  <a:pt x="63" y="0"/>
                </a:lnTo>
                <a:lnTo>
                  <a:pt x="70" y="3"/>
                </a:lnTo>
                <a:lnTo>
                  <a:pt x="79" y="7"/>
                </a:lnTo>
                <a:lnTo>
                  <a:pt x="86" y="10"/>
                </a:lnTo>
                <a:lnTo>
                  <a:pt x="91" y="17"/>
                </a:lnTo>
                <a:lnTo>
                  <a:pt x="98" y="21"/>
                </a:lnTo>
                <a:lnTo>
                  <a:pt x="102" y="28"/>
                </a:lnTo>
                <a:lnTo>
                  <a:pt x="105" y="38"/>
                </a:lnTo>
                <a:lnTo>
                  <a:pt x="107" y="45"/>
                </a:lnTo>
                <a:lnTo>
                  <a:pt x="107" y="54"/>
                </a:lnTo>
                <a:lnTo>
                  <a:pt x="107" y="313"/>
                </a:lnTo>
                <a:lnTo>
                  <a:pt x="107" y="320"/>
                </a:lnTo>
                <a:lnTo>
                  <a:pt x="105" y="330"/>
                </a:lnTo>
                <a:lnTo>
                  <a:pt x="102" y="337"/>
                </a:lnTo>
                <a:lnTo>
                  <a:pt x="98" y="344"/>
                </a:lnTo>
                <a:lnTo>
                  <a:pt x="91" y="351"/>
                </a:lnTo>
                <a:lnTo>
                  <a:pt x="86" y="355"/>
                </a:lnTo>
                <a:lnTo>
                  <a:pt x="79" y="360"/>
                </a:lnTo>
                <a:lnTo>
                  <a:pt x="70" y="365"/>
                </a:lnTo>
                <a:lnTo>
                  <a:pt x="63" y="365"/>
                </a:lnTo>
                <a:lnTo>
                  <a:pt x="53" y="367"/>
                </a:lnTo>
                <a:lnTo>
                  <a:pt x="44" y="365"/>
                </a:lnTo>
                <a:lnTo>
                  <a:pt x="37" y="365"/>
                </a:lnTo>
                <a:lnTo>
                  <a:pt x="30" y="360"/>
                </a:lnTo>
                <a:lnTo>
                  <a:pt x="23" y="355"/>
                </a:lnTo>
                <a:lnTo>
                  <a:pt x="16" y="351"/>
                </a:lnTo>
                <a:lnTo>
                  <a:pt x="11" y="344"/>
                </a:lnTo>
                <a:lnTo>
                  <a:pt x="7" y="337"/>
                </a:lnTo>
                <a:lnTo>
                  <a:pt x="2" y="330"/>
                </a:lnTo>
                <a:lnTo>
                  <a:pt x="0" y="320"/>
                </a:lnTo>
                <a:lnTo>
                  <a:pt x="0" y="313"/>
                </a:lnTo>
                <a:lnTo>
                  <a:pt x="0" y="5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6" name="Freeform 525"/>
          <p:cNvSpPr>
            <a:spLocks noChangeArrowheads="1"/>
          </p:cNvSpPr>
          <p:nvPr/>
        </p:nvSpPr>
        <p:spPr bwMode="auto">
          <a:xfrm>
            <a:off x="9372601" y="4600575"/>
            <a:ext cx="169862" cy="649288"/>
          </a:xfrm>
          <a:custGeom>
            <a:avLst/>
            <a:gdLst>
              <a:gd name="T0" fmla="*/ 0 w 107"/>
              <a:gd name="T1" fmla="*/ 54 h 367"/>
              <a:gd name="T2" fmla="*/ 0 w 107"/>
              <a:gd name="T3" fmla="*/ 45 h 367"/>
              <a:gd name="T4" fmla="*/ 2 w 107"/>
              <a:gd name="T5" fmla="*/ 38 h 367"/>
              <a:gd name="T6" fmla="*/ 7 w 107"/>
              <a:gd name="T7" fmla="*/ 28 h 367"/>
              <a:gd name="T8" fmla="*/ 11 w 107"/>
              <a:gd name="T9" fmla="*/ 21 h 367"/>
              <a:gd name="T10" fmla="*/ 16 w 107"/>
              <a:gd name="T11" fmla="*/ 17 h 367"/>
              <a:gd name="T12" fmla="*/ 23 w 107"/>
              <a:gd name="T13" fmla="*/ 10 h 367"/>
              <a:gd name="T14" fmla="*/ 30 w 107"/>
              <a:gd name="T15" fmla="*/ 7 h 367"/>
              <a:gd name="T16" fmla="*/ 37 w 107"/>
              <a:gd name="T17" fmla="*/ 3 h 367"/>
              <a:gd name="T18" fmla="*/ 44 w 107"/>
              <a:gd name="T19" fmla="*/ 0 h 367"/>
              <a:gd name="T20" fmla="*/ 53 w 107"/>
              <a:gd name="T21" fmla="*/ 0 h 367"/>
              <a:gd name="T22" fmla="*/ 63 w 107"/>
              <a:gd name="T23" fmla="*/ 0 h 367"/>
              <a:gd name="T24" fmla="*/ 70 w 107"/>
              <a:gd name="T25" fmla="*/ 3 h 367"/>
              <a:gd name="T26" fmla="*/ 79 w 107"/>
              <a:gd name="T27" fmla="*/ 7 h 367"/>
              <a:gd name="T28" fmla="*/ 86 w 107"/>
              <a:gd name="T29" fmla="*/ 10 h 367"/>
              <a:gd name="T30" fmla="*/ 91 w 107"/>
              <a:gd name="T31" fmla="*/ 17 h 367"/>
              <a:gd name="T32" fmla="*/ 98 w 107"/>
              <a:gd name="T33" fmla="*/ 21 h 367"/>
              <a:gd name="T34" fmla="*/ 102 w 107"/>
              <a:gd name="T35" fmla="*/ 28 h 367"/>
              <a:gd name="T36" fmla="*/ 105 w 107"/>
              <a:gd name="T37" fmla="*/ 38 h 367"/>
              <a:gd name="T38" fmla="*/ 107 w 107"/>
              <a:gd name="T39" fmla="*/ 45 h 367"/>
              <a:gd name="T40" fmla="*/ 107 w 107"/>
              <a:gd name="T41" fmla="*/ 54 h 367"/>
              <a:gd name="T42" fmla="*/ 107 w 107"/>
              <a:gd name="T43" fmla="*/ 313 h 367"/>
              <a:gd name="T44" fmla="*/ 107 w 107"/>
              <a:gd name="T45" fmla="*/ 320 h 367"/>
              <a:gd name="T46" fmla="*/ 105 w 107"/>
              <a:gd name="T47" fmla="*/ 330 h 367"/>
              <a:gd name="T48" fmla="*/ 102 w 107"/>
              <a:gd name="T49" fmla="*/ 337 h 367"/>
              <a:gd name="T50" fmla="*/ 98 w 107"/>
              <a:gd name="T51" fmla="*/ 344 h 367"/>
              <a:gd name="T52" fmla="*/ 91 w 107"/>
              <a:gd name="T53" fmla="*/ 351 h 367"/>
              <a:gd name="T54" fmla="*/ 86 w 107"/>
              <a:gd name="T55" fmla="*/ 355 h 367"/>
              <a:gd name="T56" fmla="*/ 79 w 107"/>
              <a:gd name="T57" fmla="*/ 360 h 367"/>
              <a:gd name="T58" fmla="*/ 70 w 107"/>
              <a:gd name="T59" fmla="*/ 365 h 367"/>
              <a:gd name="T60" fmla="*/ 63 w 107"/>
              <a:gd name="T61" fmla="*/ 365 h 367"/>
              <a:gd name="T62" fmla="*/ 53 w 107"/>
              <a:gd name="T63" fmla="*/ 367 h 367"/>
              <a:gd name="T64" fmla="*/ 44 w 107"/>
              <a:gd name="T65" fmla="*/ 365 h 367"/>
              <a:gd name="T66" fmla="*/ 37 w 107"/>
              <a:gd name="T67" fmla="*/ 365 h 367"/>
              <a:gd name="T68" fmla="*/ 30 w 107"/>
              <a:gd name="T69" fmla="*/ 360 h 367"/>
              <a:gd name="T70" fmla="*/ 23 w 107"/>
              <a:gd name="T71" fmla="*/ 355 h 367"/>
              <a:gd name="T72" fmla="*/ 16 w 107"/>
              <a:gd name="T73" fmla="*/ 351 h 367"/>
              <a:gd name="T74" fmla="*/ 11 w 107"/>
              <a:gd name="T75" fmla="*/ 344 h 367"/>
              <a:gd name="T76" fmla="*/ 7 w 107"/>
              <a:gd name="T77" fmla="*/ 337 h 367"/>
              <a:gd name="T78" fmla="*/ 2 w 107"/>
              <a:gd name="T79" fmla="*/ 330 h 367"/>
              <a:gd name="T80" fmla="*/ 0 w 107"/>
              <a:gd name="T81" fmla="*/ 320 h 367"/>
              <a:gd name="T82" fmla="*/ 0 w 107"/>
              <a:gd name="T83" fmla="*/ 313 h 367"/>
              <a:gd name="T84" fmla="*/ 0 w 107"/>
              <a:gd name="T85" fmla="*/ 54 h 367"/>
              <a:gd name="T86" fmla="*/ 0 w 107"/>
              <a:gd name="T87" fmla="*/ 54 h 367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07"/>
              <a:gd name="T133" fmla="*/ 0 h 367"/>
              <a:gd name="T134" fmla="*/ 107 w 107"/>
              <a:gd name="T135" fmla="*/ 367 h 367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07" h="367">
                <a:moveTo>
                  <a:pt x="0" y="54"/>
                </a:moveTo>
                <a:lnTo>
                  <a:pt x="0" y="45"/>
                </a:lnTo>
                <a:lnTo>
                  <a:pt x="2" y="38"/>
                </a:lnTo>
                <a:lnTo>
                  <a:pt x="7" y="28"/>
                </a:lnTo>
                <a:lnTo>
                  <a:pt x="11" y="21"/>
                </a:lnTo>
                <a:lnTo>
                  <a:pt x="16" y="17"/>
                </a:lnTo>
                <a:lnTo>
                  <a:pt x="23" y="10"/>
                </a:lnTo>
                <a:lnTo>
                  <a:pt x="30" y="7"/>
                </a:lnTo>
                <a:lnTo>
                  <a:pt x="37" y="3"/>
                </a:lnTo>
                <a:lnTo>
                  <a:pt x="44" y="0"/>
                </a:lnTo>
                <a:lnTo>
                  <a:pt x="53" y="0"/>
                </a:lnTo>
                <a:lnTo>
                  <a:pt x="63" y="0"/>
                </a:lnTo>
                <a:lnTo>
                  <a:pt x="70" y="3"/>
                </a:lnTo>
                <a:lnTo>
                  <a:pt x="79" y="7"/>
                </a:lnTo>
                <a:lnTo>
                  <a:pt x="86" y="10"/>
                </a:lnTo>
                <a:lnTo>
                  <a:pt x="91" y="17"/>
                </a:lnTo>
                <a:lnTo>
                  <a:pt x="98" y="21"/>
                </a:lnTo>
                <a:lnTo>
                  <a:pt x="102" y="28"/>
                </a:lnTo>
                <a:lnTo>
                  <a:pt x="105" y="38"/>
                </a:lnTo>
                <a:lnTo>
                  <a:pt x="107" y="45"/>
                </a:lnTo>
                <a:lnTo>
                  <a:pt x="107" y="54"/>
                </a:lnTo>
                <a:lnTo>
                  <a:pt x="107" y="313"/>
                </a:lnTo>
                <a:lnTo>
                  <a:pt x="107" y="320"/>
                </a:lnTo>
                <a:lnTo>
                  <a:pt x="105" y="330"/>
                </a:lnTo>
                <a:lnTo>
                  <a:pt x="102" y="337"/>
                </a:lnTo>
                <a:lnTo>
                  <a:pt x="98" y="344"/>
                </a:lnTo>
                <a:lnTo>
                  <a:pt x="91" y="351"/>
                </a:lnTo>
                <a:lnTo>
                  <a:pt x="86" y="355"/>
                </a:lnTo>
                <a:lnTo>
                  <a:pt x="79" y="360"/>
                </a:lnTo>
                <a:lnTo>
                  <a:pt x="70" y="365"/>
                </a:lnTo>
                <a:lnTo>
                  <a:pt x="63" y="365"/>
                </a:lnTo>
                <a:lnTo>
                  <a:pt x="53" y="367"/>
                </a:lnTo>
                <a:lnTo>
                  <a:pt x="44" y="365"/>
                </a:lnTo>
                <a:lnTo>
                  <a:pt x="37" y="365"/>
                </a:lnTo>
                <a:lnTo>
                  <a:pt x="30" y="360"/>
                </a:lnTo>
                <a:lnTo>
                  <a:pt x="23" y="355"/>
                </a:lnTo>
                <a:lnTo>
                  <a:pt x="16" y="351"/>
                </a:lnTo>
                <a:lnTo>
                  <a:pt x="11" y="344"/>
                </a:lnTo>
                <a:lnTo>
                  <a:pt x="7" y="337"/>
                </a:lnTo>
                <a:lnTo>
                  <a:pt x="2" y="330"/>
                </a:lnTo>
                <a:lnTo>
                  <a:pt x="0" y="320"/>
                </a:lnTo>
                <a:lnTo>
                  <a:pt x="0" y="313"/>
                </a:lnTo>
                <a:lnTo>
                  <a:pt x="0" y="54"/>
                </a:lnTo>
              </a:path>
            </a:pathLst>
          </a:custGeom>
          <a:noFill/>
          <a:ln w="1116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7" name="Rectangle 526"/>
          <p:cNvSpPr>
            <a:spLocks noChangeArrowheads="1"/>
          </p:cNvSpPr>
          <p:nvPr/>
        </p:nvSpPr>
        <p:spPr bwMode="auto">
          <a:xfrm>
            <a:off x="9418638" y="4762500"/>
            <a:ext cx="730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528" name="Rectangle 527"/>
          <p:cNvSpPr>
            <a:spLocks noChangeArrowheads="1"/>
          </p:cNvSpPr>
          <p:nvPr/>
        </p:nvSpPr>
        <p:spPr bwMode="auto">
          <a:xfrm>
            <a:off x="9494838" y="4762500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29" name="Rectangle 528"/>
          <p:cNvSpPr>
            <a:spLocks noChangeArrowheads="1"/>
          </p:cNvSpPr>
          <p:nvPr/>
        </p:nvSpPr>
        <p:spPr bwMode="auto">
          <a:xfrm>
            <a:off x="9431338" y="486092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530" name="Rectangle 529"/>
          <p:cNvSpPr>
            <a:spLocks noChangeArrowheads="1"/>
          </p:cNvSpPr>
          <p:nvPr/>
        </p:nvSpPr>
        <p:spPr bwMode="auto">
          <a:xfrm>
            <a:off x="9483726" y="4860925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1" name="Rectangle 530"/>
          <p:cNvSpPr>
            <a:spLocks noChangeArrowheads="1"/>
          </p:cNvSpPr>
          <p:nvPr/>
        </p:nvSpPr>
        <p:spPr bwMode="auto">
          <a:xfrm>
            <a:off x="9431338" y="4965700"/>
            <a:ext cx="4445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x</a:t>
            </a:r>
          </a:p>
        </p:txBody>
      </p:sp>
      <p:sp>
        <p:nvSpPr>
          <p:cNvPr id="532" name="Rectangle 531"/>
          <p:cNvSpPr>
            <a:spLocks noChangeArrowheads="1"/>
          </p:cNvSpPr>
          <p:nvPr/>
        </p:nvSpPr>
        <p:spPr bwMode="auto">
          <a:xfrm>
            <a:off x="9405938" y="463391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533" name="Rectangle 532"/>
          <p:cNvSpPr>
            <a:spLocks noChangeArrowheads="1"/>
          </p:cNvSpPr>
          <p:nvPr/>
        </p:nvSpPr>
        <p:spPr bwMode="auto">
          <a:xfrm>
            <a:off x="9405938" y="509270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0</a:t>
            </a:r>
          </a:p>
        </p:txBody>
      </p:sp>
      <p:sp>
        <p:nvSpPr>
          <p:cNvPr id="534" name="Freeform 533"/>
          <p:cNvSpPr>
            <a:spLocks noChangeArrowheads="1"/>
          </p:cNvSpPr>
          <p:nvPr/>
        </p:nvSpPr>
        <p:spPr bwMode="auto">
          <a:xfrm>
            <a:off x="6811963" y="4548188"/>
            <a:ext cx="174625" cy="649287"/>
          </a:xfrm>
          <a:custGeom>
            <a:avLst/>
            <a:gdLst>
              <a:gd name="T0" fmla="*/ 0 w 110"/>
              <a:gd name="T1" fmla="*/ 51 h 367"/>
              <a:gd name="T2" fmla="*/ 2 w 110"/>
              <a:gd name="T3" fmla="*/ 44 h 367"/>
              <a:gd name="T4" fmla="*/ 5 w 110"/>
              <a:gd name="T5" fmla="*/ 37 h 367"/>
              <a:gd name="T6" fmla="*/ 7 w 110"/>
              <a:gd name="T7" fmla="*/ 28 h 367"/>
              <a:gd name="T8" fmla="*/ 12 w 110"/>
              <a:gd name="T9" fmla="*/ 21 h 367"/>
              <a:gd name="T10" fmla="*/ 19 w 110"/>
              <a:gd name="T11" fmla="*/ 16 h 367"/>
              <a:gd name="T12" fmla="*/ 23 w 110"/>
              <a:gd name="T13" fmla="*/ 9 h 367"/>
              <a:gd name="T14" fmla="*/ 30 w 110"/>
              <a:gd name="T15" fmla="*/ 5 h 367"/>
              <a:gd name="T16" fmla="*/ 40 w 110"/>
              <a:gd name="T17" fmla="*/ 2 h 367"/>
              <a:gd name="T18" fmla="*/ 47 w 110"/>
              <a:gd name="T19" fmla="*/ 0 h 367"/>
              <a:gd name="T20" fmla="*/ 56 w 110"/>
              <a:gd name="T21" fmla="*/ 0 h 367"/>
              <a:gd name="T22" fmla="*/ 65 w 110"/>
              <a:gd name="T23" fmla="*/ 0 h 367"/>
              <a:gd name="T24" fmla="*/ 72 w 110"/>
              <a:gd name="T25" fmla="*/ 2 h 367"/>
              <a:gd name="T26" fmla="*/ 82 w 110"/>
              <a:gd name="T27" fmla="*/ 5 h 367"/>
              <a:gd name="T28" fmla="*/ 89 w 110"/>
              <a:gd name="T29" fmla="*/ 9 h 367"/>
              <a:gd name="T30" fmla="*/ 93 w 110"/>
              <a:gd name="T31" fmla="*/ 16 h 367"/>
              <a:gd name="T32" fmla="*/ 100 w 110"/>
              <a:gd name="T33" fmla="*/ 21 h 367"/>
              <a:gd name="T34" fmla="*/ 103 w 110"/>
              <a:gd name="T35" fmla="*/ 28 h 367"/>
              <a:gd name="T36" fmla="*/ 107 w 110"/>
              <a:gd name="T37" fmla="*/ 37 h 367"/>
              <a:gd name="T38" fmla="*/ 110 w 110"/>
              <a:gd name="T39" fmla="*/ 44 h 367"/>
              <a:gd name="T40" fmla="*/ 110 w 110"/>
              <a:gd name="T41" fmla="*/ 54 h 367"/>
              <a:gd name="T42" fmla="*/ 110 w 110"/>
              <a:gd name="T43" fmla="*/ 313 h 367"/>
              <a:gd name="T44" fmla="*/ 110 w 110"/>
              <a:gd name="T45" fmla="*/ 320 h 367"/>
              <a:gd name="T46" fmla="*/ 107 w 110"/>
              <a:gd name="T47" fmla="*/ 329 h 367"/>
              <a:gd name="T48" fmla="*/ 103 w 110"/>
              <a:gd name="T49" fmla="*/ 336 h 367"/>
              <a:gd name="T50" fmla="*/ 100 w 110"/>
              <a:gd name="T51" fmla="*/ 343 h 367"/>
              <a:gd name="T52" fmla="*/ 93 w 110"/>
              <a:gd name="T53" fmla="*/ 350 h 367"/>
              <a:gd name="T54" fmla="*/ 89 w 110"/>
              <a:gd name="T55" fmla="*/ 355 h 367"/>
              <a:gd name="T56" fmla="*/ 82 w 110"/>
              <a:gd name="T57" fmla="*/ 360 h 367"/>
              <a:gd name="T58" fmla="*/ 72 w 110"/>
              <a:gd name="T59" fmla="*/ 362 h 367"/>
              <a:gd name="T60" fmla="*/ 65 w 110"/>
              <a:gd name="T61" fmla="*/ 364 h 367"/>
              <a:gd name="T62" fmla="*/ 56 w 110"/>
              <a:gd name="T63" fmla="*/ 367 h 367"/>
              <a:gd name="T64" fmla="*/ 47 w 110"/>
              <a:gd name="T65" fmla="*/ 364 h 367"/>
              <a:gd name="T66" fmla="*/ 40 w 110"/>
              <a:gd name="T67" fmla="*/ 362 h 367"/>
              <a:gd name="T68" fmla="*/ 30 w 110"/>
              <a:gd name="T69" fmla="*/ 360 h 367"/>
              <a:gd name="T70" fmla="*/ 23 w 110"/>
              <a:gd name="T71" fmla="*/ 355 h 367"/>
              <a:gd name="T72" fmla="*/ 19 w 110"/>
              <a:gd name="T73" fmla="*/ 350 h 367"/>
              <a:gd name="T74" fmla="*/ 12 w 110"/>
              <a:gd name="T75" fmla="*/ 343 h 367"/>
              <a:gd name="T76" fmla="*/ 7 w 110"/>
              <a:gd name="T77" fmla="*/ 336 h 367"/>
              <a:gd name="T78" fmla="*/ 5 w 110"/>
              <a:gd name="T79" fmla="*/ 329 h 367"/>
              <a:gd name="T80" fmla="*/ 2 w 110"/>
              <a:gd name="T81" fmla="*/ 320 h 367"/>
              <a:gd name="T82" fmla="*/ 2 w 110"/>
              <a:gd name="T83" fmla="*/ 313 h 367"/>
              <a:gd name="T84" fmla="*/ 2 w 110"/>
              <a:gd name="T85" fmla="*/ 54 h 367"/>
              <a:gd name="T86" fmla="*/ 2 w 110"/>
              <a:gd name="T87" fmla="*/ 54 h 367"/>
              <a:gd name="T88" fmla="*/ 0 w 110"/>
              <a:gd name="T89" fmla="*/ 51 h 367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110"/>
              <a:gd name="T136" fmla="*/ 0 h 367"/>
              <a:gd name="T137" fmla="*/ 110 w 110"/>
              <a:gd name="T138" fmla="*/ 367 h 367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110" h="367">
                <a:moveTo>
                  <a:pt x="0" y="51"/>
                </a:moveTo>
                <a:lnTo>
                  <a:pt x="2" y="44"/>
                </a:lnTo>
                <a:lnTo>
                  <a:pt x="5" y="37"/>
                </a:lnTo>
                <a:lnTo>
                  <a:pt x="7" y="28"/>
                </a:lnTo>
                <a:lnTo>
                  <a:pt x="12" y="21"/>
                </a:lnTo>
                <a:lnTo>
                  <a:pt x="19" y="16"/>
                </a:lnTo>
                <a:lnTo>
                  <a:pt x="23" y="9"/>
                </a:lnTo>
                <a:lnTo>
                  <a:pt x="30" y="5"/>
                </a:lnTo>
                <a:lnTo>
                  <a:pt x="40" y="2"/>
                </a:lnTo>
                <a:lnTo>
                  <a:pt x="47" y="0"/>
                </a:lnTo>
                <a:lnTo>
                  <a:pt x="56" y="0"/>
                </a:lnTo>
                <a:lnTo>
                  <a:pt x="65" y="0"/>
                </a:lnTo>
                <a:lnTo>
                  <a:pt x="72" y="2"/>
                </a:lnTo>
                <a:lnTo>
                  <a:pt x="82" y="5"/>
                </a:lnTo>
                <a:lnTo>
                  <a:pt x="89" y="9"/>
                </a:lnTo>
                <a:lnTo>
                  <a:pt x="93" y="16"/>
                </a:lnTo>
                <a:lnTo>
                  <a:pt x="100" y="21"/>
                </a:lnTo>
                <a:lnTo>
                  <a:pt x="103" y="28"/>
                </a:lnTo>
                <a:lnTo>
                  <a:pt x="107" y="37"/>
                </a:lnTo>
                <a:lnTo>
                  <a:pt x="110" y="44"/>
                </a:lnTo>
                <a:lnTo>
                  <a:pt x="110" y="54"/>
                </a:lnTo>
                <a:lnTo>
                  <a:pt x="110" y="313"/>
                </a:lnTo>
                <a:lnTo>
                  <a:pt x="110" y="320"/>
                </a:lnTo>
                <a:lnTo>
                  <a:pt x="107" y="329"/>
                </a:lnTo>
                <a:lnTo>
                  <a:pt x="103" y="336"/>
                </a:lnTo>
                <a:lnTo>
                  <a:pt x="100" y="343"/>
                </a:lnTo>
                <a:lnTo>
                  <a:pt x="93" y="350"/>
                </a:lnTo>
                <a:lnTo>
                  <a:pt x="89" y="355"/>
                </a:lnTo>
                <a:lnTo>
                  <a:pt x="82" y="360"/>
                </a:lnTo>
                <a:lnTo>
                  <a:pt x="72" y="362"/>
                </a:lnTo>
                <a:lnTo>
                  <a:pt x="65" y="364"/>
                </a:lnTo>
                <a:lnTo>
                  <a:pt x="56" y="367"/>
                </a:lnTo>
                <a:lnTo>
                  <a:pt x="47" y="364"/>
                </a:lnTo>
                <a:lnTo>
                  <a:pt x="40" y="362"/>
                </a:lnTo>
                <a:lnTo>
                  <a:pt x="30" y="360"/>
                </a:lnTo>
                <a:lnTo>
                  <a:pt x="23" y="355"/>
                </a:lnTo>
                <a:lnTo>
                  <a:pt x="19" y="350"/>
                </a:lnTo>
                <a:lnTo>
                  <a:pt x="12" y="343"/>
                </a:lnTo>
                <a:lnTo>
                  <a:pt x="7" y="336"/>
                </a:lnTo>
                <a:lnTo>
                  <a:pt x="5" y="329"/>
                </a:lnTo>
                <a:lnTo>
                  <a:pt x="2" y="320"/>
                </a:lnTo>
                <a:lnTo>
                  <a:pt x="2" y="313"/>
                </a:lnTo>
                <a:lnTo>
                  <a:pt x="2" y="54"/>
                </a:lnTo>
                <a:lnTo>
                  <a:pt x="0" y="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5" name="Freeform 534"/>
          <p:cNvSpPr>
            <a:spLocks noChangeArrowheads="1"/>
          </p:cNvSpPr>
          <p:nvPr/>
        </p:nvSpPr>
        <p:spPr bwMode="auto">
          <a:xfrm>
            <a:off x="6811963" y="4548188"/>
            <a:ext cx="174625" cy="649287"/>
          </a:xfrm>
          <a:custGeom>
            <a:avLst/>
            <a:gdLst>
              <a:gd name="T0" fmla="*/ 0 w 110"/>
              <a:gd name="T1" fmla="*/ 51 h 367"/>
              <a:gd name="T2" fmla="*/ 2 w 110"/>
              <a:gd name="T3" fmla="*/ 44 h 367"/>
              <a:gd name="T4" fmla="*/ 5 w 110"/>
              <a:gd name="T5" fmla="*/ 37 h 367"/>
              <a:gd name="T6" fmla="*/ 7 w 110"/>
              <a:gd name="T7" fmla="*/ 28 h 367"/>
              <a:gd name="T8" fmla="*/ 12 w 110"/>
              <a:gd name="T9" fmla="*/ 21 h 367"/>
              <a:gd name="T10" fmla="*/ 19 w 110"/>
              <a:gd name="T11" fmla="*/ 16 h 367"/>
              <a:gd name="T12" fmla="*/ 23 w 110"/>
              <a:gd name="T13" fmla="*/ 9 h 367"/>
              <a:gd name="T14" fmla="*/ 30 w 110"/>
              <a:gd name="T15" fmla="*/ 5 h 367"/>
              <a:gd name="T16" fmla="*/ 40 w 110"/>
              <a:gd name="T17" fmla="*/ 2 h 367"/>
              <a:gd name="T18" fmla="*/ 47 w 110"/>
              <a:gd name="T19" fmla="*/ 0 h 367"/>
              <a:gd name="T20" fmla="*/ 56 w 110"/>
              <a:gd name="T21" fmla="*/ 0 h 367"/>
              <a:gd name="T22" fmla="*/ 65 w 110"/>
              <a:gd name="T23" fmla="*/ 0 h 367"/>
              <a:gd name="T24" fmla="*/ 72 w 110"/>
              <a:gd name="T25" fmla="*/ 2 h 367"/>
              <a:gd name="T26" fmla="*/ 82 w 110"/>
              <a:gd name="T27" fmla="*/ 5 h 367"/>
              <a:gd name="T28" fmla="*/ 89 w 110"/>
              <a:gd name="T29" fmla="*/ 9 h 367"/>
              <a:gd name="T30" fmla="*/ 93 w 110"/>
              <a:gd name="T31" fmla="*/ 16 h 367"/>
              <a:gd name="T32" fmla="*/ 100 w 110"/>
              <a:gd name="T33" fmla="*/ 21 h 367"/>
              <a:gd name="T34" fmla="*/ 103 w 110"/>
              <a:gd name="T35" fmla="*/ 28 h 367"/>
              <a:gd name="T36" fmla="*/ 107 w 110"/>
              <a:gd name="T37" fmla="*/ 37 h 367"/>
              <a:gd name="T38" fmla="*/ 110 w 110"/>
              <a:gd name="T39" fmla="*/ 44 h 367"/>
              <a:gd name="T40" fmla="*/ 110 w 110"/>
              <a:gd name="T41" fmla="*/ 54 h 367"/>
              <a:gd name="T42" fmla="*/ 110 w 110"/>
              <a:gd name="T43" fmla="*/ 313 h 367"/>
              <a:gd name="T44" fmla="*/ 110 w 110"/>
              <a:gd name="T45" fmla="*/ 320 h 367"/>
              <a:gd name="T46" fmla="*/ 107 w 110"/>
              <a:gd name="T47" fmla="*/ 329 h 367"/>
              <a:gd name="T48" fmla="*/ 103 w 110"/>
              <a:gd name="T49" fmla="*/ 336 h 367"/>
              <a:gd name="T50" fmla="*/ 100 w 110"/>
              <a:gd name="T51" fmla="*/ 343 h 367"/>
              <a:gd name="T52" fmla="*/ 93 w 110"/>
              <a:gd name="T53" fmla="*/ 350 h 367"/>
              <a:gd name="T54" fmla="*/ 89 w 110"/>
              <a:gd name="T55" fmla="*/ 355 h 367"/>
              <a:gd name="T56" fmla="*/ 82 w 110"/>
              <a:gd name="T57" fmla="*/ 360 h 367"/>
              <a:gd name="T58" fmla="*/ 72 w 110"/>
              <a:gd name="T59" fmla="*/ 362 h 367"/>
              <a:gd name="T60" fmla="*/ 65 w 110"/>
              <a:gd name="T61" fmla="*/ 364 h 367"/>
              <a:gd name="T62" fmla="*/ 56 w 110"/>
              <a:gd name="T63" fmla="*/ 367 h 367"/>
              <a:gd name="T64" fmla="*/ 47 w 110"/>
              <a:gd name="T65" fmla="*/ 364 h 367"/>
              <a:gd name="T66" fmla="*/ 40 w 110"/>
              <a:gd name="T67" fmla="*/ 362 h 367"/>
              <a:gd name="T68" fmla="*/ 30 w 110"/>
              <a:gd name="T69" fmla="*/ 360 h 367"/>
              <a:gd name="T70" fmla="*/ 23 w 110"/>
              <a:gd name="T71" fmla="*/ 355 h 367"/>
              <a:gd name="T72" fmla="*/ 19 w 110"/>
              <a:gd name="T73" fmla="*/ 350 h 367"/>
              <a:gd name="T74" fmla="*/ 12 w 110"/>
              <a:gd name="T75" fmla="*/ 343 h 367"/>
              <a:gd name="T76" fmla="*/ 7 w 110"/>
              <a:gd name="T77" fmla="*/ 336 h 367"/>
              <a:gd name="T78" fmla="*/ 5 w 110"/>
              <a:gd name="T79" fmla="*/ 329 h 367"/>
              <a:gd name="T80" fmla="*/ 2 w 110"/>
              <a:gd name="T81" fmla="*/ 320 h 367"/>
              <a:gd name="T82" fmla="*/ 2 w 110"/>
              <a:gd name="T83" fmla="*/ 313 h 367"/>
              <a:gd name="T84" fmla="*/ 2 w 110"/>
              <a:gd name="T85" fmla="*/ 54 h 367"/>
              <a:gd name="T86" fmla="*/ 2 w 110"/>
              <a:gd name="T87" fmla="*/ 54 h 367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10"/>
              <a:gd name="T133" fmla="*/ 0 h 367"/>
              <a:gd name="T134" fmla="*/ 110 w 110"/>
              <a:gd name="T135" fmla="*/ 367 h 367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10" h="367">
                <a:moveTo>
                  <a:pt x="0" y="51"/>
                </a:moveTo>
                <a:lnTo>
                  <a:pt x="2" y="44"/>
                </a:lnTo>
                <a:lnTo>
                  <a:pt x="5" y="37"/>
                </a:lnTo>
                <a:lnTo>
                  <a:pt x="7" y="28"/>
                </a:lnTo>
                <a:lnTo>
                  <a:pt x="12" y="21"/>
                </a:lnTo>
                <a:lnTo>
                  <a:pt x="19" y="16"/>
                </a:lnTo>
                <a:lnTo>
                  <a:pt x="23" y="9"/>
                </a:lnTo>
                <a:lnTo>
                  <a:pt x="30" y="5"/>
                </a:lnTo>
                <a:lnTo>
                  <a:pt x="40" y="2"/>
                </a:lnTo>
                <a:lnTo>
                  <a:pt x="47" y="0"/>
                </a:lnTo>
                <a:lnTo>
                  <a:pt x="56" y="0"/>
                </a:lnTo>
                <a:lnTo>
                  <a:pt x="65" y="0"/>
                </a:lnTo>
                <a:lnTo>
                  <a:pt x="72" y="2"/>
                </a:lnTo>
                <a:lnTo>
                  <a:pt x="82" y="5"/>
                </a:lnTo>
                <a:lnTo>
                  <a:pt x="89" y="9"/>
                </a:lnTo>
                <a:lnTo>
                  <a:pt x="93" y="16"/>
                </a:lnTo>
                <a:lnTo>
                  <a:pt x="100" y="21"/>
                </a:lnTo>
                <a:lnTo>
                  <a:pt x="103" y="28"/>
                </a:lnTo>
                <a:lnTo>
                  <a:pt x="107" y="37"/>
                </a:lnTo>
                <a:lnTo>
                  <a:pt x="110" y="44"/>
                </a:lnTo>
                <a:lnTo>
                  <a:pt x="110" y="54"/>
                </a:lnTo>
                <a:lnTo>
                  <a:pt x="110" y="313"/>
                </a:lnTo>
                <a:lnTo>
                  <a:pt x="110" y="320"/>
                </a:lnTo>
                <a:lnTo>
                  <a:pt x="107" y="329"/>
                </a:lnTo>
                <a:lnTo>
                  <a:pt x="103" y="336"/>
                </a:lnTo>
                <a:lnTo>
                  <a:pt x="100" y="343"/>
                </a:lnTo>
                <a:lnTo>
                  <a:pt x="93" y="350"/>
                </a:lnTo>
                <a:lnTo>
                  <a:pt x="89" y="355"/>
                </a:lnTo>
                <a:lnTo>
                  <a:pt x="82" y="360"/>
                </a:lnTo>
                <a:lnTo>
                  <a:pt x="72" y="362"/>
                </a:lnTo>
                <a:lnTo>
                  <a:pt x="65" y="364"/>
                </a:lnTo>
                <a:lnTo>
                  <a:pt x="56" y="367"/>
                </a:lnTo>
                <a:lnTo>
                  <a:pt x="47" y="364"/>
                </a:lnTo>
                <a:lnTo>
                  <a:pt x="40" y="362"/>
                </a:lnTo>
                <a:lnTo>
                  <a:pt x="30" y="360"/>
                </a:lnTo>
                <a:lnTo>
                  <a:pt x="23" y="355"/>
                </a:lnTo>
                <a:lnTo>
                  <a:pt x="19" y="350"/>
                </a:lnTo>
                <a:lnTo>
                  <a:pt x="12" y="343"/>
                </a:lnTo>
                <a:lnTo>
                  <a:pt x="7" y="336"/>
                </a:lnTo>
                <a:lnTo>
                  <a:pt x="5" y="329"/>
                </a:lnTo>
                <a:lnTo>
                  <a:pt x="2" y="320"/>
                </a:lnTo>
                <a:lnTo>
                  <a:pt x="2" y="313"/>
                </a:lnTo>
                <a:lnTo>
                  <a:pt x="2" y="54"/>
                </a:lnTo>
              </a:path>
            </a:pathLst>
          </a:custGeom>
          <a:noFill/>
          <a:ln w="1116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6" name="Rectangle 535"/>
          <p:cNvSpPr>
            <a:spLocks noChangeArrowheads="1"/>
          </p:cNvSpPr>
          <p:nvPr/>
        </p:nvSpPr>
        <p:spPr bwMode="auto">
          <a:xfrm>
            <a:off x="6861176" y="4708525"/>
            <a:ext cx="730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537" name="Rectangle 536"/>
          <p:cNvSpPr>
            <a:spLocks noChangeArrowheads="1"/>
          </p:cNvSpPr>
          <p:nvPr/>
        </p:nvSpPr>
        <p:spPr bwMode="auto">
          <a:xfrm>
            <a:off x="6934201" y="4708525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38" name="Rectangle 537"/>
          <p:cNvSpPr>
            <a:spLocks noChangeArrowheads="1"/>
          </p:cNvSpPr>
          <p:nvPr/>
        </p:nvSpPr>
        <p:spPr bwMode="auto">
          <a:xfrm>
            <a:off x="6875463" y="480853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539" name="Rectangle 538"/>
          <p:cNvSpPr>
            <a:spLocks noChangeArrowheads="1"/>
          </p:cNvSpPr>
          <p:nvPr/>
        </p:nvSpPr>
        <p:spPr bwMode="auto">
          <a:xfrm>
            <a:off x="6926263" y="4808538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0" name="Rectangle 539"/>
          <p:cNvSpPr>
            <a:spLocks noChangeArrowheads="1"/>
          </p:cNvSpPr>
          <p:nvPr/>
        </p:nvSpPr>
        <p:spPr bwMode="auto">
          <a:xfrm>
            <a:off x="6875463" y="4910138"/>
            <a:ext cx="4445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x</a:t>
            </a:r>
          </a:p>
        </p:txBody>
      </p:sp>
      <p:sp>
        <p:nvSpPr>
          <p:cNvPr id="541" name="Rectangle 540"/>
          <p:cNvSpPr>
            <a:spLocks noChangeArrowheads="1"/>
          </p:cNvSpPr>
          <p:nvPr/>
        </p:nvSpPr>
        <p:spPr bwMode="auto">
          <a:xfrm>
            <a:off x="6848476" y="457993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0</a:t>
            </a:r>
          </a:p>
        </p:txBody>
      </p:sp>
      <p:sp>
        <p:nvSpPr>
          <p:cNvPr id="542" name="Rectangle 541"/>
          <p:cNvSpPr>
            <a:spLocks noChangeArrowheads="1"/>
          </p:cNvSpPr>
          <p:nvPr/>
        </p:nvSpPr>
        <p:spPr bwMode="auto">
          <a:xfrm>
            <a:off x="6848476" y="504031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543" name="Freeform 542"/>
          <p:cNvSpPr>
            <a:spLocks noChangeArrowheads="1"/>
          </p:cNvSpPr>
          <p:nvPr/>
        </p:nvSpPr>
        <p:spPr bwMode="auto">
          <a:xfrm>
            <a:off x="4792663" y="4470400"/>
            <a:ext cx="169863" cy="647700"/>
          </a:xfrm>
          <a:custGeom>
            <a:avLst/>
            <a:gdLst>
              <a:gd name="T0" fmla="*/ 0 w 107"/>
              <a:gd name="T1" fmla="*/ 53 h 366"/>
              <a:gd name="T2" fmla="*/ 0 w 107"/>
              <a:gd name="T3" fmla="*/ 46 h 366"/>
              <a:gd name="T4" fmla="*/ 2 w 107"/>
              <a:gd name="T5" fmla="*/ 37 h 366"/>
              <a:gd name="T6" fmla="*/ 7 w 107"/>
              <a:gd name="T7" fmla="*/ 30 h 366"/>
              <a:gd name="T8" fmla="*/ 9 w 107"/>
              <a:gd name="T9" fmla="*/ 23 h 366"/>
              <a:gd name="T10" fmla="*/ 16 w 107"/>
              <a:gd name="T11" fmla="*/ 16 h 366"/>
              <a:gd name="T12" fmla="*/ 21 w 107"/>
              <a:gd name="T13" fmla="*/ 11 h 366"/>
              <a:gd name="T14" fmla="*/ 28 w 107"/>
              <a:gd name="T15" fmla="*/ 7 h 366"/>
              <a:gd name="T16" fmla="*/ 37 w 107"/>
              <a:gd name="T17" fmla="*/ 2 h 366"/>
              <a:gd name="T18" fmla="*/ 44 w 107"/>
              <a:gd name="T19" fmla="*/ 2 h 366"/>
              <a:gd name="T20" fmla="*/ 54 w 107"/>
              <a:gd name="T21" fmla="*/ 0 h 366"/>
              <a:gd name="T22" fmla="*/ 63 w 107"/>
              <a:gd name="T23" fmla="*/ 2 h 366"/>
              <a:gd name="T24" fmla="*/ 70 w 107"/>
              <a:gd name="T25" fmla="*/ 2 h 366"/>
              <a:gd name="T26" fmla="*/ 79 w 107"/>
              <a:gd name="T27" fmla="*/ 7 h 366"/>
              <a:gd name="T28" fmla="*/ 86 w 107"/>
              <a:gd name="T29" fmla="*/ 11 h 366"/>
              <a:gd name="T30" fmla="*/ 91 w 107"/>
              <a:gd name="T31" fmla="*/ 16 h 366"/>
              <a:gd name="T32" fmla="*/ 98 w 107"/>
              <a:gd name="T33" fmla="*/ 23 h 366"/>
              <a:gd name="T34" fmla="*/ 100 w 107"/>
              <a:gd name="T35" fmla="*/ 30 h 366"/>
              <a:gd name="T36" fmla="*/ 105 w 107"/>
              <a:gd name="T37" fmla="*/ 37 h 366"/>
              <a:gd name="T38" fmla="*/ 107 w 107"/>
              <a:gd name="T39" fmla="*/ 46 h 366"/>
              <a:gd name="T40" fmla="*/ 107 w 107"/>
              <a:gd name="T41" fmla="*/ 53 h 366"/>
              <a:gd name="T42" fmla="*/ 107 w 107"/>
              <a:gd name="T43" fmla="*/ 313 h 366"/>
              <a:gd name="T44" fmla="*/ 107 w 107"/>
              <a:gd name="T45" fmla="*/ 322 h 366"/>
              <a:gd name="T46" fmla="*/ 105 w 107"/>
              <a:gd name="T47" fmla="*/ 329 h 366"/>
              <a:gd name="T48" fmla="*/ 100 w 107"/>
              <a:gd name="T49" fmla="*/ 338 h 366"/>
              <a:gd name="T50" fmla="*/ 98 w 107"/>
              <a:gd name="T51" fmla="*/ 345 h 366"/>
              <a:gd name="T52" fmla="*/ 91 w 107"/>
              <a:gd name="T53" fmla="*/ 350 h 366"/>
              <a:gd name="T54" fmla="*/ 86 w 107"/>
              <a:gd name="T55" fmla="*/ 357 h 366"/>
              <a:gd name="T56" fmla="*/ 79 w 107"/>
              <a:gd name="T57" fmla="*/ 359 h 366"/>
              <a:gd name="T58" fmla="*/ 70 w 107"/>
              <a:gd name="T59" fmla="*/ 364 h 366"/>
              <a:gd name="T60" fmla="*/ 63 w 107"/>
              <a:gd name="T61" fmla="*/ 366 h 366"/>
              <a:gd name="T62" fmla="*/ 54 w 107"/>
              <a:gd name="T63" fmla="*/ 366 h 366"/>
              <a:gd name="T64" fmla="*/ 44 w 107"/>
              <a:gd name="T65" fmla="*/ 366 h 366"/>
              <a:gd name="T66" fmla="*/ 37 w 107"/>
              <a:gd name="T67" fmla="*/ 364 h 366"/>
              <a:gd name="T68" fmla="*/ 28 w 107"/>
              <a:gd name="T69" fmla="*/ 359 h 366"/>
              <a:gd name="T70" fmla="*/ 21 w 107"/>
              <a:gd name="T71" fmla="*/ 357 h 366"/>
              <a:gd name="T72" fmla="*/ 16 w 107"/>
              <a:gd name="T73" fmla="*/ 350 h 366"/>
              <a:gd name="T74" fmla="*/ 9 w 107"/>
              <a:gd name="T75" fmla="*/ 345 h 366"/>
              <a:gd name="T76" fmla="*/ 7 w 107"/>
              <a:gd name="T77" fmla="*/ 338 h 366"/>
              <a:gd name="T78" fmla="*/ 2 w 107"/>
              <a:gd name="T79" fmla="*/ 329 h 366"/>
              <a:gd name="T80" fmla="*/ 0 w 107"/>
              <a:gd name="T81" fmla="*/ 322 h 366"/>
              <a:gd name="T82" fmla="*/ 0 w 107"/>
              <a:gd name="T83" fmla="*/ 313 h 366"/>
              <a:gd name="T84" fmla="*/ 0 w 107"/>
              <a:gd name="T85" fmla="*/ 53 h 366"/>
              <a:gd name="T86" fmla="*/ 0 w 107"/>
              <a:gd name="T87" fmla="*/ 53 h 36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07"/>
              <a:gd name="T133" fmla="*/ 0 h 366"/>
              <a:gd name="T134" fmla="*/ 107 w 107"/>
              <a:gd name="T135" fmla="*/ 366 h 36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07" h="366">
                <a:moveTo>
                  <a:pt x="0" y="53"/>
                </a:moveTo>
                <a:lnTo>
                  <a:pt x="0" y="46"/>
                </a:lnTo>
                <a:lnTo>
                  <a:pt x="2" y="37"/>
                </a:lnTo>
                <a:lnTo>
                  <a:pt x="7" y="30"/>
                </a:lnTo>
                <a:lnTo>
                  <a:pt x="9" y="23"/>
                </a:lnTo>
                <a:lnTo>
                  <a:pt x="16" y="16"/>
                </a:lnTo>
                <a:lnTo>
                  <a:pt x="21" y="11"/>
                </a:lnTo>
                <a:lnTo>
                  <a:pt x="28" y="7"/>
                </a:lnTo>
                <a:lnTo>
                  <a:pt x="37" y="2"/>
                </a:lnTo>
                <a:lnTo>
                  <a:pt x="44" y="2"/>
                </a:lnTo>
                <a:lnTo>
                  <a:pt x="54" y="0"/>
                </a:lnTo>
                <a:lnTo>
                  <a:pt x="63" y="2"/>
                </a:lnTo>
                <a:lnTo>
                  <a:pt x="70" y="2"/>
                </a:lnTo>
                <a:lnTo>
                  <a:pt x="79" y="7"/>
                </a:lnTo>
                <a:lnTo>
                  <a:pt x="86" y="11"/>
                </a:lnTo>
                <a:lnTo>
                  <a:pt x="91" y="16"/>
                </a:lnTo>
                <a:lnTo>
                  <a:pt x="98" y="23"/>
                </a:lnTo>
                <a:lnTo>
                  <a:pt x="100" y="30"/>
                </a:lnTo>
                <a:lnTo>
                  <a:pt x="105" y="37"/>
                </a:lnTo>
                <a:lnTo>
                  <a:pt x="107" y="46"/>
                </a:lnTo>
                <a:lnTo>
                  <a:pt x="107" y="53"/>
                </a:lnTo>
                <a:lnTo>
                  <a:pt x="107" y="313"/>
                </a:lnTo>
                <a:lnTo>
                  <a:pt x="107" y="322"/>
                </a:lnTo>
                <a:lnTo>
                  <a:pt x="105" y="329"/>
                </a:lnTo>
                <a:lnTo>
                  <a:pt x="100" y="338"/>
                </a:lnTo>
                <a:lnTo>
                  <a:pt x="98" y="345"/>
                </a:lnTo>
                <a:lnTo>
                  <a:pt x="91" y="350"/>
                </a:lnTo>
                <a:lnTo>
                  <a:pt x="86" y="357"/>
                </a:lnTo>
                <a:lnTo>
                  <a:pt x="79" y="359"/>
                </a:lnTo>
                <a:lnTo>
                  <a:pt x="70" y="364"/>
                </a:lnTo>
                <a:lnTo>
                  <a:pt x="63" y="366"/>
                </a:lnTo>
                <a:lnTo>
                  <a:pt x="54" y="366"/>
                </a:lnTo>
                <a:lnTo>
                  <a:pt x="44" y="366"/>
                </a:lnTo>
                <a:lnTo>
                  <a:pt x="37" y="364"/>
                </a:lnTo>
                <a:lnTo>
                  <a:pt x="28" y="359"/>
                </a:lnTo>
                <a:lnTo>
                  <a:pt x="21" y="357"/>
                </a:lnTo>
                <a:lnTo>
                  <a:pt x="16" y="350"/>
                </a:lnTo>
                <a:lnTo>
                  <a:pt x="9" y="345"/>
                </a:lnTo>
                <a:lnTo>
                  <a:pt x="7" y="338"/>
                </a:lnTo>
                <a:lnTo>
                  <a:pt x="2" y="329"/>
                </a:lnTo>
                <a:lnTo>
                  <a:pt x="0" y="322"/>
                </a:lnTo>
                <a:lnTo>
                  <a:pt x="0" y="313"/>
                </a:lnTo>
                <a:lnTo>
                  <a:pt x="0" y="5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4" name="Freeform 543"/>
          <p:cNvSpPr>
            <a:spLocks noChangeArrowheads="1"/>
          </p:cNvSpPr>
          <p:nvPr/>
        </p:nvSpPr>
        <p:spPr bwMode="auto">
          <a:xfrm>
            <a:off x="4792663" y="4470400"/>
            <a:ext cx="169863" cy="647700"/>
          </a:xfrm>
          <a:custGeom>
            <a:avLst/>
            <a:gdLst>
              <a:gd name="T0" fmla="*/ 0 w 107"/>
              <a:gd name="T1" fmla="*/ 53 h 366"/>
              <a:gd name="T2" fmla="*/ 0 w 107"/>
              <a:gd name="T3" fmla="*/ 46 h 366"/>
              <a:gd name="T4" fmla="*/ 2 w 107"/>
              <a:gd name="T5" fmla="*/ 37 h 366"/>
              <a:gd name="T6" fmla="*/ 7 w 107"/>
              <a:gd name="T7" fmla="*/ 30 h 366"/>
              <a:gd name="T8" fmla="*/ 9 w 107"/>
              <a:gd name="T9" fmla="*/ 23 h 366"/>
              <a:gd name="T10" fmla="*/ 16 w 107"/>
              <a:gd name="T11" fmla="*/ 16 h 366"/>
              <a:gd name="T12" fmla="*/ 21 w 107"/>
              <a:gd name="T13" fmla="*/ 11 h 366"/>
              <a:gd name="T14" fmla="*/ 28 w 107"/>
              <a:gd name="T15" fmla="*/ 7 h 366"/>
              <a:gd name="T16" fmla="*/ 37 w 107"/>
              <a:gd name="T17" fmla="*/ 2 h 366"/>
              <a:gd name="T18" fmla="*/ 44 w 107"/>
              <a:gd name="T19" fmla="*/ 2 h 366"/>
              <a:gd name="T20" fmla="*/ 54 w 107"/>
              <a:gd name="T21" fmla="*/ 0 h 366"/>
              <a:gd name="T22" fmla="*/ 63 w 107"/>
              <a:gd name="T23" fmla="*/ 2 h 366"/>
              <a:gd name="T24" fmla="*/ 70 w 107"/>
              <a:gd name="T25" fmla="*/ 2 h 366"/>
              <a:gd name="T26" fmla="*/ 79 w 107"/>
              <a:gd name="T27" fmla="*/ 7 h 366"/>
              <a:gd name="T28" fmla="*/ 86 w 107"/>
              <a:gd name="T29" fmla="*/ 11 h 366"/>
              <a:gd name="T30" fmla="*/ 91 w 107"/>
              <a:gd name="T31" fmla="*/ 16 h 366"/>
              <a:gd name="T32" fmla="*/ 98 w 107"/>
              <a:gd name="T33" fmla="*/ 23 h 366"/>
              <a:gd name="T34" fmla="*/ 100 w 107"/>
              <a:gd name="T35" fmla="*/ 30 h 366"/>
              <a:gd name="T36" fmla="*/ 105 w 107"/>
              <a:gd name="T37" fmla="*/ 37 h 366"/>
              <a:gd name="T38" fmla="*/ 107 w 107"/>
              <a:gd name="T39" fmla="*/ 46 h 366"/>
              <a:gd name="T40" fmla="*/ 107 w 107"/>
              <a:gd name="T41" fmla="*/ 53 h 366"/>
              <a:gd name="T42" fmla="*/ 107 w 107"/>
              <a:gd name="T43" fmla="*/ 313 h 366"/>
              <a:gd name="T44" fmla="*/ 107 w 107"/>
              <a:gd name="T45" fmla="*/ 322 h 366"/>
              <a:gd name="T46" fmla="*/ 105 w 107"/>
              <a:gd name="T47" fmla="*/ 329 h 366"/>
              <a:gd name="T48" fmla="*/ 100 w 107"/>
              <a:gd name="T49" fmla="*/ 338 h 366"/>
              <a:gd name="T50" fmla="*/ 98 w 107"/>
              <a:gd name="T51" fmla="*/ 345 h 366"/>
              <a:gd name="T52" fmla="*/ 91 w 107"/>
              <a:gd name="T53" fmla="*/ 350 h 366"/>
              <a:gd name="T54" fmla="*/ 86 w 107"/>
              <a:gd name="T55" fmla="*/ 357 h 366"/>
              <a:gd name="T56" fmla="*/ 79 w 107"/>
              <a:gd name="T57" fmla="*/ 359 h 366"/>
              <a:gd name="T58" fmla="*/ 70 w 107"/>
              <a:gd name="T59" fmla="*/ 364 h 366"/>
              <a:gd name="T60" fmla="*/ 63 w 107"/>
              <a:gd name="T61" fmla="*/ 366 h 366"/>
              <a:gd name="T62" fmla="*/ 54 w 107"/>
              <a:gd name="T63" fmla="*/ 366 h 366"/>
              <a:gd name="T64" fmla="*/ 44 w 107"/>
              <a:gd name="T65" fmla="*/ 366 h 366"/>
              <a:gd name="T66" fmla="*/ 37 w 107"/>
              <a:gd name="T67" fmla="*/ 364 h 366"/>
              <a:gd name="T68" fmla="*/ 28 w 107"/>
              <a:gd name="T69" fmla="*/ 359 h 366"/>
              <a:gd name="T70" fmla="*/ 21 w 107"/>
              <a:gd name="T71" fmla="*/ 357 h 366"/>
              <a:gd name="T72" fmla="*/ 16 w 107"/>
              <a:gd name="T73" fmla="*/ 350 h 366"/>
              <a:gd name="T74" fmla="*/ 9 w 107"/>
              <a:gd name="T75" fmla="*/ 345 h 366"/>
              <a:gd name="T76" fmla="*/ 7 w 107"/>
              <a:gd name="T77" fmla="*/ 338 h 366"/>
              <a:gd name="T78" fmla="*/ 2 w 107"/>
              <a:gd name="T79" fmla="*/ 329 h 366"/>
              <a:gd name="T80" fmla="*/ 0 w 107"/>
              <a:gd name="T81" fmla="*/ 322 h 366"/>
              <a:gd name="T82" fmla="*/ 0 w 107"/>
              <a:gd name="T83" fmla="*/ 313 h 366"/>
              <a:gd name="T84" fmla="*/ 0 w 107"/>
              <a:gd name="T85" fmla="*/ 53 h 366"/>
              <a:gd name="T86" fmla="*/ 0 w 107"/>
              <a:gd name="T87" fmla="*/ 53 h 36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w 107"/>
              <a:gd name="T133" fmla="*/ 0 h 366"/>
              <a:gd name="T134" fmla="*/ 107 w 107"/>
              <a:gd name="T135" fmla="*/ 366 h 36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T132" t="T133" r="T134" b="T135"/>
            <a:pathLst>
              <a:path w="107" h="366">
                <a:moveTo>
                  <a:pt x="0" y="53"/>
                </a:moveTo>
                <a:lnTo>
                  <a:pt x="0" y="46"/>
                </a:lnTo>
                <a:lnTo>
                  <a:pt x="2" y="37"/>
                </a:lnTo>
                <a:lnTo>
                  <a:pt x="7" y="30"/>
                </a:lnTo>
                <a:lnTo>
                  <a:pt x="9" y="23"/>
                </a:lnTo>
                <a:lnTo>
                  <a:pt x="16" y="16"/>
                </a:lnTo>
                <a:lnTo>
                  <a:pt x="21" y="11"/>
                </a:lnTo>
                <a:lnTo>
                  <a:pt x="28" y="7"/>
                </a:lnTo>
                <a:lnTo>
                  <a:pt x="37" y="2"/>
                </a:lnTo>
                <a:lnTo>
                  <a:pt x="44" y="2"/>
                </a:lnTo>
                <a:lnTo>
                  <a:pt x="54" y="0"/>
                </a:lnTo>
                <a:lnTo>
                  <a:pt x="63" y="2"/>
                </a:lnTo>
                <a:lnTo>
                  <a:pt x="70" y="2"/>
                </a:lnTo>
                <a:lnTo>
                  <a:pt x="79" y="7"/>
                </a:lnTo>
                <a:lnTo>
                  <a:pt x="86" y="11"/>
                </a:lnTo>
                <a:lnTo>
                  <a:pt x="91" y="16"/>
                </a:lnTo>
                <a:lnTo>
                  <a:pt x="98" y="23"/>
                </a:lnTo>
                <a:lnTo>
                  <a:pt x="100" y="30"/>
                </a:lnTo>
                <a:lnTo>
                  <a:pt x="105" y="37"/>
                </a:lnTo>
                <a:lnTo>
                  <a:pt x="107" y="46"/>
                </a:lnTo>
                <a:lnTo>
                  <a:pt x="107" y="53"/>
                </a:lnTo>
                <a:lnTo>
                  <a:pt x="107" y="313"/>
                </a:lnTo>
                <a:lnTo>
                  <a:pt x="107" y="322"/>
                </a:lnTo>
                <a:lnTo>
                  <a:pt x="105" y="329"/>
                </a:lnTo>
                <a:lnTo>
                  <a:pt x="100" y="338"/>
                </a:lnTo>
                <a:lnTo>
                  <a:pt x="98" y="345"/>
                </a:lnTo>
                <a:lnTo>
                  <a:pt x="91" y="350"/>
                </a:lnTo>
                <a:lnTo>
                  <a:pt x="86" y="357"/>
                </a:lnTo>
                <a:lnTo>
                  <a:pt x="79" y="359"/>
                </a:lnTo>
                <a:lnTo>
                  <a:pt x="70" y="364"/>
                </a:lnTo>
                <a:lnTo>
                  <a:pt x="63" y="366"/>
                </a:lnTo>
                <a:lnTo>
                  <a:pt x="54" y="366"/>
                </a:lnTo>
                <a:lnTo>
                  <a:pt x="44" y="366"/>
                </a:lnTo>
                <a:lnTo>
                  <a:pt x="37" y="364"/>
                </a:lnTo>
                <a:lnTo>
                  <a:pt x="28" y="359"/>
                </a:lnTo>
                <a:lnTo>
                  <a:pt x="21" y="357"/>
                </a:lnTo>
                <a:lnTo>
                  <a:pt x="16" y="350"/>
                </a:lnTo>
                <a:lnTo>
                  <a:pt x="9" y="345"/>
                </a:lnTo>
                <a:lnTo>
                  <a:pt x="7" y="338"/>
                </a:lnTo>
                <a:lnTo>
                  <a:pt x="2" y="329"/>
                </a:lnTo>
                <a:lnTo>
                  <a:pt x="0" y="322"/>
                </a:lnTo>
                <a:lnTo>
                  <a:pt x="0" y="313"/>
                </a:lnTo>
                <a:lnTo>
                  <a:pt x="0" y="53"/>
                </a:lnTo>
              </a:path>
            </a:pathLst>
          </a:custGeom>
          <a:noFill/>
          <a:ln w="1116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5" name="Rectangle 544"/>
          <p:cNvSpPr>
            <a:spLocks noChangeArrowheads="1"/>
          </p:cNvSpPr>
          <p:nvPr/>
        </p:nvSpPr>
        <p:spPr bwMode="auto">
          <a:xfrm>
            <a:off x="4838701" y="4629150"/>
            <a:ext cx="730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546" name="Rectangle 545"/>
          <p:cNvSpPr>
            <a:spLocks noChangeArrowheads="1"/>
          </p:cNvSpPr>
          <p:nvPr/>
        </p:nvSpPr>
        <p:spPr bwMode="auto">
          <a:xfrm>
            <a:off x="4911726" y="4629150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7" name="Rectangle 546"/>
          <p:cNvSpPr>
            <a:spLocks noChangeArrowheads="1"/>
          </p:cNvSpPr>
          <p:nvPr/>
        </p:nvSpPr>
        <p:spPr bwMode="auto">
          <a:xfrm>
            <a:off x="4851401" y="473392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548" name="Rectangle 547"/>
          <p:cNvSpPr>
            <a:spLocks noChangeArrowheads="1"/>
          </p:cNvSpPr>
          <p:nvPr/>
        </p:nvSpPr>
        <p:spPr bwMode="auto">
          <a:xfrm>
            <a:off x="4903788" y="4733925"/>
            <a:ext cx="1588" cy="227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49" name="Rectangle 548"/>
          <p:cNvSpPr>
            <a:spLocks noChangeArrowheads="1"/>
          </p:cNvSpPr>
          <p:nvPr/>
        </p:nvSpPr>
        <p:spPr bwMode="auto">
          <a:xfrm>
            <a:off x="4851401" y="4832350"/>
            <a:ext cx="4445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x</a:t>
            </a:r>
          </a:p>
        </p:txBody>
      </p:sp>
      <p:sp>
        <p:nvSpPr>
          <p:cNvPr id="550" name="Rectangle 549"/>
          <p:cNvSpPr>
            <a:spLocks noChangeArrowheads="1"/>
          </p:cNvSpPr>
          <p:nvPr/>
        </p:nvSpPr>
        <p:spPr bwMode="auto">
          <a:xfrm>
            <a:off x="4826001" y="450215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0</a:t>
            </a:r>
          </a:p>
        </p:txBody>
      </p:sp>
      <p:sp>
        <p:nvSpPr>
          <p:cNvPr id="551" name="Rectangle 550"/>
          <p:cNvSpPr>
            <a:spLocks noChangeArrowheads="1"/>
          </p:cNvSpPr>
          <p:nvPr/>
        </p:nvSpPr>
        <p:spPr bwMode="auto">
          <a:xfrm>
            <a:off x="4826001" y="495935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552" name="Rectangle 551"/>
          <p:cNvSpPr>
            <a:spLocks noChangeArrowheads="1"/>
          </p:cNvSpPr>
          <p:nvPr/>
        </p:nvSpPr>
        <p:spPr bwMode="auto">
          <a:xfrm>
            <a:off x="6948488" y="5675313"/>
            <a:ext cx="603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553" name="Rectangle 552"/>
          <p:cNvSpPr>
            <a:spLocks noChangeArrowheads="1"/>
          </p:cNvSpPr>
          <p:nvPr/>
        </p:nvSpPr>
        <p:spPr bwMode="auto">
          <a:xfrm>
            <a:off x="7008813" y="567531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554" name="Rectangle 553"/>
          <p:cNvSpPr>
            <a:spLocks noChangeArrowheads="1"/>
          </p:cNvSpPr>
          <p:nvPr/>
        </p:nvSpPr>
        <p:spPr bwMode="auto">
          <a:xfrm>
            <a:off x="7059613" y="5675313"/>
            <a:ext cx="6508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555" name="Rectangle 554"/>
          <p:cNvSpPr>
            <a:spLocks noChangeArrowheads="1"/>
          </p:cNvSpPr>
          <p:nvPr/>
        </p:nvSpPr>
        <p:spPr bwMode="auto">
          <a:xfrm>
            <a:off x="7126288" y="5675313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56" name="Rectangle 555"/>
          <p:cNvSpPr>
            <a:spLocks noChangeArrowheads="1"/>
          </p:cNvSpPr>
          <p:nvPr/>
        </p:nvSpPr>
        <p:spPr bwMode="auto">
          <a:xfrm>
            <a:off x="6886576" y="5794375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557" name="Rectangle 556"/>
          <p:cNvSpPr>
            <a:spLocks noChangeArrowheads="1"/>
          </p:cNvSpPr>
          <p:nvPr/>
        </p:nvSpPr>
        <p:spPr bwMode="auto">
          <a:xfrm>
            <a:off x="6931026" y="579437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558" name="Rectangle 557"/>
          <p:cNvSpPr>
            <a:spLocks noChangeArrowheads="1"/>
          </p:cNvSpPr>
          <p:nvPr/>
        </p:nvSpPr>
        <p:spPr bwMode="auto">
          <a:xfrm>
            <a:off x="6981826" y="579437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559" name="Rectangle 558"/>
          <p:cNvSpPr>
            <a:spLocks noChangeArrowheads="1"/>
          </p:cNvSpPr>
          <p:nvPr/>
        </p:nvSpPr>
        <p:spPr bwMode="auto">
          <a:xfrm>
            <a:off x="7034213" y="5794375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560" name="Rectangle 559"/>
          <p:cNvSpPr>
            <a:spLocks noChangeArrowheads="1"/>
          </p:cNvSpPr>
          <p:nvPr/>
        </p:nvSpPr>
        <p:spPr bwMode="auto">
          <a:xfrm>
            <a:off x="7059613" y="5794375"/>
            <a:ext cx="3016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61" name="Rectangle 560"/>
          <p:cNvSpPr>
            <a:spLocks noChangeArrowheads="1"/>
          </p:cNvSpPr>
          <p:nvPr/>
        </p:nvSpPr>
        <p:spPr bwMode="auto">
          <a:xfrm>
            <a:off x="7089776" y="579437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562" name="Rectangle 561"/>
          <p:cNvSpPr>
            <a:spLocks noChangeArrowheads="1"/>
          </p:cNvSpPr>
          <p:nvPr/>
        </p:nvSpPr>
        <p:spPr bwMode="auto">
          <a:xfrm>
            <a:off x="7142163" y="5794375"/>
            <a:ext cx="2063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3AA61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F3AA61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563" name="Rectangle 562"/>
          <p:cNvSpPr>
            <a:spLocks noChangeArrowheads="1"/>
          </p:cNvSpPr>
          <p:nvPr/>
        </p:nvSpPr>
        <p:spPr bwMode="auto">
          <a:xfrm>
            <a:off x="4829176" y="3114675"/>
            <a:ext cx="6508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EB75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EB7500"/>
                </a:solidFill>
                <a:latin typeface="Arial" charset="0"/>
                <a:ea typeface="新細明體" charset="-120"/>
              </a:rPr>
              <a:t>C</a:t>
            </a:r>
          </a:p>
        </p:txBody>
      </p:sp>
      <p:sp>
        <p:nvSpPr>
          <p:cNvPr id="564" name="Rectangle 563"/>
          <p:cNvSpPr>
            <a:spLocks noChangeArrowheads="1"/>
          </p:cNvSpPr>
          <p:nvPr/>
        </p:nvSpPr>
        <p:spPr bwMode="auto">
          <a:xfrm>
            <a:off x="4895851" y="311467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EB75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EB75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565" name="Rectangle 564"/>
          <p:cNvSpPr>
            <a:spLocks noChangeArrowheads="1"/>
          </p:cNvSpPr>
          <p:nvPr/>
        </p:nvSpPr>
        <p:spPr bwMode="auto">
          <a:xfrm>
            <a:off x="4948238" y="311467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EB75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EB7500"/>
                </a:solidFill>
                <a:latin typeface="Arial" charset="0"/>
                <a:ea typeface="新細明體" charset="-120"/>
              </a:rPr>
              <a:t>n</a:t>
            </a:r>
          </a:p>
        </p:txBody>
      </p:sp>
      <p:sp>
        <p:nvSpPr>
          <p:cNvPr id="566" name="Rectangle 565"/>
          <p:cNvSpPr>
            <a:spLocks noChangeArrowheads="1"/>
          </p:cNvSpPr>
          <p:nvPr/>
        </p:nvSpPr>
        <p:spPr bwMode="auto">
          <a:xfrm>
            <a:off x="4995863" y="3114675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EB75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EB75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567" name="Rectangle 566"/>
          <p:cNvSpPr>
            <a:spLocks noChangeArrowheads="1"/>
          </p:cNvSpPr>
          <p:nvPr/>
        </p:nvSpPr>
        <p:spPr bwMode="auto">
          <a:xfrm>
            <a:off x="5022851" y="3114675"/>
            <a:ext cx="3016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EB75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EB7500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68" name="Rectangle 567"/>
          <p:cNvSpPr>
            <a:spLocks noChangeArrowheads="1"/>
          </p:cNvSpPr>
          <p:nvPr/>
        </p:nvSpPr>
        <p:spPr bwMode="auto">
          <a:xfrm>
            <a:off x="5051426" y="311467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EB75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EB7500"/>
                </a:solidFill>
                <a:latin typeface="Arial" charset="0"/>
                <a:ea typeface="新細明體" charset="-120"/>
              </a:rPr>
              <a:t>o</a:t>
            </a:r>
          </a:p>
        </p:txBody>
      </p:sp>
      <p:sp>
        <p:nvSpPr>
          <p:cNvPr id="569" name="Rectangle 568"/>
          <p:cNvSpPr>
            <a:spLocks noChangeArrowheads="1"/>
          </p:cNvSpPr>
          <p:nvPr/>
        </p:nvSpPr>
        <p:spPr bwMode="auto">
          <a:xfrm>
            <a:off x="5102226" y="3114675"/>
            <a:ext cx="206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EB75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EB7500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570" name="Freeform 569"/>
          <p:cNvSpPr>
            <a:spLocks noChangeArrowheads="1"/>
          </p:cNvSpPr>
          <p:nvPr/>
        </p:nvSpPr>
        <p:spPr bwMode="auto">
          <a:xfrm>
            <a:off x="4711701" y="3143250"/>
            <a:ext cx="47625" cy="53975"/>
          </a:xfrm>
          <a:custGeom>
            <a:avLst/>
            <a:gdLst>
              <a:gd name="T0" fmla="*/ 0 w 30"/>
              <a:gd name="T1" fmla="*/ 0 h 31"/>
              <a:gd name="T2" fmla="*/ 2 w 30"/>
              <a:gd name="T3" fmla="*/ 31 h 31"/>
              <a:gd name="T4" fmla="*/ 30 w 30"/>
              <a:gd name="T5" fmla="*/ 17 h 31"/>
              <a:gd name="T6" fmla="*/ 2 w 30"/>
              <a:gd name="T7" fmla="*/ 0 h 31"/>
              <a:gd name="T8" fmla="*/ 2 w 30"/>
              <a:gd name="T9" fmla="*/ 0 h 31"/>
              <a:gd name="T10" fmla="*/ 0 w 30"/>
              <a:gd name="T11" fmla="*/ 0 h 31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"/>
              <a:gd name="T19" fmla="*/ 0 h 31"/>
              <a:gd name="T20" fmla="*/ 30 w 30"/>
              <a:gd name="T21" fmla="*/ 31 h 31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" h="31">
                <a:moveTo>
                  <a:pt x="0" y="0"/>
                </a:moveTo>
                <a:lnTo>
                  <a:pt x="2" y="31"/>
                </a:lnTo>
                <a:lnTo>
                  <a:pt x="30" y="17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1" name="Freeform 570"/>
          <p:cNvSpPr>
            <a:spLocks noChangeArrowheads="1"/>
          </p:cNvSpPr>
          <p:nvPr/>
        </p:nvSpPr>
        <p:spPr bwMode="auto">
          <a:xfrm>
            <a:off x="4562476" y="4386263"/>
            <a:ext cx="44450" cy="49212"/>
          </a:xfrm>
          <a:custGeom>
            <a:avLst/>
            <a:gdLst>
              <a:gd name="T0" fmla="*/ 14 w 28"/>
              <a:gd name="T1" fmla="*/ 28 h 28"/>
              <a:gd name="T2" fmla="*/ 17 w 28"/>
              <a:gd name="T3" fmla="*/ 28 h 28"/>
              <a:gd name="T4" fmla="*/ 19 w 28"/>
              <a:gd name="T5" fmla="*/ 28 h 28"/>
              <a:gd name="T6" fmla="*/ 21 w 28"/>
              <a:gd name="T7" fmla="*/ 28 h 28"/>
              <a:gd name="T8" fmla="*/ 24 w 28"/>
              <a:gd name="T9" fmla="*/ 26 h 28"/>
              <a:gd name="T10" fmla="*/ 26 w 28"/>
              <a:gd name="T11" fmla="*/ 23 h 28"/>
              <a:gd name="T12" fmla="*/ 26 w 28"/>
              <a:gd name="T13" fmla="*/ 23 h 28"/>
              <a:gd name="T14" fmla="*/ 28 w 28"/>
              <a:gd name="T15" fmla="*/ 21 h 28"/>
              <a:gd name="T16" fmla="*/ 28 w 28"/>
              <a:gd name="T17" fmla="*/ 19 h 28"/>
              <a:gd name="T18" fmla="*/ 28 w 28"/>
              <a:gd name="T19" fmla="*/ 16 h 28"/>
              <a:gd name="T20" fmla="*/ 28 w 28"/>
              <a:gd name="T21" fmla="*/ 14 h 28"/>
              <a:gd name="T22" fmla="*/ 28 w 28"/>
              <a:gd name="T23" fmla="*/ 12 h 28"/>
              <a:gd name="T24" fmla="*/ 28 w 28"/>
              <a:gd name="T25" fmla="*/ 9 h 28"/>
              <a:gd name="T26" fmla="*/ 28 w 28"/>
              <a:gd name="T27" fmla="*/ 7 h 28"/>
              <a:gd name="T28" fmla="*/ 26 w 28"/>
              <a:gd name="T29" fmla="*/ 5 h 28"/>
              <a:gd name="T30" fmla="*/ 26 w 28"/>
              <a:gd name="T31" fmla="*/ 5 h 28"/>
              <a:gd name="T32" fmla="*/ 24 w 28"/>
              <a:gd name="T33" fmla="*/ 2 h 28"/>
              <a:gd name="T34" fmla="*/ 21 w 28"/>
              <a:gd name="T35" fmla="*/ 2 h 28"/>
              <a:gd name="T36" fmla="*/ 19 w 28"/>
              <a:gd name="T37" fmla="*/ 0 h 28"/>
              <a:gd name="T38" fmla="*/ 17 w 28"/>
              <a:gd name="T39" fmla="*/ 0 h 28"/>
              <a:gd name="T40" fmla="*/ 14 w 28"/>
              <a:gd name="T41" fmla="*/ 0 h 28"/>
              <a:gd name="T42" fmla="*/ 12 w 28"/>
              <a:gd name="T43" fmla="*/ 0 h 28"/>
              <a:gd name="T44" fmla="*/ 10 w 28"/>
              <a:gd name="T45" fmla="*/ 0 h 28"/>
              <a:gd name="T46" fmla="*/ 7 w 28"/>
              <a:gd name="T47" fmla="*/ 2 h 28"/>
              <a:gd name="T48" fmla="*/ 7 w 28"/>
              <a:gd name="T49" fmla="*/ 2 h 28"/>
              <a:gd name="T50" fmla="*/ 5 w 28"/>
              <a:gd name="T51" fmla="*/ 5 h 28"/>
              <a:gd name="T52" fmla="*/ 3 w 28"/>
              <a:gd name="T53" fmla="*/ 5 h 28"/>
              <a:gd name="T54" fmla="*/ 3 w 28"/>
              <a:gd name="T55" fmla="*/ 7 h 28"/>
              <a:gd name="T56" fmla="*/ 0 w 28"/>
              <a:gd name="T57" fmla="*/ 9 h 28"/>
              <a:gd name="T58" fmla="*/ 0 w 28"/>
              <a:gd name="T59" fmla="*/ 12 h 28"/>
              <a:gd name="T60" fmla="*/ 0 w 28"/>
              <a:gd name="T61" fmla="*/ 14 h 28"/>
              <a:gd name="T62" fmla="*/ 0 w 28"/>
              <a:gd name="T63" fmla="*/ 16 h 28"/>
              <a:gd name="T64" fmla="*/ 0 w 28"/>
              <a:gd name="T65" fmla="*/ 19 h 28"/>
              <a:gd name="T66" fmla="*/ 3 w 28"/>
              <a:gd name="T67" fmla="*/ 21 h 28"/>
              <a:gd name="T68" fmla="*/ 3 w 28"/>
              <a:gd name="T69" fmla="*/ 23 h 28"/>
              <a:gd name="T70" fmla="*/ 5 w 28"/>
              <a:gd name="T71" fmla="*/ 23 h 28"/>
              <a:gd name="T72" fmla="*/ 7 w 28"/>
              <a:gd name="T73" fmla="*/ 26 h 28"/>
              <a:gd name="T74" fmla="*/ 7 w 28"/>
              <a:gd name="T75" fmla="*/ 28 h 28"/>
              <a:gd name="T76" fmla="*/ 10 w 28"/>
              <a:gd name="T77" fmla="*/ 28 h 28"/>
              <a:gd name="T78" fmla="*/ 12 w 28"/>
              <a:gd name="T79" fmla="*/ 28 h 28"/>
              <a:gd name="T80" fmla="*/ 14 w 28"/>
              <a:gd name="T81" fmla="*/ 28 h 28"/>
              <a:gd name="T82" fmla="*/ 14 w 28"/>
              <a:gd name="T83" fmla="*/ 28 h 2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8"/>
              <a:gd name="T127" fmla="*/ 0 h 28"/>
              <a:gd name="T128" fmla="*/ 28 w 28"/>
              <a:gd name="T129" fmla="*/ 28 h 2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8" h="28">
                <a:moveTo>
                  <a:pt x="14" y="28"/>
                </a:moveTo>
                <a:lnTo>
                  <a:pt x="17" y="28"/>
                </a:lnTo>
                <a:lnTo>
                  <a:pt x="19" y="28"/>
                </a:lnTo>
                <a:lnTo>
                  <a:pt x="21" y="28"/>
                </a:lnTo>
                <a:lnTo>
                  <a:pt x="24" y="26"/>
                </a:lnTo>
                <a:lnTo>
                  <a:pt x="26" y="23"/>
                </a:lnTo>
                <a:lnTo>
                  <a:pt x="28" y="21"/>
                </a:lnTo>
                <a:lnTo>
                  <a:pt x="28" y="19"/>
                </a:lnTo>
                <a:lnTo>
                  <a:pt x="28" y="16"/>
                </a:lnTo>
                <a:lnTo>
                  <a:pt x="28" y="14"/>
                </a:lnTo>
                <a:lnTo>
                  <a:pt x="28" y="12"/>
                </a:lnTo>
                <a:lnTo>
                  <a:pt x="28" y="9"/>
                </a:lnTo>
                <a:lnTo>
                  <a:pt x="28" y="7"/>
                </a:lnTo>
                <a:lnTo>
                  <a:pt x="26" y="5"/>
                </a:lnTo>
                <a:lnTo>
                  <a:pt x="24" y="2"/>
                </a:lnTo>
                <a:lnTo>
                  <a:pt x="21" y="2"/>
                </a:lnTo>
                <a:lnTo>
                  <a:pt x="19" y="0"/>
                </a:lnTo>
                <a:lnTo>
                  <a:pt x="17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7" y="2"/>
                </a:lnTo>
                <a:lnTo>
                  <a:pt x="5" y="5"/>
                </a:lnTo>
                <a:lnTo>
                  <a:pt x="3" y="5"/>
                </a:lnTo>
                <a:lnTo>
                  <a:pt x="3" y="7"/>
                </a:lnTo>
                <a:lnTo>
                  <a:pt x="0" y="9"/>
                </a:lnTo>
                <a:lnTo>
                  <a:pt x="0" y="12"/>
                </a:lnTo>
                <a:lnTo>
                  <a:pt x="0" y="14"/>
                </a:lnTo>
                <a:lnTo>
                  <a:pt x="0" y="16"/>
                </a:lnTo>
                <a:lnTo>
                  <a:pt x="0" y="19"/>
                </a:lnTo>
                <a:lnTo>
                  <a:pt x="3" y="21"/>
                </a:lnTo>
                <a:lnTo>
                  <a:pt x="3" y="23"/>
                </a:lnTo>
                <a:lnTo>
                  <a:pt x="5" y="23"/>
                </a:lnTo>
                <a:lnTo>
                  <a:pt x="7" y="26"/>
                </a:lnTo>
                <a:lnTo>
                  <a:pt x="7" y="28"/>
                </a:lnTo>
                <a:lnTo>
                  <a:pt x="10" y="28"/>
                </a:lnTo>
                <a:lnTo>
                  <a:pt x="12" y="28"/>
                </a:lnTo>
                <a:lnTo>
                  <a:pt x="14" y="28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2" name="Freeform 571"/>
          <p:cNvSpPr>
            <a:spLocks noChangeArrowheads="1"/>
          </p:cNvSpPr>
          <p:nvPr/>
        </p:nvSpPr>
        <p:spPr bwMode="auto">
          <a:xfrm>
            <a:off x="3817938" y="4999038"/>
            <a:ext cx="44450" cy="49212"/>
          </a:xfrm>
          <a:custGeom>
            <a:avLst/>
            <a:gdLst>
              <a:gd name="T0" fmla="*/ 14 w 28"/>
              <a:gd name="T1" fmla="*/ 28 h 28"/>
              <a:gd name="T2" fmla="*/ 17 w 28"/>
              <a:gd name="T3" fmla="*/ 28 h 28"/>
              <a:gd name="T4" fmla="*/ 19 w 28"/>
              <a:gd name="T5" fmla="*/ 28 h 28"/>
              <a:gd name="T6" fmla="*/ 21 w 28"/>
              <a:gd name="T7" fmla="*/ 28 h 28"/>
              <a:gd name="T8" fmla="*/ 24 w 28"/>
              <a:gd name="T9" fmla="*/ 25 h 28"/>
              <a:gd name="T10" fmla="*/ 24 w 28"/>
              <a:gd name="T11" fmla="*/ 23 h 28"/>
              <a:gd name="T12" fmla="*/ 26 w 28"/>
              <a:gd name="T13" fmla="*/ 23 h 28"/>
              <a:gd name="T14" fmla="*/ 26 w 28"/>
              <a:gd name="T15" fmla="*/ 21 h 28"/>
              <a:gd name="T16" fmla="*/ 28 w 28"/>
              <a:gd name="T17" fmla="*/ 18 h 28"/>
              <a:gd name="T18" fmla="*/ 28 w 28"/>
              <a:gd name="T19" fmla="*/ 16 h 28"/>
              <a:gd name="T20" fmla="*/ 28 w 28"/>
              <a:gd name="T21" fmla="*/ 14 h 28"/>
              <a:gd name="T22" fmla="*/ 28 w 28"/>
              <a:gd name="T23" fmla="*/ 11 h 28"/>
              <a:gd name="T24" fmla="*/ 28 w 28"/>
              <a:gd name="T25" fmla="*/ 9 h 28"/>
              <a:gd name="T26" fmla="*/ 26 w 28"/>
              <a:gd name="T27" fmla="*/ 7 h 28"/>
              <a:gd name="T28" fmla="*/ 26 w 28"/>
              <a:gd name="T29" fmla="*/ 4 h 28"/>
              <a:gd name="T30" fmla="*/ 24 w 28"/>
              <a:gd name="T31" fmla="*/ 4 h 28"/>
              <a:gd name="T32" fmla="*/ 24 w 28"/>
              <a:gd name="T33" fmla="*/ 2 h 28"/>
              <a:gd name="T34" fmla="*/ 21 w 28"/>
              <a:gd name="T35" fmla="*/ 2 h 28"/>
              <a:gd name="T36" fmla="*/ 19 w 28"/>
              <a:gd name="T37" fmla="*/ 0 h 28"/>
              <a:gd name="T38" fmla="*/ 17 w 28"/>
              <a:gd name="T39" fmla="*/ 0 h 28"/>
              <a:gd name="T40" fmla="*/ 14 w 28"/>
              <a:gd name="T41" fmla="*/ 0 h 28"/>
              <a:gd name="T42" fmla="*/ 12 w 28"/>
              <a:gd name="T43" fmla="*/ 0 h 28"/>
              <a:gd name="T44" fmla="*/ 10 w 28"/>
              <a:gd name="T45" fmla="*/ 0 h 28"/>
              <a:gd name="T46" fmla="*/ 7 w 28"/>
              <a:gd name="T47" fmla="*/ 2 h 28"/>
              <a:gd name="T48" fmla="*/ 5 w 28"/>
              <a:gd name="T49" fmla="*/ 2 h 28"/>
              <a:gd name="T50" fmla="*/ 5 w 28"/>
              <a:gd name="T51" fmla="*/ 4 h 28"/>
              <a:gd name="T52" fmla="*/ 3 w 28"/>
              <a:gd name="T53" fmla="*/ 4 h 28"/>
              <a:gd name="T54" fmla="*/ 3 w 28"/>
              <a:gd name="T55" fmla="*/ 7 h 28"/>
              <a:gd name="T56" fmla="*/ 0 w 28"/>
              <a:gd name="T57" fmla="*/ 9 h 28"/>
              <a:gd name="T58" fmla="*/ 0 w 28"/>
              <a:gd name="T59" fmla="*/ 11 h 28"/>
              <a:gd name="T60" fmla="*/ 0 w 28"/>
              <a:gd name="T61" fmla="*/ 14 h 28"/>
              <a:gd name="T62" fmla="*/ 0 w 28"/>
              <a:gd name="T63" fmla="*/ 16 h 28"/>
              <a:gd name="T64" fmla="*/ 0 w 28"/>
              <a:gd name="T65" fmla="*/ 18 h 28"/>
              <a:gd name="T66" fmla="*/ 3 w 28"/>
              <a:gd name="T67" fmla="*/ 21 h 28"/>
              <a:gd name="T68" fmla="*/ 3 w 28"/>
              <a:gd name="T69" fmla="*/ 23 h 28"/>
              <a:gd name="T70" fmla="*/ 5 w 28"/>
              <a:gd name="T71" fmla="*/ 23 h 28"/>
              <a:gd name="T72" fmla="*/ 5 w 28"/>
              <a:gd name="T73" fmla="*/ 25 h 28"/>
              <a:gd name="T74" fmla="*/ 7 w 28"/>
              <a:gd name="T75" fmla="*/ 28 h 28"/>
              <a:gd name="T76" fmla="*/ 10 w 28"/>
              <a:gd name="T77" fmla="*/ 28 h 28"/>
              <a:gd name="T78" fmla="*/ 12 w 28"/>
              <a:gd name="T79" fmla="*/ 28 h 28"/>
              <a:gd name="T80" fmla="*/ 14 w 28"/>
              <a:gd name="T81" fmla="*/ 28 h 28"/>
              <a:gd name="T82" fmla="*/ 14 w 28"/>
              <a:gd name="T83" fmla="*/ 28 h 2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8"/>
              <a:gd name="T127" fmla="*/ 0 h 28"/>
              <a:gd name="T128" fmla="*/ 28 w 28"/>
              <a:gd name="T129" fmla="*/ 28 h 2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8" h="28">
                <a:moveTo>
                  <a:pt x="14" y="28"/>
                </a:moveTo>
                <a:lnTo>
                  <a:pt x="17" y="28"/>
                </a:lnTo>
                <a:lnTo>
                  <a:pt x="19" y="28"/>
                </a:lnTo>
                <a:lnTo>
                  <a:pt x="21" y="28"/>
                </a:lnTo>
                <a:lnTo>
                  <a:pt x="24" y="25"/>
                </a:lnTo>
                <a:lnTo>
                  <a:pt x="24" y="23"/>
                </a:lnTo>
                <a:lnTo>
                  <a:pt x="26" y="23"/>
                </a:lnTo>
                <a:lnTo>
                  <a:pt x="26" y="21"/>
                </a:lnTo>
                <a:lnTo>
                  <a:pt x="28" y="18"/>
                </a:lnTo>
                <a:lnTo>
                  <a:pt x="28" y="16"/>
                </a:lnTo>
                <a:lnTo>
                  <a:pt x="28" y="14"/>
                </a:lnTo>
                <a:lnTo>
                  <a:pt x="28" y="11"/>
                </a:lnTo>
                <a:lnTo>
                  <a:pt x="28" y="9"/>
                </a:lnTo>
                <a:lnTo>
                  <a:pt x="26" y="7"/>
                </a:lnTo>
                <a:lnTo>
                  <a:pt x="26" y="4"/>
                </a:lnTo>
                <a:lnTo>
                  <a:pt x="24" y="4"/>
                </a:lnTo>
                <a:lnTo>
                  <a:pt x="24" y="2"/>
                </a:lnTo>
                <a:lnTo>
                  <a:pt x="21" y="2"/>
                </a:lnTo>
                <a:lnTo>
                  <a:pt x="19" y="0"/>
                </a:lnTo>
                <a:lnTo>
                  <a:pt x="17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7" y="2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  <a:lnTo>
                  <a:pt x="3" y="7"/>
                </a:lnTo>
                <a:lnTo>
                  <a:pt x="0" y="9"/>
                </a:lnTo>
                <a:lnTo>
                  <a:pt x="0" y="11"/>
                </a:lnTo>
                <a:lnTo>
                  <a:pt x="0" y="14"/>
                </a:lnTo>
                <a:lnTo>
                  <a:pt x="0" y="16"/>
                </a:lnTo>
                <a:lnTo>
                  <a:pt x="0" y="18"/>
                </a:lnTo>
                <a:lnTo>
                  <a:pt x="3" y="21"/>
                </a:lnTo>
                <a:lnTo>
                  <a:pt x="3" y="23"/>
                </a:lnTo>
                <a:lnTo>
                  <a:pt x="5" y="23"/>
                </a:lnTo>
                <a:lnTo>
                  <a:pt x="5" y="25"/>
                </a:lnTo>
                <a:lnTo>
                  <a:pt x="7" y="28"/>
                </a:lnTo>
                <a:lnTo>
                  <a:pt x="10" y="28"/>
                </a:lnTo>
                <a:lnTo>
                  <a:pt x="12" y="28"/>
                </a:lnTo>
                <a:lnTo>
                  <a:pt x="14" y="28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3" name="Freeform 572"/>
          <p:cNvSpPr>
            <a:spLocks noChangeArrowheads="1"/>
          </p:cNvSpPr>
          <p:nvPr/>
        </p:nvSpPr>
        <p:spPr bwMode="auto">
          <a:xfrm>
            <a:off x="6586538" y="5073650"/>
            <a:ext cx="44450" cy="52388"/>
          </a:xfrm>
          <a:custGeom>
            <a:avLst/>
            <a:gdLst>
              <a:gd name="T0" fmla="*/ 14 w 28"/>
              <a:gd name="T1" fmla="*/ 28 h 30"/>
              <a:gd name="T2" fmla="*/ 16 w 28"/>
              <a:gd name="T3" fmla="*/ 30 h 30"/>
              <a:gd name="T4" fmla="*/ 18 w 28"/>
              <a:gd name="T5" fmla="*/ 28 h 30"/>
              <a:gd name="T6" fmla="*/ 21 w 28"/>
              <a:gd name="T7" fmla="*/ 28 h 30"/>
              <a:gd name="T8" fmla="*/ 23 w 28"/>
              <a:gd name="T9" fmla="*/ 25 h 30"/>
              <a:gd name="T10" fmla="*/ 25 w 28"/>
              <a:gd name="T11" fmla="*/ 25 h 30"/>
              <a:gd name="T12" fmla="*/ 25 w 28"/>
              <a:gd name="T13" fmla="*/ 23 h 30"/>
              <a:gd name="T14" fmla="*/ 28 w 28"/>
              <a:gd name="T15" fmla="*/ 21 h 30"/>
              <a:gd name="T16" fmla="*/ 28 w 28"/>
              <a:gd name="T17" fmla="*/ 18 h 30"/>
              <a:gd name="T18" fmla="*/ 28 w 28"/>
              <a:gd name="T19" fmla="*/ 18 h 30"/>
              <a:gd name="T20" fmla="*/ 28 w 28"/>
              <a:gd name="T21" fmla="*/ 16 h 30"/>
              <a:gd name="T22" fmla="*/ 28 w 28"/>
              <a:gd name="T23" fmla="*/ 14 h 30"/>
              <a:gd name="T24" fmla="*/ 28 w 28"/>
              <a:gd name="T25" fmla="*/ 11 h 30"/>
              <a:gd name="T26" fmla="*/ 28 w 28"/>
              <a:gd name="T27" fmla="*/ 9 h 30"/>
              <a:gd name="T28" fmla="*/ 25 w 28"/>
              <a:gd name="T29" fmla="*/ 7 h 30"/>
              <a:gd name="T30" fmla="*/ 25 w 28"/>
              <a:gd name="T31" fmla="*/ 4 h 30"/>
              <a:gd name="T32" fmla="*/ 23 w 28"/>
              <a:gd name="T33" fmla="*/ 4 h 30"/>
              <a:gd name="T34" fmla="*/ 21 w 28"/>
              <a:gd name="T35" fmla="*/ 2 h 30"/>
              <a:gd name="T36" fmla="*/ 18 w 28"/>
              <a:gd name="T37" fmla="*/ 2 h 30"/>
              <a:gd name="T38" fmla="*/ 16 w 28"/>
              <a:gd name="T39" fmla="*/ 0 h 30"/>
              <a:gd name="T40" fmla="*/ 14 w 28"/>
              <a:gd name="T41" fmla="*/ 0 h 30"/>
              <a:gd name="T42" fmla="*/ 11 w 28"/>
              <a:gd name="T43" fmla="*/ 0 h 30"/>
              <a:gd name="T44" fmla="*/ 9 w 28"/>
              <a:gd name="T45" fmla="*/ 2 h 30"/>
              <a:gd name="T46" fmla="*/ 7 w 28"/>
              <a:gd name="T47" fmla="*/ 2 h 30"/>
              <a:gd name="T48" fmla="*/ 7 w 28"/>
              <a:gd name="T49" fmla="*/ 4 h 30"/>
              <a:gd name="T50" fmla="*/ 4 w 28"/>
              <a:gd name="T51" fmla="*/ 4 h 30"/>
              <a:gd name="T52" fmla="*/ 2 w 28"/>
              <a:gd name="T53" fmla="*/ 7 h 30"/>
              <a:gd name="T54" fmla="*/ 2 w 28"/>
              <a:gd name="T55" fmla="*/ 9 h 30"/>
              <a:gd name="T56" fmla="*/ 0 w 28"/>
              <a:gd name="T57" fmla="*/ 11 h 30"/>
              <a:gd name="T58" fmla="*/ 0 w 28"/>
              <a:gd name="T59" fmla="*/ 14 h 30"/>
              <a:gd name="T60" fmla="*/ 0 w 28"/>
              <a:gd name="T61" fmla="*/ 16 h 30"/>
              <a:gd name="T62" fmla="*/ 0 w 28"/>
              <a:gd name="T63" fmla="*/ 18 h 30"/>
              <a:gd name="T64" fmla="*/ 0 w 28"/>
              <a:gd name="T65" fmla="*/ 18 h 30"/>
              <a:gd name="T66" fmla="*/ 2 w 28"/>
              <a:gd name="T67" fmla="*/ 21 h 30"/>
              <a:gd name="T68" fmla="*/ 2 w 28"/>
              <a:gd name="T69" fmla="*/ 23 h 30"/>
              <a:gd name="T70" fmla="*/ 4 w 28"/>
              <a:gd name="T71" fmla="*/ 25 h 30"/>
              <a:gd name="T72" fmla="*/ 7 w 28"/>
              <a:gd name="T73" fmla="*/ 25 h 30"/>
              <a:gd name="T74" fmla="*/ 7 w 28"/>
              <a:gd name="T75" fmla="*/ 28 h 30"/>
              <a:gd name="T76" fmla="*/ 9 w 28"/>
              <a:gd name="T77" fmla="*/ 28 h 30"/>
              <a:gd name="T78" fmla="*/ 11 w 28"/>
              <a:gd name="T79" fmla="*/ 30 h 30"/>
              <a:gd name="T80" fmla="*/ 14 w 28"/>
              <a:gd name="T81" fmla="*/ 30 h 30"/>
              <a:gd name="T82" fmla="*/ 14 w 28"/>
              <a:gd name="T83" fmla="*/ 30 h 30"/>
              <a:gd name="T84" fmla="*/ 14 w 28"/>
              <a:gd name="T85" fmla="*/ 28 h 30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8"/>
              <a:gd name="T130" fmla="*/ 0 h 30"/>
              <a:gd name="T131" fmla="*/ 28 w 28"/>
              <a:gd name="T132" fmla="*/ 30 h 30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8" h="30">
                <a:moveTo>
                  <a:pt x="14" y="28"/>
                </a:moveTo>
                <a:lnTo>
                  <a:pt x="16" y="30"/>
                </a:lnTo>
                <a:lnTo>
                  <a:pt x="18" y="28"/>
                </a:lnTo>
                <a:lnTo>
                  <a:pt x="21" y="28"/>
                </a:lnTo>
                <a:lnTo>
                  <a:pt x="23" y="25"/>
                </a:lnTo>
                <a:lnTo>
                  <a:pt x="25" y="25"/>
                </a:lnTo>
                <a:lnTo>
                  <a:pt x="25" y="23"/>
                </a:lnTo>
                <a:lnTo>
                  <a:pt x="28" y="21"/>
                </a:lnTo>
                <a:lnTo>
                  <a:pt x="28" y="18"/>
                </a:lnTo>
                <a:lnTo>
                  <a:pt x="28" y="16"/>
                </a:lnTo>
                <a:lnTo>
                  <a:pt x="28" y="14"/>
                </a:lnTo>
                <a:lnTo>
                  <a:pt x="28" y="11"/>
                </a:lnTo>
                <a:lnTo>
                  <a:pt x="28" y="9"/>
                </a:lnTo>
                <a:lnTo>
                  <a:pt x="25" y="7"/>
                </a:lnTo>
                <a:lnTo>
                  <a:pt x="25" y="4"/>
                </a:lnTo>
                <a:lnTo>
                  <a:pt x="23" y="4"/>
                </a:lnTo>
                <a:lnTo>
                  <a:pt x="21" y="2"/>
                </a:lnTo>
                <a:lnTo>
                  <a:pt x="18" y="2"/>
                </a:lnTo>
                <a:lnTo>
                  <a:pt x="16" y="0"/>
                </a:lnTo>
                <a:lnTo>
                  <a:pt x="14" y="0"/>
                </a:lnTo>
                <a:lnTo>
                  <a:pt x="11" y="0"/>
                </a:lnTo>
                <a:lnTo>
                  <a:pt x="9" y="2"/>
                </a:lnTo>
                <a:lnTo>
                  <a:pt x="7" y="2"/>
                </a:lnTo>
                <a:lnTo>
                  <a:pt x="7" y="4"/>
                </a:lnTo>
                <a:lnTo>
                  <a:pt x="4" y="4"/>
                </a:lnTo>
                <a:lnTo>
                  <a:pt x="2" y="7"/>
                </a:lnTo>
                <a:lnTo>
                  <a:pt x="2" y="9"/>
                </a:lnTo>
                <a:lnTo>
                  <a:pt x="0" y="11"/>
                </a:lnTo>
                <a:lnTo>
                  <a:pt x="0" y="14"/>
                </a:lnTo>
                <a:lnTo>
                  <a:pt x="0" y="16"/>
                </a:lnTo>
                <a:lnTo>
                  <a:pt x="0" y="18"/>
                </a:lnTo>
                <a:lnTo>
                  <a:pt x="2" y="21"/>
                </a:lnTo>
                <a:lnTo>
                  <a:pt x="2" y="23"/>
                </a:lnTo>
                <a:lnTo>
                  <a:pt x="4" y="25"/>
                </a:lnTo>
                <a:lnTo>
                  <a:pt x="7" y="25"/>
                </a:lnTo>
                <a:lnTo>
                  <a:pt x="7" y="28"/>
                </a:lnTo>
                <a:lnTo>
                  <a:pt x="9" y="28"/>
                </a:lnTo>
                <a:lnTo>
                  <a:pt x="11" y="30"/>
                </a:lnTo>
                <a:lnTo>
                  <a:pt x="14" y="30"/>
                </a:lnTo>
                <a:lnTo>
                  <a:pt x="14" y="28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4" name="Freeform 573"/>
          <p:cNvSpPr>
            <a:spLocks noChangeArrowheads="1"/>
          </p:cNvSpPr>
          <p:nvPr/>
        </p:nvSpPr>
        <p:spPr bwMode="auto">
          <a:xfrm>
            <a:off x="6381751" y="4618038"/>
            <a:ext cx="44450" cy="49212"/>
          </a:xfrm>
          <a:custGeom>
            <a:avLst/>
            <a:gdLst>
              <a:gd name="T0" fmla="*/ 12 w 28"/>
              <a:gd name="T1" fmla="*/ 28 h 28"/>
              <a:gd name="T2" fmla="*/ 17 w 28"/>
              <a:gd name="T3" fmla="*/ 28 h 28"/>
              <a:gd name="T4" fmla="*/ 19 w 28"/>
              <a:gd name="T5" fmla="*/ 28 h 28"/>
              <a:gd name="T6" fmla="*/ 21 w 28"/>
              <a:gd name="T7" fmla="*/ 25 h 28"/>
              <a:gd name="T8" fmla="*/ 21 w 28"/>
              <a:gd name="T9" fmla="*/ 25 h 28"/>
              <a:gd name="T10" fmla="*/ 24 w 28"/>
              <a:gd name="T11" fmla="*/ 23 h 28"/>
              <a:gd name="T12" fmla="*/ 26 w 28"/>
              <a:gd name="T13" fmla="*/ 23 h 28"/>
              <a:gd name="T14" fmla="*/ 26 w 28"/>
              <a:gd name="T15" fmla="*/ 21 h 28"/>
              <a:gd name="T16" fmla="*/ 28 w 28"/>
              <a:gd name="T17" fmla="*/ 18 h 28"/>
              <a:gd name="T18" fmla="*/ 28 w 28"/>
              <a:gd name="T19" fmla="*/ 16 h 28"/>
              <a:gd name="T20" fmla="*/ 28 w 28"/>
              <a:gd name="T21" fmla="*/ 14 h 28"/>
              <a:gd name="T22" fmla="*/ 28 w 28"/>
              <a:gd name="T23" fmla="*/ 11 h 28"/>
              <a:gd name="T24" fmla="*/ 28 w 28"/>
              <a:gd name="T25" fmla="*/ 9 h 28"/>
              <a:gd name="T26" fmla="*/ 26 w 28"/>
              <a:gd name="T27" fmla="*/ 7 h 28"/>
              <a:gd name="T28" fmla="*/ 26 w 28"/>
              <a:gd name="T29" fmla="*/ 4 h 28"/>
              <a:gd name="T30" fmla="*/ 24 w 28"/>
              <a:gd name="T31" fmla="*/ 4 h 28"/>
              <a:gd name="T32" fmla="*/ 21 w 28"/>
              <a:gd name="T33" fmla="*/ 2 h 28"/>
              <a:gd name="T34" fmla="*/ 21 w 28"/>
              <a:gd name="T35" fmla="*/ 0 h 28"/>
              <a:gd name="T36" fmla="*/ 19 w 28"/>
              <a:gd name="T37" fmla="*/ 0 h 28"/>
              <a:gd name="T38" fmla="*/ 17 w 28"/>
              <a:gd name="T39" fmla="*/ 0 h 28"/>
              <a:gd name="T40" fmla="*/ 14 w 28"/>
              <a:gd name="T41" fmla="*/ 0 h 28"/>
              <a:gd name="T42" fmla="*/ 12 w 28"/>
              <a:gd name="T43" fmla="*/ 0 h 28"/>
              <a:gd name="T44" fmla="*/ 10 w 28"/>
              <a:gd name="T45" fmla="*/ 0 h 28"/>
              <a:gd name="T46" fmla="*/ 7 w 28"/>
              <a:gd name="T47" fmla="*/ 0 h 28"/>
              <a:gd name="T48" fmla="*/ 5 w 28"/>
              <a:gd name="T49" fmla="*/ 2 h 28"/>
              <a:gd name="T50" fmla="*/ 3 w 28"/>
              <a:gd name="T51" fmla="*/ 4 h 28"/>
              <a:gd name="T52" fmla="*/ 3 w 28"/>
              <a:gd name="T53" fmla="*/ 4 h 28"/>
              <a:gd name="T54" fmla="*/ 0 w 28"/>
              <a:gd name="T55" fmla="*/ 7 h 28"/>
              <a:gd name="T56" fmla="*/ 0 w 28"/>
              <a:gd name="T57" fmla="*/ 9 h 28"/>
              <a:gd name="T58" fmla="*/ 0 w 28"/>
              <a:gd name="T59" fmla="*/ 11 h 28"/>
              <a:gd name="T60" fmla="*/ 0 w 28"/>
              <a:gd name="T61" fmla="*/ 14 h 28"/>
              <a:gd name="T62" fmla="*/ 0 w 28"/>
              <a:gd name="T63" fmla="*/ 16 h 28"/>
              <a:gd name="T64" fmla="*/ 0 w 28"/>
              <a:gd name="T65" fmla="*/ 18 h 28"/>
              <a:gd name="T66" fmla="*/ 0 w 28"/>
              <a:gd name="T67" fmla="*/ 21 h 28"/>
              <a:gd name="T68" fmla="*/ 3 w 28"/>
              <a:gd name="T69" fmla="*/ 23 h 28"/>
              <a:gd name="T70" fmla="*/ 3 w 28"/>
              <a:gd name="T71" fmla="*/ 23 h 28"/>
              <a:gd name="T72" fmla="*/ 5 w 28"/>
              <a:gd name="T73" fmla="*/ 25 h 28"/>
              <a:gd name="T74" fmla="*/ 7 w 28"/>
              <a:gd name="T75" fmla="*/ 25 h 28"/>
              <a:gd name="T76" fmla="*/ 10 w 28"/>
              <a:gd name="T77" fmla="*/ 28 h 28"/>
              <a:gd name="T78" fmla="*/ 12 w 28"/>
              <a:gd name="T79" fmla="*/ 28 h 28"/>
              <a:gd name="T80" fmla="*/ 14 w 28"/>
              <a:gd name="T81" fmla="*/ 28 h 28"/>
              <a:gd name="T82" fmla="*/ 14 w 28"/>
              <a:gd name="T83" fmla="*/ 28 h 28"/>
              <a:gd name="T84" fmla="*/ 12 w 28"/>
              <a:gd name="T85" fmla="*/ 28 h 28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w 28"/>
              <a:gd name="T130" fmla="*/ 0 h 28"/>
              <a:gd name="T131" fmla="*/ 28 w 28"/>
              <a:gd name="T132" fmla="*/ 28 h 28"/>
            </a:gdLst>
            <a:ahLst/>
            <a:cxnLst>
              <a:cxn ang="T86">
                <a:pos x="T0" y="T1"/>
              </a:cxn>
              <a:cxn ang="T87">
                <a:pos x="T2" y="T3"/>
              </a:cxn>
              <a:cxn ang="T88">
                <a:pos x="T4" y="T5"/>
              </a:cxn>
              <a:cxn ang="T89">
                <a:pos x="T6" y="T7"/>
              </a:cxn>
              <a:cxn ang="T90">
                <a:pos x="T8" y="T9"/>
              </a:cxn>
              <a:cxn ang="T91">
                <a:pos x="T10" y="T11"/>
              </a:cxn>
              <a:cxn ang="T92">
                <a:pos x="T12" y="T13"/>
              </a:cxn>
              <a:cxn ang="T93">
                <a:pos x="T14" y="T15"/>
              </a:cxn>
              <a:cxn ang="T94">
                <a:pos x="T16" y="T17"/>
              </a:cxn>
              <a:cxn ang="T95">
                <a:pos x="T18" y="T19"/>
              </a:cxn>
              <a:cxn ang="T96">
                <a:pos x="T20" y="T21"/>
              </a:cxn>
              <a:cxn ang="T97">
                <a:pos x="T22" y="T23"/>
              </a:cxn>
              <a:cxn ang="T98">
                <a:pos x="T24" y="T25"/>
              </a:cxn>
              <a:cxn ang="T99">
                <a:pos x="T26" y="T27"/>
              </a:cxn>
              <a:cxn ang="T100">
                <a:pos x="T28" y="T29"/>
              </a:cxn>
              <a:cxn ang="T101">
                <a:pos x="T30" y="T31"/>
              </a:cxn>
              <a:cxn ang="T102">
                <a:pos x="T32" y="T33"/>
              </a:cxn>
              <a:cxn ang="T103">
                <a:pos x="T34" y="T35"/>
              </a:cxn>
              <a:cxn ang="T104">
                <a:pos x="T36" y="T37"/>
              </a:cxn>
              <a:cxn ang="T105">
                <a:pos x="T38" y="T39"/>
              </a:cxn>
              <a:cxn ang="T106">
                <a:pos x="T40" y="T41"/>
              </a:cxn>
              <a:cxn ang="T107">
                <a:pos x="T42" y="T43"/>
              </a:cxn>
              <a:cxn ang="T108">
                <a:pos x="T44" y="T45"/>
              </a:cxn>
              <a:cxn ang="T109">
                <a:pos x="T46" y="T47"/>
              </a:cxn>
              <a:cxn ang="T110">
                <a:pos x="T48" y="T49"/>
              </a:cxn>
              <a:cxn ang="T111">
                <a:pos x="T50" y="T51"/>
              </a:cxn>
              <a:cxn ang="T112">
                <a:pos x="T52" y="T53"/>
              </a:cxn>
              <a:cxn ang="T113">
                <a:pos x="T54" y="T55"/>
              </a:cxn>
              <a:cxn ang="T114">
                <a:pos x="T56" y="T57"/>
              </a:cxn>
              <a:cxn ang="T115">
                <a:pos x="T58" y="T59"/>
              </a:cxn>
              <a:cxn ang="T116">
                <a:pos x="T60" y="T61"/>
              </a:cxn>
              <a:cxn ang="T117">
                <a:pos x="T62" y="T63"/>
              </a:cxn>
              <a:cxn ang="T118">
                <a:pos x="T64" y="T65"/>
              </a:cxn>
              <a:cxn ang="T119">
                <a:pos x="T66" y="T67"/>
              </a:cxn>
              <a:cxn ang="T120">
                <a:pos x="T68" y="T69"/>
              </a:cxn>
              <a:cxn ang="T121">
                <a:pos x="T70" y="T71"/>
              </a:cxn>
              <a:cxn ang="T122">
                <a:pos x="T72" y="T73"/>
              </a:cxn>
              <a:cxn ang="T123">
                <a:pos x="T74" y="T75"/>
              </a:cxn>
              <a:cxn ang="T124">
                <a:pos x="T76" y="T77"/>
              </a:cxn>
              <a:cxn ang="T125">
                <a:pos x="T78" y="T79"/>
              </a:cxn>
              <a:cxn ang="T126">
                <a:pos x="T80" y="T81"/>
              </a:cxn>
              <a:cxn ang="T127">
                <a:pos x="T82" y="T83"/>
              </a:cxn>
              <a:cxn ang="T128">
                <a:pos x="T84" y="T85"/>
              </a:cxn>
            </a:cxnLst>
            <a:rect l="T129" t="T130" r="T131" b="T132"/>
            <a:pathLst>
              <a:path w="28" h="28">
                <a:moveTo>
                  <a:pt x="12" y="28"/>
                </a:moveTo>
                <a:lnTo>
                  <a:pt x="17" y="28"/>
                </a:lnTo>
                <a:lnTo>
                  <a:pt x="19" y="28"/>
                </a:lnTo>
                <a:lnTo>
                  <a:pt x="21" y="25"/>
                </a:lnTo>
                <a:lnTo>
                  <a:pt x="24" y="23"/>
                </a:lnTo>
                <a:lnTo>
                  <a:pt x="26" y="23"/>
                </a:lnTo>
                <a:lnTo>
                  <a:pt x="26" y="21"/>
                </a:lnTo>
                <a:lnTo>
                  <a:pt x="28" y="18"/>
                </a:lnTo>
                <a:lnTo>
                  <a:pt x="28" y="16"/>
                </a:lnTo>
                <a:lnTo>
                  <a:pt x="28" y="14"/>
                </a:lnTo>
                <a:lnTo>
                  <a:pt x="28" y="11"/>
                </a:lnTo>
                <a:lnTo>
                  <a:pt x="28" y="9"/>
                </a:lnTo>
                <a:lnTo>
                  <a:pt x="26" y="7"/>
                </a:lnTo>
                <a:lnTo>
                  <a:pt x="26" y="4"/>
                </a:lnTo>
                <a:lnTo>
                  <a:pt x="24" y="4"/>
                </a:lnTo>
                <a:lnTo>
                  <a:pt x="21" y="2"/>
                </a:lnTo>
                <a:lnTo>
                  <a:pt x="21" y="0"/>
                </a:lnTo>
                <a:lnTo>
                  <a:pt x="19" y="0"/>
                </a:lnTo>
                <a:lnTo>
                  <a:pt x="17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7" y="0"/>
                </a:lnTo>
                <a:lnTo>
                  <a:pt x="5" y="2"/>
                </a:lnTo>
                <a:lnTo>
                  <a:pt x="3" y="4"/>
                </a:lnTo>
                <a:lnTo>
                  <a:pt x="0" y="7"/>
                </a:lnTo>
                <a:lnTo>
                  <a:pt x="0" y="9"/>
                </a:lnTo>
                <a:lnTo>
                  <a:pt x="0" y="11"/>
                </a:lnTo>
                <a:lnTo>
                  <a:pt x="0" y="14"/>
                </a:lnTo>
                <a:lnTo>
                  <a:pt x="0" y="16"/>
                </a:lnTo>
                <a:lnTo>
                  <a:pt x="0" y="18"/>
                </a:lnTo>
                <a:lnTo>
                  <a:pt x="0" y="21"/>
                </a:lnTo>
                <a:lnTo>
                  <a:pt x="3" y="23"/>
                </a:lnTo>
                <a:lnTo>
                  <a:pt x="5" y="25"/>
                </a:lnTo>
                <a:lnTo>
                  <a:pt x="7" y="25"/>
                </a:lnTo>
                <a:lnTo>
                  <a:pt x="10" y="28"/>
                </a:lnTo>
                <a:lnTo>
                  <a:pt x="12" y="28"/>
                </a:lnTo>
                <a:lnTo>
                  <a:pt x="14" y="28"/>
                </a:lnTo>
                <a:lnTo>
                  <a:pt x="12" y="28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75" name="Rectangle 574"/>
          <p:cNvSpPr>
            <a:spLocks noChangeArrowheads="1"/>
          </p:cNvSpPr>
          <p:nvPr/>
        </p:nvSpPr>
        <p:spPr bwMode="auto">
          <a:xfrm>
            <a:off x="7308851" y="2270125"/>
            <a:ext cx="603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576" name="Rectangle 575"/>
          <p:cNvSpPr>
            <a:spLocks noChangeArrowheads="1"/>
          </p:cNvSpPr>
          <p:nvPr/>
        </p:nvSpPr>
        <p:spPr bwMode="auto">
          <a:xfrm>
            <a:off x="7367588" y="227012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577" name="Rectangle 576"/>
          <p:cNvSpPr>
            <a:spLocks noChangeArrowheads="1"/>
          </p:cNvSpPr>
          <p:nvPr/>
        </p:nvSpPr>
        <p:spPr bwMode="auto">
          <a:xfrm>
            <a:off x="7419976" y="227012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578" name="Rectangle 577"/>
          <p:cNvSpPr>
            <a:spLocks noChangeArrowheads="1"/>
          </p:cNvSpPr>
          <p:nvPr/>
        </p:nvSpPr>
        <p:spPr bwMode="auto">
          <a:xfrm>
            <a:off x="7570788" y="2220913"/>
            <a:ext cx="603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579" name="Rectangle 578"/>
          <p:cNvSpPr>
            <a:spLocks noChangeArrowheads="1"/>
          </p:cNvSpPr>
          <p:nvPr/>
        </p:nvSpPr>
        <p:spPr bwMode="auto">
          <a:xfrm>
            <a:off x="7634288" y="222091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580" name="Rectangle 579"/>
          <p:cNvSpPr>
            <a:spLocks noChangeArrowheads="1"/>
          </p:cNvSpPr>
          <p:nvPr/>
        </p:nvSpPr>
        <p:spPr bwMode="auto">
          <a:xfrm>
            <a:off x="7681913" y="2220913"/>
            <a:ext cx="6508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581" name="Rectangle 580"/>
          <p:cNvSpPr>
            <a:spLocks noChangeArrowheads="1"/>
          </p:cNvSpPr>
          <p:nvPr/>
        </p:nvSpPr>
        <p:spPr bwMode="auto">
          <a:xfrm>
            <a:off x="7748588" y="2220913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2" name="Rectangle 581"/>
          <p:cNvSpPr>
            <a:spLocks noChangeArrowheads="1"/>
          </p:cNvSpPr>
          <p:nvPr/>
        </p:nvSpPr>
        <p:spPr bwMode="auto">
          <a:xfrm>
            <a:off x="7500938" y="2320925"/>
            <a:ext cx="3016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583" name="Rectangle 582"/>
          <p:cNvSpPr>
            <a:spLocks noChangeArrowheads="1"/>
          </p:cNvSpPr>
          <p:nvPr/>
        </p:nvSpPr>
        <p:spPr bwMode="auto">
          <a:xfrm>
            <a:off x="7531101" y="232092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584" name="Rectangle 583"/>
          <p:cNvSpPr>
            <a:spLocks noChangeArrowheads="1"/>
          </p:cNvSpPr>
          <p:nvPr/>
        </p:nvSpPr>
        <p:spPr bwMode="auto">
          <a:xfrm>
            <a:off x="7581901" y="2320925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585" name="Rectangle 584"/>
          <p:cNvSpPr>
            <a:spLocks noChangeArrowheads="1"/>
          </p:cNvSpPr>
          <p:nvPr/>
        </p:nvSpPr>
        <p:spPr bwMode="auto">
          <a:xfrm>
            <a:off x="7626351" y="2320925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586" name="Rectangle 585"/>
          <p:cNvSpPr>
            <a:spLocks noChangeArrowheads="1"/>
          </p:cNvSpPr>
          <p:nvPr/>
        </p:nvSpPr>
        <p:spPr bwMode="auto">
          <a:xfrm>
            <a:off x="7678738" y="2320925"/>
            <a:ext cx="2063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587" name="Rectangle 586"/>
          <p:cNvSpPr>
            <a:spLocks noChangeArrowheads="1"/>
          </p:cNvSpPr>
          <p:nvPr/>
        </p:nvSpPr>
        <p:spPr bwMode="auto">
          <a:xfrm>
            <a:off x="7697788" y="2320925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588" name="Rectangle 587"/>
          <p:cNvSpPr>
            <a:spLocks noChangeArrowheads="1"/>
          </p:cNvSpPr>
          <p:nvPr/>
        </p:nvSpPr>
        <p:spPr bwMode="auto">
          <a:xfrm>
            <a:off x="8491538" y="1882775"/>
            <a:ext cx="730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M</a:t>
            </a:r>
          </a:p>
        </p:txBody>
      </p:sp>
      <p:sp>
        <p:nvSpPr>
          <p:cNvPr id="589" name="Rectangle 588"/>
          <p:cNvSpPr>
            <a:spLocks noChangeArrowheads="1"/>
          </p:cNvSpPr>
          <p:nvPr/>
        </p:nvSpPr>
        <p:spPr bwMode="auto">
          <a:xfrm>
            <a:off x="8564563" y="1882775"/>
            <a:ext cx="1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0" name="Rectangle 589"/>
          <p:cNvSpPr>
            <a:spLocks noChangeArrowheads="1"/>
          </p:cNvSpPr>
          <p:nvPr/>
        </p:nvSpPr>
        <p:spPr bwMode="auto">
          <a:xfrm>
            <a:off x="8505826" y="1985963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591" name="Rectangle 590"/>
          <p:cNvSpPr>
            <a:spLocks noChangeArrowheads="1"/>
          </p:cNvSpPr>
          <p:nvPr/>
        </p:nvSpPr>
        <p:spPr bwMode="auto">
          <a:xfrm>
            <a:off x="8556626" y="1985963"/>
            <a:ext cx="15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2" name="Rectangle 591"/>
          <p:cNvSpPr>
            <a:spLocks noChangeArrowheads="1"/>
          </p:cNvSpPr>
          <p:nvPr/>
        </p:nvSpPr>
        <p:spPr bwMode="auto">
          <a:xfrm>
            <a:off x="8505826" y="2084388"/>
            <a:ext cx="4445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x</a:t>
            </a:r>
          </a:p>
        </p:txBody>
      </p:sp>
      <p:sp>
        <p:nvSpPr>
          <p:cNvPr id="593" name="Rectangle 592"/>
          <p:cNvSpPr>
            <a:spLocks noChangeArrowheads="1"/>
          </p:cNvSpPr>
          <p:nvPr/>
        </p:nvSpPr>
        <p:spPr bwMode="auto">
          <a:xfrm>
            <a:off x="8478838" y="1697038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0</a:t>
            </a:r>
          </a:p>
        </p:txBody>
      </p:sp>
      <p:sp>
        <p:nvSpPr>
          <p:cNvPr id="594" name="Rectangle 593"/>
          <p:cNvSpPr>
            <a:spLocks noChangeArrowheads="1"/>
          </p:cNvSpPr>
          <p:nvPr/>
        </p:nvSpPr>
        <p:spPr bwMode="auto">
          <a:xfrm>
            <a:off x="8478838" y="2270125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1</a:t>
            </a:r>
          </a:p>
        </p:txBody>
      </p:sp>
      <p:sp>
        <p:nvSpPr>
          <p:cNvPr id="595" name="Rectangle 594"/>
          <p:cNvSpPr>
            <a:spLocks noChangeArrowheads="1"/>
          </p:cNvSpPr>
          <p:nvPr/>
        </p:nvSpPr>
        <p:spPr bwMode="auto">
          <a:xfrm>
            <a:off x="9061451" y="2270125"/>
            <a:ext cx="57150" cy="12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FFFFFF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800" b="1">
                <a:solidFill>
                  <a:srgbClr val="FFFFFF"/>
                </a:solidFill>
                <a:latin typeface="Arial" charset="0"/>
                <a:ea typeface="新細明體" charset="-120"/>
              </a:rPr>
              <a:t>0</a:t>
            </a:r>
          </a:p>
        </p:txBody>
      </p:sp>
      <p:sp>
        <p:nvSpPr>
          <p:cNvPr id="596" name="Freeform 595"/>
          <p:cNvSpPr>
            <a:spLocks noChangeArrowheads="1"/>
          </p:cNvSpPr>
          <p:nvPr/>
        </p:nvSpPr>
        <p:spPr bwMode="auto">
          <a:xfrm>
            <a:off x="3836988" y="3173413"/>
            <a:ext cx="885825" cy="1395412"/>
          </a:xfrm>
          <a:custGeom>
            <a:avLst/>
            <a:gdLst>
              <a:gd name="T0" fmla="*/ 0 w 558"/>
              <a:gd name="T1" fmla="*/ 789 h 789"/>
              <a:gd name="T2" fmla="*/ 2 w 558"/>
              <a:gd name="T3" fmla="*/ 0 h 789"/>
              <a:gd name="T4" fmla="*/ 558 w 558"/>
              <a:gd name="T5" fmla="*/ 0 h 789"/>
              <a:gd name="T6" fmla="*/ 0 60000 65536"/>
              <a:gd name="T7" fmla="*/ 0 60000 65536"/>
              <a:gd name="T8" fmla="*/ 0 60000 65536"/>
              <a:gd name="T9" fmla="*/ 0 w 558"/>
              <a:gd name="T10" fmla="*/ 0 h 789"/>
              <a:gd name="T11" fmla="*/ 558 w 558"/>
              <a:gd name="T12" fmla="*/ 789 h 7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58" h="789">
                <a:moveTo>
                  <a:pt x="0" y="789"/>
                </a:moveTo>
                <a:lnTo>
                  <a:pt x="2" y="0"/>
                </a:lnTo>
                <a:lnTo>
                  <a:pt x="558" y="0"/>
                </a:lnTo>
              </a:path>
            </a:pathLst>
          </a:custGeom>
          <a:noFill/>
          <a:ln w="1908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7" name="Freeform 596"/>
          <p:cNvSpPr>
            <a:spLocks noChangeArrowheads="1"/>
          </p:cNvSpPr>
          <p:nvPr/>
        </p:nvSpPr>
        <p:spPr bwMode="auto">
          <a:xfrm>
            <a:off x="3817938" y="4079875"/>
            <a:ext cx="44450" cy="50800"/>
          </a:xfrm>
          <a:custGeom>
            <a:avLst/>
            <a:gdLst>
              <a:gd name="T0" fmla="*/ 14 w 28"/>
              <a:gd name="T1" fmla="*/ 28 h 28"/>
              <a:gd name="T2" fmla="*/ 17 w 28"/>
              <a:gd name="T3" fmla="*/ 28 h 28"/>
              <a:gd name="T4" fmla="*/ 19 w 28"/>
              <a:gd name="T5" fmla="*/ 28 h 28"/>
              <a:gd name="T6" fmla="*/ 21 w 28"/>
              <a:gd name="T7" fmla="*/ 28 h 28"/>
              <a:gd name="T8" fmla="*/ 24 w 28"/>
              <a:gd name="T9" fmla="*/ 26 h 28"/>
              <a:gd name="T10" fmla="*/ 24 w 28"/>
              <a:gd name="T11" fmla="*/ 24 h 28"/>
              <a:gd name="T12" fmla="*/ 26 w 28"/>
              <a:gd name="T13" fmla="*/ 24 h 28"/>
              <a:gd name="T14" fmla="*/ 26 w 28"/>
              <a:gd name="T15" fmla="*/ 21 h 28"/>
              <a:gd name="T16" fmla="*/ 28 w 28"/>
              <a:gd name="T17" fmla="*/ 19 h 28"/>
              <a:gd name="T18" fmla="*/ 28 w 28"/>
              <a:gd name="T19" fmla="*/ 17 h 28"/>
              <a:gd name="T20" fmla="*/ 28 w 28"/>
              <a:gd name="T21" fmla="*/ 14 h 28"/>
              <a:gd name="T22" fmla="*/ 28 w 28"/>
              <a:gd name="T23" fmla="*/ 12 h 28"/>
              <a:gd name="T24" fmla="*/ 28 w 28"/>
              <a:gd name="T25" fmla="*/ 10 h 28"/>
              <a:gd name="T26" fmla="*/ 26 w 28"/>
              <a:gd name="T27" fmla="*/ 7 h 28"/>
              <a:gd name="T28" fmla="*/ 26 w 28"/>
              <a:gd name="T29" fmla="*/ 5 h 28"/>
              <a:gd name="T30" fmla="*/ 24 w 28"/>
              <a:gd name="T31" fmla="*/ 5 h 28"/>
              <a:gd name="T32" fmla="*/ 24 w 28"/>
              <a:gd name="T33" fmla="*/ 3 h 28"/>
              <a:gd name="T34" fmla="*/ 21 w 28"/>
              <a:gd name="T35" fmla="*/ 3 h 28"/>
              <a:gd name="T36" fmla="*/ 19 w 28"/>
              <a:gd name="T37" fmla="*/ 0 h 28"/>
              <a:gd name="T38" fmla="*/ 17 w 28"/>
              <a:gd name="T39" fmla="*/ 0 h 28"/>
              <a:gd name="T40" fmla="*/ 14 w 28"/>
              <a:gd name="T41" fmla="*/ 0 h 28"/>
              <a:gd name="T42" fmla="*/ 12 w 28"/>
              <a:gd name="T43" fmla="*/ 0 h 28"/>
              <a:gd name="T44" fmla="*/ 10 w 28"/>
              <a:gd name="T45" fmla="*/ 0 h 28"/>
              <a:gd name="T46" fmla="*/ 7 w 28"/>
              <a:gd name="T47" fmla="*/ 3 h 28"/>
              <a:gd name="T48" fmla="*/ 5 w 28"/>
              <a:gd name="T49" fmla="*/ 3 h 28"/>
              <a:gd name="T50" fmla="*/ 5 w 28"/>
              <a:gd name="T51" fmla="*/ 5 h 28"/>
              <a:gd name="T52" fmla="*/ 3 w 28"/>
              <a:gd name="T53" fmla="*/ 5 h 28"/>
              <a:gd name="T54" fmla="*/ 3 w 28"/>
              <a:gd name="T55" fmla="*/ 7 h 28"/>
              <a:gd name="T56" fmla="*/ 0 w 28"/>
              <a:gd name="T57" fmla="*/ 10 h 28"/>
              <a:gd name="T58" fmla="*/ 0 w 28"/>
              <a:gd name="T59" fmla="*/ 12 h 28"/>
              <a:gd name="T60" fmla="*/ 0 w 28"/>
              <a:gd name="T61" fmla="*/ 14 h 28"/>
              <a:gd name="T62" fmla="*/ 0 w 28"/>
              <a:gd name="T63" fmla="*/ 17 h 28"/>
              <a:gd name="T64" fmla="*/ 0 w 28"/>
              <a:gd name="T65" fmla="*/ 19 h 28"/>
              <a:gd name="T66" fmla="*/ 3 w 28"/>
              <a:gd name="T67" fmla="*/ 21 h 28"/>
              <a:gd name="T68" fmla="*/ 3 w 28"/>
              <a:gd name="T69" fmla="*/ 24 h 28"/>
              <a:gd name="T70" fmla="*/ 5 w 28"/>
              <a:gd name="T71" fmla="*/ 24 h 28"/>
              <a:gd name="T72" fmla="*/ 5 w 28"/>
              <a:gd name="T73" fmla="*/ 26 h 28"/>
              <a:gd name="T74" fmla="*/ 7 w 28"/>
              <a:gd name="T75" fmla="*/ 28 h 28"/>
              <a:gd name="T76" fmla="*/ 10 w 28"/>
              <a:gd name="T77" fmla="*/ 28 h 28"/>
              <a:gd name="T78" fmla="*/ 12 w 28"/>
              <a:gd name="T79" fmla="*/ 28 h 28"/>
              <a:gd name="T80" fmla="*/ 14 w 28"/>
              <a:gd name="T81" fmla="*/ 28 h 28"/>
              <a:gd name="T82" fmla="*/ 14 w 28"/>
              <a:gd name="T83" fmla="*/ 28 h 2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8"/>
              <a:gd name="T127" fmla="*/ 0 h 28"/>
              <a:gd name="T128" fmla="*/ 28 w 28"/>
              <a:gd name="T129" fmla="*/ 28 h 2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8" h="28">
                <a:moveTo>
                  <a:pt x="14" y="28"/>
                </a:moveTo>
                <a:lnTo>
                  <a:pt x="17" y="28"/>
                </a:lnTo>
                <a:lnTo>
                  <a:pt x="19" y="28"/>
                </a:lnTo>
                <a:lnTo>
                  <a:pt x="21" y="28"/>
                </a:lnTo>
                <a:lnTo>
                  <a:pt x="24" y="26"/>
                </a:lnTo>
                <a:lnTo>
                  <a:pt x="24" y="24"/>
                </a:lnTo>
                <a:lnTo>
                  <a:pt x="26" y="24"/>
                </a:lnTo>
                <a:lnTo>
                  <a:pt x="26" y="21"/>
                </a:lnTo>
                <a:lnTo>
                  <a:pt x="28" y="19"/>
                </a:lnTo>
                <a:lnTo>
                  <a:pt x="28" y="17"/>
                </a:lnTo>
                <a:lnTo>
                  <a:pt x="28" y="14"/>
                </a:lnTo>
                <a:lnTo>
                  <a:pt x="28" y="12"/>
                </a:lnTo>
                <a:lnTo>
                  <a:pt x="28" y="10"/>
                </a:lnTo>
                <a:lnTo>
                  <a:pt x="26" y="7"/>
                </a:lnTo>
                <a:lnTo>
                  <a:pt x="26" y="5"/>
                </a:lnTo>
                <a:lnTo>
                  <a:pt x="24" y="5"/>
                </a:lnTo>
                <a:lnTo>
                  <a:pt x="24" y="3"/>
                </a:lnTo>
                <a:lnTo>
                  <a:pt x="21" y="3"/>
                </a:lnTo>
                <a:lnTo>
                  <a:pt x="19" y="0"/>
                </a:lnTo>
                <a:lnTo>
                  <a:pt x="17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7" y="3"/>
                </a:lnTo>
                <a:lnTo>
                  <a:pt x="5" y="3"/>
                </a:lnTo>
                <a:lnTo>
                  <a:pt x="5" y="5"/>
                </a:lnTo>
                <a:lnTo>
                  <a:pt x="3" y="5"/>
                </a:lnTo>
                <a:lnTo>
                  <a:pt x="3" y="7"/>
                </a:lnTo>
                <a:lnTo>
                  <a:pt x="0" y="10"/>
                </a:lnTo>
                <a:lnTo>
                  <a:pt x="0" y="12"/>
                </a:lnTo>
                <a:lnTo>
                  <a:pt x="0" y="14"/>
                </a:lnTo>
                <a:lnTo>
                  <a:pt x="0" y="17"/>
                </a:lnTo>
                <a:lnTo>
                  <a:pt x="0" y="19"/>
                </a:lnTo>
                <a:lnTo>
                  <a:pt x="3" y="21"/>
                </a:lnTo>
                <a:lnTo>
                  <a:pt x="3" y="24"/>
                </a:lnTo>
                <a:lnTo>
                  <a:pt x="5" y="24"/>
                </a:lnTo>
                <a:lnTo>
                  <a:pt x="5" y="26"/>
                </a:lnTo>
                <a:lnTo>
                  <a:pt x="7" y="28"/>
                </a:lnTo>
                <a:lnTo>
                  <a:pt x="10" y="28"/>
                </a:lnTo>
                <a:lnTo>
                  <a:pt x="12" y="28"/>
                </a:lnTo>
                <a:lnTo>
                  <a:pt x="14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8" name="Freeform 597"/>
          <p:cNvSpPr>
            <a:spLocks noChangeArrowheads="1"/>
          </p:cNvSpPr>
          <p:nvPr/>
        </p:nvSpPr>
        <p:spPr bwMode="auto">
          <a:xfrm>
            <a:off x="3817938" y="4386263"/>
            <a:ext cx="44450" cy="49212"/>
          </a:xfrm>
          <a:custGeom>
            <a:avLst/>
            <a:gdLst>
              <a:gd name="T0" fmla="*/ 14 w 28"/>
              <a:gd name="T1" fmla="*/ 28 h 28"/>
              <a:gd name="T2" fmla="*/ 17 w 28"/>
              <a:gd name="T3" fmla="*/ 28 h 28"/>
              <a:gd name="T4" fmla="*/ 19 w 28"/>
              <a:gd name="T5" fmla="*/ 28 h 28"/>
              <a:gd name="T6" fmla="*/ 21 w 28"/>
              <a:gd name="T7" fmla="*/ 28 h 28"/>
              <a:gd name="T8" fmla="*/ 24 w 28"/>
              <a:gd name="T9" fmla="*/ 26 h 28"/>
              <a:gd name="T10" fmla="*/ 24 w 28"/>
              <a:gd name="T11" fmla="*/ 23 h 28"/>
              <a:gd name="T12" fmla="*/ 26 w 28"/>
              <a:gd name="T13" fmla="*/ 23 h 28"/>
              <a:gd name="T14" fmla="*/ 26 w 28"/>
              <a:gd name="T15" fmla="*/ 21 h 28"/>
              <a:gd name="T16" fmla="*/ 28 w 28"/>
              <a:gd name="T17" fmla="*/ 19 h 28"/>
              <a:gd name="T18" fmla="*/ 28 w 28"/>
              <a:gd name="T19" fmla="*/ 16 h 28"/>
              <a:gd name="T20" fmla="*/ 28 w 28"/>
              <a:gd name="T21" fmla="*/ 14 h 28"/>
              <a:gd name="T22" fmla="*/ 28 w 28"/>
              <a:gd name="T23" fmla="*/ 12 h 28"/>
              <a:gd name="T24" fmla="*/ 28 w 28"/>
              <a:gd name="T25" fmla="*/ 9 h 28"/>
              <a:gd name="T26" fmla="*/ 26 w 28"/>
              <a:gd name="T27" fmla="*/ 7 h 28"/>
              <a:gd name="T28" fmla="*/ 26 w 28"/>
              <a:gd name="T29" fmla="*/ 5 h 28"/>
              <a:gd name="T30" fmla="*/ 24 w 28"/>
              <a:gd name="T31" fmla="*/ 5 h 28"/>
              <a:gd name="T32" fmla="*/ 24 w 28"/>
              <a:gd name="T33" fmla="*/ 2 h 28"/>
              <a:gd name="T34" fmla="*/ 21 w 28"/>
              <a:gd name="T35" fmla="*/ 2 h 28"/>
              <a:gd name="T36" fmla="*/ 19 w 28"/>
              <a:gd name="T37" fmla="*/ 0 h 28"/>
              <a:gd name="T38" fmla="*/ 17 w 28"/>
              <a:gd name="T39" fmla="*/ 0 h 28"/>
              <a:gd name="T40" fmla="*/ 14 w 28"/>
              <a:gd name="T41" fmla="*/ 0 h 28"/>
              <a:gd name="T42" fmla="*/ 12 w 28"/>
              <a:gd name="T43" fmla="*/ 0 h 28"/>
              <a:gd name="T44" fmla="*/ 10 w 28"/>
              <a:gd name="T45" fmla="*/ 0 h 28"/>
              <a:gd name="T46" fmla="*/ 7 w 28"/>
              <a:gd name="T47" fmla="*/ 2 h 28"/>
              <a:gd name="T48" fmla="*/ 5 w 28"/>
              <a:gd name="T49" fmla="*/ 2 h 28"/>
              <a:gd name="T50" fmla="*/ 5 w 28"/>
              <a:gd name="T51" fmla="*/ 5 h 28"/>
              <a:gd name="T52" fmla="*/ 3 w 28"/>
              <a:gd name="T53" fmla="*/ 5 h 28"/>
              <a:gd name="T54" fmla="*/ 3 w 28"/>
              <a:gd name="T55" fmla="*/ 7 h 28"/>
              <a:gd name="T56" fmla="*/ 0 w 28"/>
              <a:gd name="T57" fmla="*/ 9 h 28"/>
              <a:gd name="T58" fmla="*/ 0 w 28"/>
              <a:gd name="T59" fmla="*/ 12 h 28"/>
              <a:gd name="T60" fmla="*/ 0 w 28"/>
              <a:gd name="T61" fmla="*/ 14 h 28"/>
              <a:gd name="T62" fmla="*/ 0 w 28"/>
              <a:gd name="T63" fmla="*/ 16 h 28"/>
              <a:gd name="T64" fmla="*/ 0 w 28"/>
              <a:gd name="T65" fmla="*/ 19 h 28"/>
              <a:gd name="T66" fmla="*/ 3 w 28"/>
              <a:gd name="T67" fmla="*/ 21 h 28"/>
              <a:gd name="T68" fmla="*/ 3 w 28"/>
              <a:gd name="T69" fmla="*/ 23 h 28"/>
              <a:gd name="T70" fmla="*/ 5 w 28"/>
              <a:gd name="T71" fmla="*/ 23 h 28"/>
              <a:gd name="T72" fmla="*/ 5 w 28"/>
              <a:gd name="T73" fmla="*/ 26 h 28"/>
              <a:gd name="T74" fmla="*/ 7 w 28"/>
              <a:gd name="T75" fmla="*/ 28 h 28"/>
              <a:gd name="T76" fmla="*/ 10 w 28"/>
              <a:gd name="T77" fmla="*/ 28 h 28"/>
              <a:gd name="T78" fmla="*/ 12 w 28"/>
              <a:gd name="T79" fmla="*/ 28 h 28"/>
              <a:gd name="T80" fmla="*/ 14 w 28"/>
              <a:gd name="T81" fmla="*/ 28 h 28"/>
              <a:gd name="T82" fmla="*/ 14 w 28"/>
              <a:gd name="T83" fmla="*/ 28 h 2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8"/>
              <a:gd name="T127" fmla="*/ 0 h 28"/>
              <a:gd name="T128" fmla="*/ 28 w 28"/>
              <a:gd name="T129" fmla="*/ 28 h 2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8" h="28">
                <a:moveTo>
                  <a:pt x="14" y="28"/>
                </a:moveTo>
                <a:lnTo>
                  <a:pt x="17" y="28"/>
                </a:lnTo>
                <a:lnTo>
                  <a:pt x="19" y="28"/>
                </a:lnTo>
                <a:lnTo>
                  <a:pt x="21" y="28"/>
                </a:lnTo>
                <a:lnTo>
                  <a:pt x="24" y="26"/>
                </a:lnTo>
                <a:lnTo>
                  <a:pt x="24" y="23"/>
                </a:lnTo>
                <a:lnTo>
                  <a:pt x="26" y="23"/>
                </a:lnTo>
                <a:lnTo>
                  <a:pt x="26" y="21"/>
                </a:lnTo>
                <a:lnTo>
                  <a:pt x="28" y="19"/>
                </a:lnTo>
                <a:lnTo>
                  <a:pt x="28" y="16"/>
                </a:lnTo>
                <a:lnTo>
                  <a:pt x="28" y="14"/>
                </a:lnTo>
                <a:lnTo>
                  <a:pt x="28" y="12"/>
                </a:lnTo>
                <a:lnTo>
                  <a:pt x="28" y="9"/>
                </a:lnTo>
                <a:lnTo>
                  <a:pt x="26" y="7"/>
                </a:lnTo>
                <a:lnTo>
                  <a:pt x="26" y="5"/>
                </a:lnTo>
                <a:lnTo>
                  <a:pt x="24" y="5"/>
                </a:lnTo>
                <a:lnTo>
                  <a:pt x="24" y="2"/>
                </a:lnTo>
                <a:lnTo>
                  <a:pt x="21" y="2"/>
                </a:lnTo>
                <a:lnTo>
                  <a:pt x="19" y="0"/>
                </a:lnTo>
                <a:lnTo>
                  <a:pt x="17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7" y="2"/>
                </a:lnTo>
                <a:lnTo>
                  <a:pt x="5" y="2"/>
                </a:lnTo>
                <a:lnTo>
                  <a:pt x="5" y="5"/>
                </a:lnTo>
                <a:lnTo>
                  <a:pt x="3" y="5"/>
                </a:lnTo>
                <a:lnTo>
                  <a:pt x="3" y="7"/>
                </a:lnTo>
                <a:lnTo>
                  <a:pt x="0" y="9"/>
                </a:lnTo>
                <a:lnTo>
                  <a:pt x="0" y="12"/>
                </a:lnTo>
                <a:lnTo>
                  <a:pt x="0" y="14"/>
                </a:lnTo>
                <a:lnTo>
                  <a:pt x="0" y="16"/>
                </a:lnTo>
                <a:lnTo>
                  <a:pt x="0" y="19"/>
                </a:lnTo>
                <a:lnTo>
                  <a:pt x="3" y="21"/>
                </a:lnTo>
                <a:lnTo>
                  <a:pt x="3" y="23"/>
                </a:lnTo>
                <a:lnTo>
                  <a:pt x="5" y="23"/>
                </a:lnTo>
                <a:lnTo>
                  <a:pt x="5" y="26"/>
                </a:lnTo>
                <a:lnTo>
                  <a:pt x="7" y="28"/>
                </a:lnTo>
                <a:lnTo>
                  <a:pt x="10" y="28"/>
                </a:lnTo>
                <a:lnTo>
                  <a:pt x="12" y="28"/>
                </a:lnTo>
                <a:lnTo>
                  <a:pt x="14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9" name="Freeform 598"/>
          <p:cNvSpPr>
            <a:spLocks noChangeArrowheads="1"/>
          </p:cNvSpPr>
          <p:nvPr/>
        </p:nvSpPr>
        <p:spPr bwMode="auto">
          <a:xfrm>
            <a:off x="3817938" y="4538663"/>
            <a:ext cx="44450" cy="49212"/>
          </a:xfrm>
          <a:custGeom>
            <a:avLst/>
            <a:gdLst>
              <a:gd name="T0" fmla="*/ 14 w 28"/>
              <a:gd name="T1" fmla="*/ 28 h 28"/>
              <a:gd name="T2" fmla="*/ 17 w 28"/>
              <a:gd name="T3" fmla="*/ 28 h 28"/>
              <a:gd name="T4" fmla="*/ 19 w 28"/>
              <a:gd name="T5" fmla="*/ 28 h 28"/>
              <a:gd name="T6" fmla="*/ 21 w 28"/>
              <a:gd name="T7" fmla="*/ 28 h 28"/>
              <a:gd name="T8" fmla="*/ 24 w 28"/>
              <a:gd name="T9" fmla="*/ 26 h 28"/>
              <a:gd name="T10" fmla="*/ 24 w 28"/>
              <a:gd name="T11" fmla="*/ 24 h 28"/>
              <a:gd name="T12" fmla="*/ 26 w 28"/>
              <a:gd name="T13" fmla="*/ 24 h 28"/>
              <a:gd name="T14" fmla="*/ 26 w 28"/>
              <a:gd name="T15" fmla="*/ 21 h 28"/>
              <a:gd name="T16" fmla="*/ 28 w 28"/>
              <a:gd name="T17" fmla="*/ 19 h 28"/>
              <a:gd name="T18" fmla="*/ 28 w 28"/>
              <a:gd name="T19" fmla="*/ 17 h 28"/>
              <a:gd name="T20" fmla="*/ 28 w 28"/>
              <a:gd name="T21" fmla="*/ 14 h 28"/>
              <a:gd name="T22" fmla="*/ 28 w 28"/>
              <a:gd name="T23" fmla="*/ 12 h 28"/>
              <a:gd name="T24" fmla="*/ 28 w 28"/>
              <a:gd name="T25" fmla="*/ 10 h 28"/>
              <a:gd name="T26" fmla="*/ 26 w 28"/>
              <a:gd name="T27" fmla="*/ 7 h 28"/>
              <a:gd name="T28" fmla="*/ 26 w 28"/>
              <a:gd name="T29" fmla="*/ 5 h 28"/>
              <a:gd name="T30" fmla="*/ 24 w 28"/>
              <a:gd name="T31" fmla="*/ 5 h 28"/>
              <a:gd name="T32" fmla="*/ 24 w 28"/>
              <a:gd name="T33" fmla="*/ 3 h 28"/>
              <a:gd name="T34" fmla="*/ 21 w 28"/>
              <a:gd name="T35" fmla="*/ 3 h 28"/>
              <a:gd name="T36" fmla="*/ 19 w 28"/>
              <a:gd name="T37" fmla="*/ 0 h 28"/>
              <a:gd name="T38" fmla="*/ 17 w 28"/>
              <a:gd name="T39" fmla="*/ 0 h 28"/>
              <a:gd name="T40" fmla="*/ 14 w 28"/>
              <a:gd name="T41" fmla="*/ 0 h 28"/>
              <a:gd name="T42" fmla="*/ 12 w 28"/>
              <a:gd name="T43" fmla="*/ 0 h 28"/>
              <a:gd name="T44" fmla="*/ 10 w 28"/>
              <a:gd name="T45" fmla="*/ 0 h 28"/>
              <a:gd name="T46" fmla="*/ 7 w 28"/>
              <a:gd name="T47" fmla="*/ 3 h 28"/>
              <a:gd name="T48" fmla="*/ 5 w 28"/>
              <a:gd name="T49" fmla="*/ 3 h 28"/>
              <a:gd name="T50" fmla="*/ 5 w 28"/>
              <a:gd name="T51" fmla="*/ 5 h 28"/>
              <a:gd name="T52" fmla="*/ 3 w 28"/>
              <a:gd name="T53" fmla="*/ 5 h 28"/>
              <a:gd name="T54" fmla="*/ 3 w 28"/>
              <a:gd name="T55" fmla="*/ 7 h 28"/>
              <a:gd name="T56" fmla="*/ 0 w 28"/>
              <a:gd name="T57" fmla="*/ 10 h 28"/>
              <a:gd name="T58" fmla="*/ 0 w 28"/>
              <a:gd name="T59" fmla="*/ 12 h 28"/>
              <a:gd name="T60" fmla="*/ 0 w 28"/>
              <a:gd name="T61" fmla="*/ 14 h 28"/>
              <a:gd name="T62" fmla="*/ 0 w 28"/>
              <a:gd name="T63" fmla="*/ 17 h 28"/>
              <a:gd name="T64" fmla="*/ 0 w 28"/>
              <a:gd name="T65" fmla="*/ 19 h 28"/>
              <a:gd name="T66" fmla="*/ 3 w 28"/>
              <a:gd name="T67" fmla="*/ 21 h 28"/>
              <a:gd name="T68" fmla="*/ 3 w 28"/>
              <a:gd name="T69" fmla="*/ 24 h 28"/>
              <a:gd name="T70" fmla="*/ 5 w 28"/>
              <a:gd name="T71" fmla="*/ 24 h 28"/>
              <a:gd name="T72" fmla="*/ 5 w 28"/>
              <a:gd name="T73" fmla="*/ 26 h 28"/>
              <a:gd name="T74" fmla="*/ 7 w 28"/>
              <a:gd name="T75" fmla="*/ 28 h 28"/>
              <a:gd name="T76" fmla="*/ 10 w 28"/>
              <a:gd name="T77" fmla="*/ 28 h 28"/>
              <a:gd name="T78" fmla="*/ 12 w 28"/>
              <a:gd name="T79" fmla="*/ 28 h 28"/>
              <a:gd name="T80" fmla="*/ 14 w 28"/>
              <a:gd name="T81" fmla="*/ 28 h 28"/>
              <a:gd name="T82" fmla="*/ 14 w 28"/>
              <a:gd name="T83" fmla="*/ 28 h 28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28"/>
              <a:gd name="T127" fmla="*/ 0 h 28"/>
              <a:gd name="T128" fmla="*/ 28 w 28"/>
              <a:gd name="T129" fmla="*/ 28 h 28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28" h="28">
                <a:moveTo>
                  <a:pt x="14" y="28"/>
                </a:moveTo>
                <a:lnTo>
                  <a:pt x="17" y="28"/>
                </a:lnTo>
                <a:lnTo>
                  <a:pt x="19" y="28"/>
                </a:lnTo>
                <a:lnTo>
                  <a:pt x="21" y="28"/>
                </a:lnTo>
                <a:lnTo>
                  <a:pt x="24" y="26"/>
                </a:lnTo>
                <a:lnTo>
                  <a:pt x="24" y="24"/>
                </a:lnTo>
                <a:lnTo>
                  <a:pt x="26" y="24"/>
                </a:lnTo>
                <a:lnTo>
                  <a:pt x="26" y="21"/>
                </a:lnTo>
                <a:lnTo>
                  <a:pt x="28" y="19"/>
                </a:lnTo>
                <a:lnTo>
                  <a:pt x="28" y="17"/>
                </a:lnTo>
                <a:lnTo>
                  <a:pt x="28" y="14"/>
                </a:lnTo>
                <a:lnTo>
                  <a:pt x="28" y="12"/>
                </a:lnTo>
                <a:lnTo>
                  <a:pt x="28" y="10"/>
                </a:lnTo>
                <a:lnTo>
                  <a:pt x="26" y="7"/>
                </a:lnTo>
                <a:lnTo>
                  <a:pt x="26" y="5"/>
                </a:lnTo>
                <a:lnTo>
                  <a:pt x="24" y="5"/>
                </a:lnTo>
                <a:lnTo>
                  <a:pt x="24" y="3"/>
                </a:lnTo>
                <a:lnTo>
                  <a:pt x="21" y="3"/>
                </a:lnTo>
                <a:lnTo>
                  <a:pt x="19" y="0"/>
                </a:lnTo>
                <a:lnTo>
                  <a:pt x="17" y="0"/>
                </a:lnTo>
                <a:lnTo>
                  <a:pt x="14" y="0"/>
                </a:lnTo>
                <a:lnTo>
                  <a:pt x="12" y="0"/>
                </a:lnTo>
                <a:lnTo>
                  <a:pt x="10" y="0"/>
                </a:lnTo>
                <a:lnTo>
                  <a:pt x="7" y="3"/>
                </a:lnTo>
                <a:lnTo>
                  <a:pt x="5" y="3"/>
                </a:lnTo>
                <a:lnTo>
                  <a:pt x="5" y="5"/>
                </a:lnTo>
                <a:lnTo>
                  <a:pt x="3" y="5"/>
                </a:lnTo>
                <a:lnTo>
                  <a:pt x="3" y="7"/>
                </a:lnTo>
                <a:lnTo>
                  <a:pt x="0" y="10"/>
                </a:lnTo>
                <a:lnTo>
                  <a:pt x="0" y="12"/>
                </a:lnTo>
                <a:lnTo>
                  <a:pt x="0" y="14"/>
                </a:lnTo>
                <a:lnTo>
                  <a:pt x="0" y="17"/>
                </a:lnTo>
                <a:lnTo>
                  <a:pt x="0" y="19"/>
                </a:lnTo>
                <a:lnTo>
                  <a:pt x="3" y="21"/>
                </a:lnTo>
                <a:lnTo>
                  <a:pt x="3" y="24"/>
                </a:lnTo>
                <a:lnTo>
                  <a:pt x="5" y="24"/>
                </a:lnTo>
                <a:lnTo>
                  <a:pt x="5" y="26"/>
                </a:lnTo>
                <a:lnTo>
                  <a:pt x="7" y="28"/>
                </a:lnTo>
                <a:lnTo>
                  <a:pt x="10" y="28"/>
                </a:lnTo>
                <a:lnTo>
                  <a:pt x="12" y="28"/>
                </a:lnTo>
                <a:lnTo>
                  <a:pt x="14" y="28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0" name="Rectangle 599"/>
          <p:cNvSpPr>
            <a:spLocks noChangeArrowheads="1"/>
          </p:cNvSpPr>
          <p:nvPr/>
        </p:nvSpPr>
        <p:spPr bwMode="auto">
          <a:xfrm>
            <a:off x="7308851" y="4502150"/>
            <a:ext cx="603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01" name="Rectangle 600"/>
          <p:cNvSpPr>
            <a:spLocks noChangeArrowheads="1"/>
          </p:cNvSpPr>
          <p:nvPr/>
        </p:nvSpPr>
        <p:spPr bwMode="auto">
          <a:xfrm>
            <a:off x="7367588" y="450215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02" name="Rectangle 601"/>
          <p:cNvSpPr>
            <a:spLocks noChangeArrowheads="1"/>
          </p:cNvSpPr>
          <p:nvPr/>
        </p:nvSpPr>
        <p:spPr bwMode="auto">
          <a:xfrm>
            <a:off x="7419976" y="4502150"/>
            <a:ext cx="6508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U</a:t>
            </a:r>
          </a:p>
        </p:txBody>
      </p:sp>
      <p:sp>
        <p:nvSpPr>
          <p:cNvPr id="603" name="Freeform 602"/>
          <p:cNvSpPr>
            <a:spLocks noChangeArrowheads="1"/>
          </p:cNvSpPr>
          <p:nvPr/>
        </p:nvSpPr>
        <p:spPr bwMode="auto">
          <a:xfrm>
            <a:off x="6719888" y="2609850"/>
            <a:ext cx="47625" cy="53975"/>
          </a:xfrm>
          <a:custGeom>
            <a:avLst/>
            <a:gdLst>
              <a:gd name="T0" fmla="*/ 0 w 30"/>
              <a:gd name="T1" fmla="*/ 0 h 30"/>
              <a:gd name="T2" fmla="*/ 0 w 30"/>
              <a:gd name="T3" fmla="*/ 30 h 30"/>
              <a:gd name="T4" fmla="*/ 30 w 30"/>
              <a:gd name="T5" fmla="*/ 16 h 30"/>
              <a:gd name="T6" fmla="*/ 0 w 30"/>
              <a:gd name="T7" fmla="*/ 2 h 30"/>
              <a:gd name="T8" fmla="*/ 0 w 30"/>
              <a:gd name="T9" fmla="*/ 2 h 30"/>
              <a:gd name="T10" fmla="*/ 0 w 30"/>
              <a:gd name="T11" fmla="*/ 0 h 3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"/>
              <a:gd name="T19" fmla="*/ 0 h 30"/>
              <a:gd name="T20" fmla="*/ 30 w 30"/>
              <a:gd name="T21" fmla="*/ 30 h 3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" h="30">
                <a:moveTo>
                  <a:pt x="0" y="0"/>
                </a:moveTo>
                <a:lnTo>
                  <a:pt x="0" y="30"/>
                </a:lnTo>
                <a:lnTo>
                  <a:pt x="30" y="16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4" name="Freeform 603"/>
          <p:cNvSpPr>
            <a:spLocks noChangeArrowheads="1"/>
          </p:cNvSpPr>
          <p:nvPr/>
        </p:nvSpPr>
        <p:spPr bwMode="auto">
          <a:xfrm>
            <a:off x="4545013" y="1354138"/>
            <a:ext cx="280988" cy="504825"/>
          </a:xfrm>
          <a:custGeom>
            <a:avLst/>
            <a:gdLst>
              <a:gd name="T0" fmla="*/ 88 w 177"/>
              <a:gd name="T1" fmla="*/ 285 h 285"/>
              <a:gd name="T2" fmla="*/ 102 w 177"/>
              <a:gd name="T3" fmla="*/ 283 h 285"/>
              <a:gd name="T4" fmla="*/ 116 w 177"/>
              <a:gd name="T5" fmla="*/ 278 h 285"/>
              <a:gd name="T6" fmla="*/ 130 w 177"/>
              <a:gd name="T7" fmla="*/ 269 h 285"/>
              <a:gd name="T8" fmla="*/ 142 w 177"/>
              <a:gd name="T9" fmla="*/ 257 h 285"/>
              <a:gd name="T10" fmla="*/ 151 w 177"/>
              <a:gd name="T11" fmla="*/ 243 h 285"/>
              <a:gd name="T12" fmla="*/ 161 w 177"/>
              <a:gd name="T13" fmla="*/ 227 h 285"/>
              <a:gd name="T14" fmla="*/ 168 w 177"/>
              <a:gd name="T15" fmla="*/ 208 h 285"/>
              <a:gd name="T16" fmla="*/ 172 w 177"/>
              <a:gd name="T17" fmla="*/ 187 h 285"/>
              <a:gd name="T18" fmla="*/ 177 w 177"/>
              <a:gd name="T19" fmla="*/ 166 h 285"/>
              <a:gd name="T20" fmla="*/ 177 w 177"/>
              <a:gd name="T21" fmla="*/ 143 h 285"/>
              <a:gd name="T22" fmla="*/ 177 w 177"/>
              <a:gd name="T23" fmla="*/ 119 h 285"/>
              <a:gd name="T24" fmla="*/ 172 w 177"/>
              <a:gd name="T25" fmla="*/ 98 h 285"/>
              <a:gd name="T26" fmla="*/ 168 w 177"/>
              <a:gd name="T27" fmla="*/ 77 h 285"/>
              <a:gd name="T28" fmla="*/ 161 w 177"/>
              <a:gd name="T29" fmla="*/ 59 h 285"/>
              <a:gd name="T30" fmla="*/ 151 w 177"/>
              <a:gd name="T31" fmla="*/ 42 h 285"/>
              <a:gd name="T32" fmla="*/ 142 w 177"/>
              <a:gd name="T33" fmla="*/ 28 h 285"/>
              <a:gd name="T34" fmla="*/ 130 w 177"/>
              <a:gd name="T35" fmla="*/ 17 h 285"/>
              <a:gd name="T36" fmla="*/ 116 w 177"/>
              <a:gd name="T37" fmla="*/ 10 h 285"/>
              <a:gd name="T38" fmla="*/ 102 w 177"/>
              <a:gd name="T39" fmla="*/ 3 h 285"/>
              <a:gd name="T40" fmla="*/ 88 w 177"/>
              <a:gd name="T41" fmla="*/ 0 h 285"/>
              <a:gd name="T42" fmla="*/ 74 w 177"/>
              <a:gd name="T43" fmla="*/ 3 h 285"/>
              <a:gd name="T44" fmla="*/ 60 w 177"/>
              <a:gd name="T45" fmla="*/ 10 h 285"/>
              <a:gd name="T46" fmla="*/ 46 w 177"/>
              <a:gd name="T47" fmla="*/ 17 h 285"/>
              <a:gd name="T48" fmla="*/ 35 w 177"/>
              <a:gd name="T49" fmla="*/ 28 h 285"/>
              <a:gd name="T50" fmla="*/ 25 w 177"/>
              <a:gd name="T51" fmla="*/ 42 h 285"/>
              <a:gd name="T52" fmla="*/ 16 w 177"/>
              <a:gd name="T53" fmla="*/ 59 h 285"/>
              <a:gd name="T54" fmla="*/ 9 w 177"/>
              <a:gd name="T55" fmla="*/ 77 h 285"/>
              <a:gd name="T56" fmla="*/ 4 w 177"/>
              <a:gd name="T57" fmla="*/ 98 h 285"/>
              <a:gd name="T58" fmla="*/ 0 w 177"/>
              <a:gd name="T59" fmla="*/ 119 h 285"/>
              <a:gd name="T60" fmla="*/ 0 w 177"/>
              <a:gd name="T61" fmla="*/ 143 h 285"/>
              <a:gd name="T62" fmla="*/ 0 w 177"/>
              <a:gd name="T63" fmla="*/ 166 h 285"/>
              <a:gd name="T64" fmla="*/ 4 w 177"/>
              <a:gd name="T65" fmla="*/ 187 h 285"/>
              <a:gd name="T66" fmla="*/ 9 w 177"/>
              <a:gd name="T67" fmla="*/ 208 h 285"/>
              <a:gd name="T68" fmla="*/ 16 w 177"/>
              <a:gd name="T69" fmla="*/ 227 h 285"/>
              <a:gd name="T70" fmla="*/ 25 w 177"/>
              <a:gd name="T71" fmla="*/ 243 h 285"/>
              <a:gd name="T72" fmla="*/ 35 w 177"/>
              <a:gd name="T73" fmla="*/ 257 h 285"/>
              <a:gd name="T74" fmla="*/ 46 w 177"/>
              <a:gd name="T75" fmla="*/ 269 h 285"/>
              <a:gd name="T76" fmla="*/ 60 w 177"/>
              <a:gd name="T77" fmla="*/ 278 h 285"/>
              <a:gd name="T78" fmla="*/ 74 w 177"/>
              <a:gd name="T79" fmla="*/ 283 h 285"/>
              <a:gd name="T80" fmla="*/ 88 w 177"/>
              <a:gd name="T81" fmla="*/ 285 h 285"/>
              <a:gd name="T82" fmla="*/ 88 w 177"/>
              <a:gd name="T83" fmla="*/ 285 h 28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77"/>
              <a:gd name="T127" fmla="*/ 0 h 285"/>
              <a:gd name="T128" fmla="*/ 177 w 177"/>
              <a:gd name="T129" fmla="*/ 285 h 28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77" h="285">
                <a:moveTo>
                  <a:pt x="88" y="285"/>
                </a:moveTo>
                <a:lnTo>
                  <a:pt x="102" y="283"/>
                </a:lnTo>
                <a:lnTo>
                  <a:pt x="116" y="278"/>
                </a:lnTo>
                <a:lnTo>
                  <a:pt x="130" y="269"/>
                </a:lnTo>
                <a:lnTo>
                  <a:pt x="142" y="257"/>
                </a:lnTo>
                <a:lnTo>
                  <a:pt x="151" y="243"/>
                </a:lnTo>
                <a:lnTo>
                  <a:pt x="161" y="227"/>
                </a:lnTo>
                <a:lnTo>
                  <a:pt x="168" y="208"/>
                </a:lnTo>
                <a:lnTo>
                  <a:pt x="172" y="187"/>
                </a:lnTo>
                <a:lnTo>
                  <a:pt x="177" y="166"/>
                </a:lnTo>
                <a:lnTo>
                  <a:pt x="177" y="143"/>
                </a:lnTo>
                <a:lnTo>
                  <a:pt x="177" y="119"/>
                </a:lnTo>
                <a:lnTo>
                  <a:pt x="172" y="98"/>
                </a:lnTo>
                <a:lnTo>
                  <a:pt x="168" y="77"/>
                </a:lnTo>
                <a:lnTo>
                  <a:pt x="161" y="59"/>
                </a:lnTo>
                <a:lnTo>
                  <a:pt x="151" y="42"/>
                </a:lnTo>
                <a:lnTo>
                  <a:pt x="142" y="28"/>
                </a:lnTo>
                <a:lnTo>
                  <a:pt x="130" y="17"/>
                </a:lnTo>
                <a:lnTo>
                  <a:pt x="116" y="10"/>
                </a:lnTo>
                <a:lnTo>
                  <a:pt x="102" y="3"/>
                </a:lnTo>
                <a:lnTo>
                  <a:pt x="88" y="0"/>
                </a:lnTo>
                <a:lnTo>
                  <a:pt x="74" y="3"/>
                </a:lnTo>
                <a:lnTo>
                  <a:pt x="60" y="10"/>
                </a:lnTo>
                <a:lnTo>
                  <a:pt x="46" y="17"/>
                </a:lnTo>
                <a:lnTo>
                  <a:pt x="35" y="28"/>
                </a:lnTo>
                <a:lnTo>
                  <a:pt x="25" y="42"/>
                </a:lnTo>
                <a:lnTo>
                  <a:pt x="16" y="59"/>
                </a:lnTo>
                <a:lnTo>
                  <a:pt x="9" y="77"/>
                </a:lnTo>
                <a:lnTo>
                  <a:pt x="4" y="98"/>
                </a:lnTo>
                <a:lnTo>
                  <a:pt x="0" y="119"/>
                </a:lnTo>
                <a:lnTo>
                  <a:pt x="0" y="143"/>
                </a:lnTo>
                <a:lnTo>
                  <a:pt x="0" y="166"/>
                </a:lnTo>
                <a:lnTo>
                  <a:pt x="4" y="187"/>
                </a:lnTo>
                <a:lnTo>
                  <a:pt x="9" y="208"/>
                </a:lnTo>
                <a:lnTo>
                  <a:pt x="16" y="227"/>
                </a:lnTo>
                <a:lnTo>
                  <a:pt x="25" y="243"/>
                </a:lnTo>
                <a:lnTo>
                  <a:pt x="35" y="257"/>
                </a:lnTo>
                <a:lnTo>
                  <a:pt x="46" y="269"/>
                </a:lnTo>
                <a:lnTo>
                  <a:pt x="60" y="278"/>
                </a:lnTo>
                <a:lnTo>
                  <a:pt x="74" y="283"/>
                </a:lnTo>
                <a:lnTo>
                  <a:pt x="88" y="2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05" name="Freeform 604"/>
          <p:cNvSpPr>
            <a:spLocks noChangeArrowheads="1"/>
          </p:cNvSpPr>
          <p:nvPr/>
        </p:nvSpPr>
        <p:spPr bwMode="auto">
          <a:xfrm>
            <a:off x="4545013" y="1354138"/>
            <a:ext cx="280988" cy="504825"/>
          </a:xfrm>
          <a:custGeom>
            <a:avLst/>
            <a:gdLst>
              <a:gd name="T0" fmla="*/ 88 w 177"/>
              <a:gd name="T1" fmla="*/ 285 h 285"/>
              <a:gd name="T2" fmla="*/ 102 w 177"/>
              <a:gd name="T3" fmla="*/ 283 h 285"/>
              <a:gd name="T4" fmla="*/ 116 w 177"/>
              <a:gd name="T5" fmla="*/ 278 h 285"/>
              <a:gd name="T6" fmla="*/ 130 w 177"/>
              <a:gd name="T7" fmla="*/ 269 h 285"/>
              <a:gd name="T8" fmla="*/ 142 w 177"/>
              <a:gd name="T9" fmla="*/ 257 h 285"/>
              <a:gd name="T10" fmla="*/ 151 w 177"/>
              <a:gd name="T11" fmla="*/ 243 h 285"/>
              <a:gd name="T12" fmla="*/ 161 w 177"/>
              <a:gd name="T13" fmla="*/ 227 h 285"/>
              <a:gd name="T14" fmla="*/ 168 w 177"/>
              <a:gd name="T15" fmla="*/ 208 h 285"/>
              <a:gd name="T16" fmla="*/ 172 w 177"/>
              <a:gd name="T17" fmla="*/ 187 h 285"/>
              <a:gd name="T18" fmla="*/ 177 w 177"/>
              <a:gd name="T19" fmla="*/ 166 h 285"/>
              <a:gd name="T20" fmla="*/ 177 w 177"/>
              <a:gd name="T21" fmla="*/ 143 h 285"/>
              <a:gd name="T22" fmla="*/ 177 w 177"/>
              <a:gd name="T23" fmla="*/ 119 h 285"/>
              <a:gd name="T24" fmla="*/ 172 w 177"/>
              <a:gd name="T25" fmla="*/ 98 h 285"/>
              <a:gd name="T26" fmla="*/ 168 w 177"/>
              <a:gd name="T27" fmla="*/ 77 h 285"/>
              <a:gd name="T28" fmla="*/ 161 w 177"/>
              <a:gd name="T29" fmla="*/ 59 h 285"/>
              <a:gd name="T30" fmla="*/ 151 w 177"/>
              <a:gd name="T31" fmla="*/ 42 h 285"/>
              <a:gd name="T32" fmla="*/ 142 w 177"/>
              <a:gd name="T33" fmla="*/ 28 h 285"/>
              <a:gd name="T34" fmla="*/ 130 w 177"/>
              <a:gd name="T35" fmla="*/ 17 h 285"/>
              <a:gd name="T36" fmla="*/ 116 w 177"/>
              <a:gd name="T37" fmla="*/ 10 h 285"/>
              <a:gd name="T38" fmla="*/ 102 w 177"/>
              <a:gd name="T39" fmla="*/ 3 h 285"/>
              <a:gd name="T40" fmla="*/ 88 w 177"/>
              <a:gd name="T41" fmla="*/ 0 h 285"/>
              <a:gd name="T42" fmla="*/ 74 w 177"/>
              <a:gd name="T43" fmla="*/ 3 h 285"/>
              <a:gd name="T44" fmla="*/ 60 w 177"/>
              <a:gd name="T45" fmla="*/ 10 h 285"/>
              <a:gd name="T46" fmla="*/ 46 w 177"/>
              <a:gd name="T47" fmla="*/ 17 h 285"/>
              <a:gd name="T48" fmla="*/ 35 w 177"/>
              <a:gd name="T49" fmla="*/ 28 h 285"/>
              <a:gd name="T50" fmla="*/ 25 w 177"/>
              <a:gd name="T51" fmla="*/ 42 h 285"/>
              <a:gd name="T52" fmla="*/ 16 w 177"/>
              <a:gd name="T53" fmla="*/ 59 h 285"/>
              <a:gd name="T54" fmla="*/ 9 w 177"/>
              <a:gd name="T55" fmla="*/ 77 h 285"/>
              <a:gd name="T56" fmla="*/ 4 w 177"/>
              <a:gd name="T57" fmla="*/ 98 h 285"/>
              <a:gd name="T58" fmla="*/ 0 w 177"/>
              <a:gd name="T59" fmla="*/ 119 h 285"/>
              <a:gd name="T60" fmla="*/ 0 w 177"/>
              <a:gd name="T61" fmla="*/ 143 h 285"/>
              <a:gd name="T62" fmla="*/ 0 w 177"/>
              <a:gd name="T63" fmla="*/ 166 h 285"/>
              <a:gd name="T64" fmla="*/ 4 w 177"/>
              <a:gd name="T65" fmla="*/ 187 h 285"/>
              <a:gd name="T66" fmla="*/ 9 w 177"/>
              <a:gd name="T67" fmla="*/ 208 h 285"/>
              <a:gd name="T68" fmla="*/ 16 w 177"/>
              <a:gd name="T69" fmla="*/ 227 h 285"/>
              <a:gd name="T70" fmla="*/ 25 w 177"/>
              <a:gd name="T71" fmla="*/ 243 h 285"/>
              <a:gd name="T72" fmla="*/ 35 w 177"/>
              <a:gd name="T73" fmla="*/ 257 h 285"/>
              <a:gd name="T74" fmla="*/ 46 w 177"/>
              <a:gd name="T75" fmla="*/ 269 h 285"/>
              <a:gd name="T76" fmla="*/ 60 w 177"/>
              <a:gd name="T77" fmla="*/ 278 h 285"/>
              <a:gd name="T78" fmla="*/ 74 w 177"/>
              <a:gd name="T79" fmla="*/ 283 h 285"/>
              <a:gd name="T80" fmla="*/ 88 w 177"/>
              <a:gd name="T81" fmla="*/ 285 h 285"/>
              <a:gd name="T82" fmla="*/ 88 w 177"/>
              <a:gd name="T83" fmla="*/ 285 h 285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w 177"/>
              <a:gd name="T127" fmla="*/ 0 h 285"/>
              <a:gd name="T128" fmla="*/ 177 w 177"/>
              <a:gd name="T129" fmla="*/ 285 h 285"/>
            </a:gdLst>
            <a:ahLst/>
            <a:cxnLst>
              <a:cxn ang="T84">
                <a:pos x="T0" y="T1"/>
              </a:cxn>
              <a:cxn ang="T85">
                <a:pos x="T2" y="T3"/>
              </a:cxn>
              <a:cxn ang="T86">
                <a:pos x="T4" y="T5"/>
              </a:cxn>
              <a:cxn ang="T87">
                <a:pos x="T6" y="T7"/>
              </a:cxn>
              <a:cxn ang="T88">
                <a:pos x="T8" y="T9"/>
              </a:cxn>
              <a:cxn ang="T89">
                <a:pos x="T10" y="T11"/>
              </a:cxn>
              <a:cxn ang="T90">
                <a:pos x="T12" y="T13"/>
              </a:cxn>
              <a:cxn ang="T91">
                <a:pos x="T14" y="T15"/>
              </a:cxn>
              <a:cxn ang="T92">
                <a:pos x="T16" y="T17"/>
              </a:cxn>
              <a:cxn ang="T93">
                <a:pos x="T18" y="T19"/>
              </a:cxn>
              <a:cxn ang="T94">
                <a:pos x="T20" y="T21"/>
              </a:cxn>
              <a:cxn ang="T95">
                <a:pos x="T22" y="T23"/>
              </a:cxn>
              <a:cxn ang="T96">
                <a:pos x="T24" y="T25"/>
              </a:cxn>
              <a:cxn ang="T97">
                <a:pos x="T26" y="T27"/>
              </a:cxn>
              <a:cxn ang="T98">
                <a:pos x="T28" y="T29"/>
              </a:cxn>
              <a:cxn ang="T99">
                <a:pos x="T30" y="T31"/>
              </a:cxn>
              <a:cxn ang="T100">
                <a:pos x="T32" y="T33"/>
              </a:cxn>
              <a:cxn ang="T101">
                <a:pos x="T34" y="T35"/>
              </a:cxn>
              <a:cxn ang="T102">
                <a:pos x="T36" y="T37"/>
              </a:cxn>
              <a:cxn ang="T103">
                <a:pos x="T38" y="T39"/>
              </a:cxn>
              <a:cxn ang="T104">
                <a:pos x="T40" y="T41"/>
              </a:cxn>
              <a:cxn ang="T105">
                <a:pos x="T42" y="T43"/>
              </a:cxn>
              <a:cxn ang="T106">
                <a:pos x="T44" y="T45"/>
              </a:cxn>
              <a:cxn ang="T107">
                <a:pos x="T46" y="T47"/>
              </a:cxn>
              <a:cxn ang="T108">
                <a:pos x="T48" y="T49"/>
              </a:cxn>
              <a:cxn ang="T109">
                <a:pos x="T50" y="T51"/>
              </a:cxn>
              <a:cxn ang="T110">
                <a:pos x="T52" y="T53"/>
              </a:cxn>
              <a:cxn ang="T111">
                <a:pos x="T54" y="T55"/>
              </a:cxn>
              <a:cxn ang="T112">
                <a:pos x="T56" y="T57"/>
              </a:cxn>
              <a:cxn ang="T113">
                <a:pos x="T58" y="T59"/>
              </a:cxn>
              <a:cxn ang="T114">
                <a:pos x="T60" y="T61"/>
              </a:cxn>
              <a:cxn ang="T115">
                <a:pos x="T62" y="T63"/>
              </a:cxn>
              <a:cxn ang="T116">
                <a:pos x="T64" y="T65"/>
              </a:cxn>
              <a:cxn ang="T117">
                <a:pos x="T66" y="T67"/>
              </a:cxn>
              <a:cxn ang="T118">
                <a:pos x="T68" y="T69"/>
              </a:cxn>
              <a:cxn ang="T119">
                <a:pos x="T70" y="T71"/>
              </a:cxn>
              <a:cxn ang="T120">
                <a:pos x="T72" y="T73"/>
              </a:cxn>
              <a:cxn ang="T121">
                <a:pos x="T74" y="T75"/>
              </a:cxn>
              <a:cxn ang="T122">
                <a:pos x="T76" y="T77"/>
              </a:cxn>
              <a:cxn ang="T123">
                <a:pos x="T78" y="T79"/>
              </a:cxn>
              <a:cxn ang="T124">
                <a:pos x="T80" y="T81"/>
              </a:cxn>
              <a:cxn ang="T125">
                <a:pos x="T82" y="T83"/>
              </a:cxn>
            </a:cxnLst>
            <a:rect l="T126" t="T127" r="T128" b="T129"/>
            <a:pathLst>
              <a:path w="177" h="285">
                <a:moveTo>
                  <a:pt x="88" y="285"/>
                </a:moveTo>
                <a:lnTo>
                  <a:pt x="102" y="283"/>
                </a:lnTo>
                <a:lnTo>
                  <a:pt x="116" y="278"/>
                </a:lnTo>
                <a:lnTo>
                  <a:pt x="130" y="269"/>
                </a:lnTo>
                <a:lnTo>
                  <a:pt x="142" y="257"/>
                </a:lnTo>
                <a:lnTo>
                  <a:pt x="151" y="243"/>
                </a:lnTo>
                <a:lnTo>
                  <a:pt x="161" y="227"/>
                </a:lnTo>
                <a:lnTo>
                  <a:pt x="168" y="208"/>
                </a:lnTo>
                <a:lnTo>
                  <a:pt x="172" y="187"/>
                </a:lnTo>
                <a:lnTo>
                  <a:pt x="177" y="166"/>
                </a:lnTo>
                <a:lnTo>
                  <a:pt x="177" y="143"/>
                </a:lnTo>
                <a:lnTo>
                  <a:pt x="177" y="119"/>
                </a:lnTo>
                <a:lnTo>
                  <a:pt x="172" y="98"/>
                </a:lnTo>
                <a:lnTo>
                  <a:pt x="168" y="77"/>
                </a:lnTo>
                <a:lnTo>
                  <a:pt x="161" y="59"/>
                </a:lnTo>
                <a:lnTo>
                  <a:pt x="151" y="42"/>
                </a:lnTo>
                <a:lnTo>
                  <a:pt x="142" y="28"/>
                </a:lnTo>
                <a:lnTo>
                  <a:pt x="130" y="17"/>
                </a:lnTo>
                <a:lnTo>
                  <a:pt x="116" y="10"/>
                </a:lnTo>
                <a:lnTo>
                  <a:pt x="102" y="3"/>
                </a:lnTo>
                <a:lnTo>
                  <a:pt x="88" y="0"/>
                </a:lnTo>
                <a:lnTo>
                  <a:pt x="74" y="3"/>
                </a:lnTo>
                <a:lnTo>
                  <a:pt x="60" y="10"/>
                </a:lnTo>
                <a:lnTo>
                  <a:pt x="46" y="17"/>
                </a:lnTo>
                <a:lnTo>
                  <a:pt x="35" y="28"/>
                </a:lnTo>
                <a:lnTo>
                  <a:pt x="25" y="42"/>
                </a:lnTo>
                <a:lnTo>
                  <a:pt x="16" y="59"/>
                </a:lnTo>
                <a:lnTo>
                  <a:pt x="9" y="77"/>
                </a:lnTo>
                <a:lnTo>
                  <a:pt x="4" y="98"/>
                </a:lnTo>
                <a:lnTo>
                  <a:pt x="0" y="119"/>
                </a:lnTo>
                <a:lnTo>
                  <a:pt x="0" y="143"/>
                </a:lnTo>
                <a:lnTo>
                  <a:pt x="0" y="166"/>
                </a:lnTo>
                <a:lnTo>
                  <a:pt x="4" y="187"/>
                </a:lnTo>
                <a:lnTo>
                  <a:pt x="9" y="208"/>
                </a:lnTo>
                <a:lnTo>
                  <a:pt x="16" y="227"/>
                </a:lnTo>
                <a:lnTo>
                  <a:pt x="25" y="243"/>
                </a:lnTo>
                <a:lnTo>
                  <a:pt x="35" y="257"/>
                </a:lnTo>
                <a:lnTo>
                  <a:pt x="46" y="269"/>
                </a:lnTo>
                <a:lnTo>
                  <a:pt x="60" y="278"/>
                </a:lnTo>
                <a:lnTo>
                  <a:pt x="74" y="283"/>
                </a:lnTo>
                <a:lnTo>
                  <a:pt x="88" y="285"/>
                </a:lnTo>
              </a:path>
            </a:pathLst>
          </a:custGeom>
          <a:solidFill>
            <a:srgbClr val="D1FFE8"/>
          </a:solidFill>
          <a:ln w="1116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6" name="Rectangle 605"/>
          <p:cNvSpPr>
            <a:spLocks noChangeArrowheads="1"/>
          </p:cNvSpPr>
          <p:nvPr/>
        </p:nvSpPr>
        <p:spPr bwMode="auto">
          <a:xfrm>
            <a:off x="4589463" y="1487488"/>
            <a:ext cx="603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07" name="Rectangle 606"/>
          <p:cNvSpPr>
            <a:spLocks noChangeArrowheads="1"/>
          </p:cNvSpPr>
          <p:nvPr/>
        </p:nvSpPr>
        <p:spPr bwMode="auto">
          <a:xfrm>
            <a:off x="4648201" y="1487488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h</a:t>
            </a:r>
          </a:p>
        </p:txBody>
      </p:sp>
      <p:sp>
        <p:nvSpPr>
          <p:cNvPr id="608" name="Rectangle 607"/>
          <p:cNvSpPr>
            <a:spLocks noChangeArrowheads="1"/>
          </p:cNvSpPr>
          <p:nvPr/>
        </p:nvSpPr>
        <p:spPr bwMode="auto">
          <a:xfrm>
            <a:off x="4699001" y="1487488"/>
            <a:ext cx="206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i</a:t>
            </a:r>
          </a:p>
        </p:txBody>
      </p:sp>
      <p:sp>
        <p:nvSpPr>
          <p:cNvPr id="609" name="Rectangle 608"/>
          <p:cNvSpPr>
            <a:spLocks noChangeArrowheads="1"/>
          </p:cNvSpPr>
          <p:nvPr/>
        </p:nvSpPr>
        <p:spPr bwMode="auto">
          <a:xfrm>
            <a:off x="4718051" y="1487488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f</a:t>
            </a:r>
          </a:p>
        </p:txBody>
      </p:sp>
      <p:sp>
        <p:nvSpPr>
          <p:cNvPr id="610" name="Rectangle 609"/>
          <p:cNvSpPr>
            <a:spLocks noChangeArrowheads="1"/>
          </p:cNvSpPr>
          <p:nvPr/>
        </p:nvSpPr>
        <p:spPr bwMode="auto">
          <a:xfrm>
            <a:off x="4745038" y="1487488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1" name="Rectangle 610"/>
          <p:cNvSpPr>
            <a:spLocks noChangeArrowheads="1"/>
          </p:cNvSpPr>
          <p:nvPr/>
        </p:nvSpPr>
        <p:spPr bwMode="auto">
          <a:xfrm>
            <a:off x="4770438" y="1487488"/>
            <a:ext cx="1588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2" name="Rectangle 611"/>
          <p:cNvSpPr>
            <a:spLocks noChangeArrowheads="1"/>
          </p:cNvSpPr>
          <p:nvPr/>
        </p:nvSpPr>
        <p:spPr bwMode="auto">
          <a:xfrm>
            <a:off x="4573588" y="1604963"/>
            <a:ext cx="2063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l</a:t>
            </a:r>
          </a:p>
        </p:txBody>
      </p:sp>
      <p:sp>
        <p:nvSpPr>
          <p:cNvPr id="613" name="Rectangle 612"/>
          <p:cNvSpPr>
            <a:spLocks noChangeArrowheads="1"/>
          </p:cNvSpPr>
          <p:nvPr/>
        </p:nvSpPr>
        <p:spPr bwMode="auto">
          <a:xfrm>
            <a:off x="4595813" y="160496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14" name="Rectangle 613"/>
          <p:cNvSpPr>
            <a:spLocks noChangeArrowheads="1"/>
          </p:cNvSpPr>
          <p:nvPr/>
        </p:nvSpPr>
        <p:spPr bwMode="auto">
          <a:xfrm>
            <a:off x="4645026" y="160496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f</a:t>
            </a:r>
          </a:p>
        </p:txBody>
      </p:sp>
      <p:sp>
        <p:nvSpPr>
          <p:cNvPr id="615" name="Rectangle 614"/>
          <p:cNvSpPr>
            <a:spLocks noChangeArrowheads="1"/>
          </p:cNvSpPr>
          <p:nvPr/>
        </p:nvSpPr>
        <p:spPr bwMode="auto">
          <a:xfrm>
            <a:off x="4670426" y="160496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t</a:t>
            </a:r>
          </a:p>
        </p:txBody>
      </p:sp>
      <p:sp>
        <p:nvSpPr>
          <p:cNvPr id="616" name="Rectangle 615"/>
          <p:cNvSpPr>
            <a:spLocks noChangeArrowheads="1"/>
          </p:cNvSpPr>
          <p:nvPr/>
        </p:nvSpPr>
        <p:spPr bwMode="auto">
          <a:xfrm>
            <a:off x="4695826" y="1604963"/>
            <a:ext cx="25400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TW" altLang="en-GB" sz="700">
                <a:solidFill>
                  <a:srgbClr val="000000"/>
                </a:solidFill>
                <a:latin typeface="Arial" charset="0"/>
                <a:ea typeface="新細明體" charset="-120"/>
              </a:rPr>
              <a:t> </a:t>
            </a:r>
          </a:p>
        </p:txBody>
      </p:sp>
      <p:sp>
        <p:nvSpPr>
          <p:cNvPr id="617" name="Rectangle 616"/>
          <p:cNvSpPr>
            <a:spLocks noChangeArrowheads="1"/>
          </p:cNvSpPr>
          <p:nvPr/>
        </p:nvSpPr>
        <p:spPr bwMode="auto">
          <a:xfrm>
            <a:off x="4722813" y="1604963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618" name="Freeform 617"/>
          <p:cNvSpPr>
            <a:spLocks noChangeArrowheads="1"/>
          </p:cNvSpPr>
          <p:nvPr/>
        </p:nvSpPr>
        <p:spPr bwMode="auto">
          <a:xfrm>
            <a:off x="4489451" y="1582738"/>
            <a:ext cx="47625" cy="49212"/>
          </a:xfrm>
          <a:custGeom>
            <a:avLst/>
            <a:gdLst>
              <a:gd name="T0" fmla="*/ 0 w 30"/>
              <a:gd name="T1" fmla="*/ 0 h 28"/>
              <a:gd name="T2" fmla="*/ 2 w 30"/>
              <a:gd name="T3" fmla="*/ 28 h 28"/>
              <a:gd name="T4" fmla="*/ 30 w 30"/>
              <a:gd name="T5" fmla="*/ 14 h 28"/>
              <a:gd name="T6" fmla="*/ 2 w 30"/>
              <a:gd name="T7" fmla="*/ 0 h 28"/>
              <a:gd name="T8" fmla="*/ 2 w 30"/>
              <a:gd name="T9" fmla="*/ 0 h 28"/>
              <a:gd name="T10" fmla="*/ 0 w 30"/>
              <a:gd name="T11" fmla="*/ 0 h 28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30"/>
              <a:gd name="T19" fmla="*/ 0 h 28"/>
              <a:gd name="T20" fmla="*/ 30 w 30"/>
              <a:gd name="T21" fmla="*/ 28 h 28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30" h="28">
                <a:moveTo>
                  <a:pt x="0" y="0"/>
                </a:moveTo>
                <a:lnTo>
                  <a:pt x="2" y="28"/>
                </a:lnTo>
                <a:lnTo>
                  <a:pt x="30" y="14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9" name="Freeform 618"/>
          <p:cNvSpPr>
            <a:spLocks noChangeArrowheads="1"/>
          </p:cNvSpPr>
          <p:nvPr/>
        </p:nvSpPr>
        <p:spPr bwMode="auto">
          <a:xfrm>
            <a:off x="4014788" y="1905000"/>
            <a:ext cx="1069975" cy="473075"/>
          </a:xfrm>
          <a:custGeom>
            <a:avLst/>
            <a:gdLst>
              <a:gd name="T0" fmla="*/ 0 w 674"/>
              <a:gd name="T1" fmla="*/ 268 h 268"/>
              <a:gd name="T2" fmla="*/ 0 w 674"/>
              <a:gd name="T3" fmla="*/ 0 h 268"/>
              <a:gd name="T4" fmla="*/ 674 w 674"/>
              <a:gd name="T5" fmla="*/ 0 h 268"/>
              <a:gd name="T6" fmla="*/ 0 60000 65536"/>
              <a:gd name="T7" fmla="*/ 0 60000 65536"/>
              <a:gd name="T8" fmla="*/ 0 60000 65536"/>
              <a:gd name="T9" fmla="*/ 0 w 674"/>
              <a:gd name="T10" fmla="*/ 0 h 268"/>
              <a:gd name="T11" fmla="*/ 674 w 674"/>
              <a:gd name="T12" fmla="*/ 268 h 2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74" h="268">
                <a:moveTo>
                  <a:pt x="0" y="268"/>
                </a:moveTo>
                <a:lnTo>
                  <a:pt x="0" y="0"/>
                </a:lnTo>
                <a:lnTo>
                  <a:pt x="674" y="0"/>
                </a:lnTo>
              </a:path>
            </a:pathLst>
          </a:custGeom>
          <a:noFill/>
          <a:ln w="38160">
            <a:solidFill>
              <a:srgbClr val="CD33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0" name="Rectangle 619"/>
          <p:cNvSpPr>
            <a:spLocks noChangeArrowheads="1"/>
          </p:cNvSpPr>
          <p:nvPr/>
        </p:nvSpPr>
        <p:spPr bwMode="auto">
          <a:xfrm>
            <a:off x="4389438" y="166370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621" name="Rectangle 620"/>
          <p:cNvSpPr>
            <a:spLocks noChangeArrowheads="1"/>
          </p:cNvSpPr>
          <p:nvPr/>
        </p:nvSpPr>
        <p:spPr bwMode="auto">
          <a:xfrm>
            <a:off x="4437063" y="166370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6</a:t>
            </a:r>
          </a:p>
        </p:txBody>
      </p:sp>
      <p:sp>
        <p:nvSpPr>
          <p:cNvPr id="622" name="Rectangle 621"/>
          <p:cNvSpPr>
            <a:spLocks noChangeArrowheads="1"/>
          </p:cNvSpPr>
          <p:nvPr/>
        </p:nvSpPr>
        <p:spPr bwMode="auto">
          <a:xfrm>
            <a:off x="4840288" y="166370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2</a:t>
            </a:r>
          </a:p>
        </p:txBody>
      </p:sp>
      <p:sp>
        <p:nvSpPr>
          <p:cNvPr id="623" name="Rectangle 622"/>
          <p:cNvSpPr>
            <a:spLocks noChangeArrowheads="1"/>
          </p:cNvSpPr>
          <p:nvPr/>
        </p:nvSpPr>
        <p:spPr bwMode="auto">
          <a:xfrm>
            <a:off x="4892676" y="1663700"/>
            <a:ext cx="4921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000000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000000"/>
                </a:solidFill>
                <a:latin typeface="Arial" charset="0"/>
                <a:ea typeface="新細明體" charset="-120"/>
              </a:rPr>
              <a:t>8</a:t>
            </a:r>
          </a:p>
        </p:txBody>
      </p:sp>
      <p:sp>
        <p:nvSpPr>
          <p:cNvPr id="624" name="Line 623"/>
          <p:cNvSpPr>
            <a:spLocks noChangeShapeType="1"/>
          </p:cNvSpPr>
          <p:nvPr/>
        </p:nvSpPr>
        <p:spPr bwMode="auto">
          <a:xfrm flipH="1">
            <a:off x="7891463" y="4695825"/>
            <a:ext cx="200025" cy="1588"/>
          </a:xfrm>
          <a:prstGeom prst="line">
            <a:avLst/>
          </a:prstGeom>
          <a:noFill/>
          <a:ln w="19080">
            <a:solidFill>
              <a:srgbClr val="6666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25" name="Freeform 624"/>
          <p:cNvSpPr>
            <a:spLocks noChangeArrowheads="1"/>
          </p:cNvSpPr>
          <p:nvPr/>
        </p:nvSpPr>
        <p:spPr bwMode="auto">
          <a:xfrm>
            <a:off x="8078788" y="4667250"/>
            <a:ext cx="47625" cy="53975"/>
          </a:xfrm>
          <a:custGeom>
            <a:avLst/>
            <a:gdLst>
              <a:gd name="T0" fmla="*/ 0 w 30"/>
              <a:gd name="T1" fmla="*/ 0 h 30"/>
              <a:gd name="T2" fmla="*/ 0 w 30"/>
              <a:gd name="T3" fmla="*/ 30 h 30"/>
              <a:gd name="T4" fmla="*/ 30 w 30"/>
              <a:gd name="T5" fmla="*/ 16 h 30"/>
              <a:gd name="T6" fmla="*/ 0 w 30"/>
              <a:gd name="T7" fmla="*/ 0 h 30"/>
              <a:gd name="T8" fmla="*/ 0 w 30"/>
              <a:gd name="T9" fmla="*/ 0 h 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"/>
              <a:gd name="T16" fmla="*/ 0 h 30"/>
              <a:gd name="T17" fmla="*/ 30 w 30"/>
              <a:gd name="T18" fmla="*/ 30 h 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" h="30">
                <a:moveTo>
                  <a:pt x="0" y="0"/>
                </a:moveTo>
                <a:lnTo>
                  <a:pt x="0" y="30"/>
                </a:lnTo>
                <a:lnTo>
                  <a:pt x="30" y="16"/>
                </a:lnTo>
                <a:lnTo>
                  <a:pt x="0" y="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26" name="Rectangle 625"/>
          <p:cNvSpPr>
            <a:spLocks noChangeArrowheads="1"/>
          </p:cNvSpPr>
          <p:nvPr/>
        </p:nvSpPr>
        <p:spPr bwMode="auto">
          <a:xfrm>
            <a:off x="8170863" y="4629150"/>
            <a:ext cx="60325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A</a:t>
            </a:r>
          </a:p>
        </p:txBody>
      </p:sp>
      <p:sp>
        <p:nvSpPr>
          <p:cNvPr id="627" name="Rectangle 626"/>
          <p:cNvSpPr>
            <a:spLocks noChangeArrowheads="1"/>
          </p:cNvSpPr>
          <p:nvPr/>
        </p:nvSpPr>
        <p:spPr bwMode="auto">
          <a:xfrm>
            <a:off x="8231188" y="462915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28" name="Rectangle 627"/>
          <p:cNvSpPr>
            <a:spLocks noChangeArrowheads="1"/>
          </p:cNvSpPr>
          <p:nvPr/>
        </p:nvSpPr>
        <p:spPr bwMode="auto">
          <a:xfrm>
            <a:off x="8281988" y="462915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d</a:t>
            </a:r>
          </a:p>
        </p:txBody>
      </p:sp>
      <p:sp>
        <p:nvSpPr>
          <p:cNvPr id="629" name="Rectangle 628"/>
          <p:cNvSpPr>
            <a:spLocks noChangeArrowheads="1"/>
          </p:cNvSpPr>
          <p:nvPr/>
        </p:nvSpPr>
        <p:spPr bwMode="auto">
          <a:xfrm>
            <a:off x="8334376" y="4629150"/>
            <a:ext cx="30162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r</a:t>
            </a:r>
          </a:p>
        </p:txBody>
      </p:sp>
      <p:sp>
        <p:nvSpPr>
          <p:cNvPr id="630" name="Rectangle 629"/>
          <p:cNvSpPr>
            <a:spLocks noChangeArrowheads="1"/>
          </p:cNvSpPr>
          <p:nvPr/>
        </p:nvSpPr>
        <p:spPr bwMode="auto">
          <a:xfrm>
            <a:off x="8364538" y="4629150"/>
            <a:ext cx="49213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e</a:t>
            </a:r>
          </a:p>
        </p:txBody>
      </p:sp>
      <p:sp>
        <p:nvSpPr>
          <p:cNvPr id="631" name="Rectangle 630"/>
          <p:cNvSpPr>
            <a:spLocks noChangeArrowheads="1"/>
          </p:cNvSpPr>
          <p:nvPr/>
        </p:nvSpPr>
        <p:spPr bwMode="auto">
          <a:xfrm>
            <a:off x="8415338" y="4629150"/>
            <a:ext cx="46038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32" name="Rectangle 631"/>
          <p:cNvSpPr>
            <a:spLocks noChangeArrowheads="1"/>
          </p:cNvSpPr>
          <p:nvPr/>
        </p:nvSpPr>
        <p:spPr bwMode="auto">
          <a:xfrm>
            <a:off x="8461376" y="4629150"/>
            <a:ext cx="46037" cy="10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ct val="100000"/>
              </a:lnSpc>
              <a:buClr>
                <a:srgbClr val="666666"/>
              </a:buClr>
              <a:buFont typeface="Arial" charset="0"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altLang="zh-TW" sz="700">
                <a:solidFill>
                  <a:srgbClr val="666666"/>
                </a:solidFill>
                <a:latin typeface="Arial" charset="0"/>
                <a:ea typeface="新細明體" charset="-120"/>
              </a:rPr>
              <a:t>s</a:t>
            </a:r>
          </a:p>
        </p:txBody>
      </p:sp>
      <p:sp>
        <p:nvSpPr>
          <p:cNvPr id="633" name="Oval 632"/>
          <p:cNvSpPr>
            <a:spLocks noChangeArrowheads="1"/>
          </p:cNvSpPr>
          <p:nvPr/>
        </p:nvSpPr>
        <p:spPr bwMode="auto">
          <a:xfrm>
            <a:off x="8726488" y="1620838"/>
            <a:ext cx="762000" cy="849312"/>
          </a:xfrm>
          <a:prstGeom prst="ellipse">
            <a:avLst/>
          </a:prstGeom>
          <a:noFill/>
          <a:ln w="31680">
            <a:solidFill>
              <a:srgbClr val="99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34" name="Text Box 633"/>
          <p:cNvSpPr txBox="1">
            <a:spLocks noChangeArrowheads="1"/>
          </p:cNvSpPr>
          <p:nvPr/>
        </p:nvSpPr>
        <p:spPr bwMode="auto">
          <a:xfrm>
            <a:off x="5470526" y="2495550"/>
            <a:ext cx="6048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1pPr>
            <a:lvl2pPr marL="37931725" indent="-37474525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5pPr>
            <a:lvl6pPr marL="4572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6pPr>
            <a:lvl7pPr marL="9144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7pPr>
            <a:lvl8pPr marL="13716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8pPr>
            <a:lvl9pPr marL="182880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chemeClr val="bg1"/>
                </a:solidFill>
                <a:latin typeface="Times New Roman" charset="0"/>
                <a:ea typeface="SimSun" charset="-122"/>
              </a:defRPr>
            </a:lvl9pPr>
          </a:lstStyle>
          <a:p>
            <a:pPr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Tahoma" charset="0"/>
              <a:buNone/>
            </a:pPr>
            <a:r>
              <a:rPr lang="en-GB" altLang="zh-TW" sz="1600" b="1" dirty="0" err="1">
                <a:solidFill>
                  <a:srgbClr val="3333CC"/>
                </a:solidFill>
                <a:latin typeface="Tahoma" charset="0"/>
                <a:ea typeface="新細明體" charset="-120"/>
              </a:rPr>
              <a:t>Jmp</a:t>
            </a:r>
            <a:endParaRPr lang="en-GB" altLang="zh-TW" sz="1600" b="1" dirty="0">
              <a:solidFill>
                <a:srgbClr val="3333CC"/>
              </a:solidFill>
              <a:latin typeface="Tahoma" charset="0"/>
              <a:ea typeface="新細明體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9014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TW" dirty="0">
                <a:ea typeface="新細明體" charset="-120"/>
                <a:cs typeface="新細明體" charset="-120"/>
              </a:rPr>
              <a:t>Performance Issues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24744"/>
            <a:ext cx="11103024" cy="5256584"/>
          </a:xfrm>
        </p:spPr>
        <p:txBody>
          <a:bodyPr/>
          <a:lstStyle/>
          <a:p>
            <a:pPr algn="ctr">
              <a:lnSpc>
                <a:spcPct val="9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en-GB" altLang="zh-TW" dirty="0">
                <a:solidFill>
                  <a:srgbClr val="CD33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新細明體" charset="-120"/>
              </a:rPr>
              <a:t>Single-cycle implementation can’t run very fast</a:t>
            </a:r>
          </a:p>
          <a:p>
            <a:pPr algn="ctr">
              <a:lnSpc>
                <a:spcPct val="9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zh-TW" dirty="0">
              <a:solidFill>
                <a:srgbClr val="CD3333"/>
              </a:solidFill>
              <a:effectLst>
                <a:outerShdw blurRad="38100" dist="38100" dir="2700000" algn="tl">
                  <a:srgbClr val="C0C0C0"/>
                </a:outerShdw>
              </a:effectLst>
              <a:ea typeface="新細明體" charset="-120"/>
            </a:endParaRPr>
          </a:p>
          <a:p>
            <a:r>
              <a:rPr lang="en-US" altLang="en-US" dirty="0"/>
              <a:t>Longest delay determines clock period</a:t>
            </a:r>
          </a:p>
          <a:p>
            <a:pPr lvl="1"/>
            <a:r>
              <a:rPr lang="en-US" altLang="en-US" dirty="0"/>
              <a:t>Critical path: load instruction</a:t>
            </a:r>
          </a:p>
          <a:p>
            <a:pPr lvl="1"/>
            <a:r>
              <a:rPr lang="en-US" altLang="en-US" dirty="0"/>
              <a:t>Instruction memory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/>
              <a:t> register file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/>
              <a:t> ALU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/>
              <a:t> data memory </a:t>
            </a:r>
            <a:r>
              <a:rPr lang="en-US" altLang="en-US" dirty="0">
                <a:sym typeface="Symbol" panose="05050102010706020507" pitchFamily="18" charset="2"/>
              </a:rPr>
              <a:t></a:t>
            </a:r>
            <a:r>
              <a:rPr lang="en-US" altLang="en-US" dirty="0"/>
              <a:t> register file</a:t>
            </a:r>
          </a:p>
          <a:p>
            <a:r>
              <a:rPr lang="en-US" altLang="en-US" dirty="0"/>
              <a:t>Not feasible to vary period for different instructions</a:t>
            </a:r>
          </a:p>
          <a:p>
            <a:r>
              <a:rPr lang="en-US" altLang="en-US" dirty="0"/>
              <a:t>Violates design principle</a:t>
            </a:r>
          </a:p>
          <a:p>
            <a:pPr lvl="1"/>
            <a:r>
              <a:rPr lang="en-US" altLang="en-US" dirty="0"/>
              <a:t>Making the common case fast</a:t>
            </a:r>
          </a:p>
          <a:p>
            <a:r>
              <a:rPr lang="en-US" altLang="en-US" dirty="0"/>
              <a:t>We will improve performance by pipelining</a:t>
            </a:r>
          </a:p>
          <a:p>
            <a:pPr>
              <a:lnSpc>
                <a:spcPct val="90000"/>
              </a:lnSpc>
              <a:buFont typeface="Wingdings" charset="2"/>
              <a:buNone/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endParaRPr lang="en-GB" altLang="zh-TW" dirty="0">
              <a:solidFill>
                <a:srgbClr val="3333CC"/>
              </a:solidFill>
              <a:ea typeface="新細明體" charset="-12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29592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6475</Words>
  <Application>Microsoft Macintosh PowerPoint</Application>
  <PresentationFormat>Widescreen</PresentationFormat>
  <Paragraphs>5049</Paragraphs>
  <Slides>39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9" baseType="lpstr">
      <vt:lpstr>Arial</vt:lpstr>
      <vt:lpstr>Calibri</vt:lpstr>
      <vt:lpstr>Courier New</vt:lpstr>
      <vt:lpstr>Helvetica</vt:lpstr>
      <vt:lpstr>Lucida Sans</vt:lpstr>
      <vt:lpstr>Tahoma</vt:lpstr>
      <vt:lpstr>Times New Roman</vt:lpstr>
      <vt:lpstr>Wingdings</vt:lpstr>
      <vt:lpstr>Wingdings 2</vt:lpstr>
      <vt:lpstr>2_Office Theme</vt:lpstr>
      <vt:lpstr>COMP2611 Computer organization the processor: datapath and control</vt:lpstr>
      <vt:lpstr>Major Goals </vt:lpstr>
      <vt:lpstr>Building a Single-cycle Datapath</vt:lpstr>
      <vt:lpstr>Big Picture</vt:lpstr>
      <vt:lpstr>How is an Instruction Executed?</vt:lpstr>
      <vt:lpstr>MIPS Processor Overview</vt:lpstr>
      <vt:lpstr>Anatomy of a Computer: Inside the Processor</vt:lpstr>
      <vt:lpstr>Building a Datapath</vt:lpstr>
      <vt:lpstr>Basic Building Blocks</vt:lpstr>
      <vt:lpstr>Instruction Fetch</vt:lpstr>
      <vt:lpstr>Operations for Different Types of Instructions</vt:lpstr>
      <vt:lpstr>Datapath for Arithmetic/Logical (R-Type) Instr.</vt:lpstr>
      <vt:lpstr>Datapath for Load/Store (I-Format) Instr.</vt:lpstr>
      <vt:lpstr>Datapath for Branch (I-Format) Instr.</vt:lpstr>
      <vt:lpstr>A Simple Single-Cycle Implementation</vt:lpstr>
      <vt:lpstr>R-Type/Load/Store Datapath</vt:lpstr>
      <vt:lpstr>Combined Datapath for Different Instr. Classes</vt:lpstr>
      <vt:lpstr>Full Datapath: Muxing Two Possible Destination Registers</vt:lpstr>
      <vt:lpstr>Single-cycle contorl</vt:lpstr>
      <vt:lpstr>Overview: Datapath with Control </vt:lpstr>
      <vt:lpstr>Control Unit</vt:lpstr>
      <vt:lpstr>First: ALU Control Unit</vt:lpstr>
      <vt:lpstr>Generation of ALU Control Input Bits</vt:lpstr>
      <vt:lpstr>Generation of ALU Control Input Bits (cont.)</vt:lpstr>
      <vt:lpstr>Implementing ALU Control Block</vt:lpstr>
      <vt:lpstr>Implementing ALU Control Block (cont.)</vt:lpstr>
      <vt:lpstr>Hardware Implementation of ALU Control Block</vt:lpstr>
      <vt:lpstr>Next: the Main Control Unit</vt:lpstr>
      <vt:lpstr>Control Signals in Single-cycle Implementation</vt:lpstr>
      <vt:lpstr>Setting of Control Signals</vt:lpstr>
      <vt:lpstr>R-Type Instr. with Control</vt:lpstr>
      <vt:lpstr>Load Instr. with Control</vt:lpstr>
      <vt:lpstr>Branch-on-Equal Instr. with Control</vt:lpstr>
      <vt:lpstr>Setting of Control Signals (Cont’d)</vt:lpstr>
      <vt:lpstr>Implementing Datapath Control Unit</vt:lpstr>
      <vt:lpstr>Hardware Implementation of Datapath Control Unit</vt:lpstr>
      <vt:lpstr>Implementing Jumps</vt:lpstr>
      <vt:lpstr>Extend Datapath &amp; Control to Handle Jump Instr.</vt:lpstr>
      <vt:lpstr>Performance Issues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COMP2611 Processor: Datapath and Control</dc:title>
  <dc:subject/>
  <dc:creator/>
  <cp:keywords/>
  <dc:description/>
  <cp:lastModifiedBy/>
  <cp:revision>6</cp:revision>
  <dcterms:created xsi:type="dcterms:W3CDTF">2014-06-18T18:35:22Z</dcterms:created>
  <dcterms:modified xsi:type="dcterms:W3CDTF">2023-11-07T05:53:47Z</dcterms:modified>
  <cp:category/>
</cp:coreProperties>
</file>